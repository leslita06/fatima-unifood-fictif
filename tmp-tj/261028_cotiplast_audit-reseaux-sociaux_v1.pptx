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Abonnés LinkedIn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Abonnés LinkedIn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FD8103"/>
              </a:solidFill>
            </c:spPr>
          </c:dPt>
          <c:cat>
            <c:strRef>
              <c:f>Sheet1!$A$2:$A$4</c:f>
              <c:strCache>
                <c:ptCount val="3"/>
                <c:pt idx="0">
                  <c:v>SOFEM-CI</c:v>
                </c:pt>
                <c:pt idx="1">
                  <c:v>FLEPACI</c:v>
                </c:pt>
                <c:pt idx="2">
                  <c:v>COTIPLAST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</c:v>
                </c:pt>
                <c:pt idx="1">
                  <c:v>576</c:v>
                </c:pt>
                <c:pt idx="2">
                  <c:v>5446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latin typeface="Poppins"/>
              </a:rPr>
              <a:t>J’aime médians par type (nombre de publications)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J’aime médians par type (nombre de publications)</c:v>
                </c:pt>
              </c:strCache>
            </c:strRef>
          </c:tx>
          <c:dPt>
            <c:idx val="0"/>
            <c:spPr>
              <a:solidFill>
                <a:srgbClr val="B9B9B9"/>
              </a:solidFill>
            </c:spPr>
          </c:dPt>
          <c:dPt>
            <c:idx val="1"/>
            <c:spPr>
              <a:solidFill>
                <a:srgbClr val="B9B9B9"/>
              </a:solidFill>
            </c:spPr>
          </c:dPt>
          <c:dPt>
            <c:idx val="2"/>
            <c:spPr>
              <a:solidFill>
                <a:srgbClr val="B9B9B9"/>
              </a:solidFill>
            </c:spPr>
          </c:dPt>
          <c:dPt>
            <c:idx val="3"/>
            <c:spPr>
              <a:solidFill>
                <a:srgbClr val="FD8103"/>
              </a:solidFill>
            </c:spPr>
          </c:dPt>
          <c:cat>
            <c:strRef>
              <c:f>Sheet1!$A$2:$A$5</c:f>
              <c:strCache>
                <c:ptCount val="4"/>
                <c:pt idx="0">
                  <c:v>Produits et services (12)</c:v>
                </c:pt>
                <c:pt idx="1">
                  <c:v>Fêtes et causes (4)</c:v>
                </c:pt>
                <c:pt idx="2">
                  <c:v>Sondages (2)</c:v>
                </c:pt>
                <c:pt idx="3">
                  <c:v>Vidéos des équipes (2)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17</c:v>
                </c:pt>
                <c:pt idx="2">
                  <c:v>24.5</c:v>
                </c:pt>
                <c:pt idx="3">
                  <c:v>65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Poppin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3.jp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3.jpg"/><Relationship Id="rId4" Type="http://schemas.openxmlformats.org/officeDocument/2006/relationships/image" Target="../media/image3.jpg"/><Relationship Id="rId5" Type="http://schemas.openxmlformats.org/officeDocument/2006/relationships/image" Target="../media/image22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image" Target="../media/image2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0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jpg"/><Relationship Id="rId8" Type="http://schemas.openxmlformats.org/officeDocument/2006/relationships/image" Target="../media/image34.jpg"/><Relationship Id="rId9" Type="http://schemas.openxmlformats.org/officeDocument/2006/relationships/image" Target="../media/image35.jpg"/><Relationship Id="rId10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7.jpg"/><Relationship Id="rId4" Type="http://schemas.openxmlformats.org/officeDocument/2006/relationships/image" Target="../media/image19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8.jpg"/><Relationship Id="rId8" Type="http://schemas.openxmlformats.org/officeDocument/2006/relationships/image" Target="../media/image39.jpg"/><Relationship Id="rId9" Type="http://schemas.openxmlformats.org/officeDocument/2006/relationships/image" Target="../media/image40.jpg"/><Relationship Id="rId10" Type="http://schemas.openxmlformats.org/officeDocument/2006/relationships/image" Target="../media/image4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14.png"/><Relationship Id="rId7" Type="http://schemas.openxmlformats.org/officeDocument/2006/relationships/image" Target="../media/image4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6.jpg"/><Relationship Id="rId4" Type="http://schemas.openxmlformats.org/officeDocument/2006/relationships/image" Target="../media/image47.jpg"/><Relationship Id="rId5" Type="http://schemas.openxmlformats.org/officeDocument/2006/relationships/image" Target="../media/image48.jpg"/><Relationship Id="rId6" Type="http://schemas.openxmlformats.org/officeDocument/2006/relationships/image" Target="../media/image49.jpg"/><Relationship Id="rId7" Type="http://schemas.openxmlformats.org/officeDocument/2006/relationships/image" Target="../media/image1.jpg"/><Relationship Id="rId8" Type="http://schemas.openxmlformats.org/officeDocument/2006/relationships/image" Target="../media/image5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7.png"/><Relationship Id="rId4" Type="http://schemas.openxmlformats.org/officeDocument/2006/relationships/image" Target="../media/image11.png"/><Relationship Id="rId5" Type="http://schemas.openxmlformats.org/officeDocument/2006/relationships/image" Target="../media/image44.png"/><Relationship Id="rId6" Type="http://schemas.openxmlformats.org/officeDocument/2006/relationships/image" Target="../media/image58.png"/><Relationship Id="rId7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7.png"/><Relationship Id="rId4" Type="http://schemas.openxmlformats.org/officeDocument/2006/relationships/image" Target="../media/image59.png"/><Relationship Id="rId5" Type="http://schemas.openxmlformats.org/officeDocument/2006/relationships/image" Target="../media/image11.png"/><Relationship Id="rId6" Type="http://schemas.openxmlformats.org/officeDocument/2006/relationships/image" Target="../media/image60.png"/><Relationship Id="rId7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61.png"/><Relationship Id="rId5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72000" y="0"/>
            <a:ext cx="4920119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_c_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000" y="893925"/>
            <a:ext cx="4056119" cy="5070148"/>
          </a:xfrm>
          <a:prstGeom prst="rect">
            <a:avLst/>
          </a:prstGeom>
        </p:spPr>
      </p:pic>
      <p:pic>
        <p:nvPicPr>
          <p:cNvPr id="5" name="Picture 4" descr="logo-cotiplast-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2633" y="540000"/>
            <a:ext cx="1230733" cy="864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8000" y="2015999"/>
            <a:ext cx="612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B58B"/>
                </a:solidFill>
                <a:latin typeface="Poppins"/>
              </a:rPr>
              <a:t>AUDIT RÉSEAUX SOCIAUX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2376000"/>
            <a:ext cx="6336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Poppins"/>
              </a:rPr>
              <a:t>COTIPLAST face à SOFEM-CI et FLEPACI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140000"/>
            <a:ext cx="61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DDDDDD"/>
                </a:solidFill>
                <a:latin typeface="Poppins"/>
              </a:rPr>
              <a:t>Ce qui marche, ce qui manque, et 6 publications refaites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50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AAAAA"/>
                </a:solidFill>
                <a:latin typeface="Poppins"/>
              </a:rPr>
              <a:t>FACE À</a:t>
            </a:r>
          </a:p>
        </p:txBody>
      </p:sp>
      <p:sp>
        <p:nvSpPr>
          <p:cNvPr id="10" name="Oval 9"/>
          <p:cNvSpPr/>
          <p:nvPr/>
        </p:nvSpPr>
        <p:spPr>
          <a:xfrm>
            <a:off x="1512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8400" y="4838400"/>
            <a:ext cx="547200" cy="54720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376000" y="4752000"/>
            <a:ext cx="720000" cy="720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epac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2400" y="4838400"/>
            <a:ext cx="547200" cy="547200"/>
          </a:xfrm>
          <a:prstGeom prst="rect">
            <a:avLst/>
          </a:prstGeom>
        </p:spPr>
      </p:pic>
      <p:pic>
        <p:nvPicPr>
          <p:cNvPr id="14" name="Picture 13" descr="brand-facebook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00" y="5616000"/>
            <a:ext cx="324000" cy="324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4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Facebook</a:t>
            </a:r>
          </a:p>
        </p:txBody>
      </p:sp>
      <p:pic>
        <p:nvPicPr>
          <p:cNvPr id="16" name="Picture 15" descr="brand-instagram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2000" y="5616000"/>
            <a:ext cx="324000" cy="324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28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Instagram</a:t>
            </a:r>
          </a:p>
        </p:txBody>
      </p:sp>
      <p:pic>
        <p:nvPicPr>
          <p:cNvPr id="18" name="Picture 17" descr="brand-linkedin_b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6000" y="5616000"/>
            <a:ext cx="324000" cy="324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12000" y="5634000"/>
            <a:ext cx="1224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FFFFF"/>
                </a:solidFill>
                <a:latin typeface="Poppins"/>
              </a:rPr>
              <a:t>LinkedIn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000" y="6228000"/>
            <a:ext cx="64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AAAAAA"/>
                </a:solidFill>
                <a:latin typeface="Poppins"/>
              </a:rPr>
              <a:t>Relevé des pages publiques le 28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L'ESSENTIEL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La plus grande audience du secteur, mais elle s’éteint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79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400" y="2138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36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5 446 abonnés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6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Neuf fois FLEPACI (576), quarante fois SOFEM-CI (138). Votre meilleur atout en ligne.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655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80000" y="1979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heart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400" y="2138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52000" y="1907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8 J’aime par publication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000" y="2645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Médiane des 20 dernières : 22 en août, 5,5 en septembre. La courbe descend.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000" y="4247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lo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400" y="4406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836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Plus rien depuis le 1er octobre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36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27 jours sans publication au moment du relevé, après 2,6 par semaine.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2000" y="3923999"/>
            <a:ext cx="5364000" cy="2015999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80000" y="4247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ideo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8400" y="4406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452000" y="4175998"/>
            <a:ext cx="3924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Vos équipes en vidéo : vos 2 meilleures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000" y="4913999"/>
            <a:ext cx="3924000" cy="97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68 et 62 J’aime : huit fois la médiane. Les visuels de catalogue font 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MÉTHODE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que nous avons regardé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7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99" y="2102399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Pages publiques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LinkedIn, Facebook et Instagram de COTIPLAST, SOFEM-CI et FLEPACI, relevés le 28/10/2026.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35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chec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399" y="2102399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35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20 publications par marque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5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Les 20 dernières sur LinkedIn : du 7/08 au 1/10 pour COTIPLAST, d’avril à octobre pour SOFEM-CI.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3999" y="1943999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arget-arrow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2399" y="2102399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3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Médianes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La valeur du milieu, pour qu’une publication très partagée ne fausse pas la moyenne.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655999"/>
            <a:ext cx="2628000" cy="4248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51999" y="1943999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0399" y="2102399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51999" y="2879999"/>
            <a:ext cx="2160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111111"/>
                </a:solidFill>
                <a:latin typeface="Poppins"/>
              </a:rPr>
              <a:t>Hors de vue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1999" y="3599999"/>
            <a:ext cx="216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Portée, visites de la page, demandes de devis reçues : il faut l’accès aux comptes. Les publications de FLEPACI n’ont pas pu être relevées.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QUI NOUS AVONS COMPARÉ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Trois fabricants d’emballage, un seul vraiment présent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3540000" cy="10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52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ti_l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560" y="2014560"/>
            <a:ext cx="902880" cy="90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0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COTIPLAST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D8103"/>
                </a:solidFill>
                <a:latin typeface="Poppins"/>
              </a:rPr>
              <a:t>NOTRE CLIENT</a:t>
            </a:r>
          </a:p>
        </p:txBody>
      </p:sp>
      <p:pic>
        <p:nvPicPr>
          <p:cNvPr id="15" name="Picture 14" descr="brand-linkedin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96000"/>
            <a:ext cx="251999" cy="25199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6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5 446 abonnés</a:t>
            </a:r>
          </a:p>
        </p:txBody>
      </p:sp>
      <p:pic>
        <p:nvPicPr>
          <p:cNvPr id="17" name="Picture 16" descr="speakerphon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428000"/>
            <a:ext cx="251999" cy="25199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6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2,6 publ. / semaine</a:t>
            </a:r>
          </a:p>
        </p:txBody>
      </p:sp>
      <p:pic>
        <p:nvPicPr>
          <p:cNvPr id="19" name="Picture 18" descr="heart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000" y="4860000"/>
            <a:ext cx="251999" cy="25199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16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8 J’aime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Une vraie présence, un ton de catalogue.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2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32000" y="1584000"/>
            <a:ext cx="3540000" cy="10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08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ofem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0560" y="2014560"/>
            <a:ext cx="902880" cy="90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476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SOFEM-CI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6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28" name="Picture 27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48000" y="3996000"/>
            <a:ext cx="251999" cy="2519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72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138 abonnés</a:t>
            </a:r>
          </a:p>
        </p:txBody>
      </p:sp>
      <p:pic>
        <p:nvPicPr>
          <p:cNvPr id="30" name="Picture 29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8000" y="4428000"/>
            <a:ext cx="251999" cy="251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872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0,7 publ. / semaine</a:t>
            </a:r>
          </a:p>
        </p:txBody>
      </p:sp>
      <p:pic>
        <p:nvPicPr>
          <p:cNvPr id="32" name="Picture 31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8000" y="4860000"/>
            <a:ext cx="251999" cy="2519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72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4,5 J’aime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8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Petite page, mais des visages et des recrutements.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8000" y="1584000"/>
            <a:ext cx="3540000" cy="4752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88000" y="1584000"/>
            <a:ext cx="3540000" cy="108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64000" y="1872000"/>
            <a:ext cx="1188000" cy="1188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flepaci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06560" y="2014560"/>
            <a:ext cx="902880" cy="902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32000" y="3168000"/>
            <a:ext cx="325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11111"/>
                </a:solidFill>
                <a:latin typeface="Poppins"/>
              </a:rPr>
              <a:t>FLEPACI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32000" y="3528000"/>
            <a:ext cx="3252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5A5A5A"/>
                </a:solidFill>
                <a:latin typeface="Poppins"/>
              </a:rPr>
              <a:t>CONCURRENT DIRECT</a:t>
            </a:r>
          </a:p>
        </p:txBody>
      </p:sp>
      <p:pic>
        <p:nvPicPr>
          <p:cNvPr id="41" name="Picture 40" descr="brand-linkedin_noi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4000" y="3996000"/>
            <a:ext cx="251999" cy="2519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628000" y="3960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576 abonnés</a:t>
            </a:r>
          </a:p>
        </p:txBody>
      </p:sp>
      <p:pic>
        <p:nvPicPr>
          <p:cNvPr id="43" name="Picture 42" descr="speakerphone_noi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000" y="4428000"/>
            <a:ext cx="251999" cy="251999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628000" y="4392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pic>
        <p:nvPicPr>
          <p:cNvPr id="45" name="Picture 44" descr="heart_noi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04000" y="4860000"/>
            <a:ext cx="251999" cy="25199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8628000" y="4824000"/>
            <a:ext cx="2892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non relevé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4000" y="5364000"/>
            <a:ext cx="3108000" cy="9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Emballages souples depuis 2013. Publications non accessibles.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LES COMPTES DE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Tout se joue sur LinkedIn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2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rand-linkedin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00" y="1990799"/>
            <a:ext cx="302400" cy="302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5 446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LinkedIn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187 salariés rattachés à la page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0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36000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nd-facebook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4800" y="1990799"/>
            <a:ext cx="302400" cy="30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36000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2 957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000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Facebook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6000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Dernières publications : 2019, puis une le 21/06/2026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3999" y="1655999"/>
            <a:ext cx="3564000" cy="237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9999" y="1871999"/>
            <a:ext cx="540000" cy="54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rand-instagram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8799" y="1990799"/>
            <a:ext cx="302400" cy="30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9999" y="25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111111"/>
                </a:solidFill>
                <a:latin typeface="Poppins"/>
              </a:rPr>
              <a:t>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9999" y="3095999"/>
            <a:ext cx="3132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abonnés Instagram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9" y="3419999"/>
            <a:ext cx="3132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A5A5A"/>
                </a:solidFill>
                <a:latin typeface="Poppins"/>
              </a:rPr>
              <a:t>@cotiplastci · aucune publication visible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6000" y="4248000"/>
            <a:ext cx="11052000" cy="17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536000"/>
            <a:ext cx="612000" cy="61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alert-triangl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640" y="4670640"/>
            <a:ext cx="342720" cy="3427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92000" y="4464000"/>
            <a:ext cx="9720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D8103"/>
                </a:solidFill>
                <a:latin typeface="Poppins"/>
              </a:rPr>
              <a:t>À corriger tout de suite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Deux pages Facebook portent votre nom (créées en 2014 et en 2019) et un compte Instagram vide : un acheteur qui vous cherche tombe sur des pages à l’abandon. Il faut en garder une, la relier au site et à LinkedIn, et fermer ou rediriger l’autre.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FACE AUX CONCURRENTS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Une audience 9 fois plus grande, des réactions comparables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256000" cy="417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048000" y="1584000"/>
          <a:ext cx="5580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/>
                <a:gridCol w="1200000"/>
                <a:gridCol w="1200000"/>
                <a:gridCol w="1200000"/>
              </a:tblGrid>
              <a:tr h="458999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Poppins"/>
                        </a:defRPr>
                      </a:pP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COTIPLAST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SOFEM-CI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FLEPACI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Abonnés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5 446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138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576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Salariés sur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187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/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2,6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0,7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4,5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non relevé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Taux de réaction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0,15 %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3,3 %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45899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(sur 20)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900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Dernière publication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28/10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–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000" y="5868000"/>
            <a:ext cx="11052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Taux de réaction = J’aime médians ÷ abonnés. SOFEM-CI a peu d’abonnés : surtout ses salariés, qui réagissent à tout.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QUI MARCHE AILLEURS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SOFEM-CI publie peu, mais montre ses gens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sofem-ci_7495766631122522113.jpg"/>
          <p:cNvPicPr>
            <a:picLocks noChangeAspect="1"/>
          </p:cNvPicPr>
          <p:nvPr/>
        </p:nvPicPr>
        <p:blipFill>
          <a:blip r:embed="rId3"/>
          <a:srcRect t="9130" b="21304"/>
          <a:stretch>
            <a:fillRect/>
          </a:stretch>
        </p:blipFill>
        <p:spPr>
          <a:xfrm>
            <a:off x="684000" y="1692000"/>
            <a:ext cx="3311999" cy="2304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56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520" y="4079519"/>
            <a:ext cx="300960" cy="300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24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19/08</a:t>
            </a:r>
          </a:p>
        </p:txBody>
      </p:sp>
      <p:pic>
        <p:nvPicPr>
          <p:cNvPr id="14" name="Picture 13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4500000"/>
            <a:ext cx="216000" cy="21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3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19</a:t>
            </a:r>
          </a:p>
        </p:txBody>
      </p:sp>
      <p:pic>
        <p:nvPicPr>
          <p:cNvPr id="16" name="Picture 15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6000" y="4500000"/>
            <a:ext cx="216000" cy="2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0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8" name="Picture 17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00" y="4500000"/>
            <a:ext cx="216000" cy="216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1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SOFEM-CI recrute » : la publication qui fait le plus réagir. On parle aux futurs collègues.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li_sofem-ci_7506713772670242816.jpg"/>
          <p:cNvPicPr>
            <a:picLocks noChangeAspect="1"/>
          </p:cNvPicPr>
          <p:nvPr/>
        </p:nvPicPr>
        <p:blipFill>
          <a:blip r:embed="rId8"/>
          <a:srcRect t="9130" b="21304"/>
          <a:stretch>
            <a:fillRect/>
          </a:stretch>
        </p:blipFill>
        <p:spPr>
          <a:xfrm>
            <a:off x="4428000" y="1692000"/>
            <a:ext cx="3311999" cy="230400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4500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520" y="4079519"/>
            <a:ext cx="300960" cy="3009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68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18/09</a:t>
            </a:r>
          </a:p>
        </p:txBody>
      </p:sp>
      <p:pic>
        <p:nvPicPr>
          <p:cNvPr id="26" name="Picture 25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4500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787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28" name="Picture 27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0000" y="4500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8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30" name="Picture 29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4000" y="4500000"/>
            <a:ext cx="216000" cy="216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6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Derrière chaque emballage, une équipe formée, équipée et engagée » : sécurité et savoir-faire.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4000" y="1584000"/>
            <a:ext cx="3528000" cy="4824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li_sofem-ci_7500855191030841345.jpg"/>
          <p:cNvPicPr>
            <a:picLocks noChangeAspect="1"/>
          </p:cNvPicPr>
          <p:nvPr/>
        </p:nvPicPr>
        <p:blipFill>
          <a:blip r:embed="rId9"/>
          <a:srcRect t="9130" b="21304"/>
          <a:stretch>
            <a:fillRect/>
          </a:stretch>
        </p:blipFill>
        <p:spPr>
          <a:xfrm>
            <a:off x="8172000" y="1692000"/>
            <a:ext cx="3311999" cy="2304000"/>
          </a:xfrm>
          <a:prstGeom prst="rect">
            <a:avLst/>
          </a:prstGeom>
        </p:spPr>
      </p:pic>
      <p:sp>
        <p:nvSpPr>
          <p:cNvPr id="35" name="Oval 34"/>
          <p:cNvSpPr/>
          <p:nvPr/>
        </p:nvSpPr>
        <p:spPr>
          <a:xfrm>
            <a:off x="8244000" y="4031999"/>
            <a:ext cx="396000" cy="396000"/>
          </a:xfrm>
          <a:prstGeom prst="ellipse">
            <a:avLst/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sofe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1520" y="4079519"/>
            <a:ext cx="300960" cy="300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12000" y="4086000"/>
            <a:ext cx="2736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FD8103"/>
                </a:solidFill>
                <a:latin typeface="Poppins"/>
              </a:rPr>
              <a:t>SOFEM-CI · 02/09</a:t>
            </a:r>
          </a:p>
        </p:txBody>
      </p:sp>
      <p:pic>
        <p:nvPicPr>
          <p:cNvPr id="38" name="Picture 37" descr="heart_noi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0" y="4500000"/>
            <a:ext cx="216000" cy="216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531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40" name="Picture 39" descr="message-circle_noi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4000" y="4500000"/>
            <a:ext cx="216000" cy="216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575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42" name="Picture 41" descr="share_noi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8000" y="4500000"/>
            <a:ext cx="216000" cy="21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619999" y="4464000"/>
            <a:ext cx="86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80000" y="4860000"/>
            <a:ext cx="3168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111111"/>
                </a:solidFill>
                <a:latin typeface="Poppins"/>
              </a:rPr>
              <a:t>« La qualité commence dès la production » : la bobine, en vrai, dans l’usine.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CE QUE FAIT COTIPLAST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111111"/>
                </a:solidFill>
                <a:latin typeface="Poppins"/>
              </a:rPr>
              <a:t>Des visuels propres, mais des publications qui se ressemblent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4FB58B"/>
                </a:solidFill>
                <a:latin typeface="Poppins"/>
              </a:rPr>
              <a:t>Ce qui marche</a:t>
            </a:r>
          </a:p>
        </p:txBody>
      </p:sp>
      <p:pic>
        <p:nvPicPr>
          <p:cNvPr id="11" name="Picture 10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2340000"/>
            <a:ext cx="360000" cy="36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68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charte tenue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Orange, vert, logo : chaque visuel est reconnaissable.</a:t>
            </a:r>
          </a:p>
        </p:txBody>
      </p:sp>
      <p:pic>
        <p:nvPicPr>
          <p:cNvPr id="13" name="Picture 12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3330000"/>
            <a:ext cx="360000" cy="36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68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sondages qui font parler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21 et 13 commentaires : vos deux meilleures discussions.</a:t>
            </a:r>
          </a:p>
        </p:txBody>
      </p:sp>
      <p:pic>
        <p:nvPicPr>
          <p:cNvPr id="15" name="Picture 14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4320000"/>
            <a:ext cx="360000" cy="36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68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vidéos des équipes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68 et 62 J’aime : vos deux meilleures publications.</a:t>
            </a:r>
          </a:p>
        </p:txBody>
      </p:sp>
      <p:pic>
        <p:nvPicPr>
          <p:cNvPr id="17" name="Picture 16" descr="circle-check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5310000"/>
            <a:ext cx="360000" cy="36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68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rythme régulier en août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Une publication tous les 2 ou 3 jours.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5364000" cy="4752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0000" y="1764000"/>
            <a:ext cx="46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D8103"/>
                </a:solidFill>
                <a:latin typeface="Poppins"/>
              </a:rPr>
              <a:t>Ce qui manque</a:t>
            </a:r>
          </a:p>
        </p:txBody>
      </p:sp>
      <p:pic>
        <p:nvPicPr>
          <p:cNvPr id="21" name="Picture 20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2340000"/>
            <a:ext cx="360000" cy="36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84000" y="230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Le même bloc de contact partout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19 publications sur 20 finissent par e-mail, téléphones et mots-dièse.</a:t>
            </a:r>
          </a:p>
        </p:txBody>
      </p:sp>
      <p:pic>
        <p:nvPicPr>
          <p:cNvPr id="23" name="Picture 22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3330000"/>
            <a:ext cx="360000" cy="36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984000" y="329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Des visuels de banque d’images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Montages et rendus génériques : on ne voit pas votre usine.</a:t>
            </a:r>
          </a:p>
        </p:txBody>
      </p:sp>
      <p:pic>
        <p:nvPicPr>
          <p:cNvPr id="25" name="Picture 24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4320000"/>
            <a:ext cx="360000" cy="3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84000" y="428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Une adresse Gmail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cotiplastci@gmail.com, pour un industriel de 30 ans : une adresse à votre nom rassure.</a:t>
            </a:r>
          </a:p>
        </p:txBody>
      </p:sp>
      <p:pic>
        <p:nvPicPr>
          <p:cNvPr id="27" name="Picture 26" descr="circle-x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0" y="5310000"/>
            <a:ext cx="360000" cy="36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4000" y="5274000"/>
            <a:ext cx="4392000" cy="93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111111"/>
                </a:solidFill>
                <a:latin typeface="Poppins"/>
              </a:rPr>
              <a:t>Un arrêt brutal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5A5A5A"/>
                </a:solidFill>
                <a:latin typeface="Poppins"/>
              </a:rPr>
              <a:t>Rien depuis le 1er octobre, Facebook et Instagram à l’abandon.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MEILLEURES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meilleures : vos équipes et vos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0847570085343233.jpg"/>
          <p:cNvPicPr>
            <a:picLocks noChangeAspect="1"/>
          </p:cNvPicPr>
          <p:nvPr/>
        </p:nvPicPr>
        <p:blipFill>
          <a:blip r:embed="rId3"/>
          <a:srcRect t="11016" b="25703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1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68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02/09 · Vidéo : nos équipes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493614841484496897.jpg"/>
          <p:cNvPicPr>
            <a:picLocks noChangeAspect="1"/>
          </p:cNvPicPr>
          <p:nvPr/>
        </p:nvPicPr>
        <p:blipFill>
          <a:blip r:embed="rId7"/>
          <a:srcRect l="25000" r="25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2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62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13/08 · Vidéo : le savoir-faire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4990431057032888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3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27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21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28/08 · Sondage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496868792086573056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TOP 4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22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13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22/08 · « À votre avis ? »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ulb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Les deux vidéos montrent des personnes dans l’usine ; les deux sondages posent une question à laquelle on répond d’un mot. Ce sont les deux recettes à garder. Attention : la vidéo n°1 s’affiche avec une image d’ouverture noire ; choisir une vignette avant de publier.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MOINS BONNES PUBLICATIONS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moins bonnes : des promesses sans preuve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_cotiplast_7505973995792691200.jpg"/>
          <p:cNvPicPr>
            <a:picLocks noChangeAspect="1"/>
          </p:cNvPicPr>
          <p:nvPr/>
        </p:nvPicPr>
        <p:blipFill>
          <a:blip r:embed="rId3"/>
          <a:srcRect t="3000" b="7000"/>
          <a:stretch>
            <a:fillRect/>
          </a:stretch>
        </p:blipFill>
        <p:spPr>
          <a:xfrm>
            <a:off x="666000" y="1674000"/>
            <a:ext cx="2448000" cy="27540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56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13" name="Picture 12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00" y="4554000"/>
            <a:ext cx="216000" cy="216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7</a:t>
            </a:r>
          </a:p>
        </p:txBody>
      </p:sp>
      <p:pic>
        <p:nvPicPr>
          <p:cNvPr id="15" name="Picture 14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4000" y="4554000"/>
            <a:ext cx="216000" cy="216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3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17" name="Picture 16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8000" y="4554000"/>
            <a:ext cx="216000" cy="216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16/09 · Packaging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4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i_cotiplast_7508519113359720448.jpg"/>
          <p:cNvPicPr>
            <a:picLocks noChangeAspect="1"/>
          </p:cNvPicPr>
          <p:nvPr/>
        </p:nvPicPr>
        <p:blipFill>
          <a:blip r:embed="rId7"/>
          <a:srcRect t="3000" b="7000"/>
          <a:stretch>
            <a:fillRect/>
          </a:stretch>
        </p:blipFill>
        <p:spPr>
          <a:xfrm>
            <a:off x="3474000" y="1674000"/>
            <a:ext cx="2448000" cy="2754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3564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4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24" name="Picture 23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4554000"/>
            <a:ext cx="216000" cy="216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77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2</a:t>
            </a:r>
          </a:p>
        </p:txBody>
      </p:sp>
      <p:pic>
        <p:nvPicPr>
          <p:cNvPr id="26" name="Picture 25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2000" y="4554000"/>
            <a:ext cx="216000" cy="216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64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28" name="Picture 27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6000" y="4554000"/>
            <a:ext cx="216000" cy="216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50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8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23/09 · Étiquettes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2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_cotiplast_7509244121304236032.jpg"/>
          <p:cNvPicPr>
            <a:picLocks noChangeAspect="1"/>
          </p:cNvPicPr>
          <p:nvPr/>
        </p:nvPicPr>
        <p:blipFill>
          <a:blip r:embed="rId8"/>
          <a:srcRect t="3000" b="7000"/>
          <a:stretch>
            <a:fillRect/>
          </a:stretch>
        </p:blipFill>
        <p:spPr>
          <a:xfrm>
            <a:off x="6282000" y="1674000"/>
            <a:ext cx="2448000" cy="2754000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6372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72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35" name="Picture 34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000" y="4554000"/>
            <a:ext cx="216000" cy="216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7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37" name="Picture 36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0" y="4554000"/>
            <a:ext cx="216000" cy="216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451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pic>
        <p:nvPicPr>
          <p:cNvPr id="39" name="Picture 38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4000" y="4554000"/>
            <a:ext cx="216000" cy="2160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31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25/09 · Quel emballage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0000" y="1584000"/>
            <a:ext cx="2628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_cotiplast_7510331033658163201.jpg"/>
          <p:cNvPicPr>
            <a:picLocks noChangeAspect="1"/>
          </p:cNvPicPr>
          <p:nvPr/>
        </p:nvPicPr>
        <p:blipFill>
          <a:blip r:embed="rId9"/>
          <a:srcRect t="3000" b="7000"/>
          <a:stretch>
            <a:fillRect/>
          </a:stretch>
        </p:blipFill>
        <p:spPr>
          <a:xfrm>
            <a:off x="9090000" y="1674000"/>
            <a:ext cx="2448000" cy="2754000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9180000" y="1764000"/>
            <a:ext cx="1224000" cy="288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80000" y="1764000"/>
            <a:ext cx="1224000" cy="28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FFFFFF"/>
                </a:solidFill>
                <a:latin typeface="Poppins"/>
              </a:rPr>
              <a:t>À REVOIR</a:t>
            </a:r>
          </a:p>
        </p:txBody>
      </p:sp>
      <p:pic>
        <p:nvPicPr>
          <p:cNvPr id="46" name="Picture 45" descr="heart_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554000"/>
            <a:ext cx="216000" cy="21600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395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3</a:t>
            </a:r>
          </a:p>
        </p:txBody>
      </p:sp>
      <p:pic>
        <p:nvPicPr>
          <p:cNvPr id="48" name="Picture 47" descr="message-circle_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8000" y="4554000"/>
            <a:ext cx="216000" cy="216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259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1</a:t>
            </a:r>
          </a:p>
        </p:txBody>
      </p:sp>
      <p:pic>
        <p:nvPicPr>
          <p:cNvPr id="50" name="Picture 49" descr="share_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2000" y="4554000"/>
            <a:ext cx="216000" cy="2160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23999" y="4518000"/>
            <a:ext cx="684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11111"/>
                </a:solidFill>
                <a:latin typeface="Poppins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4824000"/>
            <a:ext cx="234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5A5A5A"/>
                </a:solidFill>
                <a:latin typeface="Poppins"/>
              </a:rPr>
              <a:t>28/09 · Housses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6000" y="5436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FFE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alert-triangle_c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2000" y="5616000"/>
            <a:ext cx="503999" cy="50399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40000" y="5436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11111"/>
                </a:solidFill>
                <a:latin typeface="Poppins"/>
              </a:rPr>
              <a:t>« Haute précision », « par excellence », « fiable et sur-mesure » : des mots que tout le monde emploie, sur des images qui pourraient venir de n’importe quelle usine. Fin septembre, plus personne ne réagit.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PAR TYPE DE PUBLICATION · LINKEDIN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qui fait réagir : les gens, pas le catalogue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76000" y="1584000"/>
          <a:ext cx="5760000" cy="4464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96000" y="1655999"/>
            <a:ext cx="4932000" cy="43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que ça dit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12 publications sur 20 parlent de produits ou de services : ce sont celles qui font le moins réagir (6 J’aime).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2 vidéos de vos équipes font dix fois plus.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Les sondages font peu de J’aime mais beaucoup de commentaires : 34 sur les 43 de la période.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Sur 2 publications, c’est une tendance, pas une preuve : à confirmer en novembre.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6 publications refaites, avec 5 règles simples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60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hoto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8400" y="2030400"/>
            <a:ext cx="403200" cy="40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Votre usine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Vos photos à la place des images de banque.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8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492000" y="1872000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users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400" y="2030400"/>
            <a:ext cx="403200" cy="403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16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personne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opérateur, une contrôleuse, une équipe.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40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24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2400" y="2030400"/>
            <a:ext cx="403200" cy="403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48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Une question d’acheteur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Celle qu’il se pose vraiment.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2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56000" y="1872000"/>
            <a:ext cx="720000" cy="720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arget-arrow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4400" y="2030400"/>
            <a:ext cx="403200" cy="403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80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cas concret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0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Un poids, une ville, un produit connu.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4000" y="1655999"/>
            <a:ext cx="208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88000" y="1872000"/>
            <a:ext cx="720000" cy="720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phone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46400" y="2030400"/>
            <a:ext cx="403200" cy="4032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612000" y="2772000"/>
            <a:ext cx="1872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111111"/>
                </a:solidFill>
                <a:latin typeface="Poppins"/>
              </a:rPr>
              <a:t>Un seul contact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2000" y="3168000"/>
            <a:ext cx="1872000" cy="129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>
                <a:solidFill>
                  <a:srgbClr val="5A5A5A"/>
                </a:solidFill>
                <a:latin typeface="Poppins"/>
              </a:rPr>
              <a:t>Le numéro du devis, pas tout le bloc.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00" y="4788000"/>
            <a:ext cx="11052000" cy="1332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4896000"/>
            <a:ext cx="10440000" cy="115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D8103"/>
                </a:solidFill>
                <a:latin typeface="Poppins"/>
              </a:rPr>
              <a:t>Ce que nous n’avons pas inventé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FFFFFF"/>
                </a:solidFill>
                <a:latin typeface="Poppins"/>
              </a:rPr>
              <a:t>Les photos viennent de votre site ; les chiffres (30 ans, 800 kg, Bouaké) sont des exemples à confirmer. Délais, quantités minimales et références clients rendraient chaque publication plus forte.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LE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Vos vraies machines, vos vraies équipes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v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0" y="1440000"/>
            <a:ext cx="1929600" cy="2412000"/>
          </a:xfrm>
          <a:prstGeom prst="rect">
            <a:avLst/>
          </a:prstGeom>
        </p:spPr>
      </p:pic>
      <p:pic>
        <p:nvPicPr>
          <p:cNvPr id="10" name="Picture 9" descr="v_c_quiz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00" y="1440000"/>
            <a:ext cx="1929600" cy="2412000"/>
          </a:xfrm>
          <a:prstGeom prst="rect">
            <a:avLst/>
          </a:prstGeom>
        </p:spPr>
      </p:pic>
      <p:pic>
        <p:nvPicPr>
          <p:cNvPr id="11" name="Picture 10" descr="v_c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9200" y="1440000"/>
            <a:ext cx="1929600" cy="2412000"/>
          </a:xfrm>
          <a:prstGeom prst="rect">
            <a:avLst/>
          </a:prstGeom>
        </p:spPr>
      </p:pic>
      <p:pic>
        <p:nvPicPr>
          <p:cNvPr id="12" name="Picture 11" descr="v_c_recy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200" y="3924000"/>
            <a:ext cx="1929600" cy="2412000"/>
          </a:xfrm>
          <a:prstGeom prst="rect">
            <a:avLst/>
          </a:prstGeom>
        </p:spPr>
      </p:pic>
      <p:pic>
        <p:nvPicPr>
          <p:cNvPr id="13" name="Picture 12" descr="v_c_equip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00" y="3924000"/>
            <a:ext cx="1929600" cy="2412000"/>
          </a:xfrm>
          <a:prstGeom prst="rect">
            <a:avLst/>
          </a:prstGeom>
        </p:spPr>
      </p:pic>
      <p:pic>
        <p:nvPicPr>
          <p:cNvPr id="14" name="Picture 13" descr="v_c_qualit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39200" y="3924000"/>
            <a:ext cx="1929600" cy="241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80000" y="1512000"/>
            <a:ext cx="3348000" cy="50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D8103"/>
                </a:solidFill>
                <a:latin typeface="Poppins"/>
              </a:rPr>
              <a:t>Ce qui change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Six photos prises chez vous, au lieu de visuels génériques.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Une personne au travail sur cinq visuels sur six.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111111"/>
                </a:solidFill>
                <a:latin typeface="Poppins"/>
              </a:rPr>
              <a:t>Un titre court en grand, la question dans le texte, le numéro de devis en bas.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050" b="0">
                <a:solidFill>
                  <a:srgbClr val="5A5A5A"/>
                </a:solidFill>
                <a:latin typeface="Poppins"/>
              </a:rPr>
              <a:t>Photos tirées de votre site : à remplacer par des photos récentes si besoin.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1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Étiquettes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eti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2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Sondage palette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quiz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045" y="1422000"/>
            <a:ext cx="9351910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3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Film thermo-rétractable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p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4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Recyclage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rec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044" y="1422000"/>
            <a:ext cx="9555912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5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Nos équipes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equi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AVANT / APRÈS · 6 SUR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Contrôle qualité : avant, après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19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pic>
        <p:nvPicPr>
          <p:cNvPr id="9" name="Picture 8" descr="cmp_c_quali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493" y="1422000"/>
            <a:ext cx="9769014" cy="4896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RECOMMANDATIONS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5 décisions pour transformer l’audience en devis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76000" y="1584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1584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404000" y="1709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680" y="1840679"/>
            <a:ext cx="332640" cy="332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96000" y="1584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Reprendre dès novembre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6000" y="1584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2 publications par semaine sur LinkedIn, le mardi et le jeudi à 8 h : la régularité d’août, sans l’essoufflement.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00" y="2538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6000" y="2538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538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404000" y="2663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680" y="2794679"/>
            <a:ext cx="332640" cy="332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6000" y="2538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Une vidéo d’usine par semaine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6000" y="2538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machine, un geste, une équipe : 30 secondes filmées au téléphone suffisent.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3492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3492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3492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3</a:t>
            </a:r>
          </a:p>
        </p:txBody>
      </p:sp>
      <p:sp>
        <p:nvSpPr>
          <p:cNvPr id="26" name="Oval 25"/>
          <p:cNvSpPr/>
          <p:nvPr/>
        </p:nvSpPr>
        <p:spPr>
          <a:xfrm>
            <a:off x="1404000" y="3617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essage-circle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4680" y="3748679"/>
            <a:ext cx="332640" cy="332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196000" y="3492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 sondage tous les 15 jours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6000" y="3492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Vos meilleures discussions : on pose la question, on donne la réponse le vendredi.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446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76000" y="4446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4446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4</a:t>
            </a:r>
          </a:p>
        </p:txBody>
      </p:sp>
      <p:sp>
        <p:nvSpPr>
          <p:cNvPr id="33" name="Oval 32"/>
          <p:cNvSpPr/>
          <p:nvPr/>
        </p:nvSpPr>
        <p:spPr>
          <a:xfrm>
            <a:off x="1404000" y="4571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briefcase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34680" y="4702679"/>
            <a:ext cx="332640" cy="332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196000" y="4446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Une adresse à votre nom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6000" y="4446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Remplacer l’adresse Gmail par une adresse @cotiplast, et un seul numéro de devis.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76000" y="5400000"/>
            <a:ext cx="11052000" cy="84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76000" y="5400000"/>
            <a:ext cx="90000" cy="846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2000" y="5400000"/>
            <a:ext cx="503999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1">
                <a:solidFill>
                  <a:srgbClr val="FD8103"/>
                </a:solidFill>
                <a:latin typeface="Poppins"/>
              </a:rPr>
              <a:t>5</a:t>
            </a:r>
          </a:p>
        </p:txBody>
      </p:sp>
      <p:sp>
        <p:nvSpPr>
          <p:cNvPr id="40" name="Oval 39"/>
          <p:cNvSpPr/>
          <p:nvPr/>
        </p:nvSpPr>
        <p:spPr>
          <a:xfrm>
            <a:off x="1404000" y="5525999"/>
            <a:ext cx="594000" cy="594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brand-facebook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4680" y="5656679"/>
            <a:ext cx="332640" cy="33264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196000" y="5400000"/>
            <a:ext cx="3060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111111"/>
                </a:solidFill>
                <a:latin typeface="Poppins"/>
              </a:rPr>
              <a:t>Faire le ménage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6000" y="5400000"/>
            <a:ext cx="6228000" cy="84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Une seule page Facebook à jour, Instagram fermé ou relancé : rien d’abandonné en ligne.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PLAN 30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 premier mois, semaine par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lendar-event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00" y="1710000"/>
            <a:ext cx="324000" cy="324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6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Valider les 6 publications refaites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Choisir la page Facebook à garder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Lister 10 photos d’usine récentes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4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cil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8000" y="1710000"/>
            <a:ext cx="324000" cy="3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24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4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8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Répondre à chaque commentaire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Premier sondage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2000" y="1584000"/>
            <a:ext cx="2628000" cy="576000"/>
          </a:xfrm>
          <a:prstGeom prst="round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video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000" y="1710000"/>
            <a:ext cx="324000" cy="324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32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2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Tourner 2 vidéos à l’usine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la réponse du sondage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Publier 2 avant /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0000" y="1584000"/>
            <a:ext cx="2628000" cy="576000"/>
          </a:xfrm>
          <a:prstGeom prst="round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rending-up_b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0" y="1710000"/>
            <a:ext cx="324000" cy="324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540000" y="1584000"/>
            <a:ext cx="2015999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Poppins"/>
              </a:rPr>
              <a:t>Semaine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0000" y="2304000"/>
            <a:ext cx="2628000" cy="288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0" y="2448000"/>
            <a:ext cx="2376000" cy="26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Comparer aux 8 J’aime de départ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Compter les demandes de devis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FD8103"/>
                </a:solidFill>
                <a:latin typeface="Poppins"/>
              </a:rPr>
              <a:t>■  </a:t>
            </a:r>
            <a:r>
              <a:rPr sz="1200">
                <a:solidFill>
                  <a:srgbClr val="111111"/>
                </a:solidFill>
                <a:latin typeface="Poppins"/>
              </a:rPr>
              <a:t>Préparer décembre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00" y="5364000"/>
            <a:ext cx="11052000" cy="864000"/>
          </a:xfrm>
          <a:prstGeom prst="roundRect">
            <a:avLst>
              <a:gd name="adj" fmla="val 6000"/>
            </a:avLst>
          </a:prstGeom>
          <a:solidFill>
            <a:srgbClr val="142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target-arrow_b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5544000"/>
            <a:ext cx="503999" cy="503999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40000" y="5364000"/>
            <a:ext cx="10008000" cy="864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Poppins"/>
              </a:rPr>
              <a:t>Objectif proposé à 30 jours : passer de 8 à 20 J’aime médians sur LinkedIn, et compter chaque demande de devis venue des réseaux.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TABLEAU DE 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Les chiffres à suivre chaque semaine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22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1584000"/>
          <a:ext cx="11052000" cy="367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0000"/>
                <a:gridCol w="2544000"/>
                <a:gridCol w="2544000"/>
                <a:gridCol w="2544000"/>
              </a:tblGrid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Indicateur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Où le lire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Départ (28/10)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Poppins"/>
                        </a:rPr>
                        <a:t>Objectif 30 jours</a:t>
                      </a:r>
                    </a:p>
                  </a:txBody>
                  <a:tcPr anchor="ctr">
                    <a:solidFill>
                      <a:srgbClr val="14251C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J’aime médians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8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Commentaires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43 sur 2 mois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30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Publications par semaine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0 depuis le 1/10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2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Vidéos des équipes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 LinkedIn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2 sur 20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4 par mois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4571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Pages à l’abandon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Facebook, Instagram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3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0</a:t>
                      </a:r>
                    </a:p>
                  </a:txBody>
                  <a:tcPr anchor="ctr">
                    <a:solidFill>
                      <a:srgbClr val="F4F4F2"/>
                    </a:solidFill>
                  </a:tcPr>
                </a:tc>
              </a:tr>
              <a:tr h="52457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Demandes de devis venues des réseaux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Votre boîte 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11111"/>
                          </a:solidFill>
                          <a:latin typeface="Poppins"/>
                        </a:rPr>
                        <a:t>non suivi</a:t>
                      </a:r>
                    </a:p>
                  </a:txBody>
                  <a:tcPr anchor="ctr">
                    <a:solidFill>
                      <a:srgbClr val="FFEB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11111"/>
                          </a:solidFill>
                          <a:latin typeface="Poppins"/>
                        </a:rPr>
                        <a:t>comptées chaque semaine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76000" y="5544000"/>
            <a:ext cx="11052000" cy="64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5A5A"/>
                </a:solidFill>
                <a:latin typeface="Poppins"/>
              </a:rPr>
              <a:t>Les visites de la page et la portée ne se lisent qu’avec l’accès administrateur : ce tableau commence par ce qui se voit de l’extérieur.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otipl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875" y="216000"/>
            <a:ext cx="820489" cy="576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6000" y="324000"/>
            <a:ext cx="864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D8103"/>
                </a:solidFill>
                <a:latin typeface="Poppins"/>
              </a:rPr>
              <a:t>SUITE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76000"/>
            <a:ext cx="918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>
                <a:solidFill>
                  <a:srgbClr val="111111"/>
                </a:solidFill>
                <a:latin typeface="Poppins"/>
              </a:rPr>
              <a:t>Ce qu’il nous faut pour aller plus loin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00" y="1278000"/>
            <a:ext cx="792000" cy="504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72119" y="6498000"/>
            <a:ext cx="1296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23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98000"/>
            <a:ext cx="792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>
                <a:solidFill>
                  <a:srgbClr val="5A5A5A"/>
                </a:solidFill>
                <a:latin typeface="Poppins"/>
              </a:rPr>
              <a:t>COTIPLAST · Audit réseaux sociaux · relevé du 28/10/2026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792000" cy="79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ye_b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40" y="2118240"/>
            <a:ext cx="443520" cy="443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4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L’accès à la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Visites, portée et profils des visiteurs : pour savoir quels acheteurs vous regardent.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08000" y="1944000"/>
            <a:ext cx="792000" cy="79200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mera_b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0" y="2118240"/>
            <a:ext cx="443520" cy="443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08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Des photos récentes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Une demi-journée de prises de vue à l’usine nourrit trois mois de publications.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4000" y="1655999"/>
            <a:ext cx="3528000" cy="3420000"/>
          </a:xfrm>
          <a:prstGeom prst="roundRect">
            <a:avLst>
              <a:gd name="adj" fmla="val 6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52000" y="1944000"/>
            <a:ext cx="792000" cy="79200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ircle-check_b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240" y="2118240"/>
            <a:ext cx="443520" cy="443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52000" y="2951999"/>
            <a:ext cx="3024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11111"/>
                </a:solidFill>
                <a:latin typeface="Poppins"/>
              </a:rPr>
              <a:t>Votre accord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000" y="3456000"/>
            <a:ext cx="3024000" cy="151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Poppins"/>
              </a:rPr>
              <a:t>Sur les 6 publications refaites, avant toute mise en ligne.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00" y="5400000"/>
            <a:ext cx="11052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5A5A"/>
                </a:solidFill>
                <a:latin typeface="Poppins"/>
              </a:rPr>
              <a:t>Rien n’a été publié. Les visuels « après » reprennent les photos de votre site et vos coordonnées.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