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3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jpg"/><Relationship Id="rId4" Type="http://schemas.openxmlformats.org/officeDocument/2006/relationships/image" Target="../media/image3.jp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1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Relationship Id="rId5" Type="http://schemas.openxmlformats.org/officeDocument/2006/relationships/image" Target="../media/image46.jp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Relationship Id="rId4" Type="http://schemas.openxmlformats.org/officeDocument/2006/relationships/image" Target="../media/image52.png"/><Relationship Id="rId5" Type="http://schemas.openxmlformats.org/officeDocument/2006/relationships/image" Target="../media/image47.jp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5.jpg"/><Relationship Id="rId4" Type="http://schemas.openxmlformats.org/officeDocument/2006/relationships/image" Target="../media/image52.png"/><Relationship Id="rId5" Type="http://schemas.openxmlformats.org/officeDocument/2006/relationships/image" Target="../media/image48.jpg"/><Relationship Id="rId6" Type="http://schemas.openxmlformats.org/officeDocument/2006/relationships/image" Target="../media/image5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6.jpg"/><Relationship Id="rId4" Type="http://schemas.openxmlformats.org/officeDocument/2006/relationships/image" Target="../media/image52.png"/><Relationship Id="rId5" Type="http://schemas.openxmlformats.org/officeDocument/2006/relationships/image" Target="../media/image49.jpg"/><Relationship Id="rId6" Type="http://schemas.openxmlformats.org/officeDocument/2006/relationships/image" Target="../media/image5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jpg"/><Relationship Id="rId4" Type="http://schemas.openxmlformats.org/officeDocument/2006/relationships/image" Target="../media/image52.png"/><Relationship Id="rId5" Type="http://schemas.openxmlformats.org/officeDocument/2006/relationships/image" Target="../media/image1.jpg"/><Relationship Id="rId6" Type="http://schemas.openxmlformats.org/officeDocument/2006/relationships/image" Target="../media/image5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8.jpg"/><Relationship Id="rId4" Type="http://schemas.openxmlformats.org/officeDocument/2006/relationships/image" Target="../media/image52.png"/><Relationship Id="rId5" Type="http://schemas.openxmlformats.org/officeDocument/2006/relationships/image" Target="../media/image50.jpg"/><Relationship Id="rId6" Type="http://schemas.openxmlformats.org/officeDocument/2006/relationships/image" Target="../media/image5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9.jpg"/><Relationship Id="rId4" Type="http://schemas.openxmlformats.org/officeDocument/2006/relationships/image" Target="../media/image60.png"/><Relationship Id="rId5" Type="http://schemas.openxmlformats.org/officeDocument/2006/relationships/image" Target="../media/image11.png"/><Relationship Id="rId6" Type="http://schemas.openxmlformats.org/officeDocument/2006/relationships/image" Target="../media/image44.png"/><Relationship Id="rId7" Type="http://schemas.openxmlformats.org/officeDocument/2006/relationships/image" Target="../media/image61.png"/><Relationship Id="rId8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2.jpg"/><Relationship Id="rId4" Type="http://schemas.openxmlformats.org/officeDocument/2006/relationships/image" Target="../media/image63.jpg"/><Relationship Id="rId5" Type="http://schemas.openxmlformats.org/officeDocument/2006/relationships/image" Target="../media/image6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5.jpg"/><Relationship Id="rId4" Type="http://schemas.openxmlformats.org/officeDocument/2006/relationships/image" Target="../media/image66.jpg"/><Relationship Id="rId5" Type="http://schemas.openxmlformats.org/officeDocument/2006/relationships/image" Target="../media/image67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60.png"/><Relationship Id="rId4" Type="http://schemas.openxmlformats.org/officeDocument/2006/relationships/image" Target="../media/image68.png"/><Relationship Id="rId5" Type="http://schemas.openxmlformats.org/officeDocument/2006/relationships/image" Target="../media/image11.png"/><Relationship Id="rId6" Type="http://schemas.openxmlformats.org/officeDocument/2006/relationships/image" Target="../media/image69.png"/><Relationship Id="rId7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0.jpg"/><Relationship Id="rId4" Type="http://schemas.openxmlformats.org/officeDocument/2006/relationships/image" Target="../media/image12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_c_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cotiplast-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33" y="540000"/>
            <a:ext cx="1230733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B58B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COTIPLAST face à SOFEM-CI et FLEPACI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pac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pic>
        <p:nvPicPr>
          <p:cNvPr id="14" name="Picture 13" descr="brand-faceboo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6" name="Picture 15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18" name="Picture 17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La plus grande audience du secteur, mais elle s’éteint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5 446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Neuf fois FLEPACI (576), quarante fois SOFEM-CI (138). Votre meilleur atout en ligne.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8 J’aime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des 20 dernières : 22 en août, 5,5 en septembre. La courbe descend.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Plus rien depuis le 1er octobre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27 jours sans publication au moment du relevé, après 2,6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Vos équipes en vidéo : vos 2 meilleures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68 et 62 J’aime : huit fois la médiane. Les visuels de catalogue font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LinkedIn, Facebook et Instagram de COTIPLAST, SOFEM-CI et FLEPACI,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20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Les 20 dernières sur LinkedIn : du 7/08 au 1/10 pour COTIPLAST, d’avril à octobre pour SOFEM-CI.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La valeur du milieu, pour qu’une publication très partagée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43999"/>
            <a:ext cx="2160000" cy="68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635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Portée, visites de la page, demandes de devis reçues : il faut l’accès aux comptes. Les publications de FLEPACI n’ont pas pu être relevées.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Trois fabricants d’emballage,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3540000" cy="10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ti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D8103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5 446 abonnés</a:t>
            </a:r>
          </a:p>
        </p:txBody>
      </p:sp>
      <p:pic>
        <p:nvPicPr>
          <p:cNvPr id="17" name="Picture 16" descr="speakerphon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2,6 publ. / semaine</a:t>
            </a:r>
          </a:p>
        </p:txBody>
      </p:sp>
      <p:pic>
        <p:nvPicPr>
          <p:cNvPr id="19" name="Picture 18" descr="heart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 J’aime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présence, un ton de catalogue.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2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2000" y="1584000"/>
            <a:ext cx="3540000" cy="10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08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fe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5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76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28" name="Picture 27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8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2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8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72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8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2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4,5 J’aime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8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Petite page, mais des visages et des recrutements.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8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8000" y="1584000"/>
            <a:ext cx="3540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4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lepac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65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32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28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28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4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28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Emballages souples depuis 2013. Publications non accessibles.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LES COMPTES DE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se joue sur LinkedIn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5 446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187 salariés rattachés à la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2 957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Dernières publications : 2019, puis une le 21/06/2026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01998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5A5A5A"/>
                </a:solidFill>
                <a:latin typeface="Poppins"/>
              </a:rPr>
              <a:t>@cotiplastci · aucune publication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Deux pages Facebook portent votre nom (créées en 2014 et en 2019) et un compte Instagram vide : un acheteur qui vous cherche tombe sur des pages à l’abandon. Il faut en garder une, la relier au site et à LinkedIn, et fermer ou rediriger l’autre.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FACE AUX CONCURRENTS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audience 9 fois plus grande, des réactions comparables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256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406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406000"/>
            <a:ext cx="2700001" cy="46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04000" y="2016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D8103"/>
                </a:solidFill>
                <a:latin typeface="Poppins"/>
              </a:rPr>
              <a:t>5 446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264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654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654000"/>
            <a:ext cx="285567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4000" y="3264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512000"/>
            <a:ext cx="1583999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902000"/>
            <a:ext cx="2700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902000"/>
            <a:ext cx="90000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4000" y="4512000"/>
            <a:ext cx="792000" cy="124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138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00000"/>
                <a:gridCol w="1200000"/>
                <a:gridCol w="1200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COTIPLAST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SOFEM-CI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FLEPACI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5 446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sur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187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2,6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0,15 %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3,3 %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Dernière publication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28/10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J’aime médians ÷ abonnés. SOFEM-CI a peu d’abonnés : surtout ses salariés, qui réagissent à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SOFEM-CI publie peu, mais montre ses 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sofem-ci_7495766631122522113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19/08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SOFEM-CI recrute » : la publication qui fait le plus réagir. On parle aux futurs collègues.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_sofem-ci_7506713772670242816.jpg"/>
          <p:cNvPicPr>
            <a:picLocks noChangeAspect="1"/>
          </p:cNvPicPr>
          <p:nvPr/>
        </p:nvPicPr>
        <p:blipFill>
          <a:blip r:embed="rId8"/>
          <a:srcRect t="9130" b="21304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18/09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Derrière chaque emballage, une équipe formée, équipée et engagée » : sécurité et savoir-faire.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i_sofem-ci_7500855191030841345.jpg"/>
          <p:cNvPicPr>
            <a:picLocks noChangeAspect="1"/>
          </p:cNvPicPr>
          <p:nvPr/>
        </p:nvPicPr>
        <p:blipFill>
          <a:blip r:embed="rId9"/>
          <a:srcRect t="9130" b="21304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02/09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La qualité commence dès la production » : la bobine, en vrai, dans l’usine.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QUE FAIT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Des visuels propres, mais des publications qui se ressemblent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FB58B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charte tenue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Orange, vert, logo : chaque visuel est reconnaissable.</a:t>
            </a:r>
          </a:p>
        </p:txBody>
      </p:sp>
      <p:pic>
        <p:nvPicPr>
          <p:cNvPr id="13" name="Picture 12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sondages qui font parler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21 et 13 commentaires : vos deux meilleures discussions.</a:t>
            </a:r>
          </a:p>
        </p:txBody>
      </p:sp>
      <p:pic>
        <p:nvPicPr>
          <p:cNvPr id="15" name="Picture 14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vidéos des équipes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68 et 62 J’aime : vos deux meilleures publications.</a:t>
            </a:r>
          </a:p>
        </p:txBody>
      </p:sp>
      <p:pic>
        <p:nvPicPr>
          <p:cNvPr id="17" name="Picture 16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rythme régulier en août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Une publication tous les 2 ou 3 jours.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D8103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même bloc de contact partout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19 publications sur 20 finissent par e-mail, téléphones et mots-dièse.</a:t>
            </a:r>
          </a:p>
        </p:txBody>
      </p:sp>
      <p:pic>
        <p:nvPicPr>
          <p:cNvPr id="23" name="Picture 22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visuels de banque d’images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Montages et rendus génériques : on ne voit pas votre usine.</a:t>
            </a:r>
          </a:p>
        </p:txBody>
      </p:sp>
      <p:pic>
        <p:nvPicPr>
          <p:cNvPr id="25" name="Picture 24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Gmail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cotiplastci@gmail.com, pour un industriel de 30 ans : une adresse à votre nom rassure.</a:t>
            </a:r>
          </a:p>
        </p:txBody>
      </p:sp>
      <p:pic>
        <p:nvPicPr>
          <p:cNvPr id="27" name="Picture 26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arrêt brutal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Rien depuis le 1er octobre, Facebook et Instagram à l’abandon.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MEILLEURES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vos équipes et vos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0847570085343233.jpg"/>
          <p:cNvPicPr>
            <a:picLocks noChangeAspect="1"/>
          </p:cNvPicPr>
          <p:nvPr/>
        </p:nvPicPr>
        <p:blipFill>
          <a:blip r:embed="rId3"/>
          <a:srcRect t="11016" b="25703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68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Vidéo : nos équipes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493614841484496897.jpg"/>
          <p:cNvPicPr>
            <a:picLocks noChangeAspect="1"/>
          </p:cNvPicPr>
          <p:nvPr/>
        </p:nvPicPr>
        <p:blipFill>
          <a:blip r:embed="rId7"/>
          <a:srcRect l="25000" r="25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13/08 · Vidéo : le savoir-faire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4990431057032888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21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28/08 · Sondage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496868792086573056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22/08 · « À votre avis ?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deux vidéos montrent des personnes dans l’usine ; les deux sondages posent une question à laquelle on répond d’un mot. Ce sont les deux recettes à garder. Attention : la vidéo n°1 s’affiche avec une image d’ouverture noire ; choisir une vignette avant de publier.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MOINS BONNES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des promesses sans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5973995792691200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16/09 · Packaging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508519113359720448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23/09 · Étiquettes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5092441213042360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25/09 · Quel emballage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510331033658163201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Housses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« Haute précision », « par excellence », « fiable et sur-mesure » : des mots que tout le monde emploie, sur des images qui pourraient venir de n’importe quelle usine. Fin septembre, plus personne ne réagit.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PAR TYPE DE PUBLICATION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: les gens, pas le catalogue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1548000"/>
            <a:ext cx="57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J’aime médians par type (nombre de publications)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2016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111111"/>
                </a:solidFill>
                <a:latin typeface="Poppins"/>
              </a:rPr>
              <a:t>Vidéos des équipes (2)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31999" y="2286000"/>
            <a:ext cx="3204001" cy="46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8000" y="2016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D8103"/>
                </a:solidFill>
                <a:latin typeface="Poppins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024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Sondages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1999" y="3294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31999" y="3294000"/>
            <a:ext cx="1207661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08000" y="3024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24,5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032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Fêtes et causes (4)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31999" y="4302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31999" y="4302000"/>
            <a:ext cx="837969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8000" y="4032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5040000"/>
            <a:ext cx="1583999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Produits et services (12)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31999" y="5310000"/>
            <a:ext cx="3204001" cy="468000"/>
          </a:xfrm>
          <a:prstGeom prst="round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231999" y="5310000"/>
            <a:ext cx="295753" cy="468000"/>
          </a:xfrm>
          <a:prstGeom prst="roundRect">
            <a:avLst/>
          </a:prstGeom>
          <a:solidFill>
            <a:srgbClr val="B9B9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8000" y="5040000"/>
            <a:ext cx="792000" cy="100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12 publications sur 20 parlent de produits ou de services : ce sont celles qui font le moins réagir (6 J’aime).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2 vidéos de vos équipes font dix fois plus.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sondages font peu de J’aime mais beaucoup de commentaires : 34 sur les 43 de la période.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Sur 2 publications, c’est une tendance, pas une preuve : à confirmer en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to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1994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Votre usine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Vos photos à la place des images de banque.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1994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opérateur, une contrôleuse, une équipe.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1994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Celle qu’il se pose vraiment.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rget-arrow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1994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cas concret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Un poids, une ville, un produit connu.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1994399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664000"/>
            <a:ext cx="1872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111111"/>
                </a:solidFill>
                <a:latin typeface="Poppins"/>
              </a:rPr>
              <a:t>Un seul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311999"/>
            <a:ext cx="1872000" cy="11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 numéro du devis, pas tout le bloc.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D8103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photos viennent de votre site ; les chiffres (30 ans, 800 kg, Bouaké) sont des exemples à confirmer. Délais, quantités minimales et références clients rendraient chaque publication plus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vraies machines, vos vraies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w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475999"/>
            <a:ext cx="1944000" cy="2430000"/>
          </a:xfrm>
          <a:prstGeom prst="rect">
            <a:avLst/>
          </a:prstGeom>
        </p:spPr>
      </p:pic>
      <p:pic>
        <p:nvPicPr>
          <p:cNvPr id="10" name="Picture 9" descr="w_c_quiz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000" y="1475999"/>
            <a:ext cx="1944000" cy="2430000"/>
          </a:xfrm>
          <a:prstGeom prst="rect">
            <a:avLst/>
          </a:prstGeom>
        </p:spPr>
      </p:pic>
      <p:pic>
        <p:nvPicPr>
          <p:cNvPr id="11" name="Picture 10" descr="w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0" y="1475999"/>
            <a:ext cx="1944000" cy="2430000"/>
          </a:xfrm>
          <a:prstGeom prst="rect">
            <a:avLst/>
          </a:prstGeom>
        </p:spPr>
      </p:pic>
      <p:pic>
        <p:nvPicPr>
          <p:cNvPr id="12" name="Picture 11" descr="w_c_rec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3977999"/>
            <a:ext cx="1944000" cy="2430000"/>
          </a:xfrm>
          <a:prstGeom prst="rect">
            <a:avLst/>
          </a:prstGeom>
        </p:spPr>
      </p:pic>
      <p:pic>
        <p:nvPicPr>
          <p:cNvPr id="13" name="Picture 12" descr="w_c_equip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6000" y="3977999"/>
            <a:ext cx="1944000" cy="2430000"/>
          </a:xfrm>
          <a:prstGeom prst="rect">
            <a:avLst/>
          </a:prstGeom>
        </p:spPr>
      </p:pic>
      <p:pic>
        <p:nvPicPr>
          <p:cNvPr id="14" name="Picture 13" descr="w_c_qualit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0" y="3977999"/>
            <a:ext cx="1944000" cy="243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Six photos prises chez vous, au lieu de visuels génériques.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personne au travail sur cinq visuels sur six.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texte, le numéro de devis en bas.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tirées de votre site : à remplacer par des photos récentes si besoin.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Étiquettes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879200"/>
            <a:ext cx="3456000" cy="44496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etiq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vraie photo de l’usine, pas un montage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personne au travail : on la regarde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que se pose un 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Cette étiquette, vous l’avez sûrement déjà vue en rayon.
Elle est sortie de cette machine, à Abidjan, avant d’arriver sur le pot.
 Votre étiquette tient-elle encore après un mois au frais ? 
Devis : +225 27 23 46 64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Sondage palette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qui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quiz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sondage gardé : c’est ce qui fait commenter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cas concret, avec un poids et une ville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 rendez-vous pour la réponse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Une palette de 800 kg part demain pour Bouaké. Vous la protégez avec :
A. une housse PE · B. du film étirable · C. du film thermo-rétractable
 Répondez A, B ou C. On donne la réponse vendredi.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Film thermo-rétractable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bénéfice raconté par un objet connu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La machine en vrai, chez COTIPLAST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chiffrée pour l’acheteur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Un pack d’eau de 6 bouteilles fait des centaines de kilomètres avant le frigo.
Le film thermo-rétractable le tient serré du camion au rayon.
 Combien de packs abîmés par livraison chez vous 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Recyclage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rec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rec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L’engagement montré dans l’usine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suite annoncée : on revient voir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Moins de mots, une seule idée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Ce que deviennent vos chutes de plastique chez COTIPLAST :
elles sont valorisées pour une seconde vie.
 Vous voulez voir comment ? On vous fait visiter l’atelier en vidéo la semaine prochaine.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Nos équipes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equ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949400"/>
            <a:ext cx="3456000" cy="4309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equip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Votre meilleur post : vos équipes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Des visages, en vrai, dans vos murs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L’identification fait voyager le post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Derrière chaque emballage COTIPLAST, il y a elles. 👏
Plus de 30 ans de savoir-faire, transmis d’une équipe à l’autre.
 Identifiez un collègue qui fait tourner votre usine.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Contrôle qualité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12000"/>
            <a:ext cx="3456000" cy="270000"/>
          </a:xfrm>
          <a:prstGeom prst="round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1512000"/>
            <a:ext cx="345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AVANT · PUBLIÉ</a:t>
            </a:r>
          </a:p>
        </p:txBody>
      </p:sp>
      <p:pic>
        <p:nvPicPr>
          <p:cNvPr id="11" name="Picture 10" descr="b_c_q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2016900"/>
            <a:ext cx="3456000" cy="4174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158000" y="3744000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rrow-righ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000" y="3851999"/>
            <a:ext cx="324000" cy="3240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824000" y="1512000"/>
            <a:ext cx="3816000" cy="270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4000" y="1512000"/>
            <a:ext cx="3816000" cy="27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APRÈS · PROPOSÉ</a:t>
            </a:r>
          </a:p>
        </p:txBody>
      </p:sp>
      <p:pic>
        <p:nvPicPr>
          <p:cNvPr id="16" name="Picture 15" descr="w_c_qual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400" y="1872000"/>
            <a:ext cx="3571200" cy="4464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820000" y="1512000"/>
            <a:ext cx="2808000" cy="482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6000" y="1655999"/>
            <a:ext cx="2448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Ce qui change</a:t>
            </a:r>
          </a:p>
        </p:txBody>
      </p:sp>
      <p:sp>
        <p:nvSpPr>
          <p:cNvPr id="19" name="Oval 18"/>
          <p:cNvSpPr/>
          <p:nvPr/>
        </p:nvSpPr>
        <p:spPr>
          <a:xfrm>
            <a:off x="9036000" y="2088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149200"/>
            <a:ext cx="216000" cy="216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68000" y="2052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preuve, pas une promesse</a:t>
            </a:r>
          </a:p>
        </p:txBody>
      </p:sp>
      <p:sp>
        <p:nvSpPr>
          <p:cNvPr id="22" name="Oval 21"/>
          <p:cNvSpPr/>
          <p:nvPr/>
        </p:nvSpPr>
        <p:spPr>
          <a:xfrm>
            <a:off x="9036000" y="2790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2851200"/>
            <a:ext cx="216000" cy="216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468000" y="2754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Le contrôle filmé ou photographié en vrai</a:t>
            </a:r>
          </a:p>
        </p:txBody>
      </p:sp>
      <p:sp>
        <p:nvSpPr>
          <p:cNvPr id="25" name="Oval 24"/>
          <p:cNvSpPr/>
          <p:nvPr/>
        </p:nvSpPr>
        <p:spPr>
          <a:xfrm>
            <a:off x="9036000" y="3492000"/>
            <a:ext cx="342000" cy="34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200" y="35532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468000" y="3456000"/>
            <a:ext cx="2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111111"/>
                </a:solidFill>
                <a:latin typeface="Poppins"/>
              </a:rPr>
              <a:t>Une question de métier, entre pros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36000" y="4248000"/>
            <a:ext cx="2376000" cy="21600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36000" y="4320000"/>
            <a:ext cx="2376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>
                <a:solidFill>
                  <a:srgbClr val="5A5A5A"/>
                </a:solidFill>
                <a:latin typeface="Poppins"/>
              </a:rPr>
              <a:t>LE TEXTE PROPOSÉ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6000" y="4536000"/>
            <a:ext cx="2376000" cy="176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11111"/>
                </a:solidFill>
                <a:latin typeface="Poppins"/>
              </a:rPr>
              <a:t>Avant de partir chez vous, chaque bobine passe ici. 🔍
Contrôle qualité à chaque étape : épaisseur, impression, soudure.
 Qu’est-ce que vous vérifiez en premier à la réception 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transformer l’audience en devis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o_2024_10_16_jpg.jpg"/>
          <p:cNvPicPr>
            <a:picLocks noChangeAspect="1"/>
          </p:cNvPicPr>
          <p:nvPr/>
        </p:nvPicPr>
        <p:blipFill>
          <a:blip r:embed="rId3"/>
          <a:srcRect l="32235" r="32235"/>
          <a:stretch>
            <a:fillRect/>
          </a:stretch>
        </p:blipFill>
        <p:spPr>
          <a:xfrm>
            <a:off x="8928000" y="1584000"/>
            <a:ext cx="2700000" cy="4662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584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96000" y="1728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lendar-even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8760" y="1850760"/>
            <a:ext cx="312480" cy="312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015999" y="1584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Reprendre dès novembre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6000" y="1584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2 publications par semaine sur LinkedIn, le mardi et le jeudi à 8 h : la régularité d’août, sans l’essoufflement.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2538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2538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296000" y="2682000"/>
            <a:ext cx="558000" cy="558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8760" y="2804760"/>
            <a:ext cx="312480" cy="312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015999" y="2538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vidéo d’usine par semaine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56000" y="2538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machine, un geste, une équipe : 30 secondes filmées au téléphone suffisent.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3492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6000" y="3492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3</a:t>
            </a:r>
          </a:p>
        </p:txBody>
      </p:sp>
      <p:sp>
        <p:nvSpPr>
          <p:cNvPr id="27" name="Oval 26"/>
          <p:cNvSpPr/>
          <p:nvPr/>
        </p:nvSpPr>
        <p:spPr>
          <a:xfrm>
            <a:off x="1296000" y="3636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message-circ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8760" y="3758760"/>
            <a:ext cx="312480" cy="3124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15999" y="3492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sondage tous les 15 jours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6000" y="3492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Vos meilleures discussions : on pose la question, on donne la réponse le vendredi.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000" y="4446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000" y="4446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4</a:t>
            </a:r>
          </a:p>
        </p:txBody>
      </p:sp>
      <p:sp>
        <p:nvSpPr>
          <p:cNvPr id="34" name="Oval 33"/>
          <p:cNvSpPr/>
          <p:nvPr/>
        </p:nvSpPr>
        <p:spPr>
          <a:xfrm>
            <a:off x="1296000" y="4590000"/>
            <a:ext cx="558000" cy="558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riefcas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8760" y="4712760"/>
            <a:ext cx="312480" cy="312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5999" y="4446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à votre nom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6000" y="4446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Remplacer l’adresse Gmail par une adresse @cotiplast, et un seul numéro de devis.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00" y="5400000"/>
            <a:ext cx="8136000" cy="846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6000" y="5400000"/>
            <a:ext cx="46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5</a:t>
            </a:r>
          </a:p>
        </p:txBody>
      </p:sp>
      <p:sp>
        <p:nvSpPr>
          <p:cNvPr id="41" name="Oval 40"/>
          <p:cNvSpPr/>
          <p:nvPr/>
        </p:nvSpPr>
        <p:spPr>
          <a:xfrm>
            <a:off x="1296000" y="5544000"/>
            <a:ext cx="558000" cy="558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rand-facebook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8760" y="5666760"/>
            <a:ext cx="312480" cy="312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015999" y="5400000"/>
            <a:ext cx="2304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Faire le ménage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56000" y="5400000"/>
            <a:ext cx="424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Une seule page Facebook à jour, Instagram fermé ou relancé : rien d’abandonné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NOUVELLE LIGNE DE FLYERS · 1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nouvelle ligne : trois styles, votre usine au centre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n_c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éditorial</a:t>
            </a:r>
          </a:p>
        </p:txBody>
      </p:sp>
      <p:pic>
        <p:nvPicPr>
          <p:cNvPr id="12" name="Picture 11" descr="n_c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aplat couleur</a:t>
            </a:r>
          </a:p>
        </p:txBody>
      </p:sp>
      <p:pic>
        <p:nvPicPr>
          <p:cNvPr id="15" name="Picture 14" descr="n_c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fiche sombre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NOUVELLE LIGNE DE FLYERS · 2 SUR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Trois styles qui alternent pour un fil varié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n_c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512000"/>
            <a:ext cx="3528000" cy="4410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éditorial</a:t>
            </a:r>
          </a:p>
        </p:txBody>
      </p:sp>
      <p:pic>
        <p:nvPicPr>
          <p:cNvPr id="12" name="Picture 11" descr="n_c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000" y="1512000"/>
            <a:ext cx="3528000" cy="4410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0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0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aplat couleur</a:t>
            </a:r>
          </a:p>
        </p:txBody>
      </p:sp>
      <p:pic>
        <p:nvPicPr>
          <p:cNvPr id="15" name="Picture 14" descr="n_c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4000" y="1512000"/>
            <a:ext cx="3528000" cy="44100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064000" y="6012000"/>
            <a:ext cx="3528000" cy="306000"/>
          </a:xfrm>
          <a:prstGeom prst="roundRect">
            <a:avLst/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4000" y="6012000"/>
            <a:ext cx="3528000" cy="30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Style fiche sombre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Choisir la page Facebook à garder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10 photos d’usine récentes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Premier sondage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à l’usine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la réponse du sondage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8 J’aime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de devis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8 à 20 J’aime médians sur LinkedIn, et compter chaque demande de devis venue des réseaux.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Commentaires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43 sur 2 mois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par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depuis le 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des équipes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 sur 20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Pages à l’abandon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Facebook,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o_2024_10_5_jpg.jpg"/>
          <p:cNvPicPr>
            <a:picLocks noChangeAspect="1"/>
          </p:cNvPicPr>
          <p:nvPr/>
        </p:nvPicPr>
        <p:blipFill>
          <a:blip r:embed="rId3"/>
          <a:srcRect l="32166" r="32166"/>
          <a:stretch>
            <a:fillRect/>
          </a:stretch>
        </p:blipFill>
        <p:spPr>
          <a:xfrm>
            <a:off x="8928000" y="1584000"/>
            <a:ext cx="2700000" cy="4644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7999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eye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399" y="1994399"/>
            <a:ext cx="403200" cy="4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Visites, portée et profils des visiteurs : pour savoir quels acheteurs vous regardent.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17999" y="1835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mera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399" y="1994399"/>
            <a:ext cx="403200" cy="40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1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demi-journée de prises de vue à l’usine nourrit trois mois de publications.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7999" y="1835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ircle-chec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399" y="1994399"/>
            <a:ext cx="403200" cy="403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7999" y="2736000"/>
            <a:ext cx="2196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7999" y="3348000"/>
            <a:ext cx="219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5436000"/>
            <a:ext cx="8136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Rien n’a été publié. Les visuels « après »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