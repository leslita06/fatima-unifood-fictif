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Abonnés LinkedIn</c:v>
                </c:pt>
              </c:strCache>
            </c:strRef>
          </c:tx>
          <c:dPt>
            <c:idx val="0"/>
            <c:spPr>
              <a:solidFill>
                <a:srgbClr val="B9B9B9"/>
              </a:solidFill>
            </c:spPr>
          </c:dPt>
          <c:dPt>
            <c:idx val="1"/>
            <c:spPr>
              <a:solidFill>
                <a:srgbClr val="B9B9B9"/>
              </a:solidFill>
            </c:spPr>
          </c:dPt>
          <c:dPt>
            <c:idx val="2"/>
            <c:spPr>
              <a:solidFill>
                <a:srgbClr val="FD8103"/>
              </a:solidFill>
            </c:spPr>
          </c:dPt>
          <c:cat>
            <c:strRef>
              <c:f>Sheet1!$A$2:$A$4</c:f>
              <c:strCache>
                <c:ptCount val="3"/>
                <c:pt idx="0">
                  <c:v>SOFEM-CI</c:v>
                </c:pt>
                <c:pt idx="1">
                  <c:v>FLEPACI</c:v>
                </c:pt>
                <c:pt idx="2">
                  <c:v>COTIPLAST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138</c:v>
                </c:pt>
                <c:pt idx="1">
                  <c:v>576</c:v>
                </c:pt>
                <c:pt idx="2">
                  <c:v>5446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J’aime médians par type (nombre de publications)</c:v>
                </c:pt>
              </c:strCache>
            </c:strRef>
          </c:tx>
          <c:dPt>
            <c:idx val="0"/>
            <c:spPr>
              <a:solidFill>
                <a:srgbClr val="B9B9B9"/>
              </a:solidFill>
            </c:spPr>
          </c:dPt>
          <c:dPt>
            <c:idx val="1"/>
            <c:spPr>
              <a:solidFill>
                <a:srgbClr val="B9B9B9"/>
              </a:solidFill>
            </c:spPr>
          </c:dPt>
          <c:dPt>
            <c:idx val="2"/>
            <c:spPr>
              <a:solidFill>
                <a:srgbClr val="B9B9B9"/>
              </a:solidFill>
            </c:spPr>
          </c:dPt>
          <c:dPt>
            <c:idx val="3"/>
            <c:spPr>
              <a:solidFill>
                <a:srgbClr val="FD8103"/>
              </a:solidFill>
            </c:spPr>
          </c:dPt>
          <c:cat>
            <c:strRef>
              <c:f>Sheet1!$A$2:$A$5</c:f>
              <c:strCache>
                <c:ptCount val="4"/>
                <c:pt idx="0">
                  <c:v>Produits et services (12)</c:v>
                </c:pt>
                <c:pt idx="1">
                  <c:v>Fêtes et causes (4)</c:v>
                </c:pt>
                <c:pt idx="2">
                  <c:v>Sondages (2)</c:v>
                </c:pt>
                <c:pt idx="3">
                  <c:v>Vidéos des équipes (2)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17</c:v>
                </c:pt>
                <c:pt idx="2">
                  <c:v>24.5</c:v>
                </c:pt>
                <c:pt idx="3">
                  <c:v>65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3.jp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3.jpg"/><Relationship Id="rId4" Type="http://schemas.openxmlformats.org/officeDocument/2006/relationships/image" Target="../media/image3.jp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image" Target="../media/image2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0.jpg"/><Relationship Id="rId4" Type="http://schemas.openxmlformats.org/officeDocument/2006/relationships/image" Target="../media/image19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jpg"/><Relationship Id="rId8" Type="http://schemas.openxmlformats.org/officeDocument/2006/relationships/image" Target="../media/image34.jpg"/><Relationship Id="rId9" Type="http://schemas.openxmlformats.org/officeDocument/2006/relationships/image" Target="../media/image35.jpg"/><Relationship Id="rId10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7.jpg"/><Relationship Id="rId4" Type="http://schemas.openxmlformats.org/officeDocument/2006/relationships/image" Target="../media/image19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Relationship Id="rId10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4.png"/><Relationship Id="rId7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6.jpg"/><Relationship Id="rId4" Type="http://schemas.openxmlformats.org/officeDocument/2006/relationships/image" Target="../media/image47.jpg"/><Relationship Id="rId5" Type="http://schemas.openxmlformats.org/officeDocument/2006/relationships/image" Target="../media/image48.jpg"/><Relationship Id="rId6" Type="http://schemas.openxmlformats.org/officeDocument/2006/relationships/image" Target="../media/image49.jpg"/><Relationship Id="rId7" Type="http://schemas.openxmlformats.org/officeDocument/2006/relationships/image" Target="../media/image1.jpg"/><Relationship Id="rId8" Type="http://schemas.openxmlformats.org/officeDocument/2006/relationships/image" Target="../media/image5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46.jpg"/><Relationship Id="rId6" Type="http://schemas.openxmlformats.org/officeDocument/2006/relationships/image" Target="../media/image5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4.jpg"/><Relationship Id="rId4" Type="http://schemas.openxmlformats.org/officeDocument/2006/relationships/image" Target="../media/image52.png"/><Relationship Id="rId5" Type="http://schemas.openxmlformats.org/officeDocument/2006/relationships/image" Target="../media/image47.jpg"/><Relationship Id="rId6" Type="http://schemas.openxmlformats.org/officeDocument/2006/relationships/image" Target="../media/image5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5.jpg"/><Relationship Id="rId4" Type="http://schemas.openxmlformats.org/officeDocument/2006/relationships/image" Target="../media/image52.png"/><Relationship Id="rId5" Type="http://schemas.openxmlformats.org/officeDocument/2006/relationships/image" Target="../media/image48.jpg"/><Relationship Id="rId6" Type="http://schemas.openxmlformats.org/officeDocument/2006/relationships/image" Target="../media/image5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6.jpg"/><Relationship Id="rId4" Type="http://schemas.openxmlformats.org/officeDocument/2006/relationships/image" Target="../media/image52.png"/><Relationship Id="rId5" Type="http://schemas.openxmlformats.org/officeDocument/2006/relationships/image" Target="../media/image49.jpg"/><Relationship Id="rId6" Type="http://schemas.openxmlformats.org/officeDocument/2006/relationships/image" Target="../media/image5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7.jpg"/><Relationship Id="rId4" Type="http://schemas.openxmlformats.org/officeDocument/2006/relationships/image" Target="../media/image52.png"/><Relationship Id="rId5" Type="http://schemas.openxmlformats.org/officeDocument/2006/relationships/image" Target="../media/image1.jpg"/><Relationship Id="rId6" Type="http://schemas.openxmlformats.org/officeDocument/2006/relationships/image" Target="../media/image5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8.jpg"/><Relationship Id="rId4" Type="http://schemas.openxmlformats.org/officeDocument/2006/relationships/image" Target="../media/image52.png"/><Relationship Id="rId5" Type="http://schemas.openxmlformats.org/officeDocument/2006/relationships/image" Target="../media/image50.jpg"/><Relationship Id="rId6" Type="http://schemas.openxmlformats.org/officeDocument/2006/relationships/image" Target="../media/image5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9.jpg"/><Relationship Id="rId4" Type="http://schemas.openxmlformats.org/officeDocument/2006/relationships/image" Target="../media/image60.png"/><Relationship Id="rId5" Type="http://schemas.openxmlformats.org/officeDocument/2006/relationships/image" Target="../media/image11.png"/><Relationship Id="rId6" Type="http://schemas.openxmlformats.org/officeDocument/2006/relationships/image" Target="../media/image44.png"/><Relationship Id="rId7" Type="http://schemas.openxmlformats.org/officeDocument/2006/relationships/image" Target="../media/image61.png"/><Relationship Id="rId8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0.png"/><Relationship Id="rId4" Type="http://schemas.openxmlformats.org/officeDocument/2006/relationships/image" Target="../media/image62.png"/><Relationship Id="rId5" Type="http://schemas.openxmlformats.org/officeDocument/2006/relationships/image" Target="../media/image11.png"/><Relationship Id="rId6" Type="http://schemas.openxmlformats.org/officeDocument/2006/relationships/image" Target="../media/image63.png"/><Relationship Id="rId7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4.jpg"/><Relationship Id="rId4" Type="http://schemas.openxmlformats.org/officeDocument/2006/relationships/image" Target="../media/image12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2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72000" y="0"/>
            <a:ext cx="4920119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_c_equi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000" y="893925"/>
            <a:ext cx="4056119" cy="5070148"/>
          </a:xfrm>
          <a:prstGeom prst="rect">
            <a:avLst/>
          </a:prstGeom>
        </p:spPr>
      </p:pic>
      <p:pic>
        <p:nvPicPr>
          <p:cNvPr id="5" name="Picture 4" descr="logo-cotiplast-bla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633" y="540000"/>
            <a:ext cx="1230733" cy="8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2015999"/>
            <a:ext cx="61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B58B"/>
                </a:solidFill>
                <a:latin typeface="Poppins"/>
              </a:rPr>
              <a:t>AUDIT RÉSEAUX SOCIAUX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76000"/>
            <a:ext cx="633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Poppins"/>
              </a:rPr>
              <a:t>COTIPLAST face à SOFEM-CI et FLEPACI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140000"/>
            <a:ext cx="61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DDDDDD"/>
                </a:solidFill>
                <a:latin typeface="Poppins"/>
              </a:rPr>
              <a:t>Ce qui marche, ce qui manque, et 6 publications refaites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950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AAAAAA"/>
                </a:solidFill>
                <a:latin typeface="Poppins"/>
              </a:rPr>
              <a:t>FACE À</a:t>
            </a:r>
          </a:p>
        </p:txBody>
      </p:sp>
      <p:sp>
        <p:nvSpPr>
          <p:cNvPr id="10" name="Oval 9"/>
          <p:cNvSpPr/>
          <p:nvPr/>
        </p:nvSpPr>
        <p:spPr>
          <a:xfrm>
            <a:off x="1512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f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400" y="4838400"/>
            <a:ext cx="547200" cy="547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376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lepac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2400" y="4838400"/>
            <a:ext cx="547200" cy="547200"/>
          </a:xfrm>
          <a:prstGeom prst="rect">
            <a:avLst/>
          </a:prstGeom>
        </p:spPr>
      </p:pic>
      <p:pic>
        <p:nvPicPr>
          <p:cNvPr id="14" name="Picture 13" descr="brand-faceboo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00" y="5616000"/>
            <a:ext cx="324000" cy="324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4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Facebook</a:t>
            </a:r>
          </a:p>
        </p:txBody>
      </p:sp>
      <p:pic>
        <p:nvPicPr>
          <p:cNvPr id="16" name="Picture 15" descr="brand-instagram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2000" y="5616000"/>
            <a:ext cx="324000" cy="324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628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Instagram</a:t>
            </a:r>
          </a:p>
        </p:txBody>
      </p:sp>
      <p:pic>
        <p:nvPicPr>
          <p:cNvPr id="18" name="Picture 17" descr="brand-linkedin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6000" y="5616000"/>
            <a:ext cx="324000" cy="32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12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LinkedIn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" y="6228000"/>
            <a:ext cx="648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AAAAA"/>
                </a:solidFill>
                <a:latin typeface="Poppins"/>
              </a:rPr>
              <a:t>Relevé des pages publiques le 28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L'ESSENTIEL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La plus grande audience du secteur, mais elle s’éteint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4000" y="1979999"/>
            <a:ext cx="720000" cy="72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nd-linkedin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00" y="2138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36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5 446 abonnés LinkedIn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6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Neuf fois FLEPACI (576), quarante fois SOFEM-CI (138). Votre meilleur atout en ligne.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0000" y="1979999"/>
            <a:ext cx="720000" cy="720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ear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00" y="2138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52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8 J’aime par publication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Médiane des 20 dernières : 22 en août, 5,5 en septembre. La courbe descend.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4000" y="4247999"/>
            <a:ext cx="720000" cy="720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lock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00" y="4406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36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Plus rien depuis le 1er octobre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6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27 jours sans publication au moment du relevé, après 2,6 par semaine.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0000" y="4247999"/>
            <a:ext cx="720000" cy="72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video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400" y="4406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52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Vos équipes en vidéo : vos 2 meilleures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68 et 62 J’aime : huit fois la médiane. Les visuels de catalogue font 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que nous avons regardé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7999" y="1943999"/>
            <a:ext cx="720000" cy="72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y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99" y="2102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Pages publiques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LinkedIn, Facebook et Instagram de COTIPLAST, SOFEM-CI et FLEPACI, relevés le 28/10/2026.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5999" y="1943999"/>
            <a:ext cx="720000" cy="720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ist-check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399" y="2102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35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20 publications par marque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5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Les 20 dernières sur LinkedIn : du 7/08 au 1/10 pour COTIPLAST, d’avril à octobre pour SOFEM-CI.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3999" y="1943999"/>
            <a:ext cx="720000" cy="72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arget-arrow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399" y="2102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43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Médianes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La valeur du milieu, pour qu’une publication très partagée ne fausse pas la moyenne.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51999" y="1943999"/>
            <a:ext cx="720000" cy="720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399" y="2102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51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Hors de vue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1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Portée, visites de la page, demandes de devis reçues : il faut l’accès aux comptes. Les publications de FLEPACI n’ont pas pu être relevées.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QUI NOUS AVONS COMPARÉ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Trois fabricants d’emballage, un seul vraiment présent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4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3540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00" y="1584000"/>
            <a:ext cx="3540000" cy="10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20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ti_l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560" y="2014560"/>
            <a:ext cx="902880" cy="90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0000" y="3168000"/>
            <a:ext cx="3252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COTIPLAST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528000"/>
            <a:ext cx="325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D8103"/>
                </a:solidFill>
                <a:latin typeface="Poppins"/>
              </a:rPr>
              <a:t>NOTRE CLIENT</a:t>
            </a:r>
          </a:p>
        </p:txBody>
      </p:sp>
      <p:pic>
        <p:nvPicPr>
          <p:cNvPr id="15" name="Picture 14" descr="brand-linkedin_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96000"/>
            <a:ext cx="251999" cy="2519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6000" y="3960000"/>
            <a:ext cx="2892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5 446 abonnés</a:t>
            </a:r>
          </a:p>
        </p:txBody>
      </p:sp>
      <p:pic>
        <p:nvPicPr>
          <p:cNvPr id="17" name="Picture 16" descr="speakerphone_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428000"/>
            <a:ext cx="251999" cy="2519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6000" y="4392000"/>
            <a:ext cx="2892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2,6 publ. / semaine</a:t>
            </a:r>
          </a:p>
        </p:txBody>
      </p:sp>
      <p:pic>
        <p:nvPicPr>
          <p:cNvPr id="19" name="Picture 18" descr="heart_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4860000"/>
            <a:ext cx="251999" cy="25199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6000" y="4824000"/>
            <a:ext cx="2892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8 J’aime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5364000"/>
            <a:ext cx="3108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Une vraie présence, un ton de catalogue.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2000" y="1584000"/>
            <a:ext cx="3540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2000" y="1584000"/>
            <a:ext cx="3540000" cy="1080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080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ofem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0560" y="2014560"/>
            <a:ext cx="902880" cy="90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76000" y="3168000"/>
            <a:ext cx="3252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SOFEM-CI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6000" y="3528000"/>
            <a:ext cx="325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CONCURRENT DIRECT</a:t>
            </a:r>
          </a:p>
        </p:txBody>
      </p:sp>
      <p:pic>
        <p:nvPicPr>
          <p:cNvPr id="28" name="Picture 27" descr="brand-linkedin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8000" y="3996000"/>
            <a:ext cx="251999" cy="2519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872000" y="3960000"/>
            <a:ext cx="2892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138 abonnés</a:t>
            </a:r>
          </a:p>
        </p:txBody>
      </p:sp>
      <p:pic>
        <p:nvPicPr>
          <p:cNvPr id="30" name="Picture 29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8000" y="4428000"/>
            <a:ext cx="251999" cy="251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872000" y="4392000"/>
            <a:ext cx="2892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0,7 publ. / semaine</a:t>
            </a:r>
          </a:p>
        </p:txBody>
      </p:sp>
      <p:pic>
        <p:nvPicPr>
          <p:cNvPr id="32" name="Picture 31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8000" y="4860000"/>
            <a:ext cx="251999" cy="2519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872000" y="4824000"/>
            <a:ext cx="2892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4,5 J’aime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8000" y="5364000"/>
            <a:ext cx="3108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Petite page, mais des visages et des recrutements.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8000" y="1584000"/>
            <a:ext cx="3540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88000" y="1584000"/>
            <a:ext cx="3540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640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lepaci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06560" y="2014560"/>
            <a:ext cx="902880" cy="90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232000" y="3168000"/>
            <a:ext cx="3252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FLEPACI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2000" y="3528000"/>
            <a:ext cx="325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CONCURRENT DIRECT</a:t>
            </a:r>
          </a:p>
        </p:txBody>
      </p:sp>
      <p:pic>
        <p:nvPicPr>
          <p:cNvPr id="41" name="Picture 40" descr="brand-linkedin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4000" y="3996000"/>
            <a:ext cx="251999" cy="25199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28000" y="3960000"/>
            <a:ext cx="2892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576 abonnés</a:t>
            </a:r>
          </a:p>
        </p:txBody>
      </p:sp>
      <p:pic>
        <p:nvPicPr>
          <p:cNvPr id="43" name="Picture 42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4000" y="4428000"/>
            <a:ext cx="251999" cy="25199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628000" y="4392000"/>
            <a:ext cx="2892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non relevé</a:t>
            </a:r>
          </a:p>
        </p:txBody>
      </p:sp>
      <p:pic>
        <p:nvPicPr>
          <p:cNvPr id="45" name="Picture 44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4000" y="4860000"/>
            <a:ext cx="251999" cy="25199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628000" y="4824000"/>
            <a:ext cx="2892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non relevé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4000" y="5364000"/>
            <a:ext cx="3108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Emballages souples depuis 2013. Publications non accessibles.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LES COMPTES DE COTIPLAST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Tout se joue sur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5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2000" y="1871999"/>
            <a:ext cx="540000" cy="54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nd-linkedin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00" y="1990799"/>
            <a:ext cx="302400" cy="30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2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5 446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LinkedIn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187 salariés rattachés à la 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36000" y="1871999"/>
            <a:ext cx="540000" cy="54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nd-facebook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00" y="1990799"/>
            <a:ext cx="302400" cy="30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36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2 957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Facebook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6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Dernières publications : 2019, puis une le 21/06/2026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3999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9999" y="1871999"/>
            <a:ext cx="540000" cy="54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nd-instagram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99" y="1990799"/>
            <a:ext cx="302400" cy="30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9999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999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Instagram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9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@cotiplastci · aucune publication visible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00" y="4248000"/>
            <a:ext cx="11052000" cy="1764000"/>
          </a:xfrm>
          <a:prstGeom prst="roundRect">
            <a:avLst>
              <a:gd name="adj" fmla="val 6000"/>
            </a:avLst>
          </a:prstGeom>
          <a:solidFill>
            <a:srgbClr val="F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4000" y="4536000"/>
            <a:ext cx="612000" cy="612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640" y="4670640"/>
            <a:ext cx="342720" cy="3427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92000" y="4464000"/>
            <a:ext cx="9720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D8103"/>
                </a:solidFill>
                <a:latin typeface="Poppins"/>
              </a:rPr>
              <a:t>À corriger tout de suite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Deux pages Facebook portent votre nom (créées en 2014 et en 2019) et un compte Instagram vide : un acheteur qui vous cherche tombe sur des pages à l’abandon. Il faut en garder une, la relier au site et à LinkedIn, et fermer ou rediriger l’autre.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FACE AUX CONCURRENTS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Une audience 9 fois plus grande, des réactions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6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76000" y="1944000"/>
          <a:ext cx="5256000" cy="381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00" y="1548000"/>
            <a:ext cx="52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Abonnés LinkedIn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48000" y="1584000"/>
          <a:ext cx="5580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200000"/>
                <a:gridCol w="1200000"/>
                <a:gridCol w="1200000"/>
              </a:tblGrid>
              <a:tr h="458999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</a:p>
                  </a:txBody>
                  <a:tcPr anchor="ctr">
                    <a:solidFill>
                      <a:srgbClr val="1425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COTIPLAST</a:t>
                      </a:r>
                    </a:p>
                  </a:txBody>
                  <a:tcPr anchor="ctr">
                    <a:solidFill>
                      <a:srgbClr val="1425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SOFEM-CI</a:t>
                      </a:r>
                    </a:p>
                  </a:txBody>
                  <a:tcPr anchor="ctr">
                    <a:solidFill>
                      <a:srgbClr val="1425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FLEPACI</a:t>
                      </a:r>
                    </a:p>
                  </a:txBody>
                  <a:tcPr anchor="ctr">
                    <a:solidFill>
                      <a:srgbClr val="14251C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LinkedIn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5 446</a:t>
                      </a:r>
                    </a:p>
                  </a:txBody>
                  <a:tcPr anchor="ctr">
                    <a:solidFill>
                      <a:srgbClr val="FFE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138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576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Salariés sur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187</a:t>
                      </a:r>
                    </a:p>
                  </a:txBody>
                  <a:tcPr anchor="ctr">
                    <a:solidFill>
                      <a:srgbClr val="FFE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/ semaine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2,6</a:t>
                      </a:r>
                    </a:p>
                  </a:txBody>
                  <a:tcPr anchor="ctr">
                    <a:solidFill>
                      <a:srgbClr val="FFE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0,7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 relevé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J’aime médians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8</a:t>
                      </a:r>
                    </a:p>
                  </a:txBody>
                  <a:tcPr anchor="ctr">
                    <a:solidFill>
                      <a:srgbClr val="FFE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 relevé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Taux de réaction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0,15 %</a:t>
                      </a:r>
                    </a:p>
                  </a:txBody>
                  <a:tcPr anchor="ctr">
                    <a:solidFill>
                      <a:srgbClr val="FFE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3,3 %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 (sur 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2</a:t>
                      </a:r>
                    </a:p>
                  </a:txBody>
                  <a:tcPr anchor="ctr">
                    <a:solidFill>
                      <a:srgbClr val="FFE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900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Dernière publication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01/10</a:t>
                      </a:r>
                    </a:p>
                  </a:txBody>
                  <a:tcPr anchor="ctr">
                    <a:solidFill>
                      <a:srgbClr val="FFE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28/10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00" y="5868000"/>
            <a:ext cx="1105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Taux de réaction = J’aime médians ÷ abonnés. SOFEM-CI a peu d’abonnés : surtout ses salariés, qui réagissent à tout.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CE QUI MARCHE AILLEURS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SOFEM-CI publie peu, mais montre ses gens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7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_sofem-ci_7495766631122522113.jpg"/>
          <p:cNvPicPr>
            <a:picLocks noChangeAspect="1"/>
          </p:cNvPicPr>
          <p:nvPr/>
        </p:nvPicPr>
        <p:blipFill>
          <a:blip r:embed="rId3"/>
          <a:srcRect t="9130" b="21304"/>
          <a:stretch>
            <a:fillRect/>
          </a:stretch>
        </p:blipFill>
        <p:spPr>
          <a:xfrm>
            <a:off x="684000" y="1692000"/>
            <a:ext cx="3311999" cy="2304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56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of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20" y="4079519"/>
            <a:ext cx="300960" cy="300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24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D8103"/>
                </a:solidFill>
                <a:latin typeface="Poppins"/>
              </a:rPr>
              <a:t>SOFEM-CI · 19/08</a:t>
            </a:r>
          </a:p>
        </p:txBody>
      </p:sp>
      <p:pic>
        <p:nvPicPr>
          <p:cNvPr id="14" name="Picture 13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500000"/>
            <a:ext cx="216000" cy="21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3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19</a:t>
            </a:r>
          </a:p>
        </p:txBody>
      </p:sp>
      <p:pic>
        <p:nvPicPr>
          <p:cNvPr id="16" name="Picture 15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6000" y="4500000"/>
            <a:ext cx="216000" cy="21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2</a:t>
            </a:r>
          </a:p>
        </p:txBody>
      </p:sp>
      <p:pic>
        <p:nvPicPr>
          <p:cNvPr id="18" name="Picture 17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000" y="4500000"/>
            <a:ext cx="216000" cy="21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« SOFEM-CI recrute » : la publication qui fait le plus réagir. On parle aux futurs collègues.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li_sofem-ci_7506713772670242816.jpg"/>
          <p:cNvPicPr>
            <a:picLocks noChangeAspect="1"/>
          </p:cNvPicPr>
          <p:nvPr/>
        </p:nvPicPr>
        <p:blipFill>
          <a:blip r:embed="rId8"/>
          <a:srcRect t="9130" b="21304"/>
          <a:stretch>
            <a:fillRect/>
          </a:stretch>
        </p:blipFill>
        <p:spPr>
          <a:xfrm>
            <a:off x="4428000" y="1692000"/>
            <a:ext cx="3311999" cy="230400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4500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of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520" y="4079519"/>
            <a:ext cx="300960" cy="3009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68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D8103"/>
                </a:solidFill>
                <a:latin typeface="Poppins"/>
              </a:rPr>
              <a:t>SOFEM-CI · 18/09</a:t>
            </a:r>
          </a:p>
        </p:txBody>
      </p:sp>
      <p:pic>
        <p:nvPicPr>
          <p:cNvPr id="26" name="Picture 25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000" y="4500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7</a:t>
            </a:r>
          </a:p>
        </p:txBody>
      </p:sp>
      <p:pic>
        <p:nvPicPr>
          <p:cNvPr id="28" name="Picture 27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000" y="4500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</a:t>
            </a:r>
          </a:p>
        </p:txBody>
      </p:sp>
      <p:pic>
        <p:nvPicPr>
          <p:cNvPr id="30" name="Picture 29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000" y="4500000"/>
            <a:ext cx="216000" cy="216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6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« Derrière chaque emballage, une équipe formée, équipée et engagée » : sécurité et savoir-faire.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4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i_sofem-ci_7500855191030841345.jpg"/>
          <p:cNvPicPr>
            <a:picLocks noChangeAspect="1"/>
          </p:cNvPicPr>
          <p:nvPr/>
        </p:nvPicPr>
        <p:blipFill>
          <a:blip r:embed="rId9"/>
          <a:srcRect t="9130" b="21304"/>
          <a:stretch>
            <a:fillRect/>
          </a:stretch>
        </p:blipFill>
        <p:spPr>
          <a:xfrm>
            <a:off x="8172000" y="1692000"/>
            <a:ext cx="3311999" cy="230400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8244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of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520" y="4079519"/>
            <a:ext cx="300960" cy="3009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12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D8103"/>
                </a:solidFill>
                <a:latin typeface="Poppins"/>
              </a:rPr>
              <a:t>SOFEM-CI · 02/09</a:t>
            </a:r>
          </a:p>
        </p:txBody>
      </p:sp>
      <p:pic>
        <p:nvPicPr>
          <p:cNvPr id="38" name="Picture 37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000" y="4500000"/>
            <a:ext cx="216000" cy="216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7</a:t>
            </a:r>
          </a:p>
        </p:txBody>
      </p:sp>
      <p:pic>
        <p:nvPicPr>
          <p:cNvPr id="40" name="Picture 39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000" y="4500000"/>
            <a:ext cx="216000" cy="216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42" name="Picture 41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8000" y="4500000"/>
            <a:ext cx="216000" cy="216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619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0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« La qualité commence dès la production » : la bobine, en vrai, dans l’usine.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CE QUE FAIT COTIPLAST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Des visuels propres, mais des publications qui se ressemblent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8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E4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4FB58B"/>
                </a:solidFill>
                <a:latin typeface="Poppins"/>
              </a:rPr>
              <a:t>Ce qui marche</a:t>
            </a:r>
          </a:p>
        </p:txBody>
      </p:sp>
      <p:pic>
        <p:nvPicPr>
          <p:cNvPr id="11" name="Picture 10" descr="circle-check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2340000"/>
            <a:ext cx="360000" cy="3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68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Une charte tenue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Orange, vert, logo : chaque visuel est reconnaissable.</a:t>
            </a:r>
          </a:p>
        </p:txBody>
      </p:sp>
      <p:pic>
        <p:nvPicPr>
          <p:cNvPr id="13" name="Picture 12" descr="circle-check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3330000"/>
            <a:ext cx="360000" cy="3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68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sondages qui font parler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21 et 13 commentaires : vos deux meilleures discussions.</a:t>
            </a:r>
          </a:p>
        </p:txBody>
      </p:sp>
      <p:pic>
        <p:nvPicPr>
          <p:cNvPr id="15" name="Picture 14" descr="circle-check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4320000"/>
            <a:ext cx="360000" cy="3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68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vidéos des équipes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68 et 62 J’aime : vos deux meilleures publications.</a:t>
            </a:r>
          </a:p>
        </p:txBody>
      </p:sp>
      <p:pic>
        <p:nvPicPr>
          <p:cNvPr id="17" name="Picture 16" descr="circle-check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5310000"/>
            <a:ext cx="360000" cy="36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68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 rythme régulier en août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Une publication tous les 2 ou 3 jours.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D8103"/>
                </a:solidFill>
                <a:latin typeface="Poppins"/>
              </a:rPr>
              <a:t>Ce qui manque</a:t>
            </a:r>
          </a:p>
        </p:txBody>
      </p:sp>
      <p:pic>
        <p:nvPicPr>
          <p:cNvPr id="21" name="Picture 20" descr="circle-x_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2340000"/>
            <a:ext cx="360000" cy="36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84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Le même bloc de contact partout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19 publications sur 20 finissent par e-mail, téléphones et mots-dièse.</a:t>
            </a:r>
          </a:p>
        </p:txBody>
      </p:sp>
      <p:pic>
        <p:nvPicPr>
          <p:cNvPr id="23" name="Picture 22" descr="circle-x_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3330000"/>
            <a:ext cx="360000" cy="36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84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visuels de banque d’images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Montages et rendus génériques : on ne voit pas votre usine.</a:t>
            </a:r>
          </a:p>
        </p:txBody>
      </p:sp>
      <p:pic>
        <p:nvPicPr>
          <p:cNvPr id="25" name="Picture 24" descr="circle-x_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4320000"/>
            <a:ext cx="360000" cy="36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84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Une adresse Gmail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cotiplastci@gmail.com, pour un industriel de 30 ans : une adresse à votre nom rassure.</a:t>
            </a:r>
          </a:p>
        </p:txBody>
      </p:sp>
      <p:pic>
        <p:nvPicPr>
          <p:cNvPr id="27" name="Picture 26" descr="circle-x_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5310000"/>
            <a:ext cx="360000" cy="36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84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 arrêt brutal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Rien depuis le 1er octobre, Facebook et Instagram à l’abandon.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MEILLEURES PUBLICATIONS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Les meilleures : vos équipes et vos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9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_cotiplast_7500847570085343233.jpg"/>
          <p:cNvPicPr>
            <a:picLocks noChangeAspect="1"/>
          </p:cNvPicPr>
          <p:nvPr/>
        </p:nvPicPr>
        <p:blipFill>
          <a:blip r:embed="rId3"/>
          <a:srcRect t="11016" b="25703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1</a:t>
            </a:r>
          </a:p>
        </p:txBody>
      </p:sp>
      <p:pic>
        <p:nvPicPr>
          <p:cNvPr id="13" name="Picture 12" descr="heart_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68</a:t>
            </a:r>
          </a:p>
        </p:txBody>
      </p:sp>
      <p:pic>
        <p:nvPicPr>
          <p:cNvPr id="15" name="Picture 14" descr="message-circle_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</a:t>
            </a:r>
          </a:p>
        </p:txBody>
      </p:sp>
      <p:pic>
        <p:nvPicPr>
          <p:cNvPr id="17" name="Picture 16" descr="share_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02/09 · Vidéo : nos équipes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i_cotiplast_7493614841484496897.jpg"/>
          <p:cNvPicPr>
            <a:picLocks noChangeAspect="1"/>
          </p:cNvPicPr>
          <p:nvPr/>
        </p:nvPicPr>
        <p:blipFill>
          <a:blip r:embed="rId7"/>
          <a:srcRect l="25000" r="2500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2</a:t>
            </a:r>
          </a:p>
        </p:txBody>
      </p:sp>
      <p:pic>
        <p:nvPicPr>
          <p:cNvPr id="24" name="Picture 23" descr="heart_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62</a:t>
            </a:r>
          </a:p>
        </p:txBody>
      </p:sp>
      <p:pic>
        <p:nvPicPr>
          <p:cNvPr id="26" name="Picture 25" descr="message-circle_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</a:t>
            </a:r>
          </a:p>
        </p:txBody>
      </p:sp>
      <p:pic>
        <p:nvPicPr>
          <p:cNvPr id="28" name="Picture 27" descr="share_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13/08 · Vidéo : le savoir-faire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i_cotiplast_7499043105703288832.jpg"/>
          <p:cNvPicPr>
            <a:picLocks noChangeAspect="1"/>
          </p:cNvPicPr>
          <p:nvPr/>
        </p:nvPicPr>
        <p:blipFill>
          <a:blip r:embed="rId8"/>
          <a:srcRect t="3000" b="700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3</a:t>
            </a:r>
          </a:p>
        </p:txBody>
      </p:sp>
      <p:pic>
        <p:nvPicPr>
          <p:cNvPr id="35" name="Picture 34" descr="heart_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27</a:t>
            </a:r>
          </a:p>
        </p:txBody>
      </p:sp>
      <p:pic>
        <p:nvPicPr>
          <p:cNvPr id="37" name="Picture 36" descr="message-circle_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21</a:t>
            </a:r>
          </a:p>
        </p:txBody>
      </p:sp>
      <p:pic>
        <p:nvPicPr>
          <p:cNvPr id="39" name="Picture 38" descr="share_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28/08 · Sondage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i_cotiplast_7496868792086573056.jpg"/>
          <p:cNvPicPr>
            <a:picLocks noChangeAspect="1"/>
          </p:cNvPicPr>
          <p:nvPr/>
        </p:nvPicPr>
        <p:blipFill>
          <a:blip r:embed="rId9"/>
          <a:srcRect t="3000" b="700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4</a:t>
            </a:r>
          </a:p>
        </p:txBody>
      </p:sp>
      <p:pic>
        <p:nvPicPr>
          <p:cNvPr id="46" name="Picture 45" descr="heart_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22</a:t>
            </a:r>
          </a:p>
        </p:txBody>
      </p:sp>
      <p:pic>
        <p:nvPicPr>
          <p:cNvPr id="48" name="Picture 47" descr="message-circle_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13</a:t>
            </a:r>
          </a:p>
        </p:txBody>
      </p:sp>
      <p:pic>
        <p:nvPicPr>
          <p:cNvPr id="50" name="Picture 49" descr="share_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22/08 · « À votre avis ? »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E4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ulb_c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Les deux vidéos montrent des personnes dans l’usine ; les deux sondages posent une question à laquelle on répond d’un mot. Ce sont les deux recettes à garder. Attention : la vidéo n°1 s’affiche avec une image d’ouverture noire ; choisir une vignette avant de publier.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MOINS BONNES PUBLICATIONS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Les moins bonnes : des promesses sans preuve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10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_cotiplast_7505973995792691200.jpg"/>
          <p:cNvPicPr>
            <a:picLocks noChangeAspect="1"/>
          </p:cNvPicPr>
          <p:nvPr/>
        </p:nvPicPr>
        <p:blipFill>
          <a:blip r:embed="rId3"/>
          <a:srcRect t="3000" b="700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13" name="Picture 12" descr="heart_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7</a:t>
            </a:r>
          </a:p>
        </p:txBody>
      </p:sp>
      <p:pic>
        <p:nvPicPr>
          <p:cNvPr id="15" name="Picture 14" descr="message-circle_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17" name="Picture 16" descr="share_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16/09 · Packaging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i_cotiplast_7508519113359720448.jpg"/>
          <p:cNvPicPr>
            <a:picLocks noChangeAspect="1"/>
          </p:cNvPicPr>
          <p:nvPr/>
        </p:nvPicPr>
        <p:blipFill>
          <a:blip r:embed="rId7"/>
          <a:srcRect t="3000" b="700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24" name="Picture 23" descr="heart_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</a:t>
            </a:r>
          </a:p>
        </p:txBody>
      </p:sp>
      <p:pic>
        <p:nvPicPr>
          <p:cNvPr id="26" name="Picture 25" descr="message-circle_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28" name="Picture 27" descr="share_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23/09 · Étiquettes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i_cotiplast_7509244121304236032.jpg"/>
          <p:cNvPicPr>
            <a:picLocks noChangeAspect="1"/>
          </p:cNvPicPr>
          <p:nvPr/>
        </p:nvPicPr>
        <p:blipFill>
          <a:blip r:embed="rId8"/>
          <a:srcRect t="3000" b="700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35" name="Picture 34" descr="heart_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</a:t>
            </a:r>
          </a:p>
        </p:txBody>
      </p:sp>
      <p:pic>
        <p:nvPicPr>
          <p:cNvPr id="37" name="Picture 36" descr="message-circle_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39" name="Picture 38" descr="share_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25/09 · Quel emballage 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i_cotiplast_7510331033658163201.jpg"/>
          <p:cNvPicPr>
            <a:picLocks noChangeAspect="1"/>
          </p:cNvPicPr>
          <p:nvPr/>
        </p:nvPicPr>
        <p:blipFill>
          <a:blip r:embed="rId9"/>
          <a:srcRect t="3000" b="700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46" name="Picture 45" descr="heart_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</a:t>
            </a:r>
          </a:p>
        </p:txBody>
      </p:sp>
      <p:pic>
        <p:nvPicPr>
          <p:cNvPr id="48" name="Picture 47" descr="message-circle_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</a:t>
            </a:r>
          </a:p>
        </p:txBody>
      </p:sp>
      <p:pic>
        <p:nvPicPr>
          <p:cNvPr id="50" name="Picture 49" descr="share_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28/09 · Housses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alert-triangle_c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« Haute précision », « par excellence », « fiable et sur-mesure » : des mots que tout le monde emploie, sur des images qui pourraient venir de n’importe quelle usine. Fin septembre, plus personne ne réagit.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PAR TYPE DE PUBLICATION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qui fait réagir : les gens, pas le catalogue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11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76000" y="1944000"/>
          <a:ext cx="5760000" cy="4104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00" y="1548000"/>
            <a:ext cx="57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J’aime médians par type (nombre de publications)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6000" y="1655999"/>
            <a:ext cx="4932000" cy="4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D8103"/>
                </a:solidFill>
                <a:latin typeface="Poppins"/>
              </a:rPr>
              <a:t>Ce que ça dit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12 publications sur 20 parlent de produits ou de services : ce sont celles qui font le moins réagir (6 J’aime).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Les 2 vidéos de vos équipes font dix fois plus.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Les sondages font peu de J’aime mais beaucoup de commentaires : 34 sur les 43 de la période.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A5A5A"/>
                </a:solidFill>
                <a:latin typeface="Poppins"/>
              </a:rPr>
              <a:t>Sur 2 publications, c’est une tendance, pas une preuve : à confirmer en novembre.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AVANT / APRÈS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6 publications refaites, avec 5 règles simples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0000" y="1835999"/>
            <a:ext cx="720000" cy="72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hoto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1994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Votre usine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Vos photos à la place des images de banque.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2000" y="1835999"/>
            <a:ext cx="720000" cy="720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sers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1994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16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personne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opérateur, une contrôleuse, une équipe.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000" y="1835999"/>
            <a:ext cx="720000" cy="72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essage-circl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1994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8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question d’acheteur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Celle qu’il se pose vraiment.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6000" y="1835999"/>
            <a:ext cx="720000" cy="720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target-arrow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1994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0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 cas concret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poids, une ville, un produit connu.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8000" y="1835999"/>
            <a:ext cx="720000" cy="72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hone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1994399"/>
            <a:ext cx="403200" cy="4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2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 seul contact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2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Le numéro du devis, pas tout le bloc.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142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D8103"/>
                </a:solidFill>
                <a:latin typeface="Poppins"/>
              </a:rPr>
              <a:t>Ce que nous n’avons pas inventé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  <a:latin typeface="Poppins"/>
              </a:rPr>
              <a:t>Les photos viennent de votre site ; les chiffres (30 ans, 800 kg, Bouaké) sont des exemples à confirmer. Délais, quantités minimales et références clients rendraient chaque publication plus forte.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AVANT / APRÈS · LE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Vos vraies machines, vos vraies équipes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pic>
        <p:nvPicPr>
          <p:cNvPr id="9" name="Picture 8" descr="w_c_eti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475999"/>
            <a:ext cx="1944000" cy="2430000"/>
          </a:xfrm>
          <a:prstGeom prst="rect">
            <a:avLst/>
          </a:prstGeom>
        </p:spPr>
      </p:pic>
      <p:pic>
        <p:nvPicPr>
          <p:cNvPr id="10" name="Picture 9" descr="w_c_quiz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000" y="1475999"/>
            <a:ext cx="1944000" cy="2430000"/>
          </a:xfrm>
          <a:prstGeom prst="rect">
            <a:avLst/>
          </a:prstGeom>
        </p:spPr>
      </p:pic>
      <p:pic>
        <p:nvPicPr>
          <p:cNvPr id="11" name="Picture 10" descr="w_c_pac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000" y="1475999"/>
            <a:ext cx="1944000" cy="2430000"/>
          </a:xfrm>
          <a:prstGeom prst="rect">
            <a:avLst/>
          </a:prstGeom>
        </p:spPr>
      </p:pic>
      <p:pic>
        <p:nvPicPr>
          <p:cNvPr id="12" name="Picture 11" descr="w_c_rec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3977999"/>
            <a:ext cx="1944000" cy="2430000"/>
          </a:xfrm>
          <a:prstGeom prst="rect">
            <a:avLst/>
          </a:prstGeom>
        </p:spPr>
      </p:pic>
      <p:pic>
        <p:nvPicPr>
          <p:cNvPr id="13" name="Picture 12" descr="w_c_equip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000" y="3977999"/>
            <a:ext cx="1944000" cy="2430000"/>
          </a:xfrm>
          <a:prstGeom prst="rect">
            <a:avLst/>
          </a:prstGeom>
        </p:spPr>
      </p:pic>
      <p:pic>
        <p:nvPicPr>
          <p:cNvPr id="14" name="Picture 13" descr="w_c_qualit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000" y="3977999"/>
            <a:ext cx="1944000" cy="243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0000" y="1512000"/>
            <a:ext cx="3348000" cy="50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D8103"/>
                </a:solidFill>
                <a:latin typeface="Poppins"/>
              </a:rPr>
              <a:t>Ce qui change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Six photos prises chez vous, au lieu de visuels génériques.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Une personne au travail sur cinq visuels sur six.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Un titre court en grand, la question dans le texte, le numéro de devis en bas.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A5A5A"/>
                </a:solidFill>
                <a:latin typeface="Poppins"/>
              </a:rPr>
              <a:t>Photos tirées de votre site : à remplacer par des photos récentes si besoin.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AVANT / APRÈS · 1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Étiquettes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14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c_eti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879200"/>
            <a:ext cx="3456000" cy="44496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c_etiq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4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D8103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vraie photo de l’usine, pas un montage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personne au travail : on la regarde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question que se pose un acheteur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Cette étiquette, vous l’avez sûrement déjà vue en rayon.
Elle est sortie de cette machine, à Abidjan, avant d’arriver sur le pot.
 Votre étiquette tient-elle encore après un mois au frais ? 
Devis : +225 27 23 46 64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AVANT / APRÈS · 2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Sondage palette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15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c_quiz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49400"/>
            <a:ext cx="3456000" cy="4309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c_quiz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4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D8103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sondage gardé : c’est ce qui fait commenter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cas concret, avec un poids et une ville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rendez-vous pour la réponse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Une palette de 800 kg part demain pour Bouaké. Vous la protégez avec :
A. une housse PE · B. du film étirable · C. du film thermo-rétractable
 Répondez A, B ou C. On donne la réponse vendredi.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AVANT / APRÈS · 3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Film thermo-rétractable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16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c_p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49400"/>
            <a:ext cx="3456000" cy="4309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c_pac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4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D8103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bénéfice raconté par un objet connu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La machine en vrai, chez COTIPLAST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question chiffrée pour l’acheteur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pack d’eau de 6 bouteilles fait des centaines de kilomètres avant le frigo.
Le film thermo-rétractable le tient serré du camion au rayon.
 Combien de packs abîmés par livraison chez vous 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AVANT / APRÈS · 4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Recyclage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17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c_rec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49400"/>
            <a:ext cx="3456000" cy="4309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c_rec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4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D8103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L’engagement montré dans l’usine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suite annoncée : on revient voir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Moins de mots, une seule idée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Ce que deviennent vos chutes de plastique chez COTIPLAST :
elles sont valorisées pour une seconde vie.
 Vous voulez voir comment ? On vous fait visiter l’atelier en vidéo la semaine prochaine.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AVANT / APRÈS · 5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Nos équipes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18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c_equi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49400"/>
            <a:ext cx="3456000" cy="4309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c_equip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4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D8103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Votre meilleur post : vos équipes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Des visages, en vrai, dans vos murs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L’identification fait voyager le post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Derrière chaque emballage COTIPLAST, il y a elles. 👏
Plus de 30 ans de savoir-faire, transmis d’une équipe à l’autre.
 Identifiez un collègue qui fait tourner votre usine.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AVANT / APRÈS · 6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Contrôle qualité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19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c_quali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2016900"/>
            <a:ext cx="3456000" cy="4174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c_quali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4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D8103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preuve, pas une promesse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contrôle filmé ou photographié en vrai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question de métier, entre pros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Avant de partir chez vous, chaque bobine passe ici. 🔍
Contrôle qualité à chaque étape : épaisseur, impression, soudure.
 Qu’est-ce que vous vérifiez en premier à la réception 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5 décisions pour transformer l’audience en devis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20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pic>
        <p:nvPicPr>
          <p:cNvPr id="9" name="Picture 8" descr="co_2024_10_16_jpg.jpg"/>
          <p:cNvPicPr>
            <a:picLocks noChangeAspect="1"/>
          </p:cNvPicPr>
          <p:nvPr/>
        </p:nvPicPr>
        <p:blipFill>
          <a:blip r:embed="rId3"/>
          <a:srcRect l="32235" r="32235"/>
          <a:stretch>
            <a:fillRect/>
          </a:stretch>
        </p:blipFill>
        <p:spPr>
          <a:xfrm>
            <a:off x="8928000" y="1584000"/>
            <a:ext cx="2700000" cy="466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E4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90000" cy="846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584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D8103"/>
                </a:solidFill>
                <a:latin typeface="Poppins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296000" y="1728000"/>
            <a:ext cx="558000" cy="558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lendar-even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760" y="1850760"/>
            <a:ext cx="312480" cy="312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15999" y="1584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Reprendre dès novembre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6000" y="1584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2 publications par semaine sur LinkedIn, le mardi et le jeudi à 8 h : la régularité d’août, sans l’essoufflement.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2538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00" y="2538000"/>
            <a:ext cx="90000" cy="846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00" y="2538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D8103"/>
                </a:solidFill>
                <a:latin typeface="Poppins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296000" y="2682000"/>
            <a:ext cx="558000" cy="558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vide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760" y="2804760"/>
            <a:ext cx="312480" cy="312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15999" y="2538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Une vidéo d’usine par semaine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6000" y="2538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machine, un geste, une équipe : 30 secondes filmées au téléphone suffisent.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492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E4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3492000"/>
            <a:ext cx="90000" cy="846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000" y="3492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D8103"/>
                </a:solidFill>
                <a:latin typeface="Poppins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296000" y="3636000"/>
            <a:ext cx="558000" cy="558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essage-circ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8760" y="3758760"/>
            <a:ext cx="312480" cy="3124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15999" y="3492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 sondage tous les 15 jours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6000" y="3492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Vos meilleures discussions : on pose la question, on donne la réponse le vendredi.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00" y="4446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00" y="4446000"/>
            <a:ext cx="90000" cy="846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000" y="4446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D8103"/>
                </a:solidFill>
                <a:latin typeface="Poppins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1296000" y="4590000"/>
            <a:ext cx="558000" cy="558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riefcase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8760" y="4712760"/>
            <a:ext cx="312480" cy="3124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015999" y="4446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Une adresse à votre nom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6000" y="4446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Remplacer l’adresse Gmail par une adresse @cotiplast, et un seul numéro de devis.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00" y="5400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E4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00" y="5400000"/>
            <a:ext cx="90000" cy="846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000" y="5400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D8103"/>
                </a:solidFill>
                <a:latin typeface="Poppins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1296000" y="5544000"/>
            <a:ext cx="558000" cy="558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rand-facebook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8760" y="5666760"/>
            <a:ext cx="312480" cy="312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015999" y="5400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Faire le ménage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6000" y="5400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seule page Facebook à jour, Instagram fermé ou relancé : rien d’abandonné en ligne.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PLAN 30 JOURS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 premier mois, semaine par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21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576000"/>
          </a:xfrm>
          <a:prstGeom prst="round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lendar-event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10000"/>
            <a:ext cx="324000" cy="3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6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FD8103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Valider les 6 publications refaites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FD8103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Choisir la page Facebook à garder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FD8103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Lister 10 photos d’usine récentes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584000"/>
            <a:ext cx="2628000" cy="576000"/>
          </a:xfrm>
          <a:prstGeom prst="round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ncil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1710000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24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4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8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FD8103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Publier 2 avant / après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FD8103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Répondre à chaque commentaire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FD8103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Premier sondage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2628000" cy="576000"/>
          </a:xfrm>
          <a:prstGeom prst="round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de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000" y="1710000"/>
            <a:ext cx="324000" cy="3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32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2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FD8103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Tourner 2 vidéos à l’usine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FD8103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Publier la réponse du sondage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FD8103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Publier 2 avant / après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584000"/>
            <a:ext cx="2628000" cy="576000"/>
          </a:xfrm>
          <a:prstGeom prst="round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rending-up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710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40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FD8103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Comparer aux 8 J’aime de départ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FD8103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Compter les demandes de devis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FD8103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Préparer décembre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00" y="5364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142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arget-arrow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00" y="5544000"/>
            <a:ext cx="503999" cy="503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40000" y="5364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Poppins"/>
              </a:rPr>
              <a:t>Objectif proposé à 30 jours : passer de 8 à 20 J’aime médians sur LinkedIn, et compter chaque demande de devis venue des réseaux.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Les chiffres à suivre chaque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00" y="1584000"/>
          <a:ext cx="11052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2544000"/>
                <a:gridCol w="2544000"/>
                <a:gridCol w="2544000"/>
              </a:tblGrid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Indicateur</a:t>
                      </a:r>
                    </a:p>
                  </a:txBody>
                  <a:tcPr anchor="ctr">
                    <a:solidFill>
                      <a:srgbClr val="1425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Où le lire</a:t>
                      </a:r>
                    </a:p>
                  </a:txBody>
                  <a:tcPr anchor="ctr">
                    <a:solidFill>
                      <a:srgbClr val="1425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Départ (28/10)</a:t>
                      </a:r>
                    </a:p>
                  </a:txBody>
                  <a:tcPr anchor="ctr">
                    <a:solidFill>
                      <a:srgbClr val="1425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Objectif 30 jours</a:t>
                      </a:r>
                    </a:p>
                  </a:txBody>
                  <a:tcPr anchor="ctr">
                    <a:solidFill>
                      <a:srgbClr val="14251C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J’aime médians LinkedIn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8</a:t>
                      </a:r>
                    </a:p>
                  </a:txBody>
                  <a:tcPr anchor="ctr">
                    <a:solidFill>
                      <a:srgbClr val="FFE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Commentaires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43 sur 2 mois</a:t>
                      </a:r>
                    </a:p>
                  </a:txBody>
                  <a:tcPr anchor="ctr">
                    <a:solidFill>
                      <a:srgbClr val="FFE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30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par semaine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 depuis le 1/10</a:t>
                      </a:r>
                    </a:p>
                  </a:txBody>
                  <a:tcPr anchor="ctr">
                    <a:solidFill>
                      <a:srgbClr val="FFE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 des équipes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2 sur 20</a:t>
                      </a:r>
                    </a:p>
                  </a:txBody>
                  <a:tcPr anchor="ctr">
                    <a:solidFill>
                      <a:srgbClr val="FFE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Pages à l’abandon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Facebook, Instagram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3</a:t>
                      </a:r>
                    </a:p>
                  </a:txBody>
                  <a:tcPr anchor="ctr">
                    <a:solidFill>
                      <a:srgbClr val="FFE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Demandes de devis venues des réseaux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Votre boîte 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non suivi</a:t>
                      </a:r>
                    </a:p>
                  </a:txBody>
                  <a:tcPr anchor="ctr">
                    <a:solidFill>
                      <a:srgbClr val="FFE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comptées chaque semaine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00" y="5544000"/>
            <a:ext cx="11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Les visites de la page et la portée ne se lisent qu’avec l’accès administrateur : ce tableau commence par ce qui se voit de l’extérieur.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ti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75" y="216000"/>
            <a:ext cx="820489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D8103"/>
                </a:solidFill>
                <a:latin typeface="Poppins"/>
              </a:rPr>
              <a:t>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qu’il nous faut pour aller plus loin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COTIPLAST · Audit réseaux sociaux · relevé du 28/10/2026</a:t>
            </a:r>
          </a:p>
        </p:txBody>
      </p:sp>
      <p:pic>
        <p:nvPicPr>
          <p:cNvPr id="9" name="Picture 8" descr="co_2024_10_5_jpg.jpg"/>
          <p:cNvPicPr>
            <a:picLocks noChangeAspect="1"/>
          </p:cNvPicPr>
          <p:nvPr/>
        </p:nvPicPr>
        <p:blipFill>
          <a:blip r:embed="rId3"/>
          <a:srcRect l="32166" r="32166"/>
          <a:stretch>
            <a:fillRect/>
          </a:stretch>
        </p:blipFill>
        <p:spPr>
          <a:xfrm>
            <a:off x="8928000" y="1584000"/>
            <a:ext cx="2700000" cy="4644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999" y="1835999"/>
            <a:ext cx="720000" cy="72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y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99" y="1994399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L’accès à la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Visites, portée et profils des visiteurs : pour savoir quels acheteurs vous regardent.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7999" y="1835999"/>
            <a:ext cx="720000" cy="72000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era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399" y="1994399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1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Des photos récentes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Une demi-journée de prises de vue à l’usine nourrit trois mois de publications.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7999" y="1835999"/>
            <a:ext cx="720000" cy="72000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ircle-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399" y="1994399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Votre accord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Sur les 6 publications refaites, avant toute mise en ligne.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36000"/>
            <a:ext cx="8136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Rien n’a été publié. Les visuels « après » reprennent les photos de votre site et vos coordonnées.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