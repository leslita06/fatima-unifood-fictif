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Abonnés LinkedIn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Abonnés LinkedIn</c:v>
                </c:pt>
              </c:strCache>
            </c:strRef>
          </c:tx>
          <c:dPt>
            <c:idx val="0"/>
            <c:spPr>
              <a:solidFill>
                <a:srgbClr val="FD8103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cat>
            <c:strRef>
              <c:f>Sheet1!$A$2:$A$4</c:f>
              <c:strCache>
                <c:ptCount val="3"/>
                <c:pt idx="0">
                  <c:v>COTIPLAST</c:v>
                </c:pt>
                <c:pt idx="1">
                  <c:v>FLEPACI</c:v>
                </c:pt>
                <c:pt idx="2">
                  <c:v>SOFEM-CI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5446</c:v>
                </c:pt>
                <c:pt idx="1">
                  <c:v>576</c:v>
                </c:pt>
                <c:pt idx="2">
                  <c:v>138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J’aime médians par type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J’aime médians par type (nombre de publications)</c:v>
                </c:pt>
              </c:strCache>
            </c:strRef>
          </c:tx>
          <c:dPt>
            <c:idx val="0"/>
            <c:spPr>
              <a:solidFill>
                <a:srgbClr val="FD8103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cat>
            <c:strRef>
              <c:f>Sheet1!$A$2:$A$5</c:f>
              <c:strCache>
                <c:ptCount val="4"/>
                <c:pt idx="0">
                  <c:v>Vidéos des équipes (2)</c:v>
                </c:pt>
                <c:pt idx="1">
                  <c:v>Sondages (2)</c:v>
                </c:pt>
                <c:pt idx="2">
                  <c:v>Fêtes et causes (4)</c:v>
                </c:pt>
                <c:pt idx="3">
                  <c:v>Produits et services (12)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24.5</c:v>
                </c:pt>
                <c:pt idx="2">
                  <c:v>17</c:v>
                </c:pt>
                <c:pt idx="3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3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jpg"/><Relationship Id="rId4" Type="http://schemas.openxmlformats.org/officeDocument/2006/relationships/image" Target="../media/image3.jp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1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11.png"/><Relationship Id="rId5" Type="http://schemas.openxmlformats.org/officeDocument/2006/relationships/image" Target="../media/image44.png"/><Relationship Id="rId6" Type="http://schemas.openxmlformats.org/officeDocument/2006/relationships/image" Target="../media/image58.png"/><Relationship Id="rId7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59.png"/><Relationship Id="rId5" Type="http://schemas.openxmlformats.org/officeDocument/2006/relationships/image" Target="../media/image11.png"/><Relationship Id="rId6" Type="http://schemas.openxmlformats.org/officeDocument/2006/relationships/image" Target="../media/image60.png"/><Relationship Id="rId7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c_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cotiplast-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33" y="540000"/>
            <a:ext cx="1230733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B58B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COTIPLAST face à SOFEM-CI et FLEPACI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pac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pic>
        <p:nvPicPr>
          <p:cNvPr id="14" name="Picture 13" descr="brand-faceboo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6" name="Picture 15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18" name="Picture 17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La plus grande audience du secteur, mais elle s’éteint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5 446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Neuf fois FLEPACI (576), quarante fois SOFEM-CI (138). Votre meilleur atout en ligne.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8 J’aime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Médiane des 20 dernières : 22 en août, 5,5 en septembre. La courbe descend.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Plus rien depuis le 1er octobre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27 jours sans publication au moment du relevé, après 2,6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Vos équipes en vidéo : vos 2 meilleures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68 et 62 J’aime : huit fois la médiane. Les visuels de catalogue font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LinkedIn, Facebook et Instagram de COTIPLAST, SOFEM-CI et FLEPACI,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20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Les 20 dernières sur LinkedIn : du 7/08 au 1/10 pour COTIPLAST, d’avril à octobre pour SOFEM-CI.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très partagée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visites de la page, demandes de devis reçues : il faut l’accès aux comptes. Les publications de FLEPACI n’ont pas pu être relevées.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Trois fabricants d’emballage,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3540000" cy="10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ti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D8103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5 446 abonnés</a:t>
            </a:r>
          </a:p>
        </p:txBody>
      </p:sp>
      <p:pic>
        <p:nvPicPr>
          <p:cNvPr id="17" name="Picture 16" descr="speakerphon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2,6 publ. / semaine</a:t>
            </a:r>
          </a:p>
        </p:txBody>
      </p:sp>
      <p:pic>
        <p:nvPicPr>
          <p:cNvPr id="19" name="Picture 18" descr="heart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 J’aime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présence, un ton de catalogue.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2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2000" y="1584000"/>
            <a:ext cx="3540000" cy="10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08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fe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5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76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28" name="Picture 27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8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2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8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72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8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2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4,5 J’aime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8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Petite page, mais des visages et des recrutements.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8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8000" y="1584000"/>
            <a:ext cx="3540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4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lepac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65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32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28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28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4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28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Emballages souples depuis 2013. Publications non accessibles.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LES COMPTES DE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se joue sur LinkedIn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5 446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187 salariés rattachés à la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2 957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Dernières publications : 2019, puis une le 21/06/2026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@cotiplastci · aucune publication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Deux pages Facebook portent votre nom (créées en 2014 et en 2019) et un compte Instagram vide : un acheteur qui vous cherche tombe sur des pages à l’abandon. Il faut en garder une, la relier au site et à LinkedIn, et fermer ou rediriger l’autre.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FACE AUX CONCURRENTS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audience 9 fois plus grande, des réactions comparables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00000"/>
                <a:gridCol w="1200000"/>
                <a:gridCol w="1200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COTIPLAST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SOFEM-CI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FLEPACI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5 446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sur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187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2,6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0,15 %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3,3 %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Dernière publication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28/10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J’aime médians ÷ abonnés. SOFEM-CI a peu d’abonnés : surtout ses salariés, qui réagissent à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SOFEM-CI publie peu, mais montre ses 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sofem-ci_7495766631122522113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19/08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SOFEM-CI recrute » : la publication qui fait le plus réagir. On parle aux futurs collègues.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_sofem-ci_7506713772670242816.jpg"/>
          <p:cNvPicPr>
            <a:picLocks noChangeAspect="1"/>
          </p:cNvPicPr>
          <p:nvPr/>
        </p:nvPicPr>
        <p:blipFill>
          <a:blip r:embed="rId8"/>
          <a:srcRect t="9130" b="21304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18/09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Derrière chaque emballage, une équipe formée, équipée et engagée » : sécurité et savoir-faire.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i_sofem-ci_7500855191030841345.jpg"/>
          <p:cNvPicPr>
            <a:picLocks noChangeAspect="1"/>
          </p:cNvPicPr>
          <p:nvPr/>
        </p:nvPicPr>
        <p:blipFill>
          <a:blip r:embed="rId9"/>
          <a:srcRect t="9130" b="21304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02/09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La qualité commence dès la production » : la bobine, en vrai, dans l’usine.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QUE FAIT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Des visuels propres, mais des publications qui se ressemblent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FB58B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charte tenue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Orange, vert, logo : chaque visuel est reconnaissable.</a:t>
            </a:r>
          </a:p>
        </p:txBody>
      </p:sp>
      <p:pic>
        <p:nvPicPr>
          <p:cNvPr id="13" name="Picture 12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sondages qui font parler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21 et 13 commentaires : vos deux meilleures discussions.</a:t>
            </a:r>
          </a:p>
        </p:txBody>
      </p:sp>
      <p:pic>
        <p:nvPicPr>
          <p:cNvPr id="15" name="Picture 14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vidéos des équipes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68 et 62 J’aime : vos deux meilleures publications.</a:t>
            </a:r>
          </a:p>
        </p:txBody>
      </p:sp>
      <p:pic>
        <p:nvPicPr>
          <p:cNvPr id="17" name="Picture 16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rythme régulier en août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Une publication tous les 2 ou 3 jours.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D8103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même bloc de contact partout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19 publications sur 20 finissent par e-mail, téléphones et mots-dièse.</a:t>
            </a:r>
          </a:p>
        </p:txBody>
      </p:sp>
      <p:pic>
        <p:nvPicPr>
          <p:cNvPr id="23" name="Picture 22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visuels de banque d’images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Montages et rendus génériques : on ne voit pas votre usine.</a:t>
            </a:r>
          </a:p>
        </p:txBody>
      </p:sp>
      <p:pic>
        <p:nvPicPr>
          <p:cNvPr id="25" name="Picture 24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Gmail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cotiplastci@gmail.com, pour un industriel de 30 ans : une adresse à votre nom rassure.</a:t>
            </a:r>
          </a:p>
        </p:txBody>
      </p:sp>
      <p:pic>
        <p:nvPicPr>
          <p:cNvPr id="27" name="Picture 26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arrêt brutal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Rien depuis le 1er octobre, Facebook et Instagram à l’abandon.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MEILLEURES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vos équipes et vos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0847570085343233.jpg"/>
          <p:cNvPicPr>
            <a:picLocks noChangeAspect="1"/>
          </p:cNvPicPr>
          <p:nvPr/>
        </p:nvPicPr>
        <p:blipFill>
          <a:blip r:embed="rId3"/>
          <a:srcRect t="11016" b="25703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68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Vidéo : nos équipes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493614841484496897.jpg"/>
          <p:cNvPicPr>
            <a:picLocks noChangeAspect="1"/>
          </p:cNvPicPr>
          <p:nvPr/>
        </p:nvPicPr>
        <p:blipFill>
          <a:blip r:embed="rId7"/>
          <a:srcRect l="25000" r="25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13/08 · Vidéo : le savoir-faire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4990431057032888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21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28/08 · Sondage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496868792086573056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22/08 · « À votre avis ?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deux vidéos montrent des personnes dans l’usine ; les deux sondages posent une question à laquelle on répond d’un mot. Ce sont les deux recettes à garder.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MOINS BONNES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des promesses sans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5973995792691200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16/09 · Packaging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508519113359720448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23/09 · Étiquettes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5092441213042360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25/09 · Quel emballage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510331033658163201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Housses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« Haute précision », « par excellence », « fiable et sur-mesure » : des mots que tout le monde emploie, sur des images qui pourraient venir de n’importe quelle usine. Fin septembre, plus personne ne réagit.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PAR TYPE DE PUBLICATION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: les gens, pas le catalogue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12 publications sur 20 parlent de produits ou de services : ce sont celles qui font le moins réagir (6 J’aime).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2 vidéos de vos équipes font dix fois plus.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sondages font peu de J’aime mais beaucoup de commentaires : 34 sur les 43 de la période.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Sur 2 publications, c’est une tendance, pas une preuve : à confirmer en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to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usine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Vos photos à la place des images de banque.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opérateur, une contrôleuse, une équipe.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Celle qu’il se pose vraiment.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rget-arrow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cas concret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poids, une ville, un produit connu.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seul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Le numéro du devis, pas tout le bloc.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D8103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photos viennent de votre site ; les chiffres (30 ans, 800 kg, Bouaké) sont des exemples à confirmer. Délais, quantités minimales et références clients rendraient chaque publication plus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vraies machines, vos vraies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v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c_quiz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c_rec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c_equip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c_qualit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Six photos prises chez vous, au lieu de visuels génériques.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personne au travail sur cinq visuels sur six.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texte, le numéro de devis en bas.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tirées de votre site : à remplacer par des photos récentes si besoin.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Étiquettes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Sondage palette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i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Film thermo-rétractable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Recyclage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rec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Nos équipes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qu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Contrôle qualité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transformer l’audience en devis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Reprendre dès novembre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2 publications par semaine sur LinkedIn, le mardi et le jeudi à 8 h : la régularité d’août, sans l’essoufflement.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vidéo d’usine par semaine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machine, un geste, une équipe : 30 secondes filmées au téléphone suffisent.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 sondage tous les 15 jours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Vos meilleures discussions : on pose la question, on donne la réponse le vendredi.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riefcas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adresse à votre nom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Remplacer l’adresse Gmail par une adresse @cotiplast, et un seul numéro de devis.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Faire le ménage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seule page Facebook à jour, Instagram fermé ou relancé : rien d’abandonné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Choisir la page Facebook à garder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10 photos d’usine récentes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Premier sondage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à l’usine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la réponse du sondage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8 J’aime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de devis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8 à 20 J’aime médians sur LinkedIn, et compter chaque demande de devis venue des réseaux.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Commentaires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43 sur 2 mois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par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depuis le 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des équipes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 sur 20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Pages à l’abandon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Facebook,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Visites, portée et profils des visiteurs : pour savoir quels acheteurs vous regardent.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era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demi-journée de prises de vue à l’usine nourrit trois mois de publications.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visuels « après »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