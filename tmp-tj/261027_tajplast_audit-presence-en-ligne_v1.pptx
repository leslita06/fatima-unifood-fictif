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Interactions médianes par post</c:v>
                </c:pt>
              </c:strCache>
            </c:strRef>
          </c:tx>
          <c:dPt>
            <c:idx val="0"/>
            <c:spPr>
              <a:solidFill>
                <a:srgbClr val="E84E0E"/>
              </a:solidFill>
            </c:spPr>
          </c:dPt>
          <c:dPt>
            <c:idx val="1"/>
            <c:spPr>
              <a:solidFill>
                <a:srgbClr val="5A5A5A"/>
              </a:solidFill>
            </c:spPr>
          </c:dPt>
          <c:dPt>
            <c:idx val="2"/>
            <c:spPr>
              <a:solidFill>
                <a:srgbClr val="5A5A5A"/>
              </a:solidFill>
            </c:spPr>
          </c:dPt>
          <c:cat>
            <c:strRef>
              <c:f>Sheet1!$A$2:$A$4</c:f>
              <c:strCache>
                <c:ptCount val="3"/>
                <c:pt idx="0">
                  <c:v>TAJ PLAST</c:v>
                </c:pt>
                <c:pt idx="1">
                  <c:v>Plastica CI</c:v>
                </c:pt>
                <c:pt idx="2">
                  <c:v>Metaplast CI</c:v>
                </c:pt>
              </c:strCache>
            </c:strRef>
          </c:cat>
          <c:val>
            <c:numRef>
              <c:f>Sheet1!$B$2:$B$4</c:f>
              <c:numCache>
                <c:formatCode>General</c:formatCode>
                <c:ptCount val="3"/>
                <c:pt idx="0">
                  <c:v>3</c:v>
                </c:pt>
                <c:pt idx="1">
                  <c:v>11</c:v>
                </c:pt>
                <c:pt idx="2">
                  <c:v>30</c:v>
                </c:pt>
              </c:numCache>
            </c:numRef>
          </c:val>
        </c:ser>
        <c:dLbls>
          <c:txPr>
            <a:bodyPr/>
            <a:lstStyle/>
            <a:p>
              <a:pPr>
                <a:defRPr sz="1400" b="1"/>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txPr>
          <a:bodyPr/>
          <a:lstStyle/>
          <a:p>
            <a:pPr>
              <a:defRPr sz="1200" b="1"/>
            </a:pPr>
          </a:p>
        </c:txPr>
        <c:crossAx val="-2113994440"/>
        <c:crosses val="autoZero"/>
        <c:auto val="1"/>
        <c:lblAlgn val="ctr"/>
        <c:lblOffset val="100"/>
        <c:noMultiLvlLbl val="0"/>
      </c:catAx>
      <c:valAx>
        <c:axId val="-2113994440"/>
        <c:scaling>
          <c:max val="38.0"/>
        </c:scaling>
        <c:delete val="0"/>
        <c:axPos val="b"/>
        <c:majorTickMark val="out"/>
        <c:minorTickMark val="none"/>
        <c:tickLblPos val="none"/>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jpg"/><Relationship Id="rId5"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x_7381785.jpg"/>
          <p:cNvPicPr>
            <a:picLocks noChangeAspect="1"/>
          </p:cNvPicPr>
          <p:nvPr/>
        </p:nvPicPr>
        <p:blipFill>
          <a:blip r:embed="rId2"/>
          <a:srcRect t="12500" b="12500"/>
          <a:stretch>
            <a:fillRect/>
          </a:stretch>
        </p:blipFill>
        <p:spPr>
          <a:xfrm>
            <a:off x="0" y="0"/>
            <a:ext cx="12192119" cy="6858000"/>
          </a:xfrm>
          <a:prstGeom prst="rect">
            <a:avLst/>
          </a:prstGeom>
        </p:spPr>
      </p:pic>
      <p:sp>
        <p:nvSpPr>
          <p:cNvPr id="3" name="Rectangle 2"/>
          <p:cNvSpPr/>
          <p:nvPr/>
        </p:nvSpPr>
        <p:spPr>
          <a:xfrm>
            <a:off x="0" y="0"/>
            <a:ext cx="6840000" cy="6858000"/>
          </a:xfrm>
          <a:prstGeom prst="rect">
            <a:avLst/>
          </a:prstGeom>
          <a:solidFill>
            <a:srgbClr val="111111">
              <a:alpha val="8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8000" y="720000"/>
            <a:ext cx="2736000" cy="108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ropped-logo-tajplast.png"/>
          <p:cNvPicPr>
            <a:picLocks noChangeAspect="1"/>
          </p:cNvPicPr>
          <p:nvPr/>
        </p:nvPicPr>
        <p:blipFill>
          <a:blip r:embed="rId3"/>
          <a:stretch>
            <a:fillRect/>
          </a:stretch>
        </p:blipFill>
        <p:spPr>
          <a:xfrm>
            <a:off x="785613" y="792000"/>
            <a:ext cx="2460774" cy="936000"/>
          </a:xfrm>
          <a:prstGeom prst="rect">
            <a:avLst/>
          </a:prstGeom>
        </p:spPr>
      </p:pic>
      <p:sp>
        <p:nvSpPr>
          <p:cNvPr id="6" name="TextBox 5"/>
          <p:cNvSpPr txBox="1"/>
          <p:nvPr/>
        </p:nvSpPr>
        <p:spPr>
          <a:xfrm>
            <a:off x="648000" y="2376000"/>
            <a:ext cx="5760000" cy="360000"/>
          </a:xfrm>
          <a:prstGeom prst="rect">
            <a:avLst/>
          </a:prstGeom>
          <a:noFill/>
        </p:spPr>
        <p:txBody>
          <a:bodyPr wrap="square" lIns="36000" rIns="36000" tIns="18000" bIns="18000" anchor="t">
            <a:spAutoFit/>
          </a:bodyPr>
          <a:lstStyle/>
          <a:p>
            <a:pPr algn="l">
              <a:lnSpc>
                <a:spcPct val="110000"/>
              </a:lnSpc>
            </a:pPr>
            <a:r>
              <a:rPr sz="1300" b="1">
                <a:solidFill>
                  <a:srgbClr val="E84E0E"/>
                </a:solidFill>
                <a:latin typeface="Arial"/>
              </a:rPr>
              <a:t>AUDIT DE LA PRÉSENCE EN LIGNE</a:t>
            </a:r>
          </a:p>
        </p:txBody>
      </p:sp>
      <p:sp>
        <p:nvSpPr>
          <p:cNvPr id="7" name="TextBox 6"/>
          <p:cNvSpPr txBox="1"/>
          <p:nvPr/>
        </p:nvSpPr>
        <p:spPr>
          <a:xfrm>
            <a:off x="648000" y="2736000"/>
            <a:ext cx="5832000" cy="1800000"/>
          </a:xfrm>
          <a:prstGeom prst="rect">
            <a:avLst/>
          </a:prstGeom>
          <a:noFill/>
        </p:spPr>
        <p:txBody>
          <a:bodyPr wrap="square" lIns="36000" rIns="36000" tIns="18000" bIns="18000" anchor="t">
            <a:spAutoFit/>
          </a:bodyPr>
          <a:lstStyle/>
          <a:p>
            <a:pPr algn="l">
              <a:lnSpc>
                <a:spcPct val="100000"/>
              </a:lnSpc>
            </a:pPr>
            <a:r>
              <a:rPr sz="3000" b="1">
                <a:solidFill>
                  <a:srgbClr val="FFFFFF"/>
                </a:solidFill>
                <a:latin typeface="Arial"/>
              </a:rPr>
              <a:t>Beaucoup de publications, peu d'écho : où TAJ PLAST peut gagner vite</a:t>
            </a:r>
          </a:p>
        </p:txBody>
      </p:sp>
      <p:sp>
        <p:nvSpPr>
          <p:cNvPr id="8" name="Rectangle 7"/>
          <p:cNvSpPr/>
          <p:nvPr/>
        </p:nvSpPr>
        <p:spPr>
          <a:xfrm>
            <a:off x="648000" y="4824000"/>
            <a:ext cx="864000" cy="540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000" y="5004000"/>
            <a:ext cx="5760000" cy="720000"/>
          </a:xfrm>
          <a:prstGeom prst="rect">
            <a:avLst/>
          </a:prstGeom>
          <a:noFill/>
        </p:spPr>
        <p:txBody>
          <a:bodyPr wrap="square" lIns="36000" rIns="36000" tIns="18000" bIns="18000" anchor="t">
            <a:spAutoFit/>
          </a:bodyPr>
          <a:lstStyle/>
          <a:p>
            <a:pPr algn="l">
              <a:lnSpc>
                <a:spcPct val="110000"/>
              </a:lnSpc>
            </a:pPr>
            <a:r>
              <a:rPr sz="1200" b="0">
                <a:solidFill>
                  <a:srgbClr val="FFFFFF"/>
                </a:solidFill>
                <a:latin typeface="Arial"/>
              </a:rPr>
              <a:t>Site, Facebook, Instagram et LinkedIn face à Metaplast, Plastica et OK Plast</a:t>
            </a:r>
          </a:p>
          <a:p>
            <a:pPr algn="l">
              <a:lnSpc>
                <a:spcPct val="110000"/>
              </a:lnSpc>
            </a:pPr>
            <a:r>
              <a:rPr sz="1200" b="0">
                <a:solidFill>
                  <a:srgbClr val="CCCCCC"/>
                </a:solidFill>
                <a:latin typeface="Arial"/>
              </a:rPr>
              <a:t>Relevé public du 27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SYNTHÈSE</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L'essentiel en une page</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2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ectangle 9"/>
          <p:cNvSpPr/>
          <p:nvPr/>
        </p:nvSpPr>
        <p:spPr>
          <a:xfrm>
            <a:off x="576000" y="1584000"/>
            <a:ext cx="3528000" cy="3096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00" y="1584000"/>
            <a:ext cx="3528000" cy="90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000" y="1764000"/>
            <a:ext cx="720000" cy="576000"/>
          </a:xfrm>
          <a:prstGeom prst="rect">
            <a:avLst/>
          </a:prstGeom>
          <a:noFill/>
        </p:spPr>
        <p:txBody>
          <a:bodyPr wrap="square" lIns="36000" rIns="36000" tIns="18000" bIns="18000" anchor="t">
            <a:spAutoFit/>
          </a:bodyPr>
          <a:lstStyle/>
          <a:p>
            <a:pPr algn="l">
              <a:lnSpc>
                <a:spcPct val="110000"/>
              </a:lnSpc>
            </a:pPr>
            <a:r>
              <a:rPr sz="3600" b="1">
                <a:solidFill>
                  <a:srgbClr val="E84E0E"/>
                </a:solidFill>
                <a:latin typeface="Arial"/>
              </a:rPr>
              <a:t>1</a:t>
            </a:r>
          </a:p>
        </p:txBody>
      </p:sp>
      <p:sp>
        <p:nvSpPr>
          <p:cNvPr id="13" name="TextBox 12"/>
          <p:cNvSpPr txBox="1"/>
          <p:nvPr/>
        </p:nvSpPr>
        <p:spPr>
          <a:xfrm>
            <a:off x="792000" y="2376000"/>
            <a:ext cx="3096000" cy="864000"/>
          </a:xfrm>
          <a:prstGeom prst="rect">
            <a:avLst/>
          </a:prstGeom>
          <a:noFill/>
        </p:spPr>
        <p:txBody>
          <a:bodyPr wrap="square" lIns="36000" rIns="36000" tIns="18000" bIns="18000" anchor="t">
            <a:spAutoFit/>
          </a:bodyPr>
          <a:lstStyle/>
          <a:p>
            <a:pPr algn="l">
              <a:lnSpc>
                <a:spcPct val="110000"/>
              </a:lnSpc>
            </a:pPr>
            <a:r>
              <a:rPr sz="1500" b="1">
                <a:solidFill>
                  <a:srgbClr val="111111"/>
                </a:solidFill>
                <a:latin typeface="Arial"/>
              </a:rPr>
              <a:t>La page Facebook publie beaucoup, mais personne ne répond</a:t>
            </a:r>
          </a:p>
        </p:txBody>
      </p:sp>
      <p:sp>
        <p:nvSpPr>
          <p:cNvPr id="14" name="TextBox 13"/>
          <p:cNvSpPr txBox="1"/>
          <p:nvPr/>
        </p:nvSpPr>
        <p:spPr>
          <a:xfrm>
            <a:off x="792000" y="3276000"/>
            <a:ext cx="3096000" cy="1368000"/>
          </a:xfrm>
          <a:prstGeom prst="rect">
            <a:avLst/>
          </a:prstGeom>
          <a:noFill/>
        </p:spPr>
        <p:txBody>
          <a:bodyPr wrap="square" lIns="36000" rIns="36000" tIns="18000" bIns="18000" anchor="t">
            <a:spAutoFit/>
          </a:bodyPr>
          <a:lstStyle/>
          <a:p>
            <a:pPr algn="l">
              <a:lnSpc>
                <a:spcPct val="110000"/>
              </a:lnSpc>
            </a:pPr>
            <a:r>
              <a:rPr sz="1200" b="0">
                <a:solidFill>
                  <a:srgbClr val="5A5A5A"/>
                </a:solidFill>
                <a:latin typeface="Arial"/>
              </a:rPr>
              <a:t>25 posts en 8 jours, soit environ 22 par semaine, pour 3 réactions par post en médiane. Metaplast publie moins d'un post par semaine et en obtient 30.</a:t>
            </a:r>
          </a:p>
        </p:txBody>
      </p:sp>
      <p:sp>
        <p:nvSpPr>
          <p:cNvPr id="15" name="Rectangle 14"/>
          <p:cNvSpPr/>
          <p:nvPr/>
        </p:nvSpPr>
        <p:spPr>
          <a:xfrm>
            <a:off x="4320000" y="1584000"/>
            <a:ext cx="3528000" cy="3096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20000" y="1584000"/>
            <a:ext cx="3528000" cy="900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6000" y="1764000"/>
            <a:ext cx="720000" cy="576000"/>
          </a:xfrm>
          <a:prstGeom prst="rect">
            <a:avLst/>
          </a:prstGeom>
          <a:noFill/>
        </p:spPr>
        <p:txBody>
          <a:bodyPr wrap="square" lIns="36000" rIns="36000" tIns="18000" bIns="18000" anchor="t">
            <a:spAutoFit/>
          </a:bodyPr>
          <a:lstStyle/>
          <a:p>
            <a:pPr algn="l">
              <a:lnSpc>
                <a:spcPct val="110000"/>
              </a:lnSpc>
            </a:pPr>
            <a:r>
              <a:rPr sz="3600" b="1">
                <a:solidFill>
                  <a:srgbClr val="159641"/>
                </a:solidFill>
                <a:latin typeface="Arial"/>
              </a:rPr>
              <a:t>2</a:t>
            </a:r>
          </a:p>
        </p:txBody>
      </p:sp>
      <p:sp>
        <p:nvSpPr>
          <p:cNvPr id="18" name="TextBox 17"/>
          <p:cNvSpPr txBox="1"/>
          <p:nvPr/>
        </p:nvSpPr>
        <p:spPr>
          <a:xfrm>
            <a:off x="4536000" y="2376000"/>
            <a:ext cx="3096000" cy="864000"/>
          </a:xfrm>
          <a:prstGeom prst="rect">
            <a:avLst/>
          </a:prstGeom>
          <a:noFill/>
        </p:spPr>
        <p:txBody>
          <a:bodyPr wrap="square" lIns="36000" rIns="36000" tIns="18000" bIns="18000" anchor="t">
            <a:spAutoFit/>
          </a:bodyPr>
          <a:lstStyle/>
          <a:p>
            <a:pPr algn="l">
              <a:lnSpc>
                <a:spcPct val="110000"/>
              </a:lnSpc>
            </a:pPr>
            <a:r>
              <a:rPr sz="1500" b="1">
                <a:solidFill>
                  <a:srgbClr val="111111"/>
                </a:solidFill>
                <a:latin typeface="Arial"/>
              </a:rPr>
              <a:t>Le site perd les visiteurs que les réseaux lui envoient</a:t>
            </a:r>
          </a:p>
        </p:txBody>
      </p:sp>
      <p:sp>
        <p:nvSpPr>
          <p:cNvPr id="19" name="TextBox 18"/>
          <p:cNvSpPr txBox="1"/>
          <p:nvPr/>
        </p:nvSpPr>
        <p:spPr>
          <a:xfrm>
            <a:off x="4536000" y="3276000"/>
            <a:ext cx="3096000" cy="1368000"/>
          </a:xfrm>
          <a:prstGeom prst="rect">
            <a:avLst/>
          </a:prstGeom>
          <a:noFill/>
        </p:spPr>
        <p:txBody>
          <a:bodyPr wrap="square" lIns="36000" rIns="36000" tIns="18000" bIns="18000" anchor="t">
            <a:spAutoFit/>
          </a:bodyPr>
          <a:lstStyle/>
          <a:p>
            <a:pPr algn="l">
              <a:lnSpc>
                <a:spcPct val="110000"/>
              </a:lnSpc>
            </a:pPr>
            <a:r>
              <a:rPr sz="1200" b="0">
                <a:solidFill>
                  <a:srgbClr val="5A5A5A"/>
                </a:solidFill>
                <a:latin typeface="Arial"/>
              </a:rPr>
              <a:t>Texte de remplissage en latin sur l'accueil, quatre icônes de réseaux qui ne mènent nulle part, lien e-mail cassé, aucune trace de la boutique Jumia.</a:t>
            </a:r>
          </a:p>
        </p:txBody>
      </p:sp>
      <p:sp>
        <p:nvSpPr>
          <p:cNvPr id="20" name="Rectangle 19"/>
          <p:cNvSpPr/>
          <p:nvPr/>
        </p:nvSpPr>
        <p:spPr>
          <a:xfrm>
            <a:off x="8064000" y="1584000"/>
            <a:ext cx="3528000" cy="3096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64000" y="1584000"/>
            <a:ext cx="3528000" cy="90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0000" y="1764000"/>
            <a:ext cx="720000" cy="576000"/>
          </a:xfrm>
          <a:prstGeom prst="rect">
            <a:avLst/>
          </a:prstGeom>
          <a:noFill/>
        </p:spPr>
        <p:txBody>
          <a:bodyPr wrap="square" lIns="36000" rIns="36000" tIns="18000" bIns="18000" anchor="t">
            <a:spAutoFit/>
          </a:bodyPr>
          <a:lstStyle/>
          <a:p>
            <a:pPr algn="l">
              <a:lnSpc>
                <a:spcPct val="110000"/>
              </a:lnSpc>
            </a:pPr>
            <a:r>
              <a:rPr sz="3600" b="1">
                <a:solidFill>
                  <a:srgbClr val="111111"/>
                </a:solidFill>
                <a:latin typeface="Arial"/>
              </a:rPr>
              <a:t>3</a:t>
            </a:r>
          </a:p>
        </p:txBody>
      </p:sp>
      <p:sp>
        <p:nvSpPr>
          <p:cNvPr id="23" name="TextBox 22"/>
          <p:cNvSpPr txBox="1"/>
          <p:nvPr/>
        </p:nvSpPr>
        <p:spPr>
          <a:xfrm>
            <a:off x="8280000" y="2376000"/>
            <a:ext cx="3096000" cy="864000"/>
          </a:xfrm>
          <a:prstGeom prst="rect">
            <a:avLst/>
          </a:prstGeom>
          <a:noFill/>
        </p:spPr>
        <p:txBody>
          <a:bodyPr wrap="square" lIns="36000" rIns="36000" tIns="18000" bIns="18000" anchor="t">
            <a:spAutoFit/>
          </a:bodyPr>
          <a:lstStyle/>
          <a:p>
            <a:pPr algn="l">
              <a:lnSpc>
                <a:spcPct val="110000"/>
              </a:lnSpc>
            </a:pPr>
            <a:r>
              <a:rPr sz="1500" b="1">
                <a:solidFill>
                  <a:srgbClr val="111111"/>
                </a:solidFill>
                <a:latin typeface="Arial"/>
              </a:rPr>
              <a:t>LinkedIn et Instagram sont ouverts mais à l'arrêt</a:t>
            </a:r>
          </a:p>
        </p:txBody>
      </p:sp>
      <p:sp>
        <p:nvSpPr>
          <p:cNvPr id="24" name="TextBox 23"/>
          <p:cNvSpPr txBox="1"/>
          <p:nvPr/>
        </p:nvSpPr>
        <p:spPr>
          <a:xfrm>
            <a:off x="8280000" y="3276000"/>
            <a:ext cx="3096000" cy="1368000"/>
          </a:xfrm>
          <a:prstGeom prst="rect">
            <a:avLst/>
          </a:prstGeom>
          <a:noFill/>
        </p:spPr>
        <p:txBody>
          <a:bodyPr wrap="square" lIns="36000" rIns="36000" tIns="18000" bIns="18000" anchor="t">
            <a:spAutoFit/>
          </a:bodyPr>
          <a:lstStyle/>
          <a:p>
            <a:pPr algn="l">
              <a:lnSpc>
                <a:spcPct val="110000"/>
              </a:lnSpc>
            </a:pPr>
            <a:r>
              <a:rPr sz="1200" b="0">
                <a:solidFill>
                  <a:srgbClr val="5A5A5A"/>
                </a:solidFill>
                <a:latin typeface="Arial"/>
              </a:rPr>
              <a:t>LinkedIn : 1 515 abonnés, 1 réaction par post en médiane. Instagram : 268 abonnés, sans présentation ni lien. Plastica fédère 6 400 abonnés sur LinkedIn.</a:t>
            </a:r>
          </a:p>
        </p:txBody>
      </p:sp>
      <p:sp>
        <p:nvSpPr>
          <p:cNvPr id="25" name="Rectangle 24"/>
          <p:cNvSpPr/>
          <p:nvPr/>
        </p:nvSpPr>
        <p:spPr>
          <a:xfrm>
            <a:off x="576000" y="4824000"/>
            <a:ext cx="11016000" cy="1080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000" y="4896000"/>
            <a:ext cx="216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NOS TROIS RECOMMANDATIONS</a:t>
            </a:r>
          </a:p>
        </p:txBody>
      </p:sp>
      <p:sp>
        <p:nvSpPr>
          <p:cNvPr id="27" name="TextBox 26"/>
          <p:cNvSpPr txBox="1"/>
          <p:nvPr/>
        </p:nvSpPr>
        <p:spPr>
          <a:xfrm>
            <a:off x="792000" y="5184000"/>
            <a:ext cx="10620000" cy="720000"/>
          </a:xfrm>
          <a:prstGeom prst="rect">
            <a:avLst/>
          </a:prstGeom>
          <a:noFill/>
        </p:spPr>
        <p:txBody>
          <a:bodyPr wrap="square" lIns="36000" rIns="36000" tIns="18000" bIns="18000" anchor="t">
            <a:spAutoFit/>
          </a:bodyPr>
          <a:lstStyle/>
          <a:p>
            <a:pPr algn="l">
              <a:lnSpc>
                <a:spcPct val="110000"/>
              </a:lnSpc>
            </a:pPr>
            <a:r>
              <a:rPr sz="1300" b="0">
                <a:solidFill>
                  <a:srgbClr val="FFFFFF"/>
                </a:solidFill>
                <a:latin typeface="Arial"/>
              </a:rPr>
              <a:t>1. Réparer la vitrine du site en deux semaines.   2. Publier trois fois moins, mais des posts qui donnent envie de répondre et d'écrire sur WhatsApp.   3. Faire de LinkedIn la vitrine des distributeurs, avec Taj Recyclage comme fil rouge.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MÉTHODE</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Ce qui a été regardé, et comment</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3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graphicFrame>
        <p:nvGraphicFramePr>
          <p:cNvPr id="10" name="Table 9"/>
          <p:cNvGraphicFramePr>
            <a:graphicFrameLocks noGrp="1"/>
          </p:cNvGraphicFramePr>
          <p:nvPr/>
        </p:nvGraphicFramePr>
        <p:xfrm>
          <a:off x="576000" y="1584000"/>
          <a:ext cx="11016000" cy="2340000"/>
        </p:xfrm>
        <a:graphic>
          <a:graphicData uri="http://schemas.openxmlformats.org/drawingml/2006/table">
            <a:tbl>
              <a:tblPr firstRow="1" bandRow="1">
                <a:tableStyleId>{5C22544A-7EE6-4342-B048-85BDC9FD1C3A}</a:tableStyleId>
              </a:tblPr>
              <a:tblGrid>
                <a:gridCol w="1800000"/>
                <a:gridCol w="1800000"/>
                <a:gridCol w="4536000"/>
                <a:gridCol w="2880000"/>
              </a:tblGrid>
              <a:tr h="468000">
                <a:tc>
                  <a:txBody>
                    <a:bodyPr/>
                    <a:lstStyle/>
                    <a:p>
                      <a:r>
                        <a:rPr sz="1200" b="1">
                          <a:solidFill>
                            <a:srgbClr val="FFFFFF"/>
                          </a:solidFill>
                          <a:latin typeface="Arial"/>
                        </a:rPr>
                        <a:t>Entreprise</a:t>
                      </a:r>
                    </a:p>
                  </a:txBody>
                  <a:tcPr>
                    <a:solidFill>
                      <a:srgbClr val="111111"/>
                    </a:solidFill>
                  </a:tcPr>
                </a:tc>
                <a:tc>
                  <a:txBody>
                    <a:bodyPr/>
                    <a:lstStyle/>
                    <a:p>
                      <a:r>
                        <a:rPr sz="1200" b="1">
                          <a:solidFill>
                            <a:srgbClr val="FFFFFF"/>
                          </a:solidFill>
                          <a:latin typeface="Arial"/>
                        </a:rPr>
                        <a:t>Profil</a:t>
                      </a:r>
                    </a:p>
                  </a:txBody>
                  <a:tcPr>
                    <a:solidFill>
                      <a:srgbClr val="111111"/>
                    </a:solidFill>
                  </a:tcPr>
                </a:tc>
                <a:tc>
                  <a:txBody>
                    <a:bodyPr/>
                    <a:lstStyle/>
                    <a:p>
                      <a:r>
                        <a:rPr sz="1200" b="1">
                          <a:solidFill>
                            <a:srgbClr val="FFFFFF"/>
                          </a:solidFill>
                          <a:latin typeface="Arial"/>
                        </a:rPr>
                        <a:t>Comptes relevés</a:t>
                      </a:r>
                    </a:p>
                  </a:txBody>
                  <a:tcPr>
                    <a:solidFill>
                      <a:srgbClr val="111111"/>
                    </a:solidFill>
                  </a:tcPr>
                </a:tc>
                <a:tc>
                  <a:txBody>
                    <a:bodyPr/>
                    <a:lstStyle/>
                    <a:p>
                      <a:r>
                        <a:rPr sz="1200" b="1">
                          <a:solidFill>
                            <a:srgbClr val="FFFFFF"/>
                          </a:solidFill>
                          <a:latin typeface="Arial"/>
                        </a:rPr>
                        <a:t>Pourquoi elle</a:t>
                      </a:r>
                    </a:p>
                  </a:txBody>
                  <a:tcPr>
                    <a:solidFill>
                      <a:srgbClr val="111111"/>
                    </a:solidFill>
                  </a:tcPr>
                </a:tc>
              </a:tr>
              <a:tr h="468000">
                <a:tc>
                  <a:txBody>
                    <a:bodyPr/>
                    <a:lstStyle/>
                    <a:p>
                      <a:r>
                        <a:rPr sz="1150" b="1">
                          <a:solidFill>
                            <a:srgbClr val="E84E0E"/>
                          </a:solidFill>
                          <a:latin typeface="Arial"/>
                        </a:rPr>
                        <a:t>TAJ PLAST</a:t>
                      </a:r>
                    </a:p>
                  </a:txBody>
                  <a:tcPr>
                    <a:solidFill>
                      <a:srgbClr val="F4F4F2"/>
                    </a:solidFill>
                  </a:tcPr>
                </a:tc>
                <a:tc>
                  <a:txBody>
                    <a:bodyPr/>
                    <a:lstStyle/>
                    <a:p>
                      <a:r>
                        <a:rPr sz="1150" b="0">
                          <a:solidFill>
                            <a:srgbClr val="111111"/>
                          </a:solidFill>
                          <a:latin typeface="Arial"/>
                        </a:rPr>
                        <a:t>Fabricant, Koumassi</a:t>
                      </a:r>
                    </a:p>
                  </a:txBody>
                  <a:tcPr>
                    <a:solidFill>
                      <a:srgbClr val="F4F4F2"/>
                    </a:solidFill>
                  </a:tcPr>
                </a:tc>
                <a:tc>
                  <a:txBody>
                    <a:bodyPr/>
                    <a:lstStyle/>
                    <a:p>
                      <a:r>
                        <a:rPr sz="1150" b="0">
                          <a:solidFill>
                            <a:srgbClr val="111111"/>
                          </a:solidFill>
                          <a:latin typeface="Arial"/>
                        </a:rPr>
                        <a:t>tajplast.com · Facebook tajplastci · Instagram tajplast · LinkedIn taj-plast</a:t>
                      </a:r>
                    </a:p>
                  </a:txBody>
                  <a:tcPr>
                    <a:solidFill>
                      <a:srgbClr val="F4F4F2"/>
                    </a:solidFill>
                  </a:tcPr>
                </a:tc>
                <a:tc>
                  <a:txBody>
                    <a:bodyPr/>
                    <a:lstStyle/>
                    <a:p>
                      <a:r>
                        <a:rPr sz="1150" b="0">
                          <a:solidFill>
                            <a:srgbClr val="111111"/>
                          </a:solidFill>
                          <a:latin typeface="Arial"/>
                        </a:rPr>
                        <a:t>L'entreprise auditée</a:t>
                      </a:r>
                    </a:p>
                  </a:txBody>
                  <a:tcPr>
                    <a:solidFill>
                      <a:srgbClr val="F4F4F2"/>
                    </a:solidFill>
                  </a:tcPr>
                </a:tc>
              </a:tr>
              <a:tr h="468000">
                <a:tc>
                  <a:txBody>
                    <a:bodyPr/>
                    <a:lstStyle/>
                    <a:p>
                      <a:r>
                        <a:rPr sz="1150" b="1">
                          <a:solidFill>
                            <a:srgbClr val="111111"/>
                          </a:solidFill>
                          <a:latin typeface="Arial"/>
                        </a:rPr>
                        <a:t>METAPLAST CI</a:t>
                      </a:r>
                    </a:p>
                  </a:txBody>
                  <a:tcPr>
                    <a:solidFill>
                      <a:srgbClr val="FFFFFF"/>
                    </a:solidFill>
                  </a:tcPr>
                </a:tc>
                <a:tc>
                  <a:txBody>
                    <a:bodyPr/>
                    <a:lstStyle/>
                    <a:p>
                      <a:r>
                        <a:rPr sz="1150" b="0">
                          <a:solidFill>
                            <a:srgbClr val="111111"/>
                          </a:solidFill>
                          <a:latin typeface="Arial"/>
                        </a:rPr>
                        <a:t>Fabricant, Abidjan</a:t>
                      </a:r>
                    </a:p>
                  </a:txBody>
                  <a:tcPr>
                    <a:solidFill>
                      <a:srgbClr val="FFFFFF"/>
                    </a:solidFill>
                  </a:tcPr>
                </a:tc>
                <a:tc>
                  <a:txBody>
                    <a:bodyPr/>
                    <a:lstStyle/>
                    <a:p>
                      <a:r>
                        <a:rPr sz="1150" b="0">
                          <a:solidFill>
                            <a:srgbClr val="111111"/>
                          </a:solidFill>
                          <a:latin typeface="Arial"/>
                        </a:rPr>
                        <a:t>metaplast.ci · Facebook · Instagram · LinkedIn</a:t>
                      </a:r>
                    </a:p>
                  </a:txBody>
                  <a:tcPr>
                    <a:solidFill>
                      <a:srgbClr val="FFFFFF"/>
                    </a:solidFill>
                  </a:tcPr>
                </a:tc>
                <a:tc>
                  <a:txBody>
                    <a:bodyPr/>
                    <a:lstStyle/>
                    <a:p>
                      <a:r>
                        <a:rPr sz="1150" b="0">
                          <a:solidFill>
                            <a:srgbClr val="111111"/>
                          </a:solidFill>
                          <a:latin typeface="Arial"/>
                        </a:rPr>
                        <a:t>Le plus suivi du secteur, cuves et fosses</a:t>
                      </a:r>
                    </a:p>
                  </a:txBody>
                  <a:tcPr>
                    <a:solidFill>
                      <a:srgbClr val="FFFFFF"/>
                    </a:solidFill>
                  </a:tcPr>
                </a:tc>
              </a:tr>
              <a:tr h="468000">
                <a:tc>
                  <a:txBody>
                    <a:bodyPr/>
                    <a:lstStyle/>
                    <a:p>
                      <a:r>
                        <a:rPr sz="1150" b="1">
                          <a:solidFill>
                            <a:srgbClr val="111111"/>
                          </a:solidFill>
                          <a:latin typeface="Arial"/>
                        </a:rPr>
                        <a:t>PLASTICA CI</a:t>
                      </a:r>
                    </a:p>
                  </a:txBody>
                  <a:tcPr>
                    <a:solidFill>
                      <a:srgbClr val="F4F4F2"/>
                    </a:solidFill>
                  </a:tcPr>
                </a:tc>
                <a:tc>
                  <a:txBody>
                    <a:bodyPr/>
                    <a:lstStyle/>
                    <a:p>
                      <a:r>
                        <a:rPr sz="1150" b="0">
                          <a:solidFill>
                            <a:srgbClr val="111111"/>
                          </a:solidFill>
                          <a:latin typeface="Arial"/>
                        </a:rPr>
                        <a:t>Fabricant, Koumassi</a:t>
                      </a:r>
                    </a:p>
                  </a:txBody>
                  <a:tcPr>
                    <a:solidFill>
                      <a:srgbClr val="F4F4F2"/>
                    </a:solidFill>
                  </a:tcPr>
                </a:tc>
                <a:tc>
                  <a:txBody>
                    <a:bodyPr/>
                    <a:lstStyle/>
                    <a:p>
                      <a:r>
                        <a:rPr sz="1150" b="0">
                          <a:solidFill>
                            <a:srgbClr val="111111"/>
                          </a:solidFill>
                          <a:latin typeface="Arial"/>
                        </a:rPr>
                        <a:t>plasticaci.com · Facebook · Instagram · LinkedIn</a:t>
                      </a:r>
                    </a:p>
                  </a:txBody>
                  <a:tcPr>
                    <a:solidFill>
                      <a:srgbClr val="F4F4F2"/>
                    </a:solidFill>
                  </a:tcPr>
                </a:tc>
                <a:tc>
                  <a:txBody>
                    <a:bodyPr/>
                    <a:lstStyle/>
                    <a:p>
                      <a:r>
                        <a:rPr sz="1150" b="0">
                          <a:solidFill>
                            <a:srgbClr val="111111"/>
                          </a:solidFill>
                          <a:latin typeface="Arial"/>
                        </a:rPr>
                        <a:t>Voisin direct, maison et emballage</a:t>
                      </a:r>
                    </a:p>
                  </a:txBody>
                  <a:tcPr>
                    <a:solidFill>
                      <a:srgbClr val="F4F4F2"/>
                    </a:solidFill>
                  </a:tcPr>
                </a:tc>
              </a:tr>
              <a:tr h="468000">
                <a:tc>
                  <a:txBody>
                    <a:bodyPr/>
                    <a:lstStyle/>
                    <a:p>
                      <a:r>
                        <a:rPr sz="1150" b="1">
                          <a:solidFill>
                            <a:srgbClr val="111111"/>
                          </a:solidFill>
                          <a:latin typeface="Arial"/>
                        </a:rPr>
                        <a:t>OK PLAST</a:t>
                      </a:r>
                    </a:p>
                  </a:txBody>
                  <a:tcPr>
                    <a:solidFill>
                      <a:srgbClr val="FFFFFF"/>
                    </a:solidFill>
                  </a:tcPr>
                </a:tc>
                <a:tc>
                  <a:txBody>
                    <a:bodyPr/>
                    <a:lstStyle/>
                    <a:p>
                      <a:r>
                        <a:rPr sz="1150" b="0">
                          <a:solidFill>
                            <a:srgbClr val="111111"/>
                          </a:solidFill>
                          <a:latin typeface="Arial"/>
                        </a:rPr>
                        <a:t>Fabricant, Yopougon</a:t>
                      </a:r>
                    </a:p>
                  </a:txBody>
                  <a:tcPr>
                    <a:solidFill>
                      <a:srgbClr val="FFFFFF"/>
                    </a:solidFill>
                  </a:tcPr>
                </a:tc>
                <a:tc>
                  <a:txBody>
                    <a:bodyPr/>
                    <a:lstStyle/>
                    <a:p>
                      <a:r>
                        <a:rPr sz="1150" b="0">
                          <a:solidFill>
                            <a:srgbClr val="111111"/>
                          </a:solidFill>
                          <a:latin typeface="Arial"/>
                        </a:rPr>
                        <a:t>okplast-ci.com · lien Facebook du site</a:t>
                      </a:r>
                    </a:p>
                  </a:txBody>
                  <a:tcPr>
                    <a:solidFill>
                      <a:srgbClr val="FFFFFF"/>
                    </a:solidFill>
                  </a:tcPr>
                </a:tc>
                <a:tc>
                  <a:txBody>
                    <a:bodyPr/>
                    <a:lstStyle/>
                    <a:p>
                      <a:r>
                        <a:rPr sz="1150" b="0">
                          <a:solidFill>
                            <a:srgbClr val="111111"/>
                          </a:solidFill>
                          <a:latin typeface="Arial"/>
                        </a:rPr>
                        <a:t>Concurrent direct sur la maison</a:t>
                      </a:r>
                    </a:p>
                  </a:txBody>
                  <a:tcPr>
                    <a:solidFill>
                      <a:srgbClr val="FFFFFF"/>
                    </a:solidFill>
                  </a:tcPr>
                </a:tc>
              </a:tr>
            </a:tbl>
          </a:graphicData>
        </a:graphic>
      </p:graphicFrame>
      <p:sp>
        <p:nvSpPr>
          <p:cNvPr id="11" name="TextBox 10"/>
          <p:cNvSpPr txBox="1"/>
          <p:nvPr/>
        </p:nvSpPr>
        <p:spPr>
          <a:xfrm>
            <a:off x="576000" y="4176000"/>
            <a:ext cx="10980000" cy="1800000"/>
          </a:xfrm>
          <a:prstGeom prst="rect">
            <a:avLst/>
          </a:prstGeom>
          <a:noFill/>
        </p:spPr>
        <p:txBody>
          <a:bodyPr wrap="square">
            <a:spAutoFit/>
          </a:bodyPr>
          <a:lstStyle/>
          <a:p>
            <a:pPr>
              <a:lnSpc>
                <a:spcPct val="110000"/>
              </a:lnSpc>
              <a:spcAft>
                <a:spcPts val="700"/>
              </a:spcAft>
            </a:pPr>
            <a:r>
              <a:rPr sz="800">
                <a:solidFill>
                  <a:srgbClr val="E84E0E"/>
                </a:solidFill>
                <a:latin typeface="Arial"/>
              </a:rPr>
              <a:t>■  </a:t>
            </a:r>
            <a:r>
              <a:rPr b="1" sz="1200">
                <a:solidFill>
                  <a:srgbClr val="111111"/>
                </a:solidFill>
                <a:latin typeface="Arial"/>
              </a:rPr>
              <a:t>Facebook : </a:t>
            </a:r>
            <a:r>
              <a:rPr sz="1200">
                <a:solidFill>
                  <a:srgbClr val="111111"/>
                </a:solidFill>
                <a:latin typeface="Arial"/>
              </a:rPr>
              <a:t>les 25 derniers posts de chaque page. On compte les interactions (J'aime, commentaires, partages) et on retient la médiane, plus juste que la moyenne quand un post sponsorisé fait exploser les chiffres.</a:t>
            </a:r>
          </a:p>
          <a:p>
            <a:pPr>
              <a:lnSpc>
                <a:spcPct val="110000"/>
              </a:lnSpc>
              <a:spcAft>
                <a:spcPts val="700"/>
              </a:spcAft>
            </a:pPr>
            <a:r>
              <a:rPr sz="800">
                <a:solidFill>
                  <a:srgbClr val="E84E0E"/>
                </a:solidFill>
                <a:latin typeface="Arial"/>
              </a:rPr>
              <a:t>■  </a:t>
            </a:r>
            <a:r>
              <a:rPr b="1" sz="1200">
                <a:solidFill>
                  <a:srgbClr val="111111"/>
                </a:solidFill>
                <a:latin typeface="Arial"/>
              </a:rPr>
              <a:t>Instagram et LinkedIn : </a:t>
            </a:r>
            <a:r>
              <a:rPr sz="1200">
                <a:solidFill>
                  <a:srgbClr val="111111"/>
                </a:solidFill>
                <a:latin typeface="Arial"/>
              </a:rPr>
              <a:t>abonnés, présentation, liens, et les 15 derniers posts LinkedIn de TAJ PLAST et de Plastica.</a:t>
            </a:r>
          </a:p>
          <a:p>
            <a:pPr>
              <a:lnSpc>
                <a:spcPct val="110000"/>
              </a:lnSpc>
              <a:spcAft>
                <a:spcPts val="700"/>
              </a:spcAft>
            </a:pPr>
            <a:r>
              <a:rPr sz="800">
                <a:solidFill>
                  <a:srgbClr val="E84E0E"/>
                </a:solidFill>
                <a:latin typeface="Arial"/>
              </a:rPr>
              <a:t>■  </a:t>
            </a:r>
            <a:r>
              <a:rPr b="1" sz="1200">
                <a:solidFill>
                  <a:srgbClr val="111111"/>
                </a:solidFill>
                <a:latin typeface="Arial"/>
              </a:rPr>
              <a:t>Site : </a:t>
            </a:r>
            <a:r>
              <a:rPr sz="1200">
                <a:solidFill>
                  <a:srgbClr val="111111"/>
                </a:solidFill>
                <a:latin typeface="Arial"/>
              </a:rPr>
              <a:t>page d'accueil, liens, contacts, catalogue, et ce qu'un moteur de recherche en lit.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NOS RÉSEAUX</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Les comptes de TAJ PLAST aujourd'hui</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4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ectangle 9"/>
          <p:cNvSpPr/>
          <p:nvPr/>
        </p:nvSpPr>
        <p:spPr>
          <a:xfrm>
            <a:off x="576000" y="1584000"/>
            <a:ext cx="3528000" cy="190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00" y="1584000"/>
            <a:ext cx="90000" cy="190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999" y="1764000"/>
            <a:ext cx="3168000" cy="360000"/>
          </a:xfrm>
          <a:prstGeom prst="rect">
            <a:avLst/>
          </a:prstGeom>
          <a:noFill/>
        </p:spPr>
        <p:txBody>
          <a:bodyPr wrap="square" lIns="36000" rIns="36000" tIns="18000" bIns="18000" anchor="t">
            <a:spAutoFit/>
          </a:bodyPr>
          <a:lstStyle/>
          <a:p>
            <a:pPr algn="l">
              <a:lnSpc>
                <a:spcPct val="110000"/>
              </a:lnSpc>
            </a:pPr>
            <a:r>
              <a:rPr sz="1600" b="1">
                <a:solidFill>
                  <a:srgbClr val="111111"/>
                </a:solidFill>
                <a:latin typeface="Arial"/>
              </a:rPr>
              <a:t>Site tajplast.com</a:t>
            </a:r>
          </a:p>
        </p:txBody>
      </p:sp>
      <p:sp>
        <p:nvSpPr>
          <p:cNvPr id="13" name="TextBox 12"/>
          <p:cNvSpPr txBox="1"/>
          <p:nvPr/>
        </p:nvSpPr>
        <p:spPr>
          <a:xfrm>
            <a:off x="827999" y="2160000"/>
            <a:ext cx="3168000" cy="720000"/>
          </a:xfrm>
          <a:prstGeom prst="rect">
            <a:avLst/>
          </a:prstGeom>
          <a:noFill/>
        </p:spPr>
        <p:txBody>
          <a:bodyPr wrap="square" lIns="36000" rIns="36000" tIns="18000" bIns="18000" anchor="t">
            <a:spAutoFit/>
          </a:bodyPr>
          <a:lstStyle/>
          <a:p>
            <a:pPr algn="l">
              <a:lnSpc>
                <a:spcPct val="110000"/>
              </a:lnSpc>
            </a:pPr>
            <a:r>
              <a:rPr sz="1250" b="0">
                <a:solidFill>
                  <a:srgbClr val="5A5A5A"/>
                </a:solidFill>
                <a:latin typeface="Arial"/>
              </a:rPr>
              <a:t>Vitrine + catalogue PDF de 32 pages</a:t>
            </a:r>
          </a:p>
        </p:txBody>
      </p:sp>
      <p:sp>
        <p:nvSpPr>
          <p:cNvPr id="14" name="Rounded Rectangle 13"/>
          <p:cNvSpPr/>
          <p:nvPr/>
        </p:nvSpPr>
        <p:spPr>
          <a:xfrm>
            <a:off x="827999" y="2916000"/>
            <a:ext cx="1655999" cy="342000"/>
          </a:xfrm>
          <a:prstGeom prst="round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999" y="2916000"/>
            <a:ext cx="1655999"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Arial"/>
              </a:rPr>
              <a:t>Pas à jour</a:t>
            </a:r>
          </a:p>
        </p:txBody>
      </p:sp>
      <p:sp>
        <p:nvSpPr>
          <p:cNvPr id="16" name="Rectangle 15"/>
          <p:cNvSpPr/>
          <p:nvPr/>
        </p:nvSpPr>
        <p:spPr>
          <a:xfrm>
            <a:off x="4320000" y="1584000"/>
            <a:ext cx="3528000" cy="190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0000" y="1584000"/>
            <a:ext cx="90000" cy="19080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1999" y="1764000"/>
            <a:ext cx="3168000" cy="360000"/>
          </a:xfrm>
          <a:prstGeom prst="rect">
            <a:avLst/>
          </a:prstGeom>
          <a:noFill/>
        </p:spPr>
        <p:txBody>
          <a:bodyPr wrap="square" lIns="36000" rIns="36000" tIns="18000" bIns="18000" anchor="t">
            <a:spAutoFit/>
          </a:bodyPr>
          <a:lstStyle/>
          <a:p>
            <a:pPr algn="l">
              <a:lnSpc>
                <a:spcPct val="110000"/>
              </a:lnSpc>
            </a:pPr>
            <a:r>
              <a:rPr sz="1600" b="1">
                <a:solidFill>
                  <a:srgbClr val="111111"/>
                </a:solidFill>
                <a:latin typeface="Arial"/>
              </a:rPr>
              <a:t>Facebook tajplastci</a:t>
            </a:r>
          </a:p>
        </p:txBody>
      </p:sp>
      <p:sp>
        <p:nvSpPr>
          <p:cNvPr id="19" name="TextBox 18"/>
          <p:cNvSpPr txBox="1"/>
          <p:nvPr/>
        </p:nvSpPr>
        <p:spPr>
          <a:xfrm>
            <a:off x="4571999" y="2160000"/>
            <a:ext cx="3168000" cy="720000"/>
          </a:xfrm>
          <a:prstGeom prst="rect">
            <a:avLst/>
          </a:prstGeom>
          <a:noFill/>
        </p:spPr>
        <p:txBody>
          <a:bodyPr wrap="square" lIns="36000" rIns="36000" tIns="18000" bIns="18000" anchor="t">
            <a:spAutoFit/>
          </a:bodyPr>
          <a:lstStyle/>
          <a:p>
            <a:pPr algn="l">
              <a:lnSpc>
                <a:spcPct val="110000"/>
              </a:lnSpc>
            </a:pPr>
            <a:r>
              <a:rPr sz="1250" b="0">
                <a:solidFill>
                  <a:srgbClr val="5A5A5A"/>
                </a:solidFill>
                <a:latin typeface="Arial"/>
              </a:rPr>
              <a:t>11 485 abonnés · publicité en cours le 27/10</a:t>
            </a:r>
          </a:p>
        </p:txBody>
      </p:sp>
      <p:sp>
        <p:nvSpPr>
          <p:cNvPr id="20" name="Rounded Rectangle 19"/>
          <p:cNvSpPr/>
          <p:nvPr/>
        </p:nvSpPr>
        <p:spPr>
          <a:xfrm>
            <a:off x="4571999" y="2916000"/>
            <a:ext cx="1655999" cy="342000"/>
          </a:xfrm>
          <a:prstGeom prst="round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1999" y="2916000"/>
            <a:ext cx="1655999"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Arial"/>
              </a:rPr>
              <a:t>Très active</a:t>
            </a:r>
          </a:p>
        </p:txBody>
      </p:sp>
      <p:sp>
        <p:nvSpPr>
          <p:cNvPr id="22" name="Rectangle 21"/>
          <p:cNvSpPr/>
          <p:nvPr/>
        </p:nvSpPr>
        <p:spPr>
          <a:xfrm>
            <a:off x="8064000" y="1584000"/>
            <a:ext cx="3528000" cy="190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64000" y="1584000"/>
            <a:ext cx="90000" cy="190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15999" y="1764000"/>
            <a:ext cx="3168000" cy="360000"/>
          </a:xfrm>
          <a:prstGeom prst="rect">
            <a:avLst/>
          </a:prstGeom>
          <a:noFill/>
        </p:spPr>
        <p:txBody>
          <a:bodyPr wrap="square" lIns="36000" rIns="36000" tIns="18000" bIns="18000" anchor="t">
            <a:spAutoFit/>
          </a:bodyPr>
          <a:lstStyle/>
          <a:p>
            <a:pPr algn="l">
              <a:lnSpc>
                <a:spcPct val="110000"/>
              </a:lnSpc>
            </a:pPr>
            <a:r>
              <a:rPr sz="1600" b="1">
                <a:solidFill>
                  <a:srgbClr val="111111"/>
                </a:solidFill>
                <a:latin typeface="Arial"/>
              </a:rPr>
              <a:t>Boutique Jumia</a:t>
            </a:r>
          </a:p>
        </p:txBody>
      </p:sp>
      <p:sp>
        <p:nvSpPr>
          <p:cNvPr id="25" name="TextBox 24"/>
          <p:cNvSpPr txBox="1"/>
          <p:nvPr/>
        </p:nvSpPr>
        <p:spPr>
          <a:xfrm>
            <a:off x="8315999" y="2160000"/>
            <a:ext cx="3168000" cy="720000"/>
          </a:xfrm>
          <a:prstGeom prst="rect">
            <a:avLst/>
          </a:prstGeom>
          <a:noFill/>
        </p:spPr>
        <p:txBody>
          <a:bodyPr wrap="square" lIns="36000" rIns="36000" tIns="18000" bIns="18000" anchor="t">
            <a:spAutoFit/>
          </a:bodyPr>
          <a:lstStyle/>
          <a:p>
            <a:pPr algn="l">
              <a:lnSpc>
                <a:spcPct val="110000"/>
              </a:lnSpc>
            </a:pPr>
            <a:r>
              <a:rPr sz="1250" b="0">
                <a:solidFill>
                  <a:srgbClr val="5A5A5A"/>
                </a:solidFill>
                <a:latin typeface="Arial"/>
              </a:rPr>
              <a:t>Lien sur la page Facebook</a:t>
            </a:r>
          </a:p>
        </p:txBody>
      </p:sp>
      <p:sp>
        <p:nvSpPr>
          <p:cNvPr id="26" name="Rounded Rectangle 25"/>
          <p:cNvSpPr/>
          <p:nvPr/>
        </p:nvSpPr>
        <p:spPr>
          <a:xfrm>
            <a:off x="8315999" y="2916000"/>
            <a:ext cx="1655999" cy="342000"/>
          </a:xfrm>
          <a:prstGeom prst="round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15999" y="2916000"/>
            <a:ext cx="1655999"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Arial"/>
              </a:rPr>
              <a:t>Absente du site</a:t>
            </a:r>
          </a:p>
        </p:txBody>
      </p:sp>
      <p:sp>
        <p:nvSpPr>
          <p:cNvPr id="28" name="Rectangle 27"/>
          <p:cNvSpPr/>
          <p:nvPr/>
        </p:nvSpPr>
        <p:spPr>
          <a:xfrm>
            <a:off x="576000" y="3708000"/>
            <a:ext cx="3528000" cy="190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76000" y="3708000"/>
            <a:ext cx="90000" cy="190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999" y="3888000"/>
            <a:ext cx="3168000" cy="360000"/>
          </a:xfrm>
          <a:prstGeom prst="rect">
            <a:avLst/>
          </a:prstGeom>
          <a:noFill/>
        </p:spPr>
        <p:txBody>
          <a:bodyPr wrap="square" lIns="36000" rIns="36000" tIns="18000" bIns="18000" anchor="t">
            <a:spAutoFit/>
          </a:bodyPr>
          <a:lstStyle/>
          <a:p>
            <a:pPr algn="l">
              <a:lnSpc>
                <a:spcPct val="110000"/>
              </a:lnSpc>
            </a:pPr>
            <a:r>
              <a:rPr sz="1600" b="1">
                <a:solidFill>
                  <a:srgbClr val="111111"/>
                </a:solidFill>
                <a:latin typeface="Arial"/>
              </a:rPr>
              <a:t>LinkedIn TAJ PLAST</a:t>
            </a:r>
          </a:p>
        </p:txBody>
      </p:sp>
      <p:sp>
        <p:nvSpPr>
          <p:cNvPr id="31" name="TextBox 30"/>
          <p:cNvSpPr txBox="1"/>
          <p:nvPr/>
        </p:nvSpPr>
        <p:spPr>
          <a:xfrm>
            <a:off x="827999" y="4284000"/>
            <a:ext cx="3168000" cy="720000"/>
          </a:xfrm>
          <a:prstGeom prst="rect">
            <a:avLst/>
          </a:prstGeom>
          <a:noFill/>
        </p:spPr>
        <p:txBody>
          <a:bodyPr wrap="square" lIns="36000" rIns="36000" tIns="18000" bIns="18000" anchor="t">
            <a:spAutoFit/>
          </a:bodyPr>
          <a:lstStyle/>
          <a:p>
            <a:pPr algn="l">
              <a:lnSpc>
                <a:spcPct val="110000"/>
              </a:lnSpc>
            </a:pPr>
            <a:r>
              <a:rPr sz="1250" b="0">
                <a:solidFill>
                  <a:srgbClr val="5A5A5A"/>
                </a:solidFill>
                <a:latin typeface="Arial"/>
              </a:rPr>
              <a:t>1 515 abonnés · 45 salariés inscrits</a:t>
            </a:r>
          </a:p>
        </p:txBody>
      </p:sp>
      <p:sp>
        <p:nvSpPr>
          <p:cNvPr id="32" name="Rounded Rectangle 31"/>
          <p:cNvSpPr/>
          <p:nvPr/>
        </p:nvSpPr>
        <p:spPr>
          <a:xfrm>
            <a:off x="827999" y="5040000"/>
            <a:ext cx="1655999" cy="342000"/>
          </a:xfrm>
          <a:prstGeom prst="round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999" y="5040000"/>
            <a:ext cx="1655999"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Arial"/>
              </a:rPr>
              <a:t>Quasi à l'arrêt</a:t>
            </a:r>
          </a:p>
        </p:txBody>
      </p:sp>
      <p:sp>
        <p:nvSpPr>
          <p:cNvPr id="34" name="Rectangle 33"/>
          <p:cNvSpPr/>
          <p:nvPr/>
        </p:nvSpPr>
        <p:spPr>
          <a:xfrm>
            <a:off x="4320000" y="3708000"/>
            <a:ext cx="3528000" cy="190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20000" y="3708000"/>
            <a:ext cx="90000" cy="190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1999" y="3888000"/>
            <a:ext cx="3168000" cy="360000"/>
          </a:xfrm>
          <a:prstGeom prst="rect">
            <a:avLst/>
          </a:prstGeom>
          <a:noFill/>
        </p:spPr>
        <p:txBody>
          <a:bodyPr wrap="square" lIns="36000" rIns="36000" tIns="18000" bIns="18000" anchor="t">
            <a:spAutoFit/>
          </a:bodyPr>
          <a:lstStyle/>
          <a:p>
            <a:pPr algn="l">
              <a:lnSpc>
                <a:spcPct val="110000"/>
              </a:lnSpc>
            </a:pPr>
            <a:r>
              <a:rPr sz="1600" b="1">
                <a:solidFill>
                  <a:srgbClr val="111111"/>
                </a:solidFill>
                <a:latin typeface="Arial"/>
              </a:rPr>
              <a:t>Instagram tajplast</a:t>
            </a:r>
          </a:p>
        </p:txBody>
      </p:sp>
      <p:sp>
        <p:nvSpPr>
          <p:cNvPr id="37" name="TextBox 36"/>
          <p:cNvSpPr txBox="1"/>
          <p:nvPr/>
        </p:nvSpPr>
        <p:spPr>
          <a:xfrm>
            <a:off x="4571999" y="4284000"/>
            <a:ext cx="3168000" cy="720000"/>
          </a:xfrm>
          <a:prstGeom prst="rect">
            <a:avLst/>
          </a:prstGeom>
          <a:noFill/>
        </p:spPr>
        <p:txBody>
          <a:bodyPr wrap="square" lIns="36000" rIns="36000" tIns="18000" bIns="18000" anchor="t">
            <a:spAutoFit/>
          </a:bodyPr>
          <a:lstStyle/>
          <a:p>
            <a:pPr algn="l">
              <a:lnSpc>
                <a:spcPct val="110000"/>
              </a:lnSpc>
            </a:pPr>
            <a:r>
              <a:rPr sz="1250" b="0">
                <a:solidFill>
                  <a:srgbClr val="5A5A5A"/>
                </a:solidFill>
                <a:latin typeface="Arial"/>
              </a:rPr>
              <a:t>268 abonnés · aucune présentation, aucun lien</a:t>
            </a:r>
          </a:p>
        </p:txBody>
      </p:sp>
      <p:sp>
        <p:nvSpPr>
          <p:cNvPr id="38" name="Rounded Rectangle 37"/>
          <p:cNvSpPr/>
          <p:nvPr/>
        </p:nvSpPr>
        <p:spPr>
          <a:xfrm>
            <a:off x="4571999" y="5040000"/>
            <a:ext cx="1655999" cy="342000"/>
          </a:xfrm>
          <a:prstGeom prst="round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1999" y="5040000"/>
            <a:ext cx="1655999"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Arial"/>
              </a:rPr>
              <a:t>À l'arrêt</a:t>
            </a:r>
          </a:p>
        </p:txBody>
      </p:sp>
      <p:sp>
        <p:nvSpPr>
          <p:cNvPr id="40" name="Rectangle 39"/>
          <p:cNvSpPr/>
          <p:nvPr/>
        </p:nvSpPr>
        <p:spPr>
          <a:xfrm>
            <a:off x="8064000" y="3708000"/>
            <a:ext cx="3528000" cy="190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64000" y="3708000"/>
            <a:ext cx="90000" cy="190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15999" y="3888000"/>
            <a:ext cx="3168000" cy="360000"/>
          </a:xfrm>
          <a:prstGeom prst="rect">
            <a:avLst/>
          </a:prstGeom>
          <a:noFill/>
        </p:spPr>
        <p:txBody>
          <a:bodyPr wrap="square" lIns="36000" rIns="36000" tIns="18000" bIns="18000" anchor="t">
            <a:spAutoFit/>
          </a:bodyPr>
          <a:lstStyle/>
          <a:p>
            <a:pPr algn="l">
              <a:lnSpc>
                <a:spcPct val="110000"/>
              </a:lnSpc>
            </a:pPr>
            <a:r>
              <a:rPr sz="1600" b="1">
                <a:solidFill>
                  <a:srgbClr val="111111"/>
                </a:solidFill>
                <a:latin typeface="Arial"/>
              </a:rPr>
              <a:t>WhatsApp</a:t>
            </a:r>
          </a:p>
        </p:txBody>
      </p:sp>
      <p:sp>
        <p:nvSpPr>
          <p:cNvPr id="43" name="TextBox 42"/>
          <p:cNvSpPr txBox="1"/>
          <p:nvPr/>
        </p:nvSpPr>
        <p:spPr>
          <a:xfrm>
            <a:off x="8315999" y="4284000"/>
            <a:ext cx="3168000" cy="720000"/>
          </a:xfrm>
          <a:prstGeom prst="rect">
            <a:avLst/>
          </a:prstGeom>
          <a:noFill/>
        </p:spPr>
        <p:txBody>
          <a:bodyPr wrap="square" lIns="36000" rIns="36000" tIns="18000" bIns="18000" anchor="t">
            <a:spAutoFit/>
          </a:bodyPr>
          <a:lstStyle/>
          <a:p>
            <a:pPr algn="l">
              <a:lnSpc>
                <a:spcPct val="110000"/>
              </a:lnSpc>
            </a:pPr>
            <a:r>
              <a:rPr sz="1250" b="0">
                <a:solidFill>
                  <a:srgbClr val="5A5A5A"/>
                </a:solidFill>
                <a:latin typeface="Arial"/>
              </a:rPr>
              <a:t>05 54 15 35 35 cité dans les posts</a:t>
            </a:r>
          </a:p>
        </p:txBody>
      </p:sp>
      <p:sp>
        <p:nvSpPr>
          <p:cNvPr id="44" name="Rounded Rectangle 43"/>
          <p:cNvSpPr/>
          <p:nvPr/>
        </p:nvSpPr>
        <p:spPr>
          <a:xfrm>
            <a:off x="8315999" y="5040000"/>
            <a:ext cx="1655999" cy="342000"/>
          </a:xfrm>
          <a:prstGeom prst="round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315999" y="5040000"/>
            <a:ext cx="1655999" cy="342000"/>
          </a:xfrm>
          <a:prstGeom prst="rect">
            <a:avLst/>
          </a:prstGeom>
          <a:noFill/>
        </p:spPr>
        <p:txBody>
          <a:bodyPr wrap="square" lIns="36000" rIns="36000" tIns="18000" bIns="18000" anchor="ctr">
            <a:spAutoFit/>
          </a:bodyPr>
          <a:lstStyle/>
          <a:p>
            <a:pPr algn="ctr">
              <a:lnSpc>
                <a:spcPct val="110000"/>
              </a:lnSpc>
            </a:pPr>
            <a:r>
              <a:rPr sz="1100" b="1">
                <a:solidFill>
                  <a:srgbClr val="FFFFFF"/>
                </a:solidFill>
                <a:latin typeface="Arial"/>
              </a:rPr>
              <a:t>Pas de lien direct</a:t>
            </a:r>
          </a:p>
        </p:txBody>
      </p:sp>
      <p:sp>
        <p:nvSpPr>
          <p:cNvPr id="46" name="TextBox 45"/>
          <p:cNvSpPr txBox="1"/>
          <p:nvPr/>
        </p:nvSpPr>
        <p:spPr>
          <a:xfrm>
            <a:off x="576000" y="6228000"/>
            <a:ext cx="10800000" cy="251999"/>
          </a:xfrm>
          <a:prstGeom prst="rect">
            <a:avLst/>
          </a:prstGeom>
          <a:noFill/>
        </p:spPr>
        <p:txBody>
          <a:bodyPr wrap="square" lIns="36000" rIns="36000" tIns="18000" bIns="18000" anchor="t">
            <a:spAutoFit/>
          </a:bodyPr>
          <a:lstStyle/>
          <a:p>
            <a:pPr algn="l">
              <a:lnSpc>
                <a:spcPct val="110000"/>
              </a:lnSpc>
            </a:pPr>
            <a:r>
              <a:rPr sz="1000" b="0">
                <a:solidFill>
                  <a:srgbClr val="5A5A5A"/>
                </a:solidFill>
                <a:latin typeface="Arial"/>
              </a:rPr>
              <a:t>La page Facebook renvoie d'abord vers Jumia, puis vers le site. Le site, lui, ne renvoie ni vers Jumia, ni vers WhatsApp, ni vers Instagram ou LinkedIn.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LE SITE</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Le site : une vitrine qui n'est pas finie</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5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pic>
        <p:nvPicPr>
          <p:cNvPr id="10" name="Picture 9" descr="site_lorem.png"/>
          <p:cNvPicPr>
            <a:picLocks noChangeAspect="1"/>
          </p:cNvPicPr>
          <p:nvPr/>
        </p:nvPicPr>
        <p:blipFill>
          <a:blip r:embed="rId3"/>
          <a:stretch>
            <a:fillRect/>
          </a:stretch>
        </p:blipFill>
        <p:spPr>
          <a:xfrm>
            <a:off x="576000" y="1632284"/>
            <a:ext cx="5940000" cy="2207432"/>
          </a:xfrm>
          <a:prstGeom prst="rect">
            <a:avLst/>
          </a:prstGeom>
        </p:spPr>
      </p:pic>
      <p:sp>
        <p:nvSpPr>
          <p:cNvPr id="11" name="TextBox 10"/>
          <p:cNvSpPr txBox="1"/>
          <p:nvPr/>
        </p:nvSpPr>
        <p:spPr>
          <a:xfrm>
            <a:off x="576000" y="3924000"/>
            <a:ext cx="5940000" cy="288000"/>
          </a:xfrm>
          <a:prstGeom prst="rect">
            <a:avLst/>
          </a:prstGeom>
          <a:noFill/>
        </p:spPr>
        <p:txBody>
          <a:bodyPr wrap="square" lIns="36000" rIns="36000" tIns="18000" bIns="18000" anchor="t">
            <a:spAutoFit/>
          </a:bodyPr>
          <a:lstStyle/>
          <a:p>
            <a:pPr algn="l">
              <a:lnSpc>
                <a:spcPct val="110000"/>
              </a:lnSpc>
            </a:pPr>
            <a:r>
              <a:rPr sz="1000" b="0">
                <a:solidFill>
                  <a:srgbClr val="5A5A5A"/>
                </a:solidFill>
                <a:latin typeface="Arial"/>
              </a:rPr>
              <a:t>Page d'accueil, le 27 octobre 2026 : les quatre rubriques sont décrites en latin de remplissage.</a:t>
            </a:r>
          </a:p>
        </p:txBody>
      </p:sp>
      <p:sp>
        <p:nvSpPr>
          <p:cNvPr id="12" name="Rectangle 11"/>
          <p:cNvSpPr/>
          <p:nvPr/>
        </p:nvSpPr>
        <p:spPr>
          <a:xfrm>
            <a:off x="576000" y="4320000"/>
            <a:ext cx="5940000" cy="1548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2000" y="4428000"/>
            <a:ext cx="5580000" cy="1440000"/>
          </a:xfrm>
          <a:prstGeom prst="rect">
            <a:avLst/>
          </a:prstGeom>
          <a:noFill/>
        </p:spPr>
        <p:txBody>
          <a:bodyPr wrap="square" lIns="36000" rIns="36000" tIns="18000" bIns="18000" anchor="t">
            <a:spAutoFit/>
          </a:bodyPr>
          <a:lstStyle/>
          <a:p>
            <a:pPr algn="l">
              <a:lnSpc>
                <a:spcPct val="110000"/>
              </a:lnSpc>
            </a:pPr>
            <a:r>
              <a:rPr sz="1300" b="1">
                <a:solidFill>
                  <a:srgbClr val="E84E0E"/>
                </a:solidFill>
                <a:latin typeface="Arial"/>
              </a:rPr>
              <a:t>Pourquoi c'est grave</a:t>
            </a:r>
          </a:p>
          <a:p>
            <a:pPr algn="l">
              <a:lnSpc>
                <a:spcPct val="110000"/>
              </a:lnSpc>
            </a:pPr>
            <a:r>
              <a:rPr sz="1200" b="0">
                <a:solidFill>
                  <a:srgbClr val="FFFFFF"/>
                </a:solidFill>
                <a:latin typeface="Arial"/>
              </a:rPr>
              <a:t>Un acheteur de grande surface qui vérifie TAJ PLAST après un salon tombe sur du faux texte. Il en conclut que l'entreprise ne suit pas ses outils, et se demande si elle suivra ses commandes.</a:t>
            </a:r>
          </a:p>
        </p:txBody>
      </p:sp>
      <p:sp>
        <p:nvSpPr>
          <p:cNvPr id="14" name="TextBox 13"/>
          <p:cNvSpPr txBox="1"/>
          <p:nvPr/>
        </p:nvSpPr>
        <p:spPr>
          <a:xfrm>
            <a:off x="6912000" y="1548000"/>
            <a:ext cx="4680000" cy="360000"/>
          </a:xfrm>
          <a:prstGeom prst="rect">
            <a:avLst/>
          </a:prstGeom>
          <a:noFill/>
        </p:spPr>
        <p:txBody>
          <a:bodyPr wrap="square" lIns="36000" rIns="36000" tIns="18000" bIns="18000" anchor="t">
            <a:spAutoFit/>
          </a:bodyPr>
          <a:lstStyle/>
          <a:p>
            <a:pPr algn="l">
              <a:lnSpc>
                <a:spcPct val="110000"/>
              </a:lnSpc>
            </a:pPr>
            <a:r>
              <a:rPr sz="1500" b="1">
                <a:solidFill>
                  <a:srgbClr val="E84E0E"/>
                </a:solidFill>
                <a:latin typeface="Arial"/>
              </a:rPr>
              <a:t>Ce qui coince</a:t>
            </a:r>
          </a:p>
        </p:txBody>
      </p:sp>
      <p:sp>
        <p:nvSpPr>
          <p:cNvPr id="15" name="TextBox 14"/>
          <p:cNvSpPr txBox="1"/>
          <p:nvPr/>
        </p:nvSpPr>
        <p:spPr>
          <a:xfrm>
            <a:off x="6912000" y="1944000"/>
            <a:ext cx="4680000" cy="3960000"/>
          </a:xfrm>
          <a:prstGeom prst="rect">
            <a:avLst/>
          </a:prstGeom>
          <a:noFill/>
        </p:spPr>
        <p:txBody>
          <a:bodyPr wrap="square">
            <a:spAutoFit/>
          </a:bodyPr>
          <a:lstStyle/>
          <a:p>
            <a:pPr>
              <a:lnSpc>
                <a:spcPct val="110000"/>
              </a:lnSpc>
              <a:spcAft>
                <a:spcPts val="700"/>
              </a:spcAft>
            </a:pPr>
            <a:r>
              <a:rPr sz="800">
                <a:solidFill>
                  <a:srgbClr val="E84E0E"/>
                </a:solidFill>
                <a:latin typeface="Arial"/>
              </a:rPr>
              <a:t>■  </a:t>
            </a:r>
            <a:r>
              <a:rPr b="1" sz="1200">
                <a:solidFill>
                  <a:srgbClr val="111111"/>
                </a:solidFill>
                <a:latin typeface="Arial"/>
              </a:rPr>
              <a:t>7 blocs de latin </a:t>
            </a:r>
            <a:r>
              <a:rPr sz="1200">
                <a:solidFill>
                  <a:srgbClr val="111111"/>
                </a:solidFill>
                <a:latin typeface="Arial"/>
              </a:rPr>
              <a:t>sur l'accueil : rubriques, préformes, bouteilles PET, impression.</a:t>
            </a:r>
          </a:p>
          <a:p>
            <a:pPr>
              <a:lnSpc>
                <a:spcPct val="110000"/>
              </a:lnSpc>
              <a:spcAft>
                <a:spcPts val="700"/>
              </a:spcAft>
            </a:pPr>
            <a:r>
              <a:rPr sz="800">
                <a:solidFill>
                  <a:srgbClr val="E84E0E"/>
                </a:solidFill>
                <a:latin typeface="Arial"/>
              </a:rPr>
              <a:t>■  </a:t>
            </a:r>
            <a:r>
              <a:rPr b="1" sz="1200">
                <a:solidFill>
                  <a:srgbClr val="111111"/>
                </a:solidFill>
                <a:latin typeface="Arial"/>
              </a:rPr>
              <a:t>4 icônes mortes : </a:t>
            </a:r>
            <a:r>
              <a:rPr sz="1200">
                <a:solidFill>
                  <a:srgbClr val="111111"/>
                </a:solidFill>
                <a:latin typeface="Arial"/>
              </a:rPr>
              <a:t>LinkedIn, WhatsApp, Instagram et Google+ (service fermé depuis 2019).</a:t>
            </a:r>
          </a:p>
          <a:p>
            <a:pPr>
              <a:lnSpc>
                <a:spcPct val="110000"/>
              </a:lnSpc>
              <a:spcAft>
                <a:spcPts val="700"/>
              </a:spcAft>
            </a:pPr>
            <a:r>
              <a:rPr sz="800">
                <a:solidFill>
                  <a:srgbClr val="E84E0E"/>
                </a:solidFill>
                <a:latin typeface="Arial"/>
              </a:rPr>
              <a:t>■  </a:t>
            </a:r>
            <a:r>
              <a:rPr b="1" sz="1200">
                <a:solidFill>
                  <a:srgbClr val="111111"/>
                </a:solidFill>
                <a:latin typeface="Arial"/>
              </a:rPr>
              <a:t>Lien e-mail cassé : </a:t>
            </a:r>
            <a:r>
              <a:rPr sz="1200">
                <a:solidFill>
                  <a:srgbClr val="111111"/>
                </a:solidFill>
                <a:latin typeface="Arial"/>
              </a:rPr>
              <a:t>il ouvre une page web au lieu d'un message.</a:t>
            </a:r>
          </a:p>
          <a:p>
            <a:pPr>
              <a:lnSpc>
                <a:spcPct val="110000"/>
              </a:lnSpc>
              <a:spcAft>
                <a:spcPts val="700"/>
              </a:spcAft>
            </a:pPr>
            <a:r>
              <a:rPr sz="800">
                <a:solidFill>
                  <a:srgbClr val="E84E0E"/>
                </a:solidFill>
                <a:latin typeface="Arial"/>
              </a:rPr>
              <a:t>■  </a:t>
            </a:r>
            <a:r>
              <a:rPr b="1" sz="1200">
                <a:solidFill>
                  <a:srgbClr val="111111"/>
                </a:solidFill>
                <a:latin typeface="Arial"/>
              </a:rPr>
              <a:t>Ni Jumia, ni bouton WhatsApp : </a:t>
            </a:r>
            <a:r>
              <a:rPr sz="1200">
                <a:solidFill>
                  <a:srgbClr val="111111"/>
                </a:solidFill>
                <a:latin typeface="Arial"/>
              </a:rPr>
              <a:t>le visiteur ne peut pas acheter ni écrire en un clic.</a:t>
            </a:r>
          </a:p>
          <a:p>
            <a:pPr>
              <a:lnSpc>
                <a:spcPct val="110000"/>
              </a:lnSpc>
              <a:spcAft>
                <a:spcPts val="700"/>
              </a:spcAft>
            </a:pPr>
            <a:r>
              <a:rPr sz="800">
                <a:solidFill>
                  <a:srgbClr val="E84E0E"/>
                </a:solidFill>
                <a:latin typeface="Arial"/>
              </a:rPr>
              <a:t>■  </a:t>
            </a:r>
            <a:r>
              <a:rPr b="1" sz="1200">
                <a:solidFill>
                  <a:srgbClr val="111111"/>
                </a:solidFill>
                <a:latin typeface="Arial"/>
              </a:rPr>
              <a:t>Taj Recyclage </a:t>
            </a:r>
            <a:r>
              <a:rPr sz="1200">
                <a:solidFill>
                  <a:srgbClr val="111111"/>
                </a:solidFill>
                <a:latin typeface="Arial"/>
              </a:rPr>
              <a:t>tient en trois phrases, sans page dédiée.</a:t>
            </a:r>
          </a:p>
          <a:p>
            <a:pPr>
              <a:lnSpc>
                <a:spcPct val="110000"/>
              </a:lnSpc>
              <a:spcAft>
                <a:spcPts val="700"/>
              </a:spcAft>
            </a:pPr>
            <a:r>
              <a:rPr sz="800">
                <a:solidFill>
                  <a:srgbClr val="E84E0E"/>
                </a:solidFill>
                <a:latin typeface="Arial"/>
              </a:rPr>
              <a:t>■  </a:t>
            </a:r>
            <a:r>
              <a:rPr b="1" sz="1200">
                <a:solidFill>
                  <a:srgbClr val="111111"/>
                </a:solidFill>
                <a:latin typeface="Arial"/>
              </a:rPr>
              <a:t>Rien pour les moteurs de recherche : </a:t>
            </a:r>
            <a:r>
              <a:rPr sz="1200">
                <a:solidFill>
                  <a:srgbClr val="111111"/>
                </a:solidFill>
                <a:latin typeface="Arial"/>
              </a:rPr>
              <a:t>ni titre principal ni description de page.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NOS RÉSEAUX</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Facebook : beaucoup de posts, très peu d'écho</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6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ectangle 9"/>
          <p:cNvSpPr/>
          <p:nvPr/>
        </p:nvSpPr>
        <p:spPr>
          <a:xfrm>
            <a:off x="576000" y="1584000"/>
            <a:ext cx="2628000" cy="1116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1674000"/>
            <a:ext cx="2340000" cy="576000"/>
          </a:xfrm>
          <a:prstGeom prst="rect">
            <a:avLst/>
          </a:prstGeom>
          <a:noFill/>
        </p:spPr>
        <p:txBody>
          <a:bodyPr wrap="square" lIns="36000" rIns="36000" tIns="18000" bIns="18000" anchor="t">
            <a:spAutoFit/>
          </a:bodyPr>
          <a:lstStyle/>
          <a:p>
            <a:pPr algn="l">
              <a:lnSpc>
                <a:spcPct val="110000"/>
              </a:lnSpc>
            </a:pPr>
            <a:r>
              <a:rPr sz="3000" b="1">
                <a:solidFill>
                  <a:srgbClr val="E84E0E"/>
                </a:solidFill>
                <a:latin typeface="Arial"/>
              </a:rPr>
              <a:t>≈ 22</a:t>
            </a:r>
          </a:p>
        </p:txBody>
      </p:sp>
      <p:sp>
        <p:nvSpPr>
          <p:cNvPr id="12" name="TextBox 11"/>
          <p:cNvSpPr txBox="1"/>
          <p:nvPr/>
        </p:nvSpPr>
        <p:spPr>
          <a:xfrm>
            <a:off x="720000" y="2250000"/>
            <a:ext cx="2340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posts par semaine (25 en 8 jours)</a:t>
            </a:r>
          </a:p>
        </p:txBody>
      </p:sp>
      <p:sp>
        <p:nvSpPr>
          <p:cNvPr id="13" name="Rectangle 12"/>
          <p:cNvSpPr/>
          <p:nvPr/>
        </p:nvSpPr>
        <p:spPr>
          <a:xfrm>
            <a:off x="3348000" y="1584000"/>
            <a:ext cx="2628000" cy="1116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92000" y="1674000"/>
            <a:ext cx="2340000" cy="576000"/>
          </a:xfrm>
          <a:prstGeom prst="rect">
            <a:avLst/>
          </a:prstGeom>
          <a:noFill/>
        </p:spPr>
        <p:txBody>
          <a:bodyPr wrap="square" lIns="36000" rIns="36000" tIns="18000" bIns="18000" anchor="t">
            <a:spAutoFit/>
          </a:bodyPr>
          <a:lstStyle/>
          <a:p>
            <a:pPr algn="l">
              <a:lnSpc>
                <a:spcPct val="110000"/>
              </a:lnSpc>
            </a:pPr>
            <a:r>
              <a:rPr sz="3000" b="1">
                <a:solidFill>
                  <a:srgbClr val="E84E0E"/>
                </a:solidFill>
                <a:latin typeface="Arial"/>
              </a:rPr>
              <a:t>3</a:t>
            </a:r>
          </a:p>
        </p:txBody>
      </p:sp>
      <p:sp>
        <p:nvSpPr>
          <p:cNvPr id="15" name="TextBox 14"/>
          <p:cNvSpPr txBox="1"/>
          <p:nvPr/>
        </p:nvSpPr>
        <p:spPr>
          <a:xfrm>
            <a:off x="3492000" y="2250000"/>
            <a:ext cx="2340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interactions par post, en médiane</a:t>
            </a:r>
          </a:p>
        </p:txBody>
      </p:sp>
      <p:sp>
        <p:nvSpPr>
          <p:cNvPr id="16" name="Rectangle 15"/>
          <p:cNvSpPr/>
          <p:nvPr/>
        </p:nvSpPr>
        <p:spPr>
          <a:xfrm>
            <a:off x="576000" y="2844000"/>
            <a:ext cx="2628000" cy="1116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000" y="2934000"/>
            <a:ext cx="2340000" cy="576000"/>
          </a:xfrm>
          <a:prstGeom prst="rect">
            <a:avLst/>
          </a:prstGeom>
          <a:noFill/>
        </p:spPr>
        <p:txBody>
          <a:bodyPr wrap="square" lIns="36000" rIns="36000" tIns="18000" bIns="18000" anchor="t">
            <a:spAutoFit/>
          </a:bodyPr>
          <a:lstStyle/>
          <a:p>
            <a:pPr algn="l">
              <a:lnSpc>
                <a:spcPct val="110000"/>
              </a:lnSpc>
            </a:pPr>
            <a:r>
              <a:rPr sz="3000" b="1">
                <a:solidFill>
                  <a:srgbClr val="111111"/>
                </a:solidFill>
                <a:latin typeface="Arial"/>
              </a:rPr>
              <a:t>0</a:t>
            </a:r>
          </a:p>
        </p:txBody>
      </p:sp>
      <p:sp>
        <p:nvSpPr>
          <p:cNvPr id="18" name="TextBox 17"/>
          <p:cNvSpPr txBox="1"/>
          <p:nvPr/>
        </p:nvSpPr>
        <p:spPr>
          <a:xfrm>
            <a:off x="720000" y="3510000"/>
            <a:ext cx="2340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vidéo sur les 25 derniers posts</a:t>
            </a:r>
          </a:p>
        </p:txBody>
      </p:sp>
      <p:sp>
        <p:nvSpPr>
          <p:cNvPr id="19" name="Rectangle 18"/>
          <p:cNvSpPr/>
          <p:nvPr/>
        </p:nvSpPr>
        <p:spPr>
          <a:xfrm>
            <a:off x="3348000" y="2844000"/>
            <a:ext cx="2628000" cy="1116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92000" y="2934000"/>
            <a:ext cx="2340000" cy="576000"/>
          </a:xfrm>
          <a:prstGeom prst="rect">
            <a:avLst/>
          </a:prstGeom>
          <a:noFill/>
        </p:spPr>
        <p:txBody>
          <a:bodyPr wrap="square" lIns="36000" rIns="36000" tIns="18000" bIns="18000" anchor="t">
            <a:spAutoFit/>
          </a:bodyPr>
          <a:lstStyle/>
          <a:p>
            <a:pPr algn="l">
              <a:lnSpc>
                <a:spcPct val="110000"/>
              </a:lnSpc>
            </a:pPr>
            <a:r>
              <a:rPr sz="3000" b="1">
                <a:solidFill>
                  <a:srgbClr val="111111"/>
                </a:solidFill>
                <a:latin typeface="Arial"/>
              </a:rPr>
              <a:t>23 / 25</a:t>
            </a:r>
          </a:p>
        </p:txBody>
      </p:sp>
      <p:sp>
        <p:nvSpPr>
          <p:cNvPr id="21" name="TextBox 20"/>
          <p:cNvSpPr txBox="1"/>
          <p:nvPr/>
        </p:nvSpPr>
        <p:spPr>
          <a:xfrm>
            <a:off x="3492000" y="3510000"/>
            <a:ext cx="2340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posts qui commencent par le bloc téléphone</a:t>
            </a:r>
          </a:p>
        </p:txBody>
      </p:sp>
      <p:sp>
        <p:nvSpPr>
          <p:cNvPr id="22" name="TextBox 21"/>
          <p:cNvSpPr txBox="1"/>
          <p:nvPr/>
        </p:nvSpPr>
        <p:spPr>
          <a:xfrm>
            <a:off x="576000" y="4176000"/>
            <a:ext cx="5472000" cy="1800000"/>
          </a:xfrm>
          <a:prstGeom prst="rect">
            <a:avLst/>
          </a:prstGeom>
          <a:noFill/>
        </p:spPr>
        <p:txBody>
          <a:bodyPr wrap="square">
            <a:spAutoFit/>
          </a:bodyPr>
          <a:lstStyle/>
          <a:p>
            <a:pPr>
              <a:lnSpc>
                <a:spcPct val="110000"/>
              </a:lnSpc>
              <a:spcAft>
                <a:spcPts val="700"/>
              </a:spcAft>
            </a:pPr>
            <a:r>
              <a:rPr sz="750">
                <a:solidFill>
                  <a:srgbClr val="E84E0E"/>
                </a:solidFill>
                <a:latin typeface="Arial"/>
              </a:rPr>
              <a:t>■  </a:t>
            </a:r>
            <a:r>
              <a:rPr b="1" sz="1150">
                <a:solidFill>
                  <a:srgbClr val="111111"/>
                </a:solidFill>
                <a:latin typeface="Arial"/>
              </a:rPr>
              <a:t>Le texte est toujours le même : </a:t>
            </a:r>
            <a:r>
              <a:rPr sz="1150">
                <a:solidFill>
                  <a:srgbClr val="111111"/>
                </a:solidFill>
                <a:latin typeface="Arial"/>
              </a:rPr>
              <a:t>numéros, e-mail, deux mots-dièse. Aucune question, aucune histoire, aucun prix.</a:t>
            </a:r>
          </a:p>
          <a:p>
            <a:pPr>
              <a:lnSpc>
                <a:spcPct val="110000"/>
              </a:lnSpc>
              <a:spcAft>
                <a:spcPts val="700"/>
              </a:spcAft>
            </a:pPr>
            <a:r>
              <a:rPr sz="750">
                <a:solidFill>
                  <a:srgbClr val="E84E0E"/>
                </a:solidFill>
                <a:latin typeface="Arial"/>
              </a:rPr>
              <a:t>■  </a:t>
            </a:r>
            <a:r>
              <a:rPr b="1" sz="1150">
                <a:solidFill>
                  <a:srgbClr val="111111"/>
                </a:solidFill>
                <a:latin typeface="Arial"/>
              </a:rPr>
              <a:t>Les visuels sont soignés </a:t>
            </a:r>
            <a:r>
              <a:rPr sz="1150">
                <a:solidFill>
                  <a:srgbClr val="111111"/>
                </a:solidFill>
                <a:latin typeface="Arial"/>
              </a:rPr>
              <a:t>(produit en situation, nom en gros), mais souvent générés et sans personne réelle de TAJ PLAST.</a:t>
            </a:r>
          </a:p>
          <a:p>
            <a:pPr>
              <a:lnSpc>
                <a:spcPct val="110000"/>
              </a:lnSpc>
              <a:spcAft>
                <a:spcPts val="700"/>
              </a:spcAft>
            </a:pPr>
            <a:r>
              <a:rPr sz="750">
                <a:solidFill>
                  <a:srgbClr val="E84E0E"/>
                </a:solidFill>
                <a:latin typeface="Arial"/>
              </a:rPr>
              <a:t>■  </a:t>
            </a:r>
            <a:r>
              <a:rPr b="1" sz="1150">
                <a:solidFill>
                  <a:srgbClr val="111111"/>
                </a:solidFill>
                <a:latin typeface="Arial"/>
              </a:rPr>
              <a:t>La page fait de la publicité : </a:t>
            </a:r>
            <a:r>
              <a:rPr sz="1150">
                <a:solidFill>
                  <a:srgbClr val="111111"/>
                </a:solidFill>
                <a:latin typeface="Arial"/>
              </a:rPr>
              <a:t>avec 3 réactions par post, l'argent dépensé ne crée pas de conversation.</a:t>
            </a:r>
          </a:p>
        </p:txBody>
      </p:sp>
      <p:pic>
        <p:nvPicPr>
          <p:cNvPr id="23" name="Picture 22" descr="tp_sheet.png"/>
          <p:cNvPicPr>
            <a:picLocks noChangeAspect="1"/>
          </p:cNvPicPr>
          <p:nvPr/>
        </p:nvPicPr>
        <p:blipFill>
          <a:blip r:embed="rId3"/>
          <a:stretch>
            <a:fillRect/>
          </a:stretch>
        </p:blipFill>
        <p:spPr>
          <a:xfrm>
            <a:off x="6263999" y="2142000"/>
            <a:ext cx="5400000" cy="2700000"/>
          </a:xfrm>
          <a:prstGeom prst="rect">
            <a:avLst/>
          </a:prstGeom>
        </p:spPr>
      </p:pic>
      <p:sp>
        <p:nvSpPr>
          <p:cNvPr id="24" name="TextBox 23"/>
          <p:cNvSpPr txBox="1"/>
          <p:nvPr/>
        </p:nvSpPr>
        <p:spPr>
          <a:xfrm>
            <a:off x="6263999" y="5436000"/>
            <a:ext cx="5400000" cy="288000"/>
          </a:xfrm>
          <a:prstGeom prst="rect">
            <a:avLst/>
          </a:prstGeom>
          <a:noFill/>
        </p:spPr>
        <p:txBody>
          <a:bodyPr wrap="square" lIns="36000" rIns="36000" tIns="18000" bIns="18000" anchor="t">
            <a:spAutoFit/>
          </a:bodyPr>
          <a:lstStyle/>
          <a:p>
            <a:pPr algn="l">
              <a:lnSpc>
                <a:spcPct val="110000"/>
              </a:lnSpc>
            </a:pPr>
            <a:r>
              <a:rPr sz="1000" b="0">
                <a:solidFill>
                  <a:srgbClr val="5A5A5A"/>
                </a:solidFill>
                <a:latin typeface="Arial"/>
              </a:rPr>
              <a:t>8 posts récents de la page TAJ PLAST (19 au 27 octobre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NOS RÉSEAUX</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LinkedIn et Instagram : ouverts, mais muets</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7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ectangle 9"/>
          <p:cNvSpPr/>
          <p:nvPr/>
        </p:nvSpPr>
        <p:spPr>
          <a:xfrm>
            <a:off x="576000" y="1584000"/>
            <a:ext cx="5400000" cy="424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2000" y="1728000"/>
            <a:ext cx="5040000" cy="360000"/>
          </a:xfrm>
          <a:prstGeom prst="rect">
            <a:avLst/>
          </a:prstGeom>
          <a:noFill/>
        </p:spPr>
        <p:txBody>
          <a:bodyPr wrap="square" lIns="36000" rIns="36000" tIns="18000" bIns="18000" anchor="t">
            <a:spAutoFit/>
          </a:bodyPr>
          <a:lstStyle/>
          <a:p>
            <a:pPr algn="l">
              <a:lnSpc>
                <a:spcPct val="110000"/>
              </a:lnSpc>
            </a:pPr>
            <a:r>
              <a:rPr sz="1800" b="1">
                <a:solidFill>
                  <a:srgbClr val="159641"/>
                </a:solidFill>
                <a:latin typeface="Arial"/>
              </a:rPr>
              <a:t>LinkedIn</a:t>
            </a:r>
          </a:p>
        </p:txBody>
      </p:sp>
      <p:sp>
        <p:nvSpPr>
          <p:cNvPr id="12" name="Rectangle 11"/>
          <p:cNvSpPr/>
          <p:nvPr/>
        </p:nvSpPr>
        <p:spPr>
          <a:xfrm>
            <a:off x="792000" y="2160000"/>
            <a:ext cx="2376000" cy="11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6000" y="2250000"/>
            <a:ext cx="2088000" cy="576000"/>
          </a:xfrm>
          <a:prstGeom prst="rect">
            <a:avLst/>
          </a:prstGeom>
          <a:noFill/>
        </p:spPr>
        <p:txBody>
          <a:bodyPr wrap="square" lIns="36000" rIns="36000" tIns="18000" bIns="18000" anchor="t">
            <a:spAutoFit/>
          </a:bodyPr>
          <a:lstStyle/>
          <a:p>
            <a:pPr algn="l">
              <a:lnSpc>
                <a:spcPct val="110000"/>
              </a:lnSpc>
            </a:pPr>
            <a:r>
              <a:rPr sz="3000" b="1">
                <a:solidFill>
                  <a:srgbClr val="159641"/>
                </a:solidFill>
                <a:latin typeface="Arial"/>
              </a:rPr>
              <a:t>1 515</a:t>
            </a:r>
          </a:p>
        </p:txBody>
      </p:sp>
      <p:sp>
        <p:nvSpPr>
          <p:cNvPr id="14" name="TextBox 13"/>
          <p:cNvSpPr txBox="1"/>
          <p:nvPr/>
        </p:nvSpPr>
        <p:spPr>
          <a:xfrm>
            <a:off x="936000" y="2826000"/>
            <a:ext cx="2088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abonnés</a:t>
            </a:r>
          </a:p>
        </p:txBody>
      </p:sp>
      <p:sp>
        <p:nvSpPr>
          <p:cNvPr id="15" name="Rectangle 14"/>
          <p:cNvSpPr/>
          <p:nvPr/>
        </p:nvSpPr>
        <p:spPr>
          <a:xfrm>
            <a:off x="3348000" y="2160000"/>
            <a:ext cx="2376000" cy="11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92000" y="2250000"/>
            <a:ext cx="2088000" cy="576000"/>
          </a:xfrm>
          <a:prstGeom prst="rect">
            <a:avLst/>
          </a:prstGeom>
          <a:noFill/>
        </p:spPr>
        <p:txBody>
          <a:bodyPr wrap="square" lIns="36000" rIns="36000" tIns="18000" bIns="18000" anchor="t">
            <a:spAutoFit/>
          </a:bodyPr>
          <a:lstStyle/>
          <a:p>
            <a:pPr algn="l">
              <a:lnSpc>
                <a:spcPct val="110000"/>
              </a:lnSpc>
            </a:pPr>
            <a:r>
              <a:rPr sz="3000" b="1">
                <a:solidFill>
                  <a:srgbClr val="159641"/>
                </a:solidFill>
                <a:latin typeface="Arial"/>
              </a:rPr>
              <a:t>1</a:t>
            </a:r>
          </a:p>
        </p:txBody>
      </p:sp>
      <p:sp>
        <p:nvSpPr>
          <p:cNvPr id="17" name="TextBox 16"/>
          <p:cNvSpPr txBox="1"/>
          <p:nvPr/>
        </p:nvSpPr>
        <p:spPr>
          <a:xfrm>
            <a:off x="3492000" y="2826000"/>
            <a:ext cx="2088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réaction par post, en médiane</a:t>
            </a:r>
          </a:p>
        </p:txBody>
      </p:sp>
      <p:sp>
        <p:nvSpPr>
          <p:cNvPr id="18" name="TextBox 17"/>
          <p:cNvSpPr txBox="1"/>
          <p:nvPr/>
        </p:nvSpPr>
        <p:spPr>
          <a:xfrm>
            <a:off x="792000" y="3456000"/>
            <a:ext cx="4968000" cy="2304000"/>
          </a:xfrm>
          <a:prstGeom prst="rect">
            <a:avLst/>
          </a:prstGeom>
          <a:noFill/>
        </p:spPr>
        <p:txBody>
          <a:bodyPr wrap="square">
            <a:spAutoFit/>
          </a:bodyPr>
          <a:lstStyle/>
          <a:p>
            <a:pPr>
              <a:lnSpc>
                <a:spcPct val="110000"/>
              </a:lnSpc>
              <a:spcAft>
                <a:spcPts val="700"/>
              </a:spcAft>
            </a:pPr>
            <a:r>
              <a:rPr sz="750">
                <a:solidFill>
                  <a:srgbClr val="E84E0E"/>
                </a:solidFill>
                <a:latin typeface="Arial"/>
              </a:rPr>
              <a:t>■  </a:t>
            </a:r>
            <a:r>
              <a:rPr sz="1150">
                <a:solidFill>
                  <a:srgbClr val="111111"/>
                </a:solidFill>
                <a:latin typeface="Arial"/>
              </a:rPr>
              <a:t>Des posts produits copiés de Facebook (février 2026), puis des offres d'emploi.</a:t>
            </a:r>
          </a:p>
          <a:p>
            <a:pPr>
              <a:lnSpc>
                <a:spcPct val="110000"/>
              </a:lnSpc>
              <a:spcAft>
                <a:spcPts val="700"/>
              </a:spcAft>
            </a:pPr>
            <a:r>
              <a:rPr sz="750">
                <a:solidFill>
                  <a:srgbClr val="E84E0E"/>
                </a:solidFill>
                <a:latin typeface="Arial"/>
              </a:rPr>
              <a:t>■  </a:t>
            </a:r>
            <a:r>
              <a:rPr sz="1150">
                <a:solidFill>
                  <a:srgbClr val="111111"/>
                </a:solidFill>
                <a:latin typeface="Arial"/>
              </a:rPr>
              <a:t>Un seul post depuis avril : le salon du packaging d'octobre, avec une coquille sur le nom (« TAPLAST »).</a:t>
            </a:r>
          </a:p>
          <a:p>
            <a:pPr>
              <a:lnSpc>
                <a:spcPct val="110000"/>
              </a:lnSpc>
              <a:spcAft>
                <a:spcPts val="700"/>
              </a:spcAft>
            </a:pPr>
            <a:r>
              <a:rPr sz="750">
                <a:solidFill>
                  <a:srgbClr val="E84E0E"/>
                </a:solidFill>
                <a:latin typeface="Arial"/>
              </a:rPr>
              <a:t>■  </a:t>
            </a:r>
            <a:r>
              <a:rPr sz="1150">
                <a:solidFill>
                  <a:srgbClr val="111111"/>
                </a:solidFill>
                <a:latin typeface="Arial"/>
              </a:rPr>
              <a:t>Rien sur l'usine, les clients, Taj Recyclage : ce que cherche un acheteur.</a:t>
            </a:r>
          </a:p>
        </p:txBody>
      </p:sp>
      <p:sp>
        <p:nvSpPr>
          <p:cNvPr id="19" name="Rectangle 18"/>
          <p:cNvSpPr/>
          <p:nvPr/>
        </p:nvSpPr>
        <p:spPr>
          <a:xfrm>
            <a:off x="6192000" y="1584000"/>
            <a:ext cx="5400000" cy="4248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8000" y="1728000"/>
            <a:ext cx="5040000" cy="360000"/>
          </a:xfrm>
          <a:prstGeom prst="rect">
            <a:avLst/>
          </a:prstGeom>
          <a:noFill/>
        </p:spPr>
        <p:txBody>
          <a:bodyPr wrap="square" lIns="36000" rIns="36000" tIns="18000" bIns="18000" anchor="t">
            <a:spAutoFit/>
          </a:bodyPr>
          <a:lstStyle/>
          <a:p>
            <a:pPr algn="l">
              <a:lnSpc>
                <a:spcPct val="110000"/>
              </a:lnSpc>
            </a:pPr>
            <a:r>
              <a:rPr sz="1800" b="1">
                <a:solidFill>
                  <a:srgbClr val="E84E0E"/>
                </a:solidFill>
                <a:latin typeface="Arial"/>
              </a:rPr>
              <a:t>Instagram</a:t>
            </a:r>
          </a:p>
        </p:txBody>
      </p:sp>
      <p:sp>
        <p:nvSpPr>
          <p:cNvPr id="21" name="Rectangle 20"/>
          <p:cNvSpPr/>
          <p:nvPr/>
        </p:nvSpPr>
        <p:spPr>
          <a:xfrm>
            <a:off x="6408000" y="2160000"/>
            <a:ext cx="2376000" cy="11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2000" y="2250000"/>
            <a:ext cx="2088000" cy="576000"/>
          </a:xfrm>
          <a:prstGeom prst="rect">
            <a:avLst/>
          </a:prstGeom>
          <a:noFill/>
        </p:spPr>
        <p:txBody>
          <a:bodyPr wrap="square" lIns="36000" rIns="36000" tIns="18000" bIns="18000" anchor="t">
            <a:spAutoFit/>
          </a:bodyPr>
          <a:lstStyle/>
          <a:p>
            <a:pPr algn="l">
              <a:lnSpc>
                <a:spcPct val="110000"/>
              </a:lnSpc>
            </a:pPr>
            <a:r>
              <a:rPr sz="3000" b="1">
                <a:solidFill>
                  <a:srgbClr val="E84E0E"/>
                </a:solidFill>
                <a:latin typeface="Arial"/>
              </a:rPr>
              <a:t>268</a:t>
            </a:r>
          </a:p>
        </p:txBody>
      </p:sp>
      <p:sp>
        <p:nvSpPr>
          <p:cNvPr id="23" name="TextBox 22"/>
          <p:cNvSpPr txBox="1"/>
          <p:nvPr/>
        </p:nvSpPr>
        <p:spPr>
          <a:xfrm>
            <a:off x="6552000" y="2826000"/>
            <a:ext cx="2088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abonnés</a:t>
            </a:r>
          </a:p>
        </p:txBody>
      </p:sp>
      <p:sp>
        <p:nvSpPr>
          <p:cNvPr id="24" name="Rectangle 23"/>
          <p:cNvSpPr/>
          <p:nvPr/>
        </p:nvSpPr>
        <p:spPr>
          <a:xfrm>
            <a:off x="8964000" y="2160000"/>
            <a:ext cx="2376000" cy="111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08000" y="2250000"/>
            <a:ext cx="2088000" cy="576000"/>
          </a:xfrm>
          <a:prstGeom prst="rect">
            <a:avLst/>
          </a:prstGeom>
          <a:noFill/>
        </p:spPr>
        <p:txBody>
          <a:bodyPr wrap="square" lIns="36000" rIns="36000" tIns="18000" bIns="18000" anchor="t">
            <a:spAutoFit/>
          </a:bodyPr>
          <a:lstStyle/>
          <a:p>
            <a:pPr algn="l">
              <a:lnSpc>
                <a:spcPct val="110000"/>
              </a:lnSpc>
            </a:pPr>
            <a:r>
              <a:rPr sz="3000" b="1">
                <a:solidFill>
                  <a:srgbClr val="E84E0E"/>
                </a:solidFill>
                <a:latin typeface="Arial"/>
              </a:rPr>
              <a:t>0</a:t>
            </a:r>
          </a:p>
        </p:txBody>
      </p:sp>
      <p:sp>
        <p:nvSpPr>
          <p:cNvPr id="26" name="TextBox 25"/>
          <p:cNvSpPr txBox="1"/>
          <p:nvPr/>
        </p:nvSpPr>
        <p:spPr>
          <a:xfrm>
            <a:off x="9108000" y="2826000"/>
            <a:ext cx="2088000" cy="432000"/>
          </a:xfrm>
          <a:prstGeom prst="rect">
            <a:avLst/>
          </a:prstGeom>
          <a:noFill/>
        </p:spPr>
        <p:txBody>
          <a:bodyPr wrap="square" lIns="36000" rIns="36000" tIns="18000" bIns="18000" anchor="t">
            <a:spAutoFit/>
          </a:bodyPr>
          <a:lstStyle/>
          <a:p>
            <a:pPr algn="l">
              <a:lnSpc>
                <a:spcPct val="110000"/>
              </a:lnSpc>
            </a:pPr>
            <a:r>
              <a:rPr sz="1100" b="0">
                <a:solidFill>
                  <a:srgbClr val="5A5A5A"/>
                </a:solidFill>
                <a:latin typeface="Arial"/>
              </a:rPr>
              <a:t>mot de présentation, 0 lien</a:t>
            </a:r>
          </a:p>
        </p:txBody>
      </p:sp>
      <p:sp>
        <p:nvSpPr>
          <p:cNvPr id="27" name="TextBox 26"/>
          <p:cNvSpPr txBox="1"/>
          <p:nvPr/>
        </p:nvSpPr>
        <p:spPr>
          <a:xfrm>
            <a:off x="6408000" y="3456000"/>
            <a:ext cx="4968000" cy="2304000"/>
          </a:xfrm>
          <a:prstGeom prst="rect">
            <a:avLst/>
          </a:prstGeom>
          <a:noFill/>
        </p:spPr>
        <p:txBody>
          <a:bodyPr wrap="square">
            <a:spAutoFit/>
          </a:bodyPr>
          <a:lstStyle/>
          <a:p>
            <a:pPr>
              <a:lnSpc>
                <a:spcPct val="110000"/>
              </a:lnSpc>
              <a:spcAft>
                <a:spcPts val="700"/>
              </a:spcAft>
            </a:pPr>
            <a:r>
              <a:rPr sz="750">
                <a:solidFill>
                  <a:srgbClr val="E84E0E"/>
                </a:solidFill>
                <a:latin typeface="Arial"/>
              </a:rPr>
              <a:t>■  </a:t>
            </a:r>
            <a:r>
              <a:rPr sz="1150">
                <a:solidFill>
                  <a:srgbClr val="111111"/>
                </a:solidFill>
                <a:latin typeface="Arial"/>
              </a:rPr>
              <a:t>Le compte existe mais n'est relié ni au site ni à la page Facebook.</a:t>
            </a:r>
          </a:p>
          <a:p>
            <a:pPr>
              <a:lnSpc>
                <a:spcPct val="110000"/>
              </a:lnSpc>
              <a:spcAft>
                <a:spcPts val="700"/>
              </a:spcAft>
            </a:pPr>
            <a:r>
              <a:rPr sz="750">
                <a:solidFill>
                  <a:srgbClr val="E84E0E"/>
                </a:solidFill>
                <a:latin typeface="Arial"/>
              </a:rPr>
              <a:t>■  </a:t>
            </a:r>
            <a:r>
              <a:rPr sz="1150">
                <a:solidFill>
                  <a:srgbClr val="111111"/>
                </a:solidFill>
                <a:latin typeface="Arial"/>
              </a:rPr>
              <a:t>Chez les concurrents, Instagram pèse peu aussi : 827 abonnés pour Metaplast, 26 pour Plastica.</a:t>
            </a:r>
          </a:p>
          <a:p>
            <a:pPr>
              <a:lnSpc>
                <a:spcPct val="110000"/>
              </a:lnSpc>
              <a:spcAft>
                <a:spcPts val="700"/>
              </a:spcAft>
            </a:pPr>
            <a:r>
              <a:rPr sz="750">
                <a:solidFill>
                  <a:srgbClr val="E84E0E"/>
                </a:solidFill>
                <a:latin typeface="Arial"/>
              </a:rPr>
              <a:t>■  </a:t>
            </a:r>
            <a:r>
              <a:rPr sz="1150">
                <a:solidFill>
                  <a:srgbClr val="111111"/>
                </a:solidFill>
                <a:latin typeface="Arial"/>
              </a:rPr>
              <a:t>À trancher : l'animer avec les vidéos de Facebook, ou le mettre en sommeil.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BENCHMARK</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Face aux concurrents : le volume ne fait pas l'écho</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8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graphicFrame>
        <p:nvGraphicFramePr>
          <p:cNvPr id="10" name="Chart 9"/>
          <p:cNvGraphicFramePr>
            <a:graphicFrameLocks noGrp="1"/>
          </p:cNvGraphicFramePr>
          <p:nvPr/>
        </p:nvGraphicFramePr>
        <p:xfrm>
          <a:off x="576000" y="1655999"/>
          <a:ext cx="4500000" cy="2520000"/>
        </p:xfrm>
        <a:graphic>
          <a:graphicData uri="http://schemas.openxmlformats.org/drawingml/2006/chart">
            <c:chart xmlns:c="http://schemas.openxmlformats.org/drawingml/2006/chart" r:id="rId3"/>
          </a:graphicData>
        </a:graphic>
      </p:graphicFrame>
      <p:sp>
        <p:nvSpPr>
          <p:cNvPr id="11" name="TextBox 10"/>
          <p:cNvSpPr txBox="1"/>
          <p:nvPr/>
        </p:nvSpPr>
        <p:spPr>
          <a:xfrm>
            <a:off x="576000" y="1404000"/>
            <a:ext cx="4500000" cy="288000"/>
          </a:xfrm>
          <a:prstGeom prst="rect">
            <a:avLst/>
          </a:prstGeom>
          <a:noFill/>
        </p:spPr>
        <p:txBody>
          <a:bodyPr wrap="square" lIns="36000" rIns="36000" tIns="18000" bIns="18000" anchor="t">
            <a:spAutoFit/>
          </a:bodyPr>
          <a:lstStyle/>
          <a:p>
            <a:pPr algn="l">
              <a:lnSpc>
                <a:spcPct val="110000"/>
              </a:lnSpc>
            </a:pPr>
            <a:r>
              <a:rPr sz="1200" b="1">
                <a:solidFill>
                  <a:srgbClr val="111111"/>
                </a:solidFill>
                <a:latin typeface="Arial"/>
              </a:rPr>
              <a:t>Interactions médianes par post Facebook</a:t>
            </a:r>
          </a:p>
        </p:txBody>
      </p:sp>
      <p:graphicFrame>
        <p:nvGraphicFramePr>
          <p:cNvPr id="12" name="Table 11"/>
          <p:cNvGraphicFramePr>
            <a:graphicFrameLocks noGrp="1"/>
          </p:cNvGraphicFramePr>
          <p:nvPr/>
        </p:nvGraphicFramePr>
        <p:xfrm>
          <a:off x="5256000" y="1440000"/>
          <a:ext cx="6588000" cy="4104000"/>
        </p:xfrm>
        <a:graphic>
          <a:graphicData uri="http://schemas.openxmlformats.org/drawingml/2006/table">
            <a:tbl>
              <a:tblPr firstRow="1" bandRow="1">
                <a:tableStyleId>{5C22544A-7EE6-4342-B048-85BDC9FD1C3A}</a:tableStyleId>
              </a:tblPr>
              <a:tblGrid>
                <a:gridCol w="1944000"/>
                <a:gridCol w="1116000"/>
                <a:gridCol w="1152000"/>
                <a:gridCol w="1080000"/>
                <a:gridCol w="1296000"/>
              </a:tblGrid>
              <a:tr h="456000">
                <a:tc>
                  <a:txBody>
                    <a:bodyPr/>
                    <a:lstStyle/>
                    <a:p>
                      <a:r>
                        <a:rPr sz="1050" b="1">
                          <a:solidFill>
                            <a:srgbClr val="FFFFFF"/>
                          </a:solidFill>
                          <a:latin typeface="Arial"/>
                        </a:rPr>
                        <a:t/>
                      </a:r>
                    </a:p>
                  </a:txBody>
                  <a:tcPr marL="43200" marR="43200">
                    <a:solidFill>
                      <a:srgbClr val="111111"/>
                    </a:solidFill>
                  </a:tcPr>
                </a:tc>
                <a:tc>
                  <a:txBody>
                    <a:bodyPr/>
                    <a:lstStyle/>
                    <a:p>
                      <a:r>
                        <a:rPr sz="1050" b="1">
                          <a:solidFill>
                            <a:srgbClr val="FFFFFF"/>
                          </a:solidFill>
                          <a:latin typeface="Arial"/>
                        </a:rPr>
                        <a:t>TAJ PLAST</a:t>
                      </a:r>
                    </a:p>
                  </a:txBody>
                  <a:tcPr marL="43200" marR="43200">
                    <a:solidFill>
                      <a:srgbClr val="111111"/>
                    </a:solidFill>
                  </a:tcPr>
                </a:tc>
                <a:tc>
                  <a:txBody>
                    <a:bodyPr/>
                    <a:lstStyle/>
                    <a:p>
                      <a:r>
                        <a:rPr sz="1050" b="1">
                          <a:solidFill>
                            <a:srgbClr val="FFFFFF"/>
                          </a:solidFill>
                          <a:latin typeface="Arial"/>
                        </a:rPr>
                        <a:t>Metaplast CI</a:t>
                      </a:r>
                    </a:p>
                  </a:txBody>
                  <a:tcPr marL="43200" marR="43200">
                    <a:solidFill>
                      <a:srgbClr val="111111"/>
                    </a:solidFill>
                  </a:tcPr>
                </a:tc>
                <a:tc>
                  <a:txBody>
                    <a:bodyPr/>
                    <a:lstStyle/>
                    <a:p>
                      <a:r>
                        <a:rPr sz="1050" b="1">
                          <a:solidFill>
                            <a:srgbClr val="FFFFFF"/>
                          </a:solidFill>
                          <a:latin typeface="Arial"/>
                        </a:rPr>
                        <a:t>Plastica CI</a:t>
                      </a:r>
                    </a:p>
                  </a:txBody>
                  <a:tcPr marL="43200" marR="43200">
                    <a:solidFill>
                      <a:srgbClr val="111111"/>
                    </a:solidFill>
                  </a:tcPr>
                </a:tc>
                <a:tc>
                  <a:txBody>
                    <a:bodyPr/>
                    <a:lstStyle/>
                    <a:p>
                      <a:r>
                        <a:rPr sz="1050" b="1">
                          <a:solidFill>
                            <a:srgbClr val="FFFFFF"/>
                          </a:solidFill>
                          <a:latin typeface="Arial"/>
                        </a:rPr>
                        <a:t>OK Plast</a:t>
                      </a:r>
                    </a:p>
                  </a:txBody>
                  <a:tcPr marL="43200" marR="43200">
                    <a:solidFill>
                      <a:srgbClr val="111111"/>
                    </a:solidFill>
                  </a:tcPr>
                </a:tc>
              </a:tr>
              <a:tr h="456000">
                <a:tc>
                  <a:txBody>
                    <a:bodyPr/>
                    <a:lstStyle/>
                    <a:p>
                      <a:r>
                        <a:rPr sz="1050" b="1">
                          <a:solidFill>
                            <a:srgbClr val="111111"/>
                          </a:solidFill>
                          <a:latin typeface="Arial"/>
                        </a:rPr>
                        <a:t>Abonnés Facebook</a:t>
                      </a:r>
                    </a:p>
                  </a:txBody>
                  <a:tcPr marL="43200" marR="43200">
                    <a:solidFill>
                      <a:srgbClr val="F4F4F2"/>
                    </a:solidFill>
                  </a:tcPr>
                </a:tc>
                <a:tc>
                  <a:txBody>
                    <a:bodyPr/>
                    <a:lstStyle/>
                    <a:p>
                      <a:r>
                        <a:rPr sz="1050" b="1">
                          <a:solidFill>
                            <a:srgbClr val="111111"/>
                          </a:solidFill>
                          <a:latin typeface="Arial"/>
                        </a:rPr>
                        <a:t>11 485</a:t>
                      </a:r>
                    </a:p>
                  </a:txBody>
                  <a:tcPr marL="43200" marR="43200">
                    <a:solidFill>
                      <a:srgbClr val="FCEDE6"/>
                    </a:solidFill>
                  </a:tcPr>
                </a:tc>
                <a:tc>
                  <a:txBody>
                    <a:bodyPr/>
                    <a:lstStyle/>
                    <a:p>
                      <a:r>
                        <a:rPr sz="1050" b="0">
                          <a:solidFill>
                            <a:srgbClr val="111111"/>
                          </a:solidFill>
                          <a:latin typeface="Arial"/>
                        </a:rPr>
                        <a:t>167 255</a:t>
                      </a:r>
                    </a:p>
                  </a:txBody>
                  <a:tcPr marL="43200" marR="43200">
                    <a:solidFill>
                      <a:srgbClr val="F4F4F2"/>
                    </a:solidFill>
                  </a:tcPr>
                </a:tc>
                <a:tc>
                  <a:txBody>
                    <a:bodyPr/>
                    <a:lstStyle/>
                    <a:p>
                      <a:r>
                        <a:rPr sz="1050" b="0">
                          <a:solidFill>
                            <a:srgbClr val="111111"/>
                          </a:solidFill>
                          <a:latin typeface="Arial"/>
                        </a:rPr>
                        <a:t>7 788</a:t>
                      </a:r>
                    </a:p>
                  </a:txBody>
                  <a:tcPr marL="43200" marR="43200">
                    <a:solidFill>
                      <a:srgbClr val="F4F4F2"/>
                    </a:solidFill>
                  </a:tcPr>
                </a:tc>
                <a:tc>
                  <a:txBody>
                    <a:bodyPr/>
                    <a:lstStyle/>
                    <a:p>
                      <a:r>
                        <a:rPr sz="1050" b="0">
                          <a:solidFill>
                            <a:srgbClr val="111111"/>
                          </a:solidFill>
                          <a:latin typeface="Arial"/>
                        </a:rPr>
                        <a:t>Page introuvable*</a:t>
                      </a:r>
                    </a:p>
                  </a:txBody>
                  <a:tcPr marL="43200" marR="43200">
                    <a:solidFill>
                      <a:srgbClr val="F4F4F2"/>
                    </a:solidFill>
                  </a:tcPr>
                </a:tc>
              </a:tr>
              <a:tr h="456000">
                <a:tc>
                  <a:txBody>
                    <a:bodyPr/>
                    <a:lstStyle/>
                    <a:p>
                      <a:r>
                        <a:rPr sz="1050" b="1">
                          <a:solidFill>
                            <a:srgbClr val="111111"/>
                          </a:solidFill>
                          <a:latin typeface="Arial"/>
                        </a:rPr>
                        <a:t>Rythme de publication</a:t>
                      </a:r>
                    </a:p>
                  </a:txBody>
                  <a:tcPr marL="43200" marR="43200">
                    <a:solidFill>
                      <a:srgbClr val="FFFFFF"/>
                    </a:solidFill>
                  </a:tcPr>
                </a:tc>
                <a:tc>
                  <a:txBody>
                    <a:bodyPr/>
                    <a:lstStyle/>
                    <a:p>
                      <a:r>
                        <a:rPr sz="1050" b="1">
                          <a:solidFill>
                            <a:srgbClr val="111111"/>
                          </a:solidFill>
                          <a:latin typeface="Arial"/>
                        </a:rPr>
                        <a:t>≈ 22 / semaine</a:t>
                      </a:r>
                    </a:p>
                  </a:txBody>
                  <a:tcPr marL="43200" marR="43200">
                    <a:solidFill>
                      <a:srgbClr val="FCEDE6"/>
                    </a:solidFill>
                  </a:tcPr>
                </a:tc>
                <a:tc>
                  <a:txBody>
                    <a:bodyPr/>
                    <a:lstStyle/>
                    <a:p>
                      <a:r>
                        <a:rPr sz="1050" b="0">
                          <a:solidFill>
                            <a:srgbClr val="111111"/>
                          </a:solidFill>
                          <a:latin typeface="Arial"/>
                        </a:rPr>
                        <a:t>&lt; 1 / semaine</a:t>
                      </a:r>
                    </a:p>
                  </a:txBody>
                  <a:tcPr marL="43200" marR="43200">
                    <a:solidFill>
                      <a:srgbClr val="FFFFFF"/>
                    </a:solidFill>
                  </a:tcPr>
                </a:tc>
                <a:tc>
                  <a:txBody>
                    <a:bodyPr/>
                    <a:lstStyle/>
                    <a:p>
                      <a:r>
                        <a:rPr sz="1050" b="0">
                          <a:solidFill>
                            <a:srgbClr val="111111"/>
                          </a:solidFill>
                          <a:latin typeface="Arial"/>
                        </a:rPr>
                        <a:t>≈ 1 / semaine</a:t>
                      </a:r>
                    </a:p>
                  </a:txBody>
                  <a:tcPr marL="43200" marR="43200">
                    <a:solidFill>
                      <a:srgbClr val="FFFFFF"/>
                    </a:solidFill>
                  </a:tcPr>
                </a:tc>
                <a:tc>
                  <a:txBody>
                    <a:bodyPr/>
                    <a:lstStyle/>
                    <a:p>
                      <a:r>
                        <a:rPr sz="1050" b="0">
                          <a:solidFill>
                            <a:srgbClr val="111111"/>
                          </a:solidFill>
                          <a:latin typeface="Arial"/>
                        </a:rPr>
                        <a:t>—</a:t>
                      </a:r>
                    </a:p>
                  </a:txBody>
                  <a:tcPr marL="43200" marR="43200">
                    <a:solidFill>
                      <a:srgbClr val="FFFFFF"/>
                    </a:solidFill>
                  </a:tcPr>
                </a:tc>
              </a:tr>
              <a:tr h="456000">
                <a:tc>
                  <a:txBody>
                    <a:bodyPr/>
                    <a:lstStyle/>
                    <a:p>
                      <a:r>
                        <a:rPr sz="1050" b="1">
                          <a:solidFill>
                            <a:srgbClr val="111111"/>
                          </a:solidFill>
                          <a:latin typeface="Arial"/>
                        </a:rPr>
                        <a:t>Interactions médianes</a:t>
                      </a:r>
                    </a:p>
                  </a:txBody>
                  <a:tcPr marL="43200" marR="43200">
                    <a:solidFill>
                      <a:srgbClr val="F4F4F2"/>
                    </a:solidFill>
                  </a:tcPr>
                </a:tc>
                <a:tc>
                  <a:txBody>
                    <a:bodyPr/>
                    <a:lstStyle/>
                    <a:p>
                      <a:r>
                        <a:rPr sz="1050" b="1">
                          <a:solidFill>
                            <a:srgbClr val="111111"/>
                          </a:solidFill>
                          <a:latin typeface="Arial"/>
                        </a:rPr>
                        <a:t>3</a:t>
                      </a:r>
                    </a:p>
                  </a:txBody>
                  <a:tcPr marL="43200" marR="43200">
                    <a:solidFill>
                      <a:srgbClr val="FCEDE6"/>
                    </a:solidFill>
                  </a:tcPr>
                </a:tc>
                <a:tc>
                  <a:txBody>
                    <a:bodyPr/>
                    <a:lstStyle/>
                    <a:p>
                      <a:r>
                        <a:rPr sz="1050" b="0">
                          <a:solidFill>
                            <a:srgbClr val="111111"/>
                          </a:solidFill>
                          <a:latin typeface="Arial"/>
                        </a:rPr>
                        <a:t>30</a:t>
                      </a:r>
                    </a:p>
                  </a:txBody>
                  <a:tcPr marL="43200" marR="43200">
                    <a:solidFill>
                      <a:srgbClr val="F4F4F2"/>
                    </a:solidFill>
                  </a:tcPr>
                </a:tc>
                <a:tc>
                  <a:txBody>
                    <a:bodyPr/>
                    <a:lstStyle/>
                    <a:p>
                      <a:r>
                        <a:rPr sz="1050" b="0">
                          <a:solidFill>
                            <a:srgbClr val="111111"/>
                          </a:solidFill>
                          <a:latin typeface="Arial"/>
                        </a:rPr>
                        <a:t>11</a:t>
                      </a:r>
                    </a:p>
                  </a:txBody>
                  <a:tcPr marL="43200" marR="43200">
                    <a:solidFill>
                      <a:srgbClr val="F4F4F2"/>
                    </a:solidFill>
                  </a:tcPr>
                </a:tc>
                <a:tc>
                  <a:txBody>
                    <a:bodyPr/>
                    <a:lstStyle/>
                    <a:p>
                      <a:r>
                        <a:rPr sz="1050" b="0">
                          <a:solidFill>
                            <a:srgbClr val="111111"/>
                          </a:solidFill>
                          <a:latin typeface="Arial"/>
                        </a:rPr>
                        <a:t>—</a:t>
                      </a:r>
                    </a:p>
                  </a:txBody>
                  <a:tcPr marL="43200" marR="43200">
                    <a:solidFill>
                      <a:srgbClr val="F4F4F2"/>
                    </a:solidFill>
                  </a:tcPr>
                </a:tc>
              </a:tr>
              <a:tr h="456000">
                <a:tc>
                  <a:txBody>
                    <a:bodyPr/>
                    <a:lstStyle/>
                    <a:p>
                      <a:r>
                        <a:rPr sz="1050" b="1">
                          <a:solidFill>
                            <a:srgbClr val="111111"/>
                          </a:solidFill>
                          <a:latin typeface="Arial"/>
                        </a:rPr>
                        <a:t>Vidéos (25 derniers posts)</a:t>
                      </a:r>
                    </a:p>
                  </a:txBody>
                  <a:tcPr marL="43200" marR="43200">
                    <a:solidFill>
                      <a:srgbClr val="FFFFFF"/>
                    </a:solidFill>
                  </a:tcPr>
                </a:tc>
                <a:tc>
                  <a:txBody>
                    <a:bodyPr/>
                    <a:lstStyle/>
                    <a:p>
                      <a:r>
                        <a:rPr sz="1050" b="1">
                          <a:solidFill>
                            <a:srgbClr val="111111"/>
                          </a:solidFill>
                          <a:latin typeface="Arial"/>
                        </a:rPr>
                        <a:t>0</a:t>
                      </a:r>
                    </a:p>
                  </a:txBody>
                  <a:tcPr marL="43200" marR="43200">
                    <a:solidFill>
                      <a:srgbClr val="FCEDE6"/>
                    </a:solidFill>
                  </a:tcPr>
                </a:tc>
                <a:tc>
                  <a:txBody>
                    <a:bodyPr/>
                    <a:lstStyle/>
                    <a:p>
                      <a:r>
                        <a:rPr sz="1050" b="0">
                          <a:solidFill>
                            <a:srgbClr val="111111"/>
                          </a:solidFill>
                          <a:latin typeface="Arial"/>
                        </a:rPr>
                        <a:t>10</a:t>
                      </a:r>
                    </a:p>
                  </a:txBody>
                  <a:tcPr marL="43200" marR="43200">
                    <a:solidFill>
                      <a:srgbClr val="FFFFFF"/>
                    </a:solidFill>
                  </a:tcPr>
                </a:tc>
                <a:tc>
                  <a:txBody>
                    <a:bodyPr/>
                    <a:lstStyle/>
                    <a:p>
                      <a:r>
                        <a:rPr sz="1050" b="0">
                          <a:solidFill>
                            <a:srgbClr val="111111"/>
                          </a:solidFill>
                          <a:latin typeface="Arial"/>
                        </a:rPr>
                        <a:t>2</a:t>
                      </a:r>
                    </a:p>
                  </a:txBody>
                  <a:tcPr marL="43200" marR="43200">
                    <a:solidFill>
                      <a:srgbClr val="FFFFFF"/>
                    </a:solidFill>
                  </a:tcPr>
                </a:tc>
                <a:tc>
                  <a:txBody>
                    <a:bodyPr/>
                    <a:lstStyle/>
                    <a:p>
                      <a:r>
                        <a:rPr sz="1050" b="0">
                          <a:solidFill>
                            <a:srgbClr val="111111"/>
                          </a:solidFill>
                          <a:latin typeface="Arial"/>
                        </a:rPr>
                        <a:t>—</a:t>
                      </a:r>
                    </a:p>
                  </a:txBody>
                  <a:tcPr marL="43200" marR="43200">
                    <a:solidFill>
                      <a:srgbClr val="FFFFFF"/>
                    </a:solidFill>
                  </a:tcPr>
                </a:tc>
              </a:tr>
              <a:tr h="456000">
                <a:tc>
                  <a:txBody>
                    <a:bodyPr/>
                    <a:lstStyle/>
                    <a:p>
                      <a:r>
                        <a:rPr sz="1050" b="1">
                          <a:solidFill>
                            <a:srgbClr val="111111"/>
                          </a:solidFill>
                          <a:latin typeface="Arial"/>
                        </a:rPr>
                        <a:t>Publicité en cours le 27/10</a:t>
                      </a:r>
                    </a:p>
                  </a:txBody>
                  <a:tcPr marL="43200" marR="43200">
                    <a:solidFill>
                      <a:srgbClr val="F4F4F2"/>
                    </a:solidFill>
                  </a:tcPr>
                </a:tc>
                <a:tc>
                  <a:txBody>
                    <a:bodyPr/>
                    <a:lstStyle/>
                    <a:p>
                      <a:r>
                        <a:rPr sz="1050" b="1">
                          <a:solidFill>
                            <a:srgbClr val="111111"/>
                          </a:solidFill>
                          <a:latin typeface="Arial"/>
                        </a:rPr>
                        <a:t>Oui</a:t>
                      </a:r>
                    </a:p>
                  </a:txBody>
                  <a:tcPr marL="43200" marR="43200">
                    <a:solidFill>
                      <a:srgbClr val="FCEDE6"/>
                    </a:solidFill>
                  </a:tcPr>
                </a:tc>
                <a:tc>
                  <a:txBody>
                    <a:bodyPr/>
                    <a:lstStyle/>
                    <a:p>
                      <a:r>
                        <a:rPr sz="1050" b="0">
                          <a:solidFill>
                            <a:srgbClr val="111111"/>
                          </a:solidFill>
                          <a:latin typeface="Arial"/>
                        </a:rPr>
                        <a:t>Oui</a:t>
                      </a:r>
                    </a:p>
                  </a:txBody>
                  <a:tcPr marL="43200" marR="43200">
                    <a:solidFill>
                      <a:srgbClr val="F4F4F2"/>
                    </a:solidFill>
                  </a:tcPr>
                </a:tc>
                <a:tc>
                  <a:txBody>
                    <a:bodyPr/>
                    <a:lstStyle/>
                    <a:p>
                      <a:r>
                        <a:rPr sz="1050" b="0">
                          <a:solidFill>
                            <a:srgbClr val="111111"/>
                          </a:solidFill>
                          <a:latin typeface="Arial"/>
                        </a:rPr>
                        <a:t>Non</a:t>
                      </a:r>
                    </a:p>
                  </a:txBody>
                  <a:tcPr marL="43200" marR="43200">
                    <a:solidFill>
                      <a:srgbClr val="F4F4F2"/>
                    </a:solidFill>
                  </a:tcPr>
                </a:tc>
                <a:tc>
                  <a:txBody>
                    <a:bodyPr/>
                    <a:lstStyle/>
                    <a:p>
                      <a:r>
                        <a:rPr sz="1050" b="0">
                          <a:solidFill>
                            <a:srgbClr val="111111"/>
                          </a:solidFill>
                          <a:latin typeface="Arial"/>
                        </a:rPr>
                        <a:t>—</a:t>
                      </a:r>
                    </a:p>
                  </a:txBody>
                  <a:tcPr marL="43200" marR="43200">
                    <a:solidFill>
                      <a:srgbClr val="F4F4F2"/>
                    </a:solidFill>
                  </a:tcPr>
                </a:tc>
              </a:tr>
              <a:tr h="456000">
                <a:tc>
                  <a:txBody>
                    <a:bodyPr/>
                    <a:lstStyle/>
                    <a:p>
                      <a:r>
                        <a:rPr sz="1050" b="1">
                          <a:solidFill>
                            <a:srgbClr val="111111"/>
                          </a:solidFill>
                          <a:latin typeface="Arial"/>
                        </a:rPr>
                        <a:t>Abonnés LinkedIn</a:t>
                      </a:r>
                    </a:p>
                  </a:txBody>
                  <a:tcPr marL="43200" marR="43200">
                    <a:solidFill>
                      <a:srgbClr val="FFFFFF"/>
                    </a:solidFill>
                  </a:tcPr>
                </a:tc>
                <a:tc>
                  <a:txBody>
                    <a:bodyPr/>
                    <a:lstStyle/>
                    <a:p>
                      <a:r>
                        <a:rPr sz="1050" b="1">
                          <a:solidFill>
                            <a:srgbClr val="111111"/>
                          </a:solidFill>
                          <a:latin typeface="Arial"/>
                        </a:rPr>
                        <a:t>1 515</a:t>
                      </a:r>
                    </a:p>
                  </a:txBody>
                  <a:tcPr marL="43200" marR="43200">
                    <a:solidFill>
                      <a:srgbClr val="FCEDE6"/>
                    </a:solidFill>
                  </a:tcPr>
                </a:tc>
                <a:tc>
                  <a:txBody>
                    <a:bodyPr/>
                    <a:lstStyle/>
                    <a:p>
                      <a:r>
                        <a:rPr sz="1050" b="0">
                          <a:solidFill>
                            <a:srgbClr val="111111"/>
                          </a:solidFill>
                          <a:latin typeface="Arial"/>
                        </a:rPr>
                        <a:t>283</a:t>
                      </a:r>
                    </a:p>
                  </a:txBody>
                  <a:tcPr marL="43200" marR="43200">
                    <a:solidFill>
                      <a:srgbClr val="FFFFFF"/>
                    </a:solidFill>
                  </a:tcPr>
                </a:tc>
                <a:tc>
                  <a:txBody>
                    <a:bodyPr/>
                    <a:lstStyle/>
                    <a:p>
                      <a:r>
                        <a:rPr sz="1050" b="0">
                          <a:solidFill>
                            <a:srgbClr val="111111"/>
                          </a:solidFill>
                          <a:latin typeface="Arial"/>
                        </a:rPr>
                        <a:t>6 400</a:t>
                      </a:r>
                    </a:p>
                  </a:txBody>
                  <a:tcPr marL="43200" marR="43200">
                    <a:solidFill>
                      <a:srgbClr val="FFFFFF"/>
                    </a:solidFill>
                  </a:tcPr>
                </a:tc>
                <a:tc>
                  <a:txBody>
                    <a:bodyPr/>
                    <a:lstStyle/>
                    <a:p>
                      <a:r>
                        <a:rPr sz="1050" b="0">
                          <a:solidFill>
                            <a:srgbClr val="111111"/>
                          </a:solidFill>
                          <a:latin typeface="Arial"/>
                        </a:rPr>
                        <a:t>Page active</a:t>
                      </a:r>
                    </a:p>
                  </a:txBody>
                  <a:tcPr marL="43200" marR="43200">
                    <a:solidFill>
                      <a:srgbClr val="FFFFFF"/>
                    </a:solidFill>
                  </a:tcPr>
                </a:tc>
              </a:tr>
              <a:tr h="456000">
                <a:tc>
                  <a:txBody>
                    <a:bodyPr/>
                    <a:lstStyle/>
                    <a:p>
                      <a:r>
                        <a:rPr sz="1050" b="1">
                          <a:solidFill>
                            <a:srgbClr val="111111"/>
                          </a:solidFill>
                          <a:latin typeface="Arial"/>
                        </a:rPr>
                        <a:t>Abonnés Instagram</a:t>
                      </a:r>
                    </a:p>
                  </a:txBody>
                  <a:tcPr marL="43200" marR="43200">
                    <a:solidFill>
                      <a:srgbClr val="F4F4F2"/>
                    </a:solidFill>
                  </a:tcPr>
                </a:tc>
                <a:tc>
                  <a:txBody>
                    <a:bodyPr/>
                    <a:lstStyle/>
                    <a:p>
                      <a:r>
                        <a:rPr sz="1050" b="1">
                          <a:solidFill>
                            <a:srgbClr val="111111"/>
                          </a:solidFill>
                          <a:latin typeface="Arial"/>
                        </a:rPr>
                        <a:t>268</a:t>
                      </a:r>
                    </a:p>
                  </a:txBody>
                  <a:tcPr marL="43200" marR="43200">
                    <a:solidFill>
                      <a:srgbClr val="FCEDE6"/>
                    </a:solidFill>
                  </a:tcPr>
                </a:tc>
                <a:tc>
                  <a:txBody>
                    <a:bodyPr/>
                    <a:lstStyle/>
                    <a:p>
                      <a:r>
                        <a:rPr sz="1050" b="0">
                          <a:solidFill>
                            <a:srgbClr val="111111"/>
                          </a:solidFill>
                          <a:latin typeface="Arial"/>
                        </a:rPr>
                        <a:t>827</a:t>
                      </a:r>
                    </a:p>
                  </a:txBody>
                  <a:tcPr marL="43200" marR="43200">
                    <a:solidFill>
                      <a:srgbClr val="F4F4F2"/>
                    </a:solidFill>
                  </a:tcPr>
                </a:tc>
                <a:tc>
                  <a:txBody>
                    <a:bodyPr/>
                    <a:lstStyle/>
                    <a:p>
                      <a:r>
                        <a:rPr sz="1050" b="0">
                          <a:solidFill>
                            <a:srgbClr val="111111"/>
                          </a:solidFill>
                          <a:latin typeface="Arial"/>
                        </a:rPr>
                        <a:t>26</a:t>
                      </a:r>
                    </a:p>
                  </a:txBody>
                  <a:tcPr marL="43200" marR="43200">
                    <a:solidFill>
                      <a:srgbClr val="F4F4F2"/>
                    </a:solidFill>
                  </a:tcPr>
                </a:tc>
                <a:tc>
                  <a:txBody>
                    <a:bodyPr/>
                    <a:lstStyle/>
                    <a:p>
                      <a:r>
                        <a:rPr sz="1050" b="0">
                          <a:solidFill>
                            <a:srgbClr val="111111"/>
                          </a:solidFill>
                          <a:latin typeface="Arial"/>
                        </a:rPr>
                        <a:t>Aucun compte</a:t>
                      </a:r>
                    </a:p>
                  </a:txBody>
                  <a:tcPr marL="43200" marR="43200">
                    <a:solidFill>
                      <a:srgbClr val="F4F4F2"/>
                    </a:solidFill>
                  </a:tcPr>
                </a:tc>
              </a:tr>
              <a:tr h="456000">
                <a:tc>
                  <a:txBody>
                    <a:bodyPr/>
                    <a:lstStyle/>
                    <a:p>
                      <a:r>
                        <a:rPr sz="1050" b="1">
                          <a:solidFill>
                            <a:srgbClr val="111111"/>
                          </a:solidFill>
                          <a:latin typeface="Arial"/>
                        </a:rPr>
                        <a:t>Prix affiché dans les posts</a:t>
                      </a:r>
                    </a:p>
                  </a:txBody>
                  <a:tcPr marL="43200" marR="43200">
                    <a:solidFill>
                      <a:srgbClr val="FFFFFF"/>
                    </a:solidFill>
                  </a:tcPr>
                </a:tc>
                <a:tc>
                  <a:txBody>
                    <a:bodyPr/>
                    <a:lstStyle/>
                    <a:p>
                      <a:r>
                        <a:rPr sz="1050" b="1">
                          <a:solidFill>
                            <a:srgbClr val="111111"/>
                          </a:solidFill>
                          <a:latin typeface="Arial"/>
                        </a:rPr>
                        <a:t>Non</a:t>
                      </a:r>
                    </a:p>
                  </a:txBody>
                  <a:tcPr marL="43200" marR="43200">
                    <a:solidFill>
                      <a:srgbClr val="FCEDE6"/>
                    </a:solidFill>
                  </a:tcPr>
                </a:tc>
                <a:tc>
                  <a:txBody>
                    <a:bodyPr/>
                    <a:lstStyle/>
                    <a:p>
                      <a:r>
                        <a:rPr sz="1050" b="0">
                          <a:solidFill>
                            <a:srgbClr val="111111"/>
                          </a:solidFill>
                          <a:latin typeface="Arial"/>
                        </a:rPr>
                        <a:t>Oui</a:t>
                      </a:r>
                    </a:p>
                  </a:txBody>
                  <a:tcPr marL="43200" marR="43200">
                    <a:solidFill>
                      <a:srgbClr val="FFFFFF"/>
                    </a:solidFill>
                  </a:tcPr>
                </a:tc>
                <a:tc>
                  <a:txBody>
                    <a:bodyPr/>
                    <a:lstStyle/>
                    <a:p>
                      <a:r>
                        <a:rPr sz="1050" b="0">
                          <a:solidFill>
                            <a:srgbClr val="111111"/>
                          </a:solidFill>
                          <a:latin typeface="Arial"/>
                        </a:rPr>
                        <a:t>Non</a:t>
                      </a:r>
                    </a:p>
                  </a:txBody>
                  <a:tcPr marL="43200" marR="43200">
                    <a:solidFill>
                      <a:srgbClr val="FFFFFF"/>
                    </a:solidFill>
                  </a:tcPr>
                </a:tc>
                <a:tc>
                  <a:txBody>
                    <a:bodyPr/>
                    <a:lstStyle/>
                    <a:p>
                      <a:r>
                        <a:rPr sz="1050" b="0">
                          <a:solidFill>
                            <a:srgbClr val="111111"/>
                          </a:solidFill>
                          <a:latin typeface="Arial"/>
                        </a:rPr>
                        <a:t>—</a:t>
                      </a:r>
                    </a:p>
                  </a:txBody>
                  <a:tcPr marL="43200" marR="43200">
                    <a:solidFill>
                      <a:srgbClr val="FFFFFF"/>
                    </a:solidFill>
                  </a:tcPr>
                </a:tc>
              </a:tr>
            </a:tbl>
          </a:graphicData>
        </a:graphic>
      </p:graphicFrame>
      <p:sp>
        <p:nvSpPr>
          <p:cNvPr id="13" name="TextBox 12"/>
          <p:cNvSpPr txBox="1"/>
          <p:nvPr/>
        </p:nvSpPr>
        <p:spPr>
          <a:xfrm>
            <a:off x="576000" y="4392000"/>
            <a:ext cx="4500000" cy="1440000"/>
          </a:xfrm>
          <a:prstGeom prst="rect">
            <a:avLst/>
          </a:prstGeom>
          <a:noFill/>
        </p:spPr>
        <p:txBody>
          <a:bodyPr wrap="square">
            <a:spAutoFit/>
          </a:bodyPr>
          <a:lstStyle/>
          <a:p>
            <a:pPr>
              <a:lnSpc>
                <a:spcPct val="110000"/>
              </a:lnSpc>
              <a:spcAft>
                <a:spcPts val="700"/>
              </a:spcAft>
            </a:pPr>
            <a:r>
              <a:rPr sz="750">
                <a:solidFill>
                  <a:srgbClr val="E84E0E"/>
                </a:solidFill>
                <a:latin typeface="Arial"/>
              </a:rPr>
              <a:t>■  </a:t>
            </a:r>
            <a:r>
              <a:rPr sz="1150">
                <a:solidFill>
                  <a:srgbClr val="111111"/>
                </a:solidFill>
                <a:latin typeface="Arial"/>
              </a:rPr>
              <a:t>Metaplast : peu de posts, de la vidéo, un prix et une offre.</a:t>
            </a:r>
          </a:p>
          <a:p>
            <a:pPr>
              <a:lnSpc>
                <a:spcPct val="110000"/>
              </a:lnSpc>
              <a:spcAft>
                <a:spcPts val="700"/>
              </a:spcAft>
            </a:pPr>
            <a:r>
              <a:rPr sz="750">
                <a:solidFill>
                  <a:srgbClr val="E84E0E"/>
                </a:solidFill>
                <a:latin typeface="Arial"/>
              </a:rPr>
              <a:t>■  </a:t>
            </a:r>
            <a:r>
              <a:rPr sz="1150">
                <a:solidFill>
                  <a:srgbClr val="111111"/>
                </a:solidFill>
                <a:latin typeface="Arial"/>
              </a:rPr>
              <a:t>Plastica : la vie de l'entreprise (salons, prix, partenariats).</a:t>
            </a:r>
          </a:p>
        </p:txBody>
      </p:sp>
      <p:sp>
        <p:nvSpPr>
          <p:cNvPr id="14" name="TextBox 13"/>
          <p:cNvSpPr txBox="1"/>
          <p:nvPr/>
        </p:nvSpPr>
        <p:spPr>
          <a:xfrm>
            <a:off x="576000" y="6228000"/>
            <a:ext cx="10800000" cy="251999"/>
          </a:xfrm>
          <a:prstGeom prst="rect">
            <a:avLst/>
          </a:prstGeom>
          <a:noFill/>
        </p:spPr>
        <p:txBody>
          <a:bodyPr wrap="square" lIns="36000" rIns="36000" tIns="18000" bIns="18000" anchor="t">
            <a:spAutoFit/>
          </a:bodyPr>
          <a:lstStyle/>
          <a:p>
            <a:pPr algn="l">
              <a:lnSpc>
                <a:spcPct val="110000"/>
              </a:lnSpc>
            </a:pPr>
            <a:r>
              <a:rPr sz="950" b="0">
                <a:solidFill>
                  <a:srgbClr val="5A5A5A"/>
                </a:solidFill>
                <a:latin typeface="Arial"/>
              </a:rPr>
              <a:t>* Le lien Facebook du site d'OK Plast ouvre la page d'un homonyme à Pointe-Noire (Congo). Médianes sur les 25 derniers posts de chaque page.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LE PLUS SUIVI · CUVES ET FOSSES</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METAPLAST CI</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9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ounded Rectangle 9"/>
          <p:cNvSpPr/>
          <p:nvPr/>
        </p:nvSpPr>
        <p:spPr>
          <a:xfrm>
            <a:off x="576000" y="1584000"/>
            <a:ext cx="3311999" cy="1007999"/>
          </a:xfrm>
          <a:prstGeom prst="round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_metaplast.png"/>
          <p:cNvPicPr>
            <a:picLocks noChangeAspect="1"/>
          </p:cNvPicPr>
          <p:nvPr/>
        </p:nvPicPr>
        <p:blipFill>
          <a:blip r:embed="rId3"/>
          <a:stretch>
            <a:fillRect/>
          </a:stretch>
        </p:blipFill>
        <p:spPr>
          <a:xfrm>
            <a:off x="827999" y="1932000"/>
            <a:ext cx="2808000" cy="312000"/>
          </a:xfrm>
          <a:prstGeom prst="rect">
            <a:avLst/>
          </a:prstGeom>
        </p:spPr>
      </p:pic>
      <p:sp>
        <p:nvSpPr>
          <p:cNvPr id="12" name="TextBox 11"/>
          <p:cNvSpPr txBox="1"/>
          <p:nvPr/>
        </p:nvSpPr>
        <p:spPr>
          <a:xfrm>
            <a:off x="576000" y="2736000"/>
            <a:ext cx="3384000" cy="1368000"/>
          </a:xfrm>
          <a:prstGeom prst="rect">
            <a:avLst/>
          </a:prstGeom>
          <a:noFill/>
        </p:spPr>
        <p:txBody>
          <a:bodyPr wrap="square">
            <a:spAutoFit/>
          </a:bodyPr>
          <a:lstStyle/>
          <a:p>
            <a:pPr>
              <a:lnSpc>
                <a:spcPct val="110000"/>
              </a:lnSpc>
              <a:spcAft>
                <a:spcPts val="700"/>
              </a:spcAft>
            </a:pPr>
            <a:r>
              <a:rPr sz="700">
                <a:solidFill>
                  <a:srgbClr val="159641"/>
                </a:solidFill>
                <a:latin typeface="Arial"/>
              </a:rPr>
              <a:t>■  </a:t>
            </a:r>
            <a:r>
              <a:rPr sz="1100">
                <a:solidFill>
                  <a:srgbClr val="5A5A5A"/>
                </a:solidFill>
                <a:latin typeface="Arial"/>
              </a:rPr>
              <a:t>167 255 abonnés Facebook</a:t>
            </a:r>
          </a:p>
          <a:p>
            <a:pPr>
              <a:lnSpc>
                <a:spcPct val="110000"/>
              </a:lnSpc>
              <a:spcAft>
                <a:spcPts val="700"/>
              </a:spcAft>
            </a:pPr>
            <a:r>
              <a:rPr sz="700">
                <a:solidFill>
                  <a:srgbClr val="159641"/>
                </a:solidFill>
                <a:latin typeface="Arial"/>
              </a:rPr>
              <a:t>■  </a:t>
            </a:r>
            <a:r>
              <a:rPr sz="1100">
                <a:solidFill>
                  <a:srgbClr val="5A5A5A"/>
                </a:solidFill>
                <a:latin typeface="Arial"/>
              </a:rPr>
              <a:t>Moins d'un post par semaine</a:t>
            </a:r>
          </a:p>
          <a:p>
            <a:pPr>
              <a:lnSpc>
                <a:spcPct val="110000"/>
              </a:lnSpc>
              <a:spcAft>
                <a:spcPts val="700"/>
              </a:spcAft>
            </a:pPr>
            <a:r>
              <a:rPr sz="700">
                <a:solidFill>
                  <a:srgbClr val="159641"/>
                </a:solidFill>
                <a:latin typeface="Arial"/>
              </a:rPr>
              <a:t>■  </a:t>
            </a:r>
            <a:r>
              <a:rPr sz="1100">
                <a:solidFill>
                  <a:srgbClr val="5A5A5A"/>
                </a:solidFill>
                <a:latin typeface="Arial"/>
              </a:rPr>
              <a:t>30 interactions médianes</a:t>
            </a:r>
          </a:p>
        </p:txBody>
      </p:sp>
      <p:pic>
        <p:nvPicPr>
          <p:cNvPr id="13" name="Picture 12" descr="metaplast0.jpg"/>
          <p:cNvPicPr>
            <a:picLocks noChangeAspect="1"/>
          </p:cNvPicPr>
          <p:nvPr/>
        </p:nvPicPr>
        <p:blipFill>
          <a:blip r:embed="rId4"/>
          <a:srcRect t="19031" b="19031"/>
          <a:stretch>
            <a:fillRect/>
          </a:stretch>
        </p:blipFill>
        <p:spPr>
          <a:xfrm>
            <a:off x="576000" y="4104000"/>
            <a:ext cx="1602000" cy="1764000"/>
          </a:xfrm>
          <a:prstGeom prst="rect">
            <a:avLst/>
          </a:prstGeom>
        </p:spPr>
      </p:pic>
      <p:pic>
        <p:nvPicPr>
          <p:cNvPr id="14" name="Picture 13" descr="metaplast1.jpg"/>
          <p:cNvPicPr>
            <a:picLocks noChangeAspect="1"/>
          </p:cNvPicPr>
          <p:nvPr/>
        </p:nvPicPr>
        <p:blipFill>
          <a:blip r:embed="rId5"/>
          <a:srcRect t="19031" b="19031"/>
          <a:stretch>
            <a:fillRect/>
          </a:stretch>
        </p:blipFill>
        <p:spPr>
          <a:xfrm>
            <a:off x="2286000" y="4104000"/>
            <a:ext cx="1602000" cy="1764000"/>
          </a:xfrm>
          <a:prstGeom prst="rect">
            <a:avLst/>
          </a:prstGeom>
        </p:spPr>
      </p:pic>
      <p:sp>
        <p:nvSpPr>
          <p:cNvPr id="15" name="TextBox 14"/>
          <p:cNvSpPr txBox="1"/>
          <p:nvPr/>
        </p:nvSpPr>
        <p:spPr>
          <a:xfrm>
            <a:off x="4320000" y="1548000"/>
            <a:ext cx="3960000" cy="360000"/>
          </a:xfrm>
          <a:prstGeom prst="rect">
            <a:avLst/>
          </a:prstGeom>
          <a:noFill/>
        </p:spPr>
        <p:txBody>
          <a:bodyPr wrap="square" lIns="36000" rIns="36000" tIns="18000" bIns="18000" anchor="t">
            <a:spAutoFit/>
          </a:bodyPr>
          <a:lstStyle/>
          <a:p>
            <a:pPr algn="l">
              <a:lnSpc>
                <a:spcPct val="110000"/>
              </a:lnSpc>
            </a:pPr>
            <a:r>
              <a:rPr sz="1500" b="1">
                <a:solidFill>
                  <a:srgbClr val="E84E0E"/>
                </a:solidFill>
                <a:latin typeface="Arial"/>
              </a:rPr>
              <a:t>Ce qu'il fait</a:t>
            </a:r>
          </a:p>
        </p:txBody>
      </p:sp>
      <p:sp>
        <p:nvSpPr>
          <p:cNvPr id="16" name="TextBox 15"/>
          <p:cNvSpPr txBox="1"/>
          <p:nvPr/>
        </p:nvSpPr>
        <p:spPr>
          <a:xfrm>
            <a:off x="4320000" y="1944000"/>
            <a:ext cx="3888000" cy="3960000"/>
          </a:xfrm>
          <a:prstGeom prst="rect">
            <a:avLst/>
          </a:prstGeom>
          <a:noFill/>
        </p:spPr>
        <p:txBody>
          <a:bodyPr wrap="square">
            <a:spAutoFit/>
          </a:bodyPr>
          <a:lstStyle/>
          <a:p>
            <a:pPr>
              <a:lnSpc>
                <a:spcPct val="110000"/>
              </a:lnSpc>
              <a:spcAft>
                <a:spcPts val="700"/>
              </a:spcAft>
            </a:pPr>
            <a:r>
              <a:rPr sz="800">
                <a:solidFill>
                  <a:srgbClr val="E84E0E"/>
                </a:solidFill>
                <a:latin typeface="Arial"/>
              </a:rPr>
              <a:t>■  </a:t>
            </a:r>
            <a:r>
              <a:rPr b="1" sz="1200">
                <a:solidFill>
                  <a:srgbClr val="111111"/>
                </a:solidFill>
                <a:latin typeface="Arial"/>
              </a:rPr>
              <a:t>Une marque produit : </a:t>
            </a:r>
            <a:r>
              <a:rPr sz="1200">
                <a:solidFill>
                  <a:srgbClr val="111111"/>
                </a:solidFill>
                <a:latin typeface="Arial"/>
              </a:rPr>
              <a:t>« Tank Ivoire » partout, plutôt que le nom de l'usine.</a:t>
            </a:r>
          </a:p>
          <a:p>
            <a:pPr>
              <a:lnSpc>
                <a:spcPct val="110000"/>
              </a:lnSpc>
              <a:spcAft>
                <a:spcPts val="700"/>
              </a:spcAft>
            </a:pPr>
            <a:r>
              <a:rPr sz="800">
                <a:solidFill>
                  <a:srgbClr val="E84E0E"/>
                </a:solidFill>
                <a:latin typeface="Arial"/>
              </a:rPr>
              <a:t>■  </a:t>
            </a:r>
            <a:r>
              <a:rPr b="1" sz="1200">
                <a:solidFill>
                  <a:srgbClr val="111111"/>
                </a:solidFill>
                <a:latin typeface="Arial"/>
              </a:rPr>
              <a:t>Une offre claire : </a:t>
            </a:r>
            <a:r>
              <a:rPr sz="1200">
                <a:solidFill>
                  <a:srgbClr val="111111"/>
                </a:solidFill>
                <a:latin typeface="Arial"/>
              </a:rPr>
              <a:t>cuve de 1 500 litres à 80 000 F CFA, livrée gratuitement à Abidjan (posts du 1er et du 17 octobre 2026).</a:t>
            </a:r>
          </a:p>
          <a:p>
            <a:pPr>
              <a:lnSpc>
                <a:spcPct val="110000"/>
              </a:lnSpc>
              <a:spcAft>
                <a:spcPts val="700"/>
              </a:spcAft>
            </a:pPr>
            <a:r>
              <a:rPr sz="800">
                <a:solidFill>
                  <a:srgbClr val="E84E0E"/>
                </a:solidFill>
                <a:latin typeface="Arial"/>
              </a:rPr>
              <a:t>■  </a:t>
            </a:r>
            <a:r>
              <a:rPr b="1" sz="1200">
                <a:solidFill>
                  <a:srgbClr val="111111"/>
                </a:solidFill>
                <a:latin typeface="Arial"/>
              </a:rPr>
              <a:t>L'actualité du client : </a:t>
            </a:r>
            <a:r>
              <a:rPr sz="1200">
                <a:solidFill>
                  <a:srgbClr val="111111"/>
                </a:solidFill>
                <a:latin typeface="Arial"/>
              </a:rPr>
              <a:t>« N'attendez pas la prochaine coupure d'eau ».</a:t>
            </a:r>
          </a:p>
          <a:p>
            <a:pPr>
              <a:lnSpc>
                <a:spcPct val="110000"/>
              </a:lnSpc>
              <a:spcAft>
                <a:spcPts val="700"/>
              </a:spcAft>
            </a:pPr>
            <a:r>
              <a:rPr sz="800">
                <a:solidFill>
                  <a:srgbClr val="E84E0E"/>
                </a:solidFill>
                <a:latin typeface="Arial"/>
              </a:rPr>
              <a:t>■  </a:t>
            </a:r>
            <a:r>
              <a:rPr b="1" sz="1200">
                <a:solidFill>
                  <a:srgbClr val="111111"/>
                </a:solidFill>
                <a:latin typeface="Arial"/>
              </a:rPr>
              <a:t>De la vidéo : </a:t>
            </a:r>
            <a:r>
              <a:rPr sz="1200">
                <a:solidFill>
                  <a:srgbClr val="111111"/>
                </a:solidFill>
                <a:latin typeface="Arial"/>
              </a:rPr>
              <a:t>10 posts sur 25, avec une vraie personne qui parle.</a:t>
            </a:r>
          </a:p>
          <a:p>
            <a:pPr>
              <a:lnSpc>
                <a:spcPct val="110000"/>
              </a:lnSpc>
              <a:spcAft>
                <a:spcPts val="700"/>
              </a:spcAft>
            </a:pPr>
            <a:r>
              <a:rPr sz="800">
                <a:solidFill>
                  <a:srgbClr val="E84E0E"/>
                </a:solidFill>
                <a:latin typeface="Arial"/>
              </a:rPr>
              <a:t>■  </a:t>
            </a:r>
            <a:r>
              <a:rPr b="1" sz="1200">
                <a:solidFill>
                  <a:srgbClr val="111111"/>
                </a:solidFill>
                <a:latin typeface="Arial"/>
              </a:rPr>
              <a:t>Un post sponsorisé </a:t>
            </a:r>
            <a:r>
              <a:rPr sz="1200">
                <a:solidFill>
                  <a:srgbClr val="111111"/>
                </a:solidFill>
                <a:latin typeface="Arial"/>
              </a:rPr>
              <a:t>sans doute à l'origine d'un pic de 107 000 réactions en avril.</a:t>
            </a:r>
          </a:p>
        </p:txBody>
      </p:sp>
      <p:sp>
        <p:nvSpPr>
          <p:cNvPr id="17" name="Rectangle 16"/>
          <p:cNvSpPr/>
          <p:nvPr/>
        </p:nvSpPr>
        <p:spPr>
          <a:xfrm>
            <a:off x="8424000" y="1584000"/>
            <a:ext cx="3240000" cy="4284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0000" y="1764000"/>
            <a:ext cx="2880000" cy="360000"/>
          </a:xfrm>
          <a:prstGeom prst="rect">
            <a:avLst/>
          </a:prstGeom>
          <a:noFill/>
        </p:spPr>
        <p:txBody>
          <a:bodyPr wrap="square" lIns="36000" rIns="36000" tIns="18000" bIns="18000" anchor="t">
            <a:spAutoFit/>
          </a:bodyPr>
          <a:lstStyle/>
          <a:p>
            <a:pPr algn="l">
              <a:lnSpc>
                <a:spcPct val="110000"/>
              </a:lnSpc>
            </a:pPr>
            <a:r>
              <a:rPr sz="1400" b="1">
                <a:solidFill>
                  <a:srgbClr val="E84E0E"/>
                </a:solidFill>
                <a:latin typeface="Arial"/>
              </a:rPr>
              <a:t>À reprendre pour TAJ PLAST</a:t>
            </a:r>
          </a:p>
        </p:txBody>
      </p:sp>
      <p:sp>
        <p:nvSpPr>
          <p:cNvPr id="19" name="TextBox 18"/>
          <p:cNvSpPr txBox="1"/>
          <p:nvPr/>
        </p:nvSpPr>
        <p:spPr>
          <a:xfrm>
            <a:off x="8640000" y="2232000"/>
            <a:ext cx="2844000" cy="3528000"/>
          </a:xfrm>
          <a:prstGeom prst="rect">
            <a:avLst/>
          </a:prstGeom>
          <a:noFill/>
        </p:spPr>
        <p:txBody>
          <a:bodyPr wrap="square" lIns="36000" rIns="36000" tIns="18000" bIns="18000" anchor="t">
            <a:spAutoFit/>
          </a:bodyPr>
          <a:lstStyle/>
          <a:p>
            <a:pPr algn="l">
              <a:lnSpc>
                <a:spcPct val="110000"/>
              </a:lnSpc>
            </a:pPr>
            <a:r>
              <a:rPr sz="1300" b="0">
                <a:solidFill>
                  <a:srgbClr val="FFFFFF"/>
                </a:solidFill>
                <a:latin typeface="Arial"/>
              </a:rPr>
              <a:t>Un nom de gamme, un prix d'appel, la livraison et une vidéo tournée sur place. Pour les cuves et fosses TAJ PLAST, c'est la recette à tester, avec une offre validée par la direction.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LE VOISIN DE KOUMASSI</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PLASTICA CI</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10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ounded Rectangle 9"/>
          <p:cNvSpPr/>
          <p:nvPr/>
        </p:nvSpPr>
        <p:spPr>
          <a:xfrm>
            <a:off x="576000" y="1584000"/>
            <a:ext cx="3311999" cy="1007999"/>
          </a:xfrm>
          <a:prstGeom prst="round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_plastica.png"/>
          <p:cNvPicPr>
            <a:picLocks noChangeAspect="1"/>
          </p:cNvPicPr>
          <p:nvPr/>
        </p:nvPicPr>
        <p:blipFill>
          <a:blip r:embed="rId3"/>
          <a:stretch>
            <a:fillRect/>
          </a:stretch>
        </p:blipFill>
        <p:spPr>
          <a:xfrm>
            <a:off x="1835999" y="1692000"/>
            <a:ext cx="792000" cy="792000"/>
          </a:xfrm>
          <a:prstGeom prst="rect">
            <a:avLst/>
          </a:prstGeom>
        </p:spPr>
      </p:pic>
      <p:sp>
        <p:nvSpPr>
          <p:cNvPr id="12" name="TextBox 11"/>
          <p:cNvSpPr txBox="1"/>
          <p:nvPr/>
        </p:nvSpPr>
        <p:spPr>
          <a:xfrm>
            <a:off x="576000" y="2736000"/>
            <a:ext cx="3384000" cy="1368000"/>
          </a:xfrm>
          <a:prstGeom prst="rect">
            <a:avLst/>
          </a:prstGeom>
          <a:noFill/>
        </p:spPr>
        <p:txBody>
          <a:bodyPr wrap="square">
            <a:spAutoFit/>
          </a:bodyPr>
          <a:lstStyle/>
          <a:p>
            <a:pPr>
              <a:lnSpc>
                <a:spcPct val="110000"/>
              </a:lnSpc>
              <a:spcAft>
                <a:spcPts val="700"/>
              </a:spcAft>
            </a:pPr>
            <a:r>
              <a:rPr sz="700">
                <a:solidFill>
                  <a:srgbClr val="159641"/>
                </a:solidFill>
                <a:latin typeface="Arial"/>
              </a:rPr>
              <a:t>■  </a:t>
            </a:r>
            <a:r>
              <a:rPr sz="1100">
                <a:solidFill>
                  <a:srgbClr val="5A5A5A"/>
                </a:solidFill>
                <a:latin typeface="Arial"/>
              </a:rPr>
              <a:t>7 788 abonnés Facebook</a:t>
            </a:r>
          </a:p>
          <a:p>
            <a:pPr>
              <a:lnSpc>
                <a:spcPct val="110000"/>
              </a:lnSpc>
              <a:spcAft>
                <a:spcPts val="700"/>
              </a:spcAft>
            </a:pPr>
            <a:r>
              <a:rPr sz="700">
                <a:solidFill>
                  <a:srgbClr val="159641"/>
                </a:solidFill>
                <a:latin typeface="Arial"/>
              </a:rPr>
              <a:t>■  </a:t>
            </a:r>
            <a:r>
              <a:rPr sz="1100">
                <a:solidFill>
                  <a:srgbClr val="5A5A5A"/>
                </a:solidFill>
                <a:latin typeface="Arial"/>
              </a:rPr>
              <a:t>6 400 abonnés LinkedIn</a:t>
            </a:r>
          </a:p>
          <a:p>
            <a:pPr>
              <a:lnSpc>
                <a:spcPct val="110000"/>
              </a:lnSpc>
              <a:spcAft>
                <a:spcPts val="700"/>
              </a:spcAft>
            </a:pPr>
            <a:r>
              <a:rPr sz="700">
                <a:solidFill>
                  <a:srgbClr val="159641"/>
                </a:solidFill>
                <a:latin typeface="Arial"/>
              </a:rPr>
              <a:t>■  </a:t>
            </a:r>
            <a:r>
              <a:rPr sz="1100">
                <a:solidFill>
                  <a:srgbClr val="5A5A5A"/>
                </a:solidFill>
                <a:latin typeface="Arial"/>
              </a:rPr>
              <a:t>11 interactions médianes</a:t>
            </a:r>
          </a:p>
        </p:txBody>
      </p:sp>
      <p:pic>
        <p:nvPicPr>
          <p:cNvPr id="13" name="Picture 12" descr="plastica0.jpg"/>
          <p:cNvPicPr>
            <a:picLocks noChangeAspect="1"/>
          </p:cNvPicPr>
          <p:nvPr/>
        </p:nvPicPr>
        <p:blipFill>
          <a:blip r:embed="rId4"/>
          <a:srcRect l="21909" r="21909"/>
          <a:stretch>
            <a:fillRect/>
          </a:stretch>
        </p:blipFill>
        <p:spPr>
          <a:xfrm>
            <a:off x="576000" y="4104000"/>
            <a:ext cx="1602000" cy="1764000"/>
          </a:xfrm>
          <a:prstGeom prst="rect">
            <a:avLst/>
          </a:prstGeom>
        </p:spPr>
      </p:pic>
      <p:pic>
        <p:nvPicPr>
          <p:cNvPr id="14" name="Picture 13" descr="plastica1.jpg"/>
          <p:cNvPicPr>
            <a:picLocks noChangeAspect="1"/>
          </p:cNvPicPr>
          <p:nvPr/>
        </p:nvPicPr>
        <p:blipFill>
          <a:blip r:embed="rId5"/>
          <a:srcRect l="5746" r="5746"/>
          <a:stretch>
            <a:fillRect/>
          </a:stretch>
        </p:blipFill>
        <p:spPr>
          <a:xfrm>
            <a:off x="2286000" y="4104000"/>
            <a:ext cx="1602000" cy="1764000"/>
          </a:xfrm>
          <a:prstGeom prst="rect">
            <a:avLst/>
          </a:prstGeom>
        </p:spPr>
      </p:pic>
      <p:sp>
        <p:nvSpPr>
          <p:cNvPr id="15" name="TextBox 14"/>
          <p:cNvSpPr txBox="1"/>
          <p:nvPr/>
        </p:nvSpPr>
        <p:spPr>
          <a:xfrm>
            <a:off x="4320000" y="1548000"/>
            <a:ext cx="3960000" cy="360000"/>
          </a:xfrm>
          <a:prstGeom prst="rect">
            <a:avLst/>
          </a:prstGeom>
          <a:noFill/>
        </p:spPr>
        <p:txBody>
          <a:bodyPr wrap="square" lIns="36000" rIns="36000" tIns="18000" bIns="18000" anchor="t">
            <a:spAutoFit/>
          </a:bodyPr>
          <a:lstStyle/>
          <a:p>
            <a:pPr algn="l">
              <a:lnSpc>
                <a:spcPct val="110000"/>
              </a:lnSpc>
            </a:pPr>
            <a:r>
              <a:rPr sz="1500" b="1">
                <a:solidFill>
                  <a:srgbClr val="E84E0E"/>
                </a:solidFill>
                <a:latin typeface="Arial"/>
              </a:rPr>
              <a:t>Ce qu'il fait</a:t>
            </a:r>
          </a:p>
        </p:txBody>
      </p:sp>
      <p:sp>
        <p:nvSpPr>
          <p:cNvPr id="16" name="TextBox 15"/>
          <p:cNvSpPr txBox="1"/>
          <p:nvPr/>
        </p:nvSpPr>
        <p:spPr>
          <a:xfrm>
            <a:off x="4320000" y="1944000"/>
            <a:ext cx="3888000" cy="3960000"/>
          </a:xfrm>
          <a:prstGeom prst="rect">
            <a:avLst/>
          </a:prstGeom>
          <a:noFill/>
        </p:spPr>
        <p:txBody>
          <a:bodyPr wrap="square">
            <a:spAutoFit/>
          </a:bodyPr>
          <a:lstStyle/>
          <a:p>
            <a:pPr>
              <a:lnSpc>
                <a:spcPct val="110000"/>
              </a:lnSpc>
              <a:spcAft>
                <a:spcPts val="700"/>
              </a:spcAft>
            </a:pPr>
            <a:r>
              <a:rPr sz="800">
                <a:solidFill>
                  <a:srgbClr val="E84E0E"/>
                </a:solidFill>
                <a:latin typeface="Arial"/>
              </a:rPr>
              <a:t>■  </a:t>
            </a:r>
            <a:r>
              <a:rPr b="1" sz="1200">
                <a:solidFill>
                  <a:srgbClr val="111111"/>
                </a:solidFill>
                <a:latin typeface="Arial"/>
              </a:rPr>
              <a:t>La vie de l'entreprise : </a:t>
            </a:r>
            <a:r>
              <a:rPr sz="1200">
                <a:solidFill>
                  <a:srgbClr val="111111"/>
                </a:solidFill>
                <a:latin typeface="Arial"/>
              </a:rPr>
              <a:t>salon Afrik Embal, prix des Éléphants de l'Emballage 2026, visite d'ambassadeur.</a:t>
            </a:r>
          </a:p>
          <a:p>
            <a:pPr>
              <a:lnSpc>
                <a:spcPct val="110000"/>
              </a:lnSpc>
              <a:spcAft>
                <a:spcPts val="700"/>
              </a:spcAft>
            </a:pPr>
            <a:r>
              <a:rPr sz="800">
                <a:solidFill>
                  <a:srgbClr val="E84E0E"/>
                </a:solidFill>
                <a:latin typeface="Arial"/>
              </a:rPr>
              <a:t>■  </a:t>
            </a:r>
            <a:r>
              <a:rPr b="1" sz="1200">
                <a:solidFill>
                  <a:srgbClr val="111111"/>
                </a:solidFill>
                <a:latin typeface="Arial"/>
              </a:rPr>
              <a:t>Des engagements visibles : </a:t>
            </a:r>
            <a:r>
              <a:rPr sz="1200">
                <a:solidFill>
                  <a:srgbClr val="111111"/>
                </a:solidFill>
                <a:latin typeface="Arial"/>
              </a:rPr>
              <a:t>Octobre Rose, Semaine de la mère de Koumassi, partenariat avec Magic System FC.</a:t>
            </a:r>
          </a:p>
          <a:p>
            <a:pPr>
              <a:lnSpc>
                <a:spcPct val="110000"/>
              </a:lnSpc>
              <a:spcAft>
                <a:spcPts val="700"/>
              </a:spcAft>
            </a:pPr>
            <a:r>
              <a:rPr sz="800">
                <a:solidFill>
                  <a:srgbClr val="E84E0E"/>
                </a:solidFill>
                <a:latin typeface="Arial"/>
              </a:rPr>
              <a:t>■  </a:t>
            </a:r>
            <a:r>
              <a:rPr b="1" sz="1200">
                <a:solidFill>
                  <a:srgbClr val="111111"/>
                </a:solidFill>
                <a:latin typeface="Arial"/>
              </a:rPr>
              <a:t>LinkedIn comme vitrine : </a:t>
            </a:r>
            <a:r>
              <a:rPr sz="1200">
                <a:solidFill>
                  <a:srgbClr val="111111"/>
                </a:solidFill>
                <a:latin typeface="Arial"/>
              </a:rPr>
              <a:t>6 400 abonnés et 37 réactions par post en médiane.</a:t>
            </a:r>
          </a:p>
          <a:p>
            <a:pPr>
              <a:lnSpc>
                <a:spcPct val="110000"/>
              </a:lnSpc>
              <a:spcAft>
                <a:spcPts val="700"/>
              </a:spcAft>
            </a:pPr>
            <a:r>
              <a:rPr sz="800">
                <a:solidFill>
                  <a:srgbClr val="E84E0E"/>
                </a:solidFill>
                <a:latin typeface="Arial"/>
              </a:rPr>
              <a:t>■  </a:t>
            </a:r>
            <a:r>
              <a:rPr b="1" sz="1200">
                <a:solidFill>
                  <a:srgbClr val="111111"/>
                </a:solidFill>
                <a:latin typeface="Arial"/>
              </a:rPr>
              <a:t>Peu de produits </a:t>
            </a:r>
            <a:r>
              <a:rPr sz="1200">
                <a:solidFill>
                  <a:srgbClr val="111111"/>
                </a:solidFill>
                <a:latin typeface="Arial"/>
              </a:rPr>
              <a:t>dans les posts : la marque passe avant le catalogue.</a:t>
            </a:r>
          </a:p>
        </p:txBody>
      </p:sp>
      <p:sp>
        <p:nvSpPr>
          <p:cNvPr id="17" name="Rectangle 16"/>
          <p:cNvSpPr/>
          <p:nvPr/>
        </p:nvSpPr>
        <p:spPr>
          <a:xfrm>
            <a:off x="8424000" y="1584000"/>
            <a:ext cx="3240000" cy="4284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0000" y="1764000"/>
            <a:ext cx="2880000" cy="360000"/>
          </a:xfrm>
          <a:prstGeom prst="rect">
            <a:avLst/>
          </a:prstGeom>
          <a:noFill/>
        </p:spPr>
        <p:txBody>
          <a:bodyPr wrap="square" lIns="36000" rIns="36000" tIns="18000" bIns="18000" anchor="t">
            <a:spAutoFit/>
          </a:bodyPr>
          <a:lstStyle/>
          <a:p>
            <a:pPr algn="l">
              <a:lnSpc>
                <a:spcPct val="110000"/>
              </a:lnSpc>
            </a:pPr>
            <a:r>
              <a:rPr sz="1400" b="1">
                <a:solidFill>
                  <a:srgbClr val="E84E0E"/>
                </a:solidFill>
                <a:latin typeface="Arial"/>
              </a:rPr>
              <a:t>À reprendre pour TAJ PLAST</a:t>
            </a:r>
          </a:p>
        </p:txBody>
      </p:sp>
      <p:sp>
        <p:nvSpPr>
          <p:cNvPr id="19" name="TextBox 18"/>
          <p:cNvSpPr txBox="1"/>
          <p:nvPr/>
        </p:nvSpPr>
        <p:spPr>
          <a:xfrm>
            <a:off x="8640000" y="2232000"/>
            <a:ext cx="2844000" cy="3528000"/>
          </a:xfrm>
          <a:prstGeom prst="rect">
            <a:avLst/>
          </a:prstGeom>
          <a:noFill/>
        </p:spPr>
        <p:txBody>
          <a:bodyPr wrap="square" lIns="36000" rIns="36000" tIns="18000" bIns="18000" anchor="t">
            <a:spAutoFit/>
          </a:bodyPr>
          <a:lstStyle/>
          <a:p>
            <a:pPr algn="l">
              <a:lnSpc>
                <a:spcPct val="110000"/>
              </a:lnSpc>
            </a:pPr>
            <a:r>
              <a:rPr sz="1300" b="0">
                <a:solidFill>
                  <a:srgbClr val="FFFFFF"/>
                </a:solidFill>
                <a:latin typeface="Arial"/>
              </a:rPr>
              <a:t>LinkedIn est lu par les acheteurs et les distributeurs. Montrer l'usine, les salons, les engagements de Taj Recyclage et les équipes, c'est ce qui donne confiance avant une commande.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CONCURRENT DIRECT · GAMME MAISON</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OK PLAST</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11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ounded Rectangle 9"/>
          <p:cNvSpPr/>
          <p:nvPr/>
        </p:nvSpPr>
        <p:spPr>
          <a:xfrm>
            <a:off x="576000" y="1584000"/>
            <a:ext cx="3311999" cy="1007999"/>
          </a:xfrm>
          <a:prstGeom prst="round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_okplast.png"/>
          <p:cNvPicPr>
            <a:picLocks noChangeAspect="1"/>
          </p:cNvPicPr>
          <p:nvPr/>
        </p:nvPicPr>
        <p:blipFill>
          <a:blip r:embed="rId3"/>
          <a:stretch>
            <a:fillRect/>
          </a:stretch>
        </p:blipFill>
        <p:spPr>
          <a:xfrm>
            <a:off x="827999" y="1842507"/>
            <a:ext cx="2808000" cy="490986"/>
          </a:xfrm>
          <a:prstGeom prst="rect">
            <a:avLst/>
          </a:prstGeom>
        </p:spPr>
      </p:pic>
      <p:sp>
        <p:nvSpPr>
          <p:cNvPr id="12" name="TextBox 11"/>
          <p:cNvSpPr txBox="1"/>
          <p:nvPr/>
        </p:nvSpPr>
        <p:spPr>
          <a:xfrm>
            <a:off x="576000" y="2736000"/>
            <a:ext cx="3384000" cy="1368000"/>
          </a:xfrm>
          <a:prstGeom prst="rect">
            <a:avLst/>
          </a:prstGeom>
          <a:noFill/>
        </p:spPr>
        <p:txBody>
          <a:bodyPr wrap="square">
            <a:spAutoFit/>
          </a:bodyPr>
          <a:lstStyle/>
          <a:p>
            <a:pPr>
              <a:lnSpc>
                <a:spcPct val="110000"/>
              </a:lnSpc>
              <a:spcAft>
                <a:spcPts val="700"/>
              </a:spcAft>
            </a:pPr>
            <a:r>
              <a:rPr sz="700">
                <a:solidFill>
                  <a:srgbClr val="159641"/>
                </a:solidFill>
                <a:latin typeface="Arial"/>
              </a:rPr>
              <a:t>■  </a:t>
            </a:r>
            <a:r>
              <a:rPr sz="1100">
                <a:solidFill>
                  <a:srgbClr val="5A5A5A"/>
                </a:solidFill>
                <a:latin typeface="Arial"/>
              </a:rPr>
              <a:t>Yopougon, zone industrielle</a:t>
            </a:r>
          </a:p>
          <a:p>
            <a:pPr>
              <a:lnSpc>
                <a:spcPct val="110000"/>
              </a:lnSpc>
              <a:spcAft>
                <a:spcPts val="700"/>
              </a:spcAft>
            </a:pPr>
            <a:r>
              <a:rPr sz="700">
                <a:solidFill>
                  <a:srgbClr val="159641"/>
                </a:solidFill>
                <a:latin typeface="Arial"/>
              </a:rPr>
              <a:t>■  </a:t>
            </a:r>
            <a:r>
              <a:rPr sz="1100">
                <a:solidFill>
                  <a:srgbClr val="5A5A5A"/>
                </a:solidFill>
                <a:latin typeface="Arial"/>
              </a:rPr>
              <a:t>Page LinkedIn active</a:t>
            </a:r>
          </a:p>
          <a:p>
            <a:pPr>
              <a:lnSpc>
                <a:spcPct val="110000"/>
              </a:lnSpc>
              <a:spcAft>
                <a:spcPts val="700"/>
              </a:spcAft>
            </a:pPr>
            <a:r>
              <a:rPr sz="700">
                <a:solidFill>
                  <a:srgbClr val="159641"/>
                </a:solidFill>
                <a:latin typeface="Arial"/>
              </a:rPr>
              <a:t>■  </a:t>
            </a:r>
            <a:r>
              <a:rPr sz="1100">
                <a:solidFill>
                  <a:srgbClr val="5A5A5A"/>
                </a:solidFill>
                <a:latin typeface="Arial"/>
              </a:rPr>
              <a:t>Présence Facebook non vérifiable</a:t>
            </a:r>
          </a:p>
        </p:txBody>
      </p:sp>
      <p:sp>
        <p:nvSpPr>
          <p:cNvPr id="13" name="TextBox 12"/>
          <p:cNvSpPr txBox="1"/>
          <p:nvPr/>
        </p:nvSpPr>
        <p:spPr>
          <a:xfrm>
            <a:off x="4320000" y="1548000"/>
            <a:ext cx="3960000" cy="360000"/>
          </a:xfrm>
          <a:prstGeom prst="rect">
            <a:avLst/>
          </a:prstGeom>
          <a:noFill/>
        </p:spPr>
        <p:txBody>
          <a:bodyPr wrap="square" lIns="36000" rIns="36000" tIns="18000" bIns="18000" anchor="t">
            <a:spAutoFit/>
          </a:bodyPr>
          <a:lstStyle/>
          <a:p>
            <a:pPr algn="l">
              <a:lnSpc>
                <a:spcPct val="110000"/>
              </a:lnSpc>
            </a:pPr>
            <a:r>
              <a:rPr sz="1500" b="1">
                <a:solidFill>
                  <a:srgbClr val="E84E0E"/>
                </a:solidFill>
                <a:latin typeface="Arial"/>
              </a:rPr>
              <a:t>Ce qu'il fait</a:t>
            </a:r>
          </a:p>
        </p:txBody>
      </p:sp>
      <p:sp>
        <p:nvSpPr>
          <p:cNvPr id="14" name="TextBox 13"/>
          <p:cNvSpPr txBox="1"/>
          <p:nvPr/>
        </p:nvSpPr>
        <p:spPr>
          <a:xfrm>
            <a:off x="4320000" y="1944000"/>
            <a:ext cx="3888000" cy="3960000"/>
          </a:xfrm>
          <a:prstGeom prst="rect">
            <a:avLst/>
          </a:prstGeom>
          <a:noFill/>
        </p:spPr>
        <p:txBody>
          <a:bodyPr wrap="square">
            <a:spAutoFit/>
          </a:bodyPr>
          <a:lstStyle/>
          <a:p>
            <a:pPr>
              <a:lnSpc>
                <a:spcPct val="110000"/>
              </a:lnSpc>
              <a:spcAft>
                <a:spcPts val="700"/>
              </a:spcAft>
            </a:pPr>
            <a:r>
              <a:rPr sz="800">
                <a:solidFill>
                  <a:srgbClr val="E84E0E"/>
                </a:solidFill>
                <a:latin typeface="Arial"/>
              </a:rPr>
              <a:t>■  </a:t>
            </a:r>
            <a:r>
              <a:rPr b="1" sz="1200">
                <a:solidFill>
                  <a:srgbClr val="111111"/>
                </a:solidFill>
                <a:latin typeface="Arial"/>
              </a:rPr>
              <a:t>Un site catalogue </a:t>
            </a:r>
            <a:r>
              <a:rPr sz="1200">
                <a:solidFill>
                  <a:srgbClr val="111111"/>
                </a:solidFill>
                <a:latin typeface="Arial"/>
              </a:rPr>
              <a:t>classé par usage, avec rubriques « Nouveautés » et « B2B ».</a:t>
            </a:r>
          </a:p>
          <a:p>
            <a:pPr>
              <a:lnSpc>
                <a:spcPct val="110000"/>
              </a:lnSpc>
              <a:spcAft>
                <a:spcPts val="700"/>
              </a:spcAft>
            </a:pPr>
            <a:r>
              <a:rPr sz="800">
                <a:solidFill>
                  <a:srgbClr val="E84E0E"/>
                </a:solidFill>
                <a:latin typeface="Arial"/>
              </a:rPr>
              <a:t>■  </a:t>
            </a:r>
            <a:r>
              <a:rPr b="1" sz="1200">
                <a:solidFill>
                  <a:srgbClr val="111111"/>
                </a:solidFill>
                <a:latin typeface="Arial"/>
              </a:rPr>
              <a:t>Le « fabriqué en Côte d'Ivoire » </a:t>
            </a:r>
            <a:r>
              <a:rPr sz="1200">
                <a:solidFill>
                  <a:srgbClr val="111111"/>
                </a:solidFill>
                <a:latin typeface="Arial"/>
              </a:rPr>
              <a:t>mis en avant.</a:t>
            </a:r>
          </a:p>
          <a:p>
            <a:pPr>
              <a:lnSpc>
                <a:spcPct val="110000"/>
              </a:lnSpc>
              <a:spcAft>
                <a:spcPts val="700"/>
              </a:spcAft>
            </a:pPr>
            <a:r>
              <a:rPr sz="800">
                <a:solidFill>
                  <a:srgbClr val="E84E0E"/>
                </a:solidFill>
                <a:latin typeface="Arial"/>
              </a:rPr>
              <a:t>■  </a:t>
            </a:r>
            <a:r>
              <a:rPr b="1" sz="1200">
                <a:solidFill>
                  <a:srgbClr val="111111"/>
                </a:solidFill>
                <a:latin typeface="Arial"/>
              </a:rPr>
              <a:t>Mais un lien Facebook erroné : </a:t>
            </a:r>
            <a:r>
              <a:rPr sz="1200">
                <a:solidFill>
                  <a:srgbClr val="111111"/>
                </a:solidFill>
                <a:latin typeface="Arial"/>
              </a:rPr>
              <a:t>le site renvoie vers la page d'un homonyme congolais.</a:t>
            </a:r>
          </a:p>
          <a:p>
            <a:pPr>
              <a:lnSpc>
                <a:spcPct val="110000"/>
              </a:lnSpc>
              <a:spcAft>
                <a:spcPts val="700"/>
              </a:spcAft>
            </a:pPr>
            <a:r>
              <a:rPr sz="800">
                <a:solidFill>
                  <a:srgbClr val="E84E0E"/>
                </a:solidFill>
                <a:latin typeface="Arial"/>
              </a:rPr>
              <a:t>■  </a:t>
            </a:r>
            <a:r>
              <a:rPr b="1" sz="1200">
                <a:solidFill>
                  <a:srgbClr val="111111"/>
                </a:solidFill>
                <a:latin typeface="Arial"/>
              </a:rPr>
              <a:t>Aucun compte Instagram </a:t>
            </a:r>
            <a:r>
              <a:rPr sz="1200">
                <a:solidFill>
                  <a:srgbClr val="111111"/>
                </a:solidFill>
                <a:latin typeface="Arial"/>
              </a:rPr>
              <a:t>trouvé.</a:t>
            </a:r>
          </a:p>
        </p:txBody>
      </p:sp>
      <p:sp>
        <p:nvSpPr>
          <p:cNvPr id="15" name="Rectangle 14"/>
          <p:cNvSpPr/>
          <p:nvPr/>
        </p:nvSpPr>
        <p:spPr>
          <a:xfrm>
            <a:off x="8424000" y="1584000"/>
            <a:ext cx="3240000" cy="4284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0" y="1764000"/>
            <a:ext cx="2880000" cy="360000"/>
          </a:xfrm>
          <a:prstGeom prst="rect">
            <a:avLst/>
          </a:prstGeom>
          <a:noFill/>
        </p:spPr>
        <p:txBody>
          <a:bodyPr wrap="square" lIns="36000" rIns="36000" tIns="18000" bIns="18000" anchor="t">
            <a:spAutoFit/>
          </a:bodyPr>
          <a:lstStyle/>
          <a:p>
            <a:pPr algn="l">
              <a:lnSpc>
                <a:spcPct val="110000"/>
              </a:lnSpc>
            </a:pPr>
            <a:r>
              <a:rPr sz="1400" b="1">
                <a:solidFill>
                  <a:srgbClr val="E84E0E"/>
                </a:solidFill>
                <a:latin typeface="Arial"/>
              </a:rPr>
              <a:t>À reprendre pour TAJ PLAST</a:t>
            </a:r>
          </a:p>
        </p:txBody>
      </p:sp>
      <p:sp>
        <p:nvSpPr>
          <p:cNvPr id="17" name="TextBox 16"/>
          <p:cNvSpPr txBox="1"/>
          <p:nvPr/>
        </p:nvSpPr>
        <p:spPr>
          <a:xfrm>
            <a:off x="8640000" y="2232000"/>
            <a:ext cx="2844000" cy="3528000"/>
          </a:xfrm>
          <a:prstGeom prst="rect">
            <a:avLst/>
          </a:prstGeom>
          <a:noFill/>
        </p:spPr>
        <p:txBody>
          <a:bodyPr wrap="square" lIns="36000" rIns="36000" tIns="18000" bIns="18000" anchor="t">
            <a:spAutoFit/>
          </a:bodyPr>
          <a:lstStyle/>
          <a:p>
            <a:pPr algn="l">
              <a:lnSpc>
                <a:spcPct val="110000"/>
              </a:lnSpc>
            </a:pPr>
            <a:r>
              <a:rPr sz="1300" b="0">
                <a:solidFill>
                  <a:srgbClr val="FFFFFF"/>
                </a:solidFill>
                <a:latin typeface="Arial"/>
              </a:rPr>
              <a:t>Sur la maison, personne ne domine en ligne. Un site propre avec un vrai catalogue par usage, et une rubrique « Revendeurs », suffit à passer devant.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RECOMMANDATIONS</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Trois recommandations</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12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Rectangle 9"/>
          <p:cNvSpPr/>
          <p:nvPr/>
        </p:nvSpPr>
        <p:spPr>
          <a:xfrm>
            <a:off x="576000" y="1584000"/>
            <a:ext cx="3528000" cy="4320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6000" y="1584000"/>
            <a:ext cx="3528000" cy="936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6000" y="1638000"/>
            <a:ext cx="576000" cy="827999"/>
          </a:xfrm>
          <a:prstGeom prst="rect">
            <a:avLst/>
          </a:prstGeom>
          <a:noFill/>
        </p:spPr>
        <p:txBody>
          <a:bodyPr wrap="square" lIns="36000" rIns="36000" tIns="18000" bIns="18000" anchor="ctr">
            <a:spAutoFit/>
          </a:bodyPr>
          <a:lstStyle/>
          <a:p>
            <a:pPr algn="l">
              <a:lnSpc>
                <a:spcPct val="110000"/>
              </a:lnSpc>
            </a:pPr>
            <a:r>
              <a:rPr sz="3400" b="1">
                <a:solidFill>
                  <a:srgbClr val="FFFFFF"/>
                </a:solidFill>
                <a:latin typeface="Arial"/>
              </a:rPr>
              <a:t>1</a:t>
            </a:r>
          </a:p>
        </p:txBody>
      </p:sp>
      <p:sp>
        <p:nvSpPr>
          <p:cNvPr id="13" name="TextBox 12"/>
          <p:cNvSpPr txBox="1"/>
          <p:nvPr/>
        </p:nvSpPr>
        <p:spPr>
          <a:xfrm>
            <a:off x="1332000" y="1692000"/>
            <a:ext cx="2700000" cy="432000"/>
          </a:xfrm>
          <a:prstGeom prst="rect">
            <a:avLst/>
          </a:prstGeom>
          <a:noFill/>
        </p:spPr>
        <p:txBody>
          <a:bodyPr wrap="square" lIns="36000" rIns="36000" tIns="18000" bIns="18000" anchor="t">
            <a:spAutoFit/>
          </a:bodyPr>
          <a:lstStyle/>
          <a:p>
            <a:pPr algn="l">
              <a:lnSpc>
                <a:spcPct val="110000"/>
              </a:lnSpc>
            </a:pPr>
            <a:r>
              <a:rPr sz="1700" b="1">
                <a:solidFill>
                  <a:srgbClr val="FFFFFF"/>
                </a:solidFill>
                <a:latin typeface="Arial"/>
              </a:rPr>
              <a:t>Réparer la vitrine</a:t>
            </a:r>
          </a:p>
        </p:txBody>
      </p:sp>
      <p:sp>
        <p:nvSpPr>
          <p:cNvPr id="14" name="TextBox 13"/>
          <p:cNvSpPr txBox="1"/>
          <p:nvPr/>
        </p:nvSpPr>
        <p:spPr>
          <a:xfrm>
            <a:off x="1332000" y="2124000"/>
            <a:ext cx="2700000" cy="324000"/>
          </a:xfrm>
          <a:prstGeom prst="rect">
            <a:avLst/>
          </a:prstGeom>
          <a:noFill/>
        </p:spPr>
        <p:txBody>
          <a:bodyPr wrap="square" lIns="36000" rIns="36000" tIns="18000" bIns="18000" anchor="t">
            <a:spAutoFit/>
          </a:bodyPr>
          <a:lstStyle/>
          <a:p>
            <a:pPr algn="l">
              <a:lnSpc>
                <a:spcPct val="110000"/>
              </a:lnSpc>
            </a:pPr>
            <a:r>
              <a:rPr sz="1100" b="0">
                <a:solidFill>
                  <a:srgbClr val="FFFFFF"/>
                </a:solidFill>
                <a:latin typeface="Arial"/>
              </a:rPr>
              <a:t>En deux semaines</a:t>
            </a:r>
          </a:p>
        </p:txBody>
      </p:sp>
      <p:sp>
        <p:nvSpPr>
          <p:cNvPr id="15" name="TextBox 14"/>
          <p:cNvSpPr txBox="1"/>
          <p:nvPr/>
        </p:nvSpPr>
        <p:spPr>
          <a:xfrm>
            <a:off x="756000" y="2700000"/>
            <a:ext cx="3204000" cy="3096000"/>
          </a:xfrm>
          <a:prstGeom prst="rect">
            <a:avLst/>
          </a:prstGeom>
          <a:noFill/>
        </p:spPr>
        <p:txBody>
          <a:bodyPr wrap="square">
            <a:spAutoFit/>
          </a:bodyPr>
          <a:lstStyle/>
          <a:p>
            <a:pPr>
              <a:lnSpc>
                <a:spcPct val="110000"/>
              </a:lnSpc>
              <a:spcAft>
                <a:spcPts val="700"/>
              </a:spcAft>
            </a:pPr>
            <a:r>
              <a:rPr sz="800">
                <a:solidFill>
                  <a:srgbClr val="E84E0E"/>
                </a:solidFill>
                <a:latin typeface="Arial"/>
              </a:rPr>
              <a:t>■  </a:t>
            </a:r>
            <a:r>
              <a:rPr sz="1200">
                <a:solidFill>
                  <a:srgbClr val="111111"/>
                </a:solidFill>
                <a:latin typeface="Arial"/>
              </a:rPr>
              <a:t>Remplacer tout le latin par de vrais textes.</a:t>
            </a:r>
          </a:p>
          <a:p>
            <a:pPr>
              <a:lnSpc>
                <a:spcPct val="110000"/>
              </a:lnSpc>
              <a:spcAft>
                <a:spcPts val="700"/>
              </a:spcAft>
            </a:pPr>
            <a:r>
              <a:rPr sz="800">
                <a:solidFill>
                  <a:srgbClr val="E84E0E"/>
                </a:solidFill>
                <a:latin typeface="Arial"/>
              </a:rPr>
              <a:t>■  </a:t>
            </a:r>
            <a:r>
              <a:rPr sz="1200">
                <a:solidFill>
                  <a:srgbClr val="111111"/>
                </a:solidFill>
                <a:latin typeface="Arial"/>
              </a:rPr>
              <a:t>Brancher WhatsApp, Instagram, LinkedIn ; retirer Google+.</a:t>
            </a:r>
          </a:p>
          <a:p>
            <a:pPr>
              <a:lnSpc>
                <a:spcPct val="110000"/>
              </a:lnSpc>
              <a:spcAft>
                <a:spcPts val="700"/>
              </a:spcAft>
            </a:pPr>
            <a:r>
              <a:rPr sz="800">
                <a:solidFill>
                  <a:srgbClr val="E84E0E"/>
                </a:solidFill>
                <a:latin typeface="Arial"/>
              </a:rPr>
              <a:t>■  </a:t>
            </a:r>
            <a:r>
              <a:rPr sz="1200">
                <a:solidFill>
                  <a:srgbClr val="111111"/>
                </a:solidFill>
                <a:latin typeface="Arial"/>
              </a:rPr>
              <a:t>Bouton « Écrire sur WhatsApp » et lien Jumia sur chaque page.</a:t>
            </a:r>
          </a:p>
          <a:p>
            <a:pPr>
              <a:lnSpc>
                <a:spcPct val="110000"/>
              </a:lnSpc>
              <a:spcAft>
                <a:spcPts val="700"/>
              </a:spcAft>
            </a:pPr>
            <a:r>
              <a:rPr sz="800">
                <a:solidFill>
                  <a:srgbClr val="E84E0E"/>
                </a:solidFill>
                <a:latin typeface="Arial"/>
              </a:rPr>
              <a:t>■  </a:t>
            </a:r>
            <a:r>
              <a:rPr sz="1200">
                <a:solidFill>
                  <a:srgbClr val="111111"/>
                </a:solidFill>
                <a:latin typeface="Arial"/>
              </a:rPr>
              <a:t>Une page Taj Recyclage et une page Revendeurs.</a:t>
            </a:r>
          </a:p>
        </p:txBody>
      </p:sp>
      <p:sp>
        <p:nvSpPr>
          <p:cNvPr id="16" name="Rectangle 15"/>
          <p:cNvSpPr/>
          <p:nvPr/>
        </p:nvSpPr>
        <p:spPr>
          <a:xfrm>
            <a:off x="4320000" y="1584000"/>
            <a:ext cx="3528000" cy="4320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20000" y="1584000"/>
            <a:ext cx="3528000" cy="9360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00000" y="1638000"/>
            <a:ext cx="576000" cy="827999"/>
          </a:xfrm>
          <a:prstGeom prst="rect">
            <a:avLst/>
          </a:prstGeom>
          <a:noFill/>
        </p:spPr>
        <p:txBody>
          <a:bodyPr wrap="square" lIns="36000" rIns="36000" tIns="18000" bIns="18000" anchor="ctr">
            <a:spAutoFit/>
          </a:bodyPr>
          <a:lstStyle/>
          <a:p>
            <a:pPr algn="l">
              <a:lnSpc>
                <a:spcPct val="110000"/>
              </a:lnSpc>
            </a:pPr>
            <a:r>
              <a:rPr sz="3400" b="1">
                <a:solidFill>
                  <a:srgbClr val="FFFFFF"/>
                </a:solidFill>
                <a:latin typeface="Arial"/>
              </a:rPr>
              <a:t>2</a:t>
            </a:r>
          </a:p>
        </p:txBody>
      </p:sp>
      <p:sp>
        <p:nvSpPr>
          <p:cNvPr id="19" name="TextBox 18"/>
          <p:cNvSpPr txBox="1"/>
          <p:nvPr/>
        </p:nvSpPr>
        <p:spPr>
          <a:xfrm>
            <a:off x="5076000" y="1692000"/>
            <a:ext cx="2700000" cy="432000"/>
          </a:xfrm>
          <a:prstGeom prst="rect">
            <a:avLst/>
          </a:prstGeom>
          <a:noFill/>
        </p:spPr>
        <p:txBody>
          <a:bodyPr wrap="square" lIns="36000" rIns="36000" tIns="18000" bIns="18000" anchor="t">
            <a:spAutoFit/>
          </a:bodyPr>
          <a:lstStyle/>
          <a:p>
            <a:pPr algn="l">
              <a:lnSpc>
                <a:spcPct val="110000"/>
              </a:lnSpc>
            </a:pPr>
            <a:r>
              <a:rPr sz="1700" b="1">
                <a:solidFill>
                  <a:srgbClr val="FFFFFF"/>
                </a:solidFill>
                <a:latin typeface="Arial"/>
              </a:rPr>
              <a:t>Publier moins, mieux</a:t>
            </a:r>
          </a:p>
        </p:txBody>
      </p:sp>
      <p:sp>
        <p:nvSpPr>
          <p:cNvPr id="20" name="TextBox 19"/>
          <p:cNvSpPr txBox="1"/>
          <p:nvPr/>
        </p:nvSpPr>
        <p:spPr>
          <a:xfrm>
            <a:off x="5076000" y="2124000"/>
            <a:ext cx="2700000" cy="324000"/>
          </a:xfrm>
          <a:prstGeom prst="rect">
            <a:avLst/>
          </a:prstGeom>
          <a:noFill/>
        </p:spPr>
        <p:txBody>
          <a:bodyPr wrap="square" lIns="36000" rIns="36000" tIns="18000" bIns="18000" anchor="t">
            <a:spAutoFit/>
          </a:bodyPr>
          <a:lstStyle/>
          <a:p>
            <a:pPr algn="l">
              <a:lnSpc>
                <a:spcPct val="110000"/>
              </a:lnSpc>
            </a:pPr>
            <a:r>
              <a:rPr sz="1100" b="0">
                <a:solidFill>
                  <a:srgbClr val="FFFFFF"/>
                </a:solidFill>
                <a:latin typeface="Arial"/>
              </a:rPr>
              <a:t>Dès décembre</a:t>
            </a:r>
          </a:p>
        </p:txBody>
      </p:sp>
      <p:sp>
        <p:nvSpPr>
          <p:cNvPr id="21" name="TextBox 20"/>
          <p:cNvSpPr txBox="1"/>
          <p:nvPr/>
        </p:nvSpPr>
        <p:spPr>
          <a:xfrm>
            <a:off x="4500000" y="2700000"/>
            <a:ext cx="3204000" cy="3096000"/>
          </a:xfrm>
          <a:prstGeom prst="rect">
            <a:avLst/>
          </a:prstGeom>
          <a:noFill/>
        </p:spPr>
        <p:txBody>
          <a:bodyPr wrap="square">
            <a:spAutoFit/>
          </a:bodyPr>
          <a:lstStyle/>
          <a:p>
            <a:pPr>
              <a:lnSpc>
                <a:spcPct val="110000"/>
              </a:lnSpc>
              <a:spcAft>
                <a:spcPts val="700"/>
              </a:spcAft>
            </a:pPr>
            <a:r>
              <a:rPr sz="800">
                <a:solidFill>
                  <a:srgbClr val="159641"/>
                </a:solidFill>
                <a:latin typeface="Arial"/>
              </a:rPr>
              <a:t>■  </a:t>
            </a:r>
            <a:r>
              <a:rPr sz="1200">
                <a:solidFill>
                  <a:srgbClr val="111111"/>
                </a:solidFill>
                <a:latin typeface="Arial"/>
              </a:rPr>
              <a:t>3 posts par semaine sur Facebook au lieu de ~22.</a:t>
            </a:r>
          </a:p>
          <a:p>
            <a:pPr>
              <a:lnSpc>
                <a:spcPct val="110000"/>
              </a:lnSpc>
              <a:spcAft>
                <a:spcPts val="700"/>
              </a:spcAft>
            </a:pPr>
            <a:r>
              <a:rPr sz="800">
                <a:solidFill>
                  <a:srgbClr val="159641"/>
                </a:solidFill>
                <a:latin typeface="Arial"/>
              </a:rPr>
              <a:t>■  </a:t>
            </a:r>
            <a:r>
              <a:rPr sz="1200">
                <a:solidFill>
                  <a:srgbClr val="111111"/>
                </a:solidFill>
                <a:latin typeface="Arial"/>
              </a:rPr>
              <a:t>Chaque post : une scène, une question, puis les contacts en fin de texte.</a:t>
            </a:r>
          </a:p>
          <a:p>
            <a:pPr>
              <a:lnSpc>
                <a:spcPct val="110000"/>
              </a:lnSpc>
              <a:spcAft>
                <a:spcPts val="700"/>
              </a:spcAft>
            </a:pPr>
            <a:r>
              <a:rPr sz="800">
                <a:solidFill>
                  <a:srgbClr val="159641"/>
                </a:solidFill>
                <a:latin typeface="Arial"/>
              </a:rPr>
              <a:t>■  </a:t>
            </a:r>
            <a:r>
              <a:rPr sz="1200">
                <a:solidFill>
                  <a:srgbClr val="111111"/>
                </a:solidFill>
                <a:latin typeface="Arial"/>
              </a:rPr>
              <a:t>Une vidéo courte par semaine, tournée à l'usine ou chez un client.</a:t>
            </a:r>
          </a:p>
          <a:p>
            <a:pPr>
              <a:lnSpc>
                <a:spcPct val="110000"/>
              </a:lnSpc>
              <a:spcAft>
                <a:spcPts val="700"/>
              </a:spcAft>
            </a:pPr>
            <a:r>
              <a:rPr sz="800">
                <a:solidFill>
                  <a:srgbClr val="159641"/>
                </a:solidFill>
                <a:latin typeface="Arial"/>
              </a:rPr>
              <a:t>■  </a:t>
            </a:r>
            <a:r>
              <a:rPr sz="1200">
                <a:solidFill>
                  <a:srgbClr val="111111"/>
                </a:solidFill>
                <a:latin typeface="Arial"/>
              </a:rPr>
              <a:t>La publicité réservée aux posts qui marchent déjà.</a:t>
            </a:r>
          </a:p>
        </p:txBody>
      </p:sp>
      <p:sp>
        <p:nvSpPr>
          <p:cNvPr id="22" name="Rectangle 21"/>
          <p:cNvSpPr/>
          <p:nvPr/>
        </p:nvSpPr>
        <p:spPr>
          <a:xfrm>
            <a:off x="8064000" y="1584000"/>
            <a:ext cx="3528000" cy="4320000"/>
          </a:xfrm>
          <a:prstGeom prst="rect">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64000" y="1584000"/>
            <a:ext cx="3528000" cy="936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4000" y="1638000"/>
            <a:ext cx="576000" cy="827999"/>
          </a:xfrm>
          <a:prstGeom prst="rect">
            <a:avLst/>
          </a:prstGeom>
          <a:noFill/>
        </p:spPr>
        <p:txBody>
          <a:bodyPr wrap="square" lIns="36000" rIns="36000" tIns="18000" bIns="18000" anchor="ctr">
            <a:spAutoFit/>
          </a:bodyPr>
          <a:lstStyle/>
          <a:p>
            <a:pPr algn="l">
              <a:lnSpc>
                <a:spcPct val="110000"/>
              </a:lnSpc>
            </a:pPr>
            <a:r>
              <a:rPr sz="3400" b="1">
                <a:solidFill>
                  <a:srgbClr val="FFFFFF"/>
                </a:solidFill>
                <a:latin typeface="Arial"/>
              </a:rPr>
              <a:t>3</a:t>
            </a:r>
          </a:p>
        </p:txBody>
      </p:sp>
      <p:sp>
        <p:nvSpPr>
          <p:cNvPr id="25" name="TextBox 24"/>
          <p:cNvSpPr txBox="1"/>
          <p:nvPr/>
        </p:nvSpPr>
        <p:spPr>
          <a:xfrm>
            <a:off x="8820000" y="1692000"/>
            <a:ext cx="2700000" cy="432000"/>
          </a:xfrm>
          <a:prstGeom prst="rect">
            <a:avLst/>
          </a:prstGeom>
          <a:noFill/>
        </p:spPr>
        <p:txBody>
          <a:bodyPr wrap="square" lIns="36000" rIns="36000" tIns="18000" bIns="18000" anchor="t">
            <a:spAutoFit/>
          </a:bodyPr>
          <a:lstStyle/>
          <a:p>
            <a:pPr algn="l">
              <a:lnSpc>
                <a:spcPct val="110000"/>
              </a:lnSpc>
            </a:pPr>
            <a:r>
              <a:rPr sz="1700" b="1">
                <a:solidFill>
                  <a:srgbClr val="FFFFFF"/>
                </a:solidFill>
                <a:latin typeface="Arial"/>
              </a:rPr>
              <a:t>LinkedIn pour les distributeurs</a:t>
            </a:r>
          </a:p>
        </p:txBody>
      </p:sp>
      <p:sp>
        <p:nvSpPr>
          <p:cNvPr id="26" name="TextBox 25"/>
          <p:cNvSpPr txBox="1"/>
          <p:nvPr/>
        </p:nvSpPr>
        <p:spPr>
          <a:xfrm>
            <a:off x="8820000" y="2124000"/>
            <a:ext cx="2700000" cy="324000"/>
          </a:xfrm>
          <a:prstGeom prst="rect">
            <a:avLst/>
          </a:prstGeom>
          <a:noFill/>
        </p:spPr>
        <p:txBody>
          <a:bodyPr wrap="square" lIns="36000" rIns="36000" tIns="18000" bIns="18000" anchor="t">
            <a:spAutoFit/>
          </a:bodyPr>
          <a:lstStyle/>
          <a:p>
            <a:pPr algn="l">
              <a:lnSpc>
                <a:spcPct val="110000"/>
              </a:lnSpc>
            </a:pPr>
            <a:r>
              <a:rPr sz="1100" b="0">
                <a:solidFill>
                  <a:srgbClr val="FFFFFF"/>
                </a:solidFill>
                <a:latin typeface="Arial"/>
              </a:rPr>
              <a:t>Un post par semaine</a:t>
            </a:r>
          </a:p>
        </p:txBody>
      </p:sp>
      <p:sp>
        <p:nvSpPr>
          <p:cNvPr id="27" name="TextBox 26"/>
          <p:cNvSpPr txBox="1"/>
          <p:nvPr/>
        </p:nvSpPr>
        <p:spPr>
          <a:xfrm>
            <a:off x="8244000" y="2700000"/>
            <a:ext cx="3204000" cy="3096000"/>
          </a:xfrm>
          <a:prstGeom prst="rect">
            <a:avLst/>
          </a:prstGeom>
          <a:noFill/>
        </p:spPr>
        <p:txBody>
          <a:bodyPr wrap="square">
            <a:spAutoFit/>
          </a:bodyPr>
          <a:lstStyle/>
          <a:p>
            <a:pPr>
              <a:lnSpc>
                <a:spcPct val="110000"/>
              </a:lnSpc>
              <a:spcAft>
                <a:spcPts val="700"/>
              </a:spcAft>
            </a:pPr>
            <a:r>
              <a:rPr sz="800">
                <a:solidFill>
                  <a:srgbClr val="111111"/>
                </a:solidFill>
                <a:latin typeface="Arial"/>
              </a:rPr>
              <a:t>■  </a:t>
            </a:r>
            <a:r>
              <a:rPr sz="1200">
                <a:solidFill>
                  <a:srgbClr val="111111"/>
                </a:solidFill>
                <a:latin typeface="Arial"/>
              </a:rPr>
              <a:t>Usine, contrôle qualité, salons, équipes.</a:t>
            </a:r>
          </a:p>
          <a:p>
            <a:pPr>
              <a:lnSpc>
                <a:spcPct val="110000"/>
              </a:lnSpc>
              <a:spcAft>
                <a:spcPts val="700"/>
              </a:spcAft>
            </a:pPr>
            <a:r>
              <a:rPr sz="800">
                <a:solidFill>
                  <a:srgbClr val="111111"/>
                </a:solidFill>
                <a:latin typeface="Arial"/>
              </a:rPr>
              <a:t>■  </a:t>
            </a:r>
            <a:r>
              <a:rPr sz="1200">
                <a:solidFill>
                  <a:srgbClr val="111111"/>
                </a:solidFill>
                <a:latin typeface="Arial"/>
              </a:rPr>
              <a:t>Taj Recyclage comme fil rouge (voir le plan RSE).</a:t>
            </a:r>
          </a:p>
          <a:p>
            <a:pPr>
              <a:lnSpc>
                <a:spcPct val="110000"/>
              </a:lnSpc>
              <a:spcAft>
                <a:spcPts val="700"/>
              </a:spcAft>
            </a:pPr>
            <a:r>
              <a:rPr sz="800">
                <a:solidFill>
                  <a:srgbClr val="111111"/>
                </a:solidFill>
                <a:latin typeface="Arial"/>
              </a:rPr>
              <a:t>■  </a:t>
            </a:r>
            <a:r>
              <a:rPr sz="1200">
                <a:solidFill>
                  <a:srgbClr val="111111"/>
                </a:solidFill>
                <a:latin typeface="Arial"/>
              </a:rPr>
              <a:t>Le kit revendeur de la Table Choco en premier test.</a:t>
            </a:r>
          </a:p>
          <a:p>
            <a:pPr>
              <a:lnSpc>
                <a:spcPct val="110000"/>
              </a:lnSpc>
              <a:spcAft>
                <a:spcPts val="700"/>
              </a:spcAft>
            </a:pPr>
            <a:r>
              <a:rPr sz="800">
                <a:solidFill>
                  <a:srgbClr val="111111"/>
                </a:solidFill>
                <a:latin typeface="Arial"/>
              </a:rPr>
              <a:t>■  </a:t>
            </a:r>
            <a:r>
              <a:rPr sz="1200">
                <a:solidFill>
                  <a:srgbClr val="111111"/>
                </a:solidFill>
                <a:latin typeface="Arial"/>
              </a:rPr>
              <a:t>Profils de Kevin Assi et de la direction relayés.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PLAN D'ACTION</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Les 30 premiers jours et les chiffres à suivre</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13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graphicFrame>
        <p:nvGraphicFramePr>
          <p:cNvPr id="10" name="Table 9"/>
          <p:cNvGraphicFramePr>
            <a:graphicFrameLocks noGrp="1"/>
          </p:cNvGraphicFramePr>
          <p:nvPr/>
        </p:nvGraphicFramePr>
        <p:xfrm>
          <a:off x="576000" y="1584000"/>
          <a:ext cx="7343999" cy="2520000"/>
        </p:xfrm>
        <a:graphic>
          <a:graphicData uri="http://schemas.openxmlformats.org/drawingml/2006/table">
            <a:tbl>
              <a:tblPr firstRow="1" bandRow="1">
                <a:tableStyleId>{5C22544A-7EE6-4342-B048-85BDC9FD1C3A}</a:tableStyleId>
              </a:tblPr>
              <a:tblGrid>
                <a:gridCol w="1152000"/>
                <a:gridCol w="4176000"/>
                <a:gridCol w="2015999"/>
              </a:tblGrid>
              <a:tr h="504000">
                <a:tc>
                  <a:txBody>
                    <a:bodyPr/>
                    <a:lstStyle/>
                    <a:p>
                      <a:r>
                        <a:rPr sz="1200" b="1">
                          <a:solidFill>
                            <a:srgbClr val="FFFFFF"/>
                          </a:solidFill>
                          <a:latin typeface="Arial"/>
                        </a:rPr>
                        <a:t>Quand</a:t>
                      </a:r>
                    </a:p>
                  </a:txBody>
                  <a:tcPr>
                    <a:solidFill>
                      <a:srgbClr val="111111"/>
                    </a:solidFill>
                  </a:tcPr>
                </a:tc>
                <a:tc>
                  <a:txBody>
                    <a:bodyPr/>
                    <a:lstStyle/>
                    <a:p>
                      <a:r>
                        <a:rPr sz="1200" b="1">
                          <a:solidFill>
                            <a:srgbClr val="FFFFFF"/>
                          </a:solidFill>
                          <a:latin typeface="Arial"/>
                        </a:rPr>
                        <a:t>Quoi</a:t>
                      </a:r>
                    </a:p>
                  </a:txBody>
                  <a:tcPr>
                    <a:solidFill>
                      <a:srgbClr val="111111"/>
                    </a:solidFill>
                  </a:tcPr>
                </a:tc>
                <a:tc>
                  <a:txBody>
                    <a:bodyPr/>
                    <a:lstStyle/>
                    <a:p>
                      <a:r>
                        <a:rPr sz="1200" b="1">
                          <a:solidFill>
                            <a:srgbClr val="FFFFFF"/>
                          </a:solidFill>
                          <a:latin typeface="Arial"/>
                        </a:rPr>
                        <a:t>Qui</a:t>
                      </a:r>
                    </a:p>
                  </a:txBody>
                  <a:tcPr>
                    <a:solidFill>
                      <a:srgbClr val="111111"/>
                    </a:solidFill>
                  </a:tcPr>
                </a:tc>
              </a:tr>
              <a:tr h="504000">
                <a:tc>
                  <a:txBody>
                    <a:bodyPr/>
                    <a:lstStyle/>
                    <a:p>
                      <a:r>
                        <a:rPr sz="1150" b="1">
                          <a:latin typeface="Arial"/>
                        </a:rPr>
                        <a:t>Semaine 1</a:t>
                      </a:r>
                    </a:p>
                  </a:txBody>
                  <a:tcPr>
                    <a:solidFill>
                      <a:srgbClr val="F4F4F2"/>
                    </a:solidFill>
                  </a:tcPr>
                </a:tc>
                <a:tc>
                  <a:txBody>
                    <a:bodyPr/>
                    <a:lstStyle/>
                    <a:p>
                      <a:r>
                        <a:rPr sz="1150" b="0">
                          <a:latin typeface="Arial"/>
                        </a:rPr>
                        <a:t>Textes du site réécrits, liens réparés, bouton WhatsApp</a:t>
                      </a:r>
                    </a:p>
                  </a:txBody>
                  <a:tcPr>
                    <a:solidFill>
                      <a:srgbClr val="F4F4F2"/>
                    </a:solidFill>
                  </a:tcPr>
                </a:tc>
                <a:tc>
                  <a:txBody>
                    <a:bodyPr/>
                    <a:lstStyle/>
                    <a:p>
                      <a:r>
                        <a:rPr sz="1150" b="0">
                          <a:latin typeface="Arial"/>
                        </a:rPr>
                        <a:t>Webmestre + Kevin Assi</a:t>
                      </a:r>
                    </a:p>
                  </a:txBody>
                  <a:tcPr>
                    <a:solidFill>
                      <a:srgbClr val="F4F4F2"/>
                    </a:solidFill>
                  </a:tcPr>
                </a:tc>
              </a:tr>
              <a:tr h="504000">
                <a:tc>
                  <a:txBody>
                    <a:bodyPr/>
                    <a:lstStyle/>
                    <a:p>
                      <a:r>
                        <a:rPr sz="1150" b="1">
                          <a:latin typeface="Arial"/>
                        </a:rPr>
                        <a:t>Semaine 2</a:t>
                      </a:r>
                    </a:p>
                  </a:txBody>
                  <a:tcPr>
                    <a:solidFill>
                      <a:srgbClr val="FFFFFF"/>
                    </a:solidFill>
                  </a:tcPr>
                </a:tc>
                <a:tc>
                  <a:txBody>
                    <a:bodyPr/>
                    <a:lstStyle/>
                    <a:p>
                      <a:r>
                        <a:rPr sz="1150" b="0">
                          <a:latin typeface="Arial"/>
                        </a:rPr>
                        <a:t>Pages Taj Recyclage et Revendeurs en ligne ; WhatsApp Business avec catalogue</a:t>
                      </a:r>
                    </a:p>
                  </a:txBody>
                  <a:tcPr>
                    <a:solidFill>
                      <a:srgbClr val="FFFFFF"/>
                    </a:solidFill>
                  </a:tcPr>
                </a:tc>
                <a:tc>
                  <a:txBody>
                    <a:bodyPr/>
                    <a:lstStyle/>
                    <a:p>
                      <a:r>
                        <a:rPr sz="1150" b="0">
                          <a:latin typeface="Arial"/>
                        </a:rPr>
                        <a:t>Webmestre</a:t>
                      </a:r>
                    </a:p>
                  </a:txBody>
                  <a:tcPr>
                    <a:solidFill>
                      <a:srgbClr val="FFFFFF"/>
                    </a:solidFill>
                  </a:tcPr>
                </a:tc>
              </a:tr>
              <a:tr h="504000">
                <a:tc>
                  <a:txBody>
                    <a:bodyPr/>
                    <a:lstStyle/>
                    <a:p>
                      <a:r>
                        <a:rPr sz="1150" b="1">
                          <a:latin typeface="Arial"/>
                        </a:rPr>
                        <a:t>Semaine 3</a:t>
                      </a:r>
                    </a:p>
                  </a:txBody>
                  <a:tcPr>
                    <a:solidFill>
                      <a:srgbClr val="F4F4F2"/>
                    </a:solidFill>
                  </a:tcPr>
                </a:tc>
                <a:tc>
                  <a:txBody>
                    <a:bodyPr/>
                    <a:lstStyle/>
                    <a:p>
                      <a:r>
                        <a:rPr sz="1150" b="0">
                          <a:latin typeface="Arial"/>
                        </a:rPr>
                        <a:t>Calendrier de décembre lancé : 3 posts Facebook, 1 LinkedIn par semaine</a:t>
                      </a:r>
                    </a:p>
                  </a:txBody>
                  <a:tcPr>
                    <a:solidFill>
                      <a:srgbClr val="F4F4F2"/>
                    </a:solidFill>
                  </a:tcPr>
                </a:tc>
                <a:tc>
                  <a:txBody>
                    <a:bodyPr/>
                    <a:lstStyle/>
                    <a:p>
                      <a:r>
                        <a:rPr sz="1150" b="0">
                          <a:latin typeface="Arial"/>
                        </a:rPr>
                        <a:t>Community manager</a:t>
                      </a:r>
                    </a:p>
                  </a:txBody>
                  <a:tcPr>
                    <a:solidFill>
                      <a:srgbClr val="F4F4F2"/>
                    </a:solidFill>
                  </a:tcPr>
                </a:tc>
              </a:tr>
              <a:tr h="504000">
                <a:tc>
                  <a:txBody>
                    <a:bodyPr/>
                    <a:lstStyle/>
                    <a:p>
                      <a:r>
                        <a:rPr sz="1150" b="1">
                          <a:latin typeface="Arial"/>
                        </a:rPr>
                        <a:t>Semaine 4</a:t>
                      </a:r>
                    </a:p>
                  </a:txBody>
                  <a:tcPr>
                    <a:solidFill>
                      <a:srgbClr val="FFFFFF"/>
                    </a:solidFill>
                  </a:tcPr>
                </a:tc>
                <a:tc>
                  <a:txBody>
                    <a:bodyPr/>
                    <a:lstStyle/>
                    <a:p>
                      <a:r>
                        <a:rPr sz="1150" b="0">
                          <a:latin typeface="Arial"/>
                        </a:rPr>
                        <a:t>Première vidéo à l'usine ; premier bilan des chiffres</a:t>
                      </a:r>
                    </a:p>
                  </a:txBody>
                  <a:tcPr>
                    <a:solidFill>
                      <a:srgbClr val="FFFFFF"/>
                    </a:solidFill>
                  </a:tcPr>
                </a:tc>
                <a:tc>
                  <a:txBody>
                    <a:bodyPr/>
                    <a:lstStyle/>
                    <a:p>
                      <a:r>
                        <a:rPr sz="1150" b="0">
                          <a:latin typeface="Arial"/>
                        </a:rPr>
                        <a:t>Community manager + direction</a:t>
                      </a:r>
                    </a:p>
                  </a:txBody>
                  <a:tcPr>
                    <a:solidFill>
                      <a:srgbClr val="FFFFFF"/>
                    </a:solidFill>
                  </a:tcPr>
                </a:tc>
              </a:tr>
            </a:tbl>
          </a:graphicData>
        </a:graphic>
      </p:graphicFrame>
      <p:sp>
        <p:nvSpPr>
          <p:cNvPr id="11" name="Rectangle 10"/>
          <p:cNvSpPr/>
          <p:nvPr/>
        </p:nvSpPr>
        <p:spPr>
          <a:xfrm>
            <a:off x="8136000" y="1584000"/>
            <a:ext cx="3528000" cy="43200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2000" y="1728000"/>
            <a:ext cx="3168000" cy="360000"/>
          </a:xfrm>
          <a:prstGeom prst="rect">
            <a:avLst/>
          </a:prstGeom>
          <a:noFill/>
        </p:spPr>
        <p:txBody>
          <a:bodyPr wrap="square" lIns="36000" rIns="36000" tIns="18000" bIns="18000" anchor="t">
            <a:spAutoFit/>
          </a:bodyPr>
          <a:lstStyle/>
          <a:p>
            <a:pPr algn="l">
              <a:lnSpc>
                <a:spcPct val="110000"/>
              </a:lnSpc>
            </a:pPr>
            <a:r>
              <a:rPr sz="1500" b="1">
                <a:solidFill>
                  <a:srgbClr val="E84E0E"/>
                </a:solidFill>
                <a:latin typeface="Arial"/>
              </a:rPr>
              <a:t>Indicateurs</a:t>
            </a:r>
          </a:p>
        </p:txBody>
      </p:sp>
      <p:sp>
        <p:nvSpPr>
          <p:cNvPr id="13" name="TextBox 12"/>
          <p:cNvSpPr txBox="1"/>
          <p:nvPr/>
        </p:nvSpPr>
        <p:spPr>
          <a:xfrm>
            <a:off x="8352000" y="2160000"/>
            <a:ext cx="3168000" cy="3671999"/>
          </a:xfrm>
          <a:prstGeom prst="rect">
            <a:avLst/>
          </a:prstGeom>
          <a:noFill/>
        </p:spPr>
        <p:txBody>
          <a:bodyPr wrap="square">
            <a:spAutoFit/>
          </a:bodyPr>
          <a:lstStyle/>
          <a:p>
            <a:pPr>
              <a:lnSpc>
                <a:spcPct val="110000"/>
              </a:lnSpc>
              <a:spcAft>
                <a:spcPts val="700"/>
              </a:spcAft>
            </a:pPr>
            <a:r>
              <a:rPr sz="750">
                <a:solidFill>
                  <a:srgbClr val="E84E0E"/>
                </a:solidFill>
                <a:latin typeface="Arial"/>
              </a:rPr>
              <a:t>■  </a:t>
            </a:r>
            <a:r>
              <a:rPr b="1" sz="1150">
                <a:solidFill>
                  <a:srgbClr val="FFFFFF"/>
                </a:solidFill>
                <a:latin typeface="Arial"/>
              </a:rPr>
              <a:t>Interactions médianes Facebook : </a:t>
            </a:r>
            <a:r>
              <a:rPr sz="1150">
                <a:solidFill>
                  <a:srgbClr val="FFFFFF"/>
                </a:solidFill>
                <a:latin typeface="Arial"/>
              </a:rPr>
              <a:t>3 aujourd'hui, objectif 15 fin janvier.</a:t>
            </a:r>
          </a:p>
          <a:p>
            <a:pPr>
              <a:lnSpc>
                <a:spcPct val="110000"/>
              </a:lnSpc>
              <a:spcAft>
                <a:spcPts val="700"/>
              </a:spcAft>
            </a:pPr>
            <a:r>
              <a:rPr sz="750">
                <a:solidFill>
                  <a:srgbClr val="E84E0E"/>
                </a:solidFill>
                <a:latin typeface="Arial"/>
              </a:rPr>
              <a:t>■  </a:t>
            </a:r>
            <a:r>
              <a:rPr b="1" sz="1150">
                <a:solidFill>
                  <a:srgbClr val="FFFFFF"/>
                </a:solidFill>
                <a:latin typeface="Arial"/>
              </a:rPr>
              <a:t>Conversations WhatsApp </a:t>
            </a:r>
            <a:r>
              <a:rPr sz="1150">
                <a:solidFill>
                  <a:srgbClr val="FFFFFF"/>
                </a:solidFill>
                <a:latin typeface="Arial"/>
              </a:rPr>
              <a:t>par semaine : à compter dès le 1er décembre.</a:t>
            </a:r>
          </a:p>
          <a:p>
            <a:pPr>
              <a:lnSpc>
                <a:spcPct val="110000"/>
              </a:lnSpc>
              <a:spcAft>
                <a:spcPts val="700"/>
              </a:spcAft>
            </a:pPr>
            <a:r>
              <a:rPr sz="750">
                <a:solidFill>
                  <a:srgbClr val="E84E0E"/>
                </a:solidFill>
                <a:latin typeface="Arial"/>
              </a:rPr>
              <a:t>■  </a:t>
            </a:r>
            <a:r>
              <a:rPr b="1" sz="1150">
                <a:solidFill>
                  <a:srgbClr val="FFFFFF"/>
                </a:solidFill>
                <a:latin typeface="Arial"/>
              </a:rPr>
              <a:t>Réactions médianes LinkedIn : </a:t>
            </a:r>
            <a:r>
              <a:rPr sz="1150">
                <a:solidFill>
                  <a:srgbClr val="FFFFFF"/>
                </a:solidFill>
                <a:latin typeface="Arial"/>
              </a:rPr>
              <a:t>1 aujourd'hui, objectif 15.</a:t>
            </a:r>
          </a:p>
          <a:p>
            <a:pPr>
              <a:lnSpc>
                <a:spcPct val="110000"/>
              </a:lnSpc>
              <a:spcAft>
                <a:spcPts val="700"/>
              </a:spcAft>
            </a:pPr>
            <a:r>
              <a:rPr sz="750">
                <a:solidFill>
                  <a:srgbClr val="E84E0E"/>
                </a:solidFill>
                <a:latin typeface="Arial"/>
              </a:rPr>
              <a:t>■  </a:t>
            </a:r>
            <a:r>
              <a:rPr b="1" sz="1150">
                <a:solidFill>
                  <a:srgbClr val="FFFFFF"/>
                </a:solidFill>
                <a:latin typeface="Arial"/>
              </a:rPr>
              <a:t>Clics vers Jumia </a:t>
            </a:r>
            <a:r>
              <a:rPr sz="1150">
                <a:solidFill>
                  <a:srgbClr val="FFFFFF"/>
                </a:solidFill>
                <a:latin typeface="Arial"/>
              </a:rPr>
              <a:t>depuis le site et Facebook.</a:t>
            </a:r>
          </a:p>
        </p:txBody>
      </p:sp>
      <p:sp>
        <p:nvSpPr>
          <p:cNvPr id="14" name="TextBox 13"/>
          <p:cNvSpPr txBox="1"/>
          <p:nvPr/>
        </p:nvSpPr>
        <p:spPr>
          <a:xfrm>
            <a:off x="576000" y="6228000"/>
            <a:ext cx="10800000" cy="251999"/>
          </a:xfrm>
          <a:prstGeom prst="rect">
            <a:avLst/>
          </a:prstGeom>
          <a:noFill/>
        </p:spPr>
        <p:txBody>
          <a:bodyPr wrap="square" lIns="36000" rIns="36000" tIns="18000" bIns="18000" anchor="t">
            <a:spAutoFit/>
          </a:bodyPr>
          <a:lstStyle/>
          <a:p>
            <a:pPr algn="l">
              <a:lnSpc>
                <a:spcPct val="110000"/>
              </a:lnSpc>
            </a:pPr>
            <a:r>
              <a:rPr sz="1000" b="0">
                <a:solidFill>
                  <a:srgbClr val="5A5A5A"/>
                </a:solidFill>
                <a:latin typeface="Arial"/>
              </a:rPr>
              <a:t>Les objectifs sont des propositions : ils se fixent avec la direction après un mois de mesure.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0000" cy="6858000"/>
          </a:xfrm>
          <a:prstGeom prst="rect">
            <a:avLst/>
          </a:prstGeom>
          <a:solidFill>
            <a:srgbClr val="E84E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ped-logo-tajplast.png"/>
          <p:cNvPicPr>
            <a:picLocks noChangeAspect="1"/>
          </p:cNvPicPr>
          <p:nvPr/>
        </p:nvPicPr>
        <p:blipFill>
          <a:blip r:embed="rId2"/>
          <a:stretch>
            <a:fillRect/>
          </a:stretch>
        </p:blipFill>
        <p:spPr>
          <a:xfrm>
            <a:off x="10248119" y="220748"/>
            <a:ext cx="1584000" cy="602503"/>
          </a:xfrm>
          <a:prstGeom prst="rect">
            <a:avLst/>
          </a:prstGeom>
        </p:spPr>
      </p:pic>
      <p:sp>
        <p:nvSpPr>
          <p:cNvPr id="5" name="TextBox 4"/>
          <p:cNvSpPr txBox="1"/>
          <p:nvPr/>
        </p:nvSpPr>
        <p:spPr>
          <a:xfrm>
            <a:off x="576000" y="324000"/>
            <a:ext cx="8640000" cy="288000"/>
          </a:xfrm>
          <a:prstGeom prst="rect">
            <a:avLst/>
          </a:prstGeom>
          <a:noFill/>
        </p:spPr>
        <p:txBody>
          <a:bodyPr wrap="square" lIns="36000" rIns="36000" tIns="18000" bIns="18000" anchor="t">
            <a:spAutoFit/>
          </a:bodyPr>
          <a:lstStyle/>
          <a:p>
            <a:pPr algn="l">
              <a:lnSpc>
                <a:spcPct val="110000"/>
              </a:lnSpc>
            </a:pPr>
            <a:r>
              <a:rPr sz="1100" b="1">
                <a:solidFill>
                  <a:srgbClr val="E84E0E"/>
                </a:solidFill>
                <a:latin typeface="Arial"/>
              </a:rPr>
              <a:t>À SAVOIR</a:t>
            </a:r>
          </a:p>
        </p:txBody>
      </p:sp>
      <p:sp>
        <p:nvSpPr>
          <p:cNvPr id="6" name="TextBox 5"/>
          <p:cNvSpPr txBox="1"/>
          <p:nvPr/>
        </p:nvSpPr>
        <p:spPr>
          <a:xfrm>
            <a:off x="576000" y="576000"/>
            <a:ext cx="9000000" cy="720000"/>
          </a:xfrm>
          <a:prstGeom prst="rect">
            <a:avLst/>
          </a:prstGeom>
          <a:noFill/>
        </p:spPr>
        <p:txBody>
          <a:bodyPr wrap="square" lIns="36000" rIns="36000" tIns="18000" bIns="18000" anchor="t">
            <a:spAutoFit/>
          </a:bodyPr>
          <a:lstStyle/>
          <a:p>
            <a:pPr algn="l">
              <a:lnSpc>
                <a:spcPct val="110000"/>
              </a:lnSpc>
            </a:pPr>
            <a:r>
              <a:rPr sz="2600" b="1">
                <a:solidFill>
                  <a:srgbClr val="111111"/>
                </a:solidFill>
                <a:latin typeface="Arial"/>
              </a:rPr>
              <a:t>Méthode et limites</a:t>
            </a:r>
          </a:p>
        </p:txBody>
      </p:sp>
      <p:sp>
        <p:nvSpPr>
          <p:cNvPr id="7" name="Rectangle 6"/>
          <p:cNvSpPr/>
          <p:nvPr/>
        </p:nvSpPr>
        <p:spPr>
          <a:xfrm>
            <a:off x="576000" y="1278000"/>
            <a:ext cx="792000" cy="50400"/>
          </a:xfrm>
          <a:prstGeom prst="rect">
            <a:avLst/>
          </a:prstGeom>
          <a:solidFill>
            <a:srgbClr val="1596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72119" y="6498000"/>
            <a:ext cx="1296000" cy="216000"/>
          </a:xfrm>
          <a:prstGeom prst="rect">
            <a:avLst/>
          </a:prstGeom>
          <a:noFill/>
        </p:spPr>
        <p:txBody>
          <a:bodyPr wrap="square" lIns="36000" rIns="36000" tIns="18000" bIns="18000" anchor="t">
            <a:spAutoFit/>
          </a:bodyPr>
          <a:lstStyle/>
          <a:p>
            <a:pPr algn="r">
              <a:lnSpc>
                <a:spcPct val="110000"/>
              </a:lnSpc>
            </a:pPr>
            <a:r>
              <a:rPr sz="900" b="0">
                <a:solidFill>
                  <a:srgbClr val="5A5A5A"/>
                </a:solidFill>
                <a:latin typeface="Arial"/>
              </a:rPr>
              <a:t>14 / 14</a:t>
            </a:r>
          </a:p>
        </p:txBody>
      </p:sp>
      <p:sp>
        <p:nvSpPr>
          <p:cNvPr id="9" name="TextBox 8"/>
          <p:cNvSpPr txBox="1"/>
          <p:nvPr/>
        </p:nvSpPr>
        <p:spPr>
          <a:xfrm>
            <a:off x="576000" y="6498000"/>
            <a:ext cx="7200000" cy="216000"/>
          </a:xfrm>
          <a:prstGeom prst="rect">
            <a:avLst/>
          </a:prstGeom>
          <a:noFill/>
        </p:spPr>
        <p:txBody>
          <a:bodyPr wrap="square" lIns="36000" rIns="36000" tIns="18000" bIns="18000" anchor="t">
            <a:spAutoFit/>
          </a:bodyPr>
          <a:lstStyle/>
          <a:p>
            <a:pPr algn="l">
              <a:lnSpc>
                <a:spcPct val="110000"/>
              </a:lnSpc>
            </a:pPr>
            <a:r>
              <a:rPr sz="900" b="0">
                <a:solidFill>
                  <a:srgbClr val="5A5A5A"/>
                </a:solidFill>
                <a:latin typeface="Arial"/>
              </a:rPr>
              <a:t>TAJ PLAST · Audit de la présence en ligne · relevé du 27 octobre 2026</a:t>
            </a:r>
          </a:p>
        </p:txBody>
      </p:sp>
      <p:sp>
        <p:nvSpPr>
          <p:cNvPr id="10" name="TextBox 9"/>
          <p:cNvSpPr txBox="1"/>
          <p:nvPr/>
        </p:nvSpPr>
        <p:spPr>
          <a:xfrm>
            <a:off x="576000" y="1584000"/>
            <a:ext cx="10800000" cy="4320000"/>
          </a:xfrm>
          <a:prstGeom prst="rect">
            <a:avLst/>
          </a:prstGeom>
          <a:noFill/>
        </p:spPr>
        <p:txBody>
          <a:bodyPr wrap="square">
            <a:spAutoFit/>
          </a:bodyPr>
          <a:lstStyle/>
          <a:p>
            <a:pPr>
              <a:lnSpc>
                <a:spcPct val="110000"/>
              </a:lnSpc>
              <a:spcAft>
                <a:spcPts val="700"/>
              </a:spcAft>
            </a:pPr>
            <a:r>
              <a:rPr sz="900">
                <a:solidFill>
                  <a:srgbClr val="E84E0E"/>
                </a:solidFill>
                <a:latin typeface="Arial"/>
              </a:rPr>
              <a:t>■  </a:t>
            </a:r>
            <a:r>
              <a:rPr b="1" sz="1300">
                <a:solidFill>
                  <a:srgbClr val="111111"/>
                </a:solidFill>
                <a:latin typeface="Arial"/>
              </a:rPr>
              <a:t>Date : </a:t>
            </a:r>
            <a:r>
              <a:rPr sz="1300">
                <a:solidFill>
                  <a:srgbClr val="111111"/>
                </a:solidFill>
                <a:latin typeface="Arial"/>
              </a:rPr>
              <a:t>relevé fait le 27 octobre 2026 sur les pages publiques. Les chiffres bougent chaque jour.</a:t>
            </a:r>
          </a:p>
          <a:p>
            <a:pPr>
              <a:lnSpc>
                <a:spcPct val="110000"/>
              </a:lnSpc>
              <a:spcAft>
                <a:spcPts val="700"/>
              </a:spcAft>
            </a:pPr>
            <a:r>
              <a:rPr sz="900">
                <a:solidFill>
                  <a:srgbClr val="E84E0E"/>
                </a:solidFill>
                <a:latin typeface="Arial"/>
              </a:rPr>
              <a:t>■  </a:t>
            </a:r>
            <a:r>
              <a:rPr b="1" sz="1300">
                <a:solidFill>
                  <a:srgbClr val="111111"/>
                </a:solidFill>
                <a:latin typeface="Arial"/>
              </a:rPr>
              <a:t>Échantillon : </a:t>
            </a:r>
            <a:r>
              <a:rPr sz="1300">
                <a:solidFill>
                  <a:srgbClr val="111111"/>
                </a:solidFill>
                <a:latin typeface="Arial"/>
              </a:rPr>
              <a:t>25 derniers posts par page Facebook. Pour TAJ PLAST, ils couvrent 8 jours ; pour Metaplast, 7 mois ; pour Plastica, 5 mois.</a:t>
            </a:r>
          </a:p>
          <a:p>
            <a:pPr>
              <a:lnSpc>
                <a:spcPct val="110000"/>
              </a:lnSpc>
              <a:spcAft>
                <a:spcPts val="700"/>
              </a:spcAft>
            </a:pPr>
            <a:r>
              <a:rPr sz="900">
                <a:solidFill>
                  <a:srgbClr val="E84E0E"/>
                </a:solidFill>
                <a:latin typeface="Arial"/>
              </a:rPr>
              <a:t>■  </a:t>
            </a:r>
            <a:r>
              <a:rPr b="1" sz="1300">
                <a:solidFill>
                  <a:srgbClr val="111111"/>
                </a:solidFill>
                <a:latin typeface="Arial"/>
              </a:rPr>
              <a:t>Ce que l'on ne voit pas : </a:t>
            </a:r>
            <a:r>
              <a:rPr sz="1300">
                <a:solidFill>
                  <a:srgbClr val="111111"/>
                </a:solidFill>
                <a:latin typeface="Arial"/>
              </a:rPr>
              <a:t>la portée réelle, les messages reçus et l'argent dépensé en publicité. Un accès en lecture à Meta Business Suite permettrait de compléter.</a:t>
            </a:r>
          </a:p>
          <a:p>
            <a:pPr>
              <a:lnSpc>
                <a:spcPct val="110000"/>
              </a:lnSpc>
              <a:spcAft>
                <a:spcPts val="700"/>
              </a:spcAft>
            </a:pPr>
            <a:r>
              <a:rPr sz="900">
                <a:solidFill>
                  <a:srgbClr val="E84E0E"/>
                </a:solidFill>
                <a:latin typeface="Arial"/>
              </a:rPr>
              <a:t>■  </a:t>
            </a:r>
            <a:r>
              <a:rPr b="1" sz="1300">
                <a:solidFill>
                  <a:srgbClr val="111111"/>
                </a:solidFill>
                <a:latin typeface="Arial"/>
              </a:rPr>
              <a:t>Post sponsorisé : </a:t>
            </a:r>
            <a:r>
              <a:rPr sz="1300">
                <a:solidFill>
                  <a:srgbClr val="111111"/>
                </a:solidFill>
                <a:latin typeface="Arial"/>
              </a:rPr>
              <a:t>le pic de 107 000 réactions de Metaplast est très probablement payé. C'est une hypothèse, pas un fait relevé.</a:t>
            </a:r>
          </a:p>
          <a:p>
            <a:pPr>
              <a:lnSpc>
                <a:spcPct val="110000"/>
              </a:lnSpc>
              <a:spcAft>
                <a:spcPts val="700"/>
              </a:spcAft>
            </a:pPr>
            <a:r>
              <a:rPr sz="900">
                <a:solidFill>
                  <a:srgbClr val="E84E0E"/>
                </a:solidFill>
                <a:latin typeface="Arial"/>
              </a:rPr>
              <a:t>■  </a:t>
            </a:r>
            <a:r>
              <a:rPr b="1" sz="1300">
                <a:solidFill>
                  <a:srgbClr val="111111"/>
                </a:solidFill>
                <a:latin typeface="Arial"/>
              </a:rPr>
              <a:t>OK Plast : </a:t>
            </a:r>
            <a:r>
              <a:rPr sz="1300">
                <a:solidFill>
                  <a:srgbClr val="111111"/>
                </a:solidFill>
                <a:latin typeface="Arial"/>
              </a:rPr>
              <a:t>sa page Facebook officielle n'a pas pu être identifiée, le lien de son site menant à un homonyme.</a:t>
            </a:r>
          </a:p>
          <a:p>
            <a:pPr>
              <a:lnSpc>
                <a:spcPct val="110000"/>
              </a:lnSpc>
              <a:spcAft>
                <a:spcPts val="700"/>
              </a:spcAft>
            </a:pPr>
            <a:r>
              <a:rPr sz="900">
                <a:solidFill>
                  <a:srgbClr val="E84E0E"/>
                </a:solidFill>
                <a:latin typeface="Arial"/>
              </a:rPr>
              <a:t>■  </a:t>
            </a:r>
            <a:r>
              <a:rPr b="1" sz="1300">
                <a:solidFill>
                  <a:srgbClr val="111111"/>
                </a:solidFill>
                <a:latin typeface="Arial"/>
              </a:rPr>
              <a:t>Jumia : </a:t>
            </a:r>
            <a:r>
              <a:rPr sz="1300">
                <a:solidFill>
                  <a:srgbClr val="111111"/>
                </a:solidFill>
                <a:latin typeface="Arial"/>
              </a:rPr>
              <a:t>la boutique n'a pas pu être consultée (accès protégé) ; les avis et les ventes n'ont donc pas été relevés.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