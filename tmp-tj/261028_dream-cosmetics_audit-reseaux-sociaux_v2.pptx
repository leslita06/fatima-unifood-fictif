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latin typeface="Poppins"/>
              </a:rPr>
              <a:t>Instagram : J’aime médians ÷ abonnés (%)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Instagram : J’aime médians ÷ abonnés (%)</c:v>
                </c:pt>
              </c:strCache>
            </c:strRef>
          </c:tx>
          <c:dPt>
            <c:idx val="0"/>
            <c:spPr>
              <a:solidFill>
                <a:srgbClr val="AE172A"/>
              </a:solidFill>
            </c:spPr>
          </c:dPt>
          <c:dPt>
            <c:idx val="1"/>
            <c:spPr>
              <a:solidFill>
                <a:srgbClr val="B9B9B9"/>
              </a:solidFill>
            </c:spPr>
          </c:dPt>
          <c:dPt>
            <c:idx val="2"/>
            <c:spPr>
              <a:solidFill>
                <a:srgbClr val="B9B9B9"/>
              </a:solidFill>
            </c:spPr>
          </c:dPt>
          <c:dPt>
            <c:idx val="3"/>
            <c:spPr>
              <a:solidFill>
                <a:srgbClr val="B9B9B9"/>
              </a:solidFill>
            </c:spPr>
          </c:dPt>
          <c:cat>
            <c:strRef>
              <c:f>Sheet1!$A$2:$A$5</c:f>
              <c:strCache>
                <c:ptCount val="4"/>
                <c:pt idx="0">
                  <c:v>Dream Cosmetics</c:v>
                </c:pt>
                <c:pt idx="1">
                  <c:v>SIVOP</c:v>
                </c:pt>
                <c:pt idx="2">
                  <c:v>Kaera</c:v>
                </c:pt>
                <c:pt idx="3">
                  <c:v>Gandour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0.38</c:v>
                </c:pt>
                <c:pt idx="1">
                  <c:v>0.11</c:v>
                </c:pt>
                <c:pt idx="2">
                  <c:v>0.07</c:v>
                </c:pt>
                <c:pt idx="3">
                  <c:v>0.03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latin typeface="Poppins"/>
              </a:rPr>
              <a:t>Réactions médianes par gamme (nombre de publications)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Réactions médianes par gamme (nombre de publications)</c:v>
                </c:pt>
              </c:strCache>
            </c:strRef>
          </c:tx>
          <c:dPt>
            <c:idx val="0"/>
            <c:spPr>
              <a:solidFill>
                <a:srgbClr val="AE172A"/>
              </a:solidFill>
            </c:spPr>
          </c:dPt>
          <c:dPt>
            <c:idx val="1"/>
            <c:spPr>
              <a:solidFill>
                <a:srgbClr val="B9B9B9"/>
              </a:solidFill>
            </c:spPr>
          </c:dPt>
          <c:dPt>
            <c:idx val="2"/>
            <c:spPr>
              <a:solidFill>
                <a:srgbClr val="B9B9B9"/>
              </a:solidFill>
            </c:spPr>
          </c:dPt>
          <c:dPt>
            <c:idx val="3"/>
            <c:spPr>
              <a:solidFill>
                <a:srgbClr val="B9B9B9"/>
              </a:solidFill>
            </c:spPr>
          </c:dPt>
          <c:dPt>
            <c:idx val="4"/>
            <c:spPr>
              <a:solidFill>
                <a:srgbClr val="B9B9B9"/>
              </a:solidFill>
            </c:spPr>
          </c:dPt>
          <c:dPt>
            <c:idx val="5"/>
            <c:spPr>
              <a:solidFill>
                <a:srgbClr val="B9B9B9"/>
              </a:solidFill>
            </c:spPr>
          </c:dPt>
          <c:cat>
            <c:strRef>
              <c:f>Sheet1!$A$2:$A$7</c:f>
              <c:strCache>
                <c:ptCount val="6"/>
                <c:pt idx="0">
                  <c:v>Babymed (8)</c:v>
                </c:pt>
                <c:pt idx="1">
                  <c:v>Day by Day (4)</c:v>
                </c:pt>
                <c:pt idx="2">
                  <c:v>Cocopulp (2)</c:v>
                </c:pt>
                <c:pt idx="3">
                  <c:v>Sans gamme nommée (7)</c:v>
                </c:pt>
                <c:pt idx="4">
                  <c:v>Dr Wang (1)</c:v>
                </c:pt>
                <c:pt idx="5">
                  <c:v>Always Young (1)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216</c:v>
                </c:pt>
                <c:pt idx="1">
                  <c:v>112</c:v>
                </c:pt>
                <c:pt idx="2">
                  <c:v>1724</c:v>
                </c:pt>
                <c:pt idx="3">
                  <c:v>52</c:v>
                </c:pt>
                <c:pt idx="4">
                  <c:v>46</c:v>
                </c:pt>
                <c:pt idx="5">
                  <c:v>13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7.png"/><Relationship Id="rId6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7.jp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3.jp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4.jpg"/><Relationship Id="rId1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4.jpg"/><Relationship Id="rId4" Type="http://schemas.openxmlformats.org/officeDocument/2006/relationships/image" Target="../media/image3.jpg"/><Relationship Id="rId5" Type="http://schemas.openxmlformats.org/officeDocument/2006/relationships/image" Target="../media/image23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jpg"/><Relationship Id="rId9" Type="http://schemas.openxmlformats.org/officeDocument/2006/relationships/image" Target="../media/image4.jpg"/><Relationship Id="rId10" Type="http://schemas.openxmlformats.org/officeDocument/2006/relationships/image" Target="../media/image28.jpg"/><Relationship Id="rId11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1.jpg"/><Relationship Id="rId4" Type="http://schemas.openxmlformats.org/officeDocument/2006/relationships/image" Target="../media/image20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jpg"/><Relationship Id="rId8" Type="http://schemas.openxmlformats.org/officeDocument/2006/relationships/image" Target="../media/image35.jpg"/><Relationship Id="rId9" Type="http://schemas.openxmlformats.org/officeDocument/2006/relationships/image" Target="../media/image36.jpg"/><Relationship Id="rId10" Type="http://schemas.openxmlformats.org/officeDocument/2006/relationships/image" Target="../media/image3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8.jpg"/><Relationship Id="rId4" Type="http://schemas.openxmlformats.org/officeDocument/2006/relationships/image" Target="../media/image20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9.jpg"/><Relationship Id="rId8" Type="http://schemas.openxmlformats.org/officeDocument/2006/relationships/image" Target="../media/image40.jpg"/><Relationship Id="rId9" Type="http://schemas.openxmlformats.org/officeDocument/2006/relationships/image" Target="../media/image41.jpg"/><Relationship Id="rId10" Type="http://schemas.openxmlformats.org/officeDocument/2006/relationships/image" Target="../media/image4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5.png"/><Relationship Id="rId4" Type="http://schemas.openxmlformats.org/officeDocument/2006/relationships/image" Target="../media/image10.png"/><Relationship Id="rId5" Type="http://schemas.openxmlformats.org/officeDocument/2006/relationships/image" Target="../media/image1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5.jpg"/><Relationship Id="rId4" Type="http://schemas.openxmlformats.org/officeDocument/2006/relationships/image" Target="../media/image46.jpg"/><Relationship Id="rId5" Type="http://schemas.openxmlformats.org/officeDocument/2006/relationships/image" Target="../media/image47.jpg"/><Relationship Id="rId6" Type="http://schemas.openxmlformats.org/officeDocument/2006/relationships/image" Target="../media/image48.jpg"/><Relationship Id="rId7" Type="http://schemas.openxmlformats.org/officeDocument/2006/relationships/image" Target="../media/image49.jpg"/><Relationship Id="rId8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0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3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58.png"/><Relationship Id="rId6" Type="http://schemas.openxmlformats.org/officeDocument/2006/relationships/image" Target="../media/image61.png"/><Relationship Id="rId7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3.png"/><Relationship Id="rId4" Type="http://schemas.openxmlformats.org/officeDocument/2006/relationships/image" Target="../media/image57.png"/><Relationship Id="rId5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2A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72000" y="0"/>
            <a:ext cx="4920119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_d_beb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8000" y="893925"/>
            <a:ext cx="4056119" cy="5070148"/>
          </a:xfrm>
          <a:prstGeom prst="rect">
            <a:avLst/>
          </a:prstGeom>
        </p:spPr>
      </p:pic>
      <p:pic>
        <p:nvPicPr>
          <p:cNvPr id="5" name="Picture 4" descr="logo_blan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000" y="552069"/>
            <a:ext cx="2700000" cy="8398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8000" y="2015999"/>
            <a:ext cx="612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8087"/>
                </a:solidFill>
                <a:latin typeface="Poppins"/>
              </a:rPr>
              <a:t>AUDIT RÉSEAUX SOCIAUX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2376000"/>
            <a:ext cx="633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>
                <a:solidFill>
                  <a:srgbClr val="FFFFFF"/>
                </a:solidFill>
                <a:latin typeface="Poppins"/>
              </a:rPr>
              <a:t>Dream Cosmetics face à Gandour, SIVOP et Kaera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4140000"/>
            <a:ext cx="61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DDDDDD"/>
                </a:solidFill>
                <a:latin typeface="Poppins"/>
              </a:rPr>
              <a:t>Ce qui marche, ce qui manque, et 6 publications refaites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4950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AAAAA"/>
                </a:solidFill>
                <a:latin typeface="Poppins"/>
              </a:rPr>
              <a:t>FACE À</a:t>
            </a:r>
          </a:p>
        </p:txBody>
      </p:sp>
      <p:sp>
        <p:nvSpPr>
          <p:cNvPr id="10" name="Oval 9"/>
          <p:cNvSpPr/>
          <p:nvPr/>
        </p:nvSpPr>
        <p:spPr>
          <a:xfrm>
            <a:off x="1512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andou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8400" y="4838400"/>
            <a:ext cx="547200" cy="547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2376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ivo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2400" y="4838400"/>
            <a:ext cx="547200" cy="54720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3240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kaer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6400" y="4838400"/>
            <a:ext cx="547200" cy="547200"/>
          </a:xfrm>
          <a:prstGeom prst="rect">
            <a:avLst/>
          </a:prstGeom>
        </p:spPr>
      </p:pic>
      <p:pic>
        <p:nvPicPr>
          <p:cNvPr id="16" name="Picture 15" descr="brand-facebook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000" y="5616000"/>
            <a:ext cx="324000" cy="324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44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Facebook</a:t>
            </a:r>
          </a:p>
        </p:txBody>
      </p:sp>
      <p:pic>
        <p:nvPicPr>
          <p:cNvPr id="18" name="Picture 17" descr="brand-instagram_b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32000" y="5616000"/>
            <a:ext cx="324000" cy="324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28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Instagram</a:t>
            </a:r>
          </a:p>
        </p:txBody>
      </p:sp>
      <p:pic>
        <p:nvPicPr>
          <p:cNvPr id="20" name="Picture 19" descr="brand-linkedin_b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16000" y="5616000"/>
            <a:ext cx="324000" cy="32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2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LinkedIn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000" y="6228000"/>
            <a:ext cx="648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AAAAAA"/>
                </a:solidFill>
                <a:latin typeface="Poppins"/>
              </a:rPr>
              <a:t>Relevé des pages publiques le 28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L'ESSENTIEL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Une très grande audience, des publications inégales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000" y="1979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400" y="2138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36000" y="1943999"/>
            <a:ext cx="3888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11111"/>
                </a:solidFill>
                <a:latin typeface="Poppins"/>
              </a:rPr>
              <a:t>211 469 abonnés Facebook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6000" y="2519999"/>
            <a:ext cx="3888000" cy="100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Poppins"/>
              </a:rPr>
              <a:t>La 4e page du groupe, mais une marque connue : Gandour en a 993 513, SIVOP 662 562.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80000" y="1979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ear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00" y="2138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52000" y="1943999"/>
            <a:ext cx="3888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11111"/>
                </a:solidFill>
                <a:latin typeface="Poppins"/>
              </a:rPr>
              <a:t>138 réactions par publication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000" y="2519999"/>
            <a:ext cx="3888000" cy="100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Poppins"/>
              </a:rPr>
              <a:t>Médiane sur Facebook. De 11 à 75 577 : quelques publications font tout le score.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4000" y="4247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rand-instagram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400" y="4406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836000" y="4211999"/>
            <a:ext cx="3888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11111"/>
                </a:solidFill>
                <a:latin typeface="Poppins"/>
              </a:rPr>
              <a:t>Le meilleur Instagram du groupe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36000" y="4787999"/>
            <a:ext cx="3888000" cy="100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Poppins"/>
              </a:rPr>
              <a:t>0,38 % de réactions par abonné, contre 0,11 % chez SIVOP et 0,03 % chez Gandour.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2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80000" y="4247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essage-circ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400" y="4406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52000" y="4211999"/>
            <a:ext cx="3888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11111"/>
                </a:solidFill>
                <a:latin typeface="Poppins"/>
              </a:rPr>
              <a:t>Des questions sans réponses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000" y="4787999"/>
            <a:ext cx="3888000" cy="100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Poppins"/>
              </a:rPr>
              <a:t>15 publications sur 25 posent une question, mais 15 sur 24 n’ont aucun commentaire sur Instagram.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MÉTHODE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que nous avons regardé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7999" y="1943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99" y="2102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999" y="2879999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Poppins"/>
              </a:rPr>
              <a:t>Pages publiques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999" y="3599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Facebook, Instagram et LinkedIn de Dream Cosmetics, Gandour, SIVOP et Kaera, relevés le 28/10/2026.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35999" y="1943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ist-chec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399" y="2102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35999" y="2879999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Poppins"/>
              </a:rPr>
              <a:t>25 publications par marque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5999" y="3599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Les 25 dernières sur chaque réseau : du 2/09 au 27/10 pour Dream Cosmetics.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3999" y="1943999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arget-arrow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2399" y="2102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3999" y="2879999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Poppins"/>
              </a:rPr>
              <a:t>Médianes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3999" y="3599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La valeur du milieu, pour qu’une publication sponsorisée ne fausse pas la moyenne.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51999" y="1943999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0399" y="2102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51999" y="2879999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Poppins"/>
              </a:rPr>
              <a:t>Hors de vue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1999" y="3599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Portée, clics, messages reçus, budgets publicitaires et ventes : il faut l’accès aux comptes.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QUI NOUS AVONS COMPARÉ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Quatre fabricants ivoiriens, quatre façons de communiquer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00" y="1584000"/>
            <a:ext cx="2601000" cy="10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2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ream_f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5060" y="2014560"/>
            <a:ext cx="902880" cy="90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0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Dream Cosmetics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AE172A"/>
                </a:solidFill>
                <a:latin typeface="Poppins"/>
              </a:rPr>
              <a:t>NOTRE CLIENT</a:t>
            </a:r>
          </a:p>
        </p:txBody>
      </p:sp>
      <p:pic>
        <p:nvPicPr>
          <p:cNvPr id="15" name="Picture 14" descr="brand-facebook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96000"/>
            <a:ext cx="251999" cy="25199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16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211 469 abonnés</a:t>
            </a:r>
          </a:p>
        </p:txBody>
      </p:sp>
      <p:pic>
        <p:nvPicPr>
          <p:cNvPr id="17" name="Picture 16" descr="speakerphon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428000"/>
            <a:ext cx="251999" cy="25199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16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3,2 publ. / semaine</a:t>
            </a:r>
          </a:p>
        </p:txBody>
      </p:sp>
      <p:pic>
        <p:nvPicPr>
          <p:cNvPr id="19" name="Picture 18" descr="heart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000" y="4860000"/>
            <a:ext cx="251999" cy="25199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16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138 réactions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Des textes travaillés, en deux langues.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93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93000" y="1584000"/>
            <a:ext cx="2601000" cy="1080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99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gandour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42060" y="2014560"/>
            <a:ext cx="902880" cy="9028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537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Gandour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37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LEADER EN AUDIENCE</a:t>
            </a:r>
          </a:p>
        </p:txBody>
      </p:sp>
      <p:pic>
        <p:nvPicPr>
          <p:cNvPr id="28" name="Picture 27" descr="brand-facebook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000" y="3996000"/>
            <a:ext cx="251999" cy="2519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933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993 513 abonnés</a:t>
            </a:r>
          </a:p>
        </p:txBody>
      </p:sp>
      <p:pic>
        <p:nvPicPr>
          <p:cNvPr id="30" name="Picture 29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000" y="4428000"/>
            <a:ext cx="251999" cy="251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933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1,7 publ. / semaine</a:t>
            </a:r>
          </a:p>
        </p:txBody>
      </p:sp>
      <p:pic>
        <p:nvPicPr>
          <p:cNvPr id="32" name="Picture 31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09000" y="4860000"/>
            <a:ext cx="251999" cy="2519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933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1 022 réactions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09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Peu de publications, beaucoup d’effet.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0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0000" y="1584000"/>
            <a:ext cx="2601000" cy="1080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916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ivop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59060" y="2014560"/>
            <a:ext cx="902880" cy="9028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354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SIVOP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4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LE PLUS ACTIF</a:t>
            </a:r>
          </a:p>
        </p:txBody>
      </p:sp>
      <p:pic>
        <p:nvPicPr>
          <p:cNvPr id="41" name="Picture 40" descr="brand-facebook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6000" y="3996000"/>
            <a:ext cx="251999" cy="251999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750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662 562 abonnés</a:t>
            </a:r>
          </a:p>
        </p:txBody>
      </p:sp>
      <p:pic>
        <p:nvPicPr>
          <p:cNvPr id="43" name="Picture 42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6000" y="4428000"/>
            <a:ext cx="251999" cy="251999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750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5,5 publ. / semaine</a:t>
            </a:r>
          </a:p>
        </p:txBody>
      </p:sp>
      <p:pic>
        <p:nvPicPr>
          <p:cNvPr id="45" name="Picture 44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6000" y="4860000"/>
            <a:ext cx="251999" cy="25199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750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100 réactions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26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Des événements et des causes.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27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27000" y="1584000"/>
            <a:ext cx="2601000" cy="1080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733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kaera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76060" y="2014560"/>
            <a:ext cx="902880" cy="90288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171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Kaera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71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TOUT EN VIDÉO</a:t>
            </a:r>
          </a:p>
        </p:txBody>
      </p:sp>
      <p:pic>
        <p:nvPicPr>
          <p:cNvPr id="54" name="Picture 53" descr="brand-facebook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43000" y="3996000"/>
            <a:ext cx="251999" cy="251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9567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579 371 abonnés</a:t>
            </a:r>
          </a:p>
        </p:txBody>
      </p:sp>
      <p:pic>
        <p:nvPicPr>
          <p:cNvPr id="56" name="Picture 55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43000" y="4428000"/>
            <a:ext cx="251999" cy="251999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67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0,9 publ. / semaine</a:t>
            </a:r>
          </a:p>
        </p:txBody>
      </p:sp>
      <p:pic>
        <p:nvPicPr>
          <p:cNvPr id="58" name="Picture 57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43000" y="4860000"/>
            <a:ext cx="251999" cy="251999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9567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120 réactions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43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24 vidéos sur 25.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LES COMPTES DE DREAM COSMETICS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Facebook pour l’audience, Instagram pour l’attention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2000" y="1871999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and-facebook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00" y="1990799"/>
            <a:ext cx="302400" cy="302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2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211 469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Facebook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4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Page créée en 2012 · publicité active le 28/10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36000" y="1871999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rand-instagram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800" y="1990799"/>
            <a:ext cx="302400" cy="302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36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16 727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Instagram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6000" y="34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920 publications · 63 J’aime médians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3999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9999" y="1871999"/>
            <a:ext cx="540000" cy="54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rand-linkedin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8799" y="1990799"/>
            <a:ext cx="302400" cy="30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9999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5 205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9999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LinkedIn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9999" y="34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Aucune publication récente n’a pu être relevée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6000" y="4248000"/>
            <a:ext cx="11052000" cy="1764000"/>
          </a:xfrm>
          <a:prstGeom prst="roundRect">
            <a:avLst>
              <a:gd name="adj" fmla="val 6000"/>
            </a:avLst>
          </a:prstGeom>
          <a:solidFill>
            <a:srgbClr val="FBE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4000" y="4536000"/>
            <a:ext cx="612000" cy="612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640" y="4670640"/>
            <a:ext cx="342720" cy="3427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92000" y="4464000"/>
            <a:ext cx="9720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AE172A"/>
                </a:solidFill>
                <a:latin typeface="Poppins"/>
              </a:rPr>
              <a:t>À regarder tout de suite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24 textes sur 25 sont écrits en français puis en anglais. En Côte d’Ivoire, la moitié anglaise allonge le texte et repousse la question finale sous « voir plus ». Sur LinkedIn, 5 205 abonnés attendent : recruteurs, distributeurs, acheteurs de la grande distribution.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FACE AUX CONCURRENTS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Sur Instagram, Dream Cosmetics fait mieux que tous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76000" y="1584000"/>
          <a:ext cx="5256000" cy="417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048000" y="1584000"/>
          <a:ext cx="5580000" cy="38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900000"/>
                <a:gridCol w="900000"/>
                <a:gridCol w="900000"/>
                <a:gridCol w="900000"/>
              </a:tblGrid>
              <a:tr h="4320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Dream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Gandour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SIVOP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Kaera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Facebook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211 469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993 513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662 562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579 371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/ semaine (FB)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3,2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1,7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5,5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0,9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Réactions médianes (FB)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138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1 022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100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120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Taux de réaction (FB)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0,07 %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0,10 %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0,02 %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0,02 %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Vidéos (sur 25, FB)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7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24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Instagram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16 727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90 122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35 072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23 293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J’aime médians (IG)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63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37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Publicité active (28/10)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Oui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Non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Oui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Non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6000" y="5868000"/>
            <a:ext cx="1105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Taux de réaction = réactions médianes ÷ abonnés. 25 dernières publications de chaque page, relevées le 28/10/2026.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CE QUI MARCHE AILLEURS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concurrents misent sur bébé, les nouveautés et les causes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Gandourci_1495738615919916.jpg"/>
          <p:cNvPicPr>
            <a:picLocks noChangeAspect="1"/>
          </p:cNvPicPr>
          <p:nvPr/>
        </p:nvPicPr>
        <p:blipFill>
          <a:blip r:embed="rId3"/>
          <a:srcRect t="9130" b="21304"/>
          <a:stretch>
            <a:fillRect/>
          </a:stretch>
        </p:blipFill>
        <p:spPr>
          <a:xfrm>
            <a:off x="684000" y="1692000"/>
            <a:ext cx="3311999" cy="2304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56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andou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520" y="4079519"/>
            <a:ext cx="300960" cy="300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24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Gandour · 17/07</a:t>
            </a:r>
          </a:p>
        </p:txBody>
      </p:sp>
      <p:pic>
        <p:nvPicPr>
          <p:cNvPr id="14" name="Picture 13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500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43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40 885</a:t>
            </a:r>
          </a:p>
        </p:txBody>
      </p:sp>
      <p:pic>
        <p:nvPicPr>
          <p:cNvPr id="16" name="Picture 15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36000" y="4500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0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50</a:t>
            </a:r>
          </a:p>
        </p:txBody>
      </p:sp>
      <p:pic>
        <p:nvPicPr>
          <p:cNvPr id="18" name="Picture 17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000" y="4500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1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Bébé Switz, « la gamme des futurs champions » : une phrase, un bébé, rien d’autre.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b_SIVOP_1460642816162257.jpg"/>
          <p:cNvPicPr>
            <a:picLocks noChangeAspect="1"/>
          </p:cNvPicPr>
          <p:nvPr/>
        </p:nvPicPr>
        <p:blipFill>
          <a:blip r:embed="rId8"/>
          <a:srcRect t="13198" b="30796"/>
          <a:stretch>
            <a:fillRect/>
          </a:stretch>
        </p:blipFill>
        <p:spPr>
          <a:xfrm>
            <a:off x="4428000" y="1692000"/>
            <a:ext cx="3311999" cy="230400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4500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ivop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47520" y="4079519"/>
            <a:ext cx="300960" cy="3009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968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SIVOP · 22/10</a:t>
            </a:r>
          </a:p>
        </p:txBody>
      </p:sp>
      <p:pic>
        <p:nvPicPr>
          <p:cNvPr id="26" name="Picture 25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6000" y="4500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7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6 712</a:t>
            </a:r>
          </a:p>
        </p:txBody>
      </p:sp>
      <p:pic>
        <p:nvPicPr>
          <p:cNvPr id="28" name="Picture 27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0000" y="4500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9</a:t>
            </a:r>
          </a:p>
        </p:txBody>
      </p:sp>
      <p:pic>
        <p:nvPicPr>
          <p:cNvPr id="30" name="Picture 29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4000" y="4500000"/>
            <a:ext cx="216000" cy="216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8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6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Octobre Rose avec un partenaire : la marque porte une cause, pas un produit.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64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fb_kaeracosmetic_1407334458094864.jpg"/>
          <p:cNvPicPr>
            <a:picLocks noChangeAspect="1"/>
          </p:cNvPicPr>
          <p:nvPr/>
        </p:nvPicPr>
        <p:blipFill>
          <a:blip r:embed="rId10"/>
          <a:srcRect t="18256" b="42597"/>
          <a:stretch>
            <a:fillRect/>
          </a:stretch>
        </p:blipFill>
        <p:spPr>
          <a:xfrm>
            <a:off x="8172000" y="1692000"/>
            <a:ext cx="3311999" cy="2304000"/>
          </a:xfrm>
          <a:prstGeom prst="rect">
            <a:avLst/>
          </a:prstGeom>
        </p:spPr>
      </p:pic>
      <p:sp>
        <p:nvSpPr>
          <p:cNvPr id="35" name="Oval 34"/>
          <p:cNvSpPr/>
          <p:nvPr/>
        </p:nvSpPr>
        <p:spPr>
          <a:xfrm>
            <a:off x="8244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kaera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91520" y="4079519"/>
            <a:ext cx="300960" cy="300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712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E172A"/>
                </a:solidFill>
                <a:latin typeface="Poppins"/>
              </a:rPr>
              <a:t>Kaera · 08/05 · vidéo</a:t>
            </a:r>
          </a:p>
        </p:txBody>
      </p:sp>
      <p:pic>
        <p:nvPicPr>
          <p:cNvPr id="38" name="Picture 37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000" y="4500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5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4 614</a:t>
            </a:r>
          </a:p>
        </p:txBody>
      </p:sp>
      <p:pic>
        <p:nvPicPr>
          <p:cNvPr id="40" name="Picture 39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4000" y="4500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5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89</a:t>
            </a:r>
          </a:p>
        </p:txBody>
      </p:sp>
      <p:pic>
        <p:nvPicPr>
          <p:cNvPr id="42" name="Picture 41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8000" y="4500000"/>
            <a:ext cx="216000" cy="216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619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109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80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Une routine en vidéo, du gel de bain à la brume : 109 partages.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CE QUE FAIT DREAM COSMETICS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Une voix de marque, mais pas toujours le bon public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8087"/>
                </a:solidFill>
                <a:latin typeface="Poppins"/>
              </a:rPr>
              <a:t>Ce qui marche</a:t>
            </a:r>
          </a:p>
        </p:txBody>
      </p:sp>
      <p:pic>
        <p:nvPicPr>
          <p:cNvPr id="11" name="Picture 10" descr="circle-check_dr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2340000"/>
            <a:ext cx="360000" cy="36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68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textes avec du caractère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« Even Better que votre ex » : un ton drôle, reconnaissable.</a:t>
            </a:r>
          </a:p>
        </p:txBody>
      </p:sp>
      <p:pic>
        <p:nvPicPr>
          <p:cNvPr id="13" name="Picture 12" descr="circle-check_dr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3330000"/>
            <a:ext cx="360000" cy="36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68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questions dans 15 textes sur 25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L’intention de faire répondre est là.</a:t>
            </a:r>
          </a:p>
        </p:txBody>
      </p:sp>
      <p:pic>
        <p:nvPicPr>
          <p:cNvPr id="15" name="Picture 14" descr="circle-check_dr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4320000"/>
            <a:ext cx="360000" cy="36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68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Babymed, la gamme qui porte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8 publications, 216 réactions médianes : la meilleure gamme régulière.</a:t>
            </a:r>
          </a:p>
        </p:txBody>
      </p:sp>
      <p:pic>
        <p:nvPicPr>
          <p:cNvPr id="17" name="Picture 16" descr="circle-check_dr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5310000"/>
            <a:ext cx="360000" cy="36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68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 Instagram très vivant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Le meilleur taux du groupe, et une vidéo vue 205 110 fois.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FBE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0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AE172A"/>
                </a:solidFill>
                <a:latin typeface="Poppins"/>
              </a:rPr>
              <a:t>Ce qui manque</a:t>
            </a:r>
          </a:p>
        </p:txBody>
      </p:sp>
      <p:pic>
        <p:nvPicPr>
          <p:cNvPr id="21" name="Picture 20" descr="circle-x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2340000"/>
            <a:ext cx="360000" cy="36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84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Deux langues dans chaque texte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24 sur 25 : l’anglais pousse la question hors de vue.</a:t>
            </a:r>
          </a:p>
        </p:txBody>
      </p:sp>
      <p:pic>
        <p:nvPicPr>
          <p:cNvPr id="23" name="Picture 22" descr="circle-x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3330000"/>
            <a:ext cx="360000" cy="36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84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Aucun prix, aucun point de vente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0 sur 25 : on ne sait pas où acheter.</a:t>
            </a:r>
          </a:p>
        </p:txBody>
      </p:sp>
      <p:pic>
        <p:nvPicPr>
          <p:cNvPr id="25" name="Picture 24" descr="circle-x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4320000"/>
            <a:ext cx="360000" cy="360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84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scores en dents de scie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5 publications au-dessus de 2 400, 4 en dessous de 30.</a:t>
            </a:r>
          </a:p>
        </p:txBody>
      </p:sp>
      <p:pic>
        <p:nvPicPr>
          <p:cNvPr id="27" name="Picture 26" descr="circle-x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5310000"/>
            <a:ext cx="360000" cy="36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84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questions qui tombent à plat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15 publications Instagram sur 24 sans aucun commentaire.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MEILLEURES PUBLICATIONS ·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meilleures : un usage clair, une émotion simple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9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dreamcosmetics.net_1544646141036182.jpg"/>
          <p:cNvPicPr>
            <a:picLocks noChangeAspect="1"/>
          </p:cNvPicPr>
          <p:nvPr/>
        </p:nvPicPr>
        <p:blipFill>
          <a:blip r:embed="rId3"/>
          <a:srcRect t="3000" b="7000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1</a:t>
            </a:r>
          </a:p>
        </p:txBody>
      </p:sp>
      <p:pic>
        <p:nvPicPr>
          <p:cNvPr id="13" name="Picture 12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75 577</a:t>
            </a:r>
          </a:p>
        </p:txBody>
      </p:sp>
      <p:pic>
        <p:nvPicPr>
          <p:cNvPr id="15" name="Picture 14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94</a:t>
            </a:r>
          </a:p>
        </p:txBody>
      </p:sp>
      <p:pic>
        <p:nvPicPr>
          <p:cNvPr id="17" name="Picture 16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02/09 · Déodorant Day by Day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b_dreamcosmetics.net_1586443180189811.jpg"/>
          <p:cNvPicPr>
            <a:picLocks noChangeAspect="1"/>
          </p:cNvPicPr>
          <p:nvPr/>
        </p:nvPicPr>
        <p:blipFill>
          <a:blip r:embed="rId7"/>
          <a:srcRect t="3000" b="7000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2</a:t>
            </a:r>
          </a:p>
        </p:txBody>
      </p:sp>
      <p:pic>
        <p:nvPicPr>
          <p:cNvPr id="24" name="Picture 23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9 508</a:t>
            </a:r>
          </a:p>
        </p:txBody>
      </p:sp>
      <p:pic>
        <p:nvPicPr>
          <p:cNvPr id="26" name="Picture 25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28</a:t>
            </a:r>
          </a:p>
        </p:txBody>
      </p:sp>
      <p:pic>
        <p:nvPicPr>
          <p:cNvPr id="28" name="Picture 27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13/10 · Pommade Babymed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fb_dreamcosmetics.net_1570312905136172.jpg"/>
          <p:cNvPicPr>
            <a:picLocks noChangeAspect="1"/>
          </p:cNvPicPr>
          <p:nvPr/>
        </p:nvPicPr>
        <p:blipFill>
          <a:blip r:embed="rId8"/>
          <a:srcRect t="3000" b="7000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3</a:t>
            </a:r>
          </a:p>
        </p:txBody>
      </p:sp>
      <p:pic>
        <p:nvPicPr>
          <p:cNvPr id="35" name="Picture 34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9 435</a:t>
            </a:r>
          </a:p>
        </p:txBody>
      </p:sp>
      <p:pic>
        <p:nvPicPr>
          <p:cNvPr id="37" name="Picture 36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73</a:t>
            </a:r>
          </a:p>
        </p:txBody>
      </p:sp>
      <p:pic>
        <p:nvPicPr>
          <p:cNvPr id="39" name="Picture 38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28/09 · « Quelle team ? »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fb_dreamcosmetics.net_1551327190368077.jpg"/>
          <p:cNvPicPr>
            <a:picLocks noChangeAspect="1"/>
          </p:cNvPicPr>
          <p:nvPr/>
        </p:nvPicPr>
        <p:blipFill>
          <a:blip r:embed="rId9"/>
          <a:srcRect t="3000" b="700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4</a:t>
            </a:r>
          </a:p>
        </p:txBody>
      </p:sp>
      <p:pic>
        <p:nvPicPr>
          <p:cNvPr id="46" name="Picture 45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3 339</a:t>
            </a:r>
          </a:p>
        </p:txBody>
      </p:sp>
      <p:pic>
        <p:nvPicPr>
          <p:cNvPr id="48" name="Picture 47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27</a:t>
            </a:r>
          </a:p>
        </p:txBody>
      </p:sp>
      <p:pic>
        <p:nvPicPr>
          <p:cNvPr id="50" name="Picture 49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09/09 · Cocopulp « votre ex »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ulb_d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Le score de 75 577 sur le déodorant laisse penser à une diffusion payante (hypothèse). Les trois suivantes ont un point commun : un produit du quotidien et une phrase qui fait sourire ou choisir.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MOINS BONNES PUBLICATIONS ·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moins bonnes : on ne voit ni le produit ni la personne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dreamcosmetics.net_1582934050540724.jpg"/>
          <p:cNvPicPr>
            <a:picLocks noChangeAspect="1"/>
          </p:cNvPicPr>
          <p:nvPr/>
        </p:nvPicPr>
        <p:blipFill>
          <a:blip r:embed="rId3"/>
          <a:srcRect t="3000" b="7000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13" name="Picture 12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11</a:t>
            </a:r>
          </a:p>
        </p:txBody>
      </p:sp>
      <p:pic>
        <p:nvPicPr>
          <p:cNvPr id="15" name="Picture 14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17" name="Picture 16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10/10 · Routine du matin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b_dreamcosmetics.net_1602069965293799.jpg"/>
          <p:cNvPicPr>
            <a:picLocks noChangeAspect="1"/>
          </p:cNvPicPr>
          <p:nvPr/>
        </p:nvPicPr>
        <p:blipFill>
          <a:blip r:embed="rId7"/>
          <a:srcRect t="3000" b="7000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24" name="Picture 23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13</a:t>
            </a:r>
          </a:p>
        </p:txBody>
      </p:sp>
      <p:pic>
        <p:nvPicPr>
          <p:cNvPr id="26" name="Picture 25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28" name="Picture 27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27/10 · Always Young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fb_dreamcosmetics.net_1569260318574764.jpg"/>
          <p:cNvPicPr>
            <a:picLocks noChangeAspect="1"/>
          </p:cNvPicPr>
          <p:nvPr/>
        </p:nvPicPr>
        <p:blipFill>
          <a:blip r:embed="rId8"/>
          <a:srcRect t="3000" b="7000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35" name="Picture 34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19</a:t>
            </a:r>
          </a:p>
        </p:txBody>
      </p:sp>
      <p:pic>
        <p:nvPicPr>
          <p:cNvPr id="37" name="Picture 36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39" name="Picture 38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27/09 · Boutons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fb_dreamcosmetics.net_1553266583507471.jpg"/>
          <p:cNvPicPr>
            <a:picLocks noChangeAspect="1"/>
          </p:cNvPicPr>
          <p:nvPr/>
        </p:nvPicPr>
        <p:blipFill>
          <a:blip r:embed="rId9"/>
          <a:srcRect t="4603" b="1074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46" name="Picture 45" descr="heart_d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28</a:t>
            </a:r>
          </a:p>
        </p:txBody>
      </p:sp>
      <p:pic>
        <p:nvPicPr>
          <p:cNvPr id="48" name="Picture 47" descr="message-circle_d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50" name="Picture 49" descr="share_d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11/09 · Salle de bain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BE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alert-triangle_d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Des devinettes (« swipez pour découvrir », « la coupable n’est peut-être pas… ») qui gardent la réponse cachée, et un texte en anglais seul le 27/10 : 13 réactions pour 211 469 abonnés.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PAR GAMME ·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Babymed et Day by Day tirent la page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76000" y="1584000"/>
          <a:ext cx="5760000" cy="4464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96000" y="1655999"/>
            <a:ext cx="4932000" cy="43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E172A"/>
                </a:solidFill>
                <a:latin typeface="Poppins"/>
              </a:rPr>
              <a:t>Ce que ça dit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Babymed est la seule gamme publiée souvent et qui marche à chaque fois : 8 publications, 216 réactions médianes, un pic à 9 508.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Cocopulp a deux publications seulement, mais une médiane de 1 724 : à pousser.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Les publications sans produit nommé font 52 réactions : quatre fois moins que Babymed.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Le chiffre entre parenthèses est le nombre de publications : sur 1 ou 2, c’est une tendance, pas une preuve.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6 publications refaites, avec 5 règles simples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60000" y="1872000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arget-arrow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400" y="2030400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Une idée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 geste ou un bénéfice, dit en une phrase.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8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92000" y="1872000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users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400" y="2030400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16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Une personne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6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 visage et le produit, côte à côte.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40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24000" y="1872000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essage-circl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400" y="2030400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148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Une vraie question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À laquelle on répond en un mot.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2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56000" y="1872000"/>
            <a:ext cx="720000" cy="720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orld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4400" y="2030400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80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Le français d’abord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0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L’anglais en commentaire, ou sur une publication à part.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4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88000" y="1872000"/>
            <a:ext cx="720000" cy="720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sparkles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6400" y="2030400"/>
            <a:ext cx="403200" cy="4032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612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Le nom de la gamme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12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En grand sur l’image : Babymed, Day by Day…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6000" y="4788000"/>
            <a:ext cx="11052000" cy="1332000"/>
          </a:xfrm>
          <a:prstGeom prst="roundRect">
            <a:avLst>
              <a:gd name="adj" fmla="val 6000"/>
            </a:avLst>
          </a:prstGeom>
          <a:solidFill>
            <a:srgbClr val="2A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000" y="4896000"/>
            <a:ext cx="10440000" cy="115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AE172A"/>
                </a:solidFill>
                <a:latin typeface="Poppins"/>
              </a:rPr>
              <a:t>Ce que nous n’avons pas inventé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FFFFFF"/>
                </a:solidFill>
                <a:latin typeface="Poppins"/>
              </a:rPr>
              <a:t>Prix, points de vente et promotions ne figurent pas dans vos publications : nous ne les avons pas ajoutés. Ils rendraient chaque publication plus forte, dès que vous nous les donnez.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LE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Une personne et un produit sur chaque visuel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v_d_alway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200" y="1440000"/>
            <a:ext cx="1929600" cy="2412000"/>
          </a:xfrm>
          <a:prstGeom prst="rect">
            <a:avLst/>
          </a:prstGeom>
        </p:spPr>
      </p:pic>
      <p:pic>
        <p:nvPicPr>
          <p:cNvPr id="10" name="Picture 9" descr="v_d_homm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9200" y="1440000"/>
            <a:ext cx="1929600" cy="2412000"/>
          </a:xfrm>
          <a:prstGeom prst="rect">
            <a:avLst/>
          </a:prstGeom>
        </p:spPr>
      </p:pic>
      <p:pic>
        <p:nvPicPr>
          <p:cNvPr id="11" name="Picture 10" descr="v_d_bouton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9200" y="1440000"/>
            <a:ext cx="1929600" cy="2412000"/>
          </a:xfrm>
          <a:prstGeom prst="rect">
            <a:avLst/>
          </a:prstGeom>
        </p:spPr>
      </p:pic>
      <p:pic>
        <p:nvPicPr>
          <p:cNvPr id="12" name="Picture 11" descr="v_d_parfum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200" y="3924000"/>
            <a:ext cx="1929600" cy="2412000"/>
          </a:xfrm>
          <a:prstGeom prst="rect">
            <a:avLst/>
          </a:prstGeom>
        </p:spPr>
      </p:pic>
      <p:pic>
        <p:nvPicPr>
          <p:cNvPr id="13" name="Picture 12" descr="v_d_carott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19200" y="3924000"/>
            <a:ext cx="1929600" cy="2412000"/>
          </a:xfrm>
          <a:prstGeom prst="rect">
            <a:avLst/>
          </a:prstGeom>
        </p:spPr>
      </p:pic>
      <p:pic>
        <p:nvPicPr>
          <p:cNvPr id="14" name="Picture 13" descr="v_d_beb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39200" y="3924000"/>
            <a:ext cx="1929600" cy="2412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0000" y="1512000"/>
            <a:ext cx="3348000" cy="50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E172A"/>
                </a:solidFill>
                <a:latin typeface="Poppins"/>
              </a:rPr>
              <a:t>Ce qui change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 visage pour qu’on s’y reconnaisse, le produit dans un rond blanc pour qu’on le retrouve en rayon.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 titre court en grand, la question dans le texte.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 rouge et le rose de votre logo, partout.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Photos de personnes : illustrations à remplacer par vos égéries ou vos clientes (avec leur accord).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1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Always Young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cmp_d_alway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045" y="1422000"/>
            <a:ext cx="9351910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2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Day by Day Men, routine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cmp_d_hom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6044" y="1422000"/>
            <a:ext cx="9555912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3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Clear Therapy, boutons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cmp_d_bout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6044" y="1422000"/>
            <a:ext cx="9555912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4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Day by Day Men, parfum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cmp_d_parfu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493" y="1422000"/>
            <a:ext cx="9769014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5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Carowhite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cmp_d_carot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493" y="1422000"/>
            <a:ext cx="9769014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AVANT / APRÈS · 6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Babymed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19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pic>
        <p:nvPicPr>
          <p:cNvPr id="9" name="Picture 8" descr="cmp_d_beb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493" y="1422000"/>
            <a:ext cx="9769014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RECOMMANDATIONS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5 décisions pour faire réagir, puis faire acheter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00" y="1584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1584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1</a:t>
            </a:r>
          </a:p>
        </p:txBody>
      </p:sp>
      <p:sp>
        <p:nvSpPr>
          <p:cNvPr id="12" name="Oval 11"/>
          <p:cNvSpPr/>
          <p:nvPr/>
        </p:nvSpPr>
        <p:spPr>
          <a:xfrm>
            <a:off x="1404000" y="1709999"/>
            <a:ext cx="594000" cy="594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orld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680" y="1840679"/>
            <a:ext cx="332640" cy="332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96000" y="1584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Le français d’abord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6000" y="1584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Un texte en français seul ; l’anglais en premier commentaire, ou réservé à une publication export.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00" y="2538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6000" y="2538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2538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404000" y="2663999"/>
            <a:ext cx="594000" cy="594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baby-carriage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4680" y="2794679"/>
            <a:ext cx="332640" cy="332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6000" y="2538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Miser sur Babymed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6000" y="2538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Une publication Babymed par semaine : c’est votre gamme la plus régulière, et Gandour gagne sur bébé.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00" y="3492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6000" y="3492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3492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1404000" y="3617999"/>
            <a:ext cx="594000" cy="594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ap-pin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4680" y="3748679"/>
            <a:ext cx="332640" cy="332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196000" y="3492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Dire où acheter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6000" y="3492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Une fois par semaine : la pharmacie, le supermarché, le marché où l’on trouve le produit.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00" y="4446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76000" y="4446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2000" y="4446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4</a:t>
            </a:r>
          </a:p>
        </p:txBody>
      </p:sp>
      <p:sp>
        <p:nvSpPr>
          <p:cNvPr id="33" name="Oval 32"/>
          <p:cNvSpPr/>
          <p:nvPr/>
        </p:nvSpPr>
        <p:spPr>
          <a:xfrm>
            <a:off x="1404000" y="4571999"/>
            <a:ext cx="594000" cy="594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video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34680" y="4702679"/>
            <a:ext cx="332640" cy="332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196000" y="4446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Plus de vidéos courtes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56000" y="4446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Votre vidéo PawPaw a fait 205 110 vues sur Instagram : deux vidéos de routine par semaine.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6000" y="5400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76000" y="5400000"/>
            <a:ext cx="90000" cy="846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2000" y="5400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AE172A"/>
                </a:solidFill>
                <a:latin typeface="Poppins"/>
              </a:rPr>
              <a:t>5</a:t>
            </a:r>
          </a:p>
        </p:txBody>
      </p:sp>
      <p:sp>
        <p:nvSpPr>
          <p:cNvPr id="40" name="Oval 39"/>
          <p:cNvSpPr/>
          <p:nvPr/>
        </p:nvSpPr>
        <p:spPr>
          <a:xfrm>
            <a:off x="1404000" y="5525999"/>
            <a:ext cx="594000" cy="594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brand-linkedin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4680" y="5656679"/>
            <a:ext cx="332640" cy="33264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196000" y="5400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Réveiller LinkedIn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56000" y="5400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Une publication par semaine pour les distributeurs et les futurs collaborateurs : l’usine, les équipes, l’export.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PLAN 30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 premier mois, semaine par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576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lendar-even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10000"/>
            <a:ext cx="324000" cy="32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16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Valider les 6 publications refaites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Passer les textes en français seul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Lister les points de vente à citer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584000"/>
            <a:ext cx="2628000" cy="576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1710000"/>
            <a:ext cx="324000" cy="32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24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4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8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les 6 avant / après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3 publications par semaine, 12 h ou 19 h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Répondre à chaque commentaire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2628000" cy="576000"/>
          </a:xfrm>
          <a:prstGeom prst="round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video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000" y="1710000"/>
            <a:ext cx="324000" cy="32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32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2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Tourner 2 vidéos de routine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Un sondage Babymed pour les mamans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Première publication LinkedIn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584000"/>
            <a:ext cx="2628000" cy="576000"/>
          </a:xfrm>
          <a:prstGeom prst="round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trending-up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1710000"/>
            <a:ext cx="324000" cy="32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540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0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Comparer aux 138 réactions de départ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Garder ce qui marche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AE172A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Préparer le mois suivant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00" y="5364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2A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target-arrow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000" y="5544000"/>
            <a:ext cx="503999" cy="503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440000" y="5364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Poppins"/>
              </a:rPr>
              <a:t>Objectif proposé à 30 jours : passer de 138 à 300 réactions médianes sur Facebook, et d’un commentaire sur trois publications Instagram à une sur deux.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TABLEAU DE BORD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chiffres à suivre chaque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76000" y="1584000"/>
          <a:ext cx="11052000" cy="367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0000"/>
                <a:gridCol w="2544000"/>
                <a:gridCol w="2544000"/>
                <a:gridCol w="2544000"/>
              </a:tblGrid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Indicateur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Où le lire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Départ (28/10)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Objectif 30 jours</a:t>
                      </a:r>
                    </a:p>
                  </a:txBody>
                  <a:tcPr anchor="ctr">
                    <a:solidFill>
                      <a:srgbClr val="2A0E1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Réactions médianes Facebook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Facebook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138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300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Instagram sans commentaire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Instagram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15 sur 24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Moins de 12 sur 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en français seul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Vos textes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 sur 25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25 sur 25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qui disent où acheter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Vos textes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 sur 25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 par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Vidéos publiées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Facebook et Instagram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7 sur 25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8 par mois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3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aucune relevée</a:t>
                      </a:r>
                    </a:p>
                  </a:txBody>
                  <a:tcPr anchor="ctr"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 par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76000" y="5544000"/>
            <a:ext cx="11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Les ventes et la portée ne se lisent qu’avec l’accès aux comptes : ce tableau commence par ce qui se voit de l’extérieur.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6120" y="246443"/>
            <a:ext cx="1655999" cy="5151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E172A"/>
                </a:solidFill>
                <a:latin typeface="Poppins"/>
              </a:rPr>
              <a:t>SUITE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qu’il nous faut pour aller plus loin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Dream Cosmetics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000" y="1944000"/>
            <a:ext cx="792000" cy="792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240" y="2118240"/>
            <a:ext cx="443520" cy="443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4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L’accès aux comptes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000" y="3456000"/>
            <a:ext cx="3024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Portée, clics, messages et budgets publicitaires : pour savoir quelles publications sont payées, et ce qu’elles rapportent.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08000" y="1944000"/>
            <a:ext cx="792000" cy="79200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map-pin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2240" y="2118240"/>
            <a:ext cx="443520" cy="443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08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Points de vente et prix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000" y="3456000"/>
            <a:ext cx="3024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Pour écrire « où l’acheter » et des offres datées.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4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52000" y="1944000"/>
            <a:ext cx="792000" cy="79200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ircle-check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6240" y="2118240"/>
            <a:ext cx="443520" cy="4435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352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Votre accord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2000" y="3456000"/>
            <a:ext cx="3024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Sur les 6 publications refaites, avant toute mise en ligne.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00" y="5400000"/>
            <a:ext cx="11052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Rien n’a été publié. Les photos de personnes sont des illustrations ; les produits sont ceux de votre catalogue.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