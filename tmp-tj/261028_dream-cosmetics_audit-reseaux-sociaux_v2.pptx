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Instagram : J’aime médians ÷ abonnés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Instagram : J’aime médians ÷ abonnés (%)</c:v>
                </c:pt>
              </c:strCache>
            </c:strRef>
          </c:tx>
          <c:dPt>
            <c:idx val="0"/>
            <c:spPr>
              <a:solidFill>
                <a:srgbClr val="B9B9B9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AE172A"/>
              </a:solidFill>
            </c:spPr>
          </c:dPt>
          <c:cat>
            <c:strRef>
              <c:f>Sheet1!$A$2:$A$5</c:f>
              <c:strCache>
                <c:ptCount val="4"/>
                <c:pt idx="0">
                  <c:v>Gandour</c:v>
                </c:pt>
                <c:pt idx="1">
                  <c:v>Kaera</c:v>
                </c:pt>
                <c:pt idx="2">
                  <c:v>SIVOP</c:v>
                </c:pt>
                <c:pt idx="3">
                  <c:v>Dream Cosmetics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</c:v>
                </c:pt>
                <c:pt idx="1">
                  <c:v>0.07</c:v>
                </c:pt>
                <c:pt idx="2">
                  <c:v>0.11</c:v>
                </c:pt>
                <c:pt idx="3">
                  <c:v>0.38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Réactions médianes par gamme (nombre de publications)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gamme (nombre de publications)</c:v>
                </c:pt>
              </c:strCache>
            </c:strRef>
          </c:tx>
          <c:dPt>
            <c:idx val="0"/>
            <c:spPr>
              <a:solidFill>
                <a:srgbClr val="B9B9B9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B9B9B9"/>
              </a:solidFill>
            </c:spPr>
          </c:dPt>
          <c:dPt>
            <c:idx val="4"/>
            <c:spPr>
              <a:solidFill>
                <a:srgbClr val="B9B9B9"/>
              </a:solidFill>
            </c:spPr>
          </c:dPt>
          <c:dPt>
            <c:idx val="5"/>
            <c:spPr>
              <a:solidFill>
                <a:srgbClr val="AE172A"/>
              </a:solidFill>
            </c:spPr>
          </c:dPt>
          <c:cat>
            <c:strRef>
              <c:f>Sheet1!$A$2:$A$7</c:f>
              <c:strCache>
                <c:ptCount val="6"/>
                <c:pt idx="0">
                  <c:v>Always Young (1)</c:v>
                </c:pt>
                <c:pt idx="1">
                  <c:v>Dr Wang (1)</c:v>
                </c:pt>
                <c:pt idx="2">
                  <c:v>Sans gamme nommée (7)</c:v>
                </c:pt>
                <c:pt idx="3">
                  <c:v>Cocopulp (2)</c:v>
                </c:pt>
                <c:pt idx="4">
                  <c:v>Day by Day (4)</c:v>
                </c:pt>
                <c:pt idx="5">
                  <c:v>Babymed (8)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</c:v>
                </c:pt>
                <c:pt idx="1">
                  <c:v>46</c:v>
                </c:pt>
                <c:pt idx="2">
                  <c:v>52</c:v>
                </c:pt>
                <c:pt idx="3">
                  <c:v>1724</c:v>
                </c:pt>
                <c:pt idx="4">
                  <c:v>112</c:v>
                </c:pt>
                <c:pt idx="5">
                  <c:v>216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4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jpg"/><Relationship Id="rId9" Type="http://schemas.openxmlformats.org/officeDocument/2006/relationships/image" Target="../media/image4.jpg"/><Relationship Id="rId10" Type="http://schemas.openxmlformats.org/officeDocument/2006/relationships/image" Target="../media/image28.jpg"/><Relationship Id="rId11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1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jpg"/><Relationship Id="rId8" Type="http://schemas.openxmlformats.org/officeDocument/2006/relationships/image" Target="../media/image35.jpg"/><Relationship Id="rId9" Type="http://schemas.openxmlformats.org/officeDocument/2006/relationships/image" Target="../media/image36.jpg"/><Relationship Id="rId10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8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3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58.png"/><Relationship Id="rId6" Type="http://schemas.openxmlformats.org/officeDocument/2006/relationships/image" Target="../media/image61.png"/><Relationship Id="rId7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57.png"/><Relationship Id="rId5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_d_be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52069"/>
            <a:ext cx="2700000" cy="8398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8087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Dream Cosmetics face à Gandour, SIVOP et Kaera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iv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aer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très grande audience, des publications inégales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211 469 abonnés Facebook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4e page du groupe, mais une marque connue : Gandour en a 993 513, SIVOP 662 562.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138 réactions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Médiane sur Facebook. De 11 à 75 577 : quelques publications font tout le score.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Le meilleur Instagram du groupe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0,38 % de réactions par abonné, contre 0,11 % chez SIVOP et 0,03 % chez Gandour.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questions sans réponses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15 publications sur 25 posent une question, mais 15 sur 24 n’ont aucun commentaire sur Instagram.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Facebook, Instagram et LinkedIn de Dream Cosmetics, Gandour, SIVOP et Kaera,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25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Les 25 dernières sur chaque réseau : du 2/09 au 27/10 pour Dream Cosmetics.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Portée, clics, messages reçus, budgets publicitaires et ventes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Quatre fabricants ivoiriens, quatre façons de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ream_f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Dream Cosmetics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AE172A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facebook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211 469 abonnés</a:t>
            </a:r>
          </a:p>
        </p:txBody>
      </p:sp>
      <p:pic>
        <p:nvPicPr>
          <p:cNvPr id="17" name="Picture 16" descr="speakerphon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3,2 publ. / semaine</a:t>
            </a:r>
          </a:p>
        </p:txBody>
      </p:sp>
      <p:pic>
        <p:nvPicPr>
          <p:cNvPr id="19" name="Picture 18" descr="heart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réactions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textes travaillés, en deux langues.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ndou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Gandour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LEADER EN AUDIENCE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993 513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1 022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Peu de publications, beaucoup d’effet.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ivop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SIVOP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 PLUS ACTIF</a:t>
            </a:r>
          </a:p>
        </p:txBody>
      </p:sp>
      <p:pic>
        <p:nvPicPr>
          <p:cNvPr id="41" name="Picture 40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662 562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5,5 publ. / semaine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100 réactions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événements et des causes.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kaera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Kaera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TOUT EN VIDÉO</a:t>
            </a:r>
          </a:p>
        </p:txBody>
      </p:sp>
      <p:pic>
        <p:nvPicPr>
          <p:cNvPr id="54" name="Picture 53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579 371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0,9 publ. / semaine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120 réactions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24 vidéos sur 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LES COMPTES DE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Facebook pour l’audience, Instagram pour l’attention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211 469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Page créée en 2012 · publicité active le 28/10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16 727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920 publications · 63 J’aime médians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5 205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Aucune publication récente n’a pu être relevée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À regarder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24 textes sur 25 sont écrits en français puis en anglais. En Côte d’Ivoire, la moitié anglaise allonge le texte et repousse la question finale sous « voir plus ». Sur LinkedIn, 5 205 abonnés attendent : recruteurs, distributeurs, acheteurs de la grande distribution.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Sur Instagram, Dream Cosmetics fait mieux que tous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256000" cy="417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48000" y="1584000"/>
          <a:ext cx="5580000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900000"/>
                <a:gridCol w="900000"/>
                <a:gridCol w="900000"/>
                <a:gridCol w="900000"/>
              </a:tblGrid>
              <a:tr h="4320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Dream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Gandour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SIVOP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Kaera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211 469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993 513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662 562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579 371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3,2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1,7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(FB)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1 022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0,07 %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0,10 %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25, 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24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16 727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90 122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35 072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23 293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(IG)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63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Publicité active (28/10)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réactions médianes ÷ abonnés. 25 dernières publications de chaque page, relevées le 28/10/2026.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concurrents misent sur bébé, les nouveautés et les causes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Gandourci_1495738615919916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17/07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40 885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50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Bébé Switz, « la gamme des futurs champions » : une phrase, un bébé, rien d’autre.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SIVOP_1460642816162257.jpg"/>
          <p:cNvPicPr>
            <a:picLocks noChangeAspect="1"/>
          </p:cNvPicPr>
          <p:nvPr/>
        </p:nvPicPr>
        <p:blipFill>
          <a:blip r:embed="rId8"/>
          <a:srcRect t="13198" b="30796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ivo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SIVOP · 22/10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6 712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Octobre Rose avec un partenaire : la marque porte une cause, pas un produit.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kaeracosmetic_1407334458094864.jpg"/>
          <p:cNvPicPr>
            <a:picLocks noChangeAspect="1"/>
          </p:cNvPicPr>
          <p:nvPr/>
        </p:nvPicPr>
        <p:blipFill>
          <a:blip r:embed="rId10"/>
          <a:srcRect t="18256" b="42597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kaer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Kaera · 08/05 · vidéo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4 614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89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Une routine en vidéo, du gel de bain à la brume : 109 partages.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FAIT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voix de marque, mais pas toujours le bon public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8087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textes avec du caractère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« Even Better que votre ex » : un ton drôle, reconnaissable.</a:t>
            </a:r>
          </a:p>
        </p:txBody>
      </p:sp>
      <p:pic>
        <p:nvPicPr>
          <p:cNvPr id="13" name="Picture 12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dans 15 textes sur 25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L’intention de faire répondre est là.</a:t>
            </a:r>
          </a:p>
        </p:txBody>
      </p:sp>
      <p:pic>
        <p:nvPicPr>
          <p:cNvPr id="15" name="Picture 14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Babymed, la gamme qui porte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8 publications, 216 réactions médianes : la meilleure gamme régulière.</a:t>
            </a:r>
          </a:p>
        </p:txBody>
      </p:sp>
      <p:pic>
        <p:nvPicPr>
          <p:cNvPr id="17" name="Picture 16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Instagram très vivant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Le meilleur taux du groupe, et une vidéo vue 205 110 fois.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AE172A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Deux langues dans chaque texte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24 sur 25 : l’anglais pousse la question hors de vue.</a:t>
            </a:r>
          </a:p>
        </p:txBody>
      </p:sp>
      <p:pic>
        <p:nvPicPr>
          <p:cNvPr id="23" name="Picture 22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Aucun prix, aucun point de vente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0 sur 25 : on ne sait pas où acheter.</a:t>
            </a:r>
          </a:p>
        </p:txBody>
      </p:sp>
      <p:pic>
        <p:nvPicPr>
          <p:cNvPr id="25" name="Picture 24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scores en dents de scie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5 publications au-dessus de 2 400, 4 en dessous de 30.</a:t>
            </a:r>
          </a:p>
        </p:txBody>
      </p:sp>
      <p:pic>
        <p:nvPicPr>
          <p:cNvPr id="27" name="Picture 26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qui tombent à plat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15 publications Instagram sur 24 sans aucun commentaire.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MEILLEURES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meilleures : un usage clair, une émotion simple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44646141036182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75 577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94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Déodorant Day by 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586443180189811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9 508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13/10 · Pommade Babymed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7031290513617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9 435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73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« Quelle team ? 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1327190368077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3 339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09/09 · Cocopulp « votre ex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 score de 75 577 sur le déodorant laisse penser à une diffusion payante (hypothèse). Les trois suivantes ont un point commun : un produit du quotidien et une phrase qui fait sourire ou choisir.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MOINS BONNES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moins bonnes : on ne voit ni le produit ni la personne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82934050540724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11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10/10 · Routine du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602069965293799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27/10 · Always Young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69260318574764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27/09 · Boutons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3266583507471.jpg"/>
          <p:cNvPicPr>
            <a:picLocks noChangeAspect="1"/>
          </p:cNvPicPr>
          <p:nvPr/>
        </p:nvPicPr>
        <p:blipFill>
          <a:blip r:embed="rId9"/>
          <a:srcRect t="4603" b="1074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11/09 · Salle de bain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Des devinettes (« swipez pour découvrir », « la coupable n’est peut-être pas… ») qui gardent la réponse cachée, et un texte en anglais seul le 27/10 : 13 réactions pour 211 469 abonnés.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PAR GAMME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et Day by Day tirent la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760000" cy="4464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Babymed est la seule gamme publiée souvent et qui marche à chaque fois : 8 publications, 216 réactions médianes, un pic à 9 508.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Cocopulp a deux publications seulement, mais une médiane de 1 724 : à pousser.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publications sans produit nommé font 52 réactions : quatre fois moins que Babymed.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Le chiffre entre parenthèses est le nombre de publications : sur 1 ou 2, c’est une tendance, pas une preuve.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idée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geste ou un bénéfice, dit en une phrase.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visage et le produit, côte à côte.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vraie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À laquelle on répond en un mot.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orld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L’anglais en commentaire, ou sur une publication à part.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parkles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Le nom de la gamme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En grand sur l’image : Babymed, Day by Day…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E172A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Prix, points de vente et promotions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personne et un produit sur chaque visuel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v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00" y="1440000"/>
            <a:ext cx="1929600" cy="2412000"/>
          </a:xfrm>
          <a:prstGeom prst="rect">
            <a:avLst/>
          </a:prstGeom>
        </p:spPr>
      </p:pic>
      <p:pic>
        <p:nvPicPr>
          <p:cNvPr id="10" name="Picture 9" descr="v_d_hom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00" y="1440000"/>
            <a:ext cx="1929600" cy="2412000"/>
          </a:xfrm>
          <a:prstGeom prst="rect">
            <a:avLst/>
          </a:prstGeom>
        </p:spPr>
      </p:pic>
      <p:pic>
        <p:nvPicPr>
          <p:cNvPr id="11" name="Picture 10" descr="v_d_bout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200" y="1440000"/>
            <a:ext cx="1929600" cy="2412000"/>
          </a:xfrm>
          <a:prstGeom prst="rect">
            <a:avLst/>
          </a:prstGeom>
        </p:spPr>
      </p:pic>
      <p:pic>
        <p:nvPicPr>
          <p:cNvPr id="12" name="Picture 11" descr="v_d_parfum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00" y="3924000"/>
            <a:ext cx="1929600" cy="2412000"/>
          </a:xfrm>
          <a:prstGeom prst="rect">
            <a:avLst/>
          </a:prstGeom>
        </p:spPr>
      </p:pic>
      <p:pic>
        <p:nvPicPr>
          <p:cNvPr id="13" name="Picture 12" descr="v_d_carott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00" y="3924000"/>
            <a:ext cx="1929600" cy="2412000"/>
          </a:xfrm>
          <a:prstGeom prst="rect">
            <a:avLst/>
          </a:prstGeom>
        </p:spPr>
      </p:pic>
      <p:pic>
        <p:nvPicPr>
          <p:cNvPr id="14" name="Picture 13" descr="v_d_beb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39200" y="3924000"/>
            <a:ext cx="1929600" cy="241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visage pour qu’on s’y reconnaisse, le produit dans un rond blanc pour qu’on le retrouve en rayon.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 rouge et le rose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de personnes : illustrations à remplacer par vos égéries ou vos clientes (avec leur accord).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Always Young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5" y="1422000"/>
            <a:ext cx="9351910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routine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hom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Clear Therapy, boutons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bout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parfum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parfu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Carowhite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carot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beb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faire réagir, puis faire acheter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orld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 texte en français seul ; l’anglais en premier commentaire, ou réservé à une publication export.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aby-carriag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Miser sur Babymed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publication Babymed par semaine : c’est votre gamme la plus régulière, et Gandour gagne sur bébé.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ap-p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Dire où acheter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fois par semaine : la pharmacie, le supermarché, le marché où l’on trouve le produit.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4</a:t>
            </a:r>
          </a:p>
        </p:txBody>
      </p:sp>
      <p:sp>
        <p:nvSpPr>
          <p:cNvPr id="33" name="Oval 32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Plus de vidéos courtes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Votre vidéo PawPaw a fait 205 110 vues sur Instagram : deux vidéos de routine par semaine.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5</a:t>
            </a:r>
          </a:p>
        </p:txBody>
      </p:sp>
      <p:sp>
        <p:nvSpPr>
          <p:cNvPr id="40" name="Oval 39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nd-linkedin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Réveiller LinkedIn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publication par semaine pour les distributeurs et les futurs collaborateurs : l’usine, les équipes, l’export.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Passer les textes en français seul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les points de vente à citer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les 6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3 publications par semaine, 12 h ou 19 h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de routine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Un sondage Babymed pour les mamans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Première publication LinkedIn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138 réactions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Garder ce qui marche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le mois suivant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138 à 300 réactions médianes sur Facebook, et d’un commentaire sur trois publications Instagram à une sur deux.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Instagram sans commentaire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15 sur 24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Moins de 12 sur 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en français seul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25 sur 25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qui disent où acheter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publiées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 et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 par mois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aucune relevée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ventes et la portée ne se lisent qu’avec l’accès aux comptes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L’accès aux comptes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Portée, clics, messages et budgets publicitaires : pour savoir quelles publications sont payées, et ce qu’elles rapportent.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ap-pin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Points de vente et prix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Pour écrire « où l’acheter » et des offres datées.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2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Rien n’a été publié. Les photos de personnes sont des illustrations ; les produits sont ceux de votre catalogue.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