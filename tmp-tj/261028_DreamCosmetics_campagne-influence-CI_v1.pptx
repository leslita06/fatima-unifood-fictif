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jpg"/><Relationship Id="rId4" Type="http://schemas.openxmlformats.org/officeDocument/2006/relationships/image" Target="../media/image15.jpg"/><Relationship Id="rId5" Type="http://schemas.openxmlformats.org/officeDocument/2006/relationships/image" Target="../media/image1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d_28582416.jpg"/>
          <p:cNvPicPr>
            <a:picLocks noChangeAspect="1"/>
          </p:cNvPicPr>
          <p:nvPr/>
        </p:nvPicPr>
        <p:blipFill>
          <a:blip r:embed="rId2"/>
          <a:srcRect t="10334" b="24114"/>
          <a:stretch>
            <a:fillRect/>
          </a:stretch>
        </p:blipFill>
        <p:spPr>
          <a:xfrm>
            <a:off x="5220000" y="0"/>
            <a:ext cx="6972119" cy="6858000"/>
          </a:xfrm>
          <a:prstGeom prst="rect">
            <a:avLst/>
          </a:prstGeom>
        </p:spPr>
      </p:pic>
      <p:sp>
        <p:nvSpPr>
          <p:cNvPr id="3" name="Rectangle 2"/>
          <p:cNvSpPr/>
          <p:nvPr/>
        </p:nvSpPr>
        <p:spPr>
          <a:xfrm>
            <a:off x="0" y="0"/>
            <a:ext cx="5580000" cy="6858000"/>
          </a:xfrm>
          <a:prstGeom prst="rect">
            <a:avLst/>
          </a:prstGeom>
          <a:solidFill>
            <a:srgbClr val="2A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184000" y="0"/>
            <a:ext cx="792000" cy="6858000"/>
          </a:xfrm>
          <a:prstGeom prst="rect">
            <a:avLst/>
          </a:prstGeom>
          <a:solidFill>
            <a:srgbClr val="2A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blanc.png"/>
          <p:cNvPicPr>
            <a:picLocks noChangeAspect="1"/>
          </p:cNvPicPr>
          <p:nvPr/>
        </p:nvPicPr>
        <p:blipFill>
          <a:blip r:embed="rId3"/>
          <a:stretch>
            <a:fillRect/>
          </a:stretch>
        </p:blipFill>
        <p:spPr>
          <a:xfrm>
            <a:off x="660667" y="576000"/>
            <a:ext cx="2314666" cy="720000"/>
          </a:xfrm>
          <a:prstGeom prst="rect">
            <a:avLst/>
          </a:prstGeom>
        </p:spPr>
      </p:pic>
      <p:sp>
        <p:nvSpPr>
          <p:cNvPr id="6" name="TextBox 5"/>
          <p:cNvSpPr txBox="1"/>
          <p:nvPr/>
        </p:nvSpPr>
        <p:spPr>
          <a:xfrm>
            <a:off x="648000" y="1872000"/>
            <a:ext cx="4680000" cy="324000"/>
          </a:xfrm>
          <a:prstGeom prst="rect">
            <a:avLst/>
          </a:prstGeom>
          <a:noFill/>
        </p:spPr>
        <p:txBody>
          <a:bodyPr wrap="square" lIns="36000" rIns="36000" tIns="18000" bIns="18000" anchor="t">
            <a:spAutoFit/>
          </a:bodyPr>
          <a:lstStyle/>
          <a:p>
            <a:pPr algn="l">
              <a:lnSpc>
                <a:spcPct val="110000"/>
              </a:lnSpc>
            </a:pPr>
            <a:r>
              <a:rPr sz="1200" b="1">
                <a:solidFill>
                  <a:srgbClr val="FF8087"/>
                </a:solidFill>
                <a:latin typeface="Poppins"/>
              </a:rPr>
              <a:t>CAMPAGNE D’INFLUENCE · CÔTE D’IVOIRE</a:t>
            </a:r>
          </a:p>
        </p:txBody>
      </p:sp>
      <p:sp>
        <p:nvSpPr>
          <p:cNvPr id="7" name="TextBox 6"/>
          <p:cNvSpPr txBox="1"/>
          <p:nvPr/>
        </p:nvSpPr>
        <p:spPr>
          <a:xfrm>
            <a:off x="648000" y="2232000"/>
            <a:ext cx="5220000" cy="936000"/>
          </a:xfrm>
          <a:prstGeom prst="rect">
            <a:avLst/>
          </a:prstGeom>
          <a:noFill/>
        </p:spPr>
        <p:txBody>
          <a:bodyPr wrap="square" lIns="36000" rIns="36000" tIns="18000" bIns="18000" anchor="t">
            <a:spAutoFit/>
          </a:bodyPr>
          <a:lstStyle/>
          <a:p>
            <a:pPr algn="l">
              <a:lnSpc>
                <a:spcPct val="110000"/>
              </a:lnSpc>
            </a:pPr>
            <a:r>
              <a:rPr sz="3600" b="1">
                <a:solidFill>
                  <a:srgbClr val="FFFFFF"/>
                </a:solidFill>
                <a:latin typeface="Poppins"/>
              </a:rPr>
              <a:t>#MonRituelDream</a:t>
            </a:r>
          </a:p>
        </p:txBody>
      </p:sp>
      <p:sp>
        <p:nvSpPr>
          <p:cNvPr id="8" name="TextBox 7"/>
          <p:cNvSpPr txBox="1"/>
          <p:nvPr/>
        </p:nvSpPr>
        <p:spPr>
          <a:xfrm>
            <a:off x="648000" y="3384000"/>
            <a:ext cx="4608000" cy="1080000"/>
          </a:xfrm>
          <a:prstGeom prst="rect">
            <a:avLst/>
          </a:prstGeom>
          <a:noFill/>
        </p:spPr>
        <p:txBody>
          <a:bodyPr wrap="square" lIns="36000" rIns="36000" tIns="18000" bIns="18000" anchor="t">
            <a:spAutoFit/>
          </a:bodyPr>
          <a:lstStyle/>
          <a:p>
            <a:pPr algn="l">
              <a:lnSpc>
                <a:spcPct val="110000"/>
              </a:lnSpc>
            </a:pPr>
            <a:r>
              <a:rPr sz="1500" b="0">
                <a:solidFill>
                  <a:srgbClr val="F3DADD"/>
                </a:solidFill>
                <a:latin typeface="Poppins"/>
              </a:rPr>
              <a:t>Des créatrices et créateurs ivoiriens montrent leur vrai rituel de soin avec les gammes Dream, en 6 semaines.</a:t>
            </a:r>
          </a:p>
        </p:txBody>
      </p:sp>
      <p:sp>
        <p:nvSpPr>
          <p:cNvPr id="9" name="Rectangle 8"/>
          <p:cNvSpPr/>
          <p:nvPr/>
        </p:nvSpPr>
        <p:spPr>
          <a:xfrm>
            <a:off x="648000" y="4788000"/>
            <a:ext cx="792000" cy="50400"/>
          </a:xfrm>
          <a:prstGeom prst="rect">
            <a:avLst/>
          </a:prstGeom>
          <a:solidFill>
            <a:srgbClr val="FF8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8000" y="4968000"/>
            <a:ext cx="4680000" cy="900000"/>
          </a:xfrm>
          <a:prstGeom prst="rect">
            <a:avLst/>
          </a:prstGeom>
          <a:noFill/>
        </p:spPr>
        <p:txBody>
          <a:bodyPr wrap="square" lIns="36000" rIns="36000" tIns="18000" bIns="18000" anchor="t">
            <a:spAutoFit/>
          </a:bodyPr>
          <a:lstStyle/>
          <a:p>
            <a:pPr algn="l">
              <a:lnSpc>
                <a:spcPct val="110000"/>
              </a:lnSpc>
            </a:pPr>
            <a:r>
              <a:rPr sz="1200" b="1">
                <a:solidFill>
                  <a:srgbClr val="FFFFFF"/>
                </a:solidFill>
                <a:latin typeface="Poppins"/>
              </a:rPr>
              <a:t>Proposition de campagne · 28 octobre 2026</a:t>
            </a:r>
          </a:p>
          <a:p>
            <a:pPr algn="l">
              <a:lnSpc>
                <a:spcPct val="110000"/>
              </a:lnSpc>
              <a:spcBef>
                <a:spcPts val="500"/>
              </a:spcBef>
            </a:pPr>
            <a:r>
              <a:rPr sz="1050" b="0">
                <a:solidFill>
                  <a:srgbClr val="E7C9CD"/>
                </a:solidFill>
                <a:latin typeface="Poppins"/>
              </a:rPr>
              <a:t>Préparée par Mstudio pour Dream Cosmetics · à valider avant tout contact</a:t>
            </a:r>
          </a:p>
        </p:txBody>
      </p:sp>
      <p:sp>
        <p:nvSpPr>
          <p:cNvPr id="11" name="Rounded Rectangle 10"/>
          <p:cNvSpPr/>
          <p:nvPr/>
        </p:nvSpPr>
        <p:spPr>
          <a:xfrm>
            <a:off x="8880120" y="5616000"/>
            <a:ext cx="2736000" cy="360000"/>
          </a:xfrm>
          <a:prstGeom prst="roundRect">
            <a:avLst>
              <a:gd name="adj" fmla="val 50000"/>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80120" y="5616000"/>
            <a:ext cx="2736000" cy="360000"/>
          </a:xfrm>
          <a:prstGeom prst="rect">
            <a:avLst/>
          </a:prstGeom>
          <a:noFill/>
        </p:spPr>
        <p:txBody>
          <a:bodyPr wrap="square" lIns="36000" rIns="36000" tIns="18000" bIns="18000" anchor="ctr">
            <a:spAutoFit/>
          </a:bodyPr>
          <a:lstStyle/>
          <a:p>
            <a:pPr algn="ctr">
              <a:lnSpc>
                <a:spcPct val="110000"/>
              </a:lnSpc>
            </a:pPr>
            <a:r>
              <a:rPr sz="1050" b="1">
                <a:solidFill>
                  <a:srgbClr val="FFFFFF"/>
                </a:solidFill>
                <a:latin typeface="Poppins"/>
              </a:rPr>
              <a:t>6 semaines · 3 temps · 8 profils repérés</a:t>
            </a:r>
          </a:p>
        </p:txBody>
      </p:sp>
      <p:sp>
        <p:nvSpPr>
          <p:cNvPr id="13" name="TextBox 12"/>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FFFFFF"/>
                </a:solidFill>
                <a:latin typeface="Poppins"/>
              </a:rPr>
              <a:t>1 /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0000" cy="6858000"/>
          </a:xfrm>
          <a:prstGeom prst="rect">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0248119" y="257639"/>
            <a:ext cx="1584000" cy="492718"/>
          </a:xfrm>
          <a:prstGeom prst="rect">
            <a:avLst/>
          </a:prstGeom>
        </p:spPr>
      </p:pic>
      <p:sp>
        <p:nvSpPr>
          <p:cNvPr id="4" name="TextBox 3"/>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CE QUE CONTIENT CE DOCUMENT</a:t>
            </a:r>
          </a:p>
        </p:txBody>
      </p:sp>
      <p:sp>
        <p:nvSpPr>
          <p:cNvPr id="5" name="TextBox 4"/>
          <p:cNvSpPr txBox="1"/>
          <p:nvPr/>
        </p:nvSpPr>
        <p:spPr>
          <a:xfrm>
            <a:off x="576000" y="576000"/>
            <a:ext cx="9360000" cy="720000"/>
          </a:xfrm>
          <a:prstGeom prst="rect">
            <a:avLst/>
          </a:prstGeom>
          <a:noFill/>
        </p:spPr>
        <p:txBody>
          <a:bodyPr wrap="square" lIns="36000" rIns="36000" tIns="18000" bIns="18000" anchor="t">
            <a:spAutoFit/>
          </a:bodyPr>
          <a:lstStyle/>
          <a:p>
            <a:pPr algn="l">
              <a:lnSpc>
                <a:spcPct val="110000"/>
              </a:lnSpc>
            </a:pPr>
            <a:r>
              <a:rPr sz="2500" b="1">
                <a:solidFill>
                  <a:srgbClr val="1A1416"/>
                </a:solidFill>
                <a:latin typeface="Poppins"/>
              </a:rPr>
              <a:t>Sommaire</a:t>
            </a:r>
          </a:p>
        </p:txBody>
      </p:sp>
      <p:sp>
        <p:nvSpPr>
          <p:cNvPr id="6" name="Rectangle 5"/>
          <p:cNvSpPr/>
          <p:nvPr/>
        </p:nvSpPr>
        <p:spPr>
          <a:xfrm>
            <a:off x="576000" y="1278000"/>
            <a:ext cx="792000" cy="50400"/>
          </a:xfrm>
          <a:prstGeom prst="rect">
            <a:avLst/>
          </a:prstGeom>
          <a:solidFill>
            <a:srgbClr val="FF8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2 / 22</a:t>
            </a:r>
          </a:p>
        </p:txBody>
      </p:sp>
      <p:sp>
        <p:nvSpPr>
          <p:cNvPr id="8" name="TextBox 7"/>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sp>
        <p:nvSpPr>
          <p:cNvPr id="9" name="Rounded Rectangle 8"/>
          <p:cNvSpPr/>
          <p:nvPr/>
        </p:nvSpPr>
        <p:spPr>
          <a:xfrm>
            <a:off x="576000" y="1620000"/>
            <a:ext cx="5400000" cy="972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6000" y="1620000"/>
            <a:ext cx="936000" cy="972000"/>
          </a:xfrm>
          <a:prstGeom prst="rect">
            <a:avLst/>
          </a:prstGeom>
          <a:noFill/>
        </p:spPr>
        <p:txBody>
          <a:bodyPr wrap="square" lIns="36000" rIns="36000" tIns="18000" bIns="18000" anchor="ctr">
            <a:spAutoFit/>
          </a:bodyPr>
          <a:lstStyle/>
          <a:p>
            <a:pPr algn="l">
              <a:lnSpc>
                <a:spcPct val="110000"/>
              </a:lnSpc>
            </a:pPr>
            <a:r>
              <a:rPr sz="2800" b="1">
                <a:solidFill>
                  <a:srgbClr val="AE172A"/>
                </a:solidFill>
                <a:latin typeface="Poppins"/>
              </a:rPr>
              <a:t>01</a:t>
            </a:r>
          </a:p>
        </p:txBody>
      </p:sp>
      <p:sp>
        <p:nvSpPr>
          <p:cNvPr id="11" name="TextBox 10"/>
          <p:cNvSpPr txBox="1"/>
          <p:nvPr/>
        </p:nvSpPr>
        <p:spPr>
          <a:xfrm>
            <a:off x="1728000" y="1782000"/>
            <a:ext cx="4140000" cy="324000"/>
          </a:xfrm>
          <a:prstGeom prst="rect">
            <a:avLst/>
          </a:prstGeom>
          <a:noFill/>
        </p:spPr>
        <p:txBody>
          <a:bodyPr wrap="square" lIns="36000" rIns="36000" tIns="18000" bIns="18000" anchor="t">
            <a:spAutoFit/>
          </a:bodyPr>
          <a:lstStyle/>
          <a:p>
            <a:pPr algn="l">
              <a:lnSpc>
                <a:spcPct val="110000"/>
              </a:lnSpc>
            </a:pPr>
            <a:r>
              <a:rPr sz="1500" b="1">
                <a:solidFill>
                  <a:srgbClr val="1A1416"/>
                </a:solidFill>
                <a:latin typeface="Poppins"/>
              </a:rPr>
              <a:t>Point de départ</a:t>
            </a:r>
          </a:p>
        </p:txBody>
      </p:sp>
      <p:sp>
        <p:nvSpPr>
          <p:cNvPr id="12" name="TextBox 11"/>
          <p:cNvSpPr txBox="1"/>
          <p:nvPr/>
        </p:nvSpPr>
        <p:spPr>
          <a:xfrm>
            <a:off x="1728000" y="2106000"/>
            <a:ext cx="4140000" cy="360000"/>
          </a:xfrm>
          <a:prstGeom prst="rect">
            <a:avLst/>
          </a:prstGeom>
          <a:noFill/>
        </p:spPr>
        <p:txBody>
          <a:bodyPr wrap="square" lIns="36000" rIns="36000" tIns="18000" bIns="18000" anchor="t">
            <a:spAutoFit/>
          </a:bodyPr>
          <a:lstStyle/>
          <a:p>
            <a:pPr algn="l">
              <a:lnSpc>
                <a:spcPct val="110000"/>
              </a:lnSpc>
            </a:pPr>
            <a:r>
              <a:rPr sz="1100" b="0">
                <a:solidFill>
                  <a:srgbClr val="6B6266"/>
                </a:solidFill>
                <a:latin typeface="Poppins"/>
              </a:rPr>
              <a:t>Où en sont les réseaux de Dream aujourd’hui</a:t>
            </a:r>
          </a:p>
        </p:txBody>
      </p:sp>
      <p:sp>
        <p:nvSpPr>
          <p:cNvPr id="13" name="Rounded Rectangle 12"/>
          <p:cNvSpPr/>
          <p:nvPr/>
        </p:nvSpPr>
        <p:spPr>
          <a:xfrm>
            <a:off x="6192000" y="1620000"/>
            <a:ext cx="5400000" cy="972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2000" y="1620000"/>
            <a:ext cx="936000" cy="972000"/>
          </a:xfrm>
          <a:prstGeom prst="rect">
            <a:avLst/>
          </a:prstGeom>
          <a:noFill/>
        </p:spPr>
        <p:txBody>
          <a:bodyPr wrap="square" lIns="36000" rIns="36000" tIns="18000" bIns="18000" anchor="ctr">
            <a:spAutoFit/>
          </a:bodyPr>
          <a:lstStyle/>
          <a:p>
            <a:pPr algn="l">
              <a:lnSpc>
                <a:spcPct val="110000"/>
              </a:lnSpc>
            </a:pPr>
            <a:r>
              <a:rPr sz="2800" b="1">
                <a:solidFill>
                  <a:srgbClr val="AE172A"/>
                </a:solidFill>
                <a:latin typeface="Poppins"/>
              </a:rPr>
              <a:t>02</a:t>
            </a:r>
          </a:p>
        </p:txBody>
      </p:sp>
      <p:sp>
        <p:nvSpPr>
          <p:cNvPr id="15" name="TextBox 14"/>
          <p:cNvSpPr txBox="1"/>
          <p:nvPr/>
        </p:nvSpPr>
        <p:spPr>
          <a:xfrm>
            <a:off x="7344000" y="1782000"/>
            <a:ext cx="4140000" cy="324000"/>
          </a:xfrm>
          <a:prstGeom prst="rect">
            <a:avLst/>
          </a:prstGeom>
          <a:noFill/>
        </p:spPr>
        <p:txBody>
          <a:bodyPr wrap="square" lIns="36000" rIns="36000" tIns="18000" bIns="18000" anchor="t">
            <a:spAutoFit/>
          </a:bodyPr>
          <a:lstStyle/>
          <a:p>
            <a:pPr algn="l">
              <a:lnSpc>
                <a:spcPct val="110000"/>
              </a:lnSpc>
            </a:pPr>
            <a:r>
              <a:rPr sz="1500" b="1">
                <a:solidFill>
                  <a:srgbClr val="1A1416"/>
                </a:solidFill>
                <a:latin typeface="Poppins"/>
              </a:rPr>
              <a:t>L’idée</a:t>
            </a:r>
          </a:p>
        </p:txBody>
      </p:sp>
      <p:sp>
        <p:nvSpPr>
          <p:cNvPr id="16" name="TextBox 15"/>
          <p:cNvSpPr txBox="1"/>
          <p:nvPr/>
        </p:nvSpPr>
        <p:spPr>
          <a:xfrm>
            <a:off x="7344000" y="2106000"/>
            <a:ext cx="4140000" cy="360000"/>
          </a:xfrm>
          <a:prstGeom prst="rect">
            <a:avLst/>
          </a:prstGeom>
          <a:noFill/>
        </p:spPr>
        <p:txBody>
          <a:bodyPr wrap="square" lIns="36000" rIns="36000" tIns="18000" bIns="18000" anchor="t">
            <a:spAutoFit/>
          </a:bodyPr>
          <a:lstStyle/>
          <a:p>
            <a:pPr algn="l">
              <a:lnSpc>
                <a:spcPct val="110000"/>
              </a:lnSpc>
            </a:pPr>
            <a:r>
              <a:rPr sz="1100" b="0">
                <a:solidFill>
                  <a:srgbClr val="6B6266"/>
                </a:solidFill>
                <a:latin typeface="Poppins"/>
              </a:rPr>
              <a:t>#MonRituelDream : le concept et les objectifs</a:t>
            </a:r>
          </a:p>
        </p:txBody>
      </p:sp>
      <p:sp>
        <p:nvSpPr>
          <p:cNvPr id="17" name="Rounded Rectangle 16"/>
          <p:cNvSpPr/>
          <p:nvPr/>
        </p:nvSpPr>
        <p:spPr>
          <a:xfrm>
            <a:off x="576000" y="2772000"/>
            <a:ext cx="5400000" cy="972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6000" y="2772000"/>
            <a:ext cx="936000" cy="972000"/>
          </a:xfrm>
          <a:prstGeom prst="rect">
            <a:avLst/>
          </a:prstGeom>
          <a:noFill/>
        </p:spPr>
        <p:txBody>
          <a:bodyPr wrap="square" lIns="36000" rIns="36000" tIns="18000" bIns="18000" anchor="ctr">
            <a:spAutoFit/>
          </a:bodyPr>
          <a:lstStyle/>
          <a:p>
            <a:pPr algn="l">
              <a:lnSpc>
                <a:spcPct val="110000"/>
              </a:lnSpc>
            </a:pPr>
            <a:r>
              <a:rPr sz="2800" b="1">
                <a:solidFill>
                  <a:srgbClr val="AE172A"/>
                </a:solidFill>
                <a:latin typeface="Poppins"/>
              </a:rPr>
              <a:t>03</a:t>
            </a:r>
          </a:p>
        </p:txBody>
      </p:sp>
      <p:sp>
        <p:nvSpPr>
          <p:cNvPr id="19" name="TextBox 18"/>
          <p:cNvSpPr txBox="1"/>
          <p:nvPr/>
        </p:nvSpPr>
        <p:spPr>
          <a:xfrm>
            <a:off x="1728000" y="2934000"/>
            <a:ext cx="4140000" cy="324000"/>
          </a:xfrm>
          <a:prstGeom prst="rect">
            <a:avLst/>
          </a:prstGeom>
          <a:noFill/>
        </p:spPr>
        <p:txBody>
          <a:bodyPr wrap="square" lIns="36000" rIns="36000" tIns="18000" bIns="18000" anchor="t">
            <a:spAutoFit/>
          </a:bodyPr>
          <a:lstStyle/>
          <a:p>
            <a:pPr algn="l">
              <a:lnSpc>
                <a:spcPct val="110000"/>
              </a:lnSpc>
            </a:pPr>
            <a:r>
              <a:rPr sz="1500" b="1">
                <a:solidFill>
                  <a:srgbClr val="1A1416"/>
                </a:solidFill>
                <a:latin typeface="Poppins"/>
              </a:rPr>
              <a:t>Les cibles</a:t>
            </a:r>
          </a:p>
        </p:txBody>
      </p:sp>
      <p:sp>
        <p:nvSpPr>
          <p:cNvPr id="20" name="TextBox 19"/>
          <p:cNvSpPr txBox="1"/>
          <p:nvPr/>
        </p:nvSpPr>
        <p:spPr>
          <a:xfrm>
            <a:off x="1728000" y="3258000"/>
            <a:ext cx="4140000" cy="360000"/>
          </a:xfrm>
          <a:prstGeom prst="rect">
            <a:avLst/>
          </a:prstGeom>
          <a:noFill/>
        </p:spPr>
        <p:txBody>
          <a:bodyPr wrap="square" lIns="36000" rIns="36000" tIns="18000" bIns="18000" anchor="t">
            <a:spAutoFit/>
          </a:bodyPr>
          <a:lstStyle/>
          <a:p>
            <a:pPr algn="l">
              <a:lnSpc>
                <a:spcPct val="110000"/>
              </a:lnSpc>
            </a:pPr>
            <a:r>
              <a:rPr sz="1100" b="0">
                <a:solidFill>
                  <a:srgbClr val="6B6266"/>
                </a:solidFill>
                <a:latin typeface="Poppins"/>
              </a:rPr>
              <a:t>Trois publics, trois familles de gammes</a:t>
            </a:r>
          </a:p>
        </p:txBody>
      </p:sp>
      <p:sp>
        <p:nvSpPr>
          <p:cNvPr id="21" name="Rounded Rectangle 20"/>
          <p:cNvSpPr/>
          <p:nvPr/>
        </p:nvSpPr>
        <p:spPr>
          <a:xfrm>
            <a:off x="6192000" y="2772000"/>
            <a:ext cx="5400000" cy="972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2000" y="2772000"/>
            <a:ext cx="936000" cy="972000"/>
          </a:xfrm>
          <a:prstGeom prst="rect">
            <a:avLst/>
          </a:prstGeom>
          <a:noFill/>
        </p:spPr>
        <p:txBody>
          <a:bodyPr wrap="square" lIns="36000" rIns="36000" tIns="18000" bIns="18000" anchor="ctr">
            <a:spAutoFit/>
          </a:bodyPr>
          <a:lstStyle/>
          <a:p>
            <a:pPr algn="l">
              <a:lnSpc>
                <a:spcPct val="110000"/>
              </a:lnSpc>
            </a:pPr>
            <a:r>
              <a:rPr sz="2800" b="1">
                <a:solidFill>
                  <a:srgbClr val="AE172A"/>
                </a:solidFill>
                <a:latin typeface="Poppins"/>
              </a:rPr>
              <a:t>04</a:t>
            </a:r>
          </a:p>
        </p:txBody>
      </p:sp>
      <p:sp>
        <p:nvSpPr>
          <p:cNvPr id="23" name="TextBox 22"/>
          <p:cNvSpPr txBox="1"/>
          <p:nvPr/>
        </p:nvSpPr>
        <p:spPr>
          <a:xfrm>
            <a:off x="7344000" y="2934000"/>
            <a:ext cx="4140000" cy="324000"/>
          </a:xfrm>
          <a:prstGeom prst="rect">
            <a:avLst/>
          </a:prstGeom>
          <a:noFill/>
        </p:spPr>
        <p:txBody>
          <a:bodyPr wrap="square" lIns="36000" rIns="36000" tIns="18000" bIns="18000" anchor="t">
            <a:spAutoFit/>
          </a:bodyPr>
          <a:lstStyle/>
          <a:p>
            <a:pPr algn="l">
              <a:lnSpc>
                <a:spcPct val="110000"/>
              </a:lnSpc>
            </a:pPr>
            <a:r>
              <a:rPr sz="1500" b="1">
                <a:solidFill>
                  <a:srgbClr val="1A1416"/>
                </a:solidFill>
                <a:latin typeface="Poppins"/>
              </a:rPr>
              <a:t>Les créateurs</a:t>
            </a:r>
          </a:p>
        </p:txBody>
      </p:sp>
      <p:sp>
        <p:nvSpPr>
          <p:cNvPr id="24" name="TextBox 23"/>
          <p:cNvSpPr txBox="1"/>
          <p:nvPr/>
        </p:nvSpPr>
        <p:spPr>
          <a:xfrm>
            <a:off x="7344000" y="3258000"/>
            <a:ext cx="4140000" cy="360000"/>
          </a:xfrm>
          <a:prstGeom prst="rect">
            <a:avLst/>
          </a:prstGeom>
          <a:noFill/>
        </p:spPr>
        <p:txBody>
          <a:bodyPr wrap="square" lIns="36000" rIns="36000" tIns="18000" bIns="18000" anchor="t">
            <a:spAutoFit/>
          </a:bodyPr>
          <a:lstStyle/>
          <a:p>
            <a:pPr algn="l">
              <a:lnSpc>
                <a:spcPct val="110000"/>
              </a:lnSpc>
            </a:pPr>
            <a:r>
              <a:rPr sz="1100" b="0">
                <a:solidFill>
                  <a:srgbClr val="6B6266"/>
                </a:solidFill>
                <a:latin typeface="Poppins"/>
              </a:rPr>
              <a:t>Une pyramide et 8 profils repérés, une planche chacun</a:t>
            </a:r>
          </a:p>
        </p:txBody>
      </p:sp>
      <p:sp>
        <p:nvSpPr>
          <p:cNvPr id="25" name="Rounded Rectangle 24"/>
          <p:cNvSpPr/>
          <p:nvPr/>
        </p:nvSpPr>
        <p:spPr>
          <a:xfrm>
            <a:off x="576000" y="3924000"/>
            <a:ext cx="5400000" cy="972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6000" y="3924000"/>
            <a:ext cx="936000" cy="972000"/>
          </a:xfrm>
          <a:prstGeom prst="rect">
            <a:avLst/>
          </a:prstGeom>
          <a:noFill/>
        </p:spPr>
        <p:txBody>
          <a:bodyPr wrap="square" lIns="36000" rIns="36000" tIns="18000" bIns="18000" anchor="ctr">
            <a:spAutoFit/>
          </a:bodyPr>
          <a:lstStyle/>
          <a:p>
            <a:pPr algn="l">
              <a:lnSpc>
                <a:spcPct val="110000"/>
              </a:lnSpc>
            </a:pPr>
            <a:r>
              <a:rPr sz="2800" b="1">
                <a:solidFill>
                  <a:srgbClr val="AE172A"/>
                </a:solidFill>
                <a:latin typeface="Poppins"/>
              </a:rPr>
              <a:t>05</a:t>
            </a:r>
          </a:p>
        </p:txBody>
      </p:sp>
      <p:sp>
        <p:nvSpPr>
          <p:cNvPr id="27" name="TextBox 26"/>
          <p:cNvSpPr txBox="1"/>
          <p:nvPr/>
        </p:nvSpPr>
        <p:spPr>
          <a:xfrm>
            <a:off x="1728000" y="4086000"/>
            <a:ext cx="4140000" cy="324000"/>
          </a:xfrm>
          <a:prstGeom prst="rect">
            <a:avLst/>
          </a:prstGeom>
          <a:noFill/>
        </p:spPr>
        <p:txBody>
          <a:bodyPr wrap="square" lIns="36000" rIns="36000" tIns="18000" bIns="18000" anchor="t">
            <a:spAutoFit/>
          </a:bodyPr>
          <a:lstStyle/>
          <a:p>
            <a:pPr algn="l">
              <a:lnSpc>
                <a:spcPct val="110000"/>
              </a:lnSpc>
            </a:pPr>
            <a:r>
              <a:rPr sz="1500" b="1">
                <a:solidFill>
                  <a:srgbClr val="1A1416"/>
                </a:solidFill>
                <a:latin typeface="Poppins"/>
              </a:rPr>
              <a:t>Le dispositif</a:t>
            </a:r>
          </a:p>
        </p:txBody>
      </p:sp>
      <p:sp>
        <p:nvSpPr>
          <p:cNvPr id="28" name="TextBox 27"/>
          <p:cNvSpPr txBox="1"/>
          <p:nvPr/>
        </p:nvSpPr>
        <p:spPr>
          <a:xfrm>
            <a:off x="1728000" y="4410000"/>
            <a:ext cx="4140000" cy="360000"/>
          </a:xfrm>
          <a:prstGeom prst="rect">
            <a:avLst/>
          </a:prstGeom>
          <a:noFill/>
        </p:spPr>
        <p:txBody>
          <a:bodyPr wrap="square" lIns="36000" rIns="36000" tIns="18000" bIns="18000" anchor="t">
            <a:spAutoFit/>
          </a:bodyPr>
          <a:lstStyle/>
          <a:p>
            <a:pPr algn="l">
              <a:lnSpc>
                <a:spcPct val="110000"/>
              </a:lnSpc>
            </a:pPr>
            <a:r>
              <a:rPr sz="1100" b="0">
                <a:solidFill>
                  <a:srgbClr val="6B6266"/>
                </a:solidFill>
                <a:latin typeface="Poppins"/>
              </a:rPr>
              <a:t>Calendrier, formats, brief créateur</a:t>
            </a:r>
          </a:p>
        </p:txBody>
      </p:sp>
      <p:sp>
        <p:nvSpPr>
          <p:cNvPr id="29" name="Rounded Rectangle 28"/>
          <p:cNvSpPr/>
          <p:nvPr/>
        </p:nvSpPr>
        <p:spPr>
          <a:xfrm>
            <a:off x="6192000" y="3924000"/>
            <a:ext cx="5400000" cy="972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72000" y="3924000"/>
            <a:ext cx="936000" cy="972000"/>
          </a:xfrm>
          <a:prstGeom prst="rect">
            <a:avLst/>
          </a:prstGeom>
          <a:noFill/>
        </p:spPr>
        <p:txBody>
          <a:bodyPr wrap="square" lIns="36000" rIns="36000" tIns="18000" bIns="18000" anchor="ctr">
            <a:spAutoFit/>
          </a:bodyPr>
          <a:lstStyle/>
          <a:p>
            <a:pPr algn="l">
              <a:lnSpc>
                <a:spcPct val="110000"/>
              </a:lnSpc>
            </a:pPr>
            <a:r>
              <a:rPr sz="2800" b="1">
                <a:solidFill>
                  <a:srgbClr val="AE172A"/>
                </a:solidFill>
                <a:latin typeface="Poppins"/>
              </a:rPr>
              <a:t>06</a:t>
            </a:r>
          </a:p>
        </p:txBody>
      </p:sp>
      <p:sp>
        <p:nvSpPr>
          <p:cNvPr id="31" name="TextBox 30"/>
          <p:cNvSpPr txBox="1"/>
          <p:nvPr/>
        </p:nvSpPr>
        <p:spPr>
          <a:xfrm>
            <a:off x="7344000" y="4086000"/>
            <a:ext cx="4140000" cy="324000"/>
          </a:xfrm>
          <a:prstGeom prst="rect">
            <a:avLst/>
          </a:prstGeom>
          <a:noFill/>
        </p:spPr>
        <p:txBody>
          <a:bodyPr wrap="square" lIns="36000" rIns="36000" tIns="18000" bIns="18000" anchor="t">
            <a:spAutoFit/>
          </a:bodyPr>
          <a:lstStyle/>
          <a:p>
            <a:pPr algn="l">
              <a:lnSpc>
                <a:spcPct val="110000"/>
              </a:lnSpc>
            </a:pPr>
            <a:r>
              <a:rPr sz="1500" b="1">
                <a:solidFill>
                  <a:srgbClr val="1A1416"/>
                </a:solidFill>
                <a:latin typeface="Poppins"/>
              </a:rPr>
              <a:t>Budget et mesure</a:t>
            </a:r>
          </a:p>
        </p:txBody>
      </p:sp>
      <p:sp>
        <p:nvSpPr>
          <p:cNvPr id="32" name="TextBox 31"/>
          <p:cNvSpPr txBox="1"/>
          <p:nvPr/>
        </p:nvSpPr>
        <p:spPr>
          <a:xfrm>
            <a:off x="7344000" y="4410000"/>
            <a:ext cx="4140000" cy="360000"/>
          </a:xfrm>
          <a:prstGeom prst="rect">
            <a:avLst/>
          </a:prstGeom>
          <a:noFill/>
        </p:spPr>
        <p:txBody>
          <a:bodyPr wrap="square" lIns="36000" rIns="36000" tIns="18000" bIns="18000" anchor="t">
            <a:spAutoFit/>
          </a:bodyPr>
          <a:lstStyle/>
          <a:p>
            <a:pPr algn="l">
              <a:lnSpc>
                <a:spcPct val="110000"/>
              </a:lnSpc>
            </a:pPr>
            <a:r>
              <a:rPr sz="1100" b="0">
                <a:solidFill>
                  <a:srgbClr val="6B6266"/>
                </a:solidFill>
                <a:latin typeface="Poppins"/>
              </a:rPr>
              <a:t>Trois options chiffrées, tableau de bord</a:t>
            </a:r>
          </a:p>
        </p:txBody>
      </p:sp>
      <p:sp>
        <p:nvSpPr>
          <p:cNvPr id="33" name="Rounded Rectangle 32"/>
          <p:cNvSpPr/>
          <p:nvPr/>
        </p:nvSpPr>
        <p:spPr>
          <a:xfrm>
            <a:off x="576000" y="5076000"/>
            <a:ext cx="5400000" cy="972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6000" y="5076000"/>
            <a:ext cx="936000" cy="972000"/>
          </a:xfrm>
          <a:prstGeom prst="rect">
            <a:avLst/>
          </a:prstGeom>
          <a:noFill/>
        </p:spPr>
        <p:txBody>
          <a:bodyPr wrap="square" lIns="36000" rIns="36000" tIns="18000" bIns="18000" anchor="ctr">
            <a:spAutoFit/>
          </a:bodyPr>
          <a:lstStyle/>
          <a:p>
            <a:pPr algn="l">
              <a:lnSpc>
                <a:spcPct val="110000"/>
              </a:lnSpc>
            </a:pPr>
            <a:r>
              <a:rPr sz="2800" b="1">
                <a:solidFill>
                  <a:srgbClr val="AE172A"/>
                </a:solidFill>
                <a:latin typeface="Poppins"/>
              </a:rPr>
              <a:t>07</a:t>
            </a:r>
          </a:p>
        </p:txBody>
      </p:sp>
      <p:sp>
        <p:nvSpPr>
          <p:cNvPr id="35" name="TextBox 34"/>
          <p:cNvSpPr txBox="1"/>
          <p:nvPr/>
        </p:nvSpPr>
        <p:spPr>
          <a:xfrm>
            <a:off x="1728000" y="5238000"/>
            <a:ext cx="4140000" cy="324000"/>
          </a:xfrm>
          <a:prstGeom prst="rect">
            <a:avLst/>
          </a:prstGeom>
          <a:noFill/>
        </p:spPr>
        <p:txBody>
          <a:bodyPr wrap="square" lIns="36000" rIns="36000" tIns="18000" bIns="18000" anchor="t">
            <a:spAutoFit/>
          </a:bodyPr>
          <a:lstStyle/>
          <a:p>
            <a:pPr algn="l">
              <a:lnSpc>
                <a:spcPct val="110000"/>
              </a:lnSpc>
            </a:pPr>
            <a:r>
              <a:rPr sz="1500" b="1">
                <a:solidFill>
                  <a:srgbClr val="1A1416"/>
                </a:solidFill>
                <a:latin typeface="Poppins"/>
              </a:rPr>
              <a:t>Cadre et risques</a:t>
            </a:r>
          </a:p>
        </p:txBody>
      </p:sp>
      <p:sp>
        <p:nvSpPr>
          <p:cNvPr id="36" name="TextBox 35"/>
          <p:cNvSpPr txBox="1"/>
          <p:nvPr/>
        </p:nvSpPr>
        <p:spPr>
          <a:xfrm>
            <a:off x="1728000" y="5562000"/>
            <a:ext cx="4140000" cy="360000"/>
          </a:xfrm>
          <a:prstGeom prst="rect">
            <a:avLst/>
          </a:prstGeom>
          <a:noFill/>
        </p:spPr>
        <p:txBody>
          <a:bodyPr wrap="square" lIns="36000" rIns="36000" tIns="18000" bIns="18000" anchor="t">
            <a:spAutoFit/>
          </a:bodyPr>
          <a:lstStyle/>
          <a:p>
            <a:pPr algn="l">
              <a:lnSpc>
                <a:spcPct val="110000"/>
              </a:lnSpc>
            </a:pPr>
            <a:r>
              <a:rPr sz="1100" b="0">
                <a:solidFill>
                  <a:srgbClr val="6B6266"/>
                </a:solidFill>
                <a:latin typeface="Poppins"/>
              </a:rPr>
              <a:t>Règles ivoiriennes, contrats, vigilances</a:t>
            </a:r>
          </a:p>
        </p:txBody>
      </p:sp>
      <p:sp>
        <p:nvSpPr>
          <p:cNvPr id="37" name="Rounded Rectangle 36"/>
          <p:cNvSpPr/>
          <p:nvPr/>
        </p:nvSpPr>
        <p:spPr>
          <a:xfrm>
            <a:off x="6192000" y="5076000"/>
            <a:ext cx="5400000" cy="972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2000" y="5076000"/>
            <a:ext cx="936000" cy="972000"/>
          </a:xfrm>
          <a:prstGeom prst="rect">
            <a:avLst/>
          </a:prstGeom>
          <a:noFill/>
        </p:spPr>
        <p:txBody>
          <a:bodyPr wrap="square" lIns="36000" rIns="36000" tIns="18000" bIns="18000" anchor="ctr">
            <a:spAutoFit/>
          </a:bodyPr>
          <a:lstStyle/>
          <a:p>
            <a:pPr algn="l">
              <a:lnSpc>
                <a:spcPct val="110000"/>
              </a:lnSpc>
            </a:pPr>
            <a:r>
              <a:rPr sz="2800" b="1">
                <a:solidFill>
                  <a:srgbClr val="AE172A"/>
                </a:solidFill>
                <a:latin typeface="Poppins"/>
              </a:rPr>
              <a:t>08</a:t>
            </a:r>
          </a:p>
        </p:txBody>
      </p:sp>
      <p:sp>
        <p:nvSpPr>
          <p:cNvPr id="39" name="TextBox 38"/>
          <p:cNvSpPr txBox="1"/>
          <p:nvPr/>
        </p:nvSpPr>
        <p:spPr>
          <a:xfrm>
            <a:off x="7344000" y="5238000"/>
            <a:ext cx="4140000" cy="324000"/>
          </a:xfrm>
          <a:prstGeom prst="rect">
            <a:avLst/>
          </a:prstGeom>
          <a:noFill/>
        </p:spPr>
        <p:txBody>
          <a:bodyPr wrap="square" lIns="36000" rIns="36000" tIns="18000" bIns="18000" anchor="t">
            <a:spAutoFit/>
          </a:bodyPr>
          <a:lstStyle/>
          <a:p>
            <a:pPr algn="l">
              <a:lnSpc>
                <a:spcPct val="110000"/>
              </a:lnSpc>
            </a:pPr>
            <a:r>
              <a:rPr sz="1500" b="1">
                <a:solidFill>
                  <a:srgbClr val="1A1416"/>
                </a:solidFill>
                <a:latin typeface="Poppins"/>
              </a:rPr>
              <a:t>Suite</a:t>
            </a:r>
          </a:p>
        </p:txBody>
      </p:sp>
      <p:sp>
        <p:nvSpPr>
          <p:cNvPr id="40" name="TextBox 39"/>
          <p:cNvSpPr txBox="1"/>
          <p:nvPr/>
        </p:nvSpPr>
        <p:spPr>
          <a:xfrm>
            <a:off x="7344000" y="5562000"/>
            <a:ext cx="4140000" cy="360000"/>
          </a:xfrm>
          <a:prstGeom prst="rect">
            <a:avLst/>
          </a:prstGeom>
          <a:noFill/>
        </p:spPr>
        <p:txBody>
          <a:bodyPr wrap="square" lIns="36000" rIns="36000" tIns="18000" bIns="18000" anchor="t">
            <a:spAutoFit/>
          </a:bodyPr>
          <a:lstStyle/>
          <a:p>
            <a:pPr algn="l">
              <a:lnSpc>
                <a:spcPct val="110000"/>
              </a:lnSpc>
            </a:pPr>
            <a:r>
              <a:rPr sz="1100" b="0">
                <a:solidFill>
                  <a:srgbClr val="6B6266"/>
                </a:solidFill>
                <a:latin typeface="Poppins"/>
              </a:rPr>
              <a:t>Ce qu’on valide et dans quel ordre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0000" cy="6858000"/>
          </a:xfrm>
          <a:prstGeom prst="rect">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0248119" y="257639"/>
            <a:ext cx="1584000" cy="492718"/>
          </a:xfrm>
          <a:prstGeom prst="rect">
            <a:avLst/>
          </a:prstGeom>
        </p:spPr>
      </p:pic>
      <p:sp>
        <p:nvSpPr>
          <p:cNvPr id="4" name="TextBox 3"/>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01 · POINT DE DÉPART</a:t>
            </a:r>
          </a:p>
        </p:txBody>
      </p:sp>
      <p:sp>
        <p:nvSpPr>
          <p:cNvPr id="5" name="TextBox 4"/>
          <p:cNvSpPr txBox="1"/>
          <p:nvPr/>
        </p:nvSpPr>
        <p:spPr>
          <a:xfrm>
            <a:off x="576000" y="576000"/>
            <a:ext cx="9360000" cy="720000"/>
          </a:xfrm>
          <a:prstGeom prst="rect">
            <a:avLst/>
          </a:prstGeom>
          <a:noFill/>
        </p:spPr>
        <p:txBody>
          <a:bodyPr wrap="square" lIns="36000" rIns="36000" tIns="18000" bIns="18000" anchor="t">
            <a:spAutoFit/>
          </a:bodyPr>
          <a:lstStyle/>
          <a:p>
            <a:pPr algn="l">
              <a:lnSpc>
                <a:spcPct val="110000"/>
              </a:lnSpc>
            </a:pPr>
            <a:r>
              <a:rPr sz="2500" b="1">
                <a:solidFill>
                  <a:srgbClr val="1A1416"/>
                </a:solidFill>
                <a:latin typeface="Poppins"/>
              </a:rPr>
              <a:t>Une grande audience, peu de conversations</a:t>
            </a:r>
          </a:p>
        </p:txBody>
      </p:sp>
      <p:sp>
        <p:nvSpPr>
          <p:cNvPr id="6" name="Rectangle 5"/>
          <p:cNvSpPr/>
          <p:nvPr/>
        </p:nvSpPr>
        <p:spPr>
          <a:xfrm>
            <a:off x="576000" y="1278000"/>
            <a:ext cx="792000" cy="50400"/>
          </a:xfrm>
          <a:prstGeom prst="rect">
            <a:avLst/>
          </a:prstGeom>
          <a:solidFill>
            <a:srgbClr val="FF8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12000" y="1188000"/>
            <a:ext cx="9000000" cy="251999"/>
          </a:xfrm>
          <a:prstGeom prst="rect">
            <a:avLst/>
          </a:prstGeom>
          <a:noFill/>
        </p:spPr>
        <p:txBody>
          <a:bodyPr wrap="square" lIns="36000" rIns="36000" tIns="18000" bIns="18000" anchor="t">
            <a:spAutoFit/>
          </a:bodyPr>
          <a:lstStyle/>
          <a:p>
            <a:pPr algn="l">
              <a:lnSpc>
                <a:spcPct val="110000"/>
              </a:lnSpc>
            </a:pPr>
            <a:r>
              <a:rPr sz="1150" b="0">
                <a:solidFill>
                  <a:srgbClr val="6B6266"/>
                </a:solidFill>
                <a:latin typeface="Poppins"/>
              </a:rPr>
              <a:t>Relevé public des comptes officiels, 28/10/2026</a:t>
            </a:r>
          </a:p>
        </p:txBody>
      </p:sp>
      <p:sp>
        <p:nvSpPr>
          <p:cNvPr id="8" name="TextBox 7"/>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3 / 22</a:t>
            </a:r>
          </a:p>
        </p:txBody>
      </p:sp>
      <p:sp>
        <p:nvSpPr>
          <p:cNvPr id="9" name="TextBox 8"/>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sp>
        <p:nvSpPr>
          <p:cNvPr id="10" name="Rounded Rectangle 9"/>
          <p:cNvSpPr/>
          <p:nvPr/>
        </p:nvSpPr>
        <p:spPr>
          <a:xfrm>
            <a:off x="576000" y="1655999"/>
            <a:ext cx="2628000" cy="2880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92000" y="1872000"/>
            <a:ext cx="576000" cy="576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rand-facebook_bl.png"/>
          <p:cNvPicPr>
            <a:picLocks noChangeAspect="1"/>
          </p:cNvPicPr>
          <p:nvPr/>
        </p:nvPicPr>
        <p:blipFill>
          <a:blip r:embed="rId3"/>
          <a:stretch>
            <a:fillRect/>
          </a:stretch>
        </p:blipFill>
        <p:spPr>
          <a:xfrm>
            <a:off x="930240" y="2010240"/>
            <a:ext cx="299520" cy="299520"/>
          </a:xfrm>
          <a:prstGeom prst="rect">
            <a:avLst/>
          </a:prstGeom>
        </p:spPr>
      </p:pic>
      <p:sp>
        <p:nvSpPr>
          <p:cNvPr id="13" name="TextBox 12"/>
          <p:cNvSpPr txBox="1"/>
          <p:nvPr/>
        </p:nvSpPr>
        <p:spPr>
          <a:xfrm>
            <a:off x="792000" y="2592000"/>
            <a:ext cx="2304000" cy="576000"/>
          </a:xfrm>
          <a:prstGeom prst="rect">
            <a:avLst/>
          </a:prstGeom>
          <a:noFill/>
        </p:spPr>
        <p:txBody>
          <a:bodyPr wrap="square" lIns="36000" rIns="36000" tIns="18000" bIns="18000" anchor="t">
            <a:spAutoFit/>
          </a:bodyPr>
          <a:lstStyle/>
          <a:p>
            <a:pPr algn="l">
              <a:lnSpc>
                <a:spcPct val="110000"/>
              </a:lnSpc>
            </a:pPr>
            <a:r>
              <a:rPr sz="3200" b="1">
                <a:solidFill>
                  <a:srgbClr val="AE172A"/>
                </a:solidFill>
                <a:latin typeface="Poppins"/>
              </a:rPr>
              <a:t>211 469</a:t>
            </a:r>
          </a:p>
        </p:txBody>
      </p:sp>
      <p:sp>
        <p:nvSpPr>
          <p:cNvPr id="14" name="TextBox 13"/>
          <p:cNvSpPr txBox="1"/>
          <p:nvPr/>
        </p:nvSpPr>
        <p:spPr>
          <a:xfrm>
            <a:off x="792000" y="3204000"/>
            <a:ext cx="2304000" cy="360000"/>
          </a:xfrm>
          <a:prstGeom prst="rect">
            <a:avLst/>
          </a:prstGeom>
          <a:noFill/>
        </p:spPr>
        <p:txBody>
          <a:bodyPr wrap="square" lIns="36000" rIns="36000" tIns="18000" bIns="18000" anchor="t">
            <a:spAutoFit/>
          </a:bodyPr>
          <a:lstStyle/>
          <a:p>
            <a:pPr algn="l">
              <a:lnSpc>
                <a:spcPct val="110000"/>
              </a:lnSpc>
            </a:pPr>
            <a:r>
              <a:rPr sz="1250" b="1">
                <a:solidFill>
                  <a:srgbClr val="1A1416"/>
                </a:solidFill>
                <a:latin typeface="Poppins"/>
              </a:rPr>
              <a:t>abonnés Facebook</a:t>
            </a:r>
          </a:p>
        </p:txBody>
      </p:sp>
      <p:sp>
        <p:nvSpPr>
          <p:cNvPr id="15" name="TextBox 14"/>
          <p:cNvSpPr txBox="1"/>
          <p:nvPr/>
        </p:nvSpPr>
        <p:spPr>
          <a:xfrm>
            <a:off x="792000" y="3564000"/>
            <a:ext cx="2304000" cy="936000"/>
          </a:xfrm>
          <a:prstGeom prst="rect">
            <a:avLst/>
          </a:prstGeom>
          <a:noFill/>
        </p:spPr>
        <p:txBody>
          <a:bodyPr wrap="square" lIns="36000" rIns="36000" tIns="18000" bIns="18000" anchor="t">
            <a:spAutoFit/>
          </a:bodyPr>
          <a:lstStyle/>
          <a:p>
            <a:pPr algn="l">
              <a:lnSpc>
                <a:spcPct val="110000"/>
              </a:lnSpc>
            </a:pPr>
            <a:r>
              <a:rPr sz="1050" b="0">
                <a:solidFill>
                  <a:srgbClr val="6B6266"/>
                </a:solidFill>
                <a:latin typeface="Poppins"/>
              </a:rPr>
              <a:t>138 réactions médianes par post, soit 0,07 % de l’audience</a:t>
            </a:r>
          </a:p>
        </p:txBody>
      </p:sp>
      <p:sp>
        <p:nvSpPr>
          <p:cNvPr id="16" name="Rounded Rectangle 15"/>
          <p:cNvSpPr/>
          <p:nvPr/>
        </p:nvSpPr>
        <p:spPr>
          <a:xfrm>
            <a:off x="3384000" y="1655999"/>
            <a:ext cx="2628000" cy="2880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00000" y="1872000"/>
            <a:ext cx="576000" cy="576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rand-instagram_bl.png"/>
          <p:cNvPicPr>
            <a:picLocks noChangeAspect="1"/>
          </p:cNvPicPr>
          <p:nvPr/>
        </p:nvPicPr>
        <p:blipFill>
          <a:blip r:embed="rId4"/>
          <a:stretch>
            <a:fillRect/>
          </a:stretch>
        </p:blipFill>
        <p:spPr>
          <a:xfrm>
            <a:off x="3738240" y="2010240"/>
            <a:ext cx="299520" cy="299520"/>
          </a:xfrm>
          <a:prstGeom prst="rect">
            <a:avLst/>
          </a:prstGeom>
        </p:spPr>
      </p:pic>
      <p:sp>
        <p:nvSpPr>
          <p:cNvPr id="19" name="TextBox 18"/>
          <p:cNvSpPr txBox="1"/>
          <p:nvPr/>
        </p:nvSpPr>
        <p:spPr>
          <a:xfrm>
            <a:off x="3600000" y="2592000"/>
            <a:ext cx="2304000" cy="576000"/>
          </a:xfrm>
          <a:prstGeom prst="rect">
            <a:avLst/>
          </a:prstGeom>
          <a:noFill/>
        </p:spPr>
        <p:txBody>
          <a:bodyPr wrap="square" lIns="36000" rIns="36000" tIns="18000" bIns="18000" anchor="t">
            <a:spAutoFit/>
          </a:bodyPr>
          <a:lstStyle/>
          <a:p>
            <a:pPr algn="l">
              <a:lnSpc>
                <a:spcPct val="110000"/>
              </a:lnSpc>
            </a:pPr>
            <a:r>
              <a:rPr sz="3200" b="1">
                <a:solidFill>
                  <a:srgbClr val="AE172A"/>
                </a:solidFill>
                <a:latin typeface="Poppins"/>
              </a:rPr>
              <a:t>16 727</a:t>
            </a:r>
          </a:p>
        </p:txBody>
      </p:sp>
      <p:sp>
        <p:nvSpPr>
          <p:cNvPr id="20" name="TextBox 19"/>
          <p:cNvSpPr txBox="1"/>
          <p:nvPr/>
        </p:nvSpPr>
        <p:spPr>
          <a:xfrm>
            <a:off x="3600000" y="3204000"/>
            <a:ext cx="2304000" cy="360000"/>
          </a:xfrm>
          <a:prstGeom prst="rect">
            <a:avLst/>
          </a:prstGeom>
          <a:noFill/>
        </p:spPr>
        <p:txBody>
          <a:bodyPr wrap="square" lIns="36000" rIns="36000" tIns="18000" bIns="18000" anchor="t">
            <a:spAutoFit/>
          </a:bodyPr>
          <a:lstStyle/>
          <a:p>
            <a:pPr algn="l">
              <a:lnSpc>
                <a:spcPct val="110000"/>
              </a:lnSpc>
            </a:pPr>
            <a:r>
              <a:rPr sz="1250" b="1">
                <a:solidFill>
                  <a:srgbClr val="1A1416"/>
                </a:solidFill>
                <a:latin typeface="Poppins"/>
              </a:rPr>
              <a:t>abonnés Instagram</a:t>
            </a:r>
          </a:p>
        </p:txBody>
      </p:sp>
      <p:sp>
        <p:nvSpPr>
          <p:cNvPr id="21" name="TextBox 20"/>
          <p:cNvSpPr txBox="1"/>
          <p:nvPr/>
        </p:nvSpPr>
        <p:spPr>
          <a:xfrm>
            <a:off x="3600000" y="3564000"/>
            <a:ext cx="2304000" cy="936000"/>
          </a:xfrm>
          <a:prstGeom prst="rect">
            <a:avLst/>
          </a:prstGeom>
          <a:noFill/>
        </p:spPr>
        <p:txBody>
          <a:bodyPr wrap="square" lIns="36000" rIns="36000" tIns="18000" bIns="18000" anchor="t">
            <a:spAutoFit/>
          </a:bodyPr>
          <a:lstStyle/>
          <a:p>
            <a:pPr algn="l">
              <a:lnSpc>
                <a:spcPct val="110000"/>
              </a:lnSpc>
            </a:pPr>
            <a:r>
              <a:rPr sz="1050" b="0">
                <a:solidFill>
                  <a:srgbClr val="6B6266"/>
                </a:solidFill>
                <a:latin typeface="Poppins"/>
              </a:rPr>
              <a:t>63 J’aime médians par post, soit 0,38 %</a:t>
            </a:r>
          </a:p>
        </p:txBody>
      </p:sp>
      <p:sp>
        <p:nvSpPr>
          <p:cNvPr id="22" name="Rounded Rectangle 21"/>
          <p:cNvSpPr/>
          <p:nvPr/>
        </p:nvSpPr>
        <p:spPr>
          <a:xfrm>
            <a:off x="6192000" y="1655999"/>
            <a:ext cx="2628000" cy="2880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8000" y="1872000"/>
            <a:ext cx="576000" cy="576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video_bl.png"/>
          <p:cNvPicPr>
            <a:picLocks noChangeAspect="1"/>
          </p:cNvPicPr>
          <p:nvPr/>
        </p:nvPicPr>
        <p:blipFill>
          <a:blip r:embed="rId5"/>
          <a:stretch>
            <a:fillRect/>
          </a:stretch>
        </p:blipFill>
        <p:spPr>
          <a:xfrm>
            <a:off x="6546240" y="2010240"/>
            <a:ext cx="299520" cy="299520"/>
          </a:xfrm>
          <a:prstGeom prst="rect">
            <a:avLst/>
          </a:prstGeom>
        </p:spPr>
      </p:pic>
      <p:sp>
        <p:nvSpPr>
          <p:cNvPr id="25" name="TextBox 24"/>
          <p:cNvSpPr txBox="1"/>
          <p:nvPr/>
        </p:nvSpPr>
        <p:spPr>
          <a:xfrm>
            <a:off x="6408000" y="2592000"/>
            <a:ext cx="2304000" cy="576000"/>
          </a:xfrm>
          <a:prstGeom prst="rect">
            <a:avLst/>
          </a:prstGeom>
          <a:noFill/>
        </p:spPr>
        <p:txBody>
          <a:bodyPr wrap="square" lIns="36000" rIns="36000" tIns="18000" bIns="18000" anchor="t">
            <a:spAutoFit/>
          </a:bodyPr>
          <a:lstStyle/>
          <a:p>
            <a:pPr algn="l">
              <a:lnSpc>
                <a:spcPct val="110000"/>
              </a:lnSpc>
            </a:pPr>
            <a:r>
              <a:rPr sz="3200" b="1">
                <a:solidFill>
                  <a:srgbClr val="AE172A"/>
                </a:solidFill>
                <a:latin typeface="Poppins"/>
              </a:rPr>
              <a:t>6 sur 24</a:t>
            </a:r>
          </a:p>
        </p:txBody>
      </p:sp>
      <p:sp>
        <p:nvSpPr>
          <p:cNvPr id="26" name="TextBox 25"/>
          <p:cNvSpPr txBox="1"/>
          <p:nvPr/>
        </p:nvSpPr>
        <p:spPr>
          <a:xfrm>
            <a:off x="6408000" y="3204000"/>
            <a:ext cx="2304000" cy="360000"/>
          </a:xfrm>
          <a:prstGeom prst="rect">
            <a:avLst/>
          </a:prstGeom>
          <a:noFill/>
        </p:spPr>
        <p:txBody>
          <a:bodyPr wrap="square" lIns="36000" rIns="36000" tIns="18000" bIns="18000" anchor="t">
            <a:spAutoFit/>
          </a:bodyPr>
          <a:lstStyle/>
          <a:p>
            <a:pPr algn="l">
              <a:lnSpc>
                <a:spcPct val="110000"/>
              </a:lnSpc>
            </a:pPr>
            <a:r>
              <a:rPr sz="1250" b="1">
                <a:solidFill>
                  <a:srgbClr val="1A1416"/>
                </a:solidFill>
                <a:latin typeface="Poppins"/>
              </a:rPr>
              <a:t>posts Instagram en vidéo</a:t>
            </a:r>
          </a:p>
        </p:txBody>
      </p:sp>
      <p:sp>
        <p:nvSpPr>
          <p:cNvPr id="27" name="TextBox 26"/>
          <p:cNvSpPr txBox="1"/>
          <p:nvPr/>
        </p:nvSpPr>
        <p:spPr>
          <a:xfrm>
            <a:off x="6408000" y="3564000"/>
            <a:ext cx="2304000" cy="936000"/>
          </a:xfrm>
          <a:prstGeom prst="rect">
            <a:avLst/>
          </a:prstGeom>
          <a:noFill/>
        </p:spPr>
        <p:txBody>
          <a:bodyPr wrap="square" lIns="36000" rIns="36000" tIns="18000" bIns="18000" anchor="t">
            <a:spAutoFit/>
          </a:bodyPr>
          <a:lstStyle/>
          <a:p>
            <a:pPr algn="l">
              <a:lnSpc>
                <a:spcPct val="110000"/>
              </a:lnSpc>
            </a:pPr>
            <a:r>
              <a:rPr sz="1050" b="0">
                <a:solidFill>
                  <a:srgbClr val="6B6266"/>
                </a:solidFill>
                <a:latin typeface="Poppins"/>
              </a:rPr>
              <a:t>Kaera publie 23 vidéos sur 24 sur la même période</a:t>
            </a:r>
          </a:p>
        </p:txBody>
      </p:sp>
      <p:sp>
        <p:nvSpPr>
          <p:cNvPr id="28" name="Rounded Rectangle 27"/>
          <p:cNvSpPr/>
          <p:nvPr/>
        </p:nvSpPr>
        <p:spPr>
          <a:xfrm>
            <a:off x="9000000" y="1655999"/>
            <a:ext cx="2628000" cy="2880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216000" y="1872000"/>
            <a:ext cx="576000" cy="576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users_bl.png"/>
          <p:cNvPicPr>
            <a:picLocks noChangeAspect="1"/>
          </p:cNvPicPr>
          <p:nvPr/>
        </p:nvPicPr>
        <p:blipFill>
          <a:blip r:embed="rId6"/>
          <a:stretch>
            <a:fillRect/>
          </a:stretch>
        </p:blipFill>
        <p:spPr>
          <a:xfrm>
            <a:off x="9354240" y="2010240"/>
            <a:ext cx="299520" cy="299520"/>
          </a:xfrm>
          <a:prstGeom prst="rect">
            <a:avLst/>
          </a:prstGeom>
        </p:spPr>
      </p:pic>
      <p:sp>
        <p:nvSpPr>
          <p:cNvPr id="31" name="TextBox 30"/>
          <p:cNvSpPr txBox="1"/>
          <p:nvPr/>
        </p:nvSpPr>
        <p:spPr>
          <a:xfrm>
            <a:off x="9216000" y="2592000"/>
            <a:ext cx="2304000" cy="576000"/>
          </a:xfrm>
          <a:prstGeom prst="rect">
            <a:avLst/>
          </a:prstGeom>
          <a:noFill/>
        </p:spPr>
        <p:txBody>
          <a:bodyPr wrap="square" lIns="36000" rIns="36000" tIns="18000" bIns="18000" anchor="t">
            <a:spAutoFit/>
          </a:bodyPr>
          <a:lstStyle/>
          <a:p>
            <a:pPr algn="l">
              <a:lnSpc>
                <a:spcPct val="110000"/>
              </a:lnSpc>
            </a:pPr>
            <a:r>
              <a:rPr sz="3200" b="1">
                <a:solidFill>
                  <a:srgbClr val="AE172A"/>
                </a:solidFill>
                <a:latin typeface="Poppins"/>
              </a:rPr>
              <a:t>0</a:t>
            </a:r>
          </a:p>
        </p:txBody>
      </p:sp>
      <p:sp>
        <p:nvSpPr>
          <p:cNvPr id="32" name="TextBox 31"/>
          <p:cNvSpPr txBox="1"/>
          <p:nvPr/>
        </p:nvSpPr>
        <p:spPr>
          <a:xfrm>
            <a:off x="9216000" y="3204000"/>
            <a:ext cx="2304000" cy="360000"/>
          </a:xfrm>
          <a:prstGeom prst="rect">
            <a:avLst/>
          </a:prstGeom>
          <a:noFill/>
        </p:spPr>
        <p:txBody>
          <a:bodyPr wrap="square" lIns="36000" rIns="36000" tIns="18000" bIns="18000" anchor="t">
            <a:spAutoFit/>
          </a:bodyPr>
          <a:lstStyle/>
          <a:p>
            <a:pPr algn="l">
              <a:lnSpc>
                <a:spcPct val="110000"/>
              </a:lnSpc>
            </a:pPr>
            <a:r>
              <a:rPr sz="1250" b="1">
                <a:solidFill>
                  <a:srgbClr val="1A1416"/>
                </a:solidFill>
                <a:latin typeface="Poppins"/>
              </a:rPr>
              <a:t>campagne créateurs visible</a:t>
            </a:r>
          </a:p>
        </p:txBody>
      </p:sp>
      <p:sp>
        <p:nvSpPr>
          <p:cNvPr id="33" name="TextBox 32"/>
          <p:cNvSpPr txBox="1"/>
          <p:nvPr/>
        </p:nvSpPr>
        <p:spPr>
          <a:xfrm>
            <a:off x="9216000" y="3564000"/>
            <a:ext cx="2304000" cy="936000"/>
          </a:xfrm>
          <a:prstGeom prst="rect">
            <a:avLst/>
          </a:prstGeom>
          <a:noFill/>
        </p:spPr>
        <p:txBody>
          <a:bodyPr wrap="square" lIns="36000" rIns="36000" tIns="18000" bIns="18000" anchor="t">
            <a:spAutoFit/>
          </a:bodyPr>
          <a:lstStyle/>
          <a:p>
            <a:pPr algn="l">
              <a:lnSpc>
                <a:spcPct val="110000"/>
              </a:lnSpc>
            </a:pPr>
            <a:r>
              <a:rPr sz="1050" b="0">
                <a:solidFill>
                  <a:srgbClr val="6B6266"/>
                </a:solidFill>
                <a:latin typeface="Poppins"/>
              </a:rPr>
              <a:t>Aucun partenariat créateur repéré dans les 24 derniers posts ⟶ à confirmer en interne</a:t>
            </a:r>
          </a:p>
        </p:txBody>
      </p:sp>
      <p:sp>
        <p:nvSpPr>
          <p:cNvPr id="34" name="Rounded Rectangle 33"/>
          <p:cNvSpPr/>
          <p:nvPr/>
        </p:nvSpPr>
        <p:spPr>
          <a:xfrm>
            <a:off x="576000" y="4788000"/>
            <a:ext cx="11052000" cy="1404000"/>
          </a:xfrm>
          <a:prstGeom prst="roundRect">
            <a:avLst>
              <a:gd name="adj" fmla="val 6000"/>
            </a:avLst>
          </a:prstGeom>
          <a:solidFill>
            <a:srgbClr val="2A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bulb_bl.png"/>
          <p:cNvPicPr>
            <a:picLocks noChangeAspect="1"/>
          </p:cNvPicPr>
          <p:nvPr/>
        </p:nvPicPr>
        <p:blipFill>
          <a:blip r:embed="rId7"/>
          <a:stretch>
            <a:fillRect/>
          </a:stretch>
        </p:blipFill>
        <p:spPr>
          <a:xfrm>
            <a:off x="827999" y="5220000"/>
            <a:ext cx="540000" cy="540000"/>
          </a:xfrm>
          <a:prstGeom prst="rect">
            <a:avLst/>
          </a:prstGeom>
        </p:spPr>
      </p:pic>
      <p:sp>
        <p:nvSpPr>
          <p:cNvPr id="36" name="TextBox 35"/>
          <p:cNvSpPr txBox="1"/>
          <p:nvPr/>
        </p:nvSpPr>
        <p:spPr>
          <a:xfrm>
            <a:off x="1584000" y="4860000"/>
            <a:ext cx="9828000" cy="1260000"/>
          </a:xfrm>
          <a:prstGeom prst="rect">
            <a:avLst/>
          </a:prstGeom>
          <a:noFill/>
        </p:spPr>
        <p:txBody>
          <a:bodyPr wrap="square" lIns="36000" rIns="36000" tIns="18000" bIns="18000" anchor="ctr">
            <a:spAutoFit/>
          </a:bodyPr>
          <a:lstStyle/>
          <a:p>
            <a:pPr algn="l">
              <a:lnSpc>
                <a:spcPct val="110000"/>
              </a:lnSpc>
            </a:pPr>
            <a:r>
              <a:rPr sz="1300" b="1">
                <a:solidFill>
                  <a:srgbClr val="FF8087"/>
                </a:solidFill>
                <a:latin typeface="Poppins"/>
              </a:rPr>
              <a:t>Ce que ça veut dire</a:t>
            </a:r>
          </a:p>
          <a:p>
            <a:pPr algn="l">
              <a:lnSpc>
                <a:spcPct val="110000"/>
              </a:lnSpc>
              <a:spcBef>
                <a:spcPts val="500"/>
              </a:spcBef>
            </a:pPr>
            <a:r>
              <a:rPr sz="1350" b="0">
                <a:solidFill>
                  <a:srgbClr val="FFFFFF"/>
                </a:solidFill>
                <a:latin typeface="Poppins"/>
              </a:rPr>
              <a:t>Dream parle beaucoup, mais on lui répond peu. Des visages connus qui montrent le produit en vrai, en vidéo, sont le moyen le plus rapide de transformer 211 000 abonnés en conversations, puis en ventes.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iolight.jpg"/>
          <p:cNvPicPr>
            <a:picLocks noChangeAspect="1"/>
          </p:cNvPicPr>
          <p:nvPr/>
        </p:nvPicPr>
        <p:blipFill>
          <a:blip r:embed="rId2"/>
          <a:srcRect l="5709" r="5709"/>
          <a:stretch>
            <a:fillRect/>
          </a:stretch>
        </p:blipFill>
        <p:spPr>
          <a:xfrm>
            <a:off x="0" y="0"/>
            <a:ext cx="4860000" cy="6858000"/>
          </a:xfrm>
          <a:prstGeom prst="rect">
            <a:avLst/>
          </a:prstGeom>
        </p:spPr>
      </p:pic>
      <p:sp>
        <p:nvSpPr>
          <p:cNvPr id="3" name="Rectangle 2"/>
          <p:cNvSpPr/>
          <p:nvPr/>
        </p:nvSpPr>
        <p:spPr>
          <a:xfrm>
            <a:off x="4860000" y="0"/>
            <a:ext cx="7332119" cy="6858000"/>
          </a:xfrm>
          <a:prstGeom prst="rect">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3"/>
          <a:stretch>
            <a:fillRect/>
          </a:stretch>
        </p:blipFill>
        <p:spPr>
          <a:xfrm>
            <a:off x="10248119" y="257639"/>
            <a:ext cx="1584000" cy="492718"/>
          </a:xfrm>
          <a:prstGeom prst="rect">
            <a:avLst/>
          </a:prstGeom>
        </p:spPr>
      </p:pic>
      <p:sp>
        <p:nvSpPr>
          <p:cNvPr id="5" name="TextBox 4"/>
          <p:cNvSpPr txBox="1"/>
          <p:nvPr/>
        </p:nvSpPr>
        <p:spPr>
          <a:xfrm>
            <a:off x="5400000" y="503999"/>
            <a:ext cx="504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02 · L’IDÉE</a:t>
            </a:r>
          </a:p>
        </p:txBody>
      </p:sp>
      <p:sp>
        <p:nvSpPr>
          <p:cNvPr id="6" name="TextBox 5"/>
          <p:cNvSpPr txBox="1"/>
          <p:nvPr/>
        </p:nvSpPr>
        <p:spPr>
          <a:xfrm>
            <a:off x="5400000" y="864000"/>
            <a:ext cx="6120000" cy="792000"/>
          </a:xfrm>
          <a:prstGeom prst="rect">
            <a:avLst/>
          </a:prstGeom>
          <a:noFill/>
        </p:spPr>
        <p:txBody>
          <a:bodyPr wrap="square" lIns="36000" rIns="36000" tIns="18000" bIns="18000" anchor="t">
            <a:spAutoFit/>
          </a:bodyPr>
          <a:lstStyle/>
          <a:p>
            <a:pPr algn="l">
              <a:lnSpc>
                <a:spcPct val="110000"/>
              </a:lnSpc>
            </a:pPr>
            <a:r>
              <a:rPr sz="3400" b="1">
                <a:solidFill>
                  <a:srgbClr val="1A1416"/>
                </a:solidFill>
                <a:latin typeface="Poppins"/>
              </a:rPr>
              <a:t>#MonRituelDream</a:t>
            </a:r>
          </a:p>
        </p:txBody>
      </p:sp>
      <p:sp>
        <p:nvSpPr>
          <p:cNvPr id="7" name="TextBox 6"/>
          <p:cNvSpPr txBox="1"/>
          <p:nvPr/>
        </p:nvSpPr>
        <p:spPr>
          <a:xfrm>
            <a:off x="5400000" y="1692000"/>
            <a:ext cx="6300000" cy="936000"/>
          </a:xfrm>
          <a:prstGeom prst="rect">
            <a:avLst/>
          </a:prstGeom>
          <a:noFill/>
        </p:spPr>
        <p:txBody>
          <a:bodyPr wrap="square" lIns="36000" rIns="36000" tIns="18000" bIns="18000" anchor="t">
            <a:spAutoFit/>
          </a:bodyPr>
          <a:lstStyle/>
          <a:p>
            <a:pPr algn="l">
              <a:lnSpc>
                <a:spcPct val="110000"/>
              </a:lnSpc>
            </a:pPr>
            <a:r>
              <a:rPr sz="1350" b="0">
                <a:solidFill>
                  <a:srgbClr val="1A1416"/>
                </a:solidFill>
                <a:latin typeface="Poppins"/>
              </a:rPr>
              <a:t>Chaque créateur montre, face caméra et sans filtre, son vrai rituel du matin ou du soir avec un produit Dream. Puis il passe le relais à sa communauté : « Montre-moi ton rituel ».</a:t>
            </a:r>
          </a:p>
        </p:txBody>
      </p:sp>
      <p:sp>
        <p:nvSpPr>
          <p:cNvPr id="8" name="Oval 7"/>
          <p:cNvSpPr/>
          <p:nvPr/>
        </p:nvSpPr>
        <p:spPr>
          <a:xfrm>
            <a:off x="5400000" y="2988000"/>
            <a:ext cx="612000" cy="612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00000" y="2988000"/>
            <a:ext cx="612000" cy="612000"/>
          </a:xfrm>
          <a:prstGeom prst="rect">
            <a:avLst/>
          </a:prstGeom>
          <a:noFill/>
        </p:spPr>
        <p:txBody>
          <a:bodyPr wrap="square" lIns="36000" rIns="36000" tIns="18000" bIns="18000" anchor="ctr">
            <a:spAutoFit/>
          </a:bodyPr>
          <a:lstStyle/>
          <a:p>
            <a:pPr algn="ctr">
              <a:lnSpc>
                <a:spcPct val="110000"/>
              </a:lnSpc>
            </a:pPr>
            <a:r>
              <a:rPr sz="1800" b="1">
                <a:solidFill>
                  <a:srgbClr val="FFFFFF"/>
                </a:solidFill>
                <a:latin typeface="Poppins"/>
              </a:rPr>
              <a:t>1</a:t>
            </a:r>
          </a:p>
        </p:txBody>
      </p:sp>
      <p:sp>
        <p:nvSpPr>
          <p:cNvPr id="10" name="TextBox 9"/>
          <p:cNvSpPr txBox="1"/>
          <p:nvPr/>
        </p:nvSpPr>
        <p:spPr>
          <a:xfrm>
            <a:off x="6192000" y="2952000"/>
            <a:ext cx="5400000" cy="324000"/>
          </a:xfrm>
          <a:prstGeom prst="rect">
            <a:avLst/>
          </a:prstGeom>
          <a:noFill/>
        </p:spPr>
        <p:txBody>
          <a:bodyPr wrap="square" lIns="36000" rIns="36000" tIns="18000" bIns="18000" anchor="t">
            <a:spAutoFit/>
          </a:bodyPr>
          <a:lstStyle/>
          <a:p>
            <a:pPr algn="l">
              <a:lnSpc>
                <a:spcPct val="110000"/>
              </a:lnSpc>
            </a:pPr>
            <a:r>
              <a:rPr sz="1450" b="1">
                <a:solidFill>
                  <a:srgbClr val="1A1416"/>
                </a:solidFill>
                <a:latin typeface="Poppins"/>
              </a:rPr>
              <a:t>Je montre</a:t>
            </a:r>
          </a:p>
        </p:txBody>
      </p:sp>
      <p:sp>
        <p:nvSpPr>
          <p:cNvPr id="11" name="TextBox 10"/>
          <p:cNvSpPr txBox="1"/>
          <p:nvPr/>
        </p:nvSpPr>
        <p:spPr>
          <a:xfrm>
            <a:off x="6192000" y="3276000"/>
            <a:ext cx="5400000" cy="432000"/>
          </a:xfrm>
          <a:prstGeom prst="rect">
            <a:avLst/>
          </a:prstGeom>
          <a:noFill/>
        </p:spPr>
        <p:txBody>
          <a:bodyPr wrap="square" lIns="36000" rIns="36000" tIns="18000" bIns="18000" anchor="t">
            <a:spAutoFit/>
          </a:bodyPr>
          <a:lstStyle/>
          <a:p>
            <a:pPr algn="l">
              <a:lnSpc>
                <a:spcPct val="110000"/>
              </a:lnSpc>
            </a:pPr>
            <a:r>
              <a:rPr sz="1150" b="0">
                <a:solidFill>
                  <a:srgbClr val="6B6266"/>
                </a:solidFill>
                <a:latin typeface="Poppins"/>
              </a:rPr>
              <a:t>Le créateur filme son rituel, chez lui, en 30 à 45 secondes.</a:t>
            </a:r>
          </a:p>
        </p:txBody>
      </p:sp>
      <p:sp>
        <p:nvSpPr>
          <p:cNvPr id="12" name="Oval 11"/>
          <p:cNvSpPr/>
          <p:nvPr/>
        </p:nvSpPr>
        <p:spPr>
          <a:xfrm>
            <a:off x="5400000" y="4014000"/>
            <a:ext cx="612000" cy="612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00000" y="4014000"/>
            <a:ext cx="612000" cy="612000"/>
          </a:xfrm>
          <a:prstGeom prst="rect">
            <a:avLst/>
          </a:prstGeom>
          <a:noFill/>
        </p:spPr>
        <p:txBody>
          <a:bodyPr wrap="square" lIns="36000" rIns="36000" tIns="18000" bIns="18000" anchor="ctr">
            <a:spAutoFit/>
          </a:bodyPr>
          <a:lstStyle/>
          <a:p>
            <a:pPr algn="ctr">
              <a:lnSpc>
                <a:spcPct val="110000"/>
              </a:lnSpc>
            </a:pPr>
            <a:r>
              <a:rPr sz="1800" b="1">
                <a:solidFill>
                  <a:srgbClr val="FFFFFF"/>
                </a:solidFill>
                <a:latin typeface="Poppins"/>
              </a:rPr>
              <a:t>2</a:t>
            </a:r>
          </a:p>
        </p:txBody>
      </p:sp>
      <p:sp>
        <p:nvSpPr>
          <p:cNvPr id="14" name="TextBox 13"/>
          <p:cNvSpPr txBox="1"/>
          <p:nvPr/>
        </p:nvSpPr>
        <p:spPr>
          <a:xfrm>
            <a:off x="6192000" y="3978000"/>
            <a:ext cx="5400000" cy="324000"/>
          </a:xfrm>
          <a:prstGeom prst="rect">
            <a:avLst/>
          </a:prstGeom>
          <a:noFill/>
        </p:spPr>
        <p:txBody>
          <a:bodyPr wrap="square" lIns="36000" rIns="36000" tIns="18000" bIns="18000" anchor="t">
            <a:spAutoFit/>
          </a:bodyPr>
          <a:lstStyle/>
          <a:p>
            <a:pPr algn="l">
              <a:lnSpc>
                <a:spcPct val="110000"/>
              </a:lnSpc>
            </a:pPr>
            <a:r>
              <a:rPr sz="1450" b="1">
                <a:solidFill>
                  <a:srgbClr val="1A1416"/>
                </a:solidFill>
                <a:latin typeface="Poppins"/>
              </a:rPr>
              <a:t>Je passe le relais</a:t>
            </a:r>
          </a:p>
        </p:txBody>
      </p:sp>
      <p:sp>
        <p:nvSpPr>
          <p:cNvPr id="15" name="TextBox 14"/>
          <p:cNvSpPr txBox="1"/>
          <p:nvPr/>
        </p:nvSpPr>
        <p:spPr>
          <a:xfrm>
            <a:off x="6192000" y="4302000"/>
            <a:ext cx="5400000" cy="432000"/>
          </a:xfrm>
          <a:prstGeom prst="rect">
            <a:avLst/>
          </a:prstGeom>
          <a:noFill/>
        </p:spPr>
        <p:txBody>
          <a:bodyPr wrap="square" lIns="36000" rIns="36000" tIns="18000" bIns="18000" anchor="t">
            <a:spAutoFit/>
          </a:bodyPr>
          <a:lstStyle/>
          <a:p>
            <a:pPr algn="l">
              <a:lnSpc>
                <a:spcPct val="110000"/>
              </a:lnSpc>
            </a:pPr>
            <a:r>
              <a:rPr sz="1150" b="0">
                <a:solidFill>
                  <a:srgbClr val="6B6266"/>
                </a:solidFill>
                <a:latin typeface="Poppins"/>
              </a:rPr>
              <a:t>Il défie sa communauté et deux autres créateurs.</a:t>
            </a:r>
          </a:p>
        </p:txBody>
      </p:sp>
      <p:sp>
        <p:nvSpPr>
          <p:cNvPr id="16" name="Oval 15"/>
          <p:cNvSpPr/>
          <p:nvPr/>
        </p:nvSpPr>
        <p:spPr>
          <a:xfrm>
            <a:off x="5400000" y="5040000"/>
            <a:ext cx="612000" cy="612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00000" y="5040000"/>
            <a:ext cx="612000" cy="612000"/>
          </a:xfrm>
          <a:prstGeom prst="rect">
            <a:avLst/>
          </a:prstGeom>
          <a:noFill/>
        </p:spPr>
        <p:txBody>
          <a:bodyPr wrap="square" lIns="36000" rIns="36000" tIns="18000" bIns="18000" anchor="ctr">
            <a:spAutoFit/>
          </a:bodyPr>
          <a:lstStyle/>
          <a:p>
            <a:pPr algn="ctr">
              <a:lnSpc>
                <a:spcPct val="110000"/>
              </a:lnSpc>
            </a:pPr>
            <a:r>
              <a:rPr sz="1800" b="1">
                <a:solidFill>
                  <a:srgbClr val="FFFFFF"/>
                </a:solidFill>
                <a:latin typeface="Poppins"/>
              </a:rPr>
              <a:t>3</a:t>
            </a:r>
          </a:p>
        </p:txBody>
      </p:sp>
      <p:sp>
        <p:nvSpPr>
          <p:cNvPr id="18" name="TextBox 17"/>
          <p:cNvSpPr txBox="1"/>
          <p:nvPr/>
        </p:nvSpPr>
        <p:spPr>
          <a:xfrm>
            <a:off x="6192000" y="5004000"/>
            <a:ext cx="5400000" cy="324000"/>
          </a:xfrm>
          <a:prstGeom prst="rect">
            <a:avLst/>
          </a:prstGeom>
          <a:noFill/>
        </p:spPr>
        <p:txBody>
          <a:bodyPr wrap="square" lIns="36000" rIns="36000" tIns="18000" bIns="18000" anchor="t">
            <a:spAutoFit/>
          </a:bodyPr>
          <a:lstStyle/>
          <a:p>
            <a:pPr algn="l">
              <a:lnSpc>
                <a:spcPct val="110000"/>
              </a:lnSpc>
            </a:pPr>
            <a:r>
              <a:rPr sz="1450" b="1">
                <a:solidFill>
                  <a:srgbClr val="1A1416"/>
                </a:solidFill>
                <a:latin typeface="Poppins"/>
              </a:rPr>
              <a:t>Tu gagnes</a:t>
            </a:r>
          </a:p>
        </p:txBody>
      </p:sp>
      <p:sp>
        <p:nvSpPr>
          <p:cNvPr id="19" name="TextBox 18"/>
          <p:cNvSpPr txBox="1"/>
          <p:nvPr/>
        </p:nvSpPr>
        <p:spPr>
          <a:xfrm>
            <a:off x="6192000" y="5328000"/>
            <a:ext cx="5400000" cy="432000"/>
          </a:xfrm>
          <a:prstGeom prst="rect">
            <a:avLst/>
          </a:prstGeom>
          <a:noFill/>
        </p:spPr>
        <p:txBody>
          <a:bodyPr wrap="square" lIns="36000" rIns="36000" tIns="18000" bIns="18000" anchor="t">
            <a:spAutoFit/>
          </a:bodyPr>
          <a:lstStyle/>
          <a:p>
            <a:pPr algn="l">
              <a:lnSpc>
                <a:spcPct val="110000"/>
              </a:lnSpc>
            </a:pPr>
            <a:r>
              <a:rPr sz="1150" b="0">
                <a:solidFill>
                  <a:srgbClr val="6B6266"/>
                </a:solidFill>
                <a:latin typeface="Poppins"/>
              </a:rPr>
              <a:t>Les meilleures vidéos reçoivent un coffret Dream chaque semaine.</a:t>
            </a:r>
          </a:p>
        </p:txBody>
      </p:sp>
      <p:sp>
        <p:nvSpPr>
          <p:cNvPr id="20" name="Rounded Rectangle 19"/>
          <p:cNvSpPr/>
          <p:nvPr/>
        </p:nvSpPr>
        <p:spPr>
          <a:xfrm>
            <a:off x="5400000" y="6083999"/>
            <a:ext cx="4860000" cy="288000"/>
          </a:xfrm>
          <a:prstGeom prst="roundRect">
            <a:avLst>
              <a:gd name="adj" fmla="val 50000"/>
            </a:avLst>
          </a:prstGeom>
          <a:solidFill>
            <a:srgbClr val="FF8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00000" y="6083999"/>
            <a:ext cx="4860000" cy="288000"/>
          </a:xfrm>
          <a:prstGeom prst="rect">
            <a:avLst/>
          </a:prstGeom>
          <a:noFill/>
        </p:spPr>
        <p:txBody>
          <a:bodyPr wrap="square" lIns="36000" rIns="36000" tIns="18000" bIns="18000" anchor="ctr">
            <a:spAutoFit/>
          </a:bodyPr>
          <a:lstStyle/>
          <a:p>
            <a:pPr algn="ctr">
              <a:lnSpc>
                <a:spcPct val="110000"/>
              </a:lnSpc>
            </a:pPr>
            <a:r>
              <a:rPr sz="1000" b="1">
                <a:solidFill>
                  <a:srgbClr val="2A0E12"/>
                </a:solidFill>
                <a:latin typeface="Poppins"/>
              </a:rPr>
              <a:t>Nom de campagne proposé, à valider par Dream</a:t>
            </a:r>
          </a:p>
        </p:txBody>
      </p:sp>
      <p:sp>
        <p:nvSpPr>
          <p:cNvPr id="22" name="TextBox 21"/>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4 / 22</a:t>
            </a:r>
          </a:p>
        </p:txBody>
      </p:sp>
      <p:sp>
        <p:nvSpPr>
          <p:cNvPr id="23" name="TextBox 22"/>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0000" cy="6858000"/>
          </a:xfrm>
          <a:prstGeom prst="rect">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0248119" y="257639"/>
            <a:ext cx="1584000" cy="492718"/>
          </a:xfrm>
          <a:prstGeom prst="rect">
            <a:avLst/>
          </a:prstGeom>
        </p:spPr>
      </p:pic>
      <p:sp>
        <p:nvSpPr>
          <p:cNvPr id="4" name="TextBox 3"/>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02 · OBJECTIFS</a:t>
            </a:r>
          </a:p>
        </p:txBody>
      </p:sp>
      <p:sp>
        <p:nvSpPr>
          <p:cNvPr id="5" name="TextBox 4"/>
          <p:cNvSpPr txBox="1"/>
          <p:nvPr/>
        </p:nvSpPr>
        <p:spPr>
          <a:xfrm>
            <a:off x="576000" y="576000"/>
            <a:ext cx="9360000" cy="720000"/>
          </a:xfrm>
          <a:prstGeom prst="rect">
            <a:avLst/>
          </a:prstGeom>
          <a:noFill/>
        </p:spPr>
        <p:txBody>
          <a:bodyPr wrap="square" lIns="36000" rIns="36000" tIns="18000" bIns="18000" anchor="t">
            <a:spAutoFit/>
          </a:bodyPr>
          <a:lstStyle/>
          <a:p>
            <a:pPr algn="l">
              <a:lnSpc>
                <a:spcPct val="110000"/>
              </a:lnSpc>
            </a:pPr>
            <a:r>
              <a:rPr sz="2500" b="1">
                <a:solidFill>
                  <a:srgbClr val="1A1416"/>
                </a:solidFill>
                <a:latin typeface="Poppins"/>
              </a:rPr>
              <a:t>Trois objectifs, chacun avec son chiffre</a:t>
            </a:r>
          </a:p>
        </p:txBody>
      </p:sp>
      <p:sp>
        <p:nvSpPr>
          <p:cNvPr id="6" name="Rectangle 5"/>
          <p:cNvSpPr/>
          <p:nvPr/>
        </p:nvSpPr>
        <p:spPr>
          <a:xfrm>
            <a:off x="576000" y="1278000"/>
            <a:ext cx="792000" cy="50400"/>
          </a:xfrm>
          <a:prstGeom prst="rect">
            <a:avLst/>
          </a:prstGeom>
          <a:solidFill>
            <a:srgbClr val="FF8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12000" y="1188000"/>
            <a:ext cx="9000000" cy="251999"/>
          </a:xfrm>
          <a:prstGeom prst="rect">
            <a:avLst/>
          </a:prstGeom>
          <a:noFill/>
        </p:spPr>
        <p:txBody>
          <a:bodyPr wrap="square" lIns="36000" rIns="36000" tIns="18000" bIns="18000" anchor="t">
            <a:spAutoFit/>
          </a:bodyPr>
          <a:lstStyle/>
          <a:p>
            <a:pPr algn="l">
              <a:lnSpc>
                <a:spcPct val="110000"/>
              </a:lnSpc>
            </a:pPr>
            <a:r>
              <a:rPr sz="1150" b="0">
                <a:solidFill>
                  <a:srgbClr val="6B6266"/>
                </a:solidFill>
                <a:latin typeface="Poppins"/>
              </a:rPr>
              <a:t>Cibles proposées pour 6 semaines, à caler avec Dream une fois le budget choisi</a:t>
            </a:r>
          </a:p>
        </p:txBody>
      </p:sp>
      <p:sp>
        <p:nvSpPr>
          <p:cNvPr id="8" name="TextBox 7"/>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5 / 22</a:t>
            </a:r>
          </a:p>
        </p:txBody>
      </p:sp>
      <p:sp>
        <p:nvSpPr>
          <p:cNvPr id="9" name="TextBox 8"/>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sp>
        <p:nvSpPr>
          <p:cNvPr id="10" name="Rounded Rectangle 9"/>
          <p:cNvSpPr/>
          <p:nvPr/>
        </p:nvSpPr>
        <p:spPr>
          <a:xfrm>
            <a:off x="576000" y="1655999"/>
            <a:ext cx="3564000" cy="3456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6000" y="1655999"/>
            <a:ext cx="3564000" cy="90000"/>
          </a:xfrm>
          <a:prstGeom prst="rect">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7999" y="1944000"/>
            <a:ext cx="648000" cy="648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ye_bl.png"/>
          <p:cNvPicPr>
            <a:picLocks noChangeAspect="1"/>
          </p:cNvPicPr>
          <p:nvPr/>
        </p:nvPicPr>
        <p:blipFill>
          <a:blip r:embed="rId3"/>
          <a:stretch>
            <a:fillRect/>
          </a:stretch>
        </p:blipFill>
        <p:spPr>
          <a:xfrm>
            <a:off x="983519" y="2099520"/>
            <a:ext cx="336960" cy="336960"/>
          </a:xfrm>
          <a:prstGeom prst="rect">
            <a:avLst/>
          </a:prstGeom>
        </p:spPr>
      </p:pic>
      <p:sp>
        <p:nvSpPr>
          <p:cNvPr id="14" name="TextBox 13"/>
          <p:cNvSpPr txBox="1"/>
          <p:nvPr/>
        </p:nvSpPr>
        <p:spPr>
          <a:xfrm>
            <a:off x="1656000" y="2052000"/>
            <a:ext cx="2340000" cy="432000"/>
          </a:xfrm>
          <a:prstGeom prst="rect">
            <a:avLst/>
          </a:prstGeom>
          <a:noFill/>
        </p:spPr>
        <p:txBody>
          <a:bodyPr wrap="square" lIns="36000" rIns="36000" tIns="18000" bIns="18000" anchor="t">
            <a:spAutoFit/>
          </a:bodyPr>
          <a:lstStyle/>
          <a:p>
            <a:pPr algn="l">
              <a:lnSpc>
                <a:spcPct val="110000"/>
              </a:lnSpc>
            </a:pPr>
            <a:r>
              <a:rPr sz="1600" b="1">
                <a:solidFill>
                  <a:srgbClr val="1A1416"/>
                </a:solidFill>
                <a:latin typeface="Poppins"/>
              </a:rPr>
              <a:t>Se faire voir</a:t>
            </a:r>
          </a:p>
        </p:txBody>
      </p:sp>
      <p:sp>
        <p:nvSpPr>
          <p:cNvPr id="15" name="TextBox 14"/>
          <p:cNvSpPr txBox="1"/>
          <p:nvPr/>
        </p:nvSpPr>
        <p:spPr>
          <a:xfrm>
            <a:off x="827999" y="2808000"/>
            <a:ext cx="3060000" cy="792000"/>
          </a:xfrm>
          <a:prstGeom prst="rect">
            <a:avLst/>
          </a:prstGeom>
          <a:noFill/>
        </p:spPr>
        <p:txBody>
          <a:bodyPr wrap="square" lIns="36000" rIns="36000" tIns="18000" bIns="18000" anchor="t">
            <a:spAutoFit/>
          </a:bodyPr>
          <a:lstStyle/>
          <a:p>
            <a:pPr algn="l">
              <a:lnSpc>
                <a:spcPct val="110000"/>
              </a:lnSpc>
            </a:pPr>
            <a:r>
              <a:rPr sz="4400" b="1">
                <a:solidFill>
                  <a:srgbClr val="AE172A"/>
                </a:solidFill>
                <a:latin typeface="Poppins"/>
              </a:rPr>
              <a:t>3 M</a:t>
            </a:r>
          </a:p>
        </p:txBody>
      </p:sp>
      <p:sp>
        <p:nvSpPr>
          <p:cNvPr id="16" name="TextBox 15"/>
          <p:cNvSpPr txBox="1"/>
          <p:nvPr/>
        </p:nvSpPr>
        <p:spPr>
          <a:xfrm>
            <a:off x="827999" y="3671999"/>
            <a:ext cx="3060000" cy="503999"/>
          </a:xfrm>
          <a:prstGeom prst="rect">
            <a:avLst/>
          </a:prstGeom>
          <a:noFill/>
        </p:spPr>
        <p:txBody>
          <a:bodyPr wrap="square" lIns="36000" rIns="36000" tIns="18000" bIns="18000" anchor="t">
            <a:spAutoFit/>
          </a:bodyPr>
          <a:lstStyle/>
          <a:p>
            <a:pPr algn="l">
              <a:lnSpc>
                <a:spcPct val="110000"/>
              </a:lnSpc>
            </a:pPr>
            <a:r>
              <a:rPr sz="1300" b="1">
                <a:solidFill>
                  <a:srgbClr val="1A1416"/>
                </a:solidFill>
                <a:latin typeface="Poppins"/>
              </a:rPr>
              <a:t>vues cumulées des vidéos créateurs</a:t>
            </a:r>
          </a:p>
        </p:txBody>
      </p:sp>
      <p:sp>
        <p:nvSpPr>
          <p:cNvPr id="17" name="TextBox 16"/>
          <p:cNvSpPr txBox="1"/>
          <p:nvPr/>
        </p:nvSpPr>
        <p:spPr>
          <a:xfrm>
            <a:off x="827999" y="4284000"/>
            <a:ext cx="3060000" cy="648000"/>
          </a:xfrm>
          <a:prstGeom prst="rect">
            <a:avLst/>
          </a:prstGeom>
          <a:noFill/>
        </p:spPr>
        <p:txBody>
          <a:bodyPr wrap="square" lIns="36000" rIns="36000" tIns="18000" bIns="18000" anchor="t">
            <a:spAutoFit/>
          </a:bodyPr>
          <a:lstStyle/>
          <a:p>
            <a:pPr algn="l">
              <a:lnSpc>
                <a:spcPct val="110000"/>
              </a:lnSpc>
            </a:pPr>
            <a:r>
              <a:rPr sz="1050" b="0">
                <a:solidFill>
                  <a:srgbClr val="6B6266"/>
                </a:solidFill>
                <a:latin typeface="Poppins"/>
              </a:rPr>
              <a:t>Suivi : statistiques remises par chaque créateur (captures)</a:t>
            </a:r>
          </a:p>
        </p:txBody>
      </p:sp>
      <p:sp>
        <p:nvSpPr>
          <p:cNvPr id="18" name="Rounded Rectangle 17"/>
          <p:cNvSpPr/>
          <p:nvPr/>
        </p:nvSpPr>
        <p:spPr>
          <a:xfrm>
            <a:off x="4320000" y="1655999"/>
            <a:ext cx="3564000" cy="3456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20000" y="1655999"/>
            <a:ext cx="3564000" cy="90000"/>
          </a:xfrm>
          <a:prstGeom prst="rect">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571999" y="1944000"/>
            <a:ext cx="648000" cy="648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message-circle_bl.png"/>
          <p:cNvPicPr>
            <a:picLocks noChangeAspect="1"/>
          </p:cNvPicPr>
          <p:nvPr/>
        </p:nvPicPr>
        <p:blipFill>
          <a:blip r:embed="rId4"/>
          <a:stretch>
            <a:fillRect/>
          </a:stretch>
        </p:blipFill>
        <p:spPr>
          <a:xfrm>
            <a:off x="4727519" y="2099520"/>
            <a:ext cx="336960" cy="336960"/>
          </a:xfrm>
          <a:prstGeom prst="rect">
            <a:avLst/>
          </a:prstGeom>
        </p:spPr>
      </p:pic>
      <p:sp>
        <p:nvSpPr>
          <p:cNvPr id="22" name="TextBox 21"/>
          <p:cNvSpPr txBox="1"/>
          <p:nvPr/>
        </p:nvSpPr>
        <p:spPr>
          <a:xfrm>
            <a:off x="5400000" y="2052000"/>
            <a:ext cx="2340000" cy="432000"/>
          </a:xfrm>
          <a:prstGeom prst="rect">
            <a:avLst/>
          </a:prstGeom>
          <a:noFill/>
        </p:spPr>
        <p:txBody>
          <a:bodyPr wrap="square" lIns="36000" rIns="36000" tIns="18000" bIns="18000" anchor="t">
            <a:spAutoFit/>
          </a:bodyPr>
          <a:lstStyle/>
          <a:p>
            <a:pPr algn="l">
              <a:lnSpc>
                <a:spcPct val="110000"/>
              </a:lnSpc>
            </a:pPr>
            <a:r>
              <a:rPr sz="1600" b="1">
                <a:solidFill>
                  <a:srgbClr val="1A1416"/>
                </a:solidFill>
                <a:latin typeface="Poppins"/>
              </a:rPr>
              <a:t>Faire parler</a:t>
            </a:r>
          </a:p>
        </p:txBody>
      </p:sp>
      <p:sp>
        <p:nvSpPr>
          <p:cNvPr id="23" name="TextBox 22"/>
          <p:cNvSpPr txBox="1"/>
          <p:nvPr/>
        </p:nvSpPr>
        <p:spPr>
          <a:xfrm>
            <a:off x="4571999" y="2808000"/>
            <a:ext cx="3060000" cy="792000"/>
          </a:xfrm>
          <a:prstGeom prst="rect">
            <a:avLst/>
          </a:prstGeom>
          <a:noFill/>
        </p:spPr>
        <p:txBody>
          <a:bodyPr wrap="square" lIns="36000" rIns="36000" tIns="18000" bIns="18000" anchor="t">
            <a:spAutoFit/>
          </a:bodyPr>
          <a:lstStyle/>
          <a:p>
            <a:pPr algn="l">
              <a:lnSpc>
                <a:spcPct val="110000"/>
              </a:lnSpc>
            </a:pPr>
            <a:r>
              <a:rPr sz="4400" b="1">
                <a:solidFill>
                  <a:srgbClr val="AE172A"/>
                </a:solidFill>
                <a:latin typeface="Poppins"/>
              </a:rPr>
              <a:t>1 000</a:t>
            </a:r>
          </a:p>
        </p:txBody>
      </p:sp>
      <p:sp>
        <p:nvSpPr>
          <p:cNvPr id="24" name="TextBox 23"/>
          <p:cNvSpPr txBox="1"/>
          <p:nvPr/>
        </p:nvSpPr>
        <p:spPr>
          <a:xfrm>
            <a:off x="4571999" y="3671999"/>
            <a:ext cx="3060000" cy="503999"/>
          </a:xfrm>
          <a:prstGeom prst="rect">
            <a:avLst/>
          </a:prstGeom>
          <a:noFill/>
        </p:spPr>
        <p:txBody>
          <a:bodyPr wrap="square" lIns="36000" rIns="36000" tIns="18000" bIns="18000" anchor="t">
            <a:spAutoFit/>
          </a:bodyPr>
          <a:lstStyle/>
          <a:p>
            <a:pPr algn="l">
              <a:lnSpc>
                <a:spcPct val="110000"/>
              </a:lnSpc>
            </a:pPr>
            <a:r>
              <a:rPr sz="1300" b="1">
                <a:solidFill>
                  <a:srgbClr val="1A1416"/>
                </a:solidFill>
                <a:latin typeface="Poppins"/>
              </a:rPr>
              <a:t>vidéos #MonRituelDream publiées par le public</a:t>
            </a:r>
          </a:p>
        </p:txBody>
      </p:sp>
      <p:sp>
        <p:nvSpPr>
          <p:cNvPr id="25" name="TextBox 24"/>
          <p:cNvSpPr txBox="1"/>
          <p:nvPr/>
        </p:nvSpPr>
        <p:spPr>
          <a:xfrm>
            <a:off x="4571999" y="4284000"/>
            <a:ext cx="3060000" cy="648000"/>
          </a:xfrm>
          <a:prstGeom prst="rect">
            <a:avLst/>
          </a:prstGeom>
          <a:noFill/>
        </p:spPr>
        <p:txBody>
          <a:bodyPr wrap="square" lIns="36000" rIns="36000" tIns="18000" bIns="18000" anchor="t">
            <a:spAutoFit/>
          </a:bodyPr>
          <a:lstStyle/>
          <a:p>
            <a:pPr algn="l">
              <a:lnSpc>
                <a:spcPct val="110000"/>
              </a:lnSpc>
            </a:pPr>
            <a:r>
              <a:rPr sz="1050" b="0">
                <a:solidFill>
                  <a:srgbClr val="6B6266"/>
                </a:solidFill>
                <a:latin typeface="Poppins"/>
              </a:rPr>
              <a:t>Suivi : recherche du mot-dièse sur TikTok et Instagram</a:t>
            </a:r>
          </a:p>
        </p:txBody>
      </p:sp>
      <p:sp>
        <p:nvSpPr>
          <p:cNvPr id="26" name="Rounded Rectangle 25"/>
          <p:cNvSpPr/>
          <p:nvPr/>
        </p:nvSpPr>
        <p:spPr>
          <a:xfrm>
            <a:off x="8064000" y="1655999"/>
            <a:ext cx="3564000" cy="3456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64000" y="1655999"/>
            <a:ext cx="3564000" cy="90000"/>
          </a:xfrm>
          <a:prstGeom prst="rect">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315999" y="1944000"/>
            <a:ext cx="648000" cy="648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package_bl.png"/>
          <p:cNvPicPr>
            <a:picLocks noChangeAspect="1"/>
          </p:cNvPicPr>
          <p:nvPr/>
        </p:nvPicPr>
        <p:blipFill>
          <a:blip r:embed="rId5"/>
          <a:stretch>
            <a:fillRect/>
          </a:stretch>
        </p:blipFill>
        <p:spPr>
          <a:xfrm>
            <a:off x="8471519" y="2099520"/>
            <a:ext cx="336960" cy="336960"/>
          </a:xfrm>
          <a:prstGeom prst="rect">
            <a:avLst/>
          </a:prstGeom>
        </p:spPr>
      </p:pic>
      <p:sp>
        <p:nvSpPr>
          <p:cNvPr id="30" name="TextBox 29"/>
          <p:cNvSpPr txBox="1"/>
          <p:nvPr/>
        </p:nvSpPr>
        <p:spPr>
          <a:xfrm>
            <a:off x="9144000" y="2052000"/>
            <a:ext cx="2340000" cy="432000"/>
          </a:xfrm>
          <a:prstGeom prst="rect">
            <a:avLst/>
          </a:prstGeom>
          <a:noFill/>
        </p:spPr>
        <p:txBody>
          <a:bodyPr wrap="square" lIns="36000" rIns="36000" tIns="18000" bIns="18000" anchor="t">
            <a:spAutoFit/>
          </a:bodyPr>
          <a:lstStyle/>
          <a:p>
            <a:pPr algn="l">
              <a:lnSpc>
                <a:spcPct val="110000"/>
              </a:lnSpc>
            </a:pPr>
            <a:r>
              <a:rPr sz="1600" b="1">
                <a:solidFill>
                  <a:srgbClr val="1A1416"/>
                </a:solidFill>
                <a:latin typeface="Poppins"/>
              </a:rPr>
              <a:t>Faire acheter</a:t>
            </a:r>
          </a:p>
        </p:txBody>
      </p:sp>
      <p:sp>
        <p:nvSpPr>
          <p:cNvPr id="31" name="TextBox 30"/>
          <p:cNvSpPr txBox="1"/>
          <p:nvPr/>
        </p:nvSpPr>
        <p:spPr>
          <a:xfrm>
            <a:off x="8315999" y="2808000"/>
            <a:ext cx="3060000" cy="792000"/>
          </a:xfrm>
          <a:prstGeom prst="rect">
            <a:avLst/>
          </a:prstGeom>
          <a:noFill/>
        </p:spPr>
        <p:txBody>
          <a:bodyPr wrap="square" lIns="36000" rIns="36000" tIns="18000" bIns="18000" anchor="t">
            <a:spAutoFit/>
          </a:bodyPr>
          <a:lstStyle/>
          <a:p>
            <a:pPr algn="l">
              <a:lnSpc>
                <a:spcPct val="110000"/>
              </a:lnSpc>
            </a:pPr>
            <a:r>
              <a:rPr sz="4400" b="1">
                <a:solidFill>
                  <a:srgbClr val="AE172A"/>
                </a:solidFill>
                <a:latin typeface="Poppins"/>
              </a:rPr>
              <a:t>1 500</a:t>
            </a:r>
          </a:p>
        </p:txBody>
      </p:sp>
      <p:sp>
        <p:nvSpPr>
          <p:cNvPr id="32" name="TextBox 31"/>
          <p:cNvSpPr txBox="1"/>
          <p:nvPr/>
        </p:nvSpPr>
        <p:spPr>
          <a:xfrm>
            <a:off x="8315999" y="3671999"/>
            <a:ext cx="3060000" cy="503999"/>
          </a:xfrm>
          <a:prstGeom prst="rect">
            <a:avLst/>
          </a:prstGeom>
          <a:noFill/>
        </p:spPr>
        <p:txBody>
          <a:bodyPr wrap="square" lIns="36000" rIns="36000" tIns="18000" bIns="18000" anchor="t">
            <a:spAutoFit/>
          </a:bodyPr>
          <a:lstStyle/>
          <a:p>
            <a:pPr algn="l">
              <a:lnSpc>
                <a:spcPct val="110000"/>
              </a:lnSpc>
            </a:pPr>
            <a:r>
              <a:rPr sz="1300" b="1">
                <a:solidFill>
                  <a:srgbClr val="1A1416"/>
                </a:solidFill>
                <a:latin typeface="Poppins"/>
              </a:rPr>
              <a:t>utilisations des codes créateurs</a:t>
            </a:r>
          </a:p>
        </p:txBody>
      </p:sp>
      <p:sp>
        <p:nvSpPr>
          <p:cNvPr id="33" name="TextBox 32"/>
          <p:cNvSpPr txBox="1"/>
          <p:nvPr/>
        </p:nvSpPr>
        <p:spPr>
          <a:xfrm>
            <a:off x="8315999" y="4284000"/>
            <a:ext cx="3060000" cy="648000"/>
          </a:xfrm>
          <a:prstGeom prst="rect">
            <a:avLst/>
          </a:prstGeom>
          <a:noFill/>
        </p:spPr>
        <p:txBody>
          <a:bodyPr wrap="square" lIns="36000" rIns="36000" tIns="18000" bIns="18000" anchor="t">
            <a:spAutoFit/>
          </a:bodyPr>
          <a:lstStyle/>
          <a:p>
            <a:pPr algn="l">
              <a:lnSpc>
                <a:spcPct val="110000"/>
              </a:lnSpc>
            </a:pPr>
            <a:r>
              <a:rPr sz="1050" b="0">
                <a:solidFill>
                  <a:srgbClr val="6B6266"/>
                </a:solidFill>
                <a:latin typeface="Poppins"/>
              </a:rPr>
              <a:t>Suivi : un code et un lien WhatsApp par créateur</a:t>
            </a:r>
          </a:p>
        </p:txBody>
      </p:sp>
      <p:sp>
        <p:nvSpPr>
          <p:cNvPr id="34" name="Rounded Rectangle 33"/>
          <p:cNvSpPr/>
          <p:nvPr/>
        </p:nvSpPr>
        <p:spPr>
          <a:xfrm>
            <a:off x="576000" y="5328000"/>
            <a:ext cx="11052000" cy="864000"/>
          </a:xfrm>
          <a:prstGeom prst="roundRect">
            <a:avLst>
              <a:gd name="adj" fmla="val 6000"/>
            </a:avLst>
          </a:prstGeom>
          <a:solidFill>
            <a:srgbClr val="FB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alert-triangle_dr.png"/>
          <p:cNvPicPr>
            <a:picLocks noChangeAspect="1"/>
          </p:cNvPicPr>
          <p:nvPr/>
        </p:nvPicPr>
        <p:blipFill>
          <a:blip r:embed="rId6"/>
          <a:stretch>
            <a:fillRect/>
          </a:stretch>
        </p:blipFill>
        <p:spPr>
          <a:xfrm>
            <a:off x="792000" y="5508000"/>
            <a:ext cx="503999" cy="503999"/>
          </a:xfrm>
          <a:prstGeom prst="rect">
            <a:avLst/>
          </a:prstGeom>
        </p:spPr>
      </p:pic>
      <p:sp>
        <p:nvSpPr>
          <p:cNvPr id="36" name="TextBox 35"/>
          <p:cNvSpPr txBox="1"/>
          <p:nvPr/>
        </p:nvSpPr>
        <p:spPr>
          <a:xfrm>
            <a:off x="1440000" y="5328000"/>
            <a:ext cx="10008000" cy="864000"/>
          </a:xfrm>
          <a:prstGeom prst="rect">
            <a:avLst/>
          </a:prstGeom>
          <a:noFill/>
        </p:spPr>
        <p:txBody>
          <a:bodyPr wrap="square" lIns="36000" rIns="36000" tIns="18000" bIns="18000" anchor="ctr">
            <a:spAutoFit/>
          </a:bodyPr>
          <a:lstStyle/>
          <a:p>
            <a:pPr algn="l">
              <a:lnSpc>
                <a:spcPct val="110000"/>
              </a:lnSpc>
            </a:pPr>
            <a:r>
              <a:rPr sz="1200" b="0">
                <a:solidFill>
                  <a:srgbClr val="1A1416"/>
                </a:solidFill>
                <a:latin typeface="Poppins"/>
              </a:rPr>
              <a:t>Ces chiffres sont des cibles de départ, pas des promesses : ils dépendent des tarifs réellement obtenus. On les ajuste après les premières négociations, et on les tient semaine par semaine.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0000" cy="6858000"/>
          </a:xfrm>
          <a:prstGeom prst="rect">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0248119" y="257639"/>
            <a:ext cx="1584000" cy="492718"/>
          </a:xfrm>
          <a:prstGeom prst="rect">
            <a:avLst/>
          </a:prstGeom>
        </p:spPr>
      </p:pic>
      <p:sp>
        <p:nvSpPr>
          <p:cNvPr id="4" name="TextBox 3"/>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03 · LES CIBLES</a:t>
            </a:r>
          </a:p>
        </p:txBody>
      </p:sp>
      <p:sp>
        <p:nvSpPr>
          <p:cNvPr id="5" name="TextBox 4"/>
          <p:cNvSpPr txBox="1"/>
          <p:nvPr/>
        </p:nvSpPr>
        <p:spPr>
          <a:xfrm>
            <a:off x="576000" y="576000"/>
            <a:ext cx="9360000" cy="720000"/>
          </a:xfrm>
          <a:prstGeom prst="rect">
            <a:avLst/>
          </a:prstGeom>
          <a:noFill/>
        </p:spPr>
        <p:txBody>
          <a:bodyPr wrap="square" lIns="36000" rIns="36000" tIns="18000" bIns="18000" anchor="t">
            <a:spAutoFit/>
          </a:bodyPr>
          <a:lstStyle/>
          <a:p>
            <a:pPr algn="l">
              <a:lnSpc>
                <a:spcPct val="110000"/>
              </a:lnSpc>
            </a:pPr>
            <a:r>
              <a:rPr sz="2500" b="1">
                <a:solidFill>
                  <a:srgbClr val="1A1416"/>
                </a:solidFill>
                <a:latin typeface="Poppins"/>
              </a:rPr>
              <a:t>Trois publics, trois familles de gammes</a:t>
            </a:r>
          </a:p>
        </p:txBody>
      </p:sp>
      <p:sp>
        <p:nvSpPr>
          <p:cNvPr id="6" name="Rectangle 5"/>
          <p:cNvSpPr/>
          <p:nvPr/>
        </p:nvSpPr>
        <p:spPr>
          <a:xfrm>
            <a:off x="576000" y="1278000"/>
            <a:ext cx="792000" cy="50400"/>
          </a:xfrm>
          <a:prstGeom prst="rect">
            <a:avLst/>
          </a:prstGeom>
          <a:solidFill>
            <a:srgbClr val="FF8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6 / 22</a:t>
            </a:r>
          </a:p>
        </p:txBody>
      </p:sp>
      <p:sp>
        <p:nvSpPr>
          <p:cNvPr id="8" name="TextBox 7"/>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sp>
        <p:nvSpPr>
          <p:cNvPr id="9" name="Rounded Rectangle 8"/>
          <p:cNvSpPr/>
          <p:nvPr/>
        </p:nvSpPr>
        <p:spPr>
          <a:xfrm>
            <a:off x="576000" y="1584000"/>
            <a:ext cx="3564000" cy="4824000"/>
          </a:xfrm>
          <a:prstGeom prst="roundRect">
            <a:avLst>
              <a:gd name="adj" fmla="val 6000"/>
            </a:avLst>
          </a:prstGeom>
          <a:solidFill>
            <a:srgbClr val="FFFFFF"/>
          </a:solidFill>
          <a:ln w="9525">
            <a:solidFill>
              <a:srgbClr val="E8E1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leartherapy.jpg"/>
          <p:cNvPicPr>
            <a:picLocks noChangeAspect="1"/>
          </p:cNvPicPr>
          <p:nvPr/>
        </p:nvPicPr>
        <p:blipFill>
          <a:blip r:embed="rId3"/>
          <a:srcRect t="13085" b="39255"/>
          <a:stretch>
            <a:fillRect/>
          </a:stretch>
        </p:blipFill>
        <p:spPr>
          <a:xfrm>
            <a:off x="666000" y="1674000"/>
            <a:ext cx="3384000" cy="2015999"/>
          </a:xfrm>
          <a:prstGeom prst="rect">
            <a:avLst/>
          </a:prstGeom>
        </p:spPr>
      </p:pic>
      <p:sp>
        <p:nvSpPr>
          <p:cNvPr id="11" name="TextBox 10"/>
          <p:cNvSpPr txBox="1"/>
          <p:nvPr/>
        </p:nvSpPr>
        <p:spPr>
          <a:xfrm>
            <a:off x="792000" y="3816000"/>
            <a:ext cx="3168000" cy="360000"/>
          </a:xfrm>
          <a:prstGeom prst="rect">
            <a:avLst/>
          </a:prstGeom>
          <a:noFill/>
        </p:spPr>
        <p:txBody>
          <a:bodyPr wrap="square" lIns="36000" rIns="36000" tIns="18000" bIns="18000" anchor="t">
            <a:spAutoFit/>
          </a:bodyPr>
          <a:lstStyle/>
          <a:p>
            <a:pPr algn="l">
              <a:lnSpc>
                <a:spcPct val="110000"/>
              </a:lnSpc>
            </a:pPr>
            <a:r>
              <a:rPr sz="1500" b="1">
                <a:solidFill>
                  <a:srgbClr val="1A1416"/>
                </a:solidFill>
                <a:latin typeface="Poppins"/>
              </a:rPr>
              <a:t>Les femmes 18-35 ans</a:t>
            </a:r>
          </a:p>
        </p:txBody>
      </p:sp>
      <p:sp>
        <p:nvSpPr>
          <p:cNvPr id="12" name="TextBox 11"/>
          <p:cNvSpPr txBox="1"/>
          <p:nvPr/>
        </p:nvSpPr>
        <p:spPr>
          <a:xfrm>
            <a:off x="792000" y="4176000"/>
            <a:ext cx="3168000" cy="503999"/>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Biolight · Clear Therapy · Dermaskin · Cocopulp</a:t>
            </a:r>
          </a:p>
        </p:txBody>
      </p:sp>
      <p:sp>
        <p:nvSpPr>
          <p:cNvPr id="13" name="TextBox 12"/>
          <p:cNvSpPr txBox="1"/>
          <p:nvPr/>
        </p:nvSpPr>
        <p:spPr>
          <a:xfrm>
            <a:off x="792000" y="4680000"/>
            <a:ext cx="3168000" cy="1007999"/>
          </a:xfrm>
          <a:prstGeom prst="rect">
            <a:avLst/>
          </a:prstGeom>
          <a:noFill/>
        </p:spPr>
        <p:txBody>
          <a:bodyPr wrap="square" lIns="36000" rIns="36000" tIns="18000" bIns="18000" anchor="t">
            <a:spAutoFit/>
          </a:bodyPr>
          <a:lstStyle/>
          <a:p>
            <a:pPr algn="l">
              <a:lnSpc>
                <a:spcPct val="110000"/>
              </a:lnSpc>
            </a:pPr>
            <a:r>
              <a:rPr sz="1100" b="0">
                <a:solidFill>
                  <a:srgbClr val="6B6266"/>
                </a:solidFill>
                <a:latin typeface="Poppins"/>
              </a:rPr>
              <a:t>Cherchent une peau nette et lumineuse sans produit agressif. Suivent les maquilleuses et les tutos « glow ».</a:t>
            </a:r>
          </a:p>
        </p:txBody>
      </p:sp>
      <p:sp>
        <p:nvSpPr>
          <p:cNvPr id="14" name="Rounded Rectangle 13"/>
          <p:cNvSpPr/>
          <p:nvPr/>
        </p:nvSpPr>
        <p:spPr>
          <a:xfrm>
            <a:off x="792000" y="5903999"/>
            <a:ext cx="3096000" cy="288000"/>
          </a:xfrm>
          <a:prstGeom prst="roundRect">
            <a:avLst>
              <a:gd name="adj" fmla="val 50000"/>
            </a:avLst>
          </a:prstGeom>
          <a:solidFill>
            <a:srgbClr val="FB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2000" y="5903999"/>
            <a:ext cx="3096000" cy="288000"/>
          </a:xfrm>
          <a:prstGeom prst="rect">
            <a:avLst/>
          </a:prstGeom>
          <a:noFill/>
        </p:spPr>
        <p:txBody>
          <a:bodyPr wrap="square" lIns="36000" rIns="36000" tIns="18000" bIns="18000" anchor="ctr">
            <a:spAutoFit/>
          </a:bodyPr>
          <a:lstStyle/>
          <a:p>
            <a:pPr algn="ctr">
              <a:lnSpc>
                <a:spcPct val="110000"/>
              </a:lnSpc>
            </a:pPr>
            <a:r>
              <a:rPr sz="1000" b="1">
                <a:solidFill>
                  <a:srgbClr val="AE172A"/>
                </a:solidFill>
                <a:latin typeface="Poppins"/>
              </a:rPr>
              <a:t>TikTok · Instagram</a:t>
            </a:r>
          </a:p>
        </p:txBody>
      </p:sp>
      <p:sp>
        <p:nvSpPr>
          <p:cNvPr id="16" name="Rounded Rectangle 15"/>
          <p:cNvSpPr/>
          <p:nvPr/>
        </p:nvSpPr>
        <p:spPr>
          <a:xfrm>
            <a:off x="4320000" y="1584000"/>
            <a:ext cx="3564000" cy="4824000"/>
          </a:xfrm>
          <a:prstGeom prst="roundRect">
            <a:avLst>
              <a:gd name="adj" fmla="val 6000"/>
            </a:avLst>
          </a:prstGeom>
          <a:solidFill>
            <a:srgbClr val="FFFFFF"/>
          </a:solidFill>
          <a:ln w="9525">
            <a:solidFill>
              <a:srgbClr val="E8E1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baby.jpg"/>
          <p:cNvPicPr>
            <a:picLocks noChangeAspect="1"/>
          </p:cNvPicPr>
          <p:nvPr/>
        </p:nvPicPr>
        <p:blipFill>
          <a:blip r:embed="rId4"/>
          <a:srcRect t="13085" b="39255"/>
          <a:stretch>
            <a:fillRect/>
          </a:stretch>
        </p:blipFill>
        <p:spPr>
          <a:xfrm>
            <a:off x="4410000" y="1674000"/>
            <a:ext cx="3384000" cy="2015999"/>
          </a:xfrm>
          <a:prstGeom prst="rect">
            <a:avLst/>
          </a:prstGeom>
        </p:spPr>
      </p:pic>
      <p:sp>
        <p:nvSpPr>
          <p:cNvPr id="18" name="TextBox 17"/>
          <p:cNvSpPr txBox="1"/>
          <p:nvPr/>
        </p:nvSpPr>
        <p:spPr>
          <a:xfrm>
            <a:off x="4536000" y="3816000"/>
            <a:ext cx="3168000" cy="360000"/>
          </a:xfrm>
          <a:prstGeom prst="rect">
            <a:avLst/>
          </a:prstGeom>
          <a:noFill/>
        </p:spPr>
        <p:txBody>
          <a:bodyPr wrap="square" lIns="36000" rIns="36000" tIns="18000" bIns="18000" anchor="t">
            <a:spAutoFit/>
          </a:bodyPr>
          <a:lstStyle/>
          <a:p>
            <a:pPr algn="l">
              <a:lnSpc>
                <a:spcPct val="110000"/>
              </a:lnSpc>
            </a:pPr>
            <a:r>
              <a:rPr sz="1500" b="1">
                <a:solidFill>
                  <a:srgbClr val="1A1416"/>
                </a:solidFill>
                <a:latin typeface="Poppins"/>
              </a:rPr>
              <a:t>Les jeunes mamans</a:t>
            </a:r>
          </a:p>
        </p:txBody>
      </p:sp>
      <p:sp>
        <p:nvSpPr>
          <p:cNvPr id="19" name="TextBox 18"/>
          <p:cNvSpPr txBox="1"/>
          <p:nvPr/>
        </p:nvSpPr>
        <p:spPr>
          <a:xfrm>
            <a:off x="4536000" y="4176000"/>
            <a:ext cx="3168000" cy="503999"/>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Babymed · Day by Day Baby · Kids</a:t>
            </a:r>
          </a:p>
        </p:txBody>
      </p:sp>
      <p:sp>
        <p:nvSpPr>
          <p:cNvPr id="20" name="TextBox 19"/>
          <p:cNvSpPr txBox="1"/>
          <p:nvPr/>
        </p:nvSpPr>
        <p:spPr>
          <a:xfrm>
            <a:off x="4536000" y="4680000"/>
            <a:ext cx="3168000" cy="1007999"/>
          </a:xfrm>
          <a:prstGeom prst="rect">
            <a:avLst/>
          </a:prstGeom>
          <a:noFill/>
        </p:spPr>
        <p:txBody>
          <a:bodyPr wrap="square" lIns="36000" rIns="36000" tIns="18000" bIns="18000" anchor="t">
            <a:spAutoFit/>
          </a:bodyPr>
          <a:lstStyle/>
          <a:p>
            <a:pPr algn="l">
              <a:lnSpc>
                <a:spcPct val="110000"/>
              </a:lnSpc>
            </a:pPr>
            <a:r>
              <a:rPr sz="1100" b="0">
                <a:solidFill>
                  <a:srgbClr val="6B6266"/>
                </a:solidFill>
                <a:latin typeface="Poppins"/>
              </a:rPr>
              <a:t>Veulent des soins doux pour l’enfant, se fient aux conseils d’autres mamans.</a:t>
            </a:r>
          </a:p>
        </p:txBody>
      </p:sp>
      <p:sp>
        <p:nvSpPr>
          <p:cNvPr id="21" name="Rounded Rectangle 20"/>
          <p:cNvSpPr/>
          <p:nvPr/>
        </p:nvSpPr>
        <p:spPr>
          <a:xfrm>
            <a:off x="4536000" y="5903999"/>
            <a:ext cx="3096000" cy="288000"/>
          </a:xfrm>
          <a:prstGeom prst="roundRect">
            <a:avLst>
              <a:gd name="adj" fmla="val 50000"/>
            </a:avLst>
          </a:prstGeom>
          <a:solidFill>
            <a:srgbClr val="FB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36000" y="5903999"/>
            <a:ext cx="3096000" cy="288000"/>
          </a:xfrm>
          <a:prstGeom prst="rect">
            <a:avLst/>
          </a:prstGeom>
          <a:noFill/>
        </p:spPr>
        <p:txBody>
          <a:bodyPr wrap="square" lIns="36000" rIns="36000" tIns="18000" bIns="18000" anchor="ctr">
            <a:spAutoFit/>
          </a:bodyPr>
          <a:lstStyle/>
          <a:p>
            <a:pPr algn="ctr">
              <a:lnSpc>
                <a:spcPct val="110000"/>
              </a:lnSpc>
            </a:pPr>
            <a:r>
              <a:rPr sz="1000" b="1">
                <a:solidFill>
                  <a:srgbClr val="AE172A"/>
                </a:solidFill>
                <a:latin typeface="Poppins"/>
              </a:rPr>
              <a:t>TikTok · Facebook · WhatsApp</a:t>
            </a:r>
          </a:p>
        </p:txBody>
      </p:sp>
      <p:sp>
        <p:nvSpPr>
          <p:cNvPr id="23" name="Rounded Rectangle 22"/>
          <p:cNvSpPr/>
          <p:nvPr/>
        </p:nvSpPr>
        <p:spPr>
          <a:xfrm>
            <a:off x="8064000" y="1584000"/>
            <a:ext cx="3564000" cy="4824000"/>
          </a:xfrm>
          <a:prstGeom prst="roundRect">
            <a:avLst>
              <a:gd name="adj" fmla="val 6000"/>
            </a:avLst>
          </a:prstGeom>
          <a:solidFill>
            <a:srgbClr val="FFFFFF"/>
          </a:solidFill>
          <a:ln w="9525">
            <a:solidFill>
              <a:srgbClr val="E8E1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men.jpg"/>
          <p:cNvPicPr>
            <a:picLocks noChangeAspect="1"/>
          </p:cNvPicPr>
          <p:nvPr/>
        </p:nvPicPr>
        <p:blipFill>
          <a:blip r:embed="rId5"/>
          <a:srcRect t="13085" b="39255"/>
          <a:stretch>
            <a:fillRect/>
          </a:stretch>
        </p:blipFill>
        <p:spPr>
          <a:xfrm>
            <a:off x="8154000" y="1674000"/>
            <a:ext cx="3384000" cy="2015999"/>
          </a:xfrm>
          <a:prstGeom prst="rect">
            <a:avLst/>
          </a:prstGeom>
        </p:spPr>
      </p:pic>
      <p:sp>
        <p:nvSpPr>
          <p:cNvPr id="25" name="TextBox 24"/>
          <p:cNvSpPr txBox="1"/>
          <p:nvPr/>
        </p:nvSpPr>
        <p:spPr>
          <a:xfrm>
            <a:off x="8280000" y="3816000"/>
            <a:ext cx="3168000" cy="360000"/>
          </a:xfrm>
          <a:prstGeom prst="rect">
            <a:avLst/>
          </a:prstGeom>
          <a:noFill/>
        </p:spPr>
        <p:txBody>
          <a:bodyPr wrap="square" lIns="36000" rIns="36000" tIns="18000" bIns="18000" anchor="t">
            <a:spAutoFit/>
          </a:bodyPr>
          <a:lstStyle/>
          <a:p>
            <a:pPr algn="l">
              <a:lnSpc>
                <a:spcPct val="110000"/>
              </a:lnSpc>
            </a:pPr>
            <a:r>
              <a:rPr sz="1500" b="1">
                <a:solidFill>
                  <a:srgbClr val="1A1416"/>
                </a:solidFill>
                <a:latin typeface="Poppins"/>
              </a:rPr>
              <a:t>Les hommes 20-40 ans</a:t>
            </a:r>
          </a:p>
        </p:txBody>
      </p:sp>
      <p:sp>
        <p:nvSpPr>
          <p:cNvPr id="26" name="TextBox 25"/>
          <p:cNvSpPr txBox="1"/>
          <p:nvPr/>
        </p:nvSpPr>
        <p:spPr>
          <a:xfrm>
            <a:off x="8280000" y="4176000"/>
            <a:ext cx="3168000" cy="503999"/>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Day by Day Men</a:t>
            </a:r>
          </a:p>
        </p:txBody>
      </p:sp>
      <p:sp>
        <p:nvSpPr>
          <p:cNvPr id="27" name="TextBox 26"/>
          <p:cNvSpPr txBox="1"/>
          <p:nvPr/>
        </p:nvSpPr>
        <p:spPr>
          <a:xfrm>
            <a:off x="8280000" y="4680000"/>
            <a:ext cx="3168000" cy="1007999"/>
          </a:xfrm>
          <a:prstGeom prst="rect">
            <a:avLst/>
          </a:prstGeom>
          <a:noFill/>
        </p:spPr>
        <p:txBody>
          <a:bodyPr wrap="square" lIns="36000" rIns="36000" tIns="18000" bIns="18000" anchor="t">
            <a:spAutoFit/>
          </a:bodyPr>
          <a:lstStyle/>
          <a:p>
            <a:pPr algn="l">
              <a:lnSpc>
                <a:spcPct val="110000"/>
              </a:lnSpc>
            </a:pPr>
            <a:r>
              <a:rPr sz="1100" b="0">
                <a:solidFill>
                  <a:srgbClr val="6B6266"/>
                </a:solidFill>
                <a:latin typeface="Poppins"/>
              </a:rPr>
              <a:t>Soin et parfum au quotidien, achat rapide en boutique ou supermarché.</a:t>
            </a:r>
          </a:p>
        </p:txBody>
      </p:sp>
      <p:sp>
        <p:nvSpPr>
          <p:cNvPr id="28" name="Rounded Rectangle 27"/>
          <p:cNvSpPr/>
          <p:nvPr/>
        </p:nvSpPr>
        <p:spPr>
          <a:xfrm>
            <a:off x="8280000" y="5903999"/>
            <a:ext cx="3096000" cy="288000"/>
          </a:xfrm>
          <a:prstGeom prst="roundRect">
            <a:avLst>
              <a:gd name="adj" fmla="val 50000"/>
            </a:avLst>
          </a:prstGeom>
          <a:solidFill>
            <a:srgbClr val="FB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80000" y="5903999"/>
            <a:ext cx="3096000" cy="288000"/>
          </a:xfrm>
          <a:prstGeom prst="rect">
            <a:avLst/>
          </a:prstGeom>
          <a:noFill/>
        </p:spPr>
        <p:txBody>
          <a:bodyPr wrap="square" lIns="36000" rIns="36000" tIns="18000" bIns="18000" anchor="ctr">
            <a:spAutoFit/>
          </a:bodyPr>
          <a:lstStyle/>
          <a:p>
            <a:pPr algn="ctr">
              <a:lnSpc>
                <a:spcPct val="110000"/>
              </a:lnSpc>
            </a:pPr>
            <a:r>
              <a:rPr sz="1000" b="1">
                <a:solidFill>
                  <a:srgbClr val="AE172A"/>
                </a:solidFill>
                <a:latin typeface="Poppins"/>
              </a:rPr>
              <a:t>TikTok · Instagram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0000" cy="6858000"/>
          </a:xfrm>
          <a:prstGeom prst="rect">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0248119" y="257639"/>
            <a:ext cx="1584000" cy="492718"/>
          </a:xfrm>
          <a:prstGeom prst="rect">
            <a:avLst/>
          </a:prstGeom>
        </p:spPr>
      </p:pic>
      <p:sp>
        <p:nvSpPr>
          <p:cNvPr id="4" name="TextBox 3"/>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04 · LES CRÉATEURS</a:t>
            </a:r>
          </a:p>
        </p:txBody>
      </p:sp>
      <p:sp>
        <p:nvSpPr>
          <p:cNvPr id="5" name="TextBox 4"/>
          <p:cNvSpPr txBox="1"/>
          <p:nvPr/>
        </p:nvSpPr>
        <p:spPr>
          <a:xfrm>
            <a:off x="576000" y="576000"/>
            <a:ext cx="9360000" cy="720000"/>
          </a:xfrm>
          <a:prstGeom prst="rect">
            <a:avLst/>
          </a:prstGeom>
          <a:noFill/>
        </p:spPr>
        <p:txBody>
          <a:bodyPr wrap="square" lIns="36000" rIns="36000" tIns="18000" bIns="18000" anchor="t">
            <a:spAutoFit/>
          </a:bodyPr>
          <a:lstStyle/>
          <a:p>
            <a:pPr algn="l">
              <a:lnSpc>
                <a:spcPct val="110000"/>
              </a:lnSpc>
            </a:pPr>
            <a:r>
              <a:rPr sz="2500" b="1">
                <a:solidFill>
                  <a:srgbClr val="1A1416"/>
                </a:solidFill>
                <a:latin typeface="Poppins"/>
              </a:rPr>
              <a:t>Une pyramide de créateurs, pas une seule star</a:t>
            </a:r>
          </a:p>
        </p:txBody>
      </p:sp>
      <p:sp>
        <p:nvSpPr>
          <p:cNvPr id="6" name="Rectangle 5"/>
          <p:cNvSpPr/>
          <p:nvPr/>
        </p:nvSpPr>
        <p:spPr>
          <a:xfrm>
            <a:off x="576000" y="1278000"/>
            <a:ext cx="792000" cy="50400"/>
          </a:xfrm>
          <a:prstGeom prst="rect">
            <a:avLst/>
          </a:prstGeom>
          <a:solidFill>
            <a:srgbClr val="FF8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12000" y="1188000"/>
            <a:ext cx="9000000" cy="251999"/>
          </a:xfrm>
          <a:prstGeom prst="rect">
            <a:avLst/>
          </a:prstGeom>
          <a:noFill/>
        </p:spPr>
        <p:txBody>
          <a:bodyPr wrap="square" lIns="36000" rIns="36000" tIns="18000" bIns="18000" anchor="t">
            <a:spAutoFit/>
          </a:bodyPr>
          <a:lstStyle/>
          <a:p>
            <a:pPr algn="l">
              <a:lnSpc>
                <a:spcPct val="110000"/>
              </a:lnSpc>
            </a:pPr>
            <a:r>
              <a:rPr sz="1150" b="0">
                <a:solidFill>
                  <a:srgbClr val="6B6266"/>
                </a:solidFill>
                <a:latin typeface="Poppins"/>
              </a:rPr>
              <a:t>Un visage pour la portée, des expertes pour la crédibilité, beaucoup de petits comptes pour la preuve</a:t>
            </a:r>
          </a:p>
        </p:txBody>
      </p:sp>
      <p:sp>
        <p:nvSpPr>
          <p:cNvPr id="8" name="TextBox 7"/>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7 / 22</a:t>
            </a:r>
          </a:p>
        </p:txBody>
      </p:sp>
      <p:sp>
        <p:nvSpPr>
          <p:cNvPr id="9" name="TextBox 8"/>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sp>
        <p:nvSpPr>
          <p:cNvPr id="10" name="Rounded Rectangle 9"/>
          <p:cNvSpPr/>
          <p:nvPr/>
        </p:nvSpPr>
        <p:spPr>
          <a:xfrm>
            <a:off x="3060000" y="1620000"/>
            <a:ext cx="3240000" cy="1260000"/>
          </a:xfrm>
          <a:prstGeom prst="roundRect">
            <a:avLst>
              <a:gd name="adj" fmla="val 15000"/>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60000" y="1620000"/>
            <a:ext cx="3240000" cy="1260000"/>
          </a:xfrm>
          <a:prstGeom prst="rect">
            <a:avLst/>
          </a:prstGeom>
          <a:noFill/>
        </p:spPr>
        <p:txBody>
          <a:bodyPr wrap="square" lIns="36000" rIns="36000" tIns="18000" bIns="18000" anchor="ctr">
            <a:spAutoFit/>
          </a:bodyPr>
          <a:lstStyle/>
          <a:p>
            <a:pPr algn="ctr">
              <a:lnSpc>
                <a:spcPct val="110000"/>
              </a:lnSpc>
            </a:pPr>
            <a:r>
              <a:rPr sz="2400" b="1">
                <a:solidFill>
                  <a:srgbClr val="FFFFFF"/>
                </a:solidFill>
                <a:latin typeface="Poppins"/>
              </a:rPr>
              <a:t>1</a:t>
            </a:r>
          </a:p>
          <a:p>
            <a:pPr algn="ctr">
              <a:lnSpc>
                <a:spcPct val="110000"/>
              </a:lnSpc>
              <a:spcBef>
                <a:spcPts val="500"/>
              </a:spcBef>
            </a:pPr>
            <a:r>
              <a:rPr sz="1150" b="1">
                <a:solidFill>
                  <a:srgbClr val="FFFFFF"/>
                </a:solidFill>
                <a:latin typeface="Poppins"/>
              </a:rPr>
              <a:t>Tête d’affiche · plus d’un million d’abonnés</a:t>
            </a:r>
          </a:p>
        </p:txBody>
      </p:sp>
      <p:sp>
        <p:nvSpPr>
          <p:cNvPr id="12" name="TextBox 11"/>
          <p:cNvSpPr txBox="1"/>
          <p:nvPr/>
        </p:nvSpPr>
        <p:spPr>
          <a:xfrm>
            <a:off x="8712000" y="1800000"/>
            <a:ext cx="2951999" cy="1080000"/>
          </a:xfrm>
          <a:prstGeom prst="rect">
            <a:avLst/>
          </a:prstGeom>
          <a:noFill/>
        </p:spPr>
        <p:txBody>
          <a:bodyPr wrap="square" lIns="36000" rIns="36000" tIns="18000" bIns="18000" anchor="t">
            <a:spAutoFit/>
          </a:bodyPr>
          <a:lstStyle/>
          <a:p>
            <a:pPr algn="l">
              <a:lnSpc>
                <a:spcPct val="110000"/>
              </a:lnSpc>
            </a:pPr>
            <a:r>
              <a:rPr sz="1200" b="0">
                <a:solidFill>
                  <a:srgbClr val="1A1416"/>
                </a:solidFill>
                <a:latin typeface="Poppins"/>
              </a:rPr>
              <a:t>Lance le défi en semaine 1, donne la portée.</a:t>
            </a:r>
          </a:p>
        </p:txBody>
      </p:sp>
      <p:sp>
        <p:nvSpPr>
          <p:cNvPr id="13" name="Rounded Rectangle 12"/>
          <p:cNvSpPr/>
          <p:nvPr/>
        </p:nvSpPr>
        <p:spPr>
          <a:xfrm>
            <a:off x="1980000" y="3060000"/>
            <a:ext cx="5400000" cy="1260000"/>
          </a:xfrm>
          <a:prstGeom prst="roundRect">
            <a:avLst>
              <a:gd name="adj" fmla="val 15000"/>
            </a:avLst>
          </a:prstGeom>
          <a:solidFill>
            <a:srgbClr val="D24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0000" y="3060000"/>
            <a:ext cx="5400000" cy="1260000"/>
          </a:xfrm>
          <a:prstGeom prst="rect">
            <a:avLst/>
          </a:prstGeom>
          <a:noFill/>
        </p:spPr>
        <p:txBody>
          <a:bodyPr wrap="square" lIns="36000" rIns="36000" tIns="18000" bIns="18000" anchor="ctr">
            <a:spAutoFit/>
          </a:bodyPr>
          <a:lstStyle/>
          <a:p>
            <a:pPr algn="ctr">
              <a:lnSpc>
                <a:spcPct val="110000"/>
              </a:lnSpc>
            </a:pPr>
            <a:r>
              <a:rPr sz="2400" b="1">
                <a:solidFill>
                  <a:srgbClr val="FFFFFF"/>
                </a:solidFill>
                <a:latin typeface="Poppins"/>
              </a:rPr>
              <a:t>4</a:t>
            </a:r>
          </a:p>
          <a:p>
            <a:pPr algn="ctr">
              <a:lnSpc>
                <a:spcPct val="110000"/>
              </a:lnSpc>
              <a:spcBef>
                <a:spcPts val="500"/>
              </a:spcBef>
            </a:pPr>
            <a:r>
              <a:rPr sz="1150" b="1">
                <a:solidFill>
                  <a:srgbClr val="FFFFFF"/>
                </a:solidFill>
                <a:latin typeface="Poppins"/>
              </a:rPr>
              <a:t>Expertes beauté et mamans · 100 000 à 1 million</a:t>
            </a:r>
          </a:p>
        </p:txBody>
      </p:sp>
      <p:sp>
        <p:nvSpPr>
          <p:cNvPr id="15" name="TextBox 14"/>
          <p:cNvSpPr txBox="1"/>
          <p:nvPr/>
        </p:nvSpPr>
        <p:spPr>
          <a:xfrm>
            <a:off x="8712000" y="3240000"/>
            <a:ext cx="2951999" cy="1080000"/>
          </a:xfrm>
          <a:prstGeom prst="rect">
            <a:avLst/>
          </a:prstGeom>
          <a:noFill/>
        </p:spPr>
        <p:txBody>
          <a:bodyPr wrap="square" lIns="36000" rIns="36000" tIns="18000" bIns="18000" anchor="t">
            <a:spAutoFit/>
          </a:bodyPr>
          <a:lstStyle/>
          <a:p>
            <a:pPr algn="l">
              <a:lnSpc>
                <a:spcPct val="110000"/>
              </a:lnSpc>
            </a:pPr>
            <a:r>
              <a:rPr sz="1200" b="0">
                <a:solidFill>
                  <a:srgbClr val="1A1416"/>
                </a:solidFill>
                <a:latin typeface="Poppins"/>
              </a:rPr>
              <a:t>Montrent le produit en vrai, tiennent le discours de preuve.</a:t>
            </a:r>
          </a:p>
        </p:txBody>
      </p:sp>
      <p:sp>
        <p:nvSpPr>
          <p:cNvPr id="16" name="Rounded Rectangle 15"/>
          <p:cNvSpPr/>
          <p:nvPr/>
        </p:nvSpPr>
        <p:spPr>
          <a:xfrm>
            <a:off x="900000" y="4500000"/>
            <a:ext cx="7560000" cy="1260000"/>
          </a:xfrm>
          <a:prstGeom prst="roundRect">
            <a:avLst>
              <a:gd name="adj" fmla="val 15000"/>
            </a:avLst>
          </a:prstGeom>
          <a:solidFill>
            <a:srgbClr val="FF8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000" y="4500000"/>
            <a:ext cx="7560000" cy="1260000"/>
          </a:xfrm>
          <a:prstGeom prst="rect">
            <a:avLst/>
          </a:prstGeom>
          <a:noFill/>
        </p:spPr>
        <p:txBody>
          <a:bodyPr wrap="square" lIns="36000" rIns="36000" tIns="18000" bIns="18000" anchor="ctr">
            <a:spAutoFit/>
          </a:bodyPr>
          <a:lstStyle/>
          <a:p>
            <a:pPr algn="ctr">
              <a:lnSpc>
                <a:spcPct val="110000"/>
              </a:lnSpc>
            </a:pPr>
            <a:r>
              <a:rPr sz="2400" b="1">
                <a:solidFill>
                  <a:srgbClr val="FFFFFF"/>
                </a:solidFill>
                <a:latin typeface="Poppins"/>
              </a:rPr>
              <a:t>15 à 20</a:t>
            </a:r>
          </a:p>
          <a:p>
            <a:pPr algn="ctr">
              <a:lnSpc>
                <a:spcPct val="110000"/>
              </a:lnSpc>
              <a:spcBef>
                <a:spcPts val="500"/>
              </a:spcBef>
            </a:pPr>
            <a:r>
              <a:rPr sz="1150" b="1">
                <a:solidFill>
                  <a:srgbClr val="FFFFFF"/>
                </a:solidFill>
                <a:latin typeface="Poppins"/>
              </a:rPr>
              <a:t>Petits comptes · moins de 50 000</a:t>
            </a:r>
          </a:p>
        </p:txBody>
      </p:sp>
      <p:sp>
        <p:nvSpPr>
          <p:cNvPr id="18" name="TextBox 17"/>
          <p:cNvSpPr txBox="1"/>
          <p:nvPr/>
        </p:nvSpPr>
        <p:spPr>
          <a:xfrm>
            <a:off x="8712000" y="4680000"/>
            <a:ext cx="2951999" cy="1080000"/>
          </a:xfrm>
          <a:prstGeom prst="rect">
            <a:avLst/>
          </a:prstGeom>
          <a:noFill/>
        </p:spPr>
        <p:txBody>
          <a:bodyPr wrap="square" lIns="36000" rIns="36000" tIns="18000" bIns="18000" anchor="t">
            <a:spAutoFit/>
          </a:bodyPr>
          <a:lstStyle/>
          <a:p>
            <a:pPr algn="l">
              <a:lnSpc>
                <a:spcPct val="110000"/>
              </a:lnSpc>
            </a:pPr>
            <a:r>
              <a:rPr sz="1200" b="0">
                <a:solidFill>
                  <a:srgbClr val="1A1416"/>
                </a:solidFill>
                <a:latin typeface="Poppins"/>
              </a:rPr>
              <a:t>Font du volume, avis sincères, coût par vue bas.</a:t>
            </a:r>
          </a:p>
        </p:txBody>
      </p:sp>
      <p:sp>
        <p:nvSpPr>
          <p:cNvPr id="19" name="Rounded Rectangle 18"/>
          <p:cNvSpPr/>
          <p:nvPr/>
        </p:nvSpPr>
        <p:spPr>
          <a:xfrm>
            <a:off x="576000" y="6030000"/>
            <a:ext cx="11052000" cy="396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0000" y="6030000"/>
            <a:ext cx="10800000" cy="396000"/>
          </a:xfrm>
          <a:prstGeom prst="rect">
            <a:avLst/>
          </a:prstGeom>
          <a:noFill/>
        </p:spPr>
        <p:txBody>
          <a:bodyPr wrap="square" lIns="36000" rIns="36000" tIns="18000" bIns="18000" anchor="ctr">
            <a:spAutoFit/>
          </a:bodyPr>
          <a:lstStyle/>
          <a:p>
            <a:pPr algn="l">
              <a:lnSpc>
                <a:spcPct val="110000"/>
              </a:lnSpc>
            </a:pPr>
            <a:r>
              <a:rPr sz="1050" b="0">
                <a:solidFill>
                  <a:srgbClr val="6B6266"/>
                </a:solidFill>
                <a:latin typeface="Poppins"/>
              </a:rPr>
              <a:t>Les petits comptes sont repérés au lancement parmi celles et ceux qui achètent déjà Dream et en parlent (commentaires, mentions).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00000" cy="6858000"/>
          </a:xfrm>
          <a:prstGeom prst="rect">
            <a:avLst/>
          </a:prstGeom>
          <a:solidFill>
            <a:srgbClr val="2A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v_braising_girl.jpg"/>
          <p:cNvPicPr>
            <a:picLocks noChangeAspect="1"/>
          </p:cNvPicPr>
          <p:nvPr/>
        </p:nvPicPr>
        <p:blipFill>
          <a:blip r:embed="rId2"/>
          <a:stretch>
            <a:fillRect/>
          </a:stretch>
        </p:blipFill>
        <p:spPr>
          <a:xfrm>
            <a:off x="666000" y="846000"/>
            <a:ext cx="3168000" cy="3168000"/>
          </a:xfrm>
          <a:prstGeom prst="rect">
            <a:avLst/>
          </a:prstGeom>
        </p:spPr>
      </p:pic>
      <p:sp>
        <p:nvSpPr>
          <p:cNvPr id="4" name="TextBox 3"/>
          <p:cNvSpPr txBox="1"/>
          <p:nvPr/>
        </p:nvSpPr>
        <p:spPr>
          <a:xfrm>
            <a:off x="288000" y="4176000"/>
            <a:ext cx="3924000" cy="432000"/>
          </a:xfrm>
          <a:prstGeom prst="rect">
            <a:avLst/>
          </a:prstGeom>
          <a:noFill/>
        </p:spPr>
        <p:txBody>
          <a:bodyPr wrap="square" lIns="36000" rIns="36000" tIns="18000" bIns="18000" anchor="t">
            <a:spAutoFit/>
          </a:bodyPr>
          <a:lstStyle/>
          <a:p>
            <a:pPr algn="ctr">
              <a:lnSpc>
                <a:spcPct val="110000"/>
              </a:lnSpc>
            </a:pPr>
            <a:r>
              <a:rPr sz="2200" b="1">
                <a:solidFill>
                  <a:srgbClr val="FFFFFF"/>
                </a:solidFill>
                <a:latin typeface="Poppins"/>
              </a:rPr>
              <a:t>Braising Girl</a:t>
            </a:r>
          </a:p>
        </p:txBody>
      </p:sp>
      <p:sp>
        <p:nvSpPr>
          <p:cNvPr id="5" name="TextBox 4"/>
          <p:cNvSpPr txBox="1"/>
          <p:nvPr/>
        </p:nvSpPr>
        <p:spPr>
          <a:xfrm>
            <a:off x="288000" y="4644000"/>
            <a:ext cx="3924000" cy="288000"/>
          </a:xfrm>
          <a:prstGeom prst="rect">
            <a:avLst/>
          </a:prstGeom>
          <a:noFill/>
        </p:spPr>
        <p:txBody>
          <a:bodyPr wrap="square" lIns="36000" rIns="36000" tIns="18000" bIns="18000" anchor="t">
            <a:spAutoFit/>
          </a:bodyPr>
          <a:lstStyle/>
          <a:p>
            <a:pPr algn="ctr">
              <a:lnSpc>
                <a:spcPct val="110000"/>
              </a:lnSpc>
            </a:pPr>
            <a:r>
              <a:rPr sz="1100" b="0">
                <a:solidFill>
                  <a:srgbClr val="F3DADD"/>
                </a:solidFill>
                <a:latin typeface="Poppins"/>
              </a:rPr>
              <a:t>tiktok.com/@braising_girl</a:t>
            </a:r>
          </a:p>
        </p:txBody>
      </p:sp>
      <p:sp>
        <p:nvSpPr>
          <p:cNvPr id="6" name="Rounded Rectangle 5"/>
          <p:cNvSpPr/>
          <p:nvPr/>
        </p:nvSpPr>
        <p:spPr>
          <a:xfrm>
            <a:off x="1170000" y="5076000"/>
            <a:ext cx="2160000" cy="342000"/>
          </a:xfrm>
          <a:prstGeom prst="roundRect">
            <a:avLst>
              <a:gd name="adj" fmla="val 50000"/>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000" y="5076000"/>
            <a:ext cx="2160000" cy="342000"/>
          </a:xfrm>
          <a:prstGeom prst="rect">
            <a:avLst/>
          </a:prstGeom>
          <a:noFill/>
        </p:spPr>
        <p:txBody>
          <a:bodyPr wrap="square" lIns="36000" rIns="36000" tIns="18000" bIns="18000" anchor="ctr">
            <a:spAutoFit/>
          </a:bodyPr>
          <a:lstStyle/>
          <a:p>
            <a:pPr algn="ctr">
              <a:lnSpc>
                <a:spcPct val="110000"/>
              </a:lnSpc>
            </a:pPr>
            <a:r>
              <a:rPr sz="1100" b="1">
                <a:solidFill>
                  <a:srgbClr val="FFFFFF"/>
                </a:solidFill>
                <a:latin typeface="Poppins"/>
              </a:rPr>
              <a:t>Tête d’affiche</a:t>
            </a:r>
          </a:p>
        </p:txBody>
      </p:sp>
      <p:sp>
        <p:nvSpPr>
          <p:cNvPr id="8" name="TextBox 7"/>
          <p:cNvSpPr txBox="1"/>
          <p:nvPr/>
        </p:nvSpPr>
        <p:spPr>
          <a:xfrm>
            <a:off x="288000" y="5616000"/>
            <a:ext cx="3924000" cy="576000"/>
          </a:xfrm>
          <a:prstGeom prst="rect">
            <a:avLst/>
          </a:prstGeom>
          <a:noFill/>
        </p:spPr>
        <p:txBody>
          <a:bodyPr wrap="square" lIns="36000" rIns="36000" tIns="18000" bIns="18000" anchor="t">
            <a:spAutoFit/>
          </a:bodyPr>
          <a:lstStyle/>
          <a:p>
            <a:pPr algn="ctr">
              <a:lnSpc>
                <a:spcPct val="110000"/>
              </a:lnSpc>
            </a:pPr>
            <a:r>
              <a:rPr sz="1100" b="1">
                <a:solidFill>
                  <a:srgbClr val="FFFFFF"/>
                </a:solidFill>
                <a:latin typeface="Poppins"/>
              </a:rPr>
              <a:t>Lancement · toutes gammes</a:t>
            </a:r>
          </a:p>
        </p:txBody>
      </p:sp>
      <p:pic>
        <p:nvPicPr>
          <p:cNvPr id="9" name="Picture 8" descr="logo.png"/>
          <p:cNvPicPr>
            <a:picLocks noChangeAspect="1"/>
          </p:cNvPicPr>
          <p:nvPr/>
        </p:nvPicPr>
        <p:blipFill>
          <a:blip r:embed="rId3"/>
          <a:stretch>
            <a:fillRect/>
          </a:stretch>
        </p:blipFill>
        <p:spPr>
          <a:xfrm>
            <a:off x="10248119" y="257639"/>
            <a:ext cx="1584000" cy="492718"/>
          </a:xfrm>
          <a:prstGeom prst="rect">
            <a:avLst/>
          </a:prstGeom>
        </p:spPr>
      </p:pic>
      <p:sp>
        <p:nvSpPr>
          <p:cNvPr id="10" name="TextBox 9"/>
          <p:cNvSpPr txBox="1"/>
          <p:nvPr/>
        </p:nvSpPr>
        <p:spPr>
          <a:xfrm>
            <a:off x="4896000" y="324000"/>
            <a:ext cx="504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04 · CRÉATEUR 1 SUR 8</a:t>
            </a:r>
          </a:p>
        </p:txBody>
      </p:sp>
      <p:sp>
        <p:nvSpPr>
          <p:cNvPr id="11" name="TextBox 10"/>
          <p:cNvSpPr txBox="1"/>
          <p:nvPr/>
        </p:nvSpPr>
        <p:spPr>
          <a:xfrm>
            <a:off x="4896000" y="576000"/>
            <a:ext cx="5220000" cy="936000"/>
          </a:xfrm>
          <a:prstGeom prst="rect">
            <a:avLst/>
          </a:prstGeom>
          <a:noFill/>
        </p:spPr>
        <p:txBody>
          <a:bodyPr wrap="square" lIns="36000" rIns="36000" tIns="18000" bIns="18000" anchor="t">
            <a:spAutoFit/>
          </a:bodyPr>
          <a:lstStyle/>
          <a:p>
            <a:pPr algn="l">
              <a:lnSpc>
                <a:spcPct val="110000"/>
              </a:lnSpc>
            </a:pPr>
            <a:r>
              <a:rPr sz="1300" b="1">
                <a:solidFill>
                  <a:srgbClr val="1A1416"/>
                </a:solidFill>
                <a:latin typeface="Poppins"/>
              </a:rPr>
              <a:t>Animatrice et web-humoriste. Compte officiel de Braising Girl.</a:t>
            </a:r>
          </a:p>
        </p:txBody>
      </p:sp>
      <p:sp>
        <p:nvSpPr>
          <p:cNvPr id="12" name="Rounded Rectangle 11"/>
          <p:cNvSpPr/>
          <p:nvPr/>
        </p:nvSpPr>
        <p:spPr>
          <a:xfrm>
            <a:off x="489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users_dr.png"/>
          <p:cNvPicPr>
            <a:picLocks noChangeAspect="1"/>
          </p:cNvPicPr>
          <p:nvPr/>
        </p:nvPicPr>
        <p:blipFill>
          <a:blip r:embed="rId4"/>
          <a:stretch>
            <a:fillRect/>
          </a:stretch>
        </p:blipFill>
        <p:spPr>
          <a:xfrm>
            <a:off x="5040000" y="1710000"/>
            <a:ext cx="324000" cy="324000"/>
          </a:xfrm>
          <a:prstGeom prst="rect">
            <a:avLst/>
          </a:prstGeom>
        </p:spPr>
      </p:pic>
      <p:sp>
        <p:nvSpPr>
          <p:cNvPr id="14" name="TextBox 13"/>
          <p:cNvSpPr txBox="1"/>
          <p:nvPr/>
        </p:nvSpPr>
        <p:spPr>
          <a:xfrm>
            <a:off x="502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1,5 M</a:t>
            </a:r>
          </a:p>
        </p:txBody>
      </p:sp>
      <p:sp>
        <p:nvSpPr>
          <p:cNvPr id="15" name="TextBox 14"/>
          <p:cNvSpPr txBox="1"/>
          <p:nvPr/>
        </p:nvSpPr>
        <p:spPr>
          <a:xfrm>
            <a:off x="502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abonnés</a:t>
            </a:r>
          </a:p>
        </p:txBody>
      </p:sp>
      <p:sp>
        <p:nvSpPr>
          <p:cNvPr id="16" name="Rounded Rectangle 15"/>
          <p:cNvSpPr/>
          <p:nvPr/>
        </p:nvSpPr>
        <p:spPr>
          <a:xfrm>
            <a:off x="660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heart_dr.png"/>
          <p:cNvPicPr>
            <a:picLocks noChangeAspect="1"/>
          </p:cNvPicPr>
          <p:nvPr/>
        </p:nvPicPr>
        <p:blipFill>
          <a:blip r:embed="rId5"/>
          <a:stretch>
            <a:fillRect/>
          </a:stretch>
        </p:blipFill>
        <p:spPr>
          <a:xfrm>
            <a:off x="6750000" y="1710000"/>
            <a:ext cx="324000" cy="324000"/>
          </a:xfrm>
          <a:prstGeom prst="rect">
            <a:avLst/>
          </a:prstGeom>
        </p:spPr>
      </p:pic>
      <p:sp>
        <p:nvSpPr>
          <p:cNvPr id="18" name="TextBox 17"/>
          <p:cNvSpPr txBox="1"/>
          <p:nvPr/>
        </p:nvSpPr>
        <p:spPr>
          <a:xfrm>
            <a:off x="673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11 M</a:t>
            </a:r>
          </a:p>
        </p:txBody>
      </p:sp>
      <p:sp>
        <p:nvSpPr>
          <p:cNvPr id="19" name="TextBox 18"/>
          <p:cNvSpPr txBox="1"/>
          <p:nvPr/>
        </p:nvSpPr>
        <p:spPr>
          <a:xfrm>
            <a:off x="673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J’aime cumulés</a:t>
            </a:r>
          </a:p>
        </p:txBody>
      </p:sp>
      <p:sp>
        <p:nvSpPr>
          <p:cNvPr id="20" name="Rounded Rectangle 19"/>
          <p:cNvSpPr/>
          <p:nvPr/>
        </p:nvSpPr>
        <p:spPr>
          <a:xfrm>
            <a:off x="831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ye_dr.png"/>
          <p:cNvPicPr>
            <a:picLocks noChangeAspect="1"/>
          </p:cNvPicPr>
          <p:nvPr/>
        </p:nvPicPr>
        <p:blipFill>
          <a:blip r:embed="rId6"/>
          <a:stretch>
            <a:fillRect/>
          </a:stretch>
        </p:blipFill>
        <p:spPr>
          <a:xfrm>
            <a:off x="8460000" y="1710000"/>
            <a:ext cx="324000" cy="324000"/>
          </a:xfrm>
          <a:prstGeom prst="rect">
            <a:avLst/>
          </a:prstGeom>
        </p:spPr>
      </p:pic>
      <p:sp>
        <p:nvSpPr>
          <p:cNvPr id="22" name="TextBox 21"/>
          <p:cNvSpPr txBox="1"/>
          <p:nvPr/>
        </p:nvSpPr>
        <p:spPr>
          <a:xfrm>
            <a:off x="844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685 700</a:t>
            </a:r>
          </a:p>
        </p:txBody>
      </p:sp>
      <p:sp>
        <p:nvSpPr>
          <p:cNvPr id="23" name="TextBox 22"/>
          <p:cNvSpPr txBox="1"/>
          <p:nvPr/>
        </p:nvSpPr>
        <p:spPr>
          <a:xfrm>
            <a:off x="844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vues moyennes</a:t>
            </a:r>
          </a:p>
        </p:txBody>
      </p:sp>
      <p:sp>
        <p:nvSpPr>
          <p:cNvPr id="24" name="Rounded Rectangle 23"/>
          <p:cNvSpPr/>
          <p:nvPr/>
        </p:nvSpPr>
        <p:spPr>
          <a:xfrm>
            <a:off x="1002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trending-up_dr.png"/>
          <p:cNvPicPr>
            <a:picLocks noChangeAspect="1"/>
          </p:cNvPicPr>
          <p:nvPr/>
        </p:nvPicPr>
        <p:blipFill>
          <a:blip r:embed="rId7"/>
          <a:stretch>
            <a:fillRect/>
          </a:stretch>
        </p:blipFill>
        <p:spPr>
          <a:xfrm>
            <a:off x="10170000" y="1710000"/>
            <a:ext cx="324000" cy="324000"/>
          </a:xfrm>
          <a:prstGeom prst="rect">
            <a:avLst/>
          </a:prstGeom>
        </p:spPr>
      </p:pic>
      <p:sp>
        <p:nvSpPr>
          <p:cNvPr id="26" name="TextBox 25"/>
          <p:cNvSpPr txBox="1"/>
          <p:nvPr/>
        </p:nvSpPr>
        <p:spPr>
          <a:xfrm>
            <a:off x="1015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3,0 %</a:t>
            </a:r>
          </a:p>
        </p:txBody>
      </p:sp>
      <p:sp>
        <p:nvSpPr>
          <p:cNvPr id="27" name="TextBox 26"/>
          <p:cNvSpPr txBox="1"/>
          <p:nvPr/>
        </p:nvSpPr>
        <p:spPr>
          <a:xfrm>
            <a:off x="1015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engagement</a:t>
            </a:r>
          </a:p>
        </p:txBody>
      </p:sp>
      <p:sp>
        <p:nvSpPr>
          <p:cNvPr id="28" name="Rounded Rectangle 27"/>
          <p:cNvSpPr/>
          <p:nvPr/>
        </p:nvSpPr>
        <p:spPr>
          <a:xfrm>
            <a:off x="4896000" y="3060000"/>
            <a:ext cx="6732000" cy="1332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076000" y="3240000"/>
            <a:ext cx="468000" cy="4680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ircle-check_bl.png"/>
          <p:cNvPicPr>
            <a:picLocks noChangeAspect="1"/>
          </p:cNvPicPr>
          <p:nvPr/>
        </p:nvPicPr>
        <p:blipFill>
          <a:blip r:embed="rId8"/>
          <a:stretch>
            <a:fillRect/>
          </a:stretch>
        </p:blipFill>
        <p:spPr>
          <a:xfrm>
            <a:off x="5188320" y="3352320"/>
            <a:ext cx="243360" cy="243360"/>
          </a:xfrm>
          <a:prstGeom prst="rect">
            <a:avLst/>
          </a:prstGeom>
        </p:spPr>
      </p:pic>
      <p:sp>
        <p:nvSpPr>
          <p:cNvPr id="31" name="TextBox 30"/>
          <p:cNvSpPr txBox="1"/>
          <p:nvPr/>
        </p:nvSpPr>
        <p:spPr>
          <a:xfrm>
            <a:off x="5688000" y="3150000"/>
            <a:ext cx="5832000" cy="1188000"/>
          </a:xfrm>
          <a:prstGeom prst="rect">
            <a:avLst/>
          </a:prstGeom>
          <a:noFill/>
        </p:spPr>
        <p:txBody>
          <a:bodyPr wrap="square" lIns="36000" rIns="36000" tIns="18000" bIns="18000" anchor="t">
            <a:spAutoFit/>
          </a:bodyPr>
          <a:lstStyle/>
          <a:p>
            <a:pPr algn="l">
              <a:lnSpc>
                <a:spcPct val="110000"/>
              </a:lnSpc>
            </a:pPr>
            <a:r>
              <a:rPr sz="1200" b="1">
                <a:solidFill>
                  <a:srgbClr val="1A1416"/>
                </a:solidFill>
                <a:latin typeface="Poppins"/>
              </a:rPr>
              <a:t>Pourquoi ce profil</a:t>
            </a:r>
          </a:p>
          <a:p>
            <a:pPr algn="l">
              <a:lnSpc>
                <a:spcPct val="110000"/>
              </a:lnSpc>
              <a:spcBef>
                <a:spcPts val="500"/>
              </a:spcBef>
            </a:pPr>
            <a:r>
              <a:rPr sz="1150" b="0">
                <a:solidFill>
                  <a:srgbClr val="1A1416"/>
                </a:solidFill>
                <a:latin typeface="Poppins"/>
              </a:rPr>
              <a:t>La plus grosse portée de la sélection avec un engagement élevé : idéale pour lancer le défi en semaine 1, sur le ton de l’humour.</a:t>
            </a:r>
          </a:p>
        </p:txBody>
      </p:sp>
      <p:sp>
        <p:nvSpPr>
          <p:cNvPr id="32" name="Rounded Rectangle 31"/>
          <p:cNvSpPr/>
          <p:nvPr/>
        </p:nvSpPr>
        <p:spPr>
          <a:xfrm>
            <a:off x="4896000" y="4536000"/>
            <a:ext cx="6732000" cy="1152000"/>
          </a:xfrm>
          <a:prstGeom prst="roundRect">
            <a:avLst>
              <a:gd name="adj" fmla="val 6000"/>
            </a:avLst>
          </a:prstGeom>
          <a:solidFill>
            <a:srgbClr val="FB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076000" y="4716000"/>
            <a:ext cx="468000" cy="468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alert-triangle_bl.png"/>
          <p:cNvPicPr>
            <a:picLocks noChangeAspect="1"/>
          </p:cNvPicPr>
          <p:nvPr/>
        </p:nvPicPr>
        <p:blipFill>
          <a:blip r:embed="rId9"/>
          <a:stretch>
            <a:fillRect/>
          </a:stretch>
        </p:blipFill>
        <p:spPr>
          <a:xfrm>
            <a:off x="5188320" y="4828320"/>
            <a:ext cx="243360" cy="243360"/>
          </a:xfrm>
          <a:prstGeom prst="rect">
            <a:avLst/>
          </a:prstGeom>
        </p:spPr>
      </p:pic>
      <p:sp>
        <p:nvSpPr>
          <p:cNvPr id="35" name="TextBox 34"/>
          <p:cNvSpPr txBox="1"/>
          <p:nvPr/>
        </p:nvSpPr>
        <p:spPr>
          <a:xfrm>
            <a:off x="5688000" y="4626000"/>
            <a:ext cx="5832000" cy="1044000"/>
          </a:xfrm>
          <a:prstGeom prst="rect">
            <a:avLst/>
          </a:prstGeom>
          <a:noFill/>
        </p:spPr>
        <p:txBody>
          <a:bodyPr wrap="square" lIns="36000" rIns="36000" tIns="18000" bIns="18000" anchor="t">
            <a:spAutoFit/>
          </a:bodyPr>
          <a:lstStyle/>
          <a:p>
            <a:pPr algn="l">
              <a:lnSpc>
                <a:spcPct val="110000"/>
              </a:lnSpc>
            </a:pPr>
            <a:r>
              <a:rPr sz="1200" b="1">
                <a:solidFill>
                  <a:srgbClr val="AE172A"/>
                </a:solidFill>
                <a:latin typeface="Poppins"/>
              </a:rPr>
              <a:t>Point de vigilance</a:t>
            </a:r>
          </a:p>
          <a:p>
            <a:pPr algn="l">
              <a:lnSpc>
                <a:spcPct val="110000"/>
              </a:lnSpc>
              <a:spcBef>
                <a:spcPts val="500"/>
              </a:spcBef>
            </a:pPr>
            <a:r>
              <a:rPr sz="1150" b="0">
                <a:solidFill>
                  <a:srgbClr val="1A1416"/>
                </a:solidFill>
                <a:latin typeface="Poppins"/>
              </a:rPr>
              <a:t>Profil humour, pas beauté : le rituel doit rester naturel. Tarif le plus élevé de la liste.</a:t>
            </a:r>
          </a:p>
        </p:txBody>
      </p:sp>
      <p:sp>
        <p:nvSpPr>
          <p:cNvPr id="36" name="TextBox 35"/>
          <p:cNvSpPr txBox="1"/>
          <p:nvPr/>
        </p:nvSpPr>
        <p:spPr>
          <a:xfrm>
            <a:off x="4896000" y="5832000"/>
            <a:ext cx="6732000" cy="360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Chiffres publics TikTok relevés le 28/10/2026 (vues et engagement : TokRanks, oct. 2026). Aucun contact pris : profil à valider.</a:t>
            </a:r>
          </a:p>
        </p:txBody>
      </p:sp>
      <p:sp>
        <p:nvSpPr>
          <p:cNvPr id="37" name="TextBox 36"/>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8 / 22</a:t>
            </a:r>
          </a:p>
        </p:txBody>
      </p:sp>
      <p:sp>
        <p:nvSpPr>
          <p:cNvPr id="38" name="TextBox 37"/>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00000" cy="6858000"/>
          </a:xfrm>
          <a:prstGeom prst="rect">
            <a:avLst/>
          </a:prstGeom>
          <a:solidFill>
            <a:srgbClr val="2A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v_aichadiallo6000.jpg"/>
          <p:cNvPicPr>
            <a:picLocks noChangeAspect="1"/>
          </p:cNvPicPr>
          <p:nvPr/>
        </p:nvPicPr>
        <p:blipFill>
          <a:blip r:embed="rId2"/>
          <a:stretch>
            <a:fillRect/>
          </a:stretch>
        </p:blipFill>
        <p:spPr>
          <a:xfrm>
            <a:off x="666000" y="846000"/>
            <a:ext cx="3168000" cy="3168000"/>
          </a:xfrm>
          <a:prstGeom prst="rect">
            <a:avLst/>
          </a:prstGeom>
        </p:spPr>
      </p:pic>
      <p:sp>
        <p:nvSpPr>
          <p:cNvPr id="4" name="TextBox 3"/>
          <p:cNvSpPr txBox="1"/>
          <p:nvPr/>
        </p:nvSpPr>
        <p:spPr>
          <a:xfrm>
            <a:off x="288000" y="4176000"/>
            <a:ext cx="3924000" cy="432000"/>
          </a:xfrm>
          <a:prstGeom prst="rect">
            <a:avLst/>
          </a:prstGeom>
          <a:noFill/>
        </p:spPr>
        <p:txBody>
          <a:bodyPr wrap="square" lIns="36000" rIns="36000" tIns="18000" bIns="18000" anchor="t">
            <a:spAutoFit/>
          </a:bodyPr>
          <a:lstStyle/>
          <a:p>
            <a:pPr algn="ctr">
              <a:lnSpc>
                <a:spcPct val="110000"/>
              </a:lnSpc>
            </a:pPr>
            <a:r>
              <a:rPr sz="2200" b="1">
                <a:solidFill>
                  <a:srgbClr val="FFFFFF"/>
                </a:solidFill>
                <a:latin typeface="Poppins"/>
              </a:rPr>
              <a:t>Aïcha Diallo</a:t>
            </a:r>
          </a:p>
        </p:txBody>
      </p:sp>
      <p:sp>
        <p:nvSpPr>
          <p:cNvPr id="5" name="TextBox 4"/>
          <p:cNvSpPr txBox="1"/>
          <p:nvPr/>
        </p:nvSpPr>
        <p:spPr>
          <a:xfrm>
            <a:off x="288000" y="4644000"/>
            <a:ext cx="3924000" cy="288000"/>
          </a:xfrm>
          <a:prstGeom prst="rect">
            <a:avLst/>
          </a:prstGeom>
          <a:noFill/>
        </p:spPr>
        <p:txBody>
          <a:bodyPr wrap="square" lIns="36000" rIns="36000" tIns="18000" bIns="18000" anchor="t">
            <a:spAutoFit/>
          </a:bodyPr>
          <a:lstStyle/>
          <a:p>
            <a:pPr algn="ctr">
              <a:lnSpc>
                <a:spcPct val="110000"/>
              </a:lnSpc>
            </a:pPr>
            <a:r>
              <a:rPr sz="1100" b="0">
                <a:solidFill>
                  <a:srgbClr val="F3DADD"/>
                </a:solidFill>
                <a:latin typeface="Poppins"/>
              </a:rPr>
              <a:t>tiktok.com/@aichadiallo6000</a:t>
            </a:r>
          </a:p>
        </p:txBody>
      </p:sp>
      <p:sp>
        <p:nvSpPr>
          <p:cNvPr id="6" name="Rounded Rectangle 5"/>
          <p:cNvSpPr/>
          <p:nvPr/>
        </p:nvSpPr>
        <p:spPr>
          <a:xfrm>
            <a:off x="1170000" y="5076000"/>
            <a:ext cx="2160000" cy="342000"/>
          </a:xfrm>
          <a:prstGeom prst="roundRect">
            <a:avLst>
              <a:gd name="adj" fmla="val 50000"/>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000" y="5076000"/>
            <a:ext cx="2160000" cy="342000"/>
          </a:xfrm>
          <a:prstGeom prst="rect">
            <a:avLst/>
          </a:prstGeom>
          <a:noFill/>
        </p:spPr>
        <p:txBody>
          <a:bodyPr wrap="square" lIns="36000" rIns="36000" tIns="18000" bIns="18000" anchor="ctr">
            <a:spAutoFit/>
          </a:bodyPr>
          <a:lstStyle/>
          <a:p>
            <a:pPr algn="ctr">
              <a:lnSpc>
                <a:spcPct val="110000"/>
              </a:lnSpc>
            </a:pPr>
            <a:r>
              <a:rPr sz="1100" b="1">
                <a:solidFill>
                  <a:srgbClr val="FFFFFF"/>
                </a:solidFill>
                <a:latin typeface="Poppins"/>
              </a:rPr>
              <a:t>Experte beauté</a:t>
            </a:r>
          </a:p>
        </p:txBody>
      </p:sp>
      <p:sp>
        <p:nvSpPr>
          <p:cNvPr id="8" name="TextBox 7"/>
          <p:cNvSpPr txBox="1"/>
          <p:nvPr/>
        </p:nvSpPr>
        <p:spPr>
          <a:xfrm>
            <a:off x="288000" y="5616000"/>
            <a:ext cx="3924000" cy="576000"/>
          </a:xfrm>
          <a:prstGeom prst="rect">
            <a:avLst/>
          </a:prstGeom>
          <a:noFill/>
        </p:spPr>
        <p:txBody>
          <a:bodyPr wrap="square" lIns="36000" rIns="36000" tIns="18000" bIns="18000" anchor="t">
            <a:spAutoFit/>
          </a:bodyPr>
          <a:lstStyle/>
          <a:p>
            <a:pPr algn="ctr">
              <a:lnSpc>
                <a:spcPct val="110000"/>
              </a:lnSpc>
            </a:pPr>
            <a:r>
              <a:rPr sz="1100" b="1">
                <a:solidFill>
                  <a:srgbClr val="FFFFFF"/>
                </a:solidFill>
                <a:latin typeface="Poppins"/>
              </a:rPr>
              <a:t>Biolight · Clear Therapy</a:t>
            </a:r>
          </a:p>
        </p:txBody>
      </p:sp>
      <p:pic>
        <p:nvPicPr>
          <p:cNvPr id="9" name="Picture 8" descr="logo.png"/>
          <p:cNvPicPr>
            <a:picLocks noChangeAspect="1"/>
          </p:cNvPicPr>
          <p:nvPr/>
        </p:nvPicPr>
        <p:blipFill>
          <a:blip r:embed="rId3"/>
          <a:stretch>
            <a:fillRect/>
          </a:stretch>
        </p:blipFill>
        <p:spPr>
          <a:xfrm>
            <a:off x="10248119" y="257639"/>
            <a:ext cx="1584000" cy="492718"/>
          </a:xfrm>
          <a:prstGeom prst="rect">
            <a:avLst/>
          </a:prstGeom>
        </p:spPr>
      </p:pic>
      <p:sp>
        <p:nvSpPr>
          <p:cNvPr id="10" name="TextBox 9"/>
          <p:cNvSpPr txBox="1"/>
          <p:nvPr/>
        </p:nvSpPr>
        <p:spPr>
          <a:xfrm>
            <a:off x="4896000" y="324000"/>
            <a:ext cx="504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04 · CRÉATEUR 2 SUR 8</a:t>
            </a:r>
          </a:p>
        </p:txBody>
      </p:sp>
      <p:sp>
        <p:nvSpPr>
          <p:cNvPr id="11" name="TextBox 10"/>
          <p:cNvSpPr txBox="1"/>
          <p:nvPr/>
        </p:nvSpPr>
        <p:spPr>
          <a:xfrm>
            <a:off x="4896000" y="576000"/>
            <a:ext cx="5220000" cy="936000"/>
          </a:xfrm>
          <a:prstGeom prst="rect">
            <a:avLst/>
          </a:prstGeom>
          <a:noFill/>
        </p:spPr>
        <p:txBody>
          <a:bodyPr wrap="square" lIns="36000" rIns="36000" tIns="18000" bIns="18000" anchor="t">
            <a:spAutoFit/>
          </a:bodyPr>
          <a:lstStyle/>
          <a:p>
            <a:pPr algn="l">
              <a:lnSpc>
                <a:spcPct val="110000"/>
              </a:lnSpc>
            </a:pPr>
            <a:r>
              <a:rPr sz="1300" b="1">
                <a:solidFill>
                  <a:srgbClr val="1A1416"/>
                </a:solidFill>
                <a:latin typeface="Poppins"/>
              </a:rPr>
              <a:t>« Beauté naturelle : confiance en soi ». Maquilleuse, Bouaké.</a:t>
            </a:r>
          </a:p>
        </p:txBody>
      </p:sp>
      <p:sp>
        <p:nvSpPr>
          <p:cNvPr id="12" name="Rounded Rectangle 11"/>
          <p:cNvSpPr/>
          <p:nvPr/>
        </p:nvSpPr>
        <p:spPr>
          <a:xfrm>
            <a:off x="489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users_dr.png"/>
          <p:cNvPicPr>
            <a:picLocks noChangeAspect="1"/>
          </p:cNvPicPr>
          <p:nvPr/>
        </p:nvPicPr>
        <p:blipFill>
          <a:blip r:embed="rId4"/>
          <a:stretch>
            <a:fillRect/>
          </a:stretch>
        </p:blipFill>
        <p:spPr>
          <a:xfrm>
            <a:off x="5040000" y="1710000"/>
            <a:ext cx="324000" cy="324000"/>
          </a:xfrm>
          <a:prstGeom prst="rect">
            <a:avLst/>
          </a:prstGeom>
        </p:spPr>
      </p:pic>
      <p:sp>
        <p:nvSpPr>
          <p:cNvPr id="14" name="TextBox 13"/>
          <p:cNvSpPr txBox="1"/>
          <p:nvPr/>
        </p:nvSpPr>
        <p:spPr>
          <a:xfrm>
            <a:off x="502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1,1 M</a:t>
            </a:r>
          </a:p>
        </p:txBody>
      </p:sp>
      <p:sp>
        <p:nvSpPr>
          <p:cNvPr id="15" name="TextBox 14"/>
          <p:cNvSpPr txBox="1"/>
          <p:nvPr/>
        </p:nvSpPr>
        <p:spPr>
          <a:xfrm>
            <a:off x="502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abonnés</a:t>
            </a:r>
          </a:p>
        </p:txBody>
      </p:sp>
      <p:sp>
        <p:nvSpPr>
          <p:cNvPr id="16" name="Rounded Rectangle 15"/>
          <p:cNvSpPr/>
          <p:nvPr/>
        </p:nvSpPr>
        <p:spPr>
          <a:xfrm>
            <a:off x="660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heart_dr.png"/>
          <p:cNvPicPr>
            <a:picLocks noChangeAspect="1"/>
          </p:cNvPicPr>
          <p:nvPr/>
        </p:nvPicPr>
        <p:blipFill>
          <a:blip r:embed="rId5"/>
          <a:stretch>
            <a:fillRect/>
          </a:stretch>
        </p:blipFill>
        <p:spPr>
          <a:xfrm>
            <a:off x="6750000" y="1710000"/>
            <a:ext cx="324000" cy="324000"/>
          </a:xfrm>
          <a:prstGeom prst="rect">
            <a:avLst/>
          </a:prstGeom>
        </p:spPr>
      </p:pic>
      <p:sp>
        <p:nvSpPr>
          <p:cNvPr id="18" name="TextBox 17"/>
          <p:cNvSpPr txBox="1"/>
          <p:nvPr/>
        </p:nvSpPr>
        <p:spPr>
          <a:xfrm>
            <a:off x="673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10,5 M</a:t>
            </a:r>
          </a:p>
        </p:txBody>
      </p:sp>
      <p:sp>
        <p:nvSpPr>
          <p:cNvPr id="19" name="TextBox 18"/>
          <p:cNvSpPr txBox="1"/>
          <p:nvPr/>
        </p:nvSpPr>
        <p:spPr>
          <a:xfrm>
            <a:off x="673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J’aime cumulés</a:t>
            </a:r>
          </a:p>
        </p:txBody>
      </p:sp>
      <p:sp>
        <p:nvSpPr>
          <p:cNvPr id="20" name="Rounded Rectangle 19"/>
          <p:cNvSpPr/>
          <p:nvPr/>
        </p:nvSpPr>
        <p:spPr>
          <a:xfrm>
            <a:off x="831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ye_dr.png"/>
          <p:cNvPicPr>
            <a:picLocks noChangeAspect="1"/>
          </p:cNvPicPr>
          <p:nvPr/>
        </p:nvPicPr>
        <p:blipFill>
          <a:blip r:embed="rId6"/>
          <a:stretch>
            <a:fillRect/>
          </a:stretch>
        </p:blipFill>
        <p:spPr>
          <a:xfrm>
            <a:off x="8460000" y="1710000"/>
            <a:ext cx="324000" cy="324000"/>
          </a:xfrm>
          <a:prstGeom prst="rect">
            <a:avLst/>
          </a:prstGeom>
        </p:spPr>
      </p:pic>
      <p:sp>
        <p:nvSpPr>
          <p:cNvPr id="22" name="TextBox 21"/>
          <p:cNvSpPr txBox="1"/>
          <p:nvPr/>
        </p:nvSpPr>
        <p:spPr>
          <a:xfrm>
            <a:off x="844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151 400</a:t>
            </a:r>
          </a:p>
        </p:txBody>
      </p:sp>
      <p:sp>
        <p:nvSpPr>
          <p:cNvPr id="23" name="TextBox 22"/>
          <p:cNvSpPr txBox="1"/>
          <p:nvPr/>
        </p:nvSpPr>
        <p:spPr>
          <a:xfrm>
            <a:off x="844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vues moyennes</a:t>
            </a:r>
          </a:p>
        </p:txBody>
      </p:sp>
      <p:sp>
        <p:nvSpPr>
          <p:cNvPr id="24" name="Rounded Rectangle 23"/>
          <p:cNvSpPr/>
          <p:nvPr/>
        </p:nvSpPr>
        <p:spPr>
          <a:xfrm>
            <a:off x="1002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trending-up_dr.png"/>
          <p:cNvPicPr>
            <a:picLocks noChangeAspect="1"/>
          </p:cNvPicPr>
          <p:nvPr/>
        </p:nvPicPr>
        <p:blipFill>
          <a:blip r:embed="rId7"/>
          <a:stretch>
            <a:fillRect/>
          </a:stretch>
        </p:blipFill>
        <p:spPr>
          <a:xfrm>
            <a:off x="10170000" y="1710000"/>
            <a:ext cx="324000" cy="324000"/>
          </a:xfrm>
          <a:prstGeom prst="rect">
            <a:avLst/>
          </a:prstGeom>
        </p:spPr>
      </p:pic>
      <p:sp>
        <p:nvSpPr>
          <p:cNvPr id="26" name="TextBox 25"/>
          <p:cNvSpPr txBox="1"/>
          <p:nvPr/>
        </p:nvSpPr>
        <p:spPr>
          <a:xfrm>
            <a:off x="1015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4,3 %</a:t>
            </a:r>
          </a:p>
        </p:txBody>
      </p:sp>
      <p:sp>
        <p:nvSpPr>
          <p:cNvPr id="27" name="TextBox 26"/>
          <p:cNvSpPr txBox="1"/>
          <p:nvPr/>
        </p:nvSpPr>
        <p:spPr>
          <a:xfrm>
            <a:off x="1015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engagement</a:t>
            </a:r>
          </a:p>
        </p:txBody>
      </p:sp>
      <p:sp>
        <p:nvSpPr>
          <p:cNvPr id="28" name="Rounded Rectangle 27"/>
          <p:cNvSpPr/>
          <p:nvPr/>
        </p:nvSpPr>
        <p:spPr>
          <a:xfrm>
            <a:off x="4896000" y="3060000"/>
            <a:ext cx="6732000" cy="1332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076000" y="3240000"/>
            <a:ext cx="468000" cy="4680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ircle-check_bl.png"/>
          <p:cNvPicPr>
            <a:picLocks noChangeAspect="1"/>
          </p:cNvPicPr>
          <p:nvPr/>
        </p:nvPicPr>
        <p:blipFill>
          <a:blip r:embed="rId8"/>
          <a:stretch>
            <a:fillRect/>
          </a:stretch>
        </p:blipFill>
        <p:spPr>
          <a:xfrm>
            <a:off x="5188320" y="3352320"/>
            <a:ext cx="243360" cy="243360"/>
          </a:xfrm>
          <a:prstGeom prst="rect">
            <a:avLst/>
          </a:prstGeom>
        </p:spPr>
      </p:pic>
      <p:sp>
        <p:nvSpPr>
          <p:cNvPr id="31" name="TextBox 30"/>
          <p:cNvSpPr txBox="1"/>
          <p:nvPr/>
        </p:nvSpPr>
        <p:spPr>
          <a:xfrm>
            <a:off x="5688000" y="3150000"/>
            <a:ext cx="5832000" cy="1188000"/>
          </a:xfrm>
          <a:prstGeom prst="rect">
            <a:avLst/>
          </a:prstGeom>
          <a:noFill/>
        </p:spPr>
        <p:txBody>
          <a:bodyPr wrap="square" lIns="36000" rIns="36000" tIns="18000" bIns="18000" anchor="t">
            <a:spAutoFit/>
          </a:bodyPr>
          <a:lstStyle/>
          <a:p>
            <a:pPr algn="l">
              <a:lnSpc>
                <a:spcPct val="110000"/>
              </a:lnSpc>
            </a:pPr>
            <a:r>
              <a:rPr sz="1200" b="1">
                <a:solidFill>
                  <a:srgbClr val="1A1416"/>
                </a:solidFill>
                <a:latin typeface="Poppins"/>
              </a:rPr>
              <a:t>Pourquoi ce profil</a:t>
            </a:r>
          </a:p>
          <a:p>
            <a:pPr algn="l">
              <a:lnSpc>
                <a:spcPct val="110000"/>
              </a:lnSpc>
              <a:spcBef>
                <a:spcPts val="500"/>
              </a:spcBef>
            </a:pPr>
            <a:r>
              <a:rPr sz="1150" b="0">
                <a:solidFill>
                  <a:srgbClr val="1A1416"/>
                </a:solidFill>
                <a:latin typeface="Poppins"/>
              </a:rPr>
              <a:t>Meilleur engagement des grands comptes et discours « beauté naturelle » proche du positionnement Dream. Ouvre l’intérieur du pays.</a:t>
            </a:r>
          </a:p>
        </p:txBody>
      </p:sp>
      <p:sp>
        <p:nvSpPr>
          <p:cNvPr id="32" name="Rounded Rectangle 31"/>
          <p:cNvSpPr/>
          <p:nvPr/>
        </p:nvSpPr>
        <p:spPr>
          <a:xfrm>
            <a:off x="4896000" y="4536000"/>
            <a:ext cx="6732000" cy="1152000"/>
          </a:xfrm>
          <a:prstGeom prst="roundRect">
            <a:avLst>
              <a:gd name="adj" fmla="val 6000"/>
            </a:avLst>
          </a:prstGeom>
          <a:solidFill>
            <a:srgbClr val="FB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076000" y="4716000"/>
            <a:ext cx="468000" cy="468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alert-triangle_bl.png"/>
          <p:cNvPicPr>
            <a:picLocks noChangeAspect="1"/>
          </p:cNvPicPr>
          <p:nvPr/>
        </p:nvPicPr>
        <p:blipFill>
          <a:blip r:embed="rId9"/>
          <a:stretch>
            <a:fillRect/>
          </a:stretch>
        </p:blipFill>
        <p:spPr>
          <a:xfrm>
            <a:off x="5188320" y="4828320"/>
            <a:ext cx="243360" cy="243360"/>
          </a:xfrm>
          <a:prstGeom prst="rect">
            <a:avLst/>
          </a:prstGeom>
        </p:spPr>
      </p:pic>
      <p:sp>
        <p:nvSpPr>
          <p:cNvPr id="35" name="TextBox 34"/>
          <p:cNvSpPr txBox="1"/>
          <p:nvPr/>
        </p:nvSpPr>
        <p:spPr>
          <a:xfrm>
            <a:off x="5688000" y="4626000"/>
            <a:ext cx="5832000" cy="1044000"/>
          </a:xfrm>
          <a:prstGeom prst="rect">
            <a:avLst/>
          </a:prstGeom>
          <a:noFill/>
        </p:spPr>
        <p:txBody>
          <a:bodyPr wrap="square" lIns="36000" rIns="36000" tIns="18000" bIns="18000" anchor="t">
            <a:spAutoFit/>
          </a:bodyPr>
          <a:lstStyle/>
          <a:p>
            <a:pPr algn="l">
              <a:lnSpc>
                <a:spcPct val="110000"/>
              </a:lnSpc>
            </a:pPr>
            <a:r>
              <a:rPr sz="1200" b="1">
                <a:solidFill>
                  <a:srgbClr val="AE172A"/>
                </a:solidFill>
                <a:latin typeface="Poppins"/>
              </a:rPr>
              <a:t>Point de vigilance</a:t>
            </a:r>
          </a:p>
          <a:p>
            <a:pPr algn="l">
              <a:lnSpc>
                <a:spcPct val="110000"/>
              </a:lnSpc>
              <a:spcBef>
                <a:spcPts val="500"/>
              </a:spcBef>
            </a:pPr>
            <a:r>
              <a:rPr sz="1150" b="0">
                <a:solidFill>
                  <a:srgbClr val="1A1416"/>
                </a:solidFill>
                <a:latin typeface="Poppins"/>
              </a:rPr>
              <a:t>Basée à Bouaké : prévoir l’envoi des produits. Vérifier ses partenariats en cours avec des marques concurrentes.</a:t>
            </a:r>
          </a:p>
        </p:txBody>
      </p:sp>
      <p:sp>
        <p:nvSpPr>
          <p:cNvPr id="36" name="TextBox 35"/>
          <p:cNvSpPr txBox="1"/>
          <p:nvPr/>
        </p:nvSpPr>
        <p:spPr>
          <a:xfrm>
            <a:off x="4896000" y="5832000"/>
            <a:ext cx="6732000" cy="360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Chiffres publics TikTok relevés le 28/10/2026 (vues et engagement : TokRanks, oct. 2026). Aucun contact pris : profil à valider.</a:t>
            </a:r>
          </a:p>
        </p:txBody>
      </p:sp>
      <p:sp>
        <p:nvSpPr>
          <p:cNvPr id="37" name="TextBox 36"/>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9 / 22</a:t>
            </a:r>
          </a:p>
        </p:txBody>
      </p:sp>
      <p:sp>
        <p:nvSpPr>
          <p:cNvPr id="38" name="TextBox 37"/>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00000" cy="6858000"/>
          </a:xfrm>
          <a:prstGeom prst="rect">
            <a:avLst/>
          </a:prstGeom>
          <a:solidFill>
            <a:srgbClr val="2A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v_fabulous_makeup26.jpg"/>
          <p:cNvPicPr>
            <a:picLocks noChangeAspect="1"/>
          </p:cNvPicPr>
          <p:nvPr/>
        </p:nvPicPr>
        <p:blipFill>
          <a:blip r:embed="rId2"/>
          <a:stretch>
            <a:fillRect/>
          </a:stretch>
        </p:blipFill>
        <p:spPr>
          <a:xfrm>
            <a:off x="666000" y="846000"/>
            <a:ext cx="3168000" cy="3168000"/>
          </a:xfrm>
          <a:prstGeom prst="rect">
            <a:avLst/>
          </a:prstGeom>
        </p:spPr>
      </p:pic>
      <p:sp>
        <p:nvSpPr>
          <p:cNvPr id="4" name="TextBox 3"/>
          <p:cNvSpPr txBox="1"/>
          <p:nvPr/>
        </p:nvSpPr>
        <p:spPr>
          <a:xfrm>
            <a:off x="288000" y="4176000"/>
            <a:ext cx="3924000" cy="432000"/>
          </a:xfrm>
          <a:prstGeom prst="rect">
            <a:avLst/>
          </a:prstGeom>
          <a:noFill/>
        </p:spPr>
        <p:txBody>
          <a:bodyPr wrap="square" lIns="36000" rIns="36000" tIns="18000" bIns="18000" anchor="t">
            <a:spAutoFit/>
          </a:bodyPr>
          <a:lstStyle/>
          <a:p>
            <a:pPr algn="ctr">
              <a:lnSpc>
                <a:spcPct val="110000"/>
              </a:lnSpc>
            </a:pPr>
            <a:r>
              <a:rPr sz="2200" b="1">
                <a:solidFill>
                  <a:srgbClr val="FFFFFF"/>
                </a:solidFill>
                <a:latin typeface="Poppins"/>
              </a:rPr>
              <a:t>Fabulous Makeup</a:t>
            </a:r>
          </a:p>
        </p:txBody>
      </p:sp>
      <p:sp>
        <p:nvSpPr>
          <p:cNvPr id="5" name="TextBox 4"/>
          <p:cNvSpPr txBox="1"/>
          <p:nvPr/>
        </p:nvSpPr>
        <p:spPr>
          <a:xfrm>
            <a:off x="288000" y="4644000"/>
            <a:ext cx="3924000" cy="288000"/>
          </a:xfrm>
          <a:prstGeom prst="rect">
            <a:avLst/>
          </a:prstGeom>
          <a:noFill/>
        </p:spPr>
        <p:txBody>
          <a:bodyPr wrap="square" lIns="36000" rIns="36000" tIns="18000" bIns="18000" anchor="t">
            <a:spAutoFit/>
          </a:bodyPr>
          <a:lstStyle/>
          <a:p>
            <a:pPr algn="ctr">
              <a:lnSpc>
                <a:spcPct val="110000"/>
              </a:lnSpc>
            </a:pPr>
            <a:r>
              <a:rPr sz="1100" b="0">
                <a:solidFill>
                  <a:srgbClr val="F3DADD"/>
                </a:solidFill>
                <a:latin typeface="Poppins"/>
              </a:rPr>
              <a:t>tiktok.com/@fabulous_makeup26</a:t>
            </a:r>
          </a:p>
        </p:txBody>
      </p:sp>
      <p:sp>
        <p:nvSpPr>
          <p:cNvPr id="6" name="Rounded Rectangle 5"/>
          <p:cNvSpPr/>
          <p:nvPr/>
        </p:nvSpPr>
        <p:spPr>
          <a:xfrm>
            <a:off x="1170000" y="5076000"/>
            <a:ext cx="2160000" cy="342000"/>
          </a:xfrm>
          <a:prstGeom prst="roundRect">
            <a:avLst>
              <a:gd name="adj" fmla="val 50000"/>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000" y="5076000"/>
            <a:ext cx="2160000" cy="342000"/>
          </a:xfrm>
          <a:prstGeom prst="rect">
            <a:avLst/>
          </a:prstGeom>
          <a:noFill/>
        </p:spPr>
        <p:txBody>
          <a:bodyPr wrap="square" lIns="36000" rIns="36000" tIns="18000" bIns="18000" anchor="ctr">
            <a:spAutoFit/>
          </a:bodyPr>
          <a:lstStyle/>
          <a:p>
            <a:pPr algn="ctr">
              <a:lnSpc>
                <a:spcPct val="110000"/>
              </a:lnSpc>
            </a:pPr>
            <a:r>
              <a:rPr sz="1100" b="1">
                <a:solidFill>
                  <a:srgbClr val="FFFFFF"/>
                </a:solidFill>
                <a:latin typeface="Poppins"/>
              </a:rPr>
              <a:t>Experte beauté</a:t>
            </a:r>
          </a:p>
        </p:txBody>
      </p:sp>
      <p:sp>
        <p:nvSpPr>
          <p:cNvPr id="8" name="TextBox 7"/>
          <p:cNvSpPr txBox="1"/>
          <p:nvPr/>
        </p:nvSpPr>
        <p:spPr>
          <a:xfrm>
            <a:off x="288000" y="5616000"/>
            <a:ext cx="3924000" cy="576000"/>
          </a:xfrm>
          <a:prstGeom prst="rect">
            <a:avLst/>
          </a:prstGeom>
          <a:noFill/>
        </p:spPr>
        <p:txBody>
          <a:bodyPr wrap="square" lIns="36000" rIns="36000" tIns="18000" bIns="18000" anchor="t">
            <a:spAutoFit/>
          </a:bodyPr>
          <a:lstStyle/>
          <a:p>
            <a:pPr algn="ctr">
              <a:lnSpc>
                <a:spcPct val="110000"/>
              </a:lnSpc>
            </a:pPr>
            <a:r>
              <a:rPr sz="1100" b="1">
                <a:solidFill>
                  <a:srgbClr val="FFFFFF"/>
                </a:solidFill>
                <a:latin typeface="Poppins"/>
              </a:rPr>
              <a:t>Dermaskin · Cocopulp</a:t>
            </a:r>
          </a:p>
        </p:txBody>
      </p:sp>
      <p:pic>
        <p:nvPicPr>
          <p:cNvPr id="9" name="Picture 8" descr="logo.png"/>
          <p:cNvPicPr>
            <a:picLocks noChangeAspect="1"/>
          </p:cNvPicPr>
          <p:nvPr/>
        </p:nvPicPr>
        <p:blipFill>
          <a:blip r:embed="rId3"/>
          <a:stretch>
            <a:fillRect/>
          </a:stretch>
        </p:blipFill>
        <p:spPr>
          <a:xfrm>
            <a:off x="10248119" y="257639"/>
            <a:ext cx="1584000" cy="492718"/>
          </a:xfrm>
          <a:prstGeom prst="rect">
            <a:avLst/>
          </a:prstGeom>
        </p:spPr>
      </p:pic>
      <p:sp>
        <p:nvSpPr>
          <p:cNvPr id="10" name="TextBox 9"/>
          <p:cNvSpPr txBox="1"/>
          <p:nvPr/>
        </p:nvSpPr>
        <p:spPr>
          <a:xfrm>
            <a:off x="4896000" y="324000"/>
            <a:ext cx="504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04 · CRÉATEUR 3 SUR 8</a:t>
            </a:r>
          </a:p>
        </p:txBody>
      </p:sp>
      <p:sp>
        <p:nvSpPr>
          <p:cNvPr id="11" name="TextBox 10"/>
          <p:cNvSpPr txBox="1"/>
          <p:nvPr/>
        </p:nvSpPr>
        <p:spPr>
          <a:xfrm>
            <a:off x="4896000" y="576000"/>
            <a:ext cx="5220000" cy="936000"/>
          </a:xfrm>
          <a:prstGeom prst="rect">
            <a:avLst/>
          </a:prstGeom>
          <a:noFill/>
        </p:spPr>
        <p:txBody>
          <a:bodyPr wrap="square" lIns="36000" rIns="36000" tIns="18000" bIns="18000" anchor="t">
            <a:spAutoFit/>
          </a:bodyPr>
          <a:lstStyle/>
          <a:p>
            <a:pPr algn="l">
              <a:lnSpc>
                <a:spcPct val="110000"/>
              </a:lnSpc>
            </a:pPr>
            <a:r>
              <a:rPr sz="1300" b="1">
                <a:solidFill>
                  <a:srgbClr val="1A1416"/>
                </a:solidFill>
                <a:latin typeface="Poppins"/>
              </a:rPr>
              <a:t>« Ivorian makeup artist · Glowing face ». Mariées, shootings, événements.</a:t>
            </a:r>
          </a:p>
        </p:txBody>
      </p:sp>
      <p:sp>
        <p:nvSpPr>
          <p:cNvPr id="12" name="Rounded Rectangle 11"/>
          <p:cNvSpPr/>
          <p:nvPr/>
        </p:nvSpPr>
        <p:spPr>
          <a:xfrm>
            <a:off x="489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users_dr.png"/>
          <p:cNvPicPr>
            <a:picLocks noChangeAspect="1"/>
          </p:cNvPicPr>
          <p:nvPr/>
        </p:nvPicPr>
        <p:blipFill>
          <a:blip r:embed="rId4"/>
          <a:stretch>
            <a:fillRect/>
          </a:stretch>
        </p:blipFill>
        <p:spPr>
          <a:xfrm>
            <a:off x="5040000" y="1710000"/>
            <a:ext cx="324000" cy="324000"/>
          </a:xfrm>
          <a:prstGeom prst="rect">
            <a:avLst/>
          </a:prstGeom>
        </p:spPr>
      </p:pic>
      <p:sp>
        <p:nvSpPr>
          <p:cNvPr id="14" name="TextBox 13"/>
          <p:cNvSpPr txBox="1"/>
          <p:nvPr/>
        </p:nvSpPr>
        <p:spPr>
          <a:xfrm>
            <a:off x="502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325 000</a:t>
            </a:r>
          </a:p>
        </p:txBody>
      </p:sp>
      <p:sp>
        <p:nvSpPr>
          <p:cNvPr id="15" name="TextBox 14"/>
          <p:cNvSpPr txBox="1"/>
          <p:nvPr/>
        </p:nvSpPr>
        <p:spPr>
          <a:xfrm>
            <a:off x="502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abonnés</a:t>
            </a:r>
          </a:p>
        </p:txBody>
      </p:sp>
      <p:sp>
        <p:nvSpPr>
          <p:cNvPr id="16" name="Rounded Rectangle 15"/>
          <p:cNvSpPr/>
          <p:nvPr/>
        </p:nvSpPr>
        <p:spPr>
          <a:xfrm>
            <a:off x="660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heart_dr.png"/>
          <p:cNvPicPr>
            <a:picLocks noChangeAspect="1"/>
          </p:cNvPicPr>
          <p:nvPr/>
        </p:nvPicPr>
        <p:blipFill>
          <a:blip r:embed="rId5"/>
          <a:stretch>
            <a:fillRect/>
          </a:stretch>
        </p:blipFill>
        <p:spPr>
          <a:xfrm>
            <a:off x="6750000" y="1710000"/>
            <a:ext cx="324000" cy="324000"/>
          </a:xfrm>
          <a:prstGeom prst="rect">
            <a:avLst/>
          </a:prstGeom>
        </p:spPr>
      </p:pic>
      <p:sp>
        <p:nvSpPr>
          <p:cNvPr id="18" name="TextBox 17"/>
          <p:cNvSpPr txBox="1"/>
          <p:nvPr/>
        </p:nvSpPr>
        <p:spPr>
          <a:xfrm>
            <a:off x="673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3,4 M</a:t>
            </a:r>
          </a:p>
        </p:txBody>
      </p:sp>
      <p:sp>
        <p:nvSpPr>
          <p:cNvPr id="19" name="TextBox 18"/>
          <p:cNvSpPr txBox="1"/>
          <p:nvPr/>
        </p:nvSpPr>
        <p:spPr>
          <a:xfrm>
            <a:off x="673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J’aime cumulés</a:t>
            </a:r>
          </a:p>
        </p:txBody>
      </p:sp>
      <p:sp>
        <p:nvSpPr>
          <p:cNvPr id="20" name="Rounded Rectangle 19"/>
          <p:cNvSpPr/>
          <p:nvPr/>
        </p:nvSpPr>
        <p:spPr>
          <a:xfrm>
            <a:off x="831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ye_dr.png"/>
          <p:cNvPicPr>
            <a:picLocks noChangeAspect="1"/>
          </p:cNvPicPr>
          <p:nvPr/>
        </p:nvPicPr>
        <p:blipFill>
          <a:blip r:embed="rId6"/>
          <a:stretch>
            <a:fillRect/>
          </a:stretch>
        </p:blipFill>
        <p:spPr>
          <a:xfrm>
            <a:off x="8460000" y="1710000"/>
            <a:ext cx="324000" cy="324000"/>
          </a:xfrm>
          <a:prstGeom prst="rect">
            <a:avLst/>
          </a:prstGeom>
        </p:spPr>
      </p:pic>
      <p:sp>
        <p:nvSpPr>
          <p:cNvPr id="22" name="TextBox 21"/>
          <p:cNvSpPr txBox="1"/>
          <p:nvPr/>
        </p:nvSpPr>
        <p:spPr>
          <a:xfrm>
            <a:off x="844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78 500</a:t>
            </a:r>
          </a:p>
        </p:txBody>
      </p:sp>
      <p:sp>
        <p:nvSpPr>
          <p:cNvPr id="23" name="TextBox 22"/>
          <p:cNvSpPr txBox="1"/>
          <p:nvPr/>
        </p:nvSpPr>
        <p:spPr>
          <a:xfrm>
            <a:off x="844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vues moyennes</a:t>
            </a:r>
          </a:p>
        </p:txBody>
      </p:sp>
      <p:sp>
        <p:nvSpPr>
          <p:cNvPr id="24" name="Rounded Rectangle 23"/>
          <p:cNvSpPr/>
          <p:nvPr/>
        </p:nvSpPr>
        <p:spPr>
          <a:xfrm>
            <a:off x="1002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trending-up_dr.png"/>
          <p:cNvPicPr>
            <a:picLocks noChangeAspect="1"/>
          </p:cNvPicPr>
          <p:nvPr/>
        </p:nvPicPr>
        <p:blipFill>
          <a:blip r:embed="rId7"/>
          <a:stretch>
            <a:fillRect/>
          </a:stretch>
        </p:blipFill>
        <p:spPr>
          <a:xfrm>
            <a:off x="10170000" y="1710000"/>
            <a:ext cx="324000" cy="324000"/>
          </a:xfrm>
          <a:prstGeom prst="rect">
            <a:avLst/>
          </a:prstGeom>
        </p:spPr>
      </p:pic>
      <p:sp>
        <p:nvSpPr>
          <p:cNvPr id="26" name="TextBox 25"/>
          <p:cNvSpPr txBox="1"/>
          <p:nvPr/>
        </p:nvSpPr>
        <p:spPr>
          <a:xfrm>
            <a:off x="1015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2,9 %</a:t>
            </a:r>
          </a:p>
        </p:txBody>
      </p:sp>
      <p:sp>
        <p:nvSpPr>
          <p:cNvPr id="27" name="TextBox 26"/>
          <p:cNvSpPr txBox="1"/>
          <p:nvPr/>
        </p:nvSpPr>
        <p:spPr>
          <a:xfrm>
            <a:off x="1015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engagement</a:t>
            </a:r>
          </a:p>
        </p:txBody>
      </p:sp>
      <p:sp>
        <p:nvSpPr>
          <p:cNvPr id="28" name="Rounded Rectangle 27"/>
          <p:cNvSpPr/>
          <p:nvPr/>
        </p:nvSpPr>
        <p:spPr>
          <a:xfrm>
            <a:off x="4896000" y="3060000"/>
            <a:ext cx="6732000" cy="1332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076000" y="3240000"/>
            <a:ext cx="468000" cy="4680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ircle-check_bl.png"/>
          <p:cNvPicPr>
            <a:picLocks noChangeAspect="1"/>
          </p:cNvPicPr>
          <p:nvPr/>
        </p:nvPicPr>
        <p:blipFill>
          <a:blip r:embed="rId8"/>
          <a:stretch>
            <a:fillRect/>
          </a:stretch>
        </p:blipFill>
        <p:spPr>
          <a:xfrm>
            <a:off x="5188320" y="3352320"/>
            <a:ext cx="243360" cy="243360"/>
          </a:xfrm>
          <a:prstGeom prst="rect">
            <a:avLst/>
          </a:prstGeom>
        </p:spPr>
      </p:pic>
      <p:sp>
        <p:nvSpPr>
          <p:cNvPr id="31" name="TextBox 30"/>
          <p:cNvSpPr txBox="1"/>
          <p:nvPr/>
        </p:nvSpPr>
        <p:spPr>
          <a:xfrm>
            <a:off x="5688000" y="3150000"/>
            <a:ext cx="5832000" cy="1188000"/>
          </a:xfrm>
          <a:prstGeom prst="rect">
            <a:avLst/>
          </a:prstGeom>
          <a:noFill/>
        </p:spPr>
        <p:txBody>
          <a:bodyPr wrap="square" lIns="36000" rIns="36000" tIns="18000" bIns="18000" anchor="t">
            <a:spAutoFit/>
          </a:bodyPr>
          <a:lstStyle/>
          <a:p>
            <a:pPr algn="l">
              <a:lnSpc>
                <a:spcPct val="110000"/>
              </a:lnSpc>
            </a:pPr>
            <a:r>
              <a:rPr sz="1200" b="1">
                <a:solidFill>
                  <a:srgbClr val="1A1416"/>
                </a:solidFill>
                <a:latin typeface="Poppins"/>
              </a:rPr>
              <a:t>Pourquoi ce profil</a:t>
            </a:r>
          </a:p>
          <a:p>
            <a:pPr algn="l">
              <a:lnSpc>
                <a:spcPct val="110000"/>
              </a:lnSpc>
              <a:spcBef>
                <a:spcPts val="500"/>
              </a:spcBef>
            </a:pPr>
            <a:r>
              <a:rPr sz="1150" b="0">
                <a:solidFill>
                  <a:srgbClr val="1A1416"/>
                </a:solidFill>
                <a:latin typeface="Poppins"/>
              </a:rPr>
              <a:t>Spécialiste du teint lumineux : parfaite pour démontrer la préparation de la peau avant maquillage.</a:t>
            </a:r>
          </a:p>
        </p:txBody>
      </p:sp>
      <p:sp>
        <p:nvSpPr>
          <p:cNvPr id="32" name="Rounded Rectangle 31"/>
          <p:cNvSpPr/>
          <p:nvPr/>
        </p:nvSpPr>
        <p:spPr>
          <a:xfrm>
            <a:off x="4896000" y="4536000"/>
            <a:ext cx="6732000" cy="1152000"/>
          </a:xfrm>
          <a:prstGeom prst="roundRect">
            <a:avLst>
              <a:gd name="adj" fmla="val 6000"/>
            </a:avLst>
          </a:prstGeom>
          <a:solidFill>
            <a:srgbClr val="FB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076000" y="4716000"/>
            <a:ext cx="468000" cy="468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alert-triangle_bl.png"/>
          <p:cNvPicPr>
            <a:picLocks noChangeAspect="1"/>
          </p:cNvPicPr>
          <p:nvPr/>
        </p:nvPicPr>
        <p:blipFill>
          <a:blip r:embed="rId9"/>
          <a:stretch>
            <a:fillRect/>
          </a:stretch>
        </p:blipFill>
        <p:spPr>
          <a:xfrm>
            <a:off x="5188320" y="4828320"/>
            <a:ext cx="243360" cy="243360"/>
          </a:xfrm>
          <a:prstGeom prst="rect">
            <a:avLst/>
          </a:prstGeom>
        </p:spPr>
      </p:pic>
      <p:sp>
        <p:nvSpPr>
          <p:cNvPr id="35" name="TextBox 34"/>
          <p:cNvSpPr txBox="1"/>
          <p:nvPr/>
        </p:nvSpPr>
        <p:spPr>
          <a:xfrm>
            <a:off x="5688000" y="4626000"/>
            <a:ext cx="5832000" cy="1044000"/>
          </a:xfrm>
          <a:prstGeom prst="rect">
            <a:avLst/>
          </a:prstGeom>
          <a:noFill/>
        </p:spPr>
        <p:txBody>
          <a:bodyPr wrap="square" lIns="36000" rIns="36000" tIns="18000" bIns="18000" anchor="t">
            <a:spAutoFit/>
          </a:bodyPr>
          <a:lstStyle/>
          <a:p>
            <a:pPr algn="l">
              <a:lnSpc>
                <a:spcPct val="110000"/>
              </a:lnSpc>
            </a:pPr>
            <a:r>
              <a:rPr sz="1200" b="1">
                <a:solidFill>
                  <a:srgbClr val="AE172A"/>
                </a:solidFill>
                <a:latin typeface="Poppins"/>
              </a:rPr>
              <a:t>Point de vigilance</a:t>
            </a:r>
          </a:p>
          <a:p>
            <a:pPr algn="l">
              <a:lnSpc>
                <a:spcPct val="110000"/>
              </a:lnSpc>
              <a:spcBef>
                <a:spcPts val="500"/>
              </a:spcBef>
            </a:pPr>
            <a:r>
              <a:rPr sz="1150" b="0">
                <a:solidFill>
                  <a:srgbClr val="1A1416"/>
                </a:solidFill>
                <a:latin typeface="Poppins"/>
              </a:rPr>
              <a:t>Contenu centré maquillage : bien cadrer la part du soin dans la vidéo.</a:t>
            </a:r>
          </a:p>
        </p:txBody>
      </p:sp>
      <p:sp>
        <p:nvSpPr>
          <p:cNvPr id="36" name="TextBox 35"/>
          <p:cNvSpPr txBox="1"/>
          <p:nvPr/>
        </p:nvSpPr>
        <p:spPr>
          <a:xfrm>
            <a:off x="4896000" y="5832000"/>
            <a:ext cx="6732000" cy="360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Chiffres publics TikTok relevés le 28/10/2026 (vues et engagement : TokRanks, oct. 2026). Aucun contact pris : profil à valider.</a:t>
            </a:r>
          </a:p>
        </p:txBody>
      </p:sp>
      <p:sp>
        <p:nvSpPr>
          <p:cNvPr id="37" name="TextBox 36"/>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10 / 22</a:t>
            </a:r>
          </a:p>
        </p:txBody>
      </p:sp>
      <p:sp>
        <p:nvSpPr>
          <p:cNvPr id="38" name="TextBox 37"/>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00000" cy="6858000"/>
          </a:xfrm>
          <a:prstGeom prst="rect">
            <a:avLst/>
          </a:prstGeom>
          <a:solidFill>
            <a:srgbClr val="2A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v_beatsbylael.jpg"/>
          <p:cNvPicPr>
            <a:picLocks noChangeAspect="1"/>
          </p:cNvPicPr>
          <p:nvPr/>
        </p:nvPicPr>
        <p:blipFill>
          <a:blip r:embed="rId2"/>
          <a:stretch>
            <a:fillRect/>
          </a:stretch>
        </p:blipFill>
        <p:spPr>
          <a:xfrm>
            <a:off x="666000" y="846000"/>
            <a:ext cx="3168000" cy="3168000"/>
          </a:xfrm>
          <a:prstGeom prst="rect">
            <a:avLst/>
          </a:prstGeom>
        </p:spPr>
      </p:pic>
      <p:sp>
        <p:nvSpPr>
          <p:cNvPr id="4" name="TextBox 3"/>
          <p:cNvSpPr txBox="1"/>
          <p:nvPr/>
        </p:nvSpPr>
        <p:spPr>
          <a:xfrm>
            <a:off x="288000" y="4176000"/>
            <a:ext cx="3924000" cy="432000"/>
          </a:xfrm>
          <a:prstGeom prst="rect">
            <a:avLst/>
          </a:prstGeom>
          <a:noFill/>
        </p:spPr>
        <p:txBody>
          <a:bodyPr wrap="square" lIns="36000" rIns="36000" tIns="18000" bIns="18000" anchor="t">
            <a:spAutoFit/>
          </a:bodyPr>
          <a:lstStyle/>
          <a:p>
            <a:pPr algn="ctr">
              <a:lnSpc>
                <a:spcPct val="110000"/>
              </a:lnSpc>
            </a:pPr>
            <a:r>
              <a:rPr sz="2200" b="1">
                <a:solidFill>
                  <a:srgbClr val="FFFFFF"/>
                </a:solidFill>
                <a:latin typeface="Poppins"/>
              </a:rPr>
              <a:t>Laël The Creator</a:t>
            </a:r>
          </a:p>
        </p:txBody>
      </p:sp>
      <p:sp>
        <p:nvSpPr>
          <p:cNvPr id="5" name="TextBox 4"/>
          <p:cNvSpPr txBox="1"/>
          <p:nvPr/>
        </p:nvSpPr>
        <p:spPr>
          <a:xfrm>
            <a:off x="288000" y="4644000"/>
            <a:ext cx="3924000" cy="288000"/>
          </a:xfrm>
          <a:prstGeom prst="rect">
            <a:avLst/>
          </a:prstGeom>
          <a:noFill/>
        </p:spPr>
        <p:txBody>
          <a:bodyPr wrap="square" lIns="36000" rIns="36000" tIns="18000" bIns="18000" anchor="t">
            <a:spAutoFit/>
          </a:bodyPr>
          <a:lstStyle/>
          <a:p>
            <a:pPr algn="ctr">
              <a:lnSpc>
                <a:spcPct val="110000"/>
              </a:lnSpc>
            </a:pPr>
            <a:r>
              <a:rPr sz="1100" b="0">
                <a:solidFill>
                  <a:srgbClr val="F3DADD"/>
                </a:solidFill>
                <a:latin typeface="Poppins"/>
              </a:rPr>
              <a:t>tiktok.com/@beatsbylael</a:t>
            </a:r>
          </a:p>
        </p:txBody>
      </p:sp>
      <p:sp>
        <p:nvSpPr>
          <p:cNvPr id="6" name="Rounded Rectangle 5"/>
          <p:cNvSpPr/>
          <p:nvPr/>
        </p:nvSpPr>
        <p:spPr>
          <a:xfrm>
            <a:off x="1170000" y="5076000"/>
            <a:ext cx="2160000" cy="342000"/>
          </a:xfrm>
          <a:prstGeom prst="roundRect">
            <a:avLst>
              <a:gd name="adj" fmla="val 50000"/>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000" y="5076000"/>
            <a:ext cx="2160000" cy="342000"/>
          </a:xfrm>
          <a:prstGeom prst="rect">
            <a:avLst/>
          </a:prstGeom>
          <a:noFill/>
        </p:spPr>
        <p:txBody>
          <a:bodyPr wrap="square" lIns="36000" rIns="36000" tIns="18000" bIns="18000" anchor="ctr">
            <a:spAutoFit/>
          </a:bodyPr>
          <a:lstStyle/>
          <a:p>
            <a:pPr algn="ctr">
              <a:lnSpc>
                <a:spcPct val="110000"/>
              </a:lnSpc>
            </a:pPr>
            <a:r>
              <a:rPr sz="1100" b="1">
                <a:solidFill>
                  <a:srgbClr val="FFFFFF"/>
                </a:solidFill>
                <a:latin typeface="Poppins"/>
              </a:rPr>
              <a:t>Expert · public homme</a:t>
            </a:r>
          </a:p>
        </p:txBody>
      </p:sp>
      <p:sp>
        <p:nvSpPr>
          <p:cNvPr id="8" name="TextBox 7"/>
          <p:cNvSpPr txBox="1"/>
          <p:nvPr/>
        </p:nvSpPr>
        <p:spPr>
          <a:xfrm>
            <a:off x="288000" y="5616000"/>
            <a:ext cx="3924000" cy="576000"/>
          </a:xfrm>
          <a:prstGeom prst="rect">
            <a:avLst/>
          </a:prstGeom>
          <a:noFill/>
        </p:spPr>
        <p:txBody>
          <a:bodyPr wrap="square" lIns="36000" rIns="36000" tIns="18000" bIns="18000" anchor="t">
            <a:spAutoFit/>
          </a:bodyPr>
          <a:lstStyle/>
          <a:p>
            <a:pPr algn="ctr">
              <a:lnSpc>
                <a:spcPct val="110000"/>
              </a:lnSpc>
            </a:pPr>
            <a:r>
              <a:rPr sz="1100" b="1">
                <a:solidFill>
                  <a:srgbClr val="FFFFFF"/>
                </a:solidFill>
                <a:latin typeface="Poppins"/>
              </a:rPr>
              <a:t>Day by Day Men</a:t>
            </a:r>
          </a:p>
        </p:txBody>
      </p:sp>
      <p:pic>
        <p:nvPicPr>
          <p:cNvPr id="9" name="Picture 8" descr="logo.png"/>
          <p:cNvPicPr>
            <a:picLocks noChangeAspect="1"/>
          </p:cNvPicPr>
          <p:nvPr/>
        </p:nvPicPr>
        <p:blipFill>
          <a:blip r:embed="rId3"/>
          <a:stretch>
            <a:fillRect/>
          </a:stretch>
        </p:blipFill>
        <p:spPr>
          <a:xfrm>
            <a:off x="10248119" y="257639"/>
            <a:ext cx="1584000" cy="492718"/>
          </a:xfrm>
          <a:prstGeom prst="rect">
            <a:avLst/>
          </a:prstGeom>
        </p:spPr>
      </p:pic>
      <p:sp>
        <p:nvSpPr>
          <p:cNvPr id="10" name="TextBox 9"/>
          <p:cNvSpPr txBox="1"/>
          <p:nvPr/>
        </p:nvSpPr>
        <p:spPr>
          <a:xfrm>
            <a:off x="4896000" y="324000"/>
            <a:ext cx="504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04 · CRÉATEUR 4 SUR 8</a:t>
            </a:r>
          </a:p>
        </p:txBody>
      </p:sp>
      <p:sp>
        <p:nvSpPr>
          <p:cNvPr id="11" name="TextBox 10"/>
          <p:cNvSpPr txBox="1"/>
          <p:nvPr/>
        </p:nvSpPr>
        <p:spPr>
          <a:xfrm>
            <a:off x="4896000" y="576000"/>
            <a:ext cx="5220000" cy="936000"/>
          </a:xfrm>
          <a:prstGeom prst="rect">
            <a:avLst/>
          </a:prstGeom>
          <a:noFill/>
        </p:spPr>
        <p:txBody>
          <a:bodyPr wrap="square" lIns="36000" rIns="36000" tIns="18000" bIns="18000" anchor="t">
            <a:spAutoFit/>
          </a:bodyPr>
          <a:lstStyle/>
          <a:p>
            <a:pPr algn="l">
              <a:lnSpc>
                <a:spcPct val="110000"/>
              </a:lnSpc>
            </a:pPr>
            <a:r>
              <a:rPr sz="1300" b="1">
                <a:solidFill>
                  <a:srgbClr val="1A1416"/>
                </a:solidFill>
                <a:latin typeface="Poppins"/>
              </a:rPr>
              <a:t>Maquilleur, photographe, vidéaste. Abidjan.</a:t>
            </a:r>
          </a:p>
        </p:txBody>
      </p:sp>
      <p:sp>
        <p:nvSpPr>
          <p:cNvPr id="12" name="Rounded Rectangle 11"/>
          <p:cNvSpPr/>
          <p:nvPr/>
        </p:nvSpPr>
        <p:spPr>
          <a:xfrm>
            <a:off x="489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users_dr.png"/>
          <p:cNvPicPr>
            <a:picLocks noChangeAspect="1"/>
          </p:cNvPicPr>
          <p:nvPr/>
        </p:nvPicPr>
        <p:blipFill>
          <a:blip r:embed="rId4"/>
          <a:stretch>
            <a:fillRect/>
          </a:stretch>
        </p:blipFill>
        <p:spPr>
          <a:xfrm>
            <a:off x="5040000" y="1710000"/>
            <a:ext cx="324000" cy="324000"/>
          </a:xfrm>
          <a:prstGeom prst="rect">
            <a:avLst/>
          </a:prstGeom>
        </p:spPr>
      </p:pic>
      <p:sp>
        <p:nvSpPr>
          <p:cNvPr id="14" name="TextBox 13"/>
          <p:cNvSpPr txBox="1"/>
          <p:nvPr/>
        </p:nvSpPr>
        <p:spPr>
          <a:xfrm>
            <a:off x="502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300 000</a:t>
            </a:r>
          </a:p>
        </p:txBody>
      </p:sp>
      <p:sp>
        <p:nvSpPr>
          <p:cNvPr id="15" name="TextBox 14"/>
          <p:cNvSpPr txBox="1"/>
          <p:nvPr/>
        </p:nvSpPr>
        <p:spPr>
          <a:xfrm>
            <a:off x="502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abonnés</a:t>
            </a:r>
          </a:p>
        </p:txBody>
      </p:sp>
      <p:sp>
        <p:nvSpPr>
          <p:cNvPr id="16" name="Rounded Rectangle 15"/>
          <p:cNvSpPr/>
          <p:nvPr/>
        </p:nvSpPr>
        <p:spPr>
          <a:xfrm>
            <a:off x="660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heart_dr.png"/>
          <p:cNvPicPr>
            <a:picLocks noChangeAspect="1"/>
          </p:cNvPicPr>
          <p:nvPr/>
        </p:nvPicPr>
        <p:blipFill>
          <a:blip r:embed="rId5"/>
          <a:stretch>
            <a:fillRect/>
          </a:stretch>
        </p:blipFill>
        <p:spPr>
          <a:xfrm>
            <a:off x="6750000" y="1710000"/>
            <a:ext cx="324000" cy="324000"/>
          </a:xfrm>
          <a:prstGeom prst="rect">
            <a:avLst/>
          </a:prstGeom>
        </p:spPr>
      </p:pic>
      <p:sp>
        <p:nvSpPr>
          <p:cNvPr id="18" name="TextBox 17"/>
          <p:cNvSpPr txBox="1"/>
          <p:nvPr/>
        </p:nvSpPr>
        <p:spPr>
          <a:xfrm>
            <a:off x="673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5 M</a:t>
            </a:r>
          </a:p>
        </p:txBody>
      </p:sp>
      <p:sp>
        <p:nvSpPr>
          <p:cNvPr id="19" name="TextBox 18"/>
          <p:cNvSpPr txBox="1"/>
          <p:nvPr/>
        </p:nvSpPr>
        <p:spPr>
          <a:xfrm>
            <a:off x="673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J’aime cumulés</a:t>
            </a:r>
          </a:p>
        </p:txBody>
      </p:sp>
      <p:sp>
        <p:nvSpPr>
          <p:cNvPr id="20" name="Rounded Rectangle 19"/>
          <p:cNvSpPr/>
          <p:nvPr/>
        </p:nvSpPr>
        <p:spPr>
          <a:xfrm>
            <a:off x="831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ye_dr.png"/>
          <p:cNvPicPr>
            <a:picLocks noChangeAspect="1"/>
          </p:cNvPicPr>
          <p:nvPr/>
        </p:nvPicPr>
        <p:blipFill>
          <a:blip r:embed="rId6"/>
          <a:stretch>
            <a:fillRect/>
          </a:stretch>
        </p:blipFill>
        <p:spPr>
          <a:xfrm>
            <a:off x="8460000" y="1710000"/>
            <a:ext cx="324000" cy="324000"/>
          </a:xfrm>
          <a:prstGeom prst="rect">
            <a:avLst/>
          </a:prstGeom>
        </p:spPr>
      </p:pic>
      <p:sp>
        <p:nvSpPr>
          <p:cNvPr id="22" name="TextBox 21"/>
          <p:cNvSpPr txBox="1"/>
          <p:nvPr/>
        </p:nvSpPr>
        <p:spPr>
          <a:xfrm>
            <a:off x="844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74 600</a:t>
            </a:r>
          </a:p>
        </p:txBody>
      </p:sp>
      <p:sp>
        <p:nvSpPr>
          <p:cNvPr id="23" name="TextBox 22"/>
          <p:cNvSpPr txBox="1"/>
          <p:nvPr/>
        </p:nvSpPr>
        <p:spPr>
          <a:xfrm>
            <a:off x="844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vues moyennes</a:t>
            </a:r>
          </a:p>
        </p:txBody>
      </p:sp>
      <p:sp>
        <p:nvSpPr>
          <p:cNvPr id="24" name="Rounded Rectangle 23"/>
          <p:cNvSpPr/>
          <p:nvPr/>
        </p:nvSpPr>
        <p:spPr>
          <a:xfrm>
            <a:off x="1002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trending-up_dr.png"/>
          <p:cNvPicPr>
            <a:picLocks noChangeAspect="1"/>
          </p:cNvPicPr>
          <p:nvPr/>
        </p:nvPicPr>
        <p:blipFill>
          <a:blip r:embed="rId7"/>
          <a:stretch>
            <a:fillRect/>
          </a:stretch>
        </p:blipFill>
        <p:spPr>
          <a:xfrm>
            <a:off x="10170000" y="1710000"/>
            <a:ext cx="324000" cy="324000"/>
          </a:xfrm>
          <a:prstGeom prst="rect">
            <a:avLst/>
          </a:prstGeom>
        </p:spPr>
      </p:pic>
      <p:sp>
        <p:nvSpPr>
          <p:cNvPr id="26" name="TextBox 25"/>
          <p:cNvSpPr txBox="1"/>
          <p:nvPr/>
        </p:nvSpPr>
        <p:spPr>
          <a:xfrm>
            <a:off x="1015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2,0 %</a:t>
            </a:r>
          </a:p>
        </p:txBody>
      </p:sp>
      <p:sp>
        <p:nvSpPr>
          <p:cNvPr id="27" name="TextBox 26"/>
          <p:cNvSpPr txBox="1"/>
          <p:nvPr/>
        </p:nvSpPr>
        <p:spPr>
          <a:xfrm>
            <a:off x="1015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engagement</a:t>
            </a:r>
          </a:p>
        </p:txBody>
      </p:sp>
      <p:sp>
        <p:nvSpPr>
          <p:cNvPr id="28" name="Rounded Rectangle 27"/>
          <p:cNvSpPr/>
          <p:nvPr/>
        </p:nvSpPr>
        <p:spPr>
          <a:xfrm>
            <a:off x="4896000" y="3060000"/>
            <a:ext cx="6732000" cy="1332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076000" y="3240000"/>
            <a:ext cx="468000" cy="4680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ircle-check_bl.png"/>
          <p:cNvPicPr>
            <a:picLocks noChangeAspect="1"/>
          </p:cNvPicPr>
          <p:nvPr/>
        </p:nvPicPr>
        <p:blipFill>
          <a:blip r:embed="rId8"/>
          <a:stretch>
            <a:fillRect/>
          </a:stretch>
        </p:blipFill>
        <p:spPr>
          <a:xfrm>
            <a:off x="5188320" y="3352320"/>
            <a:ext cx="243360" cy="243360"/>
          </a:xfrm>
          <a:prstGeom prst="rect">
            <a:avLst/>
          </a:prstGeom>
        </p:spPr>
      </p:pic>
      <p:sp>
        <p:nvSpPr>
          <p:cNvPr id="31" name="TextBox 30"/>
          <p:cNvSpPr txBox="1"/>
          <p:nvPr/>
        </p:nvSpPr>
        <p:spPr>
          <a:xfrm>
            <a:off x="5688000" y="3150000"/>
            <a:ext cx="5832000" cy="1188000"/>
          </a:xfrm>
          <a:prstGeom prst="rect">
            <a:avLst/>
          </a:prstGeom>
          <a:noFill/>
        </p:spPr>
        <p:txBody>
          <a:bodyPr wrap="square" lIns="36000" rIns="36000" tIns="18000" bIns="18000" anchor="t">
            <a:spAutoFit/>
          </a:bodyPr>
          <a:lstStyle/>
          <a:p>
            <a:pPr algn="l">
              <a:lnSpc>
                <a:spcPct val="110000"/>
              </a:lnSpc>
            </a:pPr>
            <a:r>
              <a:rPr sz="1200" b="1">
                <a:solidFill>
                  <a:srgbClr val="1A1416"/>
                </a:solidFill>
                <a:latin typeface="Poppins"/>
              </a:rPr>
              <a:t>Pourquoi ce profil</a:t>
            </a:r>
          </a:p>
          <a:p>
            <a:pPr algn="l">
              <a:lnSpc>
                <a:spcPct val="110000"/>
              </a:lnSpc>
              <a:spcBef>
                <a:spcPts val="500"/>
              </a:spcBef>
            </a:pPr>
            <a:r>
              <a:rPr sz="1150" b="0">
                <a:solidFill>
                  <a:srgbClr val="1A1416"/>
                </a:solidFill>
                <a:latin typeface="Poppins"/>
              </a:rPr>
              <a:t>Homme, créateur beauté, à Abidjan : relie la gamme Day by Day Men à un vrai savoir-faire du soin.</a:t>
            </a:r>
          </a:p>
        </p:txBody>
      </p:sp>
      <p:sp>
        <p:nvSpPr>
          <p:cNvPr id="32" name="Rounded Rectangle 31"/>
          <p:cNvSpPr/>
          <p:nvPr/>
        </p:nvSpPr>
        <p:spPr>
          <a:xfrm>
            <a:off x="4896000" y="4536000"/>
            <a:ext cx="6732000" cy="1152000"/>
          </a:xfrm>
          <a:prstGeom prst="roundRect">
            <a:avLst>
              <a:gd name="adj" fmla="val 6000"/>
            </a:avLst>
          </a:prstGeom>
          <a:solidFill>
            <a:srgbClr val="FB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076000" y="4716000"/>
            <a:ext cx="468000" cy="468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alert-triangle_bl.png"/>
          <p:cNvPicPr>
            <a:picLocks noChangeAspect="1"/>
          </p:cNvPicPr>
          <p:nvPr/>
        </p:nvPicPr>
        <p:blipFill>
          <a:blip r:embed="rId9"/>
          <a:stretch>
            <a:fillRect/>
          </a:stretch>
        </p:blipFill>
        <p:spPr>
          <a:xfrm>
            <a:off x="5188320" y="4828320"/>
            <a:ext cx="243360" cy="243360"/>
          </a:xfrm>
          <a:prstGeom prst="rect">
            <a:avLst/>
          </a:prstGeom>
        </p:spPr>
      </p:pic>
      <p:sp>
        <p:nvSpPr>
          <p:cNvPr id="35" name="TextBox 34"/>
          <p:cNvSpPr txBox="1"/>
          <p:nvPr/>
        </p:nvSpPr>
        <p:spPr>
          <a:xfrm>
            <a:off x="5688000" y="4626000"/>
            <a:ext cx="5832000" cy="1044000"/>
          </a:xfrm>
          <a:prstGeom prst="rect">
            <a:avLst/>
          </a:prstGeom>
          <a:noFill/>
        </p:spPr>
        <p:txBody>
          <a:bodyPr wrap="square" lIns="36000" rIns="36000" tIns="18000" bIns="18000" anchor="t">
            <a:spAutoFit/>
          </a:bodyPr>
          <a:lstStyle/>
          <a:p>
            <a:pPr algn="l">
              <a:lnSpc>
                <a:spcPct val="110000"/>
              </a:lnSpc>
            </a:pPr>
            <a:r>
              <a:rPr sz="1200" b="1">
                <a:solidFill>
                  <a:srgbClr val="AE172A"/>
                </a:solidFill>
                <a:latin typeface="Poppins"/>
              </a:rPr>
              <a:t>Point de vigilance</a:t>
            </a:r>
          </a:p>
          <a:p>
            <a:pPr algn="l">
              <a:lnSpc>
                <a:spcPct val="110000"/>
              </a:lnSpc>
              <a:spcBef>
                <a:spcPts val="500"/>
              </a:spcBef>
            </a:pPr>
            <a:r>
              <a:rPr sz="1150" b="0">
                <a:solidFill>
                  <a:srgbClr val="1A1416"/>
                </a:solidFill>
                <a:latin typeface="Poppins"/>
              </a:rPr>
              <a:t>Audience surtout féminine probable : demander la répartition hommes / femmes de son audience.</a:t>
            </a:r>
          </a:p>
        </p:txBody>
      </p:sp>
      <p:sp>
        <p:nvSpPr>
          <p:cNvPr id="36" name="TextBox 35"/>
          <p:cNvSpPr txBox="1"/>
          <p:nvPr/>
        </p:nvSpPr>
        <p:spPr>
          <a:xfrm>
            <a:off x="4896000" y="5832000"/>
            <a:ext cx="6732000" cy="360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Chiffres publics TikTok relevés le 28/10/2026 (vues et engagement : TokRanks, oct. 2026). Aucun contact pris : profil à valider.</a:t>
            </a:r>
          </a:p>
        </p:txBody>
      </p:sp>
      <p:sp>
        <p:nvSpPr>
          <p:cNvPr id="37" name="TextBox 36"/>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11 / 22</a:t>
            </a:r>
          </a:p>
        </p:txBody>
      </p:sp>
      <p:sp>
        <p:nvSpPr>
          <p:cNvPr id="38" name="TextBox 37"/>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00000" cy="6858000"/>
          </a:xfrm>
          <a:prstGeom prst="rect">
            <a:avLst/>
          </a:prstGeom>
          <a:solidFill>
            <a:srgbClr val="2A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v_anicegbale.jpg"/>
          <p:cNvPicPr>
            <a:picLocks noChangeAspect="1"/>
          </p:cNvPicPr>
          <p:nvPr/>
        </p:nvPicPr>
        <p:blipFill>
          <a:blip r:embed="rId2"/>
          <a:stretch>
            <a:fillRect/>
          </a:stretch>
        </p:blipFill>
        <p:spPr>
          <a:xfrm>
            <a:off x="666000" y="846000"/>
            <a:ext cx="3168000" cy="3168000"/>
          </a:xfrm>
          <a:prstGeom prst="rect">
            <a:avLst/>
          </a:prstGeom>
        </p:spPr>
      </p:pic>
      <p:sp>
        <p:nvSpPr>
          <p:cNvPr id="4" name="TextBox 3"/>
          <p:cNvSpPr txBox="1"/>
          <p:nvPr/>
        </p:nvSpPr>
        <p:spPr>
          <a:xfrm>
            <a:off x="288000" y="4176000"/>
            <a:ext cx="3924000" cy="432000"/>
          </a:xfrm>
          <a:prstGeom prst="rect">
            <a:avLst/>
          </a:prstGeom>
          <a:noFill/>
        </p:spPr>
        <p:txBody>
          <a:bodyPr wrap="square" lIns="36000" rIns="36000" tIns="18000" bIns="18000" anchor="t">
            <a:spAutoFit/>
          </a:bodyPr>
          <a:lstStyle/>
          <a:p>
            <a:pPr algn="ctr">
              <a:lnSpc>
                <a:spcPct val="110000"/>
              </a:lnSpc>
            </a:pPr>
            <a:r>
              <a:rPr sz="2200" b="1">
                <a:solidFill>
                  <a:srgbClr val="FFFFFF"/>
                </a:solidFill>
                <a:latin typeface="Poppins"/>
              </a:rPr>
              <a:t>Maman de Kylian</a:t>
            </a:r>
          </a:p>
        </p:txBody>
      </p:sp>
      <p:sp>
        <p:nvSpPr>
          <p:cNvPr id="5" name="TextBox 4"/>
          <p:cNvSpPr txBox="1"/>
          <p:nvPr/>
        </p:nvSpPr>
        <p:spPr>
          <a:xfrm>
            <a:off x="288000" y="4644000"/>
            <a:ext cx="3924000" cy="288000"/>
          </a:xfrm>
          <a:prstGeom prst="rect">
            <a:avLst/>
          </a:prstGeom>
          <a:noFill/>
        </p:spPr>
        <p:txBody>
          <a:bodyPr wrap="square" lIns="36000" rIns="36000" tIns="18000" bIns="18000" anchor="t">
            <a:spAutoFit/>
          </a:bodyPr>
          <a:lstStyle/>
          <a:p>
            <a:pPr algn="ctr">
              <a:lnSpc>
                <a:spcPct val="110000"/>
              </a:lnSpc>
            </a:pPr>
            <a:r>
              <a:rPr sz="1100" b="0">
                <a:solidFill>
                  <a:srgbClr val="F3DADD"/>
                </a:solidFill>
                <a:latin typeface="Poppins"/>
              </a:rPr>
              <a:t>tiktok.com/@anicegbale</a:t>
            </a:r>
          </a:p>
        </p:txBody>
      </p:sp>
      <p:sp>
        <p:nvSpPr>
          <p:cNvPr id="6" name="Rounded Rectangle 5"/>
          <p:cNvSpPr/>
          <p:nvPr/>
        </p:nvSpPr>
        <p:spPr>
          <a:xfrm>
            <a:off x="1170000" y="5076000"/>
            <a:ext cx="2160000" cy="342000"/>
          </a:xfrm>
          <a:prstGeom prst="roundRect">
            <a:avLst>
              <a:gd name="adj" fmla="val 50000"/>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000" y="5076000"/>
            <a:ext cx="2160000" cy="342000"/>
          </a:xfrm>
          <a:prstGeom prst="rect">
            <a:avLst/>
          </a:prstGeom>
          <a:noFill/>
        </p:spPr>
        <p:txBody>
          <a:bodyPr wrap="square" lIns="36000" rIns="36000" tIns="18000" bIns="18000" anchor="ctr">
            <a:spAutoFit/>
          </a:bodyPr>
          <a:lstStyle/>
          <a:p>
            <a:pPr algn="ctr">
              <a:lnSpc>
                <a:spcPct val="110000"/>
              </a:lnSpc>
            </a:pPr>
            <a:r>
              <a:rPr sz="1100" b="1">
                <a:solidFill>
                  <a:srgbClr val="FFFFFF"/>
                </a:solidFill>
                <a:latin typeface="Poppins"/>
              </a:rPr>
              <a:t>Maman</a:t>
            </a:r>
          </a:p>
        </p:txBody>
      </p:sp>
      <p:sp>
        <p:nvSpPr>
          <p:cNvPr id="8" name="TextBox 7"/>
          <p:cNvSpPr txBox="1"/>
          <p:nvPr/>
        </p:nvSpPr>
        <p:spPr>
          <a:xfrm>
            <a:off x="288000" y="5616000"/>
            <a:ext cx="3924000" cy="576000"/>
          </a:xfrm>
          <a:prstGeom prst="rect">
            <a:avLst/>
          </a:prstGeom>
          <a:noFill/>
        </p:spPr>
        <p:txBody>
          <a:bodyPr wrap="square" lIns="36000" rIns="36000" tIns="18000" bIns="18000" anchor="t">
            <a:spAutoFit/>
          </a:bodyPr>
          <a:lstStyle/>
          <a:p>
            <a:pPr algn="ctr">
              <a:lnSpc>
                <a:spcPct val="110000"/>
              </a:lnSpc>
            </a:pPr>
            <a:r>
              <a:rPr sz="1100" b="1">
                <a:solidFill>
                  <a:srgbClr val="FFFFFF"/>
                </a:solidFill>
                <a:latin typeface="Poppins"/>
              </a:rPr>
              <a:t>Babymed · Day by Day Baby</a:t>
            </a:r>
          </a:p>
        </p:txBody>
      </p:sp>
      <p:pic>
        <p:nvPicPr>
          <p:cNvPr id="9" name="Picture 8" descr="logo.png"/>
          <p:cNvPicPr>
            <a:picLocks noChangeAspect="1"/>
          </p:cNvPicPr>
          <p:nvPr/>
        </p:nvPicPr>
        <p:blipFill>
          <a:blip r:embed="rId3"/>
          <a:stretch>
            <a:fillRect/>
          </a:stretch>
        </p:blipFill>
        <p:spPr>
          <a:xfrm>
            <a:off x="10248119" y="257639"/>
            <a:ext cx="1584000" cy="492718"/>
          </a:xfrm>
          <a:prstGeom prst="rect">
            <a:avLst/>
          </a:prstGeom>
        </p:spPr>
      </p:pic>
      <p:sp>
        <p:nvSpPr>
          <p:cNvPr id="10" name="TextBox 9"/>
          <p:cNvSpPr txBox="1"/>
          <p:nvPr/>
        </p:nvSpPr>
        <p:spPr>
          <a:xfrm>
            <a:off x="4896000" y="324000"/>
            <a:ext cx="504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04 · CRÉATEUR 5 SUR 8</a:t>
            </a:r>
          </a:p>
        </p:txBody>
      </p:sp>
      <p:sp>
        <p:nvSpPr>
          <p:cNvPr id="11" name="TextBox 10"/>
          <p:cNvSpPr txBox="1"/>
          <p:nvPr/>
        </p:nvSpPr>
        <p:spPr>
          <a:xfrm>
            <a:off x="4896000" y="576000"/>
            <a:ext cx="5220000" cy="936000"/>
          </a:xfrm>
          <a:prstGeom prst="rect">
            <a:avLst/>
          </a:prstGeom>
          <a:noFill/>
        </p:spPr>
        <p:txBody>
          <a:bodyPr wrap="square" lIns="36000" rIns="36000" tIns="18000" bIns="18000" anchor="t">
            <a:spAutoFit/>
          </a:bodyPr>
          <a:lstStyle/>
          <a:p>
            <a:pPr algn="l">
              <a:lnSpc>
                <a:spcPct val="110000"/>
              </a:lnSpc>
            </a:pPr>
            <a:r>
              <a:rPr sz="1300" b="1">
                <a:solidFill>
                  <a:srgbClr val="1A1416"/>
                </a:solidFill>
                <a:latin typeface="Poppins"/>
              </a:rPr>
              <a:t>Compte « Maman de Kylian », aussi sur Instagram (maman_de_kylian).</a:t>
            </a:r>
          </a:p>
        </p:txBody>
      </p:sp>
      <p:sp>
        <p:nvSpPr>
          <p:cNvPr id="12" name="Rounded Rectangle 11"/>
          <p:cNvSpPr/>
          <p:nvPr/>
        </p:nvSpPr>
        <p:spPr>
          <a:xfrm>
            <a:off x="489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users_dr.png"/>
          <p:cNvPicPr>
            <a:picLocks noChangeAspect="1"/>
          </p:cNvPicPr>
          <p:nvPr/>
        </p:nvPicPr>
        <p:blipFill>
          <a:blip r:embed="rId4"/>
          <a:stretch>
            <a:fillRect/>
          </a:stretch>
        </p:blipFill>
        <p:spPr>
          <a:xfrm>
            <a:off x="5040000" y="1710000"/>
            <a:ext cx="324000" cy="324000"/>
          </a:xfrm>
          <a:prstGeom prst="rect">
            <a:avLst/>
          </a:prstGeom>
        </p:spPr>
      </p:pic>
      <p:sp>
        <p:nvSpPr>
          <p:cNvPr id="14" name="TextBox 13"/>
          <p:cNvSpPr txBox="1"/>
          <p:nvPr/>
        </p:nvSpPr>
        <p:spPr>
          <a:xfrm>
            <a:off x="502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948 000</a:t>
            </a:r>
          </a:p>
        </p:txBody>
      </p:sp>
      <p:sp>
        <p:nvSpPr>
          <p:cNvPr id="15" name="TextBox 14"/>
          <p:cNvSpPr txBox="1"/>
          <p:nvPr/>
        </p:nvSpPr>
        <p:spPr>
          <a:xfrm>
            <a:off x="502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abonnés</a:t>
            </a:r>
          </a:p>
        </p:txBody>
      </p:sp>
      <p:sp>
        <p:nvSpPr>
          <p:cNvPr id="16" name="Rounded Rectangle 15"/>
          <p:cNvSpPr/>
          <p:nvPr/>
        </p:nvSpPr>
        <p:spPr>
          <a:xfrm>
            <a:off x="660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heart_dr.png"/>
          <p:cNvPicPr>
            <a:picLocks noChangeAspect="1"/>
          </p:cNvPicPr>
          <p:nvPr/>
        </p:nvPicPr>
        <p:blipFill>
          <a:blip r:embed="rId5"/>
          <a:stretch>
            <a:fillRect/>
          </a:stretch>
        </p:blipFill>
        <p:spPr>
          <a:xfrm>
            <a:off x="6750000" y="1710000"/>
            <a:ext cx="324000" cy="324000"/>
          </a:xfrm>
          <a:prstGeom prst="rect">
            <a:avLst/>
          </a:prstGeom>
        </p:spPr>
      </p:pic>
      <p:sp>
        <p:nvSpPr>
          <p:cNvPr id="18" name="TextBox 17"/>
          <p:cNvSpPr txBox="1"/>
          <p:nvPr/>
        </p:nvSpPr>
        <p:spPr>
          <a:xfrm>
            <a:off x="673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19,3 M</a:t>
            </a:r>
          </a:p>
        </p:txBody>
      </p:sp>
      <p:sp>
        <p:nvSpPr>
          <p:cNvPr id="19" name="TextBox 18"/>
          <p:cNvSpPr txBox="1"/>
          <p:nvPr/>
        </p:nvSpPr>
        <p:spPr>
          <a:xfrm>
            <a:off x="673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J’aime cumulés</a:t>
            </a:r>
          </a:p>
        </p:txBody>
      </p:sp>
      <p:sp>
        <p:nvSpPr>
          <p:cNvPr id="20" name="Rounded Rectangle 19"/>
          <p:cNvSpPr/>
          <p:nvPr/>
        </p:nvSpPr>
        <p:spPr>
          <a:xfrm>
            <a:off x="831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ye_dr.png"/>
          <p:cNvPicPr>
            <a:picLocks noChangeAspect="1"/>
          </p:cNvPicPr>
          <p:nvPr/>
        </p:nvPicPr>
        <p:blipFill>
          <a:blip r:embed="rId6"/>
          <a:stretch>
            <a:fillRect/>
          </a:stretch>
        </p:blipFill>
        <p:spPr>
          <a:xfrm>
            <a:off x="8460000" y="1710000"/>
            <a:ext cx="324000" cy="324000"/>
          </a:xfrm>
          <a:prstGeom prst="rect">
            <a:avLst/>
          </a:prstGeom>
        </p:spPr>
      </p:pic>
      <p:sp>
        <p:nvSpPr>
          <p:cNvPr id="22" name="TextBox 21"/>
          <p:cNvSpPr txBox="1"/>
          <p:nvPr/>
        </p:nvSpPr>
        <p:spPr>
          <a:xfrm>
            <a:off x="844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49 500</a:t>
            </a:r>
          </a:p>
        </p:txBody>
      </p:sp>
      <p:sp>
        <p:nvSpPr>
          <p:cNvPr id="23" name="TextBox 22"/>
          <p:cNvSpPr txBox="1"/>
          <p:nvPr/>
        </p:nvSpPr>
        <p:spPr>
          <a:xfrm>
            <a:off x="844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vues moyennes</a:t>
            </a:r>
          </a:p>
        </p:txBody>
      </p:sp>
      <p:sp>
        <p:nvSpPr>
          <p:cNvPr id="24" name="Rounded Rectangle 23"/>
          <p:cNvSpPr/>
          <p:nvPr/>
        </p:nvSpPr>
        <p:spPr>
          <a:xfrm>
            <a:off x="1002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trending-up_dr.png"/>
          <p:cNvPicPr>
            <a:picLocks noChangeAspect="1"/>
          </p:cNvPicPr>
          <p:nvPr/>
        </p:nvPicPr>
        <p:blipFill>
          <a:blip r:embed="rId7"/>
          <a:stretch>
            <a:fillRect/>
          </a:stretch>
        </p:blipFill>
        <p:spPr>
          <a:xfrm>
            <a:off x="10170000" y="1710000"/>
            <a:ext cx="324000" cy="324000"/>
          </a:xfrm>
          <a:prstGeom prst="rect">
            <a:avLst/>
          </a:prstGeom>
        </p:spPr>
      </p:pic>
      <p:sp>
        <p:nvSpPr>
          <p:cNvPr id="26" name="TextBox 25"/>
          <p:cNvSpPr txBox="1"/>
          <p:nvPr/>
        </p:nvSpPr>
        <p:spPr>
          <a:xfrm>
            <a:off x="1015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1,3 %</a:t>
            </a:r>
          </a:p>
        </p:txBody>
      </p:sp>
      <p:sp>
        <p:nvSpPr>
          <p:cNvPr id="27" name="TextBox 26"/>
          <p:cNvSpPr txBox="1"/>
          <p:nvPr/>
        </p:nvSpPr>
        <p:spPr>
          <a:xfrm>
            <a:off x="1015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engagement</a:t>
            </a:r>
          </a:p>
        </p:txBody>
      </p:sp>
      <p:sp>
        <p:nvSpPr>
          <p:cNvPr id="28" name="Rounded Rectangle 27"/>
          <p:cNvSpPr/>
          <p:nvPr/>
        </p:nvSpPr>
        <p:spPr>
          <a:xfrm>
            <a:off x="4896000" y="3060000"/>
            <a:ext cx="6732000" cy="1332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076000" y="3240000"/>
            <a:ext cx="468000" cy="4680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ircle-check_bl.png"/>
          <p:cNvPicPr>
            <a:picLocks noChangeAspect="1"/>
          </p:cNvPicPr>
          <p:nvPr/>
        </p:nvPicPr>
        <p:blipFill>
          <a:blip r:embed="rId8"/>
          <a:stretch>
            <a:fillRect/>
          </a:stretch>
        </p:blipFill>
        <p:spPr>
          <a:xfrm>
            <a:off x="5188320" y="3352320"/>
            <a:ext cx="243360" cy="243360"/>
          </a:xfrm>
          <a:prstGeom prst="rect">
            <a:avLst/>
          </a:prstGeom>
        </p:spPr>
      </p:pic>
      <p:sp>
        <p:nvSpPr>
          <p:cNvPr id="31" name="TextBox 30"/>
          <p:cNvSpPr txBox="1"/>
          <p:nvPr/>
        </p:nvSpPr>
        <p:spPr>
          <a:xfrm>
            <a:off x="5688000" y="3150000"/>
            <a:ext cx="5832000" cy="1188000"/>
          </a:xfrm>
          <a:prstGeom prst="rect">
            <a:avLst/>
          </a:prstGeom>
          <a:noFill/>
        </p:spPr>
        <p:txBody>
          <a:bodyPr wrap="square" lIns="36000" rIns="36000" tIns="18000" bIns="18000" anchor="t">
            <a:spAutoFit/>
          </a:bodyPr>
          <a:lstStyle/>
          <a:p>
            <a:pPr algn="l">
              <a:lnSpc>
                <a:spcPct val="110000"/>
              </a:lnSpc>
            </a:pPr>
            <a:r>
              <a:rPr sz="1200" b="1">
                <a:solidFill>
                  <a:srgbClr val="1A1416"/>
                </a:solidFill>
                <a:latin typeface="Poppins"/>
              </a:rPr>
              <a:t>Pourquoi ce profil</a:t>
            </a:r>
          </a:p>
          <a:p>
            <a:pPr algn="l">
              <a:lnSpc>
                <a:spcPct val="110000"/>
              </a:lnSpc>
              <a:spcBef>
                <a:spcPts val="500"/>
              </a:spcBef>
            </a:pPr>
            <a:r>
              <a:rPr sz="1150" b="0">
                <a:solidFill>
                  <a:srgbClr val="1A1416"/>
                </a:solidFill>
                <a:latin typeface="Poppins"/>
              </a:rPr>
              <a:t>Très forte audience et une identité de maman assumée : porte-voix naturel pour Babymed et Day by Day Baby.</a:t>
            </a:r>
          </a:p>
        </p:txBody>
      </p:sp>
      <p:sp>
        <p:nvSpPr>
          <p:cNvPr id="32" name="Rounded Rectangle 31"/>
          <p:cNvSpPr/>
          <p:nvPr/>
        </p:nvSpPr>
        <p:spPr>
          <a:xfrm>
            <a:off x="4896000" y="4536000"/>
            <a:ext cx="6732000" cy="1152000"/>
          </a:xfrm>
          <a:prstGeom prst="roundRect">
            <a:avLst>
              <a:gd name="adj" fmla="val 6000"/>
            </a:avLst>
          </a:prstGeom>
          <a:solidFill>
            <a:srgbClr val="FB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076000" y="4716000"/>
            <a:ext cx="468000" cy="468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alert-triangle_bl.png"/>
          <p:cNvPicPr>
            <a:picLocks noChangeAspect="1"/>
          </p:cNvPicPr>
          <p:nvPr/>
        </p:nvPicPr>
        <p:blipFill>
          <a:blip r:embed="rId9"/>
          <a:stretch>
            <a:fillRect/>
          </a:stretch>
        </p:blipFill>
        <p:spPr>
          <a:xfrm>
            <a:off x="5188320" y="4828320"/>
            <a:ext cx="243360" cy="243360"/>
          </a:xfrm>
          <a:prstGeom prst="rect">
            <a:avLst/>
          </a:prstGeom>
        </p:spPr>
      </p:pic>
      <p:sp>
        <p:nvSpPr>
          <p:cNvPr id="35" name="TextBox 34"/>
          <p:cNvSpPr txBox="1"/>
          <p:nvPr/>
        </p:nvSpPr>
        <p:spPr>
          <a:xfrm>
            <a:off x="5688000" y="4626000"/>
            <a:ext cx="5832000" cy="1044000"/>
          </a:xfrm>
          <a:prstGeom prst="rect">
            <a:avLst/>
          </a:prstGeom>
          <a:noFill/>
        </p:spPr>
        <p:txBody>
          <a:bodyPr wrap="square" lIns="36000" rIns="36000" tIns="18000" bIns="18000" anchor="t">
            <a:spAutoFit/>
          </a:bodyPr>
          <a:lstStyle/>
          <a:p>
            <a:pPr algn="l">
              <a:lnSpc>
                <a:spcPct val="110000"/>
              </a:lnSpc>
            </a:pPr>
            <a:r>
              <a:rPr sz="1200" b="1">
                <a:solidFill>
                  <a:srgbClr val="AE172A"/>
                </a:solidFill>
                <a:latin typeface="Poppins"/>
              </a:rPr>
              <a:t>Point de vigilance</a:t>
            </a:r>
          </a:p>
          <a:p>
            <a:pPr algn="l">
              <a:lnSpc>
                <a:spcPct val="110000"/>
              </a:lnSpc>
              <a:spcBef>
                <a:spcPts val="500"/>
              </a:spcBef>
            </a:pPr>
            <a:r>
              <a:rPr sz="1150" b="0">
                <a:solidFill>
                  <a:srgbClr val="1A1416"/>
                </a:solidFill>
                <a:latin typeface="Poppins"/>
              </a:rPr>
              <a:t>Contenu à regarder en détail avant contact : thèmes réels du compte et ton à confirmer.</a:t>
            </a:r>
          </a:p>
        </p:txBody>
      </p:sp>
      <p:sp>
        <p:nvSpPr>
          <p:cNvPr id="36" name="TextBox 35"/>
          <p:cNvSpPr txBox="1"/>
          <p:nvPr/>
        </p:nvSpPr>
        <p:spPr>
          <a:xfrm>
            <a:off x="4896000" y="5832000"/>
            <a:ext cx="6732000" cy="360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Chiffres publics TikTok relevés le 28/10/2026 (vues et engagement : TokRanks, oct. 2026). Aucun contact pris : profil à valider.</a:t>
            </a:r>
          </a:p>
        </p:txBody>
      </p:sp>
      <p:sp>
        <p:nvSpPr>
          <p:cNvPr id="37" name="TextBox 36"/>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12 / 22</a:t>
            </a:r>
          </a:p>
        </p:txBody>
      </p:sp>
      <p:sp>
        <p:nvSpPr>
          <p:cNvPr id="38" name="TextBox 37"/>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00000" cy="6858000"/>
          </a:xfrm>
          <a:prstGeom prst="rect">
            <a:avLst/>
          </a:prstGeom>
          <a:solidFill>
            <a:srgbClr val="2A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v_maman_conseilamc.jpg"/>
          <p:cNvPicPr>
            <a:picLocks noChangeAspect="1"/>
          </p:cNvPicPr>
          <p:nvPr/>
        </p:nvPicPr>
        <p:blipFill>
          <a:blip r:embed="rId2"/>
          <a:stretch>
            <a:fillRect/>
          </a:stretch>
        </p:blipFill>
        <p:spPr>
          <a:xfrm>
            <a:off x="666000" y="846000"/>
            <a:ext cx="3168000" cy="3168000"/>
          </a:xfrm>
          <a:prstGeom prst="rect">
            <a:avLst/>
          </a:prstGeom>
        </p:spPr>
      </p:pic>
      <p:sp>
        <p:nvSpPr>
          <p:cNvPr id="4" name="TextBox 3"/>
          <p:cNvSpPr txBox="1"/>
          <p:nvPr/>
        </p:nvSpPr>
        <p:spPr>
          <a:xfrm>
            <a:off x="288000" y="4176000"/>
            <a:ext cx="3924000" cy="432000"/>
          </a:xfrm>
          <a:prstGeom prst="rect">
            <a:avLst/>
          </a:prstGeom>
          <a:noFill/>
        </p:spPr>
        <p:txBody>
          <a:bodyPr wrap="square" lIns="36000" rIns="36000" tIns="18000" bIns="18000" anchor="t">
            <a:spAutoFit/>
          </a:bodyPr>
          <a:lstStyle/>
          <a:p>
            <a:pPr algn="ctr">
              <a:lnSpc>
                <a:spcPct val="110000"/>
              </a:lnSpc>
            </a:pPr>
            <a:r>
              <a:rPr sz="2200" b="1">
                <a:solidFill>
                  <a:srgbClr val="FFFFFF"/>
                </a:solidFill>
                <a:latin typeface="Poppins"/>
              </a:rPr>
              <a:t>Mamanconseil</a:t>
            </a:r>
          </a:p>
        </p:txBody>
      </p:sp>
      <p:sp>
        <p:nvSpPr>
          <p:cNvPr id="5" name="TextBox 4"/>
          <p:cNvSpPr txBox="1"/>
          <p:nvPr/>
        </p:nvSpPr>
        <p:spPr>
          <a:xfrm>
            <a:off x="288000" y="4644000"/>
            <a:ext cx="3924000" cy="288000"/>
          </a:xfrm>
          <a:prstGeom prst="rect">
            <a:avLst/>
          </a:prstGeom>
          <a:noFill/>
        </p:spPr>
        <p:txBody>
          <a:bodyPr wrap="square" lIns="36000" rIns="36000" tIns="18000" bIns="18000" anchor="t">
            <a:spAutoFit/>
          </a:bodyPr>
          <a:lstStyle/>
          <a:p>
            <a:pPr algn="ctr">
              <a:lnSpc>
                <a:spcPct val="110000"/>
              </a:lnSpc>
            </a:pPr>
            <a:r>
              <a:rPr sz="1100" b="0">
                <a:solidFill>
                  <a:srgbClr val="F3DADD"/>
                </a:solidFill>
                <a:latin typeface="Poppins"/>
              </a:rPr>
              <a:t>tiktok.com/@maman_conseilamc</a:t>
            </a:r>
          </a:p>
        </p:txBody>
      </p:sp>
      <p:sp>
        <p:nvSpPr>
          <p:cNvPr id="6" name="Rounded Rectangle 5"/>
          <p:cNvSpPr/>
          <p:nvPr/>
        </p:nvSpPr>
        <p:spPr>
          <a:xfrm>
            <a:off x="1170000" y="5076000"/>
            <a:ext cx="2160000" cy="342000"/>
          </a:xfrm>
          <a:prstGeom prst="roundRect">
            <a:avLst>
              <a:gd name="adj" fmla="val 50000"/>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000" y="5076000"/>
            <a:ext cx="2160000" cy="342000"/>
          </a:xfrm>
          <a:prstGeom prst="rect">
            <a:avLst/>
          </a:prstGeom>
          <a:noFill/>
        </p:spPr>
        <p:txBody>
          <a:bodyPr wrap="square" lIns="36000" rIns="36000" tIns="18000" bIns="18000" anchor="ctr">
            <a:spAutoFit/>
          </a:bodyPr>
          <a:lstStyle/>
          <a:p>
            <a:pPr algn="ctr">
              <a:lnSpc>
                <a:spcPct val="110000"/>
              </a:lnSpc>
            </a:pPr>
            <a:r>
              <a:rPr sz="1100" b="1">
                <a:solidFill>
                  <a:srgbClr val="FFFFFF"/>
                </a:solidFill>
                <a:latin typeface="Poppins"/>
              </a:rPr>
              <a:t>Maman · conseil</a:t>
            </a:r>
          </a:p>
        </p:txBody>
      </p:sp>
      <p:sp>
        <p:nvSpPr>
          <p:cNvPr id="8" name="TextBox 7"/>
          <p:cNvSpPr txBox="1"/>
          <p:nvPr/>
        </p:nvSpPr>
        <p:spPr>
          <a:xfrm>
            <a:off x="288000" y="5616000"/>
            <a:ext cx="3924000" cy="576000"/>
          </a:xfrm>
          <a:prstGeom prst="rect">
            <a:avLst/>
          </a:prstGeom>
          <a:noFill/>
        </p:spPr>
        <p:txBody>
          <a:bodyPr wrap="square" lIns="36000" rIns="36000" tIns="18000" bIns="18000" anchor="t">
            <a:spAutoFit/>
          </a:bodyPr>
          <a:lstStyle/>
          <a:p>
            <a:pPr algn="ctr">
              <a:lnSpc>
                <a:spcPct val="110000"/>
              </a:lnSpc>
            </a:pPr>
            <a:r>
              <a:rPr sz="1100" b="1">
                <a:solidFill>
                  <a:srgbClr val="FFFFFF"/>
                </a:solidFill>
                <a:latin typeface="Poppins"/>
              </a:rPr>
              <a:t>Babymed · Day by Day Kids</a:t>
            </a:r>
          </a:p>
        </p:txBody>
      </p:sp>
      <p:pic>
        <p:nvPicPr>
          <p:cNvPr id="9" name="Picture 8" descr="logo.png"/>
          <p:cNvPicPr>
            <a:picLocks noChangeAspect="1"/>
          </p:cNvPicPr>
          <p:nvPr/>
        </p:nvPicPr>
        <p:blipFill>
          <a:blip r:embed="rId3"/>
          <a:stretch>
            <a:fillRect/>
          </a:stretch>
        </p:blipFill>
        <p:spPr>
          <a:xfrm>
            <a:off x="10248119" y="257639"/>
            <a:ext cx="1584000" cy="492718"/>
          </a:xfrm>
          <a:prstGeom prst="rect">
            <a:avLst/>
          </a:prstGeom>
        </p:spPr>
      </p:pic>
      <p:sp>
        <p:nvSpPr>
          <p:cNvPr id="10" name="TextBox 9"/>
          <p:cNvSpPr txBox="1"/>
          <p:nvPr/>
        </p:nvSpPr>
        <p:spPr>
          <a:xfrm>
            <a:off x="4896000" y="324000"/>
            <a:ext cx="504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04 · CRÉATEUR 6 SUR 8</a:t>
            </a:r>
          </a:p>
        </p:txBody>
      </p:sp>
      <p:sp>
        <p:nvSpPr>
          <p:cNvPr id="11" name="TextBox 10"/>
          <p:cNvSpPr txBox="1"/>
          <p:nvPr/>
        </p:nvSpPr>
        <p:spPr>
          <a:xfrm>
            <a:off x="4896000" y="576000"/>
            <a:ext cx="5220000" cy="936000"/>
          </a:xfrm>
          <a:prstGeom prst="rect">
            <a:avLst/>
          </a:prstGeom>
          <a:noFill/>
        </p:spPr>
        <p:txBody>
          <a:bodyPr wrap="square" lIns="36000" rIns="36000" tIns="18000" bIns="18000" anchor="t">
            <a:spAutoFit/>
          </a:bodyPr>
          <a:lstStyle/>
          <a:p>
            <a:pPr algn="l">
              <a:lnSpc>
                <a:spcPct val="110000"/>
              </a:lnSpc>
            </a:pPr>
            <a:r>
              <a:rPr sz="1300" b="1">
                <a:solidFill>
                  <a:srgbClr val="1A1416"/>
                </a:solidFill>
                <a:latin typeface="Poppins"/>
              </a:rPr>
              <a:t>Conseils aux mamans, groupe de consultation en ligne sur WhatsApp.</a:t>
            </a:r>
          </a:p>
        </p:txBody>
      </p:sp>
      <p:sp>
        <p:nvSpPr>
          <p:cNvPr id="12" name="Rounded Rectangle 11"/>
          <p:cNvSpPr/>
          <p:nvPr/>
        </p:nvSpPr>
        <p:spPr>
          <a:xfrm>
            <a:off x="489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users_dr.png"/>
          <p:cNvPicPr>
            <a:picLocks noChangeAspect="1"/>
          </p:cNvPicPr>
          <p:nvPr/>
        </p:nvPicPr>
        <p:blipFill>
          <a:blip r:embed="rId4"/>
          <a:stretch>
            <a:fillRect/>
          </a:stretch>
        </p:blipFill>
        <p:spPr>
          <a:xfrm>
            <a:off x="5040000" y="1710000"/>
            <a:ext cx="324000" cy="324000"/>
          </a:xfrm>
          <a:prstGeom prst="rect">
            <a:avLst/>
          </a:prstGeom>
        </p:spPr>
      </p:pic>
      <p:sp>
        <p:nvSpPr>
          <p:cNvPr id="14" name="TextBox 13"/>
          <p:cNvSpPr txBox="1"/>
          <p:nvPr/>
        </p:nvSpPr>
        <p:spPr>
          <a:xfrm>
            <a:off x="502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335 000</a:t>
            </a:r>
          </a:p>
        </p:txBody>
      </p:sp>
      <p:sp>
        <p:nvSpPr>
          <p:cNvPr id="15" name="TextBox 14"/>
          <p:cNvSpPr txBox="1"/>
          <p:nvPr/>
        </p:nvSpPr>
        <p:spPr>
          <a:xfrm>
            <a:off x="502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abonnés</a:t>
            </a:r>
          </a:p>
        </p:txBody>
      </p:sp>
      <p:sp>
        <p:nvSpPr>
          <p:cNvPr id="16" name="Rounded Rectangle 15"/>
          <p:cNvSpPr/>
          <p:nvPr/>
        </p:nvSpPr>
        <p:spPr>
          <a:xfrm>
            <a:off x="660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heart_dr.png"/>
          <p:cNvPicPr>
            <a:picLocks noChangeAspect="1"/>
          </p:cNvPicPr>
          <p:nvPr/>
        </p:nvPicPr>
        <p:blipFill>
          <a:blip r:embed="rId5"/>
          <a:stretch>
            <a:fillRect/>
          </a:stretch>
        </p:blipFill>
        <p:spPr>
          <a:xfrm>
            <a:off x="6750000" y="1710000"/>
            <a:ext cx="324000" cy="324000"/>
          </a:xfrm>
          <a:prstGeom prst="rect">
            <a:avLst/>
          </a:prstGeom>
        </p:spPr>
      </p:pic>
      <p:sp>
        <p:nvSpPr>
          <p:cNvPr id="18" name="TextBox 17"/>
          <p:cNvSpPr txBox="1"/>
          <p:nvPr/>
        </p:nvSpPr>
        <p:spPr>
          <a:xfrm>
            <a:off x="673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2,3 M</a:t>
            </a:r>
          </a:p>
        </p:txBody>
      </p:sp>
      <p:sp>
        <p:nvSpPr>
          <p:cNvPr id="19" name="TextBox 18"/>
          <p:cNvSpPr txBox="1"/>
          <p:nvPr/>
        </p:nvSpPr>
        <p:spPr>
          <a:xfrm>
            <a:off x="673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J’aime cumulés</a:t>
            </a:r>
          </a:p>
        </p:txBody>
      </p:sp>
      <p:sp>
        <p:nvSpPr>
          <p:cNvPr id="20" name="Rounded Rectangle 19"/>
          <p:cNvSpPr/>
          <p:nvPr/>
        </p:nvSpPr>
        <p:spPr>
          <a:xfrm>
            <a:off x="831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ye_dr.png"/>
          <p:cNvPicPr>
            <a:picLocks noChangeAspect="1"/>
          </p:cNvPicPr>
          <p:nvPr/>
        </p:nvPicPr>
        <p:blipFill>
          <a:blip r:embed="rId6"/>
          <a:stretch>
            <a:fillRect/>
          </a:stretch>
        </p:blipFill>
        <p:spPr>
          <a:xfrm>
            <a:off x="8460000" y="1710000"/>
            <a:ext cx="324000" cy="324000"/>
          </a:xfrm>
          <a:prstGeom prst="rect">
            <a:avLst/>
          </a:prstGeom>
        </p:spPr>
      </p:pic>
      <p:sp>
        <p:nvSpPr>
          <p:cNvPr id="22" name="TextBox 21"/>
          <p:cNvSpPr txBox="1"/>
          <p:nvPr/>
        </p:nvSpPr>
        <p:spPr>
          <a:xfrm>
            <a:off x="844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n.d.</a:t>
            </a:r>
          </a:p>
        </p:txBody>
      </p:sp>
      <p:sp>
        <p:nvSpPr>
          <p:cNvPr id="23" name="TextBox 22"/>
          <p:cNvSpPr txBox="1"/>
          <p:nvPr/>
        </p:nvSpPr>
        <p:spPr>
          <a:xfrm>
            <a:off x="844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vues moyennes</a:t>
            </a:r>
          </a:p>
        </p:txBody>
      </p:sp>
      <p:sp>
        <p:nvSpPr>
          <p:cNvPr id="24" name="Rounded Rectangle 23"/>
          <p:cNvSpPr/>
          <p:nvPr/>
        </p:nvSpPr>
        <p:spPr>
          <a:xfrm>
            <a:off x="1002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trending-up_dr.png"/>
          <p:cNvPicPr>
            <a:picLocks noChangeAspect="1"/>
          </p:cNvPicPr>
          <p:nvPr/>
        </p:nvPicPr>
        <p:blipFill>
          <a:blip r:embed="rId7"/>
          <a:stretch>
            <a:fillRect/>
          </a:stretch>
        </p:blipFill>
        <p:spPr>
          <a:xfrm>
            <a:off x="10170000" y="1710000"/>
            <a:ext cx="324000" cy="324000"/>
          </a:xfrm>
          <a:prstGeom prst="rect">
            <a:avLst/>
          </a:prstGeom>
        </p:spPr>
      </p:pic>
      <p:sp>
        <p:nvSpPr>
          <p:cNvPr id="26" name="TextBox 25"/>
          <p:cNvSpPr txBox="1"/>
          <p:nvPr/>
        </p:nvSpPr>
        <p:spPr>
          <a:xfrm>
            <a:off x="1015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n.d.</a:t>
            </a:r>
          </a:p>
        </p:txBody>
      </p:sp>
      <p:sp>
        <p:nvSpPr>
          <p:cNvPr id="27" name="TextBox 26"/>
          <p:cNvSpPr txBox="1"/>
          <p:nvPr/>
        </p:nvSpPr>
        <p:spPr>
          <a:xfrm>
            <a:off x="1015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engagement</a:t>
            </a:r>
          </a:p>
        </p:txBody>
      </p:sp>
      <p:sp>
        <p:nvSpPr>
          <p:cNvPr id="28" name="Rounded Rectangle 27"/>
          <p:cNvSpPr/>
          <p:nvPr/>
        </p:nvSpPr>
        <p:spPr>
          <a:xfrm>
            <a:off x="4896000" y="3060000"/>
            <a:ext cx="6732000" cy="1332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076000" y="3240000"/>
            <a:ext cx="468000" cy="4680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ircle-check_bl.png"/>
          <p:cNvPicPr>
            <a:picLocks noChangeAspect="1"/>
          </p:cNvPicPr>
          <p:nvPr/>
        </p:nvPicPr>
        <p:blipFill>
          <a:blip r:embed="rId8"/>
          <a:stretch>
            <a:fillRect/>
          </a:stretch>
        </p:blipFill>
        <p:spPr>
          <a:xfrm>
            <a:off x="5188320" y="3352320"/>
            <a:ext cx="243360" cy="243360"/>
          </a:xfrm>
          <a:prstGeom prst="rect">
            <a:avLst/>
          </a:prstGeom>
        </p:spPr>
      </p:pic>
      <p:sp>
        <p:nvSpPr>
          <p:cNvPr id="31" name="TextBox 30"/>
          <p:cNvSpPr txBox="1"/>
          <p:nvPr/>
        </p:nvSpPr>
        <p:spPr>
          <a:xfrm>
            <a:off x="5688000" y="3150000"/>
            <a:ext cx="5832000" cy="1188000"/>
          </a:xfrm>
          <a:prstGeom prst="rect">
            <a:avLst/>
          </a:prstGeom>
          <a:noFill/>
        </p:spPr>
        <p:txBody>
          <a:bodyPr wrap="square" lIns="36000" rIns="36000" tIns="18000" bIns="18000" anchor="t">
            <a:spAutoFit/>
          </a:bodyPr>
          <a:lstStyle/>
          <a:p>
            <a:pPr algn="l">
              <a:lnSpc>
                <a:spcPct val="110000"/>
              </a:lnSpc>
            </a:pPr>
            <a:r>
              <a:rPr sz="1200" b="1">
                <a:solidFill>
                  <a:srgbClr val="1A1416"/>
                </a:solidFill>
                <a:latin typeface="Poppins"/>
              </a:rPr>
              <a:t>Pourquoi ce profil</a:t>
            </a:r>
          </a:p>
          <a:p>
            <a:pPr algn="l">
              <a:lnSpc>
                <a:spcPct val="110000"/>
              </a:lnSpc>
              <a:spcBef>
                <a:spcPts val="500"/>
              </a:spcBef>
            </a:pPr>
            <a:r>
              <a:rPr sz="1150" b="0">
                <a:solidFill>
                  <a:srgbClr val="1A1416"/>
                </a:solidFill>
                <a:latin typeface="Poppins"/>
              </a:rPr>
              <a:t>Communauté de mamans qui vient pour des conseils pratiques : bon terrain pour expliquer le choix d’un soin bébé.</a:t>
            </a:r>
          </a:p>
        </p:txBody>
      </p:sp>
      <p:sp>
        <p:nvSpPr>
          <p:cNvPr id="32" name="Rounded Rectangle 31"/>
          <p:cNvSpPr/>
          <p:nvPr/>
        </p:nvSpPr>
        <p:spPr>
          <a:xfrm>
            <a:off x="4896000" y="4536000"/>
            <a:ext cx="6732000" cy="1152000"/>
          </a:xfrm>
          <a:prstGeom prst="roundRect">
            <a:avLst>
              <a:gd name="adj" fmla="val 6000"/>
            </a:avLst>
          </a:prstGeom>
          <a:solidFill>
            <a:srgbClr val="FB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076000" y="4716000"/>
            <a:ext cx="468000" cy="468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alert-triangle_bl.png"/>
          <p:cNvPicPr>
            <a:picLocks noChangeAspect="1"/>
          </p:cNvPicPr>
          <p:nvPr/>
        </p:nvPicPr>
        <p:blipFill>
          <a:blip r:embed="rId9"/>
          <a:stretch>
            <a:fillRect/>
          </a:stretch>
        </p:blipFill>
        <p:spPr>
          <a:xfrm>
            <a:off x="5188320" y="4828320"/>
            <a:ext cx="243360" cy="243360"/>
          </a:xfrm>
          <a:prstGeom prst="rect">
            <a:avLst/>
          </a:prstGeom>
        </p:spPr>
      </p:pic>
      <p:sp>
        <p:nvSpPr>
          <p:cNvPr id="35" name="TextBox 34"/>
          <p:cNvSpPr txBox="1"/>
          <p:nvPr/>
        </p:nvSpPr>
        <p:spPr>
          <a:xfrm>
            <a:off x="5688000" y="4626000"/>
            <a:ext cx="5832000" cy="1044000"/>
          </a:xfrm>
          <a:prstGeom prst="rect">
            <a:avLst/>
          </a:prstGeom>
          <a:noFill/>
        </p:spPr>
        <p:txBody>
          <a:bodyPr wrap="square" lIns="36000" rIns="36000" tIns="18000" bIns="18000" anchor="t">
            <a:spAutoFit/>
          </a:bodyPr>
          <a:lstStyle/>
          <a:p>
            <a:pPr algn="l">
              <a:lnSpc>
                <a:spcPct val="110000"/>
              </a:lnSpc>
            </a:pPr>
            <a:r>
              <a:rPr sz="1200" b="1">
                <a:solidFill>
                  <a:srgbClr val="AE172A"/>
                </a:solidFill>
                <a:latin typeface="Poppins"/>
              </a:rPr>
              <a:t>Point de vigilance</a:t>
            </a:r>
          </a:p>
          <a:p>
            <a:pPr algn="l">
              <a:lnSpc>
                <a:spcPct val="110000"/>
              </a:lnSpc>
              <a:spcBef>
                <a:spcPts val="500"/>
              </a:spcBef>
            </a:pPr>
            <a:r>
              <a:rPr sz="1150" b="0">
                <a:solidFill>
                  <a:srgbClr val="1A1416"/>
                </a:solidFill>
                <a:latin typeface="Poppins"/>
              </a:rPr>
              <a:t>La bio annonce un nouveau compte : vérifier lequel est actif. Pas de vues moyennes publiques relevées.</a:t>
            </a:r>
          </a:p>
        </p:txBody>
      </p:sp>
      <p:sp>
        <p:nvSpPr>
          <p:cNvPr id="36" name="TextBox 35"/>
          <p:cNvSpPr txBox="1"/>
          <p:nvPr/>
        </p:nvSpPr>
        <p:spPr>
          <a:xfrm>
            <a:off x="4896000" y="5832000"/>
            <a:ext cx="6732000" cy="360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Chiffres publics TikTok relevés le 28/10/2026 (vues et engagement : TokRanks, oct. 2026). Aucun contact pris : profil à valider.</a:t>
            </a:r>
          </a:p>
        </p:txBody>
      </p:sp>
      <p:sp>
        <p:nvSpPr>
          <p:cNvPr id="37" name="TextBox 36"/>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13 / 22</a:t>
            </a:r>
          </a:p>
        </p:txBody>
      </p:sp>
      <p:sp>
        <p:nvSpPr>
          <p:cNvPr id="38" name="TextBox 37"/>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00000" cy="6858000"/>
          </a:xfrm>
          <a:prstGeom prst="rect">
            <a:avLst/>
          </a:prstGeom>
          <a:solidFill>
            <a:srgbClr val="2A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v_madame_la_grouilleuse.jpg"/>
          <p:cNvPicPr>
            <a:picLocks noChangeAspect="1"/>
          </p:cNvPicPr>
          <p:nvPr/>
        </p:nvPicPr>
        <p:blipFill>
          <a:blip r:embed="rId2"/>
          <a:stretch>
            <a:fillRect/>
          </a:stretch>
        </p:blipFill>
        <p:spPr>
          <a:xfrm>
            <a:off x="666000" y="846000"/>
            <a:ext cx="3168000" cy="3168000"/>
          </a:xfrm>
          <a:prstGeom prst="rect">
            <a:avLst/>
          </a:prstGeom>
        </p:spPr>
      </p:pic>
      <p:sp>
        <p:nvSpPr>
          <p:cNvPr id="4" name="TextBox 3"/>
          <p:cNvSpPr txBox="1"/>
          <p:nvPr/>
        </p:nvSpPr>
        <p:spPr>
          <a:xfrm>
            <a:off x="288000" y="4176000"/>
            <a:ext cx="3924000" cy="432000"/>
          </a:xfrm>
          <a:prstGeom prst="rect">
            <a:avLst/>
          </a:prstGeom>
          <a:noFill/>
        </p:spPr>
        <p:txBody>
          <a:bodyPr wrap="square" lIns="36000" rIns="36000" tIns="18000" bIns="18000" anchor="t">
            <a:spAutoFit/>
          </a:bodyPr>
          <a:lstStyle/>
          <a:p>
            <a:pPr algn="ctr">
              <a:lnSpc>
                <a:spcPct val="110000"/>
              </a:lnSpc>
            </a:pPr>
            <a:r>
              <a:rPr sz="2200" b="1">
                <a:solidFill>
                  <a:srgbClr val="FFFFFF"/>
                </a:solidFill>
                <a:latin typeface="Poppins"/>
              </a:rPr>
              <a:t>My_riam</a:t>
            </a:r>
          </a:p>
        </p:txBody>
      </p:sp>
      <p:sp>
        <p:nvSpPr>
          <p:cNvPr id="5" name="TextBox 4"/>
          <p:cNvSpPr txBox="1"/>
          <p:nvPr/>
        </p:nvSpPr>
        <p:spPr>
          <a:xfrm>
            <a:off x="288000" y="4644000"/>
            <a:ext cx="3924000" cy="288000"/>
          </a:xfrm>
          <a:prstGeom prst="rect">
            <a:avLst/>
          </a:prstGeom>
          <a:noFill/>
        </p:spPr>
        <p:txBody>
          <a:bodyPr wrap="square" lIns="36000" rIns="36000" tIns="18000" bIns="18000" anchor="t">
            <a:spAutoFit/>
          </a:bodyPr>
          <a:lstStyle/>
          <a:p>
            <a:pPr algn="ctr">
              <a:lnSpc>
                <a:spcPct val="110000"/>
              </a:lnSpc>
            </a:pPr>
            <a:r>
              <a:rPr sz="1100" b="0">
                <a:solidFill>
                  <a:srgbClr val="F3DADD"/>
                </a:solidFill>
                <a:latin typeface="Poppins"/>
              </a:rPr>
              <a:t>tiktok.com/@madame_la_grouilleuse</a:t>
            </a:r>
          </a:p>
        </p:txBody>
      </p:sp>
      <p:sp>
        <p:nvSpPr>
          <p:cNvPr id="6" name="Rounded Rectangle 5"/>
          <p:cNvSpPr/>
          <p:nvPr/>
        </p:nvSpPr>
        <p:spPr>
          <a:xfrm>
            <a:off x="1170000" y="5076000"/>
            <a:ext cx="2160000" cy="342000"/>
          </a:xfrm>
          <a:prstGeom prst="roundRect">
            <a:avLst>
              <a:gd name="adj" fmla="val 50000"/>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000" y="5076000"/>
            <a:ext cx="2160000" cy="342000"/>
          </a:xfrm>
          <a:prstGeom prst="rect">
            <a:avLst/>
          </a:prstGeom>
          <a:noFill/>
        </p:spPr>
        <p:txBody>
          <a:bodyPr wrap="square" lIns="36000" rIns="36000" tIns="18000" bIns="18000" anchor="ctr">
            <a:spAutoFit/>
          </a:bodyPr>
          <a:lstStyle/>
          <a:p>
            <a:pPr algn="ctr">
              <a:lnSpc>
                <a:spcPct val="110000"/>
              </a:lnSpc>
            </a:pPr>
            <a:r>
              <a:rPr sz="1100" b="1">
                <a:solidFill>
                  <a:srgbClr val="FFFFFF"/>
                </a:solidFill>
                <a:latin typeface="Poppins"/>
              </a:rPr>
              <a:t>Soin à petit prix</a:t>
            </a:r>
          </a:p>
        </p:txBody>
      </p:sp>
      <p:sp>
        <p:nvSpPr>
          <p:cNvPr id="8" name="TextBox 7"/>
          <p:cNvSpPr txBox="1"/>
          <p:nvPr/>
        </p:nvSpPr>
        <p:spPr>
          <a:xfrm>
            <a:off x="288000" y="5616000"/>
            <a:ext cx="3924000" cy="576000"/>
          </a:xfrm>
          <a:prstGeom prst="rect">
            <a:avLst/>
          </a:prstGeom>
          <a:noFill/>
        </p:spPr>
        <p:txBody>
          <a:bodyPr wrap="square" lIns="36000" rIns="36000" tIns="18000" bIns="18000" anchor="t">
            <a:spAutoFit/>
          </a:bodyPr>
          <a:lstStyle/>
          <a:p>
            <a:pPr algn="ctr">
              <a:lnSpc>
                <a:spcPct val="110000"/>
              </a:lnSpc>
            </a:pPr>
            <a:r>
              <a:rPr sz="1100" b="1">
                <a:solidFill>
                  <a:srgbClr val="FFFFFF"/>
                </a:solidFill>
                <a:latin typeface="Poppins"/>
              </a:rPr>
              <a:t>Cocopulp · Day by Day</a:t>
            </a:r>
          </a:p>
        </p:txBody>
      </p:sp>
      <p:pic>
        <p:nvPicPr>
          <p:cNvPr id="9" name="Picture 8" descr="logo.png"/>
          <p:cNvPicPr>
            <a:picLocks noChangeAspect="1"/>
          </p:cNvPicPr>
          <p:nvPr/>
        </p:nvPicPr>
        <p:blipFill>
          <a:blip r:embed="rId3"/>
          <a:stretch>
            <a:fillRect/>
          </a:stretch>
        </p:blipFill>
        <p:spPr>
          <a:xfrm>
            <a:off x="10248119" y="257639"/>
            <a:ext cx="1584000" cy="492718"/>
          </a:xfrm>
          <a:prstGeom prst="rect">
            <a:avLst/>
          </a:prstGeom>
        </p:spPr>
      </p:pic>
      <p:sp>
        <p:nvSpPr>
          <p:cNvPr id="10" name="TextBox 9"/>
          <p:cNvSpPr txBox="1"/>
          <p:nvPr/>
        </p:nvSpPr>
        <p:spPr>
          <a:xfrm>
            <a:off x="4896000" y="324000"/>
            <a:ext cx="504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04 · CRÉATEUR 7 SUR 8</a:t>
            </a:r>
          </a:p>
        </p:txBody>
      </p:sp>
      <p:sp>
        <p:nvSpPr>
          <p:cNvPr id="11" name="TextBox 10"/>
          <p:cNvSpPr txBox="1"/>
          <p:nvPr/>
        </p:nvSpPr>
        <p:spPr>
          <a:xfrm>
            <a:off x="4896000" y="576000"/>
            <a:ext cx="5220000" cy="936000"/>
          </a:xfrm>
          <a:prstGeom prst="rect">
            <a:avLst/>
          </a:prstGeom>
          <a:noFill/>
        </p:spPr>
        <p:txBody>
          <a:bodyPr wrap="square" lIns="36000" rIns="36000" tIns="18000" bIns="18000" anchor="t">
            <a:spAutoFit/>
          </a:bodyPr>
          <a:lstStyle/>
          <a:p>
            <a:pPr algn="l">
              <a:lnSpc>
                <a:spcPct val="110000"/>
              </a:lnSpc>
            </a:pPr>
            <a:r>
              <a:rPr sz="1300" b="1">
                <a:solidFill>
                  <a:srgbClr val="1A1416"/>
                </a:solidFill>
                <a:latin typeface="Poppins"/>
              </a:rPr>
              <a:t>« Skincare efficace à petit prix ». Bouaké-Abidjan. Ouverte aux partenariats.</a:t>
            </a:r>
          </a:p>
        </p:txBody>
      </p:sp>
      <p:sp>
        <p:nvSpPr>
          <p:cNvPr id="12" name="Rounded Rectangle 11"/>
          <p:cNvSpPr/>
          <p:nvPr/>
        </p:nvSpPr>
        <p:spPr>
          <a:xfrm>
            <a:off x="489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users_dr.png"/>
          <p:cNvPicPr>
            <a:picLocks noChangeAspect="1"/>
          </p:cNvPicPr>
          <p:nvPr/>
        </p:nvPicPr>
        <p:blipFill>
          <a:blip r:embed="rId4"/>
          <a:stretch>
            <a:fillRect/>
          </a:stretch>
        </p:blipFill>
        <p:spPr>
          <a:xfrm>
            <a:off x="5040000" y="1710000"/>
            <a:ext cx="324000" cy="324000"/>
          </a:xfrm>
          <a:prstGeom prst="rect">
            <a:avLst/>
          </a:prstGeom>
        </p:spPr>
      </p:pic>
      <p:sp>
        <p:nvSpPr>
          <p:cNvPr id="14" name="TextBox 13"/>
          <p:cNvSpPr txBox="1"/>
          <p:nvPr/>
        </p:nvSpPr>
        <p:spPr>
          <a:xfrm>
            <a:off x="502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133 000</a:t>
            </a:r>
          </a:p>
        </p:txBody>
      </p:sp>
      <p:sp>
        <p:nvSpPr>
          <p:cNvPr id="15" name="TextBox 14"/>
          <p:cNvSpPr txBox="1"/>
          <p:nvPr/>
        </p:nvSpPr>
        <p:spPr>
          <a:xfrm>
            <a:off x="502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abonnés</a:t>
            </a:r>
          </a:p>
        </p:txBody>
      </p:sp>
      <p:sp>
        <p:nvSpPr>
          <p:cNvPr id="16" name="Rounded Rectangle 15"/>
          <p:cNvSpPr/>
          <p:nvPr/>
        </p:nvSpPr>
        <p:spPr>
          <a:xfrm>
            <a:off x="660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heart_dr.png"/>
          <p:cNvPicPr>
            <a:picLocks noChangeAspect="1"/>
          </p:cNvPicPr>
          <p:nvPr/>
        </p:nvPicPr>
        <p:blipFill>
          <a:blip r:embed="rId5"/>
          <a:stretch>
            <a:fillRect/>
          </a:stretch>
        </p:blipFill>
        <p:spPr>
          <a:xfrm>
            <a:off x="6750000" y="1710000"/>
            <a:ext cx="324000" cy="324000"/>
          </a:xfrm>
          <a:prstGeom prst="rect">
            <a:avLst/>
          </a:prstGeom>
        </p:spPr>
      </p:pic>
      <p:sp>
        <p:nvSpPr>
          <p:cNvPr id="18" name="TextBox 17"/>
          <p:cNvSpPr txBox="1"/>
          <p:nvPr/>
        </p:nvSpPr>
        <p:spPr>
          <a:xfrm>
            <a:off x="673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1,2 M</a:t>
            </a:r>
          </a:p>
        </p:txBody>
      </p:sp>
      <p:sp>
        <p:nvSpPr>
          <p:cNvPr id="19" name="TextBox 18"/>
          <p:cNvSpPr txBox="1"/>
          <p:nvPr/>
        </p:nvSpPr>
        <p:spPr>
          <a:xfrm>
            <a:off x="673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J’aime cumulés</a:t>
            </a:r>
          </a:p>
        </p:txBody>
      </p:sp>
      <p:sp>
        <p:nvSpPr>
          <p:cNvPr id="20" name="Rounded Rectangle 19"/>
          <p:cNvSpPr/>
          <p:nvPr/>
        </p:nvSpPr>
        <p:spPr>
          <a:xfrm>
            <a:off x="831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ye_dr.png"/>
          <p:cNvPicPr>
            <a:picLocks noChangeAspect="1"/>
          </p:cNvPicPr>
          <p:nvPr/>
        </p:nvPicPr>
        <p:blipFill>
          <a:blip r:embed="rId6"/>
          <a:stretch>
            <a:fillRect/>
          </a:stretch>
        </p:blipFill>
        <p:spPr>
          <a:xfrm>
            <a:off x="8460000" y="1710000"/>
            <a:ext cx="324000" cy="324000"/>
          </a:xfrm>
          <a:prstGeom prst="rect">
            <a:avLst/>
          </a:prstGeom>
        </p:spPr>
      </p:pic>
      <p:sp>
        <p:nvSpPr>
          <p:cNvPr id="22" name="TextBox 21"/>
          <p:cNvSpPr txBox="1"/>
          <p:nvPr/>
        </p:nvSpPr>
        <p:spPr>
          <a:xfrm>
            <a:off x="844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1 300</a:t>
            </a:r>
          </a:p>
        </p:txBody>
      </p:sp>
      <p:sp>
        <p:nvSpPr>
          <p:cNvPr id="23" name="TextBox 22"/>
          <p:cNvSpPr txBox="1"/>
          <p:nvPr/>
        </p:nvSpPr>
        <p:spPr>
          <a:xfrm>
            <a:off x="844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vues moyennes</a:t>
            </a:r>
          </a:p>
        </p:txBody>
      </p:sp>
      <p:sp>
        <p:nvSpPr>
          <p:cNvPr id="24" name="Rounded Rectangle 23"/>
          <p:cNvSpPr/>
          <p:nvPr/>
        </p:nvSpPr>
        <p:spPr>
          <a:xfrm>
            <a:off x="1002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trending-up_dr.png"/>
          <p:cNvPicPr>
            <a:picLocks noChangeAspect="1"/>
          </p:cNvPicPr>
          <p:nvPr/>
        </p:nvPicPr>
        <p:blipFill>
          <a:blip r:embed="rId7"/>
          <a:stretch>
            <a:fillRect/>
          </a:stretch>
        </p:blipFill>
        <p:spPr>
          <a:xfrm>
            <a:off x="10170000" y="1710000"/>
            <a:ext cx="324000" cy="324000"/>
          </a:xfrm>
          <a:prstGeom prst="rect">
            <a:avLst/>
          </a:prstGeom>
        </p:spPr>
      </p:pic>
      <p:sp>
        <p:nvSpPr>
          <p:cNvPr id="26" name="TextBox 25"/>
          <p:cNvSpPr txBox="1"/>
          <p:nvPr/>
        </p:nvSpPr>
        <p:spPr>
          <a:xfrm>
            <a:off x="1015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0,8 %</a:t>
            </a:r>
          </a:p>
        </p:txBody>
      </p:sp>
      <p:sp>
        <p:nvSpPr>
          <p:cNvPr id="27" name="TextBox 26"/>
          <p:cNvSpPr txBox="1"/>
          <p:nvPr/>
        </p:nvSpPr>
        <p:spPr>
          <a:xfrm>
            <a:off x="1015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engagement</a:t>
            </a:r>
          </a:p>
        </p:txBody>
      </p:sp>
      <p:sp>
        <p:nvSpPr>
          <p:cNvPr id="28" name="Rounded Rectangle 27"/>
          <p:cNvSpPr/>
          <p:nvPr/>
        </p:nvSpPr>
        <p:spPr>
          <a:xfrm>
            <a:off x="4896000" y="3060000"/>
            <a:ext cx="6732000" cy="1332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076000" y="3240000"/>
            <a:ext cx="468000" cy="4680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ircle-check_bl.png"/>
          <p:cNvPicPr>
            <a:picLocks noChangeAspect="1"/>
          </p:cNvPicPr>
          <p:nvPr/>
        </p:nvPicPr>
        <p:blipFill>
          <a:blip r:embed="rId8"/>
          <a:stretch>
            <a:fillRect/>
          </a:stretch>
        </p:blipFill>
        <p:spPr>
          <a:xfrm>
            <a:off x="5188320" y="3352320"/>
            <a:ext cx="243360" cy="243360"/>
          </a:xfrm>
          <a:prstGeom prst="rect">
            <a:avLst/>
          </a:prstGeom>
        </p:spPr>
      </p:pic>
      <p:sp>
        <p:nvSpPr>
          <p:cNvPr id="31" name="TextBox 30"/>
          <p:cNvSpPr txBox="1"/>
          <p:nvPr/>
        </p:nvSpPr>
        <p:spPr>
          <a:xfrm>
            <a:off x="5688000" y="3150000"/>
            <a:ext cx="5832000" cy="1188000"/>
          </a:xfrm>
          <a:prstGeom prst="rect">
            <a:avLst/>
          </a:prstGeom>
          <a:noFill/>
        </p:spPr>
        <p:txBody>
          <a:bodyPr wrap="square" lIns="36000" rIns="36000" tIns="18000" bIns="18000" anchor="t">
            <a:spAutoFit/>
          </a:bodyPr>
          <a:lstStyle/>
          <a:p>
            <a:pPr algn="l">
              <a:lnSpc>
                <a:spcPct val="110000"/>
              </a:lnSpc>
            </a:pPr>
            <a:r>
              <a:rPr sz="1200" b="1">
                <a:solidFill>
                  <a:srgbClr val="1A1416"/>
                </a:solidFill>
                <a:latin typeface="Poppins"/>
              </a:rPr>
              <a:t>Pourquoi ce profil</a:t>
            </a:r>
          </a:p>
          <a:p>
            <a:pPr algn="l">
              <a:lnSpc>
                <a:spcPct val="110000"/>
              </a:lnSpc>
              <a:spcBef>
                <a:spcPts val="500"/>
              </a:spcBef>
            </a:pPr>
            <a:r>
              <a:rPr sz="1150" b="0">
                <a:solidFill>
                  <a:srgbClr val="1A1416"/>
                </a:solidFill>
                <a:latin typeface="Poppins"/>
              </a:rPr>
              <a:t>Positionnement exact de Dream : le soin accessible. Discours prix-qualité crédible.</a:t>
            </a:r>
          </a:p>
        </p:txBody>
      </p:sp>
      <p:sp>
        <p:nvSpPr>
          <p:cNvPr id="32" name="Rounded Rectangle 31"/>
          <p:cNvSpPr/>
          <p:nvPr/>
        </p:nvSpPr>
        <p:spPr>
          <a:xfrm>
            <a:off x="4896000" y="4536000"/>
            <a:ext cx="6732000" cy="1152000"/>
          </a:xfrm>
          <a:prstGeom prst="roundRect">
            <a:avLst>
              <a:gd name="adj" fmla="val 6000"/>
            </a:avLst>
          </a:prstGeom>
          <a:solidFill>
            <a:srgbClr val="FB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076000" y="4716000"/>
            <a:ext cx="468000" cy="468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alert-triangle_bl.png"/>
          <p:cNvPicPr>
            <a:picLocks noChangeAspect="1"/>
          </p:cNvPicPr>
          <p:nvPr/>
        </p:nvPicPr>
        <p:blipFill>
          <a:blip r:embed="rId9"/>
          <a:stretch>
            <a:fillRect/>
          </a:stretch>
        </p:blipFill>
        <p:spPr>
          <a:xfrm>
            <a:off x="5188320" y="4828320"/>
            <a:ext cx="243360" cy="243360"/>
          </a:xfrm>
          <a:prstGeom prst="rect">
            <a:avLst/>
          </a:prstGeom>
        </p:spPr>
      </p:pic>
      <p:sp>
        <p:nvSpPr>
          <p:cNvPr id="35" name="TextBox 34"/>
          <p:cNvSpPr txBox="1"/>
          <p:nvPr/>
        </p:nvSpPr>
        <p:spPr>
          <a:xfrm>
            <a:off x="5688000" y="4626000"/>
            <a:ext cx="5832000" cy="1044000"/>
          </a:xfrm>
          <a:prstGeom prst="rect">
            <a:avLst/>
          </a:prstGeom>
          <a:noFill/>
        </p:spPr>
        <p:txBody>
          <a:bodyPr wrap="square" lIns="36000" rIns="36000" tIns="18000" bIns="18000" anchor="t">
            <a:spAutoFit/>
          </a:bodyPr>
          <a:lstStyle/>
          <a:p>
            <a:pPr algn="l">
              <a:lnSpc>
                <a:spcPct val="110000"/>
              </a:lnSpc>
            </a:pPr>
            <a:r>
              <a:rPr sz="1200" b="1">
                <a:solidFill>
                  <a:srgbClr val="AE172A"/>
                </a:solidFill>
                <a:latin typeface="Poppins"/>
              </a:rPr>
              <a:t>Point de vigilance</a:t>
            </a:r>
          </a:p>
          <a:p>
            <a:pPr algn="l">
              <a:lnSpc>
                <a:spcPct val="110000"/>
              </a:lnSpc>
              <a:spcBef>
                <a:spcPts val="500"/>
              </a:spcBef>
            </a:pPr>
            <a:r>
              <a:rPr sz="1150" b="0">
                <a:solidFill>
                  <a:srgbClr val="1A1416"/>
                </a:solidFill>
                <a:latin typeface="Poppins"/>
              </a:rPr>
              <a:t>Vues moyennes faibles (1 300) pour sa taille : à prendre en pack de plusieurs vidéos, à petit tarif.</a:t>
            </a:r>
          </a:p>
        </p:txBody>
      </p:sp>
      <p:sp>
        <p:nvSpPr>
          <p:cNvPr id="36" name="TextBox 35"/>
          <p:cNvSpPr txBox="1"/>
          <p:nvPr/>
        </p:nvSpPr>
        <p:spPr>
          <a:xfrm>
            <a:off x="4896000" y="5832000"/>
            <a:ext cx="6732000" cy="360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Chiffres publics TikTok relevés le 28/10/2026 (vues et engagement : TokRanks, oct. 2026). Aucun contact pris : profil à valider.</a:t>
            </a:r>
          </a:p>
        </p:txBody>
      </p:sp>
      <p:sp>
        <p:nvSpPr>
          <p:cNvPr id="37" name="TextBox 36"/>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14 / 22</a:t>
            </a:r>
          </a:p>
        </p:txBody>
      </p:sp>
      <p:sp>
        <p:nvSpPr>
          <p:cNvPr id="38" name="TextBox 37"/>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00000" cy="6858000"/>
          </a:xfrm>
          <a:prstGeom prst="rect">
            <a:avLst/>
          </a:prstGeom>
          <a:solidFill>
            <a:srgbClr val="2A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v_yaninbeauty__.jpg"/>
          <p:cNvPicPr>
            <a:picLocks noChangeAspect="1"/>
          </p:cNvPicPr>
          <p:nvPr/>
        </p:nvPicPr>
        <p:blipFill>
          <a:blip r:embed="rId2"/>
          <a:stretch>
            <a:fillRect/>
          </a:stretch>
        </p:blipFill>
        <p:spPr>
          <a:xfrm>
            <a:off x="666000" y="846000"/>
            <a:ext cx="3168000" cy="3168000"/>
          </a:xfrm>
          <a:prstGeom prst="rect">
            <a:avLst/>
          </a:prstGeom>
        </p:spPr>
      </p:pic>
      <p:sp>
        <p:nvSpPr>
          <p:cNvPr id="4" name="TextBox 3"/>
          <p:cNvSpPr txBox="1"/>
          <p:nvPr/>
        </p:nvSpPr>
        <p:spPr>
          <a:xfrm>
            <a:off x="288000" y="4176000"/>
            <a:ext cx="3924000" cy="432000"/>
          </a:xfrm>
          <a:prstGeom prst="rect">
            <a:avLst/>
          </a:prstGeom>
          <a:noFill/>
        </p:spPr>
        <p:txBody>
          <a:bodyPr wrap="square" lIns="36000" rIns="36000" tIns="18000" bIns="18000" anchor="t">
            <a:spAutoFit/>
          </a:bodyPr>
          <a:lstStyle/>
          <a:p>
            <a:pPr algn="ctr">
              <a:lnSpc>
                <a:spcPct val="110000"/>
              </a:lnSpc>
            </a:pPr>
            <a:r>
              <a:rPr sz="2200" b="1">
                <a:solidFill>
                  <a:srgbClr val="FFFFFF"/>
                </a:solidFill>
                <a:latin typeface="Poppins"/>
              </a:rPr>
              <a:t>Yanin Beauty</a:t>
            </a:r>
          </a:p>
        </p:txBody>
      </p:sp>
      <p:sp>
        <p:nvSpPr>
          <p:cNvPr id="5" name="TextBox 4"/>
          <p:cNvSpPr txBox="1"/>
          <p:nvPr/>
        </p:nvSpPr>
        <p:spPr>
          <a:xfrm>
            <a:off x="288000" y="4644000"/>
            <a:ext cx="3924000" cy="288000"/>
          </a:xfrm>
          <a:prstGeom prst="rect">
            <a:avLst/>
          </a:prstGeom>
          <a:noFill/>
        </p:spPr>
        <p:txBody>
          <a:bodyPr wrap="square" lIns="36000" rIns="36000" tIns="18000" bIns="18000" anchor="t">
            <a:spAutoFit/>
          </a:bodyPr>
          <a:lstStyle/>
          <a:p>
            <a:pPr algn="ctr">
              <a:lnSpc>
                <a:spcPct val="110000"/>
              </a:lnSpc>
            </a:pPr>
            <a:r>
              <a:rPr sz="1100" b="0">
                <a:solidFill>
                  <a:srgbClr val="F3DADD"/>
                </a:solidFill>
                <a:latin typeface="Poppins"/>
              </a:rPr>
              <a:t>tiktok.com/@yaninbeauty__</a:t>
            </a:r>
          </a:p>
        </p:txBody>
      </p:sp>
      <p:sp>
        <p:nvSpPr>
          <p:cNvPr id="6" name="Rounded Rectangle 5"/>
          <p:cNvSpPr/>
          <p:nvPr/>
        </p:nvSpPr>
        <p:spPr>
          <a:xfrm>
            <a:off x="1170000" y="5076000"/>
            <a:ext cx="2160000" cy="342000"/>
          </a:xfrm>
          <a:prstGeom prst="roundRect">
            <a:avLst>
              <a:gd name="adj" fmla="val 50000"/>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000" y="5076000"/>
            <a:ext cx="2160000" cy="342000"/>
          </a:xfrm>
          <a:prstGeom prst="rect">
            <a:avLst/>
          </a:prstGeom>
          <a:noFill/>
        </p:spPr>
        <p:txBody>
          <a:bodyPr wrap="square" lIns="36000" rIns="36000" tIns="18000" bIns="18000" anchor="ctr">
            <a:spAutoFit/>
          </a:bodyPr>
          <a:lstStyle/>
          <a:p>
            <a:pPr algn="ctr">
              <a:lnSpc>
                <a:spcPct val="110000"/>
              </a:lnSpc>
            </a:pPr>
            <a:r>
              <a:rPr sz="1100" b="1">
                <a:solidFill>
                  <a:srgbClr val="FFFFFF"/>
                </a:solidFill>
                <a:latin typeface="Poppins"/>
              </a:rPr>
              <a:t>Petit compte</a:t>
            </a:r>
          </a:p>
        </p:txBody>
      </p:sp>
      <p:sp>
        <p:nvSpPr>
          <p:cNvPr id="8" name="TextBox 7"/>
          <p:cNvSpPr txBox="1"/>
          <p:nvPr/>
        </p:nvSpPr>
        <p:spPr>
          <a:xfrm>
            <a:off x="288000" y="5616000"/>
            <a:ext cx="3924000" cy="576000"/>
          </a:xfrm>
          <a:prstGeom prst="rect">
            <a:avLst/>
          </a:prstGeom>
          <a:noFill/>
        </p:spPr>
        <p:txBody>
          <a:bodyPr wrap="square" lIns="36000" rIns="36000" tIns="18000" bIns="18000" anchor="t">
            <a:spAutoFit/>
          </a:bodyPr>
          <a:lstStyle/>
          <a:p>
            <a:pPr algn="ctr">
              <a:lnSpc>
                <a:spcPct val="110000"/>
              </a:lnSpc>
            </a:pPr>
            <a:r>
              <a:rPr sz="1100" b="1">
                <a:solidFill>
                  <a:srgbClr val="FFFFFF"/>
                </a:solidFill>
                <a:latin typeface="Poppins"/>
              </a:rPr>
              <a:t>Biolight · Dermaskin</a:t>
            </a:r>
          </a:p>
        </p:txBody>
      </p:sp>
      <p:pic>
        <p:nvPicPr>
          <p:cNvPr id="9" name="Picture 8" descr="logo.png"/>
          <p:cNvPicPr>
            <a:picLocks noChangeAspect="1"/>
          </p:cNvPicPr>
          <p:nvPr/>
        </p:nvPicPr>
        <p:blipFill>
          <a:blip r:embed="rId3"/>
          <a:stretch>
            <a:fillRect/>
          </a:stretch>
        </p:blipFill>
        <p:spPr>
          <a:xfrm>
            <a:off x="10248119" y="257639"/>
            <a:ext cx="1584000" cy="492718"/>
          </a:xfrm>
          <a:prstGeom prst="rect">
            <a:avLst/>
          </a:prstGeom>
        </p:spPr>
      </p:pic>
      <p:sp>
        <p:nvSpPr>
          <p:cNvPr id="10" name="TextBox 9"/>
          <p:cNvSpPr txBox="1"/>
          <p:nvPr/>
        </p:nvSpPr>
        <p:spPr>
          <a:xfrm>
            <a:off x="4896000" y="324000"/>
            <a:ext cx="504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04 · CRÉATEUR 8 SUR 8</a:t>
            </a:r>
          </a:p>
        </p:txBody>
      </p:sp>
      <p:sp>
        <p:nvSpPr>
          <p:cNvPr id="11" name="TextBox 10"/>
          <p:cNvSpPr txBox="1"/>
          <p:nvPr/>
        </p:nvSpPr>
        <p:spPr>
          <a:xfrm>
            <a:off x="4896000" y="576000"/>
            <a:ext cx="5220000" cy="936000"/>
          </a:xfrm>
          <a:prstGeom prst="rect">
            <a:avLst/>
          </a:prstGeom>
          <a:noFill/>
        </p:spPr>
        <p:txBody>
          <a:bodyPr wrap="square" lIns="36000" rIns="36000" tIns="18000" bIns="18000" anchor="t">
            <a:spAutoFit/>
          </a:bodyPr>
          <a:lstStyle/>
          <a:p>
            <a:pPr algn="l">
              <a:lnSpc>
                <a:spcPct val="110000"/>
              </a:lnSpc>
            </a:pPr>
            <a:r>
              <a:rPr sz="1300" b="1">
                <a:solidFill>
                  <a:srgbClr val="1A1416"/>
                </a:solidFill>
                <a:latin typeface="Poppins"/>
              </a:rPr>
              <a:t>Maquilleuse professionnelle ivoirienne, Riviera-Palmeraie.</a:t>
            </a:r>
          </a:p>
        </p:txBody>
      </p:sp>
      <p:sp>
        <p:nvSpPr>
          <p:cNvPr id="12" name="Rounded Rectangle 11"/>
          <p:cNvSpPr/>
          <p:nvPr/>
        </p:nvSpPr>
        <p:spPr>
          <a:xfrm>
            <a:off x="489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users_dr.png"/>
          <p:cNvPicPr>
            <a:picLocks noChangeAspect="1"/>
          </p:cNvPicPr>
          <p:nvPr/>
        </p:nvPicPr>
        <p:blipFill>
          <a:blip r:embed="rId4"/>
          <a:stretch>
            <a:fillRect/>
          </a:stretch>
        </p:blipFill>
        <p:spPr>
          <a:xfrm>
            <a:off x="5040000" y="1710000"/>
            <a:ext cx="324000" cy="324000"/>
          </a:xfrm>
          <a:prstGeom prst="rect">
            <a:avLst/>
          </a:prstGeom>
        </p:spPr>
      </p:pic>
      <p:sp>
        <p:nvSpPr>
          <p:cNvPr id="14" name="TextBox 13"/>
          <p:cNvSpPr txBox="1"/>
          <p:nvPr/>
        </p:nvSpPr>
        <p:spPr>
          <a:xfrm>
            <a:off x="502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17 300</a:t>
            </a:r>
          </a:p>
        </p:txBody>
      </p:sp>
      <p:sp>
        <p:nvSpPr>
          <p:cNvPr id="15" name="TextBox 14"/>
          <p:cNvSpPr txBox="1"/>
          <p:nvPr/>
        </p:nvSpPr>
        <p:spPr>
          <a:xfrm>
            <a:off x="502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abonnés</a:t>
            </a:r>
          </a:p>
        </p:txBody>
      </p:sp>
      <p:sp>
        <p:nvSpPr>
          <p:cNvPr id="16" name="Rounded Rectangle 15"/>
          <p:cNvSpPr/>
          <p:nvPr/>
        </p:nvSpPr>
        <p:spPr>
          <a:xfrm>
            <a:off x="660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heart_dr.png"/>
          <p:cNvPicPr>
            <a:picLocks noChangeAspect="1"/>
          </p:cNvPicPr>
          <p:nvPr/>
        </p:nvPicPr>
        <p:blipFill>
          <a:blip r:embed="rId5"/>
          <a:stretch>
            <a:fillRect/>
          </a:stretch>
        </p:blipFill>
        <p:spPr>
          <a:xfrm>
            <a:off x="6750000" y="1710000"/>
            <a:ext cx="324000" cy="324000"/>
          </a:xfrm>
          <a:prstGeom prst="rect">
            <a:avLst/>
          </a:prstGeom>
        </p:spPr>
      </p:pic>
      <p:sp>
        <p:nvSpPr>
          <p:cNvPr id="18" name="TextBox 17"/>
          <p:cNvSpPr txBox="1"/>
          <p:nvPr/>
        </p:nvSpPr>
        <p:spPr>
          <a:xfrm>
            <a:off x="673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165 000</a:t>
            </a:r>
          </a:p>
        </p:txBody>
      </p:sp>
      <p:sp>
        <p:nvSpPr>
          <p:cNvPr id="19" name="TextBox 18"/>
          <p:cNvSpPr txBox="1"/>
          <p:nvPr/>
        </p:nvSpPr>
        <p:spPr>
          <a:xfrm>
            <a:off x="673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J’aime cumulés</a:t>
            </a:r>
          </a:p>
        </p:txBody>
      </p:sp>
      <p:sp>
        <p:nvSpPr>
          <p:cNvPr id="20" name="Rounded Rectangle 19"/>
          <p:cNvSpPr/>
          <p:nvPr/>
        </p:nvSpPr>
        <p:spPr>
          <a:xfrm>
            <a:off x="831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ye_dr.png"/>
          <p:cNvPicPr>
            <a:picLocks noChangeAspect="1"/>
          </p:cNvPicPr>
          <p:nvPr/>
        </p:nvPicPr>
        <p:blipFill>
          <a:blip r:embed="rId6"/>
          <a:stretch>
            <a:fillRect/>
          </a:stretch>
        </p:blipFill>
        <p:spPr>
          <a:xfrm>
            <a:off x="8460000" y="1710000"/>
            <a:ext cx="324000" cy="324000"/>
          </a:xfrm>
          <a:prstGeom prst="rect">
            <a:avLst/>
          </a:prstGeom>
        </p:spPr>
      </p:pic>
      <p:sp>
        <p:nvSpPr>
          <p:cNvPr id="22" name="TextBox 21"/>
          <p:cNvSpPr txBox="1"/>
          <p:nvPr/>
        </p:nvSpPr>
        <p:spPr>
          <a:xfrm>
            <a:off x="844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6 200</a:t>
            </a:r>
          </a:p>
        </p:txBody>
      </p:sp>
      <p:sp>
        <p:nvSpPr>
          <p:cNvPr id="23" name="TextBox 22"/>
          <p:cNvSpPr txBox="1"/>
          <p:nvPr/>
        </p:nvSpPr>
        <p:spPr>
          <a:xfrm>
            <a:off x="844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vues moyennes</a:t>
            </a:r>
          </a:p>
        </p:txBody>
      </p:sp>
      <p:sp>
        <p:nvSpPr>
          <p:cNvPr id="24" name="Rounded Rectangle 23"/>
          <p:cNvSpPr/>
          <p:nvPr/>
        </p:nvSpPr>
        <p:spPr>
          <a:xfrm>
            <a:off x="10026000" y="1584000"/>
            <a:ext cx="1584000" cy="1296000"/>
          </a:xfrm>
          <a:prstGeom prst="roundRect">
            <a:avLst>
              <a:gd name="adj" fmla="val 6000"/>
            </a:avLst>
          </a:prstGeom>
          <a:solidFill>
            <a:srgbClr val="FF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trending-up_dr.png"/>
          <p:cNvPicPr>
            <a:picLocks noChangeAspect="1"/>
          </p:cNvPicPr>
          <p:nvPr/>
        </p:nvPicPr>
        <p:blipFill>
          <a:blip r:embed="rId7"/>
          <a:stretch>
            <a:fillRect/>
          </a:stretch>
        </p:blipFill>
        <p:spPr>
          <a:xfrm>
            <a:off x="10170000" y="1710000"/>
            <a:ext cx="324000" cy="324000"/>
          </a:xfrm>
          <a:prstGeom prst="rect">
            <a:avLst/>
          </a:prstGeom>
        </p:spPr>
      </p:pic>
      <p:sp>
        <p:nvSpPr>
          <p:cNvPr id="26" name="TextBox 25"/>
          <p:cNvSpPr txBox="1"/>
          <p:nvPr/>
        </p:nvSpPr>
        <p:spPr>
          <a:xfrm>
            <a:off x="10151999" y="2088000"/>
            <a:ext cx="1404000" cy="432000"/>
          </a:xfrm>
          <a:prstGeom prst="rect">
            <a:avLst/>
          </a:prstGeom>
          <a:noFill/>
        </p:spPr>
        <p:txBody>
          <a:bodyPr wrap="square" lIns="36000" rIns="36000" tIns="18000" bIns="18000" anchor="t">
            <a:spAutoFit/>
          </a:bodyPr>
          <a:lstStyle/>
          <a:p>
            <a:pPr algn="l">
              <a:lnSpc>
                <a:spcPct val="110000"/>
              </a:lnSpc>
            </a:pPr>
            <a:r>
              <a:rPr sz="1900" b="1">
                <a:solidFill>
                  <a:srgbClr val="AE172A"/>
                </a:solidFill>
                <a:latin typeface="Poppins"/>
              </a:rPr>
              <a:t>5,4 %</a:t>
            </a:r>
          </a:p>
        </p:txBody>
      </p:sp>
      <p:sp>
        <p:nvSpPr>
          <p:cNvPr id="27" name="TextBox 26"/>
          <p:cNvSpPr txBox="1"/>
          <p:nvPr/>
        </p:nvSpPr>
        <p:spPr>
          <a:xfrm>
            <a:off x="10151999" y="2520000"/>
            <a:ext cx="1404000" cy="288000"/>
          </a:xfrm>
          <a:prstGeom prst="rect">
            <a:avLst/>
          </a:prstGeom>
          <a:noFill/>
        </p:spPr>
        <p:txBody>
          <a:bodyPr wrap="square" lIns="36000" rIns="36000" tIns="18000" bIns="18000" anchor="t">
            <a:spAutoFit/>
          </a:bodyPr>
          <a:lstStyle/>
          <a:p>
            <a:pPr algn="l">
              <a:lnSpc>
                <a:spcPct val="110000"/>
              </a:lnSpc>
            </a:pPr>
            <a:r>
              <a:rPr sz="1000" b="0">
                <a:solidFill>
                  <a:srgbClr val="6B6266"/>
                </a:solidFill>
                <a:latin typeface="Poppins"/>
              </a:rPr>
              <a:t>engagement</a:t>
            </a:r>
          </a:p>
        </p:txBody>
      </p:sp>
      <p:sp>
        <p:nvSpPr>
          <p:cNvPr id="28" name="Rounded Rectangle 27"/>
          <p:cNvSpPr/>
          <p:nvPr/>
        </p:nvSpPr>
        <p:spPr>
          <a:xfrm>
            <a:off x="4896000" y="3060000"/>
            <a:ext cx="6732000" cy="1332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076000" y="3240000"/>
            <a:ext cx="468000" cy="4680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ircle-check_bl.png"/>
          <p:cNvPicPr>
            <a:picLocks noChangeAspect="1"/>
          </p:cNvPicPr>
          <p:nvPr/>
        </p:nvPicPr>
        <p:blipFill>
          <a:blip r:embed="rId8"/>
          <a:stretch>
            <a:fillRect/>
          </a:stretch>
        </p:blipFill>
        <p:spPr>
          <a:xfrm>
            <a:off x="5188320" y="3352320"/>
            <a:ext cx="243360" cy="243360"/>
          </a:xfrm>
          <a:prstGeom prst="rect">
            <a:avLst/>
          </a:prstGeom>
        </p:spPr>
      </p:pic>
      <p:sp>
        <p:nvSpPr>
          <p:cNvPr id="31" name="TextBox 30"/>
          <p:cNvSpPr txBox="1"/>
          <p:nvPr/>
        </p:nvSpPr>
        <p:spPr>
          <a:xfrm>
            <a:off x="5688000" y="3150000"/>
            <a:ext cx="5832000" cy="1188000"/>
          </a:xfrm>
          <a:prstGeom prst="rect">
            <a:avLst/>
          </a:prstGeom>
          <a:noFill/>
        </p:spPr>
        <p:txBody>
          <a:bodyPr wrap="square" lIns="36000" rIns="36000" tIns="18000" bIns="18000" anchor="t">
            <a:spAutoFit/>
          </a:bodyPr>
          <a:lstStyle/>
          <a:p>
            <a:pPr algn="l">
              <a:lnSpc>
                <a:spcPct val="110000"/>
              </a:lnSpc>
            </a:pPr>
            <a:r>
              <a:rPr sz="1200" b="1">
                <a:solidFill>
                  <a:srgbClr val="1A1416"/>
                </a:solidFill>
                <a:latin typeface="Poppins"/>
              </a:rPr>
              <a:t>Pourquoi ce profil</a:t>
            </a:r>
          </a:p>
          <a:p>
            <a:pPr algn="l">
              <a:lnSpc>
                <a:spcPct val="110000"/>
              </a:lnSpc>
              <a:spcBef>
                <a:spcPts val="500"/>
              </a:spcBef>
            </a:pPr>
            <a:r>
              <a:rPr sz="1150" b="0">
                <a:solidFill>
                  <a:srgbClr val="1A1416"/>
                </a:solidFill>
                <a:latin typeface="Poppins"/>
              </a:rPr>
              <a:t>Le meilleur engagement de la liste. Exemple type des petits comptes : avis sincère, coût bas.</a:t>
            </a:r>
          </a:p>
        </p:txBody>
      </p:sp>
      <p:sp>
        <p:nvSpPr>
          <p:cNvPr id="32" name="Rounded Rectangle 31"/>
          <p:cNvSpPr/>
          <p:nvPr/>
        </p:nvSpPr>
        <p:spPr>
          <a:xfrm>
            <a:off x="4896000" y="4536000"/>
            <a:ext cx="6732000" cy="1152000"/>
          </a:xfrm>
          <a:prstGeom prst="roundRect">
            <a:avLst>
              <a:gd name="adj" fmla="val 6000"/>
            </a:avLst>
          </a:prstGeom>
          <a:solidFill>
            <a:srgbClr val="FB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076000" y="4716000"/>
            <a:ext cx="468000" cy="468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alert-triangle_bl.png"/>
          <p:cNvPicPr>
            <a:picLocks noChangeAspect="1"/>
          </p:cNvPicPr>
          <p:nvPr/>
        </p:nvPicPr>
        <p:blipFill>
          <a:blip r:embed="rId9"/>
          <a:stretch>
            <a:fillRect/>
          </a:stretch>
        </p:blipFill>
        <p:spPr>
          <a:xfrm>
            <a:off x="5188320" y="4828320"/>
            <a:ext cx="243360" cy="243360"/>
          </a:xfrm>
          <a:prstGeom prst="rect">
            <a:avLst/>
          </a:prstGeom>
        </p:spPr>
      </p:pic>
      <p:sp>
        <p:nvSpPr>
          <p:cNvPr id="35" name="TextBox 34"/>
          <p:cNvSpPr txBox="1"/>
          <p:nvPr/>
        </p:nvSpPr>
        <p:spPr>
          <a:xfrm>
            <a:off x="5688000" y="4626000"/>
            <a:ext cx="5832000" cy="1044000"/>
          </a:xfrm>
          <a:prstGeom prst="rect">
            <a:avLst/>
          </a:prstGeom>
          <a:noFill/>
        </p:spPr>
        <p:txBody>
          <a:bodyPr wrap="square" lIns="36000" rIns="36000" tIns="18000" bIns="18000" anchor="t">
            <a:spAutoFit/>
          </a:bodyPr>
          <a:lstStyle/>
          <a:p>
            <a:pPr algn="l">
              <a:lnSpc>
                <a:spcPct val="110000"/>
              </a:lnSpc>
            </a:pPr>
            <a:r>
              <a:rPr sz="1200" b="1">
                <a:solidFill>
                  <a:srgbClr val="AE172A"/>
                </a:solidFill>
                <a:latin typeface="Poppins"/>
              </a:rPr>
              <a:t>Point de vigilance</a:t>
            </a:r>
          </a:p>
          <a:p>
            <a:pPr algn="l">
              <a:lnSpc>
                <a:spcPct val="110000"/>
              </a:lnSpc>
              <a:spcBef>
                <a:spcPts val="500"/>
              </a:spcBef>
            </a:pPr>
            <a:r>
              <a:rPr sz="1150" b="0">
                <a:solidFill>
                  <a:srgbClr val="1A1416"/>
                </a:solidFill>
                <a:latin typeface="Poppins"/>
              </a:rPr>
              <a:t>Portée limitée : à grouper avec 15 à 20 comptes du même type.</a:t>
            </a:r>
          </a:p>
        </p:txBody>
      </p:sp>
      <p:sp>
        <p:nvSpPr>
          <p:cNvPr id="36" name="TextBox 35"/>
          <p:cNvSpPr txBox="1"/>
          <p:nvPr/>
        </p:nvSpPr>
        <p:spPr>
          <a:xfrm>
            <a:off x="4896000" y="5832000"/>
            <a:ext cx="6732000" cy="360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Chiffres publics TikTok relevés le 28/10/2026 (vues et engagement : TokRanks, oct. 2026). Aucun contact pris : profil à valider.</a:t>
            </a:r>
          </a:p>
        </p:txBody>
      </p:sp>
      <p:sp>
        <p:nvSpPr>
          <p:cNvPr id="37" name="TextBox 36"/>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15 / 22</a:t>
            </a:r>
          </a:p>
        </p:txBody>
      </p:sp>
      <p:sp>
        <p:nvSpPr>
          <p:cNvPr id="38" name="TextBox 37"/>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0000" cy="6858000"/>
          </a:xfrm>
          <a:prstGeom prst="rect">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0248119" y="257639"/>
            <a:ext cx="1584000" cy="492718"/>
          </a:xfrm>
          <a:prstGeom prst="rect">
            <a:avLst/>
          </a:prstGeom>
        </p:spPr>
      </p:pic>
      <p:sp>
        <p:nvSpPr>
          <p:cNvPr id="4" name="TextBox 3"/>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04 · RÉCAPITULATIF</a:t>
            </a:r>
          </a:p>
        </p:txBody>
      </p:sp>
      <p:sp>
        <p:nvSpPr>
          <p:cNvPr id="5" name="TextBox 4"/>
          <p:cNvSpPr txBox="1"/>
          <p:nvPr/>
        </p:nvSpPr>
        <p:spPr>
          <a:xfrm>
            <a:off x="576000" y="576000"/>
            <a:ext cx="9360000" cy="720000"/>
          </a:xfrm>
          <a:prstGeom prst="rect">
            <a:avLst/>
          </a:prstGeom>
          <a:noFill/>
        </p:spPr>
        <p:txBody>
          <a:bodyPr wrap="square" lIns="36000" rIns="36000" tIns="18000" bIns="18000" anchor="t">
            <a:spAutoFit/>
          </a:bodyPr>
          <a:lstStyle/>
          <a:p>
            <a:pPr algn="l">
              <a:lnSpc>
                <a:spcPct val="110000"/>
              </a:lnSpc>
            </a:pPr>
            <a:r>
              <a:rPr sz="2500" b="1">
                <a:solidFill>
                  <a:srgbClr val="1A1416"/>
                </a:solidFill>
                <a:latin typeface="Poppins"/>
              </a:rPr>
              <a:t>La sélection en un coup d’œil</a:t>
            </a:r>
          </a:p>
        </p:txBody>
      </p:sp>
      <p:sp>
        <p:nvSpPr>
          <p:cNvPr id="6" name="Rectangle 5"/>
          <p:cNvSpPr/>
          <p:nvPr/>
        </p:nvSpPr>
        <p:spPr>
          <a:xfrm>
            <a:off x="576000" y="1278000"/>
            <a:ext cx="792000" cy="50400"/>
          </a:xfrm>
          <a:prstGeom prst="rect">
            <a:avLst/>
          </a:prstGeom>
          <a:solidFill>
            <a:srgbClr val="FF8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12000" y="1188000"/>
            <a:ext cx="9000000" cy="251999"/>
          </a:xfrm>
          <a:prstGeom prst="rect">
            <a:avLst/>
          </a:prstGeom>
          <a:noFill/>
        </p:spPr>
        <p:txBody>
          <a:bodyPr wrap="square" lIns="36000" rIns="36000" tIns="18000" bIns="18000" anchor="t">
            <a:spAutoFit/>
          </a:bodyPr>
          <a:lstStyle/>
          <a:p>
            <a:pPr algn="l">
              <a:lnSpc>
                <a:spcPct val="110000"/>
              </a:lnSpc>
            </a:pPr>
            <a:r>
              <a:rPr sz="1150" b="0">
                <a:solidFill>
                  <a:srgbClr val="6B6266"/>
                </a:solidFill>
                <a:latin typeface="Poppins"/>
              </a:rPr>
              <a:t>TikTok, relevé du 28/10/2026 · statut : à valider, aucun contact pris</a:t>
            </a:r>
          </a:p>
        </p:txBody>
      </p:sp>
      <p:sp>
        <p:nvSpPr>
          <p:cNvPr id="8" name="TextBox 7"/>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16 / 22</a:t>
            </a:r>
          </a:p>
        </p:txBody>
      </p:sp>
      <p:sp>
        <p:nvSpPr>
          <p:cNvPr id="9" name="TextBox 8"/>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graphicFrame>
        <p:nvGraphicFramePr>
          <p:cNvPr id="10" name="Table 9"/>
          <p:cNvGraphicFramePr>
            <a:graphicFrameLocks noGrp="1"/>
          </p:cNvGraphicFramePr>
          <p:nvPr/>
        </p:nvGraphicFramePr>
        <p:xfrm>
          <a:off x="576000" y="1584000"/>
          <a:ext cx="11051999" cy="4140000"/>
        </p:xfrm>
        <a:graphic>
          <a:graphicData uri="http://schemas.openxmlformats.org/drawingml/2006/table">
            <a:tbl>
              <a:tblPr firstRow="1" bandRow="1">
                <a:tableStyleId>{5C22544A-7EE6-4342-B048-85BDC9FD1C3A}</a:tableStyleId>
              </a:tblPr>
              <a:tblGrid>
                <a:gridCol w="1944000"/>
                <a:gridCol w="2015999"/>
                <a:gridCol w="1224000"/>
                <a:gridCol w="1224000"/>
                <a:gridCol w="1296000"/>
                <a:gridCol w="3348000"/>
              </a:tblGrid>
              <a:tr h="460000">
                <a:tc>
                  <a:txBody>
                    <a:bodyPr/>
                    <a:lstStyle/>
                    <a:p>
                      <a:pPr algn="l"/>
                      <a:r>
                        <a:rPr sz="1100" b="1">
                          <a:solidFill>
                            <a:srgbClr val="FFFFFF"/>
                          </a:solidFill>
                          <a:latin typeface="Poppins"/>
                        </a:rPr>
                        <a:t>Créateur</a:t>
                      </a:r>
                    </a:p>
                  </a:txBody>
                  <a:tcPr marL="72000" marR="72000" anchor="ctr">
                    <a:solidFill>
                      <a:srgbClr val="2A0E12"/>
                    </a:solidFill>
                  </a:tcPr>
                </a:tc>
                <a:tc>
                  <a:txBody>
                    <a:bodyPr/>
                    <a:lstStyle/>
                    <a:p>
                      <a:pPr algn="ctr"/>
                      <a:r>
                        <a:rPr sz="1100" b="1">
                          <a:solidFill>
                            <a:srgbClr val="FFFFFF"/>
                          </a:solidFill>
                          <a:latin typeface="Poppins"/>
                        </a:rPr>
                        <a:t>Rôle</a:t>
                      </a:r>
                    </a:p>
                  </a:txBody>
                  <a:tcPr marL="72000" marR="72000" anchor="ctr">
                    <a:solidFill>
                      <a:srgbClr val="2A0E12"/>
                    </a:solidFill>
                  </a:tcPr>
                </a:tc>
                <a:tc>
                  <a:txBody>
                    <a:bodyPr/>
                    <a:lstStyle/>
                    <a:p>
                      <a:pPr algn="ctr"/>
                      <a:r>
                        <a:rPr sz="1100" b="1">
                          <a:solidFill>
                            <a:srgbClr val="FFFFFF"/>
                          </a:solidFill>
                          <a:latin typeface="Poppins"/>
                        </a:rPr>
                        <a:t>Abonnés</a:t>
                      </a:r>
                    </a:p>
                  </a:txBody>
                  <a:tcPr marL="72000" marR="72000" anchor="ctr">
                    <a:solidFill>
                      <a:srgbClr val="2A0E12"/>
                    </a:solidFill>
                  </a:tcPr>
                </a:tc>
                <a:tc>
                  <a:txBody>
                    <a:bodyPr/>
                    <a:lstStyle/>
                    <a:p>
                      <a:pPr algn="ctr"/>
                      <a:r>
                        <a:rPr sz="1100" b="1">
                          <a:solidFill>
                            <a:srgbClr val="FFFFFF"/>
                          </a:solidFill>
                          <a:latin typeface="Poppins"/>
                        </a:rPr>
                        <a:t>Vues moy.</a:t>
                      </a:r>
                    </a:p>
                  </a:txBody>
                  <a:tcPr marL="72000" marR="72000" anchor="ctr">
                    <a:solidFill>
                      <a:srgbClr val="2A0E12"/>
                    </a:solidFill>
                  </a:tcPr>
                </a:tc>
                <a:tc>
                  <a:txBody>
                    <a:bodyPr/>
                    <a:lstStyle/>
                    <a:p>
                      <a:pPr algn="ctr"/>
                      <a:r>
                        <a:rPr sz="1100" b="1">
                          <a:solidFill>
                            <a:srgbClr val="FFFFFF"/>
                          </a:solidFill>
                          <a:latin typeface="Poppins"/>
                        </a:rPr>
                        <a:t>Engagement</a:t>
                      </a:r>
                    </a:p>
                  </a:txBody>
                  <a:tcPr marL="72000" marR="72000" anchor="ctr">
                    <a:solidFill>
                      <a:srgbClr val="2A0E12"/>
                    </a:solidFill>
                  </a:tcPr>
                </a:tc>
                <a:tc>
                  <a:txBody>
                    <a:bodyPr/>
                    <a:lstStyle/>
                    <a:p>
                      <a:pPr algn="ctr"/>
                      <a:r>
                        <a:rPr sz="1100" b="1">
                          <a:solidFill>
                            <a:srgbClr val="FFFFFF"/>
                          </a:solidFill>
                          <a:latin typeface="Poppins"/>
                        </a:rPr>
                        <a:t>Gammes</a:t>
                      </a:r>
                    </a:p>
                  </a:txBody>
                  <a:tcPr marL="72000" marR="72000" anchor="ctr">
                    <a:solidFill>
                      <a:srgbClr val="2A0E12"/>
                    </a:solidFill>
                  </a:tcPr>
                </a:tc>
              </a:tr>
              <a:tr h="460000">
                <a:tc>
                  <a:txBody>
                    <a:bodyPr/>
                    <a:lstStyle/>
                    <a:p>
                      <a:pPr algn="l"/>
                      <a:r>
                        <a:rPr sz="1100" b="1">
                          <a:solidFill>
                            <a:srgbClr val="1A1416"/>
                          </a:solidFill>
                          <a:latin typeface="Poppins"/>
                        </a:rPr>
                        <a:t>Braising Girl</a:t>
                      </a:r>
                    </a:p>
                  </a:txBody>
                  <a:tcPr marL="72000" marR="72000" anchor="ctr">
                    <a:solidFill>
                      <a:srgbClr val="F6F2F2"/>
                    </a:solidFill>
                  </a:tcPr>
                </a:tc>
                <a:tc>
                  <a:txBody>
                    <a:bodyPr/>
                    <a:lstStyle/>
                    <a:p>
                      <a:pPr algn="ctr"/>
                      <a:r>
                        <a:rPr sz="1100" b="0">
                          <a:solidFill>
                            <a:srgbClr val="1A1416"/>
                          </a:solidFill>
                          <a:latin typeface="Poppins"/>
                        </a:rPr>
                        <a:t>Tête d’affiche</a:t>
                      </a:r>
                    </a:p>
                  </a:txBody>
                  <a:tcPr marL="72000" marR="72000" anchor="ctr">
                    <a:solidFill>
                      <a:srgbClr val="F6F2F2"/>
                    </a:solidFill>
                  </a:tcPr>
                </a:tc>
                <a:tc>
                  <a:txBody>
                    <a:bodyPr/>
                    <a:lstStyle/>
                    <a:p>
                      <a:pPr algn="ctr"/>
                      <a:r>
                        <a:rPr sz="1100" b="0">
                          <a:solidFill>
                            <a:srgbClr val="1A1416"/>
                          </a:solidFill>
                          <a:latin typeface="Poppins"/>
                        </a:rPr>
                        <a:t>1,5 M</a:t>
                      </a:r>
                    </a:p>
                  </a:txBody>
                  <a:tcPr marL="72000" marR="72000" anchor="ctr">
                    <a:solidFill>
                      <a:srgbClr val="F6F2F2"/>
                    </a:solidFill>
                  </a:tcPr>
                </a:tc>
                <a:tc>
                  <a:txBody>
                    <a:bodyPr/>
                    <a:lstStyle/>
                    <a:p>
                      <a:pPr algn="ctr"/>
                      <a:r>
                        <a:rPr sz="1100" b="0">
                          <a:solidFill>
                            <a:srgbClr val="1A1416"/>
                          </a:solidFill>
                          <a:latin typeface="Poppins"/>
                        </a:rPr>
                        <a:t>685 700</a:t>
                      </a:r>
                    </a:p>
                  </a:txBody>
                  <a:tcPr marL="72000" marR="72000" anchor="ctr">
                    <a:solidFill>
                      <a:srgbClr val="F6F2F2"/>
                    </a:solidFill>
                  </a:tcPr>
                </a:tc>
                <a:tc>
                  <a:txBody>
                    <a:bodyPr/>
                    <a:lstStyle/>
                    <a:p>
                      <a:pPr algn="ctr"/>
                      <a:r>
                        <a:rPr sz="1100" b="0">
                          <a:solidFill>
                            <a:srgbClr val="1A1416"/>
                          </a:solidFill>
                          <a:latin typeface="Poppins"/>
                        </a:rPr>
                        <a:t>3,0 %</a:t>
                      </a:r>
                    </a:p>
                  </a:txBody>
                  <a:tcPr marL="72000" marR="72000" anchor="ctr">
                    <a:solidFill>
                      <a:srgbClr val="FBE6E8"/>
                    </a:solidFill>
                  </a:tcPr>
                </a:tc>
                <a:tc>
                  <a:txBody>
                    <a:bodyPr/>
                    <a:lstStyle/>
                    <a:p>
                      <a:pPr algn="ctr"/>
                      <a:r>
                        <a:rPr sz="1100" b="0">
                          <a:solidFill>
                            <a:srgbClr val="1A1416"/>
                          </a:solidFill>
                          <a:latin typeface="Poppins"/>
                        </a:rPr>
                        <a:t>Lancement · toutes gammes</a:t>
                      </a:r>
                    </a:p>
                  </a:txBody>
                  <a:tcPr marL="72000" marR="72000" anchor="ctr">
                    <a:solidFill>
                      <a:srgbClr val="F6F2F2"/>
                    </a:solidFill>
                  </a:tcPr>
                </a:tc>
              </a:tr>
              <a:tr h="460000">
                <a:tc>
                  <a:txBody>
                    <a:bodyPr/>
                    <a:lstStyle/>
                    <a:p>
                      <a:pPr algn="l"/>
                      <a:r>
                        <a:rPr sz="1100" b="1">
                          <a:solidFill>
                            <a:srgbClr val="1A1416"/>
                          </a:solidFill>
                          <a:latin typeface="Poppins"/>
                        </a:rPr>
                        <a:t>Aïcha Diallo</a:t>
                      </a:r>
                    </a:p>
                  </a:txBody>
                  <a:tcPr marL="72000" marR="72000" anchor="ctr">
                    <a:solidFill>
                      <a:srgbClr val="FFFFFF"/>
                    </a:solidFill>
                  </a:tcPr>
                </a:tc>
                <a:tc>
                  <a:txBody>
                    <a:bodyPr/>
                    <a:lstStyle/>
                    <a:p>
                      <a:pPr algn="ctr"/>
                      <a:r>
                        <a:rPr sz="1100" b="0">
                          <a:solidFill>
                            <a:srgbClr val="1A1416"/>
                          </a:solidFill>
                          <a:latin typeface="Poppins"/>
                        </a:rPr>
                        <a:t>Experte beauté</a:t>
                      </a:r>
                    </a:p>
                  </a:txBody>
                  <a:tcPr marL="72000" marR="72000" anchor="ctr">
                    <a:solidFill>
                      <a:srgbClr val="FFFFFF"/>
                    </a:solidFill>
                  </a:tcPr>
                </a:tc>
                <a:tc>
                  <a:txBody>
                    <a:bodyPr/>
                    <a:lstStyle/>
                    <a:p>
                      <a:pPr algn="ctr"/>
                      <a:r>
                        <a:rPr sz="1100" b="0">
                          <a:solidFill>
                            <a:srgbClr val="1A1416"/>
                          </a:solidFill>
                          <a:latin typeface="Poppins"/>
                        </a:rPr>
                        <a:t>1,1 M</a:t>
                      </a:r>
                    </a:p>
                  </a:txBody>
                  <a:tcPr marL="72000" marR="72000" anchor="ctr">
                    <a:solidFill>
                      <a:srgbClr val="FFFFFF"/>
                    </a:solidFill>
                  </a:tcPr>
                </a:tc>
                <a:tc>
                  <a:txBody>
                    <a:bodyPr/>
                    <a:lstStyle/>
                    <a:p>
                      <a:pPr algn="ctr"/>
                      <a:r>
                        <a:rPr sz="1100" b="0">
                          <a:solidFill>
                            <a:srgbClr val="1A1416"/>
                          </a:solidFill>
                          <a:latin typeface="Poppins"/>
                        </a:rPr>
                        <a:t>151 400</a:t>
                      </a:r>
                    </a:p>
                  </a:txBody>
                  <a:tcPr marL="72000" marR="72000" anchor="ctr">
                    <a:solidFill>
                      <a:srgbClr val="FFFFFF"/>
                    </a:solidFill>
                  </a:tcPr>
                </a:tc>
                <a:tc>
                  <a:txBody>
                    <a:bodyPr/>
                    <a:lstStyle/>
                    <a:p>
                      <a:pPr algn="ctr"/>
                      <a:r>
                        <a:rPr sz="1100" b="0">
                          <a:solidFill>
                            <a:srgbClr val="1A1416"/>
                          </a:solidFill>
                          <a:latin typeface="Poppins"/>
                        </a:rPr>
                        <a:t>4,3 %</a:t>
                      </a:r>
                    </a:p>
                  </a:txBody>
                  <a:tcPr marL="72000" marR="72000" anchor="ctr">
                    <a:solidFill>
                      <a:srgbClr val="FBE6E8"/>
                    </a:solidFill>
                  </a:tcPr>
                </a:tc>
                <a:tc>
                  <a:txBody>
                    <a:bodyPr/>
                    <a:lstStyle/>
                    <a:p>
                      <a:pPr algn="ctr"/>
                      <a:r>
                        <a:rPr sz="1100" b="0">
                          <a:solidFill>
                            <a:srgbClr val="1A1416"/>
                          </a:solidFill>
                          <a:latin typeface="Poppins"/>
                        </a:rPr>
                        <a:t>Biolight · Clear Therapy</a:t>
                      </a:r>
                    </a:p>
                  </a:txBody>
                  <a:tcPr marL="72000" marR="72000" anchor="ctr">
                    <a:solidFill>
                      <a:srgbClr val="FFFFFF"/>
                    </a:solidFill>
                  </a:tcPr>
                </a:tc>
              </a:tr>
              <a:tr h="460000">
                <a:tc>
                  <a:txBody>
                    <a:bodyPr/>
                    <a:lstStyle/>
                    <a:p>
                      <a:pPr algn="l"/>
                      <a:r>
                        <a:rPr sz="1100" b="1">
                          <a:solidFill>
                            <a:srgbClr val="1A1416"/>
                          </a:solidFill>
                          <a:latin typeface="Poppins"/>
                        </a:rPr>
                        <a:t>Fabulous Makeup</a:t>
                      </a:r>
                    </a:p>
                  </a:txBody>
                  <a:tcPr marL="72000" marR="72000" anchor="ctr">
                    <a:solidFill>
                      <a:srgbClr val="F6F2F2"/>
                    </a:solidFill>
                  </a:tcPr>
                </a:tc>
                <a:tc>
                  <a:txBody>
                    <a:bodyPr/>
                    <a:lstStyle/>
                    <a:p>
                      <a:pPr algn="ctr"/>
                      <a:r>
                        <a:rPr sz="1100" b="0">
                          <a:solidFill>
                            <a:srgbClr val="1A1416"/>
                          </a:solidFill>
                          <a:latin typeface="Poppins"/>
                        </a:rPr>
                        <a:t>Experte beauté</a:t>
                      </a:r>
                    </a:p>
                  </a:txBody>
                  <a:tcPr marL="72000" marR="72000" anchor="ctr">
                    <a:solidFill>
                      <a:srgbClr val="F6F2F2"/>
                    </a:solidFill>
                  </a:tcPr>
                </a:tc>
                <a:tc>
                  <a:txBody>
                    <a:bodyPr/>
                    <a:lstStyle/>
                    <a:p>
                      <a:pPr algn="ctr"/>
                      <a:r>
                        <a:rPr sz="1100" b="0">
                          <a:solidFill>
                            <a:srgbClr val="1A1416"/>
                          </a:solidFill>
                          <a:latin typeface="Poppins"/>
                        </a:rPr>
                        <a:t>325 000</a:t>
                      </a:r>
                    </a:p>
                  </a:txBody>
                  <a:tcPr marL="72000" marR="72000" anchor="ctr">
                    <a:solidFill>
                      <a:srgbClr val="F6F2F2"/>
                    </a:solidFill>
                  </a:tcPr>
                </a:tc>
                <a:tc>
                  <a:txBody>
                    <a:bodyPr/>
                    <a:lstStyle/>
                    <a:p>
                      <a:pPr algn="ctr"/>
                      <a:r>
                        <a:rPr sz="1100" b="0">
                          <a:solidFill>
                            <a:srgbClr val="1A1416"/>
                          </a:solidFill>
                          <a:latin typeface="Poppins"/>
                        </a:rPr>
                        <a:t>78 500</a:t>
                      </a:r>
                    </a:p>
                  </a:txBody>
                  <a:tcPr marL="72000" marR="72000" anchor="ctr">
                    <a:solidFill>
                      <a:srgbClr val="F6F2F2"/>
                    </a:solidFill>
                  </a:tcPr>
                </a:tc>
                <a:tc>
                  <a:txBody>
                    <a:bodyPr/>
                    <a:lstStyle/>
                    <a:p>
                      <a:pPr algn="ctr"/>
                      <a:r>
                        <a:rPr sz="1100" b="0">
                          <a:solidFill>
                            <a:srgbClr val="1A1416"/>
                          </a:solidFill>
                          <a:latin typeface="Poppins"/>
                        </a:rPr>
                        <a:t>2,9 %</a:t>
                      </a:r>
                    </a:p>
                  </a:txBody>
                  <a:tcPr marL="72000" marR="72000" anchor="ctr">
                    <a:solidFill>
                      <a:srgbClr val="FBE6E8"/>
                    </a:solidFill>
                  </a:tcPr>
                </a:tc>
                <a:tc>
                  <a:txBody>
                    <a:bodyPr/>
                    <a:lstStyle/>
                    <a:p>
                      <a:pPr algn="ctr"/>
                      <a:r>
                        <a:rPr sz="1100" b="0">
                          <a:solidFill>
                            <a:srgbClr val="1A1416"/>
                          </a:solidFill>
                          <a:latin typeface="Poppins"/>
                        </a:rPr>
                        <a:t>Dermaskin · Cocopulp</a:t>
                      </a:r>
                    </a:p>
                  </a:txBody>
                  <a:tcPr marL="72000" marR="72000" anchor="ctr">
                    <a:solidFill>
                      <a:srgbClr val="F6F2F2"/>
                    </a:solidFill>
                  </a:tcPr>
                </a:tc>
              </a:tr>
              <a:tr h="460000">
                <a:tc>
                  <a:txBody>
                    <a:bodyPr/>
                    <a:lstStyle/>
                    <a:p>
                      <a:pPr algn="l"/>
                      <a:r>
                        <a:rPr sz="1100" b="1">
                          <a:solidFill>
                            <a:srgbClr val="1A1416"/>
                          </a:solidFill>
                          <a:latin typeface="Poppins"/>
                        </a:rPr>
                        <a:t>Laël The Creator</a:t>
                      </a:r>
                    </a:p>
                  </a:txBody>
                  <a:tcPr marL="72000" marR="72000" anchor="ctr">
                    <a:solidFill>
                      <a:srgbClr val="FFFFFF"/>
                    </a:solidFill>
                  </a:tcPr>
                </a:tc>
                <a:tc>
                  <a:txBody>
                    <a:bodyPr/>
                    <a:lstStyle/>
                    <a:p>
                      <a:pPr algn="ctr"/>
                      <a:r>
                        <a:rPr sz="1100" b="0">
                          <a:solidFill>
                            <a:srgbClr val="1A1416"/>
                          </a:solidFill>
                          <a:latin typeface="Poppins"/>
                        </a:rPr>
                        <a:t>Expert · public homme</a:t>
                      </a:r>
                    </a:p>
                  </a:txBody>
                  <a:tcPr marL="72000" marR="72000" anchor="ctr">
                    <a:solidFill>
                      <a:srgbClr val="FFFFFF"/>
                    </a:solidFill>
                  </a:tcPr>
                </a:tc>
                <a:tc>
                  <a:txBody>
                    <a:bodyPr/>
                    <a:lstStyle/>
                    <a:p>
                      <a:pPr algn="ctr"/>
                      <a:r>
                        <a:rPr sz="1100" b="0">
                          <a:solidFill>
                            <a:srgbClr val="1A1416"/>
                          </a:solidFill>
                          <a:latin typeface="Poppins"/>
                        </a:rPr>
                        <a:t>300 000</a:t>
                      </a:r>
                    </a:p>
                  </a:txBody>
                  <a:tcPr marL="72000" marR="72000" anchor="ctr">
                    <a:solidFill>
                      <a:srgbClr val="FFFFFF"/>
                    </a:solidFill>
                  </a:tcPr>
                </a:tc>
                <a:tc>
                  <a:txBody>
                    <a:bodyPr/>
                    <a:lstStyle/>
                    <a:p>
                      <a:pPr algn="ctr"/>
                      <a:r>
                        <a:rPr sz="1100" b="0">
                          <a:solidFill>
                            <a:srgbClr val="1A1416"/>
                          </a:solidFill>
                          <a:latin typeface="Poppins"/>
                        </a:rPr>
                        <a:t>74 600</a:t>
                      </a:r>
                    </a:p>
                  </a:txBody>
                  <a:tcPr marL="72000" marR="72000" anchor="ctr">
                    <a:solidFill>
                      <a:srgbClr val="FFFFFF"/>
                    </a:solidFill>
                  </a:tcPr>
                </a:tc>
                <a:tc>
                  <a:txBody>
                    <a:bodyPr/>
                    <a:lstStyle/>
                    <a:p>
                      <a:pPr algn="ctr"/>
                      <a:r>
                        <a:rPr sz="1100" b="0">
                          <a:solidFill>
                            <a:srgbClr val="1A1416"/>
                          </a:solidFill>
                          <a:latin typeface="Poppins"/>
                        </a:rPr>
                        <a:t>2,0 %</a:t>
                      </a:r>
                    </a:p>
                  </a:txBody>
                  <a:tcPr marL="72000" marR="72000" anchor="ctr">
                    <a:solidFill>
                      <a:srgbClr val="FBE6E8"/>
                    </a:solidFill>
                  </a:tcPr>
                </a:tc>
                <a:tc>
                  <a:txBody>
                    <a:bodyPr/>
                    <a:lstStyle/>
                    <a:p>
                      <a:pPr algn="ctr"/>
                      <a:r>
                        <a:rPr sz="1100" b="0">
                          <a:solidFill>
                            <a:srgbClr val="1A1416"/>
                          </a:solidFill>
                          <a:latin typeface="Poppins"/>
                        </a:rPr>
                        <a:t>Day by Day Men</a:t>
                      </a:r>
                    </a:p>
                  </a:txBody>
                  <a:tcPr marL="72000" marR="72000" anchor="ctr">
                    <a:solidFill>
                      <a:srgbClr val="FFFFFF"/>
                    </a:solidFill>
                  </a:tcPr>
                </a:tc>
              </a:tr>
              <a:tr h="460000">
                <a:tc>
                  <a:txBody>
                    <a:bodyPr/>
                    <a:lstStyle/>
                    <a:p>
                      <a:pPr algn="l"/>
                      <a:r>
                        <a:rPr sz="1100" b="1">
                          <a:solidFill>
                            <a:srgbClr val="1A1416"/>
                          </a:solidFill>
                          <a:latin typeface="Poppins"/>
                        </a:rPr>
                        <a:t>Maman de Kylian</a:t>
                      </a:r>
                    </a:p>
                  </a:txBody>
                  <a:tcPr marL="72000" marR="72000" anchor="ctr">
                    <a:solidFill>
                      <a:srgbClr val="F6F2F2"/>
                    </a:solidFill>
                  </a:tcPr>
                </a:tc>
                <a:tc>
                  <a:txBody>
                    <a:bodyPr/>
                    <a:lstStyle/>
                    <a:p>
                      <a:pPr algn="ctr"/>
                      <a:r>
                        <a:rPr sz="1100" b="0">
                          <a:solidFill>
                            <a:srgbClr val="1A1416"/>
                          </a:solidFill>
                          <a:latin typeface="Poppins"/>
                        </a:rPr>
                        <a:t>Maman</a:t>
                      </a:r>
                    </a:p>
                  </a:txBody>
                  <a:tcPr marL="72000" marR="72000" anchor="ctr">
                    <a:solidFill>
                      <a:srgbClr val="F6F2F2"/>
                    </a:solidFill>
                  </a:tcPr>
                </a:tc>
                <a:tc>
                  <a:txBody>
                    <a:bodyPr/>
                    <a:lstStyle/>
                    <a:p>
                      <a:pPr algn="ctr"/>
                      <a:r>
                        <a:rPr sz="1100" b="0">
                          <a:solidFill>
                            <a:srgbClr val="1A1416"/>
                          </a:solidFill>
                          <a:latin typeface="Poppins"/>
                        </a:rPr>
                        <a:t>948 000</a:t>
                      </a:r>
                    </a:p>
                  </a:txBody>
                  <a:tcPr marL="72000" marR="72000" anchor="ctr">
                    <a:solidFill>
                      <a:srgbClr val="F6F2F2"/>
                    </a:solidFill>
                  </a:tcPr>
                </a:tc>
                <a:tc>
                  <a:txBody>
                    <a:bodyPr/>
                    <a:lstStyle/>
                    <a:p>
                      <a:pPr algn="ctr"/>
                      <a:r>
                        <a:rPr sz="1100" b="0">
                          <a:solidFill>
                            <a:srgbClr val="1A1416"/>
                          </a:solidFill>
                          <a:latin typeface="Poppins"/>
                        </a:rPr>
                        <a:t>49 500</a:t>
                      </a:r>
                    </a:p>
                  </a:txBody>
                  <a:tcPr marL="72000" marR="72000" anchor="ctr">
                    <a:solidFill>
                      <a:srgbClr val="F6F2F2"/>
                    </a:solidFill>
                  </a:tcPr>
                </a:tc>
                <a:tc>
                  <a:txBody>
                    <a:bodyPr/>
                    <a:lstStyle/>
                    <a:p>
                      <a:pPr algn="ctr"/>
                      <a:r>
                        <a:rPr sz="1100" b="0">
                          <a:solidFill>
                            <a:srgbClr val="1A1416"/>
                          </a:solidFill>
                          <a:latin typeface="Poppins"/>
                        </a:rPr>
                        <a:t>1,3 %</a:t>
                      </a:r>
                    </a:p>
                  </a:txBody>
                  <a:tcPr marL="72000" marR="72000" anchor="ctr">
                    <a:solidFill>
                      <a:srgbClr val="FBE6E8"/>
                    </a:solidFill>
                  </a:tcPr>
                </a:tc>
                <a:tc>
                  <a:txBody>
                    <a:bodyPr/>
                    <a:lstStyle/>
                    <a:p>
                      <a:pPr algn="ctr"/>
                      <a:r>
                        <a:rPr sz="1100" b="0">
                          <a:solidFill>
                            <a:srgbClr val="1A1416"/>
                          </a:solidFill>
                          <a:latin typeface="Poppins"/>
                        </a:rPr>
                        <a:t>Babymed · Day by Day Baby</a:t>
                      </a:r>
                    </a:p>
                  </a:txBody>
                  <a:tcPr marL="72000" marR="72000" anchor="ctr">
                    <a:solidFill>
                      <a:srgbClr val="F6F2F2"/>
                    </a:solidFill>
                  </a:tcPr>
                </a:tc>
              </a:tr>
              <a:tr h="460000">
                <a:tc>
                  <a:txBody>
                    <a:bodyPr/>
                    <a:lstStyle/>
                    <a:p>
                      <a:pPr algn="l"/>
                      <a:r>
                        <a:rPr sz="1100" b="1">
                          <a:solidFill>
                            <a:srgbClr val="1A1416"/>
                          </a:solidFill>
                          <a:latin typeface="Poppins"/>
                        </a:rPr>
                        <a:t>Mamanconseil</a:t>
                      </a:r>
                    </a:p>
                  </a:txBody>
                  <a:tcPr marL="72000" marR="72000" anchor="ctr">
                    <a:solidFill>
                      <a:srgbClr val="FFFFFF"/>
                    </a:solidFill>
                  </a:tcPr>
                </a:tc>
                <a:tc>
                  <a:txBody>
                    <a:bodyPr/>
                    <a:lstStyle/>
                    <a:p>
                      <a:pPr algn="ctr"/>
                      <a:r>
                        <a:rPr sz="1100" b="0">
                          <a:solidFill>
                            <a:srgbClr val="1A1416"/>
                          </a:solidFill>
                          <a:latin typeface="Poppins"/>
                        </a:rPr>
                        <a:t>Maman · conseil</a:t>
                      </a:r>
                    </a:p>
                  </a:txBody>
                  <a:tcPr marL="72000" marR="72000" anchor="ctr">
                    <a:solidFill>
                      <a:srgbClr val="FFFFFF"/>
                    </a:solidFill>
                  </a:tcPr>
                </a:tc>
                <a:tc>
                  <a:txBody>
                    <a:bodyPr/>
                    <a:lstStyle/>
                    <a:p>
                      <a:pPr algn="ctr"/>
                      <a:r>
                        <a:rPr sz="1100" b="0">
                          <a:solidFill>
                            <a:srgbClr val="1A1416"/>
                          </a:solidFill>
                          <a:latin typeface="Poppins"/>
                        </a:rPr>
                        <a:t>335 000</a:t>
                      </a:r>
                    </a:p>
                  </a:txBody>
                  <a:tcPr marL="72000" marR="72000" anchor="ctr">
                    <a:solidFill>
                      <a:srgbClr val="FFFFFF"/>
                    </a:solidFill>
                  </a:tcPr>
                </a:tc>
                <a:tc>
                  <a:txBody>
                    <a:bodyPr/>
                    <a:lstStyle/>
                    <a:p>
                      <a:pPr algn="ctr"/>
                      <a:r>
                        <a:rPr sz="1100" b="0">
                          <a:solidFill>
                            <a:srgbClr val="1A1416"/>
                          </a:solidFill>
                          <a:latin typeface="Poppins"/>
                        </a:rPr>
                        <a:t>n.d.</a:t>
                      </a:r>
                    </a:p>
                  </a:txBody>
                  <a:tcPr marL="72000" marR="72000" anchor="ctr">
                    <a:solidFill>
                      <a:srgbClr val="FFFFFF"/>
                    </a:solidFill>
                  </a:tcPr>
                </a:tc>
                <a:tc>
                  <a:txBody>
                    <a:bodyPr/>
                    <a:lstStyle/>
                    <a:p>
                      <a:pPr algn="ctr"/>
                      <a:r>
                        <a:rPr sz="1100" b="0">
                          <a:solidFill>
                            <a:srgbClr val="1A1416"/>
                          </a:solidFill>
                          <a:latin typeface="Poppins"/>
                        </a:rPr>
                        <a:t>n.d.</a:t>
                      </a:r>
                    </a:p>
                  </a:txBody>
                  <a:tcPr marL="72000" marR="72000" anchor="ctr">
                    <a:solidFill>
                      <a:srgbClr val="FBE6E8"/>
                    </a:solidFill>
                  </a:tcPr>
                </a:tc>
                <a:tc>
                  <a:txBody>
                    <a:bodyPr/>
                    <a:lstStyle/>
                    <a:p>
                      <a:pPr algn="ctr"/>
                      <a:r>
                        <a:rPr sz="1100" b="0">
                          <a:solidFill>
                            <a:srgbClr val="1A1416"/>
                          </a:solidFill>
                          <a:latin typeface="Poppins"/>
                        </a:rPr>
                        <a:t>Babymed · Day by Day Kids</a:t>
                      </a:r>
                    </a:p>
                  </a:txBody>
                  <a:tcPr marL="72000" marR="72000" anchor="ctr">
                    <a:solidFill>
                      <a:srgbClr val="FFFFFF"/>
                    </a:solidFill>
                  </a:tcPr>
                </a:tc>
              </a:tr>
              <a:tr h="460000">
                <a:tc>
                  <a:txBody>
                    <a:bodyPr/>
                    <a:lstStyle/>
                    <a:p>
                      <a:pPr algn="l"/>
                      <a:r>
                        <a:rPr sz="1100" b="1">
                          <a:solidFill>
                            <a:srgbClr val="1A1416"/>
                          </a:solidFill>
                          <a:latin typeface="Poppins"/>
                        </a:rPr>
                        <a:t>My_riam</a:t>
                      </a:r>
                    </a:p>
                  </a:txBody>
                  <a:tcPr marL="72000" marR="72000" anchor="ctr">
                    <a:solidFill>
                      <a:srgbClr val="F6F2F2"/>
                    </a:solidFill>
                  </a:tcPr>
                </a:tc>
                <a:tc>
                  <a:txBody>
                    <a:bodyPr/>
                    <a:lstStyle/>
                    <a:p>
                      <a:pPr algn="ctr"/>
                      <a:r>
                        <a:rPr sz="1100" b="0">
                          <a:solidFill>
                            <a:srgbClr val="1A1416"/>
                          </a:solidFill>
                          <a:latin typeface="Poppins"/>
                        </a:rPr>
                        <a:t>Soin à petit prix</a:t>
                      </a:r>
                    </a:p>
                  </a:txBody>
                  <a:tcPr marL="72000" marR="72000" anchor="ctr">
                    <a:solidFill>
                      <a:srgbClr val="F6F2F2"/>
                    </a:solidFill>
                  </a:tcPr>
                </a:tc>
                <a:tc>
                  <a:txBody>
                    <a:bodyPr/>
                    <a:lstStyle/>
                    <a:p>
                      <a:pPr algn="ctr"/>
                      <a:r>
                        <a:rPr sz="1100" b="0">
                          <a:solidFill>
                            <a:srgbClr val="1A1416"/>
                          </a:solidFill>
                          <a:latin typeface="Poppins"/>
                        </a:rPr>
                        <a:t>133 000</a:t>
                      </a:r>
                    </a:p>
                  </a:txBody>
                  <a:tcPr marL="72000" marR="72000" anchor="ctr">
                    <a:solidFill>
                      <a:srgbClr val="F6F2F2"/>
                    </a:solidFill>
                  </a:tcPr>
                </a:tc>
                <a:tc>
                  <a:txBody>
                    <a:bodyPr/>
                    <a:lstStyle/>
                    <a:p>
                      <a:pPr algn="ctr"/>
                      <a:r>
                        <a:rPr sz="1100" b="0">
                          <a:solidFill>
                            <a:srgbClr val="1A1416"/>
                          </a:solidFill>
                          <a:latin typeface="Poppins"/>
                        </a:rPr>
                        <a:t>1 300</a:t>
                      </a:r>
                    </a:p>
                  </a:txBody>
                  <a:tcPr marL="72000" marR="72000" anchor="ctr">
                    <a:solidFill>
                      <a:srgbClr val="F6F2F2"/>
                    </a:solidFill>
                  </a:tcPr>
                </a:tc>
                <a:tc>
                  <a:txBody>
                    <a:bodyPr/>
                    <a:lstStyle/>
                    <a:p>
                      <a:pPr algn="ctr"/>
                      <a:r>
                        <a:rPr sz="1100" b="0">
                          <a:solidFill>
                            <a:srgbClr val="1A1416"/>
                          </a:solidFill>
                          <a:latin typeface="Poppins"/>
                        </a:rPr>
                        <a:t>0,8 %</a:t>
                      </a:r>
                    </a:p>
                  </a:txBody>
                  <a:tcPr marL="72000" marR="72000" anchor="ctr">
                    <a:solidFill>
                      <a:srgbClr val="FBE6E8"/>
                    </a:solidFill>
                  </a:tcPr>
                </a:tc>
                <a:tc>
                  <a:txBody>
                    <a:bodyPr/>
                    <a:lstStyle/>
                    <a:p>
                      <a:pPr algn="ctr"/>
                      <a:r>
                        <a:rPr sz="1100" b="0">
                          <a:solidFill>
                            <a:srgbClr val="1A1416"/>
                          </a:solidFill>
                          <a:latin typeface="Poppins"/>
                        </a:rPr>
                        <a:t>Cocopulp · Day by Day</a:t>
                      </a:r>
                    </a:p>
                  </a:txBody>
                  <a:tcPr marL="72000" marR="72000" anchor="ctr">
                    <a:solidFill>
                      <a:srgbClr val="F6F2F2"/>
                    </a:solidFill>
                  </a:tcPr>
                </a:tc>
              </a:tr>
              <a:tr h="460000">
                <a:tc>
                  <a:txBody>
                    <a:bodyPr/>
                    <a:lstStyle/>
                    <a:p>
                      <a:pPr algn="l"/>
                      <a:r>
                        <a:rPr sz="1100" b="1">
                          <a:solidFill>
                            <a:srgbClr val="1A1416"/>
                          </a:solidFill>
                          <a:latin typeface="Poppins"/>
                        </a:rPr>
                        <a:t>Yanin Beauty</a:t>
                      </a:r>
                    </a:p>
                  </a:txBody>
                  <a:tcPr marL="72000" marR="72000" anchor="ctr">
                    <a:solidFill>
                      <a:srgbClr val="FFFFFF"/>
                    </a:solidFill>
                  </a:tcPr>
                </a:tc>
                <a:tc>
                  <a:txBody>
                    <a:bodyPr/>
                    <a:lstStyle/>
                    <a:p>
                      <a:pPr algn="ctr"/>
                      <a:r>
                        <a:rPr sz="1100" b="0">
                          <a:solidFill>
                            <a:srgbClr val="1A1416"/>
                          </a:solidFill>
                          <a:latin typeface="Poppins"/>
                        </a:rPr>
                        <a:t>Petit compte</a:t>
                      </a:r>
                    </a:p>
                  </a:txBody>
                  <a:tcPr marL="72000" marR="72000" anchor="ctr">
                    <a:solidFill>
                      <a:srgbClr val="FFFFFF"/>
                    </a:solidFill>
                  </a:tcPr>
                </a:tc>
                <a:tc>
                  <a:txBody>
                    <a:bodyPr/>
                    <a:lstStyle/>
                    <a:p>
                      <a:pPr algn="ctr"/>
                      <a:r>
                        <a:rPr sz="1100" b="0">
                          <a:solidFill>
                            <a:srgbClr val="1A1416"/>
                          </a:solidFill>
                          <a:latin typeface="Poppins"/>
                        </a:rPr>
                        <a:t>17 300</a:t>
                      </a:r>
                    </a:p>
                  </a:txBody>
                  <a:tcPr marL="72000" marR="72000" anchor="ctr">
                    <a:solidFill>
                      <a:srgbClr val="FFFFFF"/>
                    </a:solidFill>
                  </a:tcPr>
                </a:tc>
                <a:tc>
                  <a:txBody>
                    <a:bodyPr/>
                    <a:lstStyle/>
                    <a:p>
                      <a:pPr algn="ctr"/>
                      <a:r>
                        <a:rPr sz="1100" b="0">
                          <a:solidFill>
                            <a:srgbClr val="1A1416"/>
                          </a:solidFill>
                          <a:latin typeface="Poppins"/>
                        </a:rPr>
                        <a:t>6 200</a:t>
                      </a:r>
                    </a:p>
                  </a:txBody>
                  <a:tcPr marL="72000" marR="72000" anchor="ctr">
                    <a:solidFill>
                      <a:srgbClr val="FFFFFF"/>
                    </a:solidFill>
                  </a:tcPr>
                </a:tc>
                <a:tc>
                  <a:txBody>
                    <a:bodyPr/>
                    <a:lstStyle/>
                    <a:p>
                      <a:pPr algn="ctr"/>
                      <a:r>
                        <a:rPr sz="1100" b="0">
                          <a:solidFill>
                            <a:srgbClr val="1A1416"/>
                          </a:solidFill>
                          <a:latin typeface="Poppins"/>
                        </a:rPr>
                        <a:t>5,4 %</a:t>
                      </a:r>
                    </a:p>
                  </a:txBody>
                  <a:tcPr marL="72000" marR="72000" anchor="ctr">
                    <a:solidFill>
                      <a:srgbClr val="FBE6E8"/>
                    </a:solidFill>
                  </a:tcPr>
                </a:tc>
                <a:tc>
                  <a:txBody>
                    <a:bodyPr/>
                    <a:lstStyle/>
                    <a:p>
                      <a:pPr algn="ctr"/>
                      <a:r>
                        <a:rPr sz="1100" b="0">
                          <a:solidFill>
                            <a:srgbClr val="1A1416"/>
                          </a:solidFill>
                          <a:latin typeface="Poppins"/>
                        </a:rPr>
                        <a:t>Biolight · Dermaskin</a:t>
                      </a:r>
                    </a:p>
                  </a:txBody>
                  <a:tcPr marL="72000" marR="72000" anchor="ctr">
                    <a:solidFill>
                      <a:srgbClr val="FFFFFF"/>
                    </a:solidFill>
                  </a:tcPr>
                </a:tc>
              </a:tr>
            </a:tbl>
          </a:graphicData>
        </a:graphic>
      </p:graphicFrame>
      <p:sp>
        <p:nvSpPr>
          <p:cNvPr id="11" name="TextBox 10"/>
          <p:cNvSpPr txBox="1"/>
          <p:nvPr/>
        </p:nvSpPr>
        <p:spPr>
          <a:xfrm>
            <a:off x="576000" y="5940000"/>
            <a:ext cx="11052000" cy="360000"/>
          </a:xfrm>
          <a:prstGeom prst="rect">
            <a:avLst/>
          </a:prstGeom>
          <a:noFill/>
        </p:spPr>
        <p:txBody>
          <a:bodyPr wrap="square" lIns="36000" rIns="36000" tIns="18000" bIns="18000" anchor="t">
            <a:spAutoFit/>
          </a:bodyPr>
          <a:lstStyle/>
          <a:p>
            <a:pPr algn="l">
              <a:lnSpc>
                <a:spcPct val="110000"/>
              </a:lnSpc>
            </a:pPr>
            <a:r>
              <a:rPr sz="950" b="0">
                <a:solidFill>
                  <a:srgbClr val="6B6266"/>
                </a:solidFill>
                <a:latin typeface="Poppins"/>
              </a:rPr>
              <a:t>Engagement : J’aime, commentaires et partages rapportés aux vues ou aux abonnés selon TokRanks. n.d. : non disponible publiquement.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0000" cy="6858000"/>
          </a:xfrm>
          <a:prstGeom prst="rect">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0248119" y="257639"/>
            <a:ext cx="1584000" cy="492718"/>
          </a:xfrm>
          <a:prstGeom prst="rect">
            <a:avLst/>
          </a:prstGeom>
        </p:spPr>
      </p:pic>
      <p:sp>
        <p:nvSpPr>
          <p:cNvPr id="4" name="TextBox 3"/>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05 · LE DISPOSITIF</a:t>
            </a:r>
          </a:p>
        </p:txBody>
      </p:sp>
      <p:sp>
        <p:nvSpPr>
          <p:cNvPr id="5" name="TextBox 4"/>
          <p:cNvSpPr txBox="1"/>
          <p:nvPr/>
        </p:nvSpPr>
        <p:spPr>
          <a:xfrm>
            <a:off x="576000" y="576000"/>
            <a:ext cx="9360000" cy="720000"/>
          </a:xfrm>
          <a:prstGeom prst="rect">
            <a:avLst/>
          </a:prstGeom>
          <a:noFill/>
        </p:spPr>
        <p:txBody>
          <a:bodyPr wrap="square" lIns="36000" rIns="36000" tIns="18000" bIns="18000" anchor="t">
            <a:spAutoFit/>
          </a:bodyPr>
          <a:lstStyle/>
          <a:p>
            <a:pPr algn="l">
              <a:lnSpc>
                <a:spcPct val="110000"/>
              </a:lnSpc>
            </a:pPr>
            <a:r>
              <a:rPr sz="2500" b="1">
                <a:solidFill>
                  <a:srgbClr val="1A1416"/>
                </a:solidFill>
                <a:latin typeface="Poppins"/>
              </a:rPr>
              <a:t>Six semaines, trois temps</a:t>
            </a:r>
          </a:p>
        </p:txBody>
      </p:sp>
      <p:sp>
        <p:nvSpPr>
          <p:cNvPr id="6" name="Rectangle 5"/>
          <p:cNvSpPr/>
          <p:nvPr/>
        </p:nvSpPr>
        <p:spPr>
          <a:xfrm>
            <a:off x="576000" y="1278000"/>
            <a:ext cx="792000" cy="50400"/>
          </a:xfrm>
          <a:prstGeom prst="rect">
            <a:avLst/>
          </a:prstGeom>
          <a:solidFill>
            <a:srgbClr val="FF8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17 / 22</a:t>
            </a:r>
          </a:p>
        </p:txBody>
      </p:sp>
      <p:sp>
        <p:nvSpPr>
          <p:cNvPr id="8" name="TextBox 7"/>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sp>
        <p:nvSpPr>
          <p:cNvPr id="9" name="Rectangle 8"/>
          <p:cNvSpPr/>
          <p:nvPr/>
        </p:nvSpPr>
        <p:spPr>
          <a:xfrm>
            <a:off x="900000" y="2538000"/>
            <a:ext cx="10440000" cy="54000"/>
          </a:xfrm>
          <a:prstGeom prst="rect">
            <a:avLst/>
          </a:prstGeom>
          <a:solidFill>
            <a:srgbClr val="E8E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92000" y="2304000"/>
            <a:ext cx="503999" cy="503999"/>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rand-tiktok_bl.png"/>
          <p:cNvPicPr>
            <a:picLocks noChangeAspect="1"/>
          </p:cNvPicPr>
          <p:nvPr/>
        </p:nvPicPr>
        <p:blipFill>
          <a:blip r:embed="rId3"/>
          <a:stretch>
            <a:fillRect/>
          </a:stretch>
        </p:blipFill>
        <p:spPr>
          <a:xfrm>
            <a:off x="900000" y="2412000"/>
            <a:ext cx="288000" cy="288000"/>
          </a:xfrm>
          <a:prstGeom prst="rect">
            <a:avLst/>
          </a:prstGeom>
        </p:spPr>
      </p:pic>
      <p:sp>
        <p:nvSpPr>
          <p:cNvPr id="12" name="TextBox 11"/>
          <p:cNvSpPr txBox="1"/>
          <p:nvPr/>
        </p:nvSpPr>
        <p:spPr>
          <a:xfrm>
            <a:off x="576000" y="1620000"/>
            <a:ext cx="3528000" cy="503999"/>
          </a:xfrm>
          <a:prstGeom prst="rect">
            <a:avLst/>
          </a:prstGeom>
          <a:noFill/>
        </p:spPr>
        <p:txBody>
          <a:bodyPr wrap="square" lIns="36000" rIns="36000" tIns="18000" bIns="18000" anchor="t">
            <a:spAutoFit/>
          </a:bodyPr>
          <a:lstStyle/>
          <a:p>
            <a:pPr algn="l">
              <a:lnSpc>
                <a:spcPct val="110000"/>
              </a:lnSpc>
            </a:pPr>
            <a:r>
              <a:rPr sz="2200" b="1">
                <a:solidFill>
                  <a:srgbClr val="AE172A"/>
                </a:solidFill>
                <a:latin typeface="Poppins"/>
              </a:rPr>
              <a:t>S1</a:t>
            </a:r>
          </a:p>
        </p:txBody>
      </p:sp>
      <p:sp>
        <p:nvSpPr>
          <p:cNvPr id="13" name="Rounded Rectangle 12"/>
          <p:cNvSpPr/>
          <p:nvPr/>
        </p:nvSpPr>
        <p:spPr>
          <a:xfrm>
            <a:off x="576000" y="3024000"/>
            <a:ext cx="3564000" cy="2160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2000" y="3168000"/>
            <a:ext cx="3168000" cy="360000"/>
          </a:xfrm>
          <a:prstGeom prst="rect">
            <a:avLst/>
          </a:prstGeom>
          <a:noFill/>
        </p:spPr>
        <p:txBody>
          <a:bodyPr wrap="square" lIns="36000" rIns="36000" tIns="18000" bIns="18000" anchor="t">
            <a:spAutoFit/>
          </a:bodyPr>
          <a:lstStyle/>
          <a:p>
            <a:pPr algn="l">
              <a:lnSpc>
                <a:spcPct val="110000"/>
              </a:lnSpc>
            </a:pPr>
            <a:r>
              <a:rPr sz="1700" b="1">
                <a:solidFill>
                  <a:srgbClr val="1A1416"/>
                </a:solidFill>
                <a:latin typeface="Poppins"/>
              </a:rPr>
              <a:t>Lancer</a:t>
            </a:r>
          </a:p>
        </p:txBody>
      </p:sp>
      <p:sp>
        <p:nvSpPr>
          <p:cNvPr id="15" name="TextBox 14"/>
          <p:cNvSpPr txBox="1"/>
          <p:nvPr/>
        </p:nvSpPr>
        <p:spPr>
          <a:xfrm>
            <a:off x="792000" y="3600000"/>
            <a:ext cx="3168000" cy="1512000"/>
          </a:xfrm>
          <a:prstGeom prst="rect">
            <a:avLst/>
          </a:prstGeom>
          <a:noFill/>
        </p:spPr>
        <p:txBody>
          <a:bodyPr wrap="square" lIns="36000" rIns="36000" tIns="18000" bIns="18000" anchor="t">
            <a:spAutoFit/>
          </a:bodyPr>
          <a:lstStyle/>
          <a:p>
            <a:pPr algn="l">
              <a:lnSpc>
                <a:spcPct val="110000"/>
              </a:lnSpc>
            </a:pPr>
            <a:r>
              <a:rPr sz="1200" b="0">
                <a:solidFill>
                  <a:srgbClr val="6B6266"/>
                </a:solidFill>
                <a:latin typeface="Poppins"/>
              </a:rPr>
              <a:t>La tête d’affiche ouvre le défi. Les 4 expertes publient leur rituel dans les 72 h.</a:t>
            </a:r>
          </a:p>
        </p:txBody>
      </p:sp>
      <p:sp>
        <p:nvSpPr>
          <p:cNvPr id="16" name="Oval 15"/>
          <p:cNvSpPr/>
          <p:nvPr/>
        </p:nvSpPr>
        <p:spPr>
          <a:xfrm>
            <a:off x="4536000" y="2304000"/>
            <a:ext cx="503999" cy="503999"/>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epeat_bl.png"/>
          <p:cNvPicPr>
            <a:picLocks noChangeAspect="1"/>
          </p:cNvPicPr>
          <p:nvPr/>
        </p:nvPicPr>
        <p:blipFill>
          <a:blip r:embed="rId4"/>
          <a:stretch>
            <a:fillRect/>
          </a:stretch>
        </p:blipFill>
        <p:spPr>
          <a:xfrm>
            <a:off x="4644000" y="2412000"/>
            <a:ext cx="288000" cy="288000"/>
          </a:xfrm>
          <a:prstGeom prst="rect">
            <a:avLst/>
          </a:prstGeom>
        </p:spPr>
      </p:pic>
      <p:sp>
        <p:nvSpPr>
          <p:cNvPr id="18" name="TextBox 17"/>
          <p:cNvSpPr txBox="1"/>
          <p:nvPr/>
        </p:nvSpPr>
        <p:spPr>
          <a:xfrm>
            <a:off x="4320000" y="1620000"/>
            <a:ext cx="3528000" cy="503999"/>
          </a:xfrm>
          <a:prstGeom prst="rect">
            <a:avLst/>
          </a:prstGeom>
          <a:noFill/>
        </p:spPr>
        <p:txBody>
          <a:bodyPr wrap="square" lIns="36000" rIns="36000" tIns="18000" bIns="18000" anchor="t">
            <a:spAutoFit/>
          </a:bodyPr>
          <a:lstStyle/>
          <a:p>
            <a:pPr algn="l">
              <a:lnSpc>
                <a:spcPct val="110000"/>
              </a:lnSpc>
            </a:pPr>
            <a:r>
              <a:rPr sz="2200" b="1">
                <a:solidFill>
                  <a:srgbClr val="AE172A"/>
                </a:solidFill>
                <a:latin typeface="Poppins"/>
              </a:rPr>
              <a:t>S2-S4</a:t>
            </a:r>
          </a:p>
        </p:txBody>
      </p:sp>
      <p:sp>
        <p:nvSpPr>
          <p:cNvPr id="19" name="Rounded Rectangle 18"/>
          <p:cNvSpPr/>
          <p:nvPr/>
        </p:nvSpPr>
        <p:spPr>
          <a:xfrm>
            <a:off x="4320000" y="3024000"/>
            <a:ext cx="3564000" cy="2160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36000" y="3168000"/>
            <a:ext cx="3168000" cy="360000"/>
          </a:xfrm>
          <a:prstGeom prst="rect">
            <a:avLst/>
          </a:prstGeom>
          <a:noFill/>
        </p:spPr>
        <p:txBody>
          <a:bodyPr wrap="square" lIns="36000" rIns="36000" tIns="18000" bIns="18000" anchor="t">
            <a:spAutoFit/>
          </a:bodyPr>
          <a:lstStyle/>
          <a:p>
            <a:pPr algn="l">
              <a:lnSpc>
                <a:spcPct val="110000"/>
              </a:lnSpc>
            </a:pPr>
            <a:r>
              <a:rPr sz="1700" b="1">
                <a:solidFill>
                  <a:srgbClr val="1A1416"/>
                </a:solidFill>
                <a:latin typeface="Poppins"/>
              </a:rPr>
              <a:t>Faire jouer</a:t>
            </a:r>
          </a:p>
        </p:txBody>
      </p:sp>
      <p:sp>
        <p:nvSpPr>
          <p:cNvPr id="21" name="TextBox 20"/>
          <p:cNvSpPr txBox="1"/>
          <p:nvPr/>
        </p:nvSpPr>
        <p:spPr>
          <a:xfrm>
            <a:off x="4536000" y="3600000"/>
            <a:ext cx="3168000" cy="1512000"/>
          </a:xfrm>
          <a:prstGeom prst="rect">
            <a:avLst/>
          </a:prstGeom>
          <a:noFill/>
        </p:spPr>
        <p:txBody>
          <a:bodyPr wrap="square" lIns="36000" rIns="36000" tIns="18000" bIns="18000" anchor="t">
            <a:spAutoFit/>
          </a:bodyPr>
          <a:lstStyle/>
          <a:p>
            <a:pPr algn="l">
              <a:lnSpc>
                <a:spcPct val="110000"/>
              </a:lnSpc>
            </a:pPr>
            <a:r>
              <a:rPr sz="1200" b="0">
                <a:solidFill>
                  <a:srgbClr val="6B6266"/>
                </a:solidFill>
                <a:latin typeface="Poppins"/>
              </a:rPr>
              <a:t>Le public reprend #MonRituelDream. 15 à 20 petits comptes publient. Un coffret par semaine aux meilleures vidéos.</a:t>
            </a:r>
          </a:p>
        </p:txBody>
      </p:sp>
      <p:sp>
        <p:nvSpPr>
          <p:cNvPr id="22" name="Oval 21"/>
          <p:cNvSpPr/>
          <p:nvPr/>
        </p:nvSpPr>
        <p:spPr>
          <a:xfrm>
            <a:off x="8280000" y="2304000"/>
            <a:ext cx="503999" cy="503999"/>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gift_bl.png"/>
          <p:cNvPicPr>
            <a:picLocks noChangeAspect="1"/>
          </p:cNvPicPr>
          <p:nvPr/>
        </p:nvPicPr>
        <p:blipFill>
          <a:blip r:embed="rId5"/>
          <a:stretch>
            <a:fillRect/>
          </a:stretch>
        </p:blipFill>
        <p:spPr>
          <a:xfrm>
            <a:off x="8388000" y="2412000"/>
            <a:ext cx="288000" cy="288000"/>
          </a:xfrm>
          <a:prstGeom prst="rect">
            <a:avLst/>
          </a:prstGeom>
        </p:spPr>
      </p:pic>
      <p:sp>
        <p:nvSpPr>
          <p:cNvPr id="24" name="TextBox 23"/>
          <p:cNvSpPr txBox="1"/>
          <p:nvPr/>
        </p:nvSpPr>
        <p:spPr>
          <a:xfrm>
            <a:off x="8064000" y="1620000"/>
            <a:ext cx="3528000" cy="503999"/>
          </a:xfrm>
          <a:prstGeom prst="rect">
            <a:avLst/>
          </a:prstGeom>
          <a:noFill/>
        </p:spPr>
        <p:txBody>
          <a:bodyPr wrap="square" lIns="36000" rIns="36000" tIns="18000" bIns="18000" anchor="t">
            <a:spAutoFit/>
          </a:bodyPr>
          <a:lstStyle/>
          <a:p>
            <a:pPr algn="l">
              <a:lnSpc>
                <a:spcPct val="110000"/>
              </a:lnSpc>
            </a:pPr>
            <a:r>
              <a:rPr sz="2200" b="1">
                <a:solidFill>
                  <a:srgbClr val="AE172A"/>
                </a:solidFill>
                <a:latin typeface="Poppins"/>
              </a:rPr>
              <a:t>S5-S6</a:t>
            </a:r>
          </a:p>
        </p:txBody>
      </p:sp>
      <p:sp>
        <p:nvSpPr>
          <p:cNvPr id="25" name="Rounded Rectangle 24"/>
          <p:cNvSpPr/>
          <p:nvPr/>
        </p:nvSpPr>
        <p:spPr>
          <a:xfrm>
            <a:off x="8064000" y="3024000"/>
            <a:ext cx="3564000" cy="2160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80000" y="3168000"/>
            <a:ext cx="3168000" cy="360000"/>
          </a:xfrm>
          <a:prstGeom prst="rect">
            <a:avLst/>
          </a:prstGeom>
          <a:noFill/>
        </p:spPr>
        <p:txBody>
          <a:bodyPr wrap="square" lIns="36000" rIns="36000" tIns="18000" bIns="18000" anchor="t">
            <a:spAutoFit/>
          </a:bodyPr>
          <a:lstStyle/>
          <a:p>
            <a:pPr algn="l">
              <a:lnSpc>
                <a:spcPct val="110000"/>
              </a:lnSpc>
            </a:pPr>
            <a:r>
              <a:rPr sz="1700" b="1">
                <a:solidFill>
                  <a:srgbClr val="1A1416"/>
                </a:solidFill>
                <a:latin typeface="Poppins"/>
              </a:rPr>
              <a:t>Convertir</a:t>
            </a:r>
          </a:p>
        </p:txBody>
      </p:sp>
      <p:sp>
        <p:nvSpPr>
          <p:cNvPr id="27" name="TextBox 26"/>
          <p:cNvSpPr txBox="1"/>
          <p:nvPr/>
        </p:nvSpPr>
        <p:spPr>
          <a:xfrm>
            <a:off x="8280000" y="3600000"/>
            <a:ext cx="3168000" cy="1512000"/>
          </a:xfrm>
          <a:prstGeom prst="rect">
            <a:avLst/>
          </a:prstGeom>
          <a:noFill/>
        </p:spPr>
        <p:txBody>
          <a:bodyPr wrap="square" lIns="36000" rIns="36000" tIns="18000" bIns="18000" anchor="t">
            <a:spAutoFit/>
          </a:bodyPr>
          <a:lstStyle/>
          <a:p>
            <a:pPr algn="l">
              <a:lnSpc>
                <a:spcPct val="110000"/>
              </a:lnSpc>
            </a:pPr>
            <a:r>
              <a:rPr sz="1200" b="0">
                <a:solidFill>
                  <a:srgbClr val="6B6266"/>
                </a:solidFill>
                <a:latin typeface="Poppins"/>
              </a:rPr>
              <a:t>Vidéos « avant / après 30 jours » des expertes, codes créateurs mis en avant, relance en publicité des 3 meilleures vidéos.</a:t>
            </a:r>
          </a:p>
        </p:txBody>
      </p:sp>
      <p:sp>
        <p:nvSpPr>
          <p:cNvPr id="28" name="Rounded Rectangle 27"/>
          <p:cNvSpPr/>
          <p:nvPr/>
        </p:nvSpPr>
        <p:spPr>
          <a:xfrm>
            <a:off x="576000" y="5400000"/>
            <a:ext cx="11052000" cy="827999"/>
          </a:xfrm>
          <a:prstGeom prst="roundRect">
            <a:avLst>
              <a:gd name="adj" fmla="val 6000"/>
            </a:avLst>
          </a:prstGeom>
          <a:solidFill>
            <a:srgbClr val="2A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calendar-event_bl.png"/>
          <p:cNvPicPr>
            <a:picLocks noChangeAspect="1"/>
          </p:cNvPicPr>
          <p:nvPr/>
        </p:nvPicPr>
        <p:blipFill>
          <a:blip r:embed="rId6"/>
          <a:stretch>
            <a:fillRect/>
          </a:stretch>
        </p:blipFill>
        <p:spPr>
          <a:xfrm>
            <a:off x="792000" y="5562000"/>
            <a:ext cx="503999" cy="503999"/>
          </a:xfrm>
          <a:prstGeom prst="rect">
            <a:avLst/>
          </a:prstGeom>
        </p:spPr>
      </p:pic>
      <p:sp>
        <p:nvSpPr>
          <p:cNvPr id="30" name="TextBox 29"/>
          <p:cNvSpPr txBox="1"/>
          <p:nvPr/>
        </p:nvSpPr>
        <p:spPr>
          <a:xfrm>
            <a:off x="1440000" y="5400000"/>
            <a:ext cx="10080000" cy="827999"/>
          </a:xfrm>
          <a:prstGeom prst="rect">
            <a:avLst/>
          </a:prstGeom>
          <a:noFill/>
        </p:spPr>
        <p:txBody>
          <a:bodyPr wrap="square" lIns="36000" rIns="36000" tIns="18000" bIns="18000" anchor="ctr">
            <a:spAutoFit/>
          </a:bodyPr>
          <a:lstStyle/>
          <a:p>
            <a:pPr algn="l">
              <a:lnSpc>
                <a:spcPct val="110000"/>
              </a:lnSpc>
            </a:pPr>
            <a:r>
              <a:rPr sz="1250" b="0">
                <a:solidFill>
                  <a:srgbClr val="FFFFFF"/>
                </a:solidFill>
                <a:latin typeface="Poppins"/>
              </a:rPr>
              <a:t>Date de départ proposée : lundi 30 novembre 2026, pour finir juste avant les fêtes. À confirmer selon le délai de validation des contrats.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0000" cy="6858000"/>
          </a:xfrm>
          <a:prstGeom prst="rect">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0248119" y="257639"/>
            <a:ext cx="1584000" cy="492718"/>
          </a:xfrm>
          <a:prstGeom prst="rect">
            <a:avLst/>
          </a:prstGeom>
        </p:spPr>
      </p:pic>
      <p:sp>
        <p:nvSpPr>
          <p:cNvPr id="4" name="TextBox 3"/>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05 · FORMATS</a:t>
            </a:r>
          </a:p>
        </p:txBody>
      </p:sp>
      <p:sp>
        <p:nvSpPr>
          <p:cNvPr id="5" name="TextBox 4"/>
          <p:cNvSpPr txBox="1"/>
          <p:nvPr/>
        </p:nvSpPr>
        <p:spPr>
          <a:xfrm>
            <a:off x="576000" y="576000"/>
            <a:ext cx="9360000" cy="720000"/>
          </a:xfrm>
          <a:prstGeom prst="rect">
            <a:avLst/>
          </a:prstGeom>
          <a:noFill/>
        </p:spPr>
        <p:txBody>
          <a:bodyPr wrap="square" lIns="36000" rIns="36000" tIns="18000" bIns="18000" anchor="t">
            <a:spAutoFit/>
          </a:bodyPr>
          <a:lstStyle/>
          <a:p>
            <a:pPr algn="l">
              <a:lnSpc>
                <a:spcPct val="110000"/>
              </a:lnSpc>
            </a:pPr>
            <a:r>
              <a:rPr sz="2500" b="1">
                <a:solidFill>
                  <a:srgbClr val="1A1416"/>
                </a:solidFill>
                <a:latin typeface="Poppins"/>
              </a:rPr>
              <a:t>Ce que chaque créateur livre</a:t>
            </a:r>
          </a:p>
        </p:txBody>
      </p:sp>
      <p:sp>
        <p:nvSpPr>
          <p:cNvPr id="6" name="Rectangle 5"/>
          <p:cNvSpPr/>
          <p:nvPr/>
        </p:nvSpPr>
        <p:spPr>
          <a:xfrm>
            <a:off x="576000" y="1278000"/>
            <a:ext cx="792000" cy="50400"/>
          </a:xfrm>
          <a:prstGeom prst="rect">
            <a:avLst/>
          </a:prstGeom>
          <a:solidFill>
            <a:srgbClr val="FF8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18 / 22</a:t>
            </a:r>
          </a:p>
        </p:txBody>
      </p:sp>
      <p:sp>
        <p:nvSpPr>
          <p:cNvPr id="8" name="TextBox 7"/>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sp>
        <p:nvSpPr>
          <p:cNvPr id="9" name="Rounded Rectangle 8"/>
          <p:cNvSpPr/>
          <p:nvPr/>
        </p:nvSpPr>
        <p:spPr>
          <a:xfrm>
            <a:off x="576000" y="1584000"/>
            <a:ext cx="3564000" cy="2880000"/>
          </a:xfrm>
          <a:prstGeom prst="roundRect">
            <a:avLst>
              <a:gd name="adj" fmla="val 6000"/>
            </a:avLst>
          </a:prstGeom>
          <a:solidFill>
            <a:srgbClr val="FFFFFF"/>
          </a:solidFill>
          <a:ln w="9525">
            <a:solidFill>
              <a:srgbClr val="E8E1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6000" y="1584000"/>
            <a:ext cx="3564000" cy="540000"/>
          </a:xfrm>
          <a:prstGeom prst="rect">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000" y="1584000"/>
            <a:ext cx="3240000" cy="540000"/>
          </a:xfrm>
          <a:prstGeom prst="rect">
            <a:avLst/>
          </a:prstGeom>
          <a:noFill/>
        </p:spPr>
        <p:txBody>
          <a:bodyPr wrap="square" lIns="36000" rIns="36000" tIns="18000" bIns="18000" anchor="ctr">
            <a:spAutoFit/>
          </a:bodyPr>
          <a:lstStyle/>
          <a:p>
            <a:pPr algn="l">
              <a:lnSpc>
                <a:spcPct val="110000"/>
              </a:lnSpc>
            </a:pPr>
            <a:r>
              <a:rPr sz="1400" b="1">
                <a:solidFill>
                  <a:srgbClr val="FFFFFF"/>
                </a:solidFill>
                <a:latin typeface="Poppins"/>
              </a:rPr>
              <a:t>Tête d’affiche</a:t>
            </a:r>
          </a:p>
        </p:txBody>
      </p:sp>
      <p:sp>
        <p:nvSpPr>
          <p:cNvPr id="12" name="TextBox 11"/>
          <p:cNvSpPr txBox="1"/>
          <p:nvPr/>
        </p:nvSpPr>
        <p:spPr>
          <a:xfrm>
            <a:off x="756000" y="2304000"/>
            <a:ext cx="3240000" cy="2015999"/>
          </a:xfrm>
          <a:prstGeom prst="rect">
            <a:avLst/>
          </a:prstGeom>
          <a:noFill/>
        </p:spPr>
        <p:txBody>
          <a:bodyPr wrap="square">
            <a:spAutoFit/>
          </a:bodyPr>
          <a:lstStyle/>
          <a:p>
            <a:pPr>
              <a:spcAft>
                <a:spcPts val="600"/>
              </a:spcAft>
            </a:pPr>
            <a:r>
              <a:rPr sz="750">
                <a:solidFill>
                  <a:srgbClr val="AE172A"/>
                </a:solidFill>
                <a:latin typeface="Poppins"/>
              </a:rPr>
              <a:t>●  </a:t>
            </a:r>
            <a:r>
              <a:rPr sz="1250">
                <a:solidFill>
                  <a:srgbClr val="1A1416"/>
                </a:solidFill>
                <a:latin typeface="Poppins"/>
              </a:rPr>
              <a:t>2 vidéos TikTok (lancement + relance)</a:t>
            </a:r>
          </a:p>
          <a:p>
            <a:pPr>
              <a:spcAft>
                <a:spcPts val="600"/>
              </a:spcAft>
            </a:pPr>
            <a:r>
              <a:rPr sz="750">
                <a:solidFill>
                  <a:srgbClr val="AE172A"/>
                </a:solidFill>
                <a:latin typeface="Poppins"/>
              </a:rPr>
              <a:t>●  </a:t>
            </a:r>
            <a:r>
              <a:rPr sz="1250">
                <a:solidFill>
                  <a:srgbClr val="1A1416"/>
                </a:solidFill>
                <a:latin typeface="Poppins"/>
              </a:rPr>
              <a:t>1 reprise en Instagram Reels</a:t>
            </a:r>
          </a:p>
          <a:p>
            <a:pPr>
              <a:spcAft>
                <a:spcPts val="600"/>
              </a:spcAft>
            </a:pPr>
            <a:r>
              <a:rPr sz="750">
                <a:solidFill>
                  <a:srgbClr val="AE172A"/>
                </a:solidFill>
                <a:latin typeface="Poppins"/>
              </a:rPr>
              <a:t>●  </a:t>
            </a:r>
            <a:r>
              <a:rPr sz="1250">
                <a:solidFill>
                  <a:srgbClr val="1A1416"/>
                </a:solidFill>
                <a:latin typeface="Poppins"/>
              </a:rPr>
              <a:t>3 stories le jour du lancement</a:t>
            </a:r>
          </a:p>
        </p:txBody>
      </p:sp>
      <p:sp>
        <p:nvSpPr>
          <p:cNvPr id="13" name="Rounded Rectangle 12"/>
          <p:cNvSpPr/>
          <p:nvPr/>
        </p:nvSpPr>
        <p:spPr>
          <a:xfrm>
            <a:off x="4320000" y="1584000"/>
            <a:ext cx="3564000" cy="2880000"/>
          </a:xfrm>
          <a:prstGeom prst="roundRect">
            <a:avLst>
              <a:gd name="adj" fmla="val 6000"/>
            </a:avLst>
          </a:prstGeom>
          <a:solidFill>
            <a:srgbClr val="FFFFFF"/>
          </a:solidFill>
          <a:ln w="9525">
            <a:solidFill>
              <a:srgbClr val="E8E1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0000" y="1584000"/>
            <a:ext cx="3564000" cy="540000"/>
          </a:xfrm>
          <a:prstGeom prst="rect">
            <a:avLst/>
          </a:prstGeom>
          <a:solidFill>
            <a:srgbClr val="D24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0000" y="1584000"/>
            <a:ext cx="3240000" cy="540000"/>
          </a:xfrm>
          <a:prstGeom prst="rect">
            <a:avLst/>
          </a:prstGeom>
          <a:noFill/>
        </p:spPr>
        <p:txBody>
          <a:bodyPr wrap="square" lIns="36000" rIns="36000" tIns="18000" bIns="18000" anchor="ctr">
            <a:spAutoFit/>
          </a:bodyPr>
          <a:lstStyle/>
          <a:p>
            <a:pPr algn="l">
              <a:lnSpc>
                <a:spcPct val="110000"/>
              </a:lnSpc>
            </a:pPr>
            <a:r>
              <a:rPr sz="1400" b="1">
                <a:solidFill>
                  <a:srgbClr val="FFFFFF"/>
                </a:solidFill>
                <a:latin typeface="Poppins"/>
              </a:rPr>
              <a:t>Expertes et mamans</a:t>
            </a:r>
          </a:p>
        </p:txBody>
      </p:sp>
      <p:sp>
        <p:nvSpPr>
          <p:cNvPr id="16" name="TextBox 15"/>
          <p:cNvSpPr txBox="1"/>
          <p:nvPr/>
        </p:nvSpPr>
        <p:spPr>
          <a:xfrm>
            <a:off x="4500000" y="2304000"/>
            <a:ext cx="3240000" cy="2015999"/>
          </a:xfrm>
          <a:prstGeom prst="rect">
            <a:avLst/>
          </a:prstGeom>
          <a:noFill/>
        </p:spPr>
        <p:txBody>
          <a:bodyPr wrap="square">
            <a:spAutoFit/>
          </a:bodyPr>
          <a:lstStyle/>
          <a:p>
            <a:pPr>
              <a:spcAft>
                <a:spcPts val="600"/>
              </a:spcAft>
            </a:pPr>
            <a:r>
              <a:rPr sz="750">
                <a:solidFill>
                  <a:srgbClr val="AE172A"/>
                </a:solidFill>
                <a:latin typeface="Poppins"/>
              </a:rPr>
              <a:t>●  </a:t>
            </a:r>
            <a:r>
              <a:rPr sz="1250">
                <a:solidFill>
                  <a:srgbClr val="1A1416"/>
                </a:solidFill>
                <a:latin typeface="Poppins"/>
              </a:rPr>
              <a:t>2 vidéos TikTok (rituel + 30 jours après)</a:t>
            </a:r>
          </a:p>
          <a:p>
            <a:pPr>
              <a:spcAft>
                <a:spcPts val="600"/>
              </a:spcAft>
            </a:pPr>
            <a:r>
              <a:rPr sz="750">
                <a:solidFill>
                  <a:srgbClr val="AE172A"/>
                </a:solidFill>
                <a:latin typeface="Poppins"/>
              </a:rPr>
              <a:t>●  </a:t>
            </a:r>
            <a:r>
              <a:rPr sz="1250">
                <a:solidFill>
                  <a:srgbClr val="1A1416"/>
                </a:solidFill>
                <a:latin typeface="Poppins"/>
              </a:rPr>
              <a:t>1 Reels ou 1 post Facebook</a:t>
            </a:r>
          </a:p>
          <a:p>
            <a:pPr>
              <a:spcAft>
                <a:spcPts val="600"/>
              </a:spcAft>
            </a:pPr>
            <a:r>
              <a:rPr sz="750">
                <a:solidFill>
                  <a:srgbClr val="AE172A"/>
                </a:solidFill>
                <a:latin typeface="Poppins"/>
              </a:rPr>
              <a:t>●  </a:t>
            </a:r>
            <a:r>
              <a:rPr sz="1250">
                <a:solidFill>
                  <a:srgbClr val="1A1416"/>
                </a:solidFill>
                <a:latin typeface="Poppins"/>
              </a:rPr>
              <a:t>2 stories avec code créateur</a:t>
            </a:r>
          </a:p>
        </p:txBody>
      </p:sp>
      <p:sp>
        <p:nvSpPr>
          <p:cNvPr id="17" name="Rounded Rectangle 16"/>
          <p:cNvSpPr/>
          <p:nvPr/>
        </p:nvSpPr>
        <p:spPr>
          <a:xfrm>
            <a:off x="8064000" y="1584000"/>
            <a:ext cx="3564000" cy="2880000"/>
          </a:xfrm>
          <a:prstGeom prst="roundRect">
            <a:avLst>
              <a:gd name="adj" fmla="val 6000"/>
            </a:avLst>
          </a:prstGeom>
          <a:solidFill>
            <a:srgbClr val="FFFFFF"/>
          </a:solidFill>
          <a:ln w="9525">
            <a:solidFill>
              <a:srgbClr val="E8E1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4000" y="1584000"/>
            <a:ext cx="3564000" cy="540000"/>
          </a:xfrm>
          <a:prstGeom prst="rect">
            <a:avLst/>
          </a:prstGeom>
          <a:solidFill>
            <a:srgbClr val="FF8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4000" y="1584000"/>
            <a:ext cx="3240000" cy="540000"/>
          </a:xfrm>
          <a:prstGeom prst="rect">
            <a:avLst/>
          </a:prstGeom>
          <a:noFill/>
        </p:spPr>
        <p:txBody>
          <a:bodyPr wrap="square" lIns="36000" rIns="36000" tIns="18000" bIns="18000" anchor="ctr">
            <a:spAutoFit/>
          </a:bodyPr>
          <a:lstStyle/>
          <a:p>
            <a:pPr algn="l">
              <a:lnSpc>
                <a:spcPct val="110000"/>
              </a:lnSpc>
            </a:pPr>
            <a:r>
              <a:rPr sz="1400" b="1">
                <a:solidFill>
                  <a:srgbClr val="FFFFFF"/>
                </a:solidFill>
                <a:latin typeface="Poppins"/>
              </a:rPr>
              <a:t>Petits comptes</a:t>
            </a:r>
          </a:p>
        </p:txBody>
      </p:sp>
      <p:sp>
        <p:nvSpPr>
          <p:cNvPr id="20" name="TextBox 19"/>
          <p:cNvSpPr txBox="1"/>
          <p:nvPr/>
        </p:nvSpPr>
        <p:spPr>
          <a:xfrm>
            <a:off x="8244000" y="2304000"/>
            <a:ext cx="3240000" cy="2015999"/>
          </a:xfrm>
          <a:prstGeom prst="rect">
            <a:avLst/>
          </a:prstGeom>
          <a:noFill/>
        </p:spPr>
        <p:txBody>
          <a:bodyPr wrap="square">
            <a:spAutoFit/>
          </a:bodyPr>
          <a:lstStyle/>
          <a:p>
            <a:pPr>
              <a:spcAft>
                <a:spcPts val="600"/>
              </a:spcAft>
            </a:pPr>
            <a:r>
              <a:rPr sz="750">
                <a:solidFill>
                  <a:srgbClr val="AE172A"/>
                </a:solidFill>
                <a:latin typeface="Poppins"/>
              </a:rPr>
              <a:t>●  </a:t>
            </a:r>
            <a:r>
              <a:rPr sz="1250">
                <a:solidFill>
                  <a:srgbClr val="1A1416"/>
                </a:solidFill>
                <a:latin typeface="Poppins"/>
              </a:rPr>
              <a:t>1 vidéo TikTok rituel</a:t>
            </a:r>
          </a:p>
          <a:p>
            <a:pPr>
              <a:spcAft>
                <a:spcPts val="600"/>
              </a:spcAft>
            </a:pPr>
            <a:r>
              <a:rPr sz="750">
                <a:solidFill>
                  <a:srgbClr val="AE172A"/>
                </a:solidFill>
                <a:latin typeface="Poppins"/>
              </a:rPr>
              <a:t>●  </a:t>
            </a:r>
            <a:r>
              <a:rPr sz="1250">
                <a:solidFill>
                  <a:srgbClr val="1A1416"/>
                </a:solidFill>
                <a:latin typeface="Poppins"/>
              </a:rPr>
              <a:t>1 story avec code</a:t>
            </a:r>
          </a:p>
          <a:p>
            <a:pPr>
              <a:spcAft>
                <a:spcPts val="600"/>
              </a:spcAft>
            </a:pPr>
            <a:r>
              <a:rPr sz="750">
                <a:solidFill>
                  <a:srgbClr val="AE172A"/>
                </a:solidFill>
                <a:latin typeface="Poppins"/>
              </a:rPr>
              <a:t>●  </a:t>
            </a:r>
            <a:r>
              <a:rPr sz="1250">
                <a:solidFill>
                  <a:srgbClr val="1A1416"/>
                </a:solidFill>
                <a:latin typeface="Poppins"/>
              </a:rPr>
              <a:t>Produits offerts + petit cachet</a:t>
            </a:r>
          </a:p>
        </p:txBody>
      </p:sp>
      <p:graphicFrame>
        <p:nvGraphicFramePr>
          <p:cNvPr id="21" name="Table 20"/>
          <p:cNvGraphicFramePr>
            <a:graphicFrameLocks noGrp="1"/>
          </p:cNvGraphicFramePr>
          <p:nvPr/>
        </p:nvGraphicFramePr>
        <p:xfrm>
          <a:off x="576000" y="4644000"/>
          <a:ext cx="11052000" cy="1548000"/>
        </p:xfrm>
        <a:graphic>
          <a:graphicData uri="http://schemas.openxmlformats.org/drawingml/2006/table">
            <a:tbl>
              <a:tblPr firstRow="1" bandRow="1">
                <a:tableStyleId>{5C22544A-7EE6-4342-B048-85BDC9FD1C3A}</a:tableStyleId>
              </a:tblPr>
              <a:tblGrid>
                <a:gridCol w="2880000"/>
                <a:gridCol w="8172000"/>
              </a:tblGrid>
              <a:tr h="309600">
                <a:tc>
                  <a:txBody>
                    <a:bodyPr/>
                    <a:lstStyle/>
                    <a:p>
                      <a:pPr algn="l"/>
                      <a:r>
                        <a:rPr sz="1100" b="1">
                          <a:solidFill>
                            <a:srgbClr val="FFFFFF"/>
                          </a:solidFill>
                          <a:latin typeface="Poppins"/>
                        </a:rPr>
                        <a:t>Règles communes</a:t>
                      </a:r>
                    </a:p>
                  </a:txBody>
                  <a:tcPr marL="72000" marR="72000" anchor="ctr">
                    <a:solidFill>
                      <a:srgbClr val="2A0E12"/>
                    </a:solidFill>
                  </a:tcPr>
                </a:tc>
                <a:tc>
                  <a:txBody>
                    <a:bodyPr/>
                    <a:lstStyle/>
                    <a:p>
                      <a:pPr algn="ctr"/>
                      <a:r>
                        <a:rPr sz="1100" b="1">
                          <a:solidFill>
                            <a:srgbClr val="FFFFFF"/>
                          </a:solidFill>
                          <a:latin typeface="Poppins"/>
                        </a:rPr>
                        <a:t>Pour tous les créateurs</a:t>
                      </a:r>
                    </a:p>
                  </a:txBody>
                  <a:tcPr marL="72000" marR="72000" anchor="ctr">
                    <a:solidFill>
                      <a:srgbClr val="2A0E12"/>
                    </a:solidFill>
                  </a:tcPr>
                </a:tc>
              </a:tr>
              <a:tr h="309600">
                <a:tc>
                  <a:txBody>
                    <a:bodyPr/>
                    <a:lstStyle/>
                    <a:p>
                      <a:pPr algn="l"/>
                      <a:r>
                        <a:rPr sz="1100" b="1">
                          <a:solidFill>
                            <a:srgbClr val="1A1416"/>
                          </a:solidFill>
                          <a:latin typeface="Poppins"/>
                        </a:rPr>
                        <a:t>Droits d’usage</a:t>
                      </a:r>
                    </a:p>
                  </a:txBody>
                  <a:tcPr marL="72000" marR="72000" anchor="ctr">
                    <a:solidFill>
                      <a:srgbClr val="F6F2F2"/>
                    </a:solidFill>
                  </a:tcPr>
                </a:tc>
                <a:tc>
                  <a:txBody>
                    <a:bodyPr/>
                    <a:lstStyle/>
                    <a:p>
                      <a:pPr algn="ctr"/>
                      <a:r>
                        <a:rPr sz="1100" b="0">
                          <a:solidFill>
                            <a:srgbClr val="1A1416"/>
                          </a:solidFill>
                          <a:latin typeface="Poppins"/>
                        </a:rPr>
                        <a:t>Réutilisation des vidéos par Dream en publicité pendant 3 mois</a:t>
                      </a:r>
                    </a:p>
                  </a:txBody>
                  <a:tcPr marL="72000" marR="72000" anchor="ctr">
                    <a:solidFill>
                      <a:srgbClr val="F6F2F2"/>
                    </a:solidFill>
                  </a:tcPr>
                </a:tc>
              </a:tr>
              <a:tr h="309600">
                <a:tc>
                  <a:txBody>
                    <a:bodyPr/>
                    <a:lstStyle/>
                    <a:p>
                      <a:pPr algn="l"/>
                      <a:r>
                        <a:rPr sz="1100" b="1">
                          <a:solidFill>
                            <a:srgbClr val="1A1416"/>
                          </a:solidFill>
                          <a:latin typeface="Poppins"/>
                        </a:rPr>
                        <a:t>Mention</a:t>
                      </a:r>
                    </a:p>
                  </a:txBody>
                  <a:tcPr marL="72000" marR="72000" anchor="ctr">
                    <a:solidFill>
                      <a:srgbClr val="FFFFFF"/>
                    </a:solidFill>
                  </a:tcPr>
                </a:tc>
                <a:tc>
                  <a:txBody>
                    <a:bodyPr/>
                    <a:lstStyle/>
                    <a:p>
                      <a:pPr algn="ctr"/>
                      <a:r>
                        <a:rPr sz="1100" b="0">
                          <a:solidFill>
                            <a:srgbClr val="1A1416"/>
                          </a:solidFill>
                          <a:latin typeface="Poppins"/>
                        </a:rPr>
                        <a:t>« Partenariat avec Dream Cosmetics » visible dès le début</a:t>
                      </a:r>
                    </a:p>
                  </a:txBody>
                  <a:tcPr marL="72000" marR="72000" anchor="ctr">
                    <a:solidFill>
                      <a:srgbClr val="FFFFFF"/>
                    </a:solidFill>
                  </a:tcPr>
                </a:tc>
              </a:tr>
              <a:tr h="309600">
                <a:tc>
                  <a:txBody>
                    <a:bodyPr/>
                    <a:lstStyle/>
                    <a:p>
                      <a:pPr algn="l"/>
                      <a:r>
                        <a:rPr sz="1100" b="1">
                          <a:solidFill>
                            <a:srgbClr val="1A1416"/>
                          </a:solidFill>
                          <a:latin typeface="Poppins"/>
                        </a:rPr>
                        <a:t>Validation</a:t>
                      </a:r>
                    </a:p>
                  </a:txBody>
                  <a:tcPr marL="72000" marR="72000" anchor="ctr">
                    <a:solidFill>
                      <a:srgbClr val="F6F2F2"/>
                    </a:solidFill>
                  </a:tcPr>
                </a:tc>
                <a:tc>
                  <a:txBody>
                    <a:bodyPr/>
                    <a:lstStyle/>
                    <a:p>
                      <a:pPr algn="ctr"/>
                      <a:r>
                        <a:rPr sz="1100" b="0">
                          <a:solidFill>
                            <a:srgbClr val="1A1416"/>
                          </a:solidFill>
                          <a:latin typeface="Poppins"/>
                        </a:rPr>
                        <a:t>Chaque vidéo validée par Dream avant publication</a:t>
                      </a:r>
                    </a:p>
                  </a:txBody>
                  <a:tcPr marL="72000" marR="72000" anchor="ctr">
                    <a:solidFill>
                      <a:srgbClr val="F6F2F2"/>
                    </a:solidFill>
                  </a:tcPr>
                </a:tc>
              </a:tr>
              <a:tr h="309600">
                <a:tc>
                  <a:txBody>
                    <a:bodyPr/>
                    <a:lstStyle/>
                    <a:p>
                      <a:pPr algn="l"/>
                      <a:r>
                        <a:rPr sz="1100" b="1">
                          <a:solidFill>
                            <a:srgbClr val="1A1416"/>
                          </a:solidFill>
                          <a:latin typeface="Poppins"/>
                        </a:rPr>
                        <a:t>Exclusivité</a:t>
                      </a:r>
                    </a:p>
                  </a:txBody>
                  <a:tcPr marL="72000" marR="72000" anchor="ctr">
                    <a:solidFill>
                      <a:srgbClr val="FFFFFF"/>
                    </a:solidFill>
                  </a:tcPr>
                </a:tc>
                <a:tc>
                  <a:txBody>
                    <a:bodyPr/>
                    <a:lstStyle/>
                    <a:p>
                      <a:pPr algn="ctr"/>
                      <a:r>
                        <a:rPr sz="1100" b="0">
                          <a:solidFill>
                            <a:srgbClr val="1A1416"/>
                          </a:solidFill>
                          <a:latin typeface="Poppins"/>
                        </a:rPr>
                        <a:t>Pas de marque cosmétique concurrente pendant la campagne</a:t>
                      </a:r>
                    </a:p>
                  </a:txBody>
                  <a:tcPr marL="72000" marR="72000"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d_11436264.jpg"/>
          <p:cNvPicPr>
            <a:picLocks noChangeAspect="1"/>
          </p:cNvPicPr>
          <p:nvPr/>
        </p:nvPicPr>
        <p:blipFill>
          <a:blip r:embed="rId2"/>
          <a:srcRect l="2573" r="2573"/>
          <a:stretch>
            <a:fillRect/>
          </a:stretch>
        </p:blipFill>
        <p:spPr>
          <a:xfrm>
            <a:off x="8052119" y="0"/>
            <a:ext cx="4140000" cy="6858000"/>
          </a:xfrm>
          <a:prstGeom prst="rect">
            <a:avLst/>
          </a:prstGeom>
        </p:spPr>
      </p:pic>
      <p:sp>
        <p:nvSpPr>
          <p:cNvPr id="3" name="Rectangle 2"/>
          <p:cNvSpPr/>
          <p:nvPr/>
        </p:nvSpPr>
        <p:spPr>
          <a:xfrm>
            <a:off x="0" y="0"/>
            <a:ext cx="180000" cy="6858000"/>
          </a:xfrm>
          <a:prstGeom prst="rect">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6000" y="324000"/>
            <a:ext cx="720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05 · BRIEF CRÉATEUR</a:t>
            </a:r>
          </a:p>
        </p:txBody>
      </p:sp>
      <p:sp>
        <p:nvSpPr>
          <p:cNvPr id="5" name="TextBox 4"/>
          <p:cNvSpPr txBox="1"/>
          <p:nvPr/>
        </p:nvSpPr>
        <p:spPr>
          <a:xfrm>
            <a:off x="576000" y="576000"/>
            <a:ext cx="7200000" cy="576000"/>
          </a:xfrm>
          <a:prstGeom prst="rect">
            <a:avLst/>
          </a:prstGeom>
          <a:noFill/>
        </p:spPr>
        <p:txBody>
          <a:bodyPr wrap="square" lIns="36000" rIns="36000" tIns="18000" bIns="18000" anchor="t">
            <a:spAutoFit/>
          </a:bodyPr>
          <a:lstStyle/>
          <a:p>
            <a:pPr algn="l">
              <a:lnSpc>
                <a:spcPct val="110000"/>
              </a:lnSpc>
            </a:pPr>
            <a:r>
              <a:rPr sz="2500" b="1">
                <a:solidFill>
                  <a:srgbClr val="1A1416"/>
                </a:solidFill>
                <a:latin typeface="Poppins"/>
              </a:rPr>
              <a:t>Une vidéo en trois temps</a:t>
            </a:r>
          </a:p>
        </p:txBody>
      </p:sp>
      <p:sp>
        <p:nvSpPr>
          <p:cNvPr id="6" name="Rectangle 5"/>
          <p:cNvSpPr/>
          <p:nvPr/>
        </p:nvSpPr>
        <p:spPr>
          <a:xfrm>
            <a:off x="576000" y="1278000"/>
            <a:ext cx="792000" cy="50400"/>
          </a:xfrm>
          <a:prstGeom prst="rect">
            <a:avLst/>
          </a:prstGeom>
          <a:solidFill>
            <a:srgbClr val="FF8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76000" y="1584000"/>
            <a:ext cx="7020000" cy="756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0000" y="1584000"/>
            <a:ext cx="1080000" cy="756000"/>
          </a:xfrm>
          <a:prstGeom prst="rect">
            <a:avLst/>
          </a:prstGeom>
          <a:noFill/>
        </p:spPr>
        <p:txBody>
          <a:bodyPr wrap="square" lIns="36000" rIns="36000" tIns="18000" bIns="18000" anchor="ctr">
            <a:spAutoFit/>
          </a:bodyPr>
          <a:lstStyle/>
          <a:p>
            <a:pPr algn="l">
              <a:lnSpc>
                <a:spcPct val="110000"/>
              </a:lnSpc>
            </a:pPr>
            <a:r>
              <a:rPr sz="1200" b="1">
                <a:solidFill>
                  <a:srgbClr val="AE172A"/>
                </a:solidFill>
                <a:latin typeface="Poppins"/>
              </a:rPr>
              <a:t>0-3 s</a:t>
            </a:r>
          </a:p>
        </p:txBody>
      </p:sp>
      <p:sp>
        <p:nvSpPr>
          <p:cNvPr id="9" name="TextBox 8"/>
          <p:cNvSpPr txBox="1"/>
          <p:nvPr/>
        </p:nvSpPr>
        <p:spPr>
          <a:xfrm>
            <a:off x="1800000" y="1656000"/>
            <a:ext cx="5688000" cy="648000"/>
          </a:xfrm>
          <a:prstGeom prst="rect">
            <a:avLst/>
          </a:prstGeom>
          <a:noFill/>
        </p:spPr>
        <p:txBody>
          <a:bodyPr wrap="square" lIns="36000" rIns="36000" tIns="18000" bIns="18000" anchor="t">
            <a:spAutoFit/>
          </a:bodyPr>
          <a:lstStyle/>
          <a:p>
            <a:pPr algn="l">
              <a:lnSpc>
                <a:spcPct val="110000"/>
              </a:lnSpc>
            </a:pPr>
            <a:r>
              <a:rPr sz="1250" b="1">
                <a:solidFill>
                  <a:srgbClr val="1A1416"/>
                </a:solidFill>
                <a:latin typeface="Poppins"/>
              </a:rPr>
              <a:t>Accroche</a:t>
            </a:r>
          </a:p>
          <a:p>
            <a:pPr algn="l">
              <a:lnSpc>
                <a:spcPct val="110000"/>
              </a:lnSpc>
              <a:spcBef>
                <a:spcPts val="500"/>
              </a:spcBef>
            </a:pPr>
            <a:r>
              <a:rPr sz="1100" b="0">
                <a:solidFill>
                  <a:srgbClr val="6B6266"/>
                </a:solidFill>
                <a:latin typeface="Poppins"/>
              </a:rPr>
              <a:t>« Mon rituel du soir en 30 secondes, sans filtre. »</a:t>
            </a:r>
          </a:p>
        </p:txBody>
      </p:sp>
      <p:sp>
        <p:nvSpPr>
          <p:cNvPr id="10" name="Rounded Rectangle 9"/>
          <p:cNvSpPr/>
          <p:nvPr/>
        </p:nvSpPr>
        <p:spPr>
          <a:xfrm>
            <a:off x="576000" y="2448000"/>
            <a:ext cx="7020000" cy="756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2448000"/>
            <a:ext cx="1080000" cy="756000"/>
          </a:xfrm>
          <a:prstGeom prst="rect">
            <a:avLst/>
          </a:prstGeom>
          <a:noFill/>
        </p:spPr>
        <p:txBody>
          <a:bodyPr wrap="square" lIns="36000" rIns="36000" tIns="18000" bIns="18000" anchor="ctr">
            <a:spAutoFit/>
          </a:bodyPr>
          <a:lstStyle/>
          <a:p>
            <a:pPr algn="l">
              <a:lnSpc>
                <a:spcPct val="110000"/>
              </a:lnSpc>
            </a:pPr>
            <a:r>
              <a:rPr sz="1200" b="1">
                <a:solidFill>
                  <a:srgbClr val="AE172A"/>
                </a:solidFill>
                <a:latin typeface="Poppins"/>
              </a:rPr>
              <a:t>3-35 s</a:t>
            </a:r>
          </a:p>
        </p:txBody>
      </p:sp>
      <p:sp>
        <p:nvSpPr>
          <p:cNvPr id="12" name="TextBox 11"/>
          <p:cNvSpPr txBox="1"/>
          <p:nvPr/>
        </p:nvSpPr>
        <p:spPr>
          <a:xfrm>
            <a:off x="1800000" y="2520000"/>
            <a:ext cx="5688000" cy="648000"/>
          </a:xfrm>
          <a:prstGeom prst="rect">
            <a:avLst/>
          </a:prstGeom>
          <a:noFill/>
        </p:spPr>
        <p:txBody>
          <a:bodyPr wrap="square" lIns="36000" rIns="36000" tIns="18000" bIns="18000" anchor="t">
            <a:spAutoFit/>
          </a:bodyPr>
          <a:lstStyle/>
          <a:p>
            <a:pPr algn="l">
              <a:lnSpc>
                <a:spcPct val="110000"/>
              </a:lnSpc>
            </a:pPr>
            <a:r>
              <a:rPr sz="1250" b="1">
                <a:solidFill>
                  <a:srgbClr val="1A1416"/>
                </a:solidFill>
                <a:latin typeface="Poppins"/>
              </a:rPr>
              <a:t>Démonstration</a:t>
            </a:r>
          </a:p>
          <a:p>
            <a:pPr algn="l">
              <a:lnSpc>
                <a:spcPct val="110000"/>
              </a:lnSpc>
              <a:spcBef>
                <a:spcPts val="500"/>
              </a:spcBef>
            </a:pPr>
            <a:r>
              <a:rPr sz="1100" b="0">
                <a:solidFill>
                  <a:srgbClr val="6B6266"/>
                </a:solidFill>
                <a:latin typeface="Poppins"/>
              </a:rPr>
              <a:t>Le geste en vrai, le produit en main, la texture à l’écran, ce qu’on ressent.</a:t>
            </a:r>
          </a:p>
        </p:txBody>
      </p:sp>
      <p:sp>
        <p:nvSpPr>
          <p:cNvPr id="13" name="Rounded Rectangle 12"/>
          <p:cNvSpPr/>
          <p:nvPr/>
        </p:nvSpPr>
        <p:spPr>
          <a:xfrm>
            <a:off x="576000" y="3312000"/>
            <a:ext cx="7020000" cy="756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0000" y="3312000"/>
            <a:ext cx="1080000" cy="756000"/>
          </a:xfrm>
          <a:prstGeom prst="rect">
            <a:avLst/>
          </a:prstGeom>
          <a:noFill/>
        </p:spPr>
        <p:txBody>
          <a:bodyPr wrap="square" lIns="36000" rIns="36000" tIns="18000" bIns="18000" anchor="ctr">
            <a:spAutoFit/>
          </a:bodyPr>
          <a:lstStyle/>
          <a:p>
            <a:pPr algn="l">
              <a:lnSpc>
                <a:spcPct val="110000"/>
              </a:lnSpc>
            </a:pPr>
            <a:r>
              <a:rPr sz="1200" b="1">
                <a:solidFill>
                  <a:srgbClr val="AE172A"/>
                </a:solidFill>
                <a:latin typeface="Poppins"/>
              </a:rPr>
              <a:t>35-45 s</a:t>
            </a:r>
          </a:p>
        </p:txBody>
      </p:sp>
      <p:sp>
        <p:nvSpPr>
          <p:cNvPr id="15" name="TextBox 14"/>
          <p:cNvSpPr txBox="1"/>
          <p:nvPr/>
        </p:nvSpPr>
        <p:spPr>
          <a:xfrm>
            <a:off x="1800000" y="3384000"/>
            <a:ext cx="5688000" cy="648000"/>
          </a:xfrm>
          <a:prstGeom prst="rect">
            <a:avLst/>
          </a:prstGeom>
          <a:noFill/>
        </p:spPr>
        <p:txBody>
          <a:bodyPr wrap="square" lIns="36000" rIns="36000" tIns="18000" bIns="18000" anchor="t">
            <a:spAutoFit/>
          </a:bodyPr>
          <a:lstStyle/>
          <a:p>
            <a:pPr algn="l">
              <a:lnSpc>
                <a:spcPct val="110000"/>
              </a:lnSpc>
            </a:pPr>
            <a:r>
              <a:rPr sz="1250" b="1">
                <a:solidFill>
                  <a:srgbClr val="1A1416"/>
                </a:solidFill>
                <a:latin typeface="Poppins"/>
              </a:rPr>
              <a:t>Relais</a:t>
            </a:r>
          </a:p>
          <a:p>
            <a:pPr algn="l">
              <a:lnSpc>
                <a:spcPct val="110000"/>
              </a:lnSpc>
              <a:spcBef>
                <a:spcPts val="500"/>
              </a:spcBef>
            </a:pPr>
            <a:r>
              <a:rPr sz="1100" b="0">
                <a:solidFill>
                  <a:srgbClr val="6B6266"/>
                </a:solidFill>
                <a:latin typeface="Poppins"/>
              </a:rPr>
              <a:t>« À toi : montre-moi ton rituel avec #MonRituelDream. Mon code : … »</a:t>
            </a:r>
          </a:p>
        </p:txBody>
      </p:sp>
      <p:sp>
        <p:nvSpPr>
          <p:cNvPr id="16" name="TextBox 15"/>
          <p:cNvSpPr txBox="1"/>
          <p:nvPr/>
        </p:nvSpPr>
        <p:spPr>
          <a:xfrm>
            <a:off x="576000" y="4284000"/>
            <a:ext cx="3384000" cy="288000"/>
          </a:xfrm>
          <a:prstGeom prst="rect">
            <a:avLst/>
          </a:prstGeom>
          <a:noFill/>
        </p:spPr>
        <p:txBody>
          <a:bodyPr wrap="square" lIns="36000" rIns="36000" tIns="18000" bIns="18000" anchor="t">
            <a:spAutoFit/>
          </a:bodyPr>
          <a:lstStyle/>
          <a:p>
            <a:pPr algn="l">
              <a:lnSpc>
                <a:spcPct val="110000"/>
              </a:lnSpc>
            </a:pPr>
            <a:r>
              <a:rPr sz="1300" b="1">
                <a:solidFill>
                  <a:srgbClr val="2E8B57"/>
                </a:solidFill>
                <a:latin typeface="Poppins"/>
              </a:rPr>
              <a:t>À faire</a:t>
            </a:r>
          </a:p>
        </p:txBody>
      </p:sp>
      <p:sp>
        <p:nvSpPr>
          <p:cNvPr id="17" name="TextBox 16"/>
          <p:cNvSpPr txBox="1"/>
          <p:nvPr/>
        </p:nvSpPr>
        <p:spPr>
          <a:xfrm>
            <a:off x="576000" y="4572000"/>
            <a:ext cx="3456000" cy="1800000"/>
          </a:xfrm>
          <a:prstGeom prst="rect">
            <a:avLst/>
          </a:prstGeom>
          <a:noFill/>
        </p:spPr>
        <p:txBody>
          <a:bodyPr wrap="square">
            <a:spAutoFit/>
          </a:bodyPr>
          <a:lstStyle/>
          <a:p>
            <a:pPr>
              <a:spcAft>
                <a:spcPts val="600"/>
              </a:spcAft>
            </a:pPr>
            <a:r>
              <a:rPr sz="600">
                <a:solidFill>
                  <a:srgbClr val="2E8B57"/>
                </a:solidFill>
                <a:latin typeface="Poppins"/>
              </a:rPr>
              <a:t>●  </a:t>
            </a:r>
            <a:r>
              <a:rPr sz="1100">
                <a:solidFill>
                  <a:srgbClr val="1A1416"/>
                </a:solidFill>
                <a:latin typeface="Poppins"/>
              </a:rPr>
              <a:t>Filmer chez soi, lumière du jour</a:t>
            </a:r>
          </a:p>
          <a:p>
            <a:pPr>
              <a:spcAft>
                <a:spcPts val="600"/>
              </a:spcAft>
            </a:pPr>
            <a:r>
              <a:rPr sz="600">
                <a:solidFill>
                  <a:srgbClr val="2E8B57"/>
                </a:solidFill>
                <a:latin typeface="Poppins"/>
              </a:rPr>
              <a:t>●  </a:t>
            </a:r>
            <a:r>
              <a:rPr sz="1100">
                <a:solidFill>
                  <a:srgbClr val="1A1416"/>
                </a:solidFill>
                <a:latin typeface="Poppins"/>
              </a:rPr>
              <a:t>Parler comme à une amie</a:t>
            </a:r>
          </a:p>
          <a:p>
            <a:pPr>
              <a:spcAft>
                <a:spcPts val="600"/>
              </a:spcAft>
            </a:pPr>
            <a:r>
              <a:rPr sz="600">
                <a:solidFill>
                  <a:srgbClr val="2E8B57"/>
                </a:solidFill>
                <a:latin typeface="Poppins"/>
              </a:rPr>
              <a:t>●  </a:t>
            </a:r>
            <a:r>
              <a:rPr sz="1100">
                <a:solidFill>
                  <a:srgbClr val="1A1416"/>
                </a:solidFill>
                <a:latin typeface="Poppins"/>
              </a:rPr>
              <a:t>Montrer l’emballage lisible</a:t>
            </a:r>
          </a:p>
          <a:p>
            <a:pPr>
              <a:spcAft>
                <a:spcPts val="600"/>
              </a:spcAft>
            </a:pPr>
            <a:r>
              <a:rPr sz="600">
                <a:solidFill>
                  <a:srgbClr val="2E8B57"/>
                </a:solidFill>
                <a:latin typeface="Poppins"/>
              </a:rPr>
              <a:t>●  </a:t>
            </a:r>
            <a:r>
              <a:rPr sz="1100">
                <a:solidFill>
                  <a:srgbClr val="1A1416"/>
                </a:solidFill>
                <a:latin typeface="Poppins"/>
              </a:rPr>
              <a:t>Dire « partenariat » au début</a:t>
            </a:r>
          </a:p>
        </p:txBody>
      </p:sp>
      <p:sp>
        <p:nvSpPr>
          <p:cNvPr id="18" name="TextBox 17"/>
          <p:cNvSpPr txBox="1"/>
          <p:nvPr/>
        </p:nvSpPr>
        <p:spPr>
          <a:xfrm>
            <a:off x="4176000" y="4284000"/>
            <a:ext cx="3384000" cy="288000"/>
          </a:xfrm>
          <a:prstGeom prst="rect">
            <a:avLst/>
          </a:prstGeom>
          <a:noFill/>
        </p:spPr>
        <p:txBody>
          <a:bodyPr wrap="square" lIns="36000" rIns="36000" tIns="18000" bIns="18000" anchor="t">
            <a:spAutoFit/>
          </a:bodyPr>
          <a:lstStyle/>
          <a:p>
            <a:pPr algn="l">
              <a:lnSpc>
                <a:spcPct val="110000"/>
              </a:lnSpc>
            </a:pPr>
            <a:r>
              <a:rPr sz="1300" b="1">
                <a:solidFill>
                  <a:srgbClr val="AE172A"/>
                </a:solidFill>
                <a:latin typeface="Poppins"/>
              </a:rPr>
              <a:t>À éviter</a:t>
            </a:r>
          </a:p>
        </p:txBody>
      </p:sp>
      <p:sp>
        <p:nvSpPr>
          <p:cNvPr id="19" name="TextBox 18"/>
          <p:cNvSpPr txBox="1"/>
          <p:nvPr/>
        </p:nvSpPr>
        <p:spPr>
          <a:xfrm>
            <a:off x="4176000" y="4572000"/>
            <a:ext cx="3456000" cy="1800000"/>
          </a:xfrm>
          <a:prstGeom prst="rect">
            <a:avLst/>
          </a:prstGeom>
          <a:noFill/>
        </p:spPr>
        <p:txBody>
          <a:bodyPr wrap="square">
            <a:spAutoFit/>
          </a:bodyPr>
          <a:lstStyle/>
          <a:p>
            <a:pPr>
              <a:spcAft>
                <a:spcPts val="600"/>
              </a:spcAft>
            </a:pPr>
            <a:r>
              <a:rPr sz="600">
                <a:solidFill>
                  <a:srgbClr val="AE172A"/>
                </a:solidFill>
                <a:latin typeface="Poppins"/>
              </a:rPr>
              <a:t>●  </a:t>
            </a:r>
            <a:r>
              <a:rPr sz="1100">
                <a:solidFill>
                  <a:srgbClr val="1A1416"/>
                </a:solidFill>
                <a:latin typeface="Poppins"/>
              </a:rPr>
              <a:t>Promettre d’éclaircir la peau</a:t>
            </a:r>
          </a:p>
          <a:p>
            <a:pPr>
              <a:spcAft>
                <a:spcPts val="600"/>
              </a:spcAft>
            </a:pPr>
            <a:r>
              <a:rPr sz="600">
                <a:solidFill>
                  <a:srgbClr val="AE172A"/>
                </a:solidFill>
                <a:latin typeface="Poppins"/>
              </a:rPr>
              <a:t>●  </a:t>
            </a:r>
            <a:r>
              <a:rPr sz="1100">
                <a:solidFill>
                  <a:srgbClr val="1A1416"/>
                </a:solidFill>
                <a:latin typeface="Poppins"/>
              </a:rPr>
              <a:t>Avant / après retouché</a:t>
            </a:r>
          </a:p>
          <a:p>
            <a:pPr>
              <a:spcAft>
                <a:spcPts val="600"/>
              </a:spcAft>
            </a:pPr>
            <a:r>
              <a:rPr sz="600">
                <a:solidFill>
                  <a:srgbClr val="AE172A"/>
                </a:solidFill>
                <a:latin typeface="Poppins"/>
              </a:rPr>
              <a:t>●  </a:t>
            </a:r>
            <a:r>
              <a:rPr sz="1100">
                <a:solidFill>
                  <a:srgbClr val="1A1416"/>
                </a:solidFill>
                <a:latin typeface="Poppins"/>
              </a:rPr>
              <a:t>Comparer avec une marque citée</a:t>
            </a:r>
          </a:p>
          <a:p>
            <a:pPr>
              <a:spcAft>
                <a:spcPts val="600"/>
              </a:spcAft>
            </a:pPr>
            <a:r>
              <a:rPr sz="600">
                <a:solidFill>
                  <a:srgbClr val="AE172A"/>
                </a:solidFill>
                <a:latin typeface="Poppins"/>
              </a:rPr>
              <a:t>●  </a:t>
            </a:r>
            <a:r>
              <a:rPr sz="1100">
                <a:solidFill>
                  <a:srgbClr val="1A1416"/>
                </a:solidFill>
                <a:latin typeface="Poppins"/>
              </a:rPr>
              <a:t>Promettre un effet médical</a:t>
            </a:r>
          </a:p>
        </p:txBody>
      </p:sp>
      <p:sp>
        <p:nvSpPr>
          <p:cNvPr id="20" name="TextBox 19"/>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19 / 22</a:t>
            </a:r>
          </a:p>
        </p:txBody>
      </p:sp>
      <p:sp>
        <p:nvSpPr>
          <p:cNvPr id="21" name="TextBox 20"/>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0000" cy="6858000"/>
          </a:xfrm>
          <a:prstGeom prst="rect">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0248119" y="257639"/>
            <a:ext cx="1584000" cy="492718"/>
          </a:xfrm>
          <a:prstGeom prst="rect">
            <a:avLst/>
          </a:prstGeom>
        </p:spPr>
      </p:pic>
      <p:sp>
        <p:nvSpPr>
          <p:cNvPr id="4" name="TextBox 3"/>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06 · BUDGET</a:t>
            </a:r>
          </a:p>
        </p:txBody>
      </p:sp>
      <p:sp>
        <p:nvSpPr>
          <p:cNvPr id="5" name="TextBox 4"/>
          <p:cNvSpPr txBox="1"/>
          <p:nvPr/>
        </p:nvSpPr>
        <p:spPr>
          <a:xfrm>
            <a:off x="576000" y="576000"/>
            <a:ext cx="9360000" cy="720000"/>
          </a:xfrm>
          <a:prstGeom prst="rect">
            <a:avLst/>
          </a:prstGeom>
          <a:noFill/>
        </p:spPr>
        <p:txBody>
          <a:bodyPr wrap="square" lIns="36000" rIns="36000" tIns="18000" bIns="18000" anchor="t">
            <a:spAutoFit/>
          </a:bodyPr>
          <a:lstStyle/>
          <a:p>
            <a:pPr algn="l">
              <a:lnSpc>
                <a:spcPct val="110000"/>
              </a:lnSpc>
            </a:pPr>
            <a:r>
              <a:rPr sz="2500" b="1">
                <a:solidFill>
                  <a:srgbClr val="1A1416"/>
                </a:solidFill>
                <a:latin typeface="Poppins"/>
              </a:rPr>
              <a:t>Trois options de budget</a:t>
            </a:r>
          </a:p>
        </p:txBody>
      </p:sp>
      <p:sp>
        <p:nvSpPr>
          <p:cNvPr id="6" name="Rectangle 5"/>
          <p:cNvSpPr/>
          <p:nvPr/>
        </p:nvSpPr>
        <p:spPr>
          <a:xfrm>
            <a:off x="576000" y="1278000"/>
            <a:ext cx="792000" cy="50400"/>
          </a:xfrm>
          <a:prstGeom prst="rect">
            <a:avLst/>
          </a:prstGeom>
          <a:solidFill>
            <a:srgbClr val="FF8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12000" y="1188000"/>
            <a:ext cx="9000000" cy="251999"/>
          </a:xfrm>
          <a:prstGeom prst="rect">
            <a:avLst/>
          </a:prstGeom>
          <a:noFill/>
        </p:spPr>
        <p:txBody>
          <a:bodyPr wrap="square" lIns="36000" rIns="36000" tIns="18000" bIns="18000" anchor="t">
            <a:spAutoFit/>
          </a:bodyPr>
          <a:lstStyle/>
          <a:p>
            <a:pPr algn="l">
              <a:lnSpc>
                <a:spcPct val="110000"/>
              </a:lnSpc>
            </a:pPr>
            <a:r>
              <a:rPr sz="1150" b="0">
                <a:solidFill>
                  <a:srgbClr val="6B6266"/>
                </a:solidFill>
                <a:latin typeface="Poppins"/>
              </a:rPr>
              <a:t>Estimations en francs CFA, hors taxes, à confirmer par les devis des créateurs</a:t>
            </a:r>
          </a:p>
        </p:txBody>
      </p:sp>
      <p:sp>
        <p:nvSpPr>
          <p:cNvPr id="8" name="TextBox 7"/>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20 / 22</a:t>
            </a:r>
          </a:p>
        </p:txBody>
      </p:sp>
      <p:sp>
        <p:nvSpPr>
          <p:cNvPr id="9" name="TextBox 8"/>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sp>
        <p:nvSpPr>
          <p:cNvPr id="10" name="Rounded Rectangle 9"/>
          <p:cNvSpPr/>
          <p:nvPr/>
        </p:nvSpPr>
        <p:spPr>
          <a:xfrm>
            <a:off x="576000" y="1620000"/>
            <a:ext cx="3564000" cy="3816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999" y="1800000"/>
            <a:ext cx="1800000" cy="360000"/>
          </a:xfrm>
          <a:prstGeom prst="rect">
            <a:avLst/>
          </a:prstGeom>
          <a:noFill/>
        </p:spPr>
        <p:txBody>
          <a:bodyPr wrap="square" lIns="36000" rIns="36000" tIns="18000" bIns="18000" anchor="t">
            <a:spAutoFit/>
          </a:bodyPr>
          <a:lstStyle/>
          <a:p>
            <a:pPr algn="l">
              <a:lnSpc>
                <a:spcPct val="110000"/>
              </a:lnSpc>
            </a:pPr>
            <a:r>
              <a:rPr sz="1600" b="1">
                <a:solidFill>
                  <a:srgbClr val="AE172A"/>
                </a:solidFill>
                <a:latin typeface="Poppins"/>
              </a:rPr>
              <a:t>Basique</a:t>
            </a:r>
          </a:p>
        </p:txBody>
      </p:sp>
      <p:sp>
        <p:nvSpPr>
          <p:cNvPr id="12" name="TextBox 11"/>
          <p:cNvSpPr txBox="1"/>
          <p:nvPr/>
        </p:nvSpPr>
        <p:spPr>
          <a:xfrm>
            <a:off x="827999" y="2196000"/>
            <a:ext cx="3060000" cy="720000"/>
          </a:xfrm>
          <a:prstGeom prst="rect">
            <a:avLst/>
          </a:prstGeom>
          <a:noFill/>
        </p:spPr>
        <p:txBody>
          <a:bodyPr wrap="square" lIns="36000" rIns="36000" tIns="18000" bIns="18000" anchor="t">
            <a:spAutoFit/>
          </a:bodyPr>
          <a:lstStyle/>
          <a:p>
            <a:pPr algn="l">
              <a:lnSpc>
                <a:spcPct val="110000"/>
              </a:lnSpc>
            </a:pPr>
            <a:r>
              <a:rPr sz="3200" b="1">
                <a:solidFill>
                  <a:srgbClr val="1A1416"/>
                </a:solidFill>
                <a:latin typeface="Poppins"/>
              </a:rPr>
              <a:t>3 M F CFA</a:t>
            </a:r>
          </a:p>
        </p:txBody>
      </p:sp>
      <p:sp>
        <p:nvSpPr>
          <p:cNvPr id="13" name="TextBox 12"/>
          <p:cNvSpPr txBox="1"/>
          <p:nvPr/>
        </p:nvSpPr>
        <p:spPr>
          <a:xfrm>
            <a:off x="827999" y="2916000"/>
            <a:ext cx="3060000" cy="288000"/>
          </a:xfrm>
          <a:prstGeom prst="rect">
            <a:avLst/>
          </a:prstGeom>
          <a:noFill/>
        </p:spPr>
        <p:txBody>
          <a:bodyPr wrap="square" lIns="36000" rIns="36000" tIns="18000" bIns="18000" anchor="t">
            <a:spAutoFit/>
          </a:bodyPr>
          <a:lstStyle/>
          <a:p>
            <a:pPr algn="l">
              <a:lnSpc>
                <a:spcPct val="110000"/>
              </a:lnSpc>
            </a:pPr>
            <a:r>
              <a:rPr sz="1100" b="0">
                <a:solidFill>
                  <a:srgbClr val="6B6266"/>
                </a:solidFill>
                <a:latin typeface="Poppins"/>
              </a:rPr>
              <a:t>Tester le concept</a:t>
            </a:r>
          </a:p>
        </p:txBody>
      </p:sp>
      <p:sp>
        <p:nvSpPr>
          <p:cNvPr id="14" name="TextBox 13"/>
          <p:cNvSpPr txBox="1"/>
          <p:nvPr/>
        </p:nvSpPr>
        <p:spPr>
          <a:xfrm>
            <a:off x="827999" y="3276000"/>
            <a:ext cx="3096000" cy="2088000"/>
          </a:xfrm>
          <a:prstGeom prst="rect">
            <a:avLst/>
          </a:prstGeom>
          <a:noFill/>
        </p:spPr>
        <p:txBody>
          <a:bodyPr wrap="square">
            <a:spAutoFit/>
          </a:bodyPr>
          <a:lstStyle/>
          <a:p>
            <a:pPr>
              <a:spcAft>
                <a:spcPts val="600"/>
              </a:spcAft>
            </a:pPr>
            <a:r>
              <a:rPr sz="700">
                <a:solidFill>
                  <a:srgbClr val="AE172A"/>
                </a:solidFill>
                <a:latin typeface="Poppins"/>
              </a:rPr>
              <a:t>●  </a:t>
            </a:r>
            <a:r>
              <a:rPr sz="1200">
                <a:solidFill>
                  <a:srgbClr val="1A1416"/>
                </a:solidFill>
                <a:latin typeface="Poppins"/>
              </a:rPr>
              <a:t>2 expertes beauté</a:t>
            </a:r>
          </a:p>
          <a:p>
            <a:pPr>
              <a:spcAft>
                <a:spcPts val="600"/>
              </a:spcAft>
            </a:pPr>
            <a:r>
              <a:rPr sz="700">
                <a:solidFill>
                  <a:srgbClr val="AE172A"/>
                </a:solidFill>
                <a:latin typeface="Poppins"/>
              </a:rPr>
              <a:t>●  </a:t>
            </a:r>
            <a:r>
              <a:rPr sz="1200">
                <a:solidFill>
                  <a:srgbClr val="1A1416"/>
                </a:solidFill>
                <a:latin typeface="Poppins"/>
              </a:rPr>
              <a:t>10 petits comptes</a:t>
            </a:r>
          </a:p>
          <a:p>
            <a:pPr>
              <a:spcAft>
                <a:spcPts val="600"/>
              </a:spcAft>
            </a:pPr>
            <a:r>
              <a:rPr sz="700">
                <a:solidFill>
                  <a:srgbClr val="AE172A"/>
                </a:solidFill>
                <a:latin typeface="Poppins"/>
              </a:rPr>
              <a:t>●  </a:t>
            </a:r>
            <a:r>
              <a:rPr sz="1200">
                <a:solidFill>
                  <a:srgbClr val="1A1416"/>
                </a:solidFill>
                <a:latin typeface="Poppins"/>
              </a:rPr>
              <a:t>Produits et coffrets</a:t>
            </a:r>
          </a:p>
          <a:p>
            <a:pPr>
              <a:spcAft>
                <a:spcPts val="600"/>
              </a:spcAft>
            </a:pPr>
            <a:r>
              <a:rPr sz="700">
                <a:solidFill>
                  <a:srgbClr val="AE172A"/>
                </a:solidFill>
                <a:latin typeface="Poppins"/>
              </a:rPr>
              <a:t>●  </a:t>
            </a:r>
            <a:r>
              <a:rPr sz="1200">
                <a:solidFill>
                  <a:srgbClr val="1A1416"/>
                </a:solidFill>
                <a:latin typeface="Poppins"/>
              </a:rPr>
              <a:t>Pas de publicité</a:t>
            </a:r>
          </a:p>
        </p:txBody>
      </p:sp>
      <p:sp>
        <p:nvSpPr>
          <p:cNvPr id="15" name="Rounded Rectangle 14"/>
          <p:cNvSpPr/>
          <p:nvPr/>
        </p:nvSpPr>
        <p:spPr>
          <a:xfrm>
            <a:off x="4320000" y="1620000"/>
            <a:ext cx="3564000" cy="3816000"/>
          </a:xfrm>
          <a:prstGeom prst="roundRect">
            <a:avLst>
              <a:gd name="adj" fmla="val 6000"/>
            </a:avLst>
          </a:prstGeom>
          <a:solidFill>
            <a:srgbClr val="2A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64000" y="1800000"/>
            <a:ext cx="1440000" cy="288000"/>
          </a:xfrm>
          <a:prstGeom prst="roundRect">
            <a:avLst>
              <a:gd name="adj" fmla="val 50000"/>
            </a:avLst>
          </a:prstGeom>
          <a:solidFill>
            <a:srgbClr val="FF8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4000" y="1800000"/>
            <a:ext cx="1440000" cy="288000"/>
          </a:xfrm>
          <a:prstGeom prst="rect">
            <a:avLst/>
          </a:prstGeom>
          <a:noFill/>
        </p:spPr>
        <p:txBody>
          <a:bodyPr wrap="square" lIns="36000" rIns="36000" tIns="18000" bIns="18000" anchor="ctr">
            <a:spAutoFit/>
          </a:bodyPr>
          <a:lstStyle/>
          <a:p>
            <a:pPr algn="ctr">
              <a:lnSpc>
                <a:spcPct val="110000"/>
              </a:lnSpc>
            </a:pPr>
            <a:r>
              <a:rPr sz="1000" b="1">
                <a:solidFill>
                  <a:srgbClr val="2A0E12"/>
                </a:solidFill>
                <a:latin typeface="Poppins"/>
              </a:rPr>
              <a:t>Recommandée</a:t>
            </a:r>
          </a:p>
        </p:txBody>
      </p:sp>
      <p:sp>
        <p:nvSpPr>
          <p:cNvPr id="18" name="TextBox 17"/>
          <p:cNvSpPr txBox="1"/>
          <p:nvPr/>
        </p:nvSpPr>
        <p:spPr>
          <a:xfrm>
            <a:off x="4571999" y="1800000"/>
            <a:ext cx="1800000" cy="360000"/>
          </a:xfrm>
          <a:prstGeom prst="rect">
            <a:avLst/>
          </a:prstGeom>
          <a:noFill/>
        </p:spPr>
        <p:txBody>
          <a:bodyPr wrap="square" lIns="36000" rIns="36000" tIns="18000" bIns="18000" anchor="t">
            <a:spAutoFit/>
          </a:bodyPr>
          <a:lstStyle/>
          <a:p>
            <a:pPr algn="l">
              <a:lnSpc>
                <a:spcPct val="110000"/>
              </a:lnSpc>
            </a:pPr>
            <a:r>
              <a:rPr sz="1600" b="1">
                <a:solidFill>
                  <a:srgbClr val="FF8087"/>
                </a:solidFill>
                <a:latin typeface="Poppins"/>
              </a:rPr>
              <a:t>Médium</a:t>
            </a:r>
          </a:p>
        </p:txBody>
      </p:sp>
      <p:sp>
        <p:nvSpPr>
          <p:cNvPr id="19" name="TextBox 18"/>
          <p:cNvSpPr txBox="1"/>
          <p:nvPr/>
        </p:nvSpPr>
        <p:spPr>
          <a:xfrm>
            <a:off x="4571999" y="2196000"/>
            <a:ext cx="3060000" cy="720000"/>
          </a:xfrm>
          <a:prstGeom prst="rect">
            <a:avLst/>
          </a:prstGeom>
          <a:noFill/>
        </p:spPr>
        <p:txBody>
          <a:bodyPr wrap="square" lIns="36000" rIns="36000" tIns="18000" bIns="18000" anchor="t">
            <a:spAutoFit/>
          </a:bodyPr>
          <a:lstStyle/>
          <a:p>
            <a:pPr algn="l">
              <a:lnSpc>
                <a:spcPct val="110000"/>
              </a:lnSpc>
            </a:pPr>
            <a:r>
              <a:rPr sz="3200" b="1">
                <a:solidFill>
                  <a:srgbClr val="FFFFFF"/>
                </a:solidFill>
                <a:latin typeface="Poppins"/>
              </a:rPr>
              <a:t>8 M F CFA</a:t>
            </a:r>
          </a:p>
        </p:txBody>
      </p:sp>
      <p:sp>
        <p:nvSpPr>
          <p:cNvPr id="20" name="TextBox 19"/>
          <p:cNvSpPr txBox="1"/>
          <p:nvPr/>
        </p:nvSpPr>
        <p:spPr>
          <a:xfrm>
            <a:off x="4571999" y="3276000"/>
            <a:ext cx="3096000" cy="2088000"/>
          </a:xfrm>
          <a:prstGeom prst="rect">
            <a:avLst/>
          </a:prstGeom>
          <a:noFill/>
        </p:spPr>
        <p:txBody>
          <a:bodyPr wrap="square">
            <a:spAutoFit/>
          </a:bodyPr>
          <a:lstStyle/>
          <a:p>
            <a:pPr>
              <a:spcAft>
                <a:spcPts val="600"/>
              </a:spcAft>
            </a:pPr>
            <a:r>
              <a:rPr sz="700">
                <a:solidFill>
                  <a:srgbClr val="FF8087"/>
                </a:solidFill>
                <a:latin typeface="Poppins"/>
              </a:rPr>
              <a:t>●  </a:t>
            </a:r>
            <a:r>
              <a:rPr sz="1200">
                <a:solidFill>
                  <a:srgbClr val="FFFFFF"/>
                </a:solidFill>
                <a:latin typeface="Poppins"/>
              </a:rPr>
              <a:t>4 expertes et mamans</a:t>
            </a:r>
          </a:p>
          <a:p>
            <a:pPr>
              <a:spcAft>
                <a:spcPts val="600"/>
              </a:spcAft>
            </a:pPr>
            <a:r>
              <a:rPr sz="700">
                <a:solidFill>
                  <a:srgbClr val="FF8087"/>
                </a:solidFill>
                <a:latin typeface="Poppins"/>
              </a:rPr>
              <a:t>●  </a:t>
            </a:r>
            <a:r>
              <a:rPr sz="1200">
                <a:solidFill>
                  <a:srgbClr val="FFFFFF"/>
                </a:solidFill>
                <a:latin typeface="Poppins"/>
              </a:rPr>
              <a:t>15 petits comptes</a:t>
            </a:r>
          </a:p>
          <a:p>
            <a:pPr>
              <a:spcAft>
                <a:spcPts val="600"/>
              </a:spcAft>
            </a:pPr>
            <a:r>
              <a:rPr sz="700">
                <a:solidFill>
                  <a:srgbClr val="FF8087"/>
                </a:solidFill>
                <a:latin typeface="Poppins"/>
              </a:rPr>
              <a:t>●  </a:t>
            </a:r>
            <a:r>
              <a:rPr sz="1200">
                <a:solidFill>
                  <a:srgbClr val="FFFFFF"/>
                </a:solidFill>
                <a:latin typeface="Poppins"/>
              </a:rPr>
              <a:t>Coffrets hebdomadaires</a:t>
            </a:r>
          </a:p>
          <a:p>
            <a:pPr>
              <a:spcAft>
                <a:spcPts val="600"/>
              </a:spcAft>
            </a:pPr>
            <a:r>
              <a:rPr sz="700">
                <a:solidFill>
                  <a:srgbClr val="FF8087"/>
                </a:solidFill>
                <a:latin typeface="Poppins"/>
              </a:rPr>
              <a:t>●  </a:t>
            </a:r>
            <a:r>
              <a:rPr sz="1200">
                <a:solidFill>
                  <a:srgbClr val="FFFFFF"/>
                </a:solidFill>
                <a:latin typeface="Poppins"/>
              </a:rPr>
              <a:t>1,5 M de relance publicitaire</a:t>
            </a:r>
          </a:p>
        </p:txBody>
      </p:sp>
      <p:sp>
        <p:nvSpPr>
          <p:cNvPr id="21" name="Rounded Rectangle 20"/>
          <p:cNvSpPr/>
          <p:nvPr/>
        </p:nvSpPr>
        <p:spPr>
          <a:xfrm>
            <a:off x="8064000" y="1620000"/>
            <a:ext cx="3564000" cy="3816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15999" y="1800000"/>
            <a:ext cx="1800000" cy="360000"/>
          </a:xfrm>
          <a:prstGeom prst="rect">
            <a:avLst/>
          </a:prstGeom>
          <a:noFill/>
        </p:spPr>
        <p:txBody>
          <a:bodyPr wrap="square" lIns="36000" rIns="36000" tIns="18000" bIns="18000" anchor="t">
            <a:spAutoFit/>
          </a:bodyPr>
          <a:lstStyle/>
          <a:p>
            <a:pPr algn="l">
              <a:lnSpc>
                <a:spcPct val="110000"/>
              </a:lnSpc>
            </a:pPr>
            <a:r>
              <a:rPr sz="1600" b="1">
                <a:solidFill>
                  <a:srgbClr val="AE172A"/>
                </a:solidFill>
                <a:latin typeface="Poppins"/>
              </a:rPr>
              <a:t>Premium</a:t>
            </a:r>
          </a:p>
        </p:txBody>
      </p:sp>
      <p:sp>
        <p:nvSpPr>
          <p:cNvPr id="23" name="TextBox 22"/>
          <p:cNvSpPr txBox="1"/>
          <p:nvPr/>
        </p:nvSpPr>
        <p:spPr>
          <a:xfrm>
            <a:off x="8315999" y="2196000"/>
            <a:ext cx="3060000" cy="720000"/>
          </a:xfrm>
          <a:prstGeom prst="rect">
            <a:avLst/>
          </a:prstGeom>
          <a:noFill/>
        </p:spPr>
        <p:txBody>
          <a:bodyPr wrap="square" lIns="36000" rIns="36000" tIns="18000" bIns="18000" anchor="t">
            <a:spAutoFit/>
          </a:bodyPr>
          <a:lstStyle/>
          <a:p>
            <a:pPr algn="l">
              <a:lnSpc>
                <a:spcPct val="110000"/>
              </a:lnSpc>
            </a:pPr>
            <a:r>
              <a:rPr sz="3200" b="1">
                <a:solidFill>
                  <a:srgbClr val="1A1416"/>
                </a:solidFill>
                <a:latin typeface="Poppins"/>
              </a:rPr>
              <a:t>15 M F CFA</a:t>
            </a:r>
          </a:p>
        </p:txBody>
      </p:sp>
      <p:sp>
        <p:nvSpPr>
          <p:cNvPr id="24" name="TextBox 23"/>
          <p:cNvSpPr txBox="1"/>
          <p:nvPr/>
        </p:nvSpPr>
        <p:spPr>
          <a:xfrm>
            <a:off x="8315999" y="2916000"/>
            <a:ext cx="3060000" cy="288000"/>
          </a:xfrm>
          <a:prstGeom prst="rect">
            <a:avLst/>
          </a:prstGeom>
          <a:noFill/>
        </p:spPr>
        <p:txBody>
          <a:bodyPr wrap="square" lIns="36000" rIns="36000" tIns="18000" bIns="18000" anchor="t">
            <a:spAutoFit/>
          </a:bodyPr>
          <a:lstStyle/>
          <a:p>
            <a:pPr algn="l">
              <a:lnSpc>
                <a:spcPct val="110000"/>
              </a:lnSpc>
            </a:pPr>
            <a:r>
              <a:rPr sz="1100" b="0">
                <a:solidFill>
                  <a:srgbClr val="6B6266"/>
                </a:solidFill>
                <a:latin typeface="Poppins"/>
              </a:rPr>
              <a:t>Toucher tout le pays</a:t>
            </a:r>
          </a:p>
        </p:txBody>
      </p:sp>
      <p:sp>
        <p:nvSpPr>
          <p:cNvPr id="25" name="TextBox 24"/>
          <p:cNvSpPr txBox="1"/>
          <p:nvPr/>
        </p:nvSpPr>
        <p:spPr>
          <a:xfrm>
            <a:off x="8315999" y="3276000"/>
            <a:ext cx="3096000" cy="2088000"/>
          </a:xfrm>
          <a:prstGeom prst="rect">
            <a:avLst/>
          </a:prstGeom>
          <a:noFill/>
        </p:spPr>
        <p:txBody>
          <a:bodyPr wrap="square">
            <a:spAutoFit/>
          </a:bodyPr>
          <a:lstStyle/>
          <a:p>
            <a:pPr>
              <a:spcAft>
                <a:spcPts val="600"/>
              </a:spcAft>
            </a:pPr>
            <a:r>
              <a:rPr sz="700">
                <a:solidFill>
                  <a:srgbClr val="AE172A"/>
                </a:solidFill>
                <a:latin typeface="Poppins"/>
              </a:rPr>
              <a:t>●  </a:t>
            </a:r>
            <a:r>
              <a:rPr sz="1200">
                <a:solidFill>
                  <a:srgbClr val="1A1416"/>
                </a:solidFill>
                <a:latin typeface="Poppins"/>
              </a:rPr>
              <a:t>Tête d’affiche</a:t>
            </a:r>
          </a:p>
          <a:p>
            <a:pPr>
              <a:spcAft>
                <a:spcPts val="600"/>
              </a:spcAft>
            </a:pPr>
            <a:r>
              <a:rPr sz="700">
                <a:solidFill>
                  <a:srgbClr val="AE172A"/>
                </a:solidFill>
                <a:latin typeface="Poppins"/>
              </a:rPr>
              <a:t>●  </a:t>
            </a:r>
            <a:r>
              <a:rPr sz="1200">
                <a:solidFill>
                  <a:srgbClr val="1A1416"/>
                </a:solidFill>
                <a:latin typeface="Poppins"/>
              </a:rPr>
              <a:t>4 expertes et mamans</a:t>
            </a:r>
          </a:p>
          <a:p>
            <a:pPr>
              <a:spcAft>
                <a:spcPts val="600"/>
              </a:spcAft>
            </a:pPr>
            <a:r>
              <a:rPr sz="700">
                <a:solidFill>
                  <a:srgbClr val="AE172A"/>
                </a:solidFill>
                <a:latin typeface="Poppins"/>
              </a:rPr>
              <a:t>●  </a:t>
            </a:r>
            <a:r>
              <a:rPr sz="1200">
                <a:solidFill>
                  <a:srgbClr val="1A1416"/>
                </a:solidFill>
                <a:latin typeface="Poppins"/>
              </a:rPr>
              <a:t>20 petits comptes</a:t>
            </a:r>
          </a:p>
          <a:p>
            <a:pPr>
              <a:spcAft>
                <a:spcPts val="600"/>
              </a:spcAft>
            </a:pPr>
            <a:r>
              <a:rPr sz="700">
                <a:solidFill>
                  <a:srgbClr val="AE172A"/>
                </a:solidFill>
                <a:latin typeface="Poppins"/>
              </a:rPr>
              <a:t>●  </a:t>
            </a:r>
            <a:r>
              <a:rPr sz="1200">
                <a:solidFill>
                  <a:srgbClr val="1A1416"/>
                </a:solidFill>
                <a:latin typeface="Poppins"/>
              </a:rPr>
              <a:t>3 M de relance publicitaire</a:t>
            </a:r>
          </a:p>
        </p:txBody>
      </p:sp>
      <p:sp>
        <p:nvSpPr>
          <p:cNvPr id="26" name="Rounded Rectangle 25"/>
          <p:cNvSpPr/>
          <p:nvPr/>
        </p:nvSpPr>
        <p:spPr>
          <a:xfrm>
            <a:off x="576000" y="5616000"/>
            <a:ext cx="11052000" cy="648000"/>
          </a:xfrm>
          <a:prstGeom prst="roundRect">
            <a:avLst>
              <a:gd name="adj" fmla="val 6000"/>
            </a:avLst>
          </a:prstGeom>
          <a:solidFill>
            <a:srgbClr val="FB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2000" y="5616000"/>
            <a:ext cx="10656000" cy="648000"/>
          </a:xfrm>
          <a:prstGeom prst="rect">
            <a:avLst/>
          </a:prstGeom>
          <a:noFill/>
        </p:spPr>
        <p:txBody>
          <a:bodyPr wrap="square" lIns="36000" rIns="36000" tIns="18000" bIns="18000" anchor="ctr">
            <a:spAutoFit/>
          </a:bodyPr>
          <a:lstStyle/>
          <a:p>
            <a:pPr algn="l">
              <a:lnSpc>
                <a:spcPct val="110000"/>
              </a:lnSpc>
            </a:pPr>
            <a:r>
              <a:rPr sz="1050" b="0">
                <a:solidFill>
                  <a:srgbClr val="1A1416"/>
                </a:solidFill>
                <a:latin typeface="Poppins"/>
              </a:rPr>
              <a:t>Repère de prix : 100 000 à 500 000 F CFA par campagne pour un compte de 5 000 à 50 000 abonnés ; 1 à 5 millions pour plusieurs centaines de milliers d’abonnés (PixlStudio, guide 2026). Les montants ci-dessus en découlent.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0000" cy="6858000"/>
          </a:xfrm>
          <a:prstGeom prst="rect">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0248119" y="257639"/>
            <a:ext cx="1584000" cy="492718"/>
          </a:xfrm>
          <a:prstGeom prst="rect">
            <a:avLst/>
          </a:prstGeom>
        </p:spPr>
      </p:pic>
      <p:sp>
        <p:nvSpPr>
          <p:cNvPr id="4" name="TextBox 3"/>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AE172A"/>
                </a:solidFill>
                <a:latin typeface="Poppins"/>
              </a:rPr>
              <a:t>06-07 · MESURE, CADRE ET RISQUES</a:t>
            </a:r>
          </a:p>
        </p:txBody>
      </p:sp>
      <p:sp>
        <p:nvSpPr>
          <p:cNvPr id="5" name="TextBox 4"/>
          <p:cNvSpPr txBox="1"/>
          <p:nvPr/>
        </p:nvSpPr>
        <p:spPr>
          <a:xfrm>
            <a:off x="576000" y="576000"/>
            <a:ext cx="9360000" cy="720000"/>
          </a:xfrm>
          <a:prstGeom prst="rect">
            <a:avLst/>
          </a:prstGeom>
          <a:noFill/>
        </p:spPr>
        <p:txBody>
          <a:bodyPr wrap="square" lIns="36000" rIns="36000" tIns="18000" bIns="18000" anchor="t">
            <a:spAutoFit/>
          </a:bodyPr>
          <a:lstStyle/>
          <a:p>
            <a:pPr algn="l">
              <a:lnSpc>
                <a:spcPct val="110000"/>
              </a:lnSpc>
            </a:pPr>
            <a:r>
              <a:rPr sz="2500" b="1">
                <a:solidFill>
                  <a:srgbClr val="1A1416"/>
                </a:solidFill>
                <a:latin typeface="Poppins"/>
              </a:rPr>
              <a:t>Mesurer chaque franc, rester dans les règles</a:t>
            </a:r>
          </a:p>
        </p:txBody>
      </p:sp>
      <p:sp>
        <p:nvSpPr>
          <p:cNvPr id="6" name="Rectangle 5"/>
          <p:cNvSpPr/>
          <p:nvPr/>
        </p:nvSpPr>
        <p:spPr>
          <a:xfrm>
            <a:off x="576000" y="1278000"/>
            <a:ext cx="792000" cy="50400"/>
          </a:xfrm>
          <a:prstGeom prst="rect">
            <a:avLst/>
          </a:prstGeom>
          <a:solidFill>
            <a:srgbClr val="FF8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6B6266"/>
                </a:solidFill>
                <a:latin typeface="Poppins"/>
              </a:rPr>
              <a:t>21 / 22</a:t>
            </a:r>
          </a:p>
        </p:txBody>
      </p:sp>
      <p:sp>
        <p:nvSpPr>
          <p:cNvPr id="8" name="TextBox 7"/>
          <p:cNvSpPr txBox="1"/>
          <p:nvPr/>
        </p:nvSpPr>
        <p:spPr>
          <a:xfrm>
            <a:off x="576000" y="6498000"/>
            <a:ext cx="8640000" cy="216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Dream Cosmetics · Campagne d’influence Côte d’Ivoire · proposition du 28/10/2026</a:t>
            </a:r>
          </a:p>
        </p:txBody>
      </p:sp>
      <p:sp>
        <p:nvSpPr>
          <p:cNvPr id="9" name="Rounded Rectangle 8"/>
          <p:cNvSpPr/>
          <p:nvPr/>
        </p:nvSpPr>
        <p:spPr>
          <a:xfrm>
            <a:off x="576000" y="1584000"/>
            <a:ext cx="5400000" cy="4644000"/>
          </a:xfrm>
          <a:prstGeom prst="roundRect">
            <a:avLst>
              <a:gd name="adj" fmla="val 6000"/>
            </a:avLst>
          </a:prstGeom>
          <a:solidFill>
            <a:srgbClr val="F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2000" y="1728000"/>
            <a:ext cx="5040000" cy="324000"/>
          </a:xfrm>
          <a:prstGeom prst="rect">
            <a:avLst/>
          </a:prstGeom>
          <a:noFill/>
        </p:spPr>
        <p:txBody>
          <a:bodyPr wrap="square" lIns="36000" rIns="36000" tIns="18000" bIns="18000" anchor="t">
            <a:spAutoFit/>
          </a:bodyPr>
          <a:lstStyle/>
          <a:p>
            <a:pPr algn="l">
              <a:lnSpc>
                <a:spcPct val="110000"/>
              </a:lnSpc>
            </a:pPr>
            <a:r>
              <a:rPr sz="1400" b="1">
                <a:solidFill>
                  <a:srgbClr val="AE172A"/>
                </a:solidFill>
                <a:latin typeface="Poppins"/>
              </a:rPr>
              <a:t>Le tableau de bord, chaque lundi</a:t>
            </a:r>
          </a:p>
        </p:txBody>
      </p:sp>
      <p:sp>
        <p:nvSpPr>
          <p:cNvPr id="11" name="TextBox 10"/>
          <p:cNvSpPr txBox="1"/>
          <p:nvPr/>
        </p:nvSpPr>
        <p:spPr>
          <a:xfrm>
            <a:off x="792000" y="2124000"/>
            <a:ext cx="5040000" cy="3960000"/>
          </a:xfrm>
          <a:prstGeom prst="rect">
            <a:avLst/>
          </a:prstGeom>
          <a:noFill/>
        </p:spPr>
        <p:txBody>
          <a:bodyPr wrap="square">
            <a:spAutoFit/>
          </a:bodyPr>
          <a:lstStyle/>
          <a:p>
            <a:pPr>
              <a:spcAft>
                <a:spcPts val="600"/>
              </a:spcAft>
            </a:pPr>
            <a:r>
              <a:rPr sz="700">
                <a:solidFill>
                  <a:srgbClr val="AE172A"/>
                </a:solidFill>
                <a:latin typeface="Poppins"/>
              </a:rPr>
              <a:t>●  </a:t>
            </a:r>
            <a:r>
              <a:rPr sz="1200">
                <a:solidFill>
                  <a:srgbClr val="1A1416"/>
                </a:solidFill>
                <a:latin typeface="Poppins"/>
              </a:rPr>
              <a:t>Vues et engagement par vidéo, sur captures des créateurs</a:t>
            </a:r>
          </a:p>
          <a:p>
            <a:pPr>
              <a:spcAft>
                <a:spcPts val="600"/>
              </a:spcAft>
            </a:pPr>
            <a:r>
              <a:rPr sz="700">
                <a:solidFill>
                  <a:srgbClr val="AE172A"/>
                </a:solidFill>
                <a:latin typeface="Poppins"/>
              </a:rPr>
              <a:t>●  </a:t>
            </a:r>
            <a:r>
              <a:rPr sz="1200">
                <a:solidFill>
                  <a:srgbClr val="1A1416"/>
                </a:solidFill>
                <a:latin typeface="Poppins"/>
              </a:rPr>
              <a:t>Nombre de vidéos #MonRituelDream publiées par le public</a:t>
            </a:r>
          </a:p>
          <a:p>
            <a:pPr>
              <a:spcAft>
                <a:spcPts val="600"/>
              </a:spcAft>
            </a:pPr>
            <a:r>
              <a:rPr sz="700">
                <a:solidFill>
                  <a:srgbClr val="AE172A"/>
                </a:solidFill>
                <a:latin typeface="Poppins"/>
              </a:rPr>
              <a:t>●  </a:t>
            </a:r>
            <a:r>
              <a:rPr sz="1200">
                <a:solidFill>
                  <a:srgbClr val="1A1416"/>
                </a:solidFill>
                <a:latin typeface="Poppins"/>
              </a:rPr>
              <a:t>Codes et liens WhatsApp utilisés, par créateur</a:t>
            </a:r>
          </a:p>
          <a:p>
            <a:pPr>
              <a:spcAft>
                <a:spcPts val="600"/>
              </a:spcAft>
            </a:pPr>
            <a:r>
              <a:rPr sz="700">
                <a:solidFill>
                  <a:srgbClr val="AE172A"/>
                </a:solidFill>
                <a:latin typeface="Poppins"/>
              </a:rPr>
              <a:t>●  </a:t>
            </a:r>
            <a:r>
              <a:rPr sz="1200">
                <a:solidFill>
                  <a:srgbClr val="1A1416"/>
                </a:solidFill>
                <a:latin typeface="Poppins"/>
              </a:rPr>
              <a:t>Coût par vue et coût par vente, par créateur</a:t>
            </a:r>
          </a:p>
          <a:p>
            <a:pPr>
              <a:spcAft>
                <a:spcPts val="600"/>
              </a:spcAft>
            </a:pPr>
            <a:r>
              <a:rPr sz="700">
                <a:solidFill>
                  <a:srgbClr val="AE172A"/>
                </a:solidFill>
                <a:latin typeface="Poppins"/>
              </a:rPr>
              <a:t>●  </a:t>
            </a:r>
            <a:r>
              <a:rPr sz="1200">
                <a:solidFill>
                  <a:srgbClr val="1A1416"/>
                </a:solidFill>
                <a:latin typeface="Poppins"/>
              </a:rPr>
              <a:t>Sentiment des commentaires : positif, neutre, négatif</a:t>
            </a:r>
          </a:p>
          <a:p>
            <a:pPr>
              <a:spcAft>
                <a:spcPts val="600"/>
              </a:spcAft>
            </a:pPr>
            <a:r>
              <a:rPr sz="700">
                <a:solidFill>
                  <a:srgbClr val="AE172A"/>
                </a:solidFill>
                <a:latin typeface="Poppins"/>
              </a:rPr>
              <a:t>●  </a:t>
            </a:r>
            <a:r>
              <a:rPr sz="1200">
                <a:solidFill>
                  <a:srgbClr val="1A1416"/>
                </a:solidFill>
                <a:latin typeface="Poppins"/>
              </a:rPr>
              <a:t>Décision : on garde, on relance ou on arrête</a:t>
            </a:r>
          </a:p>
        </p:txBody>
      </p:sp>
      <p:sp>
        <p:nvSpPr>
          <p:cNvPr id="12" name="Rounded Rectangle 11"/>
          <p:cNvSpPr/>
          <p:nvPr/>
        </p:nvSpPr>
        <p:spPr>
          <a:xfrm>
            <a:off x="6228000" y="1584000"/>
            <a:ext cx="5400000" cy="4644000"/>
          </a:xfrm>
          <a:prstGeom prst="roundRect">
            <a:avLst>
              <a:gd name="adj" fmla="val 6000"/>
            </a:avLst>
          </a:prstGeom>
          <a:solidFill>
            <a:srgbClr val="FB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3999" y="1728000"/>
            <a:ext cx="5040000" cy="324000"/>
          </a:xfrm>
          <a:prstGeom prst="rect">
            <a:avLst/>
          </a:prstGeom>
          <a:noFill/>
        </p:spPr>
        <p:txBody>
          <a:bodyPr wrap="square" lIns="36000" rIns="36000" tIns="18000" bIns="18000" anchor="t">
            <a:spAutoFit/>
          </a:bodyPr>
          <a:lstStyle/>
          <a:p>
            <a:pPr algn="l">
              <a:lnSpc>
                <a:spcPct val="110000"/>
              </a:lnSpc>
            </a:pPr>
            <a:r>
              <a:rPr sz="1400" b="1">
                <a:solidFill>
                  <a:srgbClr val="AE172A"/>
                </a:solidFill>
                <a:latin typeface="Poppins"/>
              </a:rPr>
              <a:t>Le cadre ivoirien et les risques</a:t>
            </a:r>
          </a:p>
        </p:txBody>
      </p:sp>
      <p:sp>
        <p:nvSpPr>
          <p:cNvPr id="14" name="TextBox 13"/>
          <p:cNvSpPr txBox="1"/>
          <p:nvPr/>
        </p:nvSpPr>
        <p:spPr>
          <a:xfrm>
            <a:off x="6443999" y="2124000"/>
            <a:ext cx="5040000" cy="3960000"/>
          </a:xfrm>
          <a:prstGeom prst="rect">
            <a:avLst/>
          </a:prstGeom>
          <a:noFill/>
        </p:spPr>
        <p:txBody>
          <a:bodyPr wrap="square">
            <a:spAutoFit/>
          </a:bodyPr>
          <a:lstStyle/>
          <a:p>
            <a:pPr>
              <a:spcAft>
                <a:spcPts val="600"/>
              </a:spcAft>
            </a:pPr>
            <a:r>
              <a:rPr sz="650">
                <a:solidFill>
                  <a:srgbClr val="AE172A"/>
                </a:solidFill>
                <a:latin typeface="Poppins"/>
              </a:rPr>
              <a:t>●  </a:t>
            </a:r>
            <a:r>
              <a:rPr sz="1150">
                <a:solidFill>
                  <a:srgbClr val="1A1416"/>
                </a:solidFill>
                <a:latin typeface="Poppins"/>
              </a:rPr>
              <a:t>Loi n° 2022-979 du 20/12/2022 : au-delà de 25 000 abonnés, un créateur suit les règles de l’audiovisuel, sous le contrôle de la HACA</a:t>
            </a:r>
          </a:p>
          <a:p>
            <a:pPr>
              <a:spcAft>
                <a:spcPts val="600"/>
              </a:spcAft>
            </a:pPr>
            <a:r>
              <a:rPr sz="650">
                <a:solidFill>
                  <a:srgbClr val="AE172A"/>
                </a:solidFill>
                <a:latin typeface="Poppins"/>
              </a:rPr>
              <a:t>●  </a:t>
            </a:r>
            <a:r>
              <a:rPr sz="1150">
                <a:solidFill>
                  <a:srgbClr val="1A1416"/>
                </a:solidFill>
                <a:latin typeface="Poppins"/>
              </a:rPr>
              <a:t>Les campagnes publicitaires passent par la validation préalable de la commission du Conseil supérieur de la publicité (CSP)</a:t>
            </a:r>
          </a:p>
          <a:p>
            <a:pPr>
              <a:spcAft>
                <a:spcPts val="600"/>
              </a:spcAft>
            </a:pPr>
            <a:r>
              <a:rPr sz="650">
                <a:solidFill>
                  <a:srgbClr val="AE172A"/>
                </a:solidFill>
                <a:latin typeface="Poppins"/>
              </a:rPr>
              <a:t>●  </a:t>
            </a:r>
            <a:r>
              <a:rPr sz="1150">
                <a:solidFill>
                  <a:srgbClr val="1A1416"/>
                </a:solidFill>
                <a:latin typeface="Poppins"/>
              </a:rPr>
              <a:t>Aucune promesse d’éclaircissement ni d’effet médical</a:t>
            </a:r>
          </a:p>
          <a:p>
            <a:pPr>
              <a:spcAft>
                <a:spcPts val="600"/>
              </a:spcAft>
            </a:pPr>
            <a:r>
              <a:rPr sz="650">
                <a:solidFill>
                  <a:srgbClr val="AE172A"/>
                </a:solidFill>
                <a:latin typeface="Poppins"/>
              </a:rPr>
              <a:t>●  </a:t>
            </a:r>
            <a:r>
              <a:rPr sz="1150">
                <a:solidFill>
                  <a:srgbClr val="1A1416"/>
                </a:solidFill>
                <a:latin typeface="Poppins"/>
              </a:rPr>
              <a:t>Un contrat écrit par créateur : livrables, dates, droits, exclusivité</a:t>
            </a:r>
          </a:p>
          <a:p>
            <a:pPr>
              <a:spcAft>
                <a:spcPts val="600"/>
              </a:spcAft>
            </a:pPr>
            <a:r>
              <a:rPr sz="650">
                <a:solidFill>
                  <a:srgbClr val="AE172A"/>
                </a:solidFill>
                <a:latin typeface="Poppins"/>
              </a:rPr>
              <a:t>●  </a:t>
            </a:r>
            <a:r>
              <a:rPr sz="1150">
                <a:solidFill>
                  <a:srgbClr val="1A1416"/>
                </a:solidFill>
                <a:latin typeface="Poppins"/>
              </a:rPr>
              <a:t>Plan de réponse prêt si un commentaire négatif prend de l’ampleur</a:t>
            </a:r>
          </a:p>
        </p:txBody>
      </p:sp>
      <p:sp>
        <p:nvSpPr>
          <p:cNvPr id="15" name="TextBox 14"/>
          <p:cNvSpPr txBox="1"/>
          <p:nvPr/>
        </p:nvSpPr>
        <p:spPr>
          <a:xfrm>
            <a:off x="6443999" y="5903999"/>
            <a:ext cx="5040000" cy="288000"/>
          </a:xfrm>
          <a:prstGeom prst="rect">
            <a:avLst/>
          </a:prstGeom>
          <a:noFill/>
        </p:spPr>
        <p:txBody>
          <a:bodyPr wrap="square" lIns="36000" rIns="36000" tIns="18000" bIns="18000" anchor="t">
            <a:spAutoFit/>
          </a:bodyPr>
          <a:lstStyle/>
          <a:p>
            <a:pPr algn="l">
              <a:lnSpc>
                <a:spcPct val="110000"/>
              </a:lnSpc>
            </a:pPr>
            <a:r>
              <a:rPr sz="900" b="0">
                <a:solidFill>
                  <a:srgbClr val="6B6266"/>
                </a:solidFill>
                <a:latin typeface="Poppins"/>
              </a:rPr>
              <a:t>Sources : presse régionale reprenant le CSP, 2025. Contrôle juridique à faire.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bd.jpg"/>
          <p:cNvPicPr>
            <a:picLocks noChangeAspect="1"/>
          </p:cNvPicPr>
          <p:nvPr/>
        </p:nvPicPr>
        <p:blipFill>
          <a:blip r:embed="rId2"/>
          <a:srcRect t="248" b="578"/>
          <a:stretch>
            <a:fillRect/>
          </a:stretch>
        </p:blipFill>
        <p:spPr>
          <a:xfrm>
            <a:off x="6660000" y="0"/>
            <a:ext cx="5532119" cy="6858000"/>
          </a:xfrm>
          <a:prstGeom prst="rect">
            <a:avLst/>
          </a:prstGeom>
        </p:spPr>
      </p:pic>
      <p:sp>
        <p:nvSpPr>
          <p:cNvPr id="3" name="Rectangle 2"/>
          <p:cNvSpPr/>
          <p:nvPr/>
        </p:nvSpPr>
        <p:spPr>
          <a:xfrm>
            <a:off x="0" y="0"/>
            <a:ext cx="6660000" cy="6858000"/>
          </a:xfrm>
          <a:prstGeom prst="rect">
            <a:avLst/>
          </a:prstGeom>
          <a:solidFill>
            <a:srgbClr val="2A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blanc.png"/>
          <p:cNvPicPr>
            <a:picLocks noChangeAspect="1"/>
          </p:cNvPicPr>
          <p:nvPr/>
        </p:nvPicPr>
        <p:blipFill>
          <a:blip r:embed="rId3"/>
          <a:stretch>
            <a:fillRect/>
          </a:stretch>
        </p:blipFill>
        <p:spPr>
          <a:xfrm>
            <a:off x="654267" y="432000"/>
            <a:ext cx="1967466" cy="612000"/>
          </a:xfrm>
          <a:prstGeom prst="rect">
            <a:avLst/>
          </a:prstGeom>
        </p:spPr>
      </p:pic>
      <p:sp>
        <p:nvSpPr>
          <p:cNvPr id="5" name="TextBox 4"/>
          <p:cNvSpPr txBox="1"/>
          <p:nvPr/>
        </p:nvSpPr>
        <p:spPr>
          <a:xfrm>
            <a:off x="648000" y="1368000"/>
            <a:ext cx="5400000" cy="288000"/>
          </a:xfrm>
          <a:prstGeom prst="rect">
            <a:avLst/>
          </a:prstGeom>
          <a:noFill/>
        </p:spPr>
        <p:txBody>
          <a:bodyPr wrap="square" lIns="36000" rIns="36000" tIns="18000" bIns="18000" anchor="t">
            <a:spAutoFit/>
          </a:bodyPr>
          <a:lstStyle/>
          <a:p>
            <a:pPr algn="l">
              <a:lnSpc>
                <a:spcPct val="110000"/>
              </a:lnSpc>
            </a:pPr>
            <a:r>
              <a:rPr sz="1100" b="1">
                <a:solidFill>
                  <a:srgbClr val="FF8087"/>
                </a:solidFill>
                <a:latin typeface="Poppins"/>
              </a:rPr>
              <a:t>08 · LA SUITE</a:t>
            </a:r>
          </a:p>
        </p:txBody>
      </p:sp>
      <p:sp>
        <p:nvSpPr>
          <p:cNvPr id="6" name="TextBox 5"/>
          <p:cNvSpPr txBox="1"/>
          <p:nvPr/>
        </p:nvSpPr>
        <p:spPr>
          <a:xfrm>
            <a:off x="648000" y="1655999"/>
            <a:ext cx="5760000" cy="576000"/>
          </a:xfrm>
          <a:prstGeom prst="rect">
            <a:avLst/>
          </a:prstGeom>
          <a:noFill/>
        </p:spPr>
        <p:txBody>
          <a:bodyPr wrap="square" lIns="36000" rIns="36000" tIns="18000" bIns="18000" anchor="t">
            <a:spAutoFit/>
          </a:bodyPr>
          <a:lstStyle/>
          <a:p>
            <a:pPr algn="l">
              <a:lnSpc>
                <a:spcPct val="110000"/>
              </a:lnSpc>
            </a:pPr>
            <a:r>
              <a:rPr sz="2400" b="1">
                <a:solidFill>
                  <a:srgbClr val="FFFFFF"/>
                </a:solidFill>
                <a:latin typeface="Poppins"/>
              </a:rPr>
              <a:t>Quatre décisions pour démarrer</a:t>
            </a:r>
          </a:p>
        </p:txBody>
      </p:sp>
      <p:sp>
        <p:nvSpPr>
          <p:cNvPr id="7" name="Oval 6"/>
          <p:cNvSpPr/>
          <p:nvPr/>
        </p:nvSpPr>
        <p:spPr>
          <a:xfrm>
            <a:off x="648000" y="2592000"/>
            <a:ext cx="540000" cy="540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8000" y="2592000"/>
            <a:ext cx="540000" cy="540000"/>
          </a:xfrm>
          <a:prstGeom prst="rect">
            <a:avLst/>
          </a:prstGeom>
          <a:noFill/>
        </p:spPr>
        <p:txBody>
          <a:bodyPr wrap="square" lIns="36000" rIns="36000" tIns="18000" bIns="18000" anchor="ctr">
            <a:spAutoFit/>
          </a:bodyPr>
          <a:lstStyle/>
          <a:p>
            <a:pPr algn="ctr">
              <a:lnSpc>
                <a:spcPct val="110000"/>
              </a:lnSpc>
            </a:pPr>
            <a:r>
              <a:rPr sz="1500" b="1">
                <a:solidFill>
                  <a:srgbClr val="FFFFFF"/>
                </a:solidFill>
                <a:latin typeface="Poppins"/>
              </a:rPr>
              <a:t>1</a:t>
            </a:r>
          </a:p>
        </p:txBody>
      </p:sp>
      <p:sp>
        <p:nvSpPr>
          <p:cNvPr id="9" name="TextBox 8"/>
          <p:cNvSpPr txBox="1"/>
          <p:nvPr/>
        </p:nvSpPr>
        <p:spPr>
          <a:xfrm>
            <a:off x="1368000" y="2556000"/>
            <a:ext cx="5040000" cy="792000"/>
          </a:xfrm>
          <a:prstGeom prst="rect">
            <a:avLst/>
          </a:prstGeom>
          <a:noFill/>
        </p:spPr>
        <p:txBody>
          <a:bodyPr wrap="square" lIns="36000" rIns="36000" tIns="18000" bIns="18000" anchor="t">
            <a:spAutoFit/>
          </a:bodyPr>
          <a:lstStyle/>
          <a:p>
            <a:pPr algn="l">
              <a:lnSpc>
                <a:spcPct val="110000"/>
              </a:lnSpc>
            </a:pPr>
            <a:r>
              <a:rPr sz="1400" b="1">
                <a:solidFill>
                  <a:srgbClr val="FFFFFF"/>
                </a:solidFill>
                <a:latin typeface="Poppins"/>
              </a:rPr>
              <a:t>Choisir l’option de budget</a:t>
            </a:r>
          </a:p>
          <a:p>
            <a:pPr algn="l">
              <a:lnSpc>
                <a:spcPct val="110000"/>
              </a:lnSpc>
              <a:spcBef>
                <a:spcPts val="500"/>
              </a:spcBef>
            </a:pPr>
            <a:r>
              <a:rPr sz="1100" b="0">
                <a:solidFill>
                  <a:srgbClr val="E7C9CD"/>
                </a:solidFill>
                <a:latin typeface="Poppins"/>
              </a:rPr>
              <a:t>Basique, Médium ou Premium</a:t>
            </a:r>
          </a:p>
        </p:txBody>
      </p:sp>
      <p:sp>
        <p:nvSpPr>
          <p:cNvPr id="10" name="Oval 9"/>
          <p:cNvSpPr/>
          <p:nvPr/>
        </p:nvSpPr>
        <p:spPr>
          <a:xfrm>
            <a:off x="648000" y="3528000"/>
            <a:ext cx="540000" cy="540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000" y="3528000"/>
            <a:ext cx="540000" cy="540000"/>
          </a:xfrm>
          <a:prstGeom prst="rect">
            <a:avLst/>
          </a:prstGeom>
          <a:noFill/>
        </p:spPr>
        <p:txBody>
          <a:bodyPr wrap="square" lIns="36000" rIns="36000" tIns="18000" bIns="18000" anchor="ctr">
            <a:spAutoFit/>
          </a:bodyPr>
          <a:lstStyle/>
          <a:p>
            <a:pPr algn="ctr">
              <a:lnSpc>
                <a:spcPct val="110000"/>
              </a:lnSpc>
            </a:pPr>
            <a:r>
              <a:rPr sz="1500" b="1">
                <a:solidFill>
                  <a:srgbClr val="FFFFFF"/>
                </a:solidFill>
                <a:latin typeface="Poppins"/>
              </a:rPr>
              <a:t>2</a:t>
            </a:r>
          </a:p>
        </p:txBody>
      </p:sp>
      <p:sp>
        <p:nvSpPr>
          <p:cNvPr id="12" name="TextBox 11"/>
          <p:cNvSpPr txBox="1"/>
          <p:nvPr/>
        </p:nvSpPr>
        <p:spPr>
          <a:xfrm>
            <a:off x="1368000" y="3492000"/>
            <a:ext cx="5040000" cy="792000"/>
          </a:xfrm>
          <a:prstGeom prst="rect">
            <a:avLst/>
          </a:prstGeom>
          <a:noFill/>
        </p:spPr>
        <p:txBody>
          <a:bodyPr wrap="square" lIns="36000" rIns="36000" tIns="18000" bIns="18000" anchor="t">
            <a:spAutoFit/>
          </a:bodyPr>
          <a:lstStyle/>
          <a:p>
            <a:pPr algn="l">
              <a:lnSpc>
                <a:spcPct val="110000"/>
              </a:lnSpc>
            </a:pPr>
            <a:r>
              <a:rPr sz="1400" b="1">
                <a:solidFill>
                  <a:srgbClr val="FFFFFF"/>
                </a:solidFill>
                <a:latin typeface="Poppins"/>
              </a:rPr>
              <a:t>Valider le nom</a:t>
            </a:r>
          </a:p>
          <a:p>
            <a:pPr algn="l">
              <a:lnSpc>
                <a:spcPct val="110000"/>
              </a:lnSpc>
              <a:spcBef>
                <a:spcPts val="500"/>
              </a:spcBef>
            </a:pPr>
            <a:r>
              <a:rPr sz="1100" b="0">
                <a:solidFill>
                  <a:srgbClr val="E7C9CD"/>
                </a:solidFill>
                <a:latin typeface="Poppins"/>
              </a:rPr>
              <a:t>#MonRituelDream ou une autre piste</a:t>
            </a:r>
          </a:p>
        </p:txBody>
      </p:sp>
      <p:sp>
        <p:nvSpPr>
          <p:cNvPr id="13" name="Oval 12"/>
          <p:cNvSpPr/>
          <p:nvPr/>
        </p:nvSpPr>
        <p:spPr>
          <a:xfrm>
            <a:off x="648000" y="4464000"/>
            <a:ext cx="540000" cy="540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000" y="4464000"/>
            <a:ext cx="540000" cy="540000"/>
          </a:xfrm>
          <a:prstGeom prst="rect">
            <a:avLst/>
          </a:prstGeom>
          <a:noFill/>
        </p:spPr>
        <p:txBody>
          <a:bodyPr wrap="square" lIns="36000" rIns="36000" tIns="18000" bIns="18000" anchor="ctr">
            <a:spAutoFit/>
          </a:bodyPr>
          <a:lstStyle/>
          <a:p>
            <a:pPr algn="ctr">
              <a:lnSpc>
                <a:spcPct val="110000"/>
              </a:lnSpc>
            </a:pPr>
            <a:r>
              <a:rPr sz="1500" b="1">
                <a:solidFill>
                  <a:srgbClr val="FFFFFF"/>
                </a:solidFill>
                <a:latin typeface="Poppins"/>
              </a:rPr>
              <a:t>3</a:t>
            </a:r>
          </a:p>
        </p:txBody>
      </p:sp>
      <p:sp>
        <p:nvSpPr>
          <p:cNvPr id="15" name="TextBox 14"/>
          <p:cNvSpPr txBox="1"/>
          <p:nvPr/>
        </p:nvSpPr>
        <p:spPr>
          <a:xfrm>
            <a:off x="1368000" y="4428000"/>
            <a:ext cx="5040000" cy="792000"/>
          </a:xfrm>
          <a:prstGeom prst="rect">
            <a:avLst/>
          </a:prstGeom>
          <a:noFill/>
        </p:spPr>
        <p:txBody>
          <a:bodyPr wrap="square" lIns="36000" rIns="36000" tIns="18000" bIns="18000" anchor="t">
            <a:spAutoFit/>
          </a:bodyPr>
          <a:lstStyle/>
          <a:p>
            <a:pPr algn="l">
              <a:lnSpc>
                <a:spcPct val="110000"/>
              </a:lnSpc>
            </a:pPr>
            <a:r>
              <a:rPr sz="1400" b="1">
                <a:solidFill>
                  <a:srgbClr val="FFFFFF"/>
                </a:solidFill>
                <a:latin typeface="Poppins"/>
              </a:rPr>
              <a:t>Valider la liste de créateurs</a:t>
            </a:r>
          </a:p>
          <a:p>
            <a:pPr algn="l">
              <a:lnSpc>
                <a:spcPct val="110000"/>
              </a:lnSpc>
              <a:spcBef>
                <a:spcPts val="500"/>
              </a:spcBef>
            </a:pPr>
            <a:r>
              <a:rPr sz="1100" b="0">
                <a:solidFill>
                  <a:srgbClr val="E7C9CD"/>
                </a:solidFill>
                <a:latin typeface="Poppins"/>
              </a:rPr>
              <a:t>Nous les contactons ensuite, devis à l’appui</a:t>
            </a:r>
          </a:p>
        </p:txBody>
      </p:sp>
      <p:sp>
        <p:nvSpPr>
          <p:cNvPr id="16" name="Oval 15"/>
          <p:cNvSpPr/>
          <p:nvPr/>
        </p:nvSpPr>
        <p:spPr>
          <a:xfrm>
            <a:off x="648000" y="5400000"/>
            <a:ext cx="540000" cy="540000"/>
          </a:xfrm>
          <a:prstGeom prst="ellipse">
            <a:avLst/>
          </a:prstGeom>
          <a:solidFill>
            <a:srgbClr val="A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000" y="5400000"/>
            <a:ext cx="540000" cy="540000"/>
          </a:xfrm>
          <a:prstGeom prst="rect">
            <a:avLst/>
          </a:prstGeom>
          <a:noFill/>
        </p:spPr>
        <p:txBody>
          <a:bodyPr wrap="square" lIns="36000" rIns="36000" tIns="18000" bIns="18000" anchor="ctr">
            <a:spAutoFit/>
          </a:bodyPr>
          <a:lstStyle/>
          <a:p>
            <a:pPr algn="ctr">
              <a:lnSpc>
                <a:spcPct val="110000"/>
              </a:lnSpc>
            </a:pPr>
            <a:r>
              <a:rPr sz="1500" b="1">
                <a:solidFill>
                  <a:srgbClr val="FFFFFF"/>
                </a:solidFill>
                <a:latin typeface="Poppins"/>
              </a:rPr>
              <a:t>4</a:t>
            </a:r>
          </a:p>
        </p:txBody>
      </p:sp>
      <p:sp>
        <p:nvSpPr>
          <p:cNvPr id="18" name="TextBox 17"/>
          <p:cNvSpPr txBox="1"/>
          <p:nvPr/>
        </p:nvSpPr>
        <p:spPr>
          <a:xfrm>
            <a:off x="1368000" y="5364000"/>
            <a:ext cx="5040000" cy="792000"/>
          </a:xfrm>
          <a:prstGeom prst="rect">
            <a:avLst/>
          </a:prstGeom>
          <a:noFill/>
        </p:spPr>
        <p:txBody>
          <a:bodyPr wrap="square" lIns="36000" rIns="36000" tIns="18000" bIns="18000" anchor="t">
            <a:spAutoFit/>
          </a:bodyPr>
          <a:lstStyle/>
          <a:p>
            <a:pPr algn="l">
              <a:lnSpc>
                <a:spcPct val="110000"/>
              </a:lnSpc>
            </a:pPr>
            <a:r>
              <a:rPr sz="1400" b="1">
                <a:solidFill>
                  <a:srgbClr val="FFFFFF"/>
                </a:solidFill>
                <a:latin typeface="Poppins"/>
              </a:rPr>
              <a:t>Fixer la date de départ</a:t>
            </a:r>
          </a:p>
          <a:p>
            <a:pPr algn="l">
              <a:lnSpc>
                <a:spcPct val="110000"/>
              </a:lnSpc>
              <a:spcBef>
                <a:spcPts val="500"/>
              </a:spcBef>
            </a:pPr>
            <a:r>
              <a:rPr sz="1100" b="0">
                <a:solidFill>
                  <a:srgbClr val="E7C9CD"/>
                </a:solidFill>
                <a:latin typeface="Poppins"/>
              </a:rPr>
              <a:t>Proposée : 30 novembre 2026</a:t>
            </a:r>
          </a:p>
        </p:txBody>
      </p:sp>
      <p:sp>
        <p:nvSpPr>
          <p:cNvPr id="19" name="TextBox 18"/>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FFFFFF"/>
                </a:solidFill>
                <a:latin typeface="Poppins"/>
              </a:rPr>
              <a:t>22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