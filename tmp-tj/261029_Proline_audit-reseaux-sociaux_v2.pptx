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.jp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4.jpg"/><Relationship Id="rId12" Type="http://schemas.openxmlformats.org/officeDocument/2006/relationships/image" Target="../media/image24.png"/><Relationship Id="rId1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5.jpg"/><Relationship Id="rId4" Type="http://schemas.openxmlformats.org/officeDocument/2006/relationships/image" Target="../media/image3.jp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jpg"/><Relationship Id="rId9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5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8.jpg"/><Relationship Id="rId8" Type="http://schemas.openxmlformats.org/officeDocument/2006/relationships/image" Target="../media/image29.jpg"/><Relationship Id="rId9" Type="http://schemas.openxmlformats.org/officeDocument/2006/relationships/image" Target="../media/image35.jpg"/><Relationship Id="rId10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7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Relationship Id="rId10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12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6.jpg"/><Relationship Id="rId4" Type="http://schemas.openxmlformats.org/officeDocument/2006/relationships/image" Target="../media/image1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5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46.jpg"/><Relationship Id="rId6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1.jpg"/><Relationship Id="rId6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47.jpg"/><Relationship Id="rId6" Type="http://schemas.openxmlformats.org/officeDocument/2006/relationships/image" Target="../media/image5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48.jpg"/><Relationship Id="rId6" Type="http://schemas.openxmlformats.org/officeDocument/2006/relationships/image" Target="../media/image5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49.jpg"/><Relationship Id="rId6" Type="http://schemas.openxmlformats.org/officeDocument/2006/relationships/image" Target="../media/image5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50.jpg"/><Relationship Id="rId6" Type="http://schemas.openxmlformats.org/officeDocument/2006/relationships/image" Target="../media/image5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jp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image" Target="../media/image6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2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56.png"/><Relationship Id="rId6" Type="http://schemas.openxmlformats.org/officeDocument/2006/relationships/image" Target="../media/image65.png"/><Relationship Id="rId7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6.jpg"/><Relationship Id="rId4" Type="http://schemas.openxmlformats.org/officeDocument/2006/relationships/image" Target="../media/image13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72000" y="0"/>
            <a:ext cx="4920119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_p_cari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00" y="893925"/>
            <a:ext cx="4056119" cy="5070148"/>
          </a:xfrm>
          <a:prstGeom prst="rect">
            <a:avLst/>
          </a:prstGeom>
        </p:spPr>
      </p:pic>
      <p:pic>
        <p:nvPicPr>
          <p:cNvPr id="5" name="Picture 4" descr="logo-pro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19" y="540000"/>
            <a:ext cx="2411162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015999"/>
            <a:ext cx="61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E5B22"/>
                </a:solidFill>
                <a:latin typeface="Montserrat"/>
              </a:rPr>
              <a:t>AUDIT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6000"/>
            <a:ext cx="633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Montserrat"/>
              </a:rPr>
              <a:t>Proline Logistics face à AGL, LTA et OTL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61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DDDDD"/>
                </a:solidFill>
                <a:latin typeface="Montserrat"/>
              </a:rPr>
              <a:t>Ce que font les autres, ce qui vous manque, et 6 publications prêtes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50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AAAAA"/>
                </a:solidFill>
                <a:latin typeface="Montserrat"/>
              </a:rPr>
              <a:t>FACE À</a:t>
            </a:r>
          </a:p>
        </p:txBody>
      </p:sp>
      <p:sp>
        <p:nvSpPr>
          <p:cNvPr id="10" name="Oval 9"/>
          <p:cNvSpPr/>
          <p:nvPr/>
        </p:nvSpPr>
        <p:spPr>
          <a:xfrm>
            <a:off x="1512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g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400" y="4838400"/>
            <a:ext cx="547200" cy="547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76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t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2400" y="4838400"/>
            <a:ext cx="547200" cy="5472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240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ot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6400" y="4838400"/>
            <a:ext cx="547200" cy="547200"/>
          </a:xfrm>
          <a:prstGeom prst="rect">
            <a:avLst/>
          </a:prstGeom>
        </p:spPr>
      </p:pic>
      <p:pic>
        <p:nvPicPr>
          <p:cNvPr id="16" name="Picture 15" descr="brand-facebook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00" y="5616000"/>
            <a:ext cx="324000" cy="3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4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Facebook</a:t>
            </a:r>
          </a:p>
        </p:txBody>
      </p:sp>
      <p:pic>
        <p:nvPicPr>
          <p:cNvPr id="18" name="Picture 17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616000"/>
            <a:ext cx="324000" cy="32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28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Instagram</a:t>
            </a:r>
          </a:p>
        </p:txBody>
      </p:sp>
      <p:pic>
        <p:nvPicPr>
          <p:cNvPr id="20" name="Picture 19" descr="brand-linkedin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000" y="5616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2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LinkedIn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6228000"/>
            <a:ext cx="64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AAAAA"/>
                </a:solidFill>
                <a:latin typeface="Montserrat"/>
              </a:rPr>
              <a:t>Relevé des pages publiques le 28 octobre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Montserrat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Une audience qui attend, une page qui se tait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linkedin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36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202E"/>
                </a:solidFill>
                <a:latin typeface="Montserrat"/>
              </a:rPr>
              <a:t>3 517 abonnés 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65656"/>
                </a:solidFill>
                <a:latin typeface="Montserrat"/>
              </a:rPr>
              <a:t>Six fois LTA (566), onze fois OTL (313). Une vraie base de clients et de candidats.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202E"/>
                </a:solidFill>
                <a:latin typeface="Montserrat"/>
              </a:rPr>
              <a:t>Aucune publication relevée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65656"/>
                </a:solidFill>
                <a:latin typeface="Montserrat"/>
              </a:rPr>
              <a:t>Ni sur LinkedIn ni sur Facebook, sur les 6 derniers mois, au relevé du 28/10.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uilding-warehous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6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202E"/>
                </a:solidFill>
                <a:latin typeface="Montserrat"/>
              </a:rPr>
              <a:t>Des atouts que personne ne voit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65656"/>
                </a:solidFill>
                <a:latin typeface="Montserrat"/>
              </a:rPr>
              <a:t>43 000 m² d’entrepôts, hydrocarbures, Maersk, Nestlé, Cargill : sur le site, pas sur les réseaux.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s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202E"/>
                </a:solidFill>
                <a:latin typeface="Montserrat"/>
              </a:rPr>
              <a:t>Chez AGL, ce sont les gens qui marchent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65656"/>
                </a:solidFill>
                <a:latin typeface="Montserrat"/>
              </a:rPr>
              <a:t>Offres d’emploi et équipes sur les parcs : jusqu’à 465 réactions.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Ce que nous avons regardé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999" y="1943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202E"/>
                </a:solidFill>
                <a:latin typeface="Montserrat"/>
              </a:rPr>
              <a:t>Pages publiques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65656"/>
                </a:solidFill>
                <a:latin typeface="Montserrat"/>
              </a:rPr>
              <a:t>LinkedIn, Facebook et Instagram de Proline, AGL, LTA et OTL, relevés le 28/10/2026.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5999" y="1943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202E"/>
                </a:solidFill>
                <a:latin typeface="Montserrat"/>
              </a:rPr>
              <a:t>25 publications pour AGL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65656"/>
                </a:solidFill>
                <a:latin typeface="Montserrat"/>
              </a:rPr>
              <a:t>Du 29/09 au 28/10 sur Facebook ; 20 sur Instagram. LTA et OTL : leurs seules publications récentes.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999" y="1943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3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202E"/>
                </a:solidFill>
                <a:latin typeface="Montserrat"/>
              </a:rPr>
              <a:t>Médianes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65656"/>
                </a:solidFill>
                <a:latin typeface="Montserrat"/>
              </a:rPr>
              <a:t>La valeur du milieu, pour qu’une publication sponsorisée ne fausse pas la moyenne.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51999" y="1943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1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202E"/>
                </a:solidFill>
                <a:latin typeface="Montserrat"/>
              </a:rPr>
              <a:t>Hors de 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1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65656"/>
                </a:solidFill>
                <a:latin typeface="Montserrat"/>
              </a:rPr>
              <a:t>Une page vide ne se mesure pas : nous comparons ce que font les autres à ce que Proline pourrait montrer.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QUI NOUS AVONS COMPARÉ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202E"/>
                </a:solidFill>
                <a:latin typeface="Montserrat"/>
              </a:rPr>
              <a:t>Quatre logisticiens d’Abidjan, un seul vraiment présent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1584000"/>
            <a:ext cx="2601000" cy="10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2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line_l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60" y="2014560"/>
            <a:ext cx="902880" cy="90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202E"/>
                </a:solidFill>
                <a:latin typeface="Montserrat"/>
              </a:rPr>
              <a:t>Proline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EE5B22"/>
                </a:solidFill>
                <a:latin typeface="Montserrat"/>
              </a:rPr>
              <a:t>NOTRE CLIENT</a:t>
            </a:r>
          </a:p>
        </p:txBody>
      </p:sp>
      <p:pic>
        <p:nvPicPr>
          <p:cNvPr id="15" name="Picture 14" descr="brand-linkedin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96000"/>
            <a:ext cx="251999" cy="2519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6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3 517 abonnés</a:t>
            </a:r>
          </a:p>
        </p:txBody>
      </p:sp>
      <p:pic>
        <p:nvPicPr>
          <p:cNvPr id="17" name="Picture 16" descr="speakerphon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51999" cy="2519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6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0 publ. relevée</a:t>
            </a:r>
          </a:p>
        </p:txBody>
      </p:sp>
      <p:pic>
        <p:nvPicPr>
          <p:cNvPr id="19" name="Picture 18" descr="users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4860000"/>
            <a:ext cx="251999" cy="2519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6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118 salariés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65656"/>
                </a:solidFill>
                <a:latin typeface="Montserrat"/>
              </a:rPr>
              <a:t>Une base solide, aucune prise de parole.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3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3000" y="1584000"/>
            <a:ext cx="2601000" cy="1080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99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g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060" y="2014560"/>
            <a:ext cx="902880" cy="90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37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202E"/>
                </a:solidFill>
                <a:latin typeface="Montserrat"/>
              </a:rPr>
              <a:t>AGL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7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65656"/>
                </a:solidFill>
                <a:latin typeface="Montserrat"/>
              </a:rPr>
              <a:t>LEADER</a:t>
            </a:r>
          </a:p>
        </p:txBody>
      </p:sp>
      <p:pic>
        <p:nvPicPr>
          <p:cNvPr id="28" name="Picture 27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000" y="3996000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33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87 278 abonnés</a:t>
            </a:r>
          </a:p>
        </p:txBody>
      </p:sp>
      <p:pic>
        <p:nvPicPr>
          <p:cNvPr id="30" name="Picture 29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000" y="4428000"/>
            <a:ext cx="251999" cy="251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3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6 publ. / semaine</a:t>
            </a:r>
          </a:p>
        </p:txBody>
      </p:sp>
      <p:pic>
        <p:nvPicPr>
          <p:cNvPr id="32" name="Picture 31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000" y="4860000"/>
            <a:ext cx="251999" cy="251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33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96 réactions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9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65656"/>
                </a:solidFill>
                <a:latin typeface="Montserrat"/>
              </a:rPr>
              <a:t>Une vraie machine éditoriale.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0000" y="1584000"/>
            <a:ext cx="2601000" cy="108000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16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ta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060" y="2014560"/>
            <a:ext cx="902880" cy="90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54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202E"/>
                </a:solidFill>
                <a:latin typeface="Montserrat"/>
              </a:rPr>
              <a:t>LTA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4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65656"/>
                </a:solidFill>
                <a:latin typeface="Montserrat"/>
              </a:rPr>
              <a:t>TRANSITAIRE</a:t>
            </a:r>
          </a:p>
        </p:txBody>
      </p:sp>
      <p:pic>
        <p:nvPicPr>
          <p:cNvPr id="41" name="Picture 40" descr="brand-linkedin_noi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6000" y="3996000"/>
            <a:ext cx="251999" cy="2519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50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566 abonnés</a:t>
            </a:r>
          </a:p>
        </p:txBody>
      </p:sp>
      <p:pic>
        <p:nvPicPr>
          <p:cNvPr id="43" name="Picture 42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000" y="4428000"/>
            <a:ext cx="251999" cy="25199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50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2 publ. en juin</a:t>
            </a:r>
          </a:p>
        </p:txBody>
      </p:sp>
      <p:pic>
        <p:nvPicPr>
          <p:cNvPr id="45" name="Picture 44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000" y="4860000"/>
            <a:ext cx="251999" cy="2519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50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4 et 8 J’aime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6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65656"/>
                </a:solidFill>
                <a:latin typeface="Montserrat"/>
              </a:rPr>
              <a:t>Des moments d’équipe, rares.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27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27000" y="1584000"/>
            <a:ext cx="2601000" cy="108000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33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ot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6060" y="2014560"/>
            <a:ext cx="902880" cy="9028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71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202E"/>
                </a:solidFill>
                <a:latin typeface="Montserrat"/>
              </a:rPr>
              <a:t>OTL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71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65656"/>
                </a:solidFill>
                <a:latin typeface="Montserrat"/>
              </a:rPr>
              <a:t>TRANSITAIRE</a:t>
            </a:r>
          </a:p>
        </p:txBody>
      </p:sp>
      <p:pic>
        <p:nvPicPr>
          <p:cNvPr id="54" name="Picture 53" descr="brand-linkedin_noi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3000" y="3996000"/>
            <a:ext cx="251999" cy="251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67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313 abonnés</a:t>
            </a:r>
          </a:p>
        </p:txBody>
      </p:sp>
      <p:pic>
        <p:nvPicPr>
          <p:cNvPr id="56" name="Picture 55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3000" y="4428000"/>
            <a:ext cx="251999" cy="25199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67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1 publ. en juillet</a:t>
            </a:r>
          </a:p>
        </p:txBody>
      </p:sp>
      <p:pic>
        <p:nvPicPr>
          <p:cNvPr id="58" name="Picture 57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3000" y="4860000"/>
            <a:ext cx="251999" cy="25199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567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20 J’aime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43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65656"/>
                </a:solidFill>
                <a:latin typeface="Montserrat"/>
              </a:rPr>
              <a:t>Une offre d’emploi, rien d’autre.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LES COMPTES DE LA MARQUE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Des comptes ouverts, mais rien dedans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linkedin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202E"/>
                </a:solidFill>
                <a:latin typeface="Montserrat"/>
              </a:rPr>
              <a:t>3 517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abonnés 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5656"/>
                </a:solidFill>
                <a:latin typeface="Montserrat"/>
              </a:rPr>
              <a:t>118 salariés rattachés · aucune publication relevée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nd-faceboo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202E"/>
                </a:solidFill>
                <a:latin typeface="Montserrat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publication Facebook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5656"/>
                </a:solidFill>
                <a:latin typeface="Montserrat"/>
              </a:rPr>
              <a:t>Page « Proline Logistics » créée en 2015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-instagram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202E"/>
                </a:solidFill>
                <a:latin typeface="Montserrat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compte Instagram à vous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5656"/>
                </a:solidFill>
                <a:latin typeface="Montserrat"/>
              </a:rPr>
              <a:t>Sur Instagram, l’identifiant au nom de la marque est pris par une société australienne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Montserrat"/>
              </a:rPr>
              <a:t>À corriger tout de suite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202E"/>
                </a:solidFill>
                <a:latin typeface="Montserrat"/>
              </a:rPr>
              <a:t>Un acheteur qui cherche « Proline Logistics » sur Instagram tombe sur un transporteur australien. La présentation LinkedIn dit encore « en près de cinq ans » alors que votre site annonce Abidjan depuis 2013 : à mettre à jour, avec le lien vers le site et les certifications en cours.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FACE AUX CONCURRENTS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202E"/>
                </a:solidFill>
                <a:latin typeface="Montserrat"/>
              </a:rPr>
              <a:t>AGL publie tous les jours, les autres presque jamais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2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Publications par semaine (période relevée)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202E"/>
                </a:solidFill>
                <a:latin typeface="Montserrat"/>
              </a:rPr>
              <a:t>Proline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250000"/>
            <a:ext cx="90000" cy="46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4000" y="2016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E5B22"/>
                </a:solidFill>
                <a:latin typeface="Montserrat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52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202E"/>
                </a:solidFill>
                <a:latin typeface="Montserrat"/>
              </a:rPr>
              <a:t>AGL (Facebook)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3186000"/>
            <a:ext cx="2700001" cy="46800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3186000"/>
            <a:ext cx="2700001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4000" y="2952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202E"/>
                </a:solidFill>
                <a:latin typeface="Montserrat"/>
              </a:rPr>
              <a:t>LTA (LinkedIn)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4122000"/>
            <a:ext cx="2700001" cy="46800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4122000"/>
            <a:ext cx="135000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4000" y="3888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0,3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824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202E"/>
                </a:solidFill>
                <a:latin typeface="Montserrat"/>
              </a:rPr>
              <a:t>OTL (LinkedIn)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5058000"/>
            <a:ext cx="2700001" cy="46800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5058000"/>
            <a:ext cx="90000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4000" y="4824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0,2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48000" y="1584000"/>
          <a:ext cx="5580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945000"/>
                <a:gridCol w="945000"/>
                <a:gridCol w="945000"/>
                <a:gridCol w="945000"/>
              </a:tblGrid>
              <a:tr h="458999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Proline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AGL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LTA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OTL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Abonnés LinkedIn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3 517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non relevé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566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313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Abonnés Facebook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87 278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Abonnés Instagram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5 220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Publications récentes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25 en 1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2 (juin)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1 (juillet)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Réactions médianes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96 (FB)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20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Vidéos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7 sur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900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Offres d’emploi publiées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4 sur 25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6000" y="5868000"/>
            <a:ext cx="1105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5656"/>
                </a:solidFill>
                <a:latin typeface="Montserrat"/>
              </a:rPr>
              <a:t>AGL est un groupe portuaire : son volume n’est pas la cible. Ce qui compte, c’est ce qui fait réagir chez lui, à reprendre à votre échelle.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CE QUI MARCHE AILLEURS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Chez AGL : les engins, les équipes, l’emploi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AfricaGlobalLogisticsCI_1115840197475348.jpg"/>
          <p:cNvPicPr>
            <a:picLocks noChangeAspect="1"/>
          </p:cNvPicPr>
          <p:nvPr/>
        </p:nvPicPr>
        <p:blipFill>
          <a:blip r:embed="rId3"/>
          <a:srcRect t="18256" b="42597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56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g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0" y="4079519"/>
            <a:ext cx="300960" cy="300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4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5B22"/>
                </a:solidFill>
                <a:latin typeface="Montserrat"/>
              </a:rPr>
              <a:t>AGL · 08/10 · vidéo</a:t>
            </a:r>
          </a:p>
        </p:txBody>
      </p:sp>
      <p:pic>
        <p:nvPicPr>
          <p:cNvPr id="14" name="Picture 13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00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3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465</a:t>
            </a:r>
          </a:p>
        </p:txBody>
      </p:sp>
      <p:pic>
        <p:nvPicPr>
          <p:cNvPr id="16" name="Picture 15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500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31</a:t>
            </a:r>
          </a:p>
        </p:txBody>
      </p:sp>
      <p:pic>
        <p:nvPicPr>
          <p:cNvPr id="18" name="Picture 17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500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202E"/>
                </a:solidFill>
                <a:latin typeface="Montserrat"/>
              </a:rPr>
              <a:t>Les équipes sur le parc à conteneurs, en vidéo : la meilleure publication du mois.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b_AfricaGlobalLogisticsCI_1113290144397020.jpg"/>
          <p:cNvPicPr>
            <a:picLocks noChangeAspect="1"/>
          </p:cNvPicPr>
          <p:nvPr/>
        </p:nvPicPr>
        <p:blipFill>
          <a:blip r:embed="rId8"/>
          <a:srcRect l="2083" r="2083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500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g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520" y="4079519"/>
            <a:ext cx="300960" cy="300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68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5B22"/>
                </a:solidFill>
                <a:latin typeface="Montserrat"/>
              </a:rPr>
              <a:t>AGL · 05/10</a:t>
            </a:r>
          </a:p>
        </p:txBody>
      </p:sp>
      <p:pic>
        <p:nvPicPr>
          <p:cNvPr id="26" name="Picture 25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500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375</a:t>
            </a:r>
          </a:p>
        </p:txBody>
      </p:sp>
      <p:pic>
        <p:nvPicPr>
          <p:cNvPr id="28" name="Picture 27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500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29</a:t>
            </a:r>
          </a:p>
        </p:txBody>
      </p:sp>
      <p:pic>
        <p:nvPicPr>
          <p:cNvPr id="30" name="Picture 29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500000"/>
            <a:ext cx="216000" cy="216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202E"/>
                </a:solidFill>
                <a:latin typeface="Montserrat"/>
              </a:rPr>
              <a:t>Une offre d’emploi : on la partage à un proche, elle voyage.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b_AfricaGlobalLogisticsCI_1127969076262460.jpg"/>
          <p:cNvPicPr>
            <a:picLocks noChangeAspect="1"/>
          </p:cNvPicPr>
          <p:nvPr/>
        </p:nvPicPr>
        <p:blipFill>
          <a:blip r:embed="rId9"/>
          <a:srcRect l="2083" r="2083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8244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g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520" y="4079519"/>
            <a:ext cx="300960" cy="3009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2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5B22"/>
                </a:solidFill>
                <a:latin typeface="Montserrat"/>
              </a:rPr>
              <a:t>AGL · 21/10</a:t>
            </a:r>
          </a:p>
        </p:txBody>
      </p:sp>
      <p:pic>
        <p:nvPicPr>
          <p:cNvPr id="38" name="Picture 37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500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331</a:t>
            </a:r>
          </a:p>
        </p:txBody>
      </p:sp>
      <p:pic>
        <p:nvPicPr>
          <p:cNvPr id="40" name="Picture 39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500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24</a:t>
            </a:r>
          </a:p>
        </p:txBody>
      </p:sp>
      <p:pic>
        <p:nvPicPr>
          <p:cNvPr id="42" name="Picture 41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500000"/>
            <a:ext cx="216000" cy="216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19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202E"/>
                </a:solidFill>
                <a:latin typeface="Montserrat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0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202E"/>
                </a:solidFill>
                <a:latin typeface="Montserrat"/>
              </a:rPr>
              <a:t>« Chaque mouvement compte » : engins, zones, sécurité. Le métier, montré en vrai.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CE QUE PROLINE PEUT MONTRER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Tout est là pour bien communiquer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1202E"/>
                </a:solidFill>
                <a:latin typeface="Montserrat"/>
              </a:rPr>
              <a:t>Ce qui marche</a:t>
            </a:r>
          </a:p>
        </p:txBody>
      </p:sp>
      <p:pic>
        <p:nvPicPr>
          <p:cNvPr id="11" name="Picture 10" descr="circle-check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Des chiffres forts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65656"/>
                </a:solidFill>
                <a:latin typeface="Montserrat"/>
              </a:rPr>
              <a:t>43 000 m² rackés, 70 000 m² de terre-plein, chariots de 2,5 à 45 tonnes.</a:t>
            </a:r>
          </a:p>
        </p:txBody>
      </p:sp>
      <p:pic>
        <p:nvPicPr>
          <p:cNvPr id="13" name="Picture 12" descr="circle-check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Des clients connus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65656"/>
                </a:solidFill>
                <a:latin typeface="Montserrat"/>
              </a:rPr>
              <a:t>Maersk, CMA CGM, Nestlé, TotalEnergies, Cargill, Barry Callebaut : cités sur votre site.</a:t>
            </a:r>
          </a:p>
        </p:txBody>
      </p:sp>
      <p:pic>
        <p:nvPicPr>
          <p:cNvPr id="15" name="Picture 14" descr="circle-check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Des métiers rares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65656"/>
                </a:solidFill>
                <a:latin typeface="Montserrat"/>
              </a:rPr>
              <a:t>Hydrocarbures, hors-gabarit, sites portuaire et aéroportuaire.</a:t>
            </a:r>
          </a:p>
        </p:txBody>
      </p:sp>
      <p:pic>
        <p:nvPicPr>
          <p:cNvPr id="17" name="Picture 16" descr="circle-check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5310000"/>
            <a:ext cx="360000" cy="3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8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De vraies photos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65656"/>
                </a:solidFill>
                <a:latin typeface="Montserrat"/>
              </a:rPr>
              <a:t>Citerne, entrepôt, caristes : déjà sur votre site, prêtes à servir.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E5B22"/>
                </a:solidFill>
                <a:latin typeface="Montserrat"/>
              </a:rPr>
              <a:t>Ce qui manque</a:t>
            </a:r>
          </a:p>
        </p:txBody>
      </p:sp>
      <p:pic>
        <p:nvPicPr>
          <p:cNvPr id="21" name="Picture 20" descr="circle-x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Aucune prise de parole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65656"/>
                </a:solidFill>
                <a:latin typeface="Montserrat"/>
              </a:rPr>
              <a:t>0 publication relevée sur 6 mois, LinkedIn comme Facebook.</a:t>
            </a:r>
          </a:p>
        </p:txBody>
      </p:sp>
      <p:pic>
        <p:nvPicPr>
          <p:cNvPr id="23" name="Picture 22" descr="circle-x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Une présentation datée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65656"/>
                </a:solidFill>
                <a:latin typeface="Montserrat"/>
              </a:rPr>
              <a:t>« En près de cinq ans » sur LinkedIn ; « depuis 2013 » sur le site.</a:t>
            </a:r>
          </a:p>
        </p:txBody>
      </p:sp>
      <p:pic>
        <p:nvPicPr>
          <p:cNvPr id="25" name="Picture 24" descr="circle-x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Un nom pris sur Instagram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65656"/>
                </a:solidFill>
                <a:latin typeface="Montserrat"/>
              </a:rPr>
              <a:t>Par une société australienne.</a:t>
            </a:r>
          </a:p>
        </p:txBody>
      </p:sp>
      <p:pic>
        <p:nvPicPr>
          <p:cNvPr id="27" name="Picture 26" descr="circle-x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Personne pour répondre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65656"/>
                </a:solidFill>
                <a:latin typeface="Montserrat"/>
              </a:rPr>
              <a:t>Les 118 salariés rattachés n’ont rien à partager.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MEILLEURES PUBLICATIONS · AGL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202E"/>
                </a:solidFill>
                <a:latin typeface="Montserrat"/>
              </a:rPr>
              <a:t>Les meilleures chez AGL : des personnes au travail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AfricaGlobalLogisticsCI_1115840197475348.jpg"/>
          <p:cNvPicPr>
            <a:picLocks noChangeAspect="1"/>
          </p:cNvPicPr>
          <p:nvPr/>
        </p:nvPicPr>
        <p:blipFill>
          <a:blip r:embed="rId3"/>
          <a:srcRect t="11008" b="25684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TOP 1</a:t>
            </a:r>
          </a:p>
        </p:txBody>
      </p:sp>
      <p:pic>
        <p:nvPicPr>
          <p:cNvPr id="13" name="Picture 12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465</a:t>
            </a:r>
          </a:p>
        </p:txBody>
      </p:sp>
      <p:pic>
        <p:nvPicPr>
          <p:cNvPr id="15" name="Picture 14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31</a:t>
            </a:r>
          </a:p>
        </p:txBody>
      </p:sp>
      <p:pic>
        <p:nvPicPr>
          <p:cNvPr id="17" name="Picture 16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5656"/>
                </a:solidFill>
                <a:latin typeface="Montserrat"/>
              </a:rPr>
              <a:t>08/10 · Équipes, vidéo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AfricaGlobalLogisticsCI_1113290144397020.jpg"/>
          <p:cNvPicPr>
            <a:picLocks noChangeAspect="1"/>
          </p:cNvPicPr>
          <p:nvPr/>
        </p:nvPicPr>
        <p:blipFill>
          <a:blip r:embed="rId7"/>
          <a:srcRect l="20370" r="2037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TOP 2</a:t>
            </a:r>
          </a:p>
        </p:txBody>
      </p:sp>
      <p:pic>
        <p:nvPicPr>
          <p:cNvPr id="24" name="Picture 23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375</a:t>
            </a:r>
          </a:p>
        </p:txBody>
      </p:sp>
      <p:pic>
        <p:nvPicPr>
          <p:cNvPr id="26" name="Picture 25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29</a:t>
            </a:r>
          </a:p>
        </p:txBody>
      </p:sp>
      <p:pic>
        <p:nvPicPr>
          <p:cNvPr id="28" name="Picture 27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5656"/>
                </a:solidFill>
                <a:latin typeface="Montserrat"/>
              </a:rPr>
              <a:t>05/10 · Offre d’emploi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AfricaGlobalLogisticsCI_1127969076262460.jpg"/>
          <p:cNvPicPr>
            <a:picLocks noChangeAspect="1"/>
          </p:cNvPicPr>
          <p:nvPr/>
        </p:nvPicPr>
        <p:blipFill>
          <a:blip r:embed="rId8"/>
          <a:srcRect l="20370" r="2037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TOP 3</a:t>
            </a:r>
          </a:p>
        </p:txBody>
      </p:sp>
      <p:pic>
        <p:nvPicPr>
          <p:cNvPr id="35" name="Picture 34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331</a:t>
            </a:r>
          </a:p>
        </p:txBody>
      </p:sp>
      <p:pic>
        <p:nvPicPr>
          <p:cNvPr id="37" name="Picture 36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24</a:t>
            </a:r>
          </a:p>
        </p:txBody>
      </p:sp>
      <p:pic>
        <p:nvPicPr>
          <p:cNvPr id="39" name="Picture 38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5656"/>
                </a:solidFill>
                <a:latin typeface="Montserrat"/>
              </a:rPr>
              <a:t>21/10 · Parc à conteneurs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AfricaGlobalLogisticsCI_1110325751360126.jpg"/>
          <p:cNvPicPr>
            <a:picLocks noChangeAspect="1"/>
          </p:cNvPicPr>
          <p:nvPr/>
        </p:nvPicPr>
        <p:blipFill>
          <a:blip r:embed="rId9"/>
          <a:srcRect t="197" b="46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TOP 4</a:t>
            </a:r>
          </a:p>
        </p:txBody>
      </p:sp>
      <p:pic>
        <p:nvPicPr>
          <p:cNvPr id="46" name="Picture 45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313</a:t>
            </a:r>
          </a:p>
        </p:txBody>
      </p:sp>
      <p:pic>
        <p:nvPicPr>
          <p:cNvPr id="48" name="Picture 47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16</a:t>
            </a:r>
          </a:p>
        </p:txBody>
      </p:sp>
      <p:pic>
        <p:nvPicPr>
          <p:cNvPr id="50" name="Picture 49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5656"/>
                </a:solidFill>
                <a:latin typeface="Montserrat"/>
              </a:rPr>
              <a:t>02/10 · Une école rénovée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ulb_p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202E"/>
                </a:solidFill>
                <a:latin typeface="Montserrat"/>
              </a:rPr>
              <a:t>Les 4 offres d’emploi d’AGL font 270 réactions médianes, près de trois fois la moyenne de la page (96). L’emploi et les équipes font partager ; c’est la porte d’entrée la plus simple pour Proline.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MOINS BONNES PUBLICATIONS · AGL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202E"/>
                </a:solidFill>
                <a:latin typeface="Montserrat"/>
              </a:rPr>
              <a:t>Les moins bonnes chez AGL : l’agenda et le football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AfricaGlobalLogisticsCI_1133432002382834.jpg"/>
          <p:cNvPicPr>
            <a:picLocks noChangeAspect="1"/>
          </p:cNvPicPr>
          <p:nvPr/>
        </p:nvPicPr>
        <p:blipFill>
          <a:blip r:embed="rId3"/>
          <a:srcRect t="483" b="1127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À ÉVITER</a:t>
            </a:r>
          </a:p>
        </p:txBody>
      </p:sp>
      <p:pic>
        <p:nvPicPr>
          <p:cNvPr id="13" name="Picture 12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29</a:t>
            </a:r>
          </a:p>
        </p:txBody>
      </p:sp>
      <p:pic>
        <p:nvPicPr>
          <p:cNvPr id="15" name="Picture 14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1</a:t>
            </a:r>
          </a:p>
        </p:txBody>
      </p:sp>
      <p:pic>
        <p:nvPicPr>
          <p:cNvPr id="17" name="Picture 16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5656"/>
                </a:solidFill>
                <a:latin typeface="Montserrat"/>
              </a:rPr>
              <a:t>27/10 · Semaine du service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AfricaGlobalLogisticsCI_1109641558095212.jpg"/>
          <p:cNvPicPr>
            <a:picLocks noChangeAspect="1"/>
          </p:cNvPicPr>
          <p:nvPr/>
        </p:nvPicPr>
        <p:blipFill>
          <a:blip r:embed="rId7"/>
          <a:srcRect t="2578" b="6016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À ÉVITER</a:t>
            </a:r>
          </a:p>
        </p:txBody>
      </p:sp>
      <p:pic>
        <p:nvPicPr>
          <p:cNvPr id="24" name="Picture 23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30</a:t>
            </a:r>
          </a:p>
        </p:txBody>
      </p:sp>
      <p:pic>
        <p:nvPicPr>
          <p:cNvPr id="26" name="Picture 25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3</a:t>
            </a:r>
          </a:p>
        </p:txBody>
      </p:sp>
      <p:pic>
        <p:nvPicPr>
          <p:cNvPr id="28" name="Picture 27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5656"/>
                </a:solidFill>
                <a:latin typeface="Montserrat"/>
              </a:rPr>
              <a:t>01/10 · Match des Éléphants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AfricaGlobalLogisticsCI_1134623762263658.jpg"/>
          <p:cNvPicPr>
            <a:picLocks noChangeAspect="1"/>
          </p:cNvPicPr>
          <p:nvPr/>
        </p:nvPicPr>
        <p:blipFill>
          <a:blip r:embed="rId8"/>
          <a:srcRect t="483" b="1127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À ÉVITER</a:t>
            </a:r>
          </a:p>
        </p:txBody>
      </p:sp>
      <p:pic>
        <p:nvPicPr>
          <p:cNvPr id="35" name="Picture 34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34</a:t>
            </a:r>
          </a:p>
        </p:txBody>
      </p:sp>
      <p:pic>
        <p:nvPicPr>
          <p:cNvPr id="37" name="Picture 36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1</a:t>
            </a:r>
          </a:p>
        </p:txBody>
      </p:sp>
      <p:pic>
        <p:nvPicPr>
          <p:cNvPr id="39" name="Picture 38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5656"/>
                </a:solidFill>
                <a:latin typeface="Montserrat"/>
              </a:rPr>
              <a:t>28/10 · Salon CGECI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AfricaGlobalLogisticsCI_1126217623104272.jpg"/>
          <p:cNvPicPr>
            <a:picLocks noChangeAspect="1"/>
          </p:cNvPicPr>
          <p:nvPr/>
        </p:nvPicPr>
        <p:blipFill>
          <a:blip r:embed="rId9"/>
          <a:srcRect l="20395" r="20395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À ÉVITER</a:t>
            </a:r>
          </a:p>
        </p:txBody>
      </p:sp>
      <p:pic>
        <p:nvPicPr>
          <p:cNvPr id="46" name="Picture 45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60</a:t>
            </a:r>
          </a:p>
        </p:txBody>
      </p:sp>
      <p:pic>
        <p:nvPicPr>
          <p:cNvPr id="48" name="Picture 47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2</a:t>
            </a:r>
          </a:p>
        </p:txBody>
      </p:sp>
      <p:pic>
        <p:nvPicPr>
          <p:cNvPr id="50" name="Picture 49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5656"/>
                </a:solidFill>
                <a:latin typeface="Montserrat"/>
              </a:rPr>
              <a:t>19/10 · Partenariat santé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lert-triangle_p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202E"/>
                </a:solidFill>
                <a:latin typeface="Montserrat"/>
              </a:rPr>
              <a:t>Annonces d’agenda, affiches institutionnelles et sujets sans lien avec le métier : trois fois moins de réactions. À éviter pour démarrer.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PAR TYPE DE PUBLICATION · AGL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Ce qui fait réagir chez AGL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Réactions médianes par type (nombre de publications)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100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202E"/>
                </a:solidFill>
                <a:latin typeface="Montserrat"/>
              </a:rPr>
              <a:t>Offres d’emploi (4)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286000"/>
            <a:ext cx="3204001" cy="46800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286000"/>
            <a:ext cx="3204001" cy="46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8000" y="2016000"/>
            <a:ext cx="792000" cy="100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E5B22"/>
                </a:solidFill>
                <a:latin typeface="Montserrat"/>
              </a:rPr>
              <a:t>270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3024000"/>
            <a:ext cx="1583999" cy="100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202E"/>
                </a:solidFill>
                <a:latin typeface="Montserrat"/>
              </a:rPr>
              <a:t>Équipes et engins (13)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3294000"/>
            <a:ext cx="3204001" cy="46800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3294000"/>
            <a:ext cx="1127333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8000" y="3024000"/>
            <a:ext cx="792000" cy="100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4032000"/>
            <a:ext cx="1583999" cy="100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202E"/>
                </a:solidFill>
                <a:latin typeface="Montserrat"/>
              </a:rPr>
              <a:t>Toute la page (25)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4302000"/>
            <a:ext cx="3204001" cy="46800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4302000"/>
            <a:ext cx="1139200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8000" y="4032000"/>
            <a:ext cx="792000" cy="100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5040000"/>
            <a:ext cx="1583999" cy="100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202E"/>
                </a:solidFill>
                <a:latin typeface="Montserrat"/>
              </a:rPr>
              <a:t>Agenda et événements (4)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5310000"/>
            <a:ext cx="3204001" cy="46800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5310000"/>
            <a:ext cx="379733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8000" y="5040000"/>
            <a:ext cx="792000" cy="100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202E"/>
                </a:solidFill>
                <a:latin typeface="Montserrat"/>
              </a:rPr>
              <a:t>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6000" y="1655999"/>
            <a:ext cx="4932000" cy="4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E5B22"/>
                </a:solidFill>
                <a:latin typeface="Montserrat"/>
              </a:rPr>
              <a:t>Ce que ça dit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202E"/>
                </a:solidFill>
                <a:latin typeface="Montserrat"/>
              </a:rPr>
              <a:t>Une offre d’emploi fait près de trois fois plus de réactions que la moyenne : on la partage à quelqu’un.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202E"/>
                </a:solidFill>
                <a:latin typeface="Montserrat"/>
              </a:rPr>
              <a:t>Les équipes et les engins font la base régulière de la page.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202E"/>
                </a:solidFill>
                <a:latin typeface="Montserrat"/>
              </a:rPr>
              <a:t>L’agenda (salons, semaines thématiques) fait le moins.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65656"/>
                </a:solidFill>
                <a:latin typeface="Montserrat"/>
              </a:rPr>
              <a:t>Classement fait à la lecture des textes : à prendre comme une tendance.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6 publications prêtes, avec 5 règles simples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uler-measur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202E"/>
                </a:solidFill>
                <a:latin typeface="Montserrat"/>
              </a:rPr>
              <a:t>Un chiffre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Montserrat"/>
              </a:rPr>
              <a:t>Mètres carrés, tonnes, camions : en titre.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hoto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202E"/>
                </a:solidFill>
                <a:latin typeface="Montserrat"/>
              </a:rPr>
              <a:t>Vos lieux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Montserrat"/>
              </a:rPr>
              <a:t>Vos entrepôts et vos camions, pas une banque d’images.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sers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202E"/>
                </a:solidFill>
                <a:latin typeface="Montserrat"/>
              </a:rPr>
              <a:t>Une personne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Montserrat"/>
              </a:rPr>
              <a:t>Un cariste, un chauffeur, une équipe.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ssage-circ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202E"/>
                </a:solidFill>
                <a:latin typeface="Montserrat"/>
              </a:rPr>
              <a:t>Une question d’acheteur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Montserrat"/>
              </a:rPr>
              <a:t>Celle qu’un directeur logistique se pose.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hone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202E"/>
                </a:solidFill>
                <a:latin typeface="Montserrat"/>
              </a:rPr>
              <a:t>Un contact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Montserrat"/>
              </a:rPr>
              <a:t>L’e-mail et le numéro, en bas de l’image.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E5B22"/>
                </a:solidFill>
                <a:latin typeface="Montserrat"/>
              </a:rPr>
              <a:t>Ce que nous n’avons pas inventé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Montserrat"/>
              </a:rPr>
              <a:t>Chiffres, métiers et coordonnées viennent de votre site. Deux photos sont des illustrations, en attendant des photos de vos équipes. Délais, tarifs et noms de clients ne s’affichent qu’avec votre accord.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AVANT / APRÈS · LE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Vos entrepôts et vos équipes, en grand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pic>
        <p:nvPicPr>
          <p:cNvPr id="9" name="Picture 8" descr="w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475999"/>
            <a:ext cx="1944000" cy="2430000"/>
          </a:xfrm>
          <a:prstGeom prst="rect">
            <a:avLst/>
          </a:prstGeom>
        </p:spPr>
      </p:pic>
      <p:pic>
        <p:nvPicPr>
          <p:cNvPr id="10" name="Picture 9" descr="w_p_caris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0" y="1475999"/>
            <a:ext cx="1944000" cy="2430000"/>
          </a:xfrm>
          <a:prstGeom prst="rect">
            <a:avLst/>
          </a:prstGeom>
        </p:spPr>
      </p:pic>
      <p:pic>
        <p:nvPicPr>
          <p:cNvPr id="11" name="Picture 10" descr="w_p_citer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0" y="1475999"/>
            <a:ext cx="1944000" cy="2430000"/>
          </a:xfrm>
          <a:prstGeom prst="rect">
            <a:avLst/>
          </a:prstGeom>
        </p:spPr>
      </p:pic>
      <p:pic>
        <p:nvPicPr>
          <p:cNvPr id="12" name="Picture 11" descr="w_p_fif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3977999"/>
            <a:ext cx="1944000" cy="2430000"/>
          </a:xfrm>
          <a:prstGeom prst="rect">
            <a:avLst/>
          </a:prstGeom>
        </p:spPr>
      </p:pic>
      <p:pic>
        <p:nvPicPr>
          <p:cNvPr id="13" name="Picture 12" descr="w_p_stoc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000" y="3977999"/>
            <a:ext cx="1944000" cy="2430000"/>
          </a:xfrm>
          <a:prstGeom prst="rect">
            <a:avLst/>
          </a:prstGeom>
        </p:spPr>
      </p:pic>
      <p:pic>
        <p:nvPicPr>
          <p:cNvPr id="14" name="Picture 13" descr="w_p_por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000" y="3977999"/>
            <a:ext cx="1944000" cy="243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000" y="1512000"/>
            <a:ext cx="3348000" cy="50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E5B22"/>
                </a:solidFill>
                <a:latin typeface="Montserrat"/>
              </a:rPr>
              <a:t>Ce qui change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202E"/>
                </a:solidFill>
                <a:latin typeface="Montserrat"/>
              </a:rPr>
              <a:t>Un chiffre ou un métier en titre, sur une photo de vos sites.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202E"/>
                </a:solidFill>
                <a:latin typeface="Montserrat"/>
              </a:rPr>
              <a:t>Le bleu nuit et l’orange de votre logo, partout.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202E"/>
                </a:solidFill>
                <a:latin typeface="Montserrat"/>
              </a:rPr>
              <a:t>L’e-mail et le numéro en bas : on vous écrit sans chercher.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65656"/>
                </a:solidFill>
                <a:latin typeface="Montserrat"/>
              </a:rPr>
              <a:t>4 photos viennent de votre site ; 2 sont des illustrations, en attendant des photos de vos équipes.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AVANT / APRÈS · 1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Entreposage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65656"/>
                </a:solidFill>
                <a:latin typeface="Montserrat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APRÈS · PROPOSÉ</a:t>
            </a:r>
          </a:p>
        </p:txBody>
      </p:sp>
      <p:pic>
        <p:nvPicPr>
          <p:cNvPr id="16" name="Picture 15" descr="w_p_ra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Montserrat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Le chiffre qui vous distingue, en titre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Votre vrai entrepôt en photo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Une question qui qualifie le prospect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65656"/>
                </a:solidFill>
                <a:latin typeface="Montserrat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202E"/>
                </a:solidFill>
                <a:latin typeface="Montserrat"/>
              </a:rPr>
              <a:t>43 000 m² d’entrepôts rackés et 70 000 m² de terre-plein à Abidjan. 
Stockage palettisé, parc à conteneurs, suivi par logiciel.
 Combien de palettes stockez-vous par mois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AVANT / APRÈS · 2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Caristes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65656"/>
                </a:solidFill>
                <a:latin typeface="Montserrat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APRÈS · PROPOSÉ</a:t>
            </a:r>
          </a:p>
        </p:txBody>
      </p:sp>
      <p:pic>
        <p:nvPicPr>
          <p:cNvPr id="16" name="Picture 15" descr="w_p_caris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Montserrat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Les gens d’abord : ce qui marche chez AGL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Une preuve de sérieux, sans jargon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Une question qui fait réfléchir l’acheteur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65656"/>
                </a:solidFill>
                <a:latin typeface="Montserrat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202E"/>
                </a:solidFill>
                <a:latin typeface="Montserrat"/>
              </a:rPr>
              <a:t>Un cariste formé, c’est moins de casse et plus de palettes à l’heure. 
Nos équipes sont formées : CACES, sécurité, procédures de chaque client.
 Vos prestataires forment-ils leurs caristes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AVANT / APRÈS · 3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Hydrocarbures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65656"/>
                </a:solidFill>
                <a:latin typeface="Montserrat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APRÈS · PROPOSÉ</a:t>
            </a:r>
          </a:p>
        </p:txBody>
      </p:sp>
      <p:pic>
        <p:nvPicPr>
          <p:cNvPr id="16" name="Picture 15" descr="w_p_citer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Montserrat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 métier rare, mis en avant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Une vraie citerne, pas une image de banque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La question qui touche le client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65656"/>
                </a:solidFill>
                <a:latin typeface="Montserrat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202E"/>
                </a:solidFill>
                <a:latin typeface="Montserrat"/>
              </a:rPr>
              <a:t>Transport d’hydrocarbures : chaque citerne Proline est suivie au GPS, du départ à la livraison. 
 Savez-vous où est votre camion, là, maintenant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AVANT / APRÈS · 4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Gestion de stock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65656"/>
                </a:solidFill>
                <a:latin typeface="Montserrat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APRÈS · PROPOSÉ</a:t>
            </a:r>
          </a:p>
        </p:txBody>
      </p:sp>
      <p:pic>
        <p:nvPicPr>
          <p:cNvPr id="16" name="Picture 15" descr="w_p_fif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Montserrat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 mot de métier expliqué simplement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L’entrepôt en vrai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Une question qui ouvre la discussion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65656"/>
                </a:solidFill>
                <a:latin typeface="Montserrat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202E"/>
                </a:solidFill>
                <a:latin typeface="Montserrat"/>
              </a:rPr>
              <a:t>Premier entré, premier sorti. Ou premier périmé, premier sorti. 
Contrôle qualité, préparation de commandes, inventaire : le bon carton part au bon moment.
 FIFO ou FEFO chez vous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AVANT / APRÈS · 5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Inventaire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65656"/>
                </a:solidFill>
                <a:latin typeface="Montserrat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APRÈS · PROPOSÉ</a:t>
            </a:r>
          </a:p>
        </p:txBody>
      </p:sp>
      <p:pic>
        <p:nvPicPr>
          <p:cNvPr id="16" name="Picture 15" descr="w_p_sto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Montserrat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La promesse de transparence en une phrase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Une personne au travail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Une question chiffrée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65656"/>
                </a:solidFill>
                <a:latin typeface="Montserrat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202E"/>
                </a:solidFill>
                <a:latin typeface="Montserrat"/>
              </a:rPr>
              <a:t>Inventaire physique et informatique : votre stock compté au carton près. 
Vous voyez ce que nous voyons.
 Votre dernier inventaire a pris combien de jours 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AVANT / APRÈS · 6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Conteneurs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65656"/>
                </a:solidFill>
                <a:latin typeface="Montserrat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APRÈS · PROPOSÉ</a:t>
            </a:r>
          </a:p>
        </p:txBody>
      </p:sp>
      <p:pic>
        <p:nvPicPr>
          <p:cNvPr id="16" name="Picture 15" descr="w_p_por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Montserrat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Le parcours complet, en une image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Le camion, le conteneur, la route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202E"/>
                </a:solidFill>
                <a:latin typeface="Montserrat"/>
              </a:rPr>
              <a:t>Une question à 2 réponses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65656"/>
                </a:solidFill>
                <a:latin typeface="Montserrat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202E"/>
                </a:solidFill>
                <a:latin typeface="Montserrat"/>
              </a:rPr>
              <a:t>Du port à votre entrepôt : transport de conteneurs, sites portuaire et aéroportuaire. 
 Port ou aéroport : d’où arrivent vos marchandises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5 décisions pour exister en ligne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20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pic>
        <p:nvPicPr>
          <p:cNvPr id="9" name="Picture 8" descr="pl_gestion_stock_cariste_jpg.jpg"/>
          <p:cNvPicPr>
            <a:picLocks noChangeAspect="1"/>
          </p:cNvPicPr>
          <p:nvPr/>
        </p:nvPicPr>
        <p:blipFill>
          <a:blip r:embed="rId3"/>
          <a:srcRect l="37098" r="37098"/>
          <a:stretch>
            <a:fillRect/>
          </a:stretch>
        </p:blipFill>
        <p:spPr>
          <a:xfrm>
            <a:off x="8928000" y="1584000"/>
            <a:ext cx="2700000" cy="46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584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Montserrat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96000" y="1728000"/>
            <a:ext cx="558000" cy="558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lendar-even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60" y="1850760"/>
            <a:ext cx="312480" cy="312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5999" y="1584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Démarrer à 2 par semaine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584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65656"/>
                </a:solidFill>
                <a:latin typeface="Montserrat"/>
              </a:rPr>
              <a:t>LinkedIn d’abord, mardi et jeudi à 8 h : c’est là que sont vos 3 517 abonnés et vos acheteurs.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" y="2538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Montserrat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296000" y="2682000"/>
            <a:ext cx="558000" cy="558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iefcas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0" y="2804760"/>
            <a:ext cx="312480" cy="312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999" y="2538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Publier vos offres d’emploi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6000" y="2538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65656"/>
                </a:solidFill>
                <a:latin typeface="Montserrat"/>
              </a:rPr>
              <a:t>La publication qui voyage le plus chez AGL : chaque recrutement devient une vitrine.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3492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Montserrat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296000" y="3636000"/>
            <a:ext cx="558000" cy="558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orklift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0" y="3758760"/>
            <a:ext cx="312480" cy="312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5999" y="3492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Montrer vos équipes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492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65656"/>
                </a:solidFill>
                <a:latin typeface="Montserrat"/>
              </a:rPr>
              <a:t>Un cariste, un chauffeur, un chef de quai : une personne par mois, avec son accord.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4446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Montserrat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296000" y="4590000"/>
            <a:ext cx="558000" cy="558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encil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760" y="4712760"/>
            <a:ext cx="312480" cy="312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5999" y="4446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Mettre la page à jour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000" y="4446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65656"/>
                </a:solidFill>
                <a:latin typeface="Montserrat"/>
              </a:rPr>
              <a:t>Présentation, ancienneté, certifications en cours, lien vers le site, photo de couverture.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000" y="5400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Montserrat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296000" y="5544000"/>
            <a:ext cx="558000" cy="558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60" y="5666760"/>
            <a:ext cx="312480" cy="312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5999" y="5400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202E"/>
                </a:solidFill>
                <a:latin typeface="Montserrat"/>
              </a:rPr>
              <a:t>Réserver votre nom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6000" y="5400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65656"/>
                </a:solidFill>
                <a:latin typeface="Montserrat"/>
              </a:rPr>
              <a:t>Un compte Instagram « proline.ci » ou proche, même vide, pour qu’on ne tombe plus sur l’Australie.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NOUVELLE LIGNE DE FLYERS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202E"/>
                </a:solidFill>
                <a:latin typeface="Montserrat"/>
              </a:rPr>
              <a:t>Une nouvelle ligne : trois styles, vos sites au centre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21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pic>
        <p:nvPicPr>
          <p:cNvPr id="9" name="Picture 8" descr="n_p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512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6012000"/>
            <a:ext cx="3528000" cy="30600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Style éditorial</a:t>
            </a:r>
          </a:p>
        </p:txBody>
      </p:sp>
      <p:pic>
        <p:nvPicPr>
          <p:cNvPr id="12" name="Picture 11" descr="n_p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512000"/>
            <a:ext cx="3528000" cy="4410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20000" y="6012000"/>
            <a:ext cx="3528000" cy="30600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Style aplat couleur</a:t>
            </a:r>
          </a:p>
        </p:txBody>
      </p:sp>
      <p:pic>
        <p:nvPicPr>
          <p:cNvPr id="15" name="Picture 14" descr="n_p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512000"/>
            <a:ext cx="3528000" cy="4410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64000" y="6012000"/>
            <a:ext cx="3528000" cy="30600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4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Style fiche sombre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NOUVELLE LIGNE DE FLYERS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Trois styles qui alternent pour un fil varié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22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pic>
        <p:nvPicPr>
          <p:cNvPr id="9" name="Picture 8" descr="n_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512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6012000"/>
            <a:ext cx="3528000" cy="30600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Style éditorial</a:t>
            </a:r>
          </a:p>
        </p:txBody>
      </p:sp>
      <p:pic>
        <p:nvPicPr>
          <p:cNvPr id="12" name="Picture 11" descr="n_p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512000"/>
            <a:ext cx="3528000" cy="4410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20000" y="6012000"/>
            <a:ext cx="3528000" cy="30600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Style aplat couleur</a:t>
            </a:r>
          </a:p>
        </p:txBody>
      </p:sp>
      <p:pic>
        <p:nvPicPr>
          <p:cNvPr id="15" name="Picture 14" descr="n_p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512000"/>
            <a:ext cx="3528000" cy="4410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64000" y="6012000"/>
            <a:ext cx="3528000" cy="30600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4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Style fiche sombre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PLAN 30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Le premier mois, semaine par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23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Semaine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Mettre à jour la page LinkedIn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Valider les 6 publications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Réserver le nom Instagram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Semaine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Publier 2 des 6 publications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Demander aux salariés de suivre la page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Répondre à chaque commentaire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riefcas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Semaine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Publier une offre d’emploi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Publier 2 autres publications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Photographier 2 équipes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Semaine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Compter réactions et abonnés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Compter les demandes reçues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Montserrat"/>
              </a:rPr>
              <a:t>■ </a:t>
            </a:r>
            <a:r>
              <a:rPr sz="1200">
                <a:solidFill>
                  <a:srgbClr val="11202E"/>
                </a:solidFill>
                <a:latin typeface="Montserrat"/>
              </a:rPr>
              <a:t>Préparer décembre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rget-arrow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Objectif proposé à 30 jours : 8 publications, 20 réactions médianes sur LinkedIn, et chaque demande de devis venue des réseaux notée.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Les chiffres à suivre chaque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584000"/>
          <a:ext cx="1105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544000"/>
                <a:gridCol w="2544000"/>
                <a:gridCol w="2544000"/>
              </a:tblGrid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Où le lire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Départ (28/10)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Objectif 30 jours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Publications LinkedIn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0 relevée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Réactions médianes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Abonnés LinkedIn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3 517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3 700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Offres d’emploi publiées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Salariés qui partagent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20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5245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Demandes de devis venues des réseaux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Votre boîte 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02E"/>
                          </a:solidFill>
                          <a:latin typeface="Montserrat"/>
                        </a:rPr>
                        <a:t>non suivi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202E"/>
                          </a:solidFill>
                          <a:latin typeface="Montserrat"/>
                        </a:rPr>
                        <a:t>comptées chaque semaine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5544000"/>
            <a:ext cx="11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Montserrat"/>
              </a:rPr>
              <a:t>Les visites de la page et la portée ne se lisent qu’avec l’accès administrateur : ce tableau commence par ce qui se voit de l’extérieur.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Montserrat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202E"/>
                </a:solidFill>
                <a:latin typeface="Montserrat"/>
              </a:rPr>
              <a:t>Ce qu’il nous faut 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5656"/>
                </a:solidFill>
                <a:latin typeface="Montserrat"/>
              </a:rPr>
              <a:t>Proline Logistics · Audit réseaux sociaux · relevé du 28/10/2026</a:t>
            </a:r>
          </a:p>
        </p:txBody>
      </p:sp>
      <p:pic>
        <p:nvPicPr>
          <p:cNvPr id="9" name="Picture 8" descr="pl_entrepot_rack_jpg.jpg"/>
          <p:cNvPicPr>
            <a:picLocks noChangeAspect="1"/>
          </p:cNvPicPr>
          <p:nvPr/>
        </p:nvPicPr>
        <p:blipFill>
          <a:blip r:embed="rId3"/>
          <a:srcRect l="31901" r="31901"/>
          <a:stretch>
            <a:fillRect/>
          </a:stretch>
        </p:blipFill>
        <p:spPr>
          <a:xfrm>
            <a:off x="8928000" y="1584000"/>
            <a:ext cx="2700000" cy="464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99" y="1994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202E"/>
                </a:solidFill>
                <a:latin typeface="Montserrat"/>
              </a:rPr>
              <a:t>L’accès à la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65656"/>
                </a:solidFill>
                <a:latin typeface="Montserrat"/>
              </a:rPr>
              <a:t>Pour publier, et lire les visites et la portée. Et savoir si une page Facebook active existe.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7999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99" y="1994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202E"/>
                </a:solidFill>
                <a:latin typeface="Montserrat"/>
              </a:rPr>
              <a:t>Des photos récentes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65656"/>
                </a:solidFill>
                <a:latin typeface="Montserrat"/>
              </a:rPr>
              <a:t>Une demi-journée de prises de vue sur vos parcs nourrit trois mois de publications.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7999" y="1835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9" y="1994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202E"/>
                </a:solidFill>
                <a:latin typeface="Montserrat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65656"/>
                </a:solidFill>
                <a:latin typeface="Montserrat"/>
              </a:rPr>
              <a:t>Sur les 6 publications, et sur les noms de clients que vous acceptez d’afficher.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8136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Montserrat"/>
              </a:rPr>
              <a:t>Rien n’a été publié. Les visuels reprennent les photos de votre site et vos coordonnées.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