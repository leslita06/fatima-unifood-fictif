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Montserrat-regular.fntdata"/><Relationship Id="rId17" Type="http://schemas.openxmlformats.org/officeDocument/2006/relationships/font" Target="fonts/Montserrat-bold.fntdata"/><Relationship Id="rId18" Type="http://schemas.openxmlformats.org/officeDocument/2006/relationships/font" Target="fonts/Montserrat-italic.fntdata"/><Relationship Id="rId19" Type="http://schemas.openxmlformats.org/officeDocument/2006/relationships/font" Target="fonts/Montserra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20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_rack.jp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6309360" y="0"/>
            <a:ext cx="109728" cy="685800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48640" y="502920"/>
            <a:ext cx="265176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pic>
        <p:nvPicPr>
          <p:cNvPr descr="logo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621792"/>
            <a:ext cx="2041451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ÉTUDE CONCURRENTIELLE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48640" y="2423160"/>
            <a:ext cx="5486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Comment se présentent les logisticiens d’Abidjan, et où Proline peut faire la différence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48640" y="443484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3DC"/>
                </a:solidFill>
                <a:latin typeface="Montserrat"/>
                <a:ea typeface="Montserrat"/>
                <a:cs typeface="Montserrat"/>
                <a:sym typeface="Montserrat"/>
              </a:rPr>
              <a:t>Sept acteurs comparés sur ce qu’ils disent d’eux-mêmes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9D3DC"/>
                </a:solidFill>
                <a:latin typeface="Montserrat"/>
                <a:ea typeface="Montserrat"/>
                <a:cs typeface="Montserrat"/>
                <a:sym typeface="Montserrat"/>
              </a:rPr>
              <a:t>Sites officiels consultés le 27 octobre 2026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Préparé pour Ruth Kouadio, direction commerciale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120640" y="6035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1 /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pic>
        <p:nvPicPr>
          <p:cNvPr descr="logo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74320"/>
            <a:ext cx="12759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SYNTHÈSE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Quatre choses à retenir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Proline Logistics · Concurrents à Abidjan et positionnement · octobre 2026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2 / 10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48640" y="1600200"/>
            <a:ext cx="5440680" cy="21031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48640" y="1600200"/>
            <a:ext cx="91440" cy="210312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463040" y="1874519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Tout le monde dit la même chose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463040" y="251460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« Sécurisé », « sur mesure », « de bout en bout », « partenaire de confiance » : ces mots reviennent sur presque tous les sites. Ils ne distinguent plus personne.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6172200" y="1600200"/>
            <a:ext cx="5440680" cy="21031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172200" y="1600200"/>
            <a:ext cx="91440" cy="210312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49224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086600" y="1874519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AGL écrase sur la taille et le froid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086600" y="251460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Plus de 315 000 m² en Côte d’Ivoire et une plateforme à trois températures près de l’aéroport. Inutile de l’attaquer sur ce terrain.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48640" y="3931920"/>
            <a:ext cx="5440680" cy="21031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48640" y="3931920"/>
            <a:ext cx="91440" cy="210312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6868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463040" y="420624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Les autres se spécialisent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463040" y="484632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Ayiman sur l’énergie, LTA et LOGITRANS sur la douane, OTL sur l’export depuis deux ports, Miengnoli sur la facturation à l’usage.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6172200" y="3931920"/>
            <a:ext cx="5440680" cy="210312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172200" y="3931920"/>
            <a:ext cx="91440" cy="210312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6492240" y="4160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086600" y="420624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Personne ne vend la visite ni la preuve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086600" y="484632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Sur les pages consultées, seul Proline propose une visite et annonce une réponse sous 24 heures. C’est l’angle à prendre.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pic>
        <p:nvPicPr>
          <p:cNvPr descr="logo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74320"/>
            <a:ext cx="12759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PÉRIMÈTRE ET MÉTHODE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Ce que couvre cette étude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Proline Logistics · Concurrents à Abidjan et positionnement · octobre 2026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3 / 10</a:t>
            </a:r>
            <a:endParaRPr/>
          </a:p>
        </p:txBody>
      </p:sp>
      <p:pic>
        <p:nvPicPr>
          <p:cNvPr descr="b_cit.jpg" id="133" name="Google Shape;13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8079" y="1463040"/>
            <a:ext cx="4142232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548640" y="1554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ACTEURS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2286000" y="1609344"/>
            <a:ext cx="54864" cy="82296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2560320" y="155448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AGL, Ayiman Logistics, Lagune Transit Abidjan (LTA), OTL, CAP Logistics, LOGITRANS, Miengnoli Group, comparés à Proline.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48640" y="2697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POURQUOI EUX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2286000" y="2752344"/>
            <a:ext cx="54864" cy="82296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2560320" y="269748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Ils proposent tous de l’entreposage à Abidjan et apparaissent quand un importateur cherche un entrepôt en ligne.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548640" y="3840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SOURCES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2286000" y="3895344"/>
            <a:ext cx="54864" cy="82296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2560320" y="384048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Leurs sites officiels, et pour AGL l’évaluation logistique de la Côte d’Ivoire publiée par l’organisme Logistics Cluster.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48640" y="4983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LIMITES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2286000" y="5038344"/>
            <a:ext cx="54864" cy="82296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2560320" y="4983480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Nous comparons ce qu’ils affichent, pas leurs prix ni leur qualité réelle. Leurs réseaux sociaux ne sont pas couverts ici.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pic>
        <p:nvPicPr>
          <p:cNvPr descr="logo.png" id="151" name="Google Shape;1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74320"/>
            <a:ext cx="12759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LES MESSAGES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Qui dit quoi : la promesse de chacun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Proline Logistics · Concurrents à Abidjan et positionnement · octobre 2026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4 / 10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48640" y="1554480"/>
            <a:ext cx="2194560" cy="41148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685800" y="16459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Acteur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2743200" y="1554480"/>
            <a:ext cx="5486400" cy="41148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2880360" y="164592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Promesse affichée sur son site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8229600" y="1554480"/>
            <a:ext cx="3383280" cy="41148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366760" y="16459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Preuve mise en avant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548640" y="1965960"/>
            <a:ext cx="21945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685800" y="203911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AGL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2743200" y="1965960"/>
            <a:ext cx="548640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2880360" y="203911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« Logistique contractuelle connectée et performante »</a:t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8229600" y="1965960"/>
            <a:ext cx="33832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8366760" y="203911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Taille, froid, logiciel maison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48640" y="2514600"/>
            <a:ext cx="219456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685800" y="258775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Ayiman Logistics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2743200" y="2514600"/>
            <a:ext cx="548640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2880360" y="258775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« Logistique pour l’industrie énergétique »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8229600" y="2514600"/>
            <a:ext cx="338328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8366760" y="258775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25 000 m² couverts, label TAPA</a:t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548640" y="3063239"/>
            <a:ext cx="21945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685800" y="3136391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LTA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2743200" y="3063239"/>
            <a:ext cx="548640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2880360" y="3136391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« Un entrepôt, un vrai levier de performance »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8229600" y="3063239"/>
            <a:ext cx="33832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8366760" y="3136391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60 000 m² sous douane ou non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548640" y="3611879"/>
            <a:ext cx="219456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685800" y="3685031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OTL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2743200" y="3611879"/>
            <a:ext cx="548640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2880360" y="3685031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« Accélérez vos exportations »</a:t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8229600" y="3611879"/>
            <a:ext cx="338328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8366760" y="3685031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4 entrepôts, Abidjan et San Pedro</a:t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548640" y="4160520"/>
            <a:ext cx="21945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685800" y="423367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CAP Logistics</a:t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2743200" y="4160520"/>
            <a:ext cx="548640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2880360" y="423367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« Le client au cœur de nos préoccupations »</a:t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8229600" y="4160520"/>
            <a:ext cx="33832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8366760" y="423367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Depuis 2003, camions de 5 ans</a:t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548640" y="4709160"/>
            <a:ext cx="219456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685800" y="478231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LOGITRANS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2743200" y="4709160"/>
            <a:ext cx="548640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2880360" y="478231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Commissaire en douane agréé</a:t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8229600" y="4709160"/>
            <a:ext cx="338328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8366760" y="478231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5 000 m², stockage sous douane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548640" y="5257800"/>
            <a:ext cx="219456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685800" y="533095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Miengnoli Group</a:t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2743200" y="5257800"/>
            <a:ext cx="548640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2880360" y="533095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« Une capacité facturée à l’usage »</a:t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8229600" y="5257800"/>
            <a:ext cx="33832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8366760" y="533095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Charges fixes rendues variables</a:t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548640" y="5806440"/>
            <a:ext cx="219456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685800" y="5879592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Proline</a:t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2743200" y="5806440"/>
            <a:ext cx="548640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2880360" y="587959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« Votre chaîne d’approvisionnement, maîtrisée de bout en bout »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8229600" y="5806440"/>
            <a:ext cx="3383280" cy="54864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8366760" y="587959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Quatre parcs, moyens en propre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pic>
        <p:nvPicPr>
          <p:cNvPr descr="logo.png"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74320"/>
            <a:ext cx="12759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ZOOM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Les grands : impossible de lutter sur la taille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Proline Logistics · Concurrents à Abidjan et positionnement · octobre 2026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5 / 10</a:t>
            </a:r>
            <a:endParaRPr/>
          </a:p>
        </p:txBody>
      </p:sp>
      <p:sp>
        <p:nvSpPr>
          <p:cNvPr id="220" name="Google Shape;220;p17"/>
          <p:cNvSpPr/>
          <p:nvPr/>
        </p:nvSpPr>
        <p:spPr>
          <a:xfrm>
            <a:off x="548640" y="1554480"/>
            <a:ext cx="5440680" cy="448056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548640" y="1554480"/>
            <a:ext cx="5440680" cy="9144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AGL · Africa Global Logistics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868680" y="2423160"/>
            <a:ext cx="48463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315 000 m² d’entreposage en Côte d’Ivoire, selon l’organisme Logistics Cluster.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L’Aérohub près de l’aéroport : plateforme à trois températures, chambre froide portée à 1 800 m² en 2023.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Logiciel d’entrepôt développé en interne, engagements de service écrits dans des contrats pluriannuels.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1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Ce qu’il vend : la sécurité d’un groupe international.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6172200" y="1554480"/>
            <a:ext cx="5440680" cy="448056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6172200" y="1554480"/>
            <a:ext cx="5440680" cy="9144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Ayiman Logistics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6492240" y="2423160"/>
            <a:ext cx="48463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Partenaire d’AGL, spécialiste de l’énergie et des industries extractives.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25 000 m² d’entrepôts couverts et 68 000 m² de cour, bases à Abidjan, San Pedro, Bouaké et Ferkessédougou.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Certification TAPA pour la sûreté du fret, mise en avant.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1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Ce qu’il vend : la maîtrise d’un secteur précis.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pic>
        <p:nvPicPr>
          <p:cNvPr descr="logo.png" id="233" name="Google Shape;2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74320"/>
            <a:ext cx="12759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ZOOM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Les acteurs locaux : chacun sa niche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Proline Logistics · Concurrents à Abidjan et positionnement · octobre 2026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6 / 10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548640" y="1508760"/>
            <a:ext cx="91440" cy="82296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822960" y="1618488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LTA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3017520" y="160020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Transit et douane d’abord. 60 000 m² d’entrepôts, sous douane ou non, avec dépotage, empotage et palettisation.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548640" y="2450591"/>
            <a:ext cx="110642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48640" y="2450591"/>
            <a:ext cx="91440" cy="82296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822960" y="256032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OTL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3017520" y="2542032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Tourné vers l’export : deux entrepôts à Abidjan, deux à San Pedro, assurance et vidéosurveillance mises en avant.</a:t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548640" y="3392424"/>
            <a:ext cx="11064240" cy="82296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548640" y="3392424"/>
            <a:ext cx="91440" cy="82296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822960" y="3502152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CAP Logistics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3017520" y="3483864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Transport routier d’abord, depuis 2003. Camions de 5 ans en moyenne, stockage sec et frigorifique près de l’aéroport.</a:t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548640" y="4334256"/>
            <a:ext cx="11064240" cy="822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48640" y="4334256"/>
            <a:ext cx="91440" cy="82296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822960" y="4443984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LOGITRANS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3017520" y="4425696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Commissaire en douane avec un entrepôt de 5 000 m² et un logiciel de gestion de stock. Petite capacité.</a:t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548640" y="5276088"/>
            <a:ext cx="11064240" cy="822960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548640" y="5276088"/>
            <a:ext cx="91440" cy="82296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822960" y="5385816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Miengnoli Group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3017520" y="5367527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Le seul à parler d’argent : « transformer un investissement lourd en charge variable », processus en cinq étapes.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pic>
        <p:nvPicPr>
          <p:cNvPr descr="logo.png" id="263" name="Google Shape;2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74320"/>
            <a:ext cx="12759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COMPARAISON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Ce que chacun affiche, critère par critère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Proline Logistics · Concurrents à Abidjan et positionnement · octobre 2026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7 / 10</a:t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548640" y="1508760"/>
            <a:ext cx="1920240" cy="68580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2468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2523744" y="1563624"/>
            <a:ext cx="103327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Transport intégré</a:t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3611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3666744" y="1563624"/>
            <a:ext cx="103327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Plus de 40 000 m²</a:t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4754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4809744" y="1563624"/>
            <a:ext cx="103327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Près du port</a:t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5897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5952744" y="1563624"/>
            <a:ext cx="103327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Près de l’aéroport</a:t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7040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7095744" y="1563624"/>
            <a:ext cx="103327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Froid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8183879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80" name="Google Shape;280;p19"/>
          <p:cNvSpPr txBox="1"/>
          <p:nvPr/>
        </p:nvSpPr>
        <p:spPr>
          <a:xfrm>
            <a:off x="8238744" y="1563624"/>
            <a:ext cx="103327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Sous douane</a:t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9326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9381744" y="1563624"/>
            <a:ext cx="103327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Clients cités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10469880" y="1508760"/>
            <a:ext cx="1143000" cy="68580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10524744" y="1563624"/>
            <a:ext cx="1033271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Visite proposée</a:t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548640" y="2194560"/>
            <a:ext cx="192024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685800" y="2240279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Proline</a:t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2468880" y="219456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88" name="Google Shape;288;p19"/>
          <p:cNvSpPr txBox="1"/>
          <p:nvPr/>
        </p:nvSpPr>
        <p:spPr>
          <a:xfrm>
            <a:off x="2468880" y="2240279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3611880" y="219456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3611880" y="2240279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4754880" y="219456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4754880" y="2240279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5897880" y="219456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5897880" y="2240279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7040880" y="219456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7040880" y="2240279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8183879" y="219456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8183879" y="2240279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9326880" y="219456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9326880" y="2240279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10469880" y="219456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10469880" y="2240279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548640" y="2706624"/>
            <a:ext cx="192024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04" name="Google Shape;304;p19"/>
          <p:cNvSpPr txBox="1"/>
          <p:nvPr/>
        </p:nvSpPr>
        <p:spPr>
          <a:xfrm>
            <a:off x="685800" y="275234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AGL</a:t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2468880" y="2706624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2468880" y="27523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3611880" y="2706624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3611880" y="27523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4754880" y="2706624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4754880" y="27523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5897880" y="2706624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5897880" y="27523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7040880" y="2706624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7040880" y="27523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15" name="Google Shape;315;p19"/>
          <p:cNvSpPr/>
          <p:nvPr/>
        </p:nvSpPr>
        <p:spPr>
          <a:xfrm>
            <a:off x="8183879" y="2706624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8183879" y="27523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9326880" y="2706624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9326880" y="27523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10469880" y="2706624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10469880" y="275234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548640" y="3218688"/>
            <a:ext cx="192024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685800" y="3264408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Ayiman</a:t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2468880" y="3218688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2468880" y="3264408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3611880" y="3218688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3611880" y="3264408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4754880" y="3218688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4754880" y="3264408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5897880" y="3218688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30" name="Google Shape;330;p19"/>
          <p:cNvSpPr txBox="1"/>
          <p:nvPr/>
        </p:nvSpPr>
        <p:spPr>
          <a:xfrm>
            <a:off x="5897880" y="3264408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7040880" y="3218688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7040880" y="3264408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8183879" y="3218688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34" name="Google Shape;334;p19"/>
          <p:cNvSpPr txBox="1"/>
          <p:nvPr/>
        </p:nvSpPr>
        <p:spPr>
          <a:xfrm>
            <a:off x="8183879" y="3264408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9326880" y="3218688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36" name="Google Shape;336;p19"/>
          <p:cNvSpPr txBox="1"/>
          <p:nvPr/>
        </p:nvSpPr>
        <p:spPr>
          <a:xfrm>
            <a:off x="9326880" y="3264408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0469880" y="3218688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10469880" y="3264408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548640" y="3730752"/>
            <a:ext cx="192024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685800" y="3776472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LTA</a:t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2468880" y="3730752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2468880" y="3776472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43" name="Google Shape;343;p19"/>
          <p:cNvSpPr/>
          <p:nvPr/>
        </p:nvSpPr>
        <p:spPr>
          <a:xfrm>
            <a:off x="3611880" y="3730752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3611880" y="3776472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45" name="Google Shape;345;p19"/>
          <p:cNvSpPr/>
          <p:nvPr/>
        </p:nvSpPr>
        <p:spPr>
          <a:xfrm>
            <a:off x="4754880" y="3730752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4754880" y="3776472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47" name="Google Shape;347;p19"/>
          <p:cNvSpPr/>
          <p:nvPr/>
        </p:nvSpPr>
        <p:spPr>
          <a:xfrm>
            <a:off x="5897880" y="3730752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5897880" y="3776472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49" name="Google Shape;349;p19"/>
          <p:cNvSpPr/>
          <p:nvPr/>
        </p:nvSpPr>
        <p:spPr>
          <a:xfrm>
            <a:off x="7040880" y="3730752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040880" y="3776472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51" name="Google Shape;351;p19"/>
          <p:cNvSpPr/>
          <p:nvPr/>
        </p:nvSpPr>
        <p:spPr>
          <a:xfrm>
            <a:off x="8183879" y="3730752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52" name="Google Shape;352;p19"/>
          <p:cNvSpPr txBox="1"/>
          <p:nvPr/>
        </p:nvSpPr>
        <p:spPr>
          <a:xfrm>
            <a:off x="8183879" y="3776472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9326880" y="3730752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54" name="Google Shape;354;p19"/>
          <p:cNvSpPr txBox="1"/>
          <p:nvPr/>
        </p:nvSpPr>
        <p:spPr>
          <a:xfrm>
            <a:off x="9326880" y="3776472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55" name="Google Shape;355;p19"/>
          <p:cNvSpPr/>
          <p:nvPr/>
        </p:nvSpPr>
        <p:spPr>
          <a:xfrm>
            <a:off x="10469880" y="3730752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10469880" y="3776472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57" name="Google Shape;357;p19"/>
          <p:cNvSpPr/>
          <p:nvPr/>
        </p:nvSpPr>
        <p:spPr>
          <a:xfrm>
            <a:off x="548640" y="4242816"/>
            <a:ext cx="192024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58" name="Google Shape;358;p19"/>
          <p:cNvSpPr txBox="1"/>
          <p:nvPr/>
        </p:nvSpPr>
        <p:spPr>
          <a:xfrm>
            <a:off x="685800" y="428853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OTL</a:t>
            </a:r>
            <a:endParaRPr/>
          </a:p>
        </p:txBody>
      </p:sp>
      <p:sp>
        <p:nvSpPr>
          <p:cNvPr id="359" name="Google Shape;359;p19"/>
          <p:cNvSpPr/>
          <p:nvPr/>
        </p:nvSpPr>
        <p:spPr>
          <a:xfrm>
            <a:off x="2468880" y="4242816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2468880" y="4288536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61" name="Google Shape;361;p19"/>
          <p:cNvSpPr/>
          <p:nvPr/>
        </p:nvSpPr>
        <p:spPr>
          <a:xfrm>
            <a:off x="3611880" y="4242816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3611880" y="4288536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63" name="Google Shape;363;p19"/>
          <p:cNvSpPr/>
          <p:nvPr/>
        </p:nvSpPr>
        <p:spPr>
          <a:xfrm>
            <a:off x="4754880" y="4242816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64" name="Google Shape;364;p19"/>
          <p:cNvSpPr txBox="1"/>
          <p:nvPr/>
        </p:nvSpPr>
        <p:spPr>
          <a:xfrm>
            <a:off x="4754880" y="4288536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5897880" y="4242816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66" name="Google Shape;366;p19"/>
          <p:cNvSpPr txBox="1"/>
          <p:nvPr/>
        </p:nvSpPr>
        <p:spPr>
          <a:xfrm>
            <a:off x="5897880" y="4288536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7040880" y="4242816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68" name="Google Shape;368;p19"/>
          <p:cNvSpPr txBox="1"/>
          <p:nvPr/>
        </p:nvSpPr>
        <p:spPr>
          <a:xfrm>
            <a:off x="7040880" y="4288536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8183879" y="4242816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8183879" y="4288536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>
            <a:off x="9326880" y="4242816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72" name="Google Shape;372;p19"/>
          <p:cNvSpPr txBox="1"/>
          <p:nvPr/>
        </p:nvSpPr>
        <p:spPr>
          <a:xfrm>
            <a:off x="9326880" y="4288536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10469880" y="4242816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74" name="Google Shape;374;p19"/>
          <p:cNvSpPr txBox="1"/>
          <p:nvPr/>
        </p:nvSpPr>
        <p:spPr>
          <a:xfrm>
            <a:off x="10469880" y="4288536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548640" y="4754880"/>
            <a:ext cx="192024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685800" y="4800600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CAP</a:t>
            </a:r>
            <a:endParaRPr/>
          </a:p>
        </p:txBody>
      </p:sp>
      <p:sp>
        <p:nvSpPr>
          <p:cNvPr id="377" name="Google Shape;377;p19"/>
          <p:cNvSpPr/>
          <p:nvPr/>
        </p:nvSpPr>
        <p:spPr>
          <a:xfrm>
            <a:off x="2468880" y="475488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78" name="Google Shape;378;p19"/>
          <p:cNvSpPr txBox="1"/>
          <p:nvPr/>
        </p:nvSpPr>
        <p:spPr>
          <a:xfrm>
            <a:off x="2468880" y="4800600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3611880" y="475488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3611880" y="4800600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4754880" y="475488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82" name="Google Shape;382;p19"/>
          <p:cNvSpPr txBox="1"/>
          <p:nvPr/>
        </p:nvSpPr>
        <p:spPr>
          <a:xfrm>
            <a:off x="4754880" y="4800600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83" name="Google Shape;383;p19"/>
          <p:cNvSpPr/>
          <p:nvPr/>
        </p:nvSpPr>
        <p:spPr>
          <a:xfrm>
            <a:off x="5897880" y="475488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5897880" y="4800600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7040880" y="475488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86" name="Google Shape;386;p19"/>
          <p:cNvSpPr txBox="1"/>
          <p:nvPr/>
        </p:nvSpPr>
        <p:spPr>
          <a:xfrm>
            <a:off x="7040880" y="4800600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8183879" y="475488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88" name="Google Shape;388;p19"/>
          <p:cNvSpPr txBox="1"/>
          <p:nvPr/>
        </p:nvSpPr>
        <p:spPr>
          <a:xfrm>
            <a:off x="8183879" y="4800600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9326880" y="475488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90" name="Google Shape;390;p19"/>
          <p:cNvSpPr txBox="1"/>
          <p:nvPr/>
        </p:nvSpPr>
        <p:spPr>
          <a:xfrm>
            <a:off x="9326880" y="4800600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91" name="Google Shape;391;p19"/>
          <p:cNvSpPr/>
          <p:nvPr/>
        </p:nvSpPr>
        <p:spPr>
          <a:xfrm>
            <a:off x="10469880" y="4754880"/>
            <a:ext cx="1143000" cy="512064"/>
          </a:xfrm>
          <a:prstGeom prst="rect">
            <a:avLst/>
          </a:prstGeom>
          <a:solidFill>
            <a:srgbClr val="F6F8FA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10469880" y="4800600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548640" y="5266944"/>
            <a:ext cx="192024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94" name="Google Shape;394;p19"/>
          <p:cNvSpPr txBox="1"/>
          <p:nvPr/>
        </p:nvSpPr>
        <p:spPr>
          <a:xfrm>
            <a:off x="685800" y="531266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LOGITRANS</a:t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>
            <a:off x="2468880" y="5266944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96" name="Google Shape;396;p19"/>
          <p:cNvSpPr txBox="1"/>
          <p:nvPr/>
        </p:nvSpPr>
        <p:spPr>
          <a:xfrm>
            <a:off x="2468880" y="531266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97" name="Google Shape;397;p19"/>
          <p:cNvSpPr/>
          <p:nvPr/>
        </p:nvSpPr>
        <p:spPr>
          <a:xfrm>
            <a:off x="3611880" y="5266944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398" name="Google Shape;398;p19"/>
          <p:cNvSpPr txBox="1"/>
          <p:nvPr/>
        </p:nvSpPr>
        <p:spPr>
          <a:xfrm>
            <a:off x="3611880" y="531266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399" name="Google Shape;399;p19"/>
          <p:cNvSpPr/>
          <p:nvPr/>
        </p:nvSpPr>
        <p:spPr>
          <a:xfrm>
            <a:off x="4754880" y="5266944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00" name="Google Shape;400;p19"/>
          <p:cNvSpPr txBox="1"/>
          <p:nvPr/>
        </p:nvSpPr>
        <p:spPr>
          <a:xfrm>
            <a:off x="4754880" y="531266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401" name="Google Shape;401;p19"/>
          <p:cNvSpPr/>
          <p:nvPr/>
        </p:nvSpPr>
        <p:spPr>
          <a:xfrm>
            <a:off x="5897880" y="5266944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02" name="Google Shape;402;p19"/>
          <p:cNvSpPr txBox="1"/>
          <p:nvPr/>
        </p:nvSpPr>
        <p:spPr>
          <a:xfrm>
            <a:off x="5897880" y="531266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403" name="Google Shape;403;p19"/>
          <p:cNvSpPr/>
          <p:nvPr/>
        </p:nvSpPr>
        <p:spPr>
          <a:xfrm>
            <a:off x="7040880" y="5266944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7040880" y="531266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405" name="Google Shape;405;p19"/>
          <p:cNvSpPr/>
          <p:nvPr/>
        </p:nvSpPr>
        <p:spPr>
          <a:xfrm>
            <a:off x="8183879" y="5266944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06" name="Google Shape;406;p19"/>
          <p:cNvSpPr txBox="1"/>
          <p:nvPr/>
        </p:nvSpPr>
        <p:spPr>
          <a:xfrm>
            <a:off x="8183879" y="531266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●</a:t>
            </a:r>
            <a:endParaRPr/>
          </a:p>
        </p:txBody>
      </p:sp>
      <p:sp>
        <p:nvSpPr>
          <p:cNvPr id="407" name="Google Shape;407;p19"/>
          <p:cNvSpPr/>
          <p:nvPr/>
        </p:nvSpPr>
        <p:spPr>
          <a:xfrm>
            <a:off x="9326880" y="5266944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08" name="Google Shape;408;p19"/>
          <p:cNvSpPr txBox="1"/>
          <p:nvPr/>
        </p:nvSpPr>
        <p:spPr>
          <a:xfrm>
            <a:off x="9326880" y="531266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409" name="Google Shape;409;p19"/>
          <p:cNvSpPr/>
          <p:nvPr/>
        </p:nvSpPr>
        <p:spPr>
          <a:xfrm>
            <a:off x="10469880" y="5266944"/>
            <a:ext cx="114300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10" name="Google Shape;410;p19"/>
          <p:cNvSpPr txBox="1"/>
          <p:nvPr/>
        </p:nvSpPr>
        <p:spPr>
          <a:xfrm>
            <a:off x="10469880" y="5312664"/>
            <a:ext cx="1143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8E0E6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endParaRPr/>
          </a:p>
        </p:txBody>
      </p:sp>
      <p:sp>
        <p:nvSpPr>
          <p:cNvPr id="411" name="Google Shape;411;p19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● = affiché sur son site au 27 octobre 2026. – = non affiché, ce qui ne veut pas dire que l’entreprise ne le fait pas.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pic>
        <p:nvPicPr>
          <p:cNvPr descr="logo.png" id="417" name="Google Shape;4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74320"/>
            <a:ext cx="12759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LE DISCOURS DU MARCHÉ</a:t>
            </a:r>
            <a:endParaRPr/>
          </a:p>
        </p:txBody>
      </p:sp>
      <p:sp>
        <p:nvSpPr>
          <p:cNvPr id="419" name="Google Shape;419;p20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Les mots que tout le monde emploie, et ce qui manque</a:t>
            </a:r>
            <a:endParaRPr/>
          </a:p>
        </p:txBody>
      </p:sp>
      <p:sp>
        <p:nvSpPr>
          <p:cNvPr id="420" name="Google Shape;420;p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Proline Logistics · Concurrents à Abidjan et positionnement · octobre 2026</a:t>
            </a:r>
            <a:endParaRPr/>
          </a:p>
        </p:txBody>
      </p:sp>
      <p:sp>
        <p:nvSpPr>
          <p:cNvPr id="421" name="Google Shape;421;p2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8 / 10</a:t>
            </a:r>
            <a:endParaRPr/>
          </a:p>
        </p:txBody>
      </p:sp>
      <p:sp>
        <p:nvSpPr>
          <p:cNvPr id="422" name="Google Shape;422;p20"/>
          <p:cNvSpPr/>
          <p:nvPr/>
        </p:nvSpPr>
        <p:spPr>
          <a:xfrm>
            <a:off x="548640" y="1554480"/>
            <a:ext cx="5440680" cy="443484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CE QUI EST PARTOUT</a:t>
            </a:r>
            <a:endParaRPr/>
          </a:p>
        </p:txBody>
      </p:sp>
      <p:sp>
        <p:nvSpPr>
          <p:cNvPr id="424" name="Google Shape;424;p20"/>
          <p:cNvSpPr txBox="1"/>
          <p:nvPr/>
        </p:nvSpPr>
        <p:spPr>
          <a:xfrm>
            <a:off x="868680" y="2286000"/>
            <a:ext cx="48463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« Sécurisé »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« Sur mesure »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« De bout en bout »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« Partenaire de confiance »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« Infrastructures modernes »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« Expertise locale et internationale »</a:t>
            </a:r>
            <a:endParaRPr/>
          </a:p>
        </p:txBody>
      </p:sp>
      <p:sp>
        <p:nvSpPr>
          <p:cNvPr id="425" name="Google Shape;425;p20"/>
          <p:cNvSpPr/>
          <p:nvPr/>
        </p:nvSpPr>
        <p:spPr>
          <a:xfrm>
            <a:off x="6172200" y="1554480"/>
            <a:ext cx="5440680" cy="443484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26" name="Google Shape;426;p20"/>
          <p:cNvSpPr/>
          <p:nvPr/>
        </p:nvSpPr>
        <p:spPr>
          <a:xfrm>
            <a:off x="6172200" y="1554480"/>
            <a:ext cx="91440" cy="443484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27" name="Google Shape;427;p20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CE QUE PRESQUE PERSONNE NE DIT</a:t>
            </a:r>
            <a:endParaRPr/>
          </a:p>
        </p:txBody>
      </p:sp>
      <p:sp>
        <p:nvSpPr>
          <p:cNvPr id="428" name="Google Shape;428;p20"/>
          <p:cNvSpPr txBox="1"/>
          <p:nvPr/>
        </p:nvSpPr>
        <p:spPr>
          <a:xfrm>
            <a:off x="6492240" y="2286000"/>
            <a:ext cx="48463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-US" sz="145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Combien de temps pour répondre à une demande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-US" sz="145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Ce que le client reçoit chaque jour sur son stock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-US" sz="145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Qu’on peut venir voir avant de signer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-US" sz="145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Ce que coûte un mois de stockage, même en fourchette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-US" sz="145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Ce qu’un client a gagné, chiffres à l’appui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pic>
        <p:nvPicPr>
          <p:cNvPr descr="logo.png" id="434" name="Google Shape;4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74320"/>
            <a:ext cx="12759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RECOMMANDATIONS</a:t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Où Proline peut se distinguer</a:t>
            </a:r>
            <a:endParaRPr/>
          </a:p>
        </p:txBody>
      </p:sp>
      <p:sp>
        <p:nvSpPr>
          <p:cNvPr id="437" name="Google Shape;437;p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Proline Logistics · Concurrents à Abidjan et positionnement · octobre 2026</a:t>
            </a:r>
            <a:endParaRPr/>
          </a:p>
        </p:txBody>
      </p:sp>
      <p:sp>
        <p:nvSpPr>
          <p:cNvPr id="438" name="Google Shape;438;p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9 / 10</a:t>
            </a:r>
            <a:endParaRPr/>
          </a:p>
        </p:txBody>
      </p:sp>
      <p:pic>
        <p:nvPicPr>
          <p:cNvPr descr="b_cart.jpg" id="439" name="Google Shape;4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9520" y="1463040"/>
            <a:ext cx="402336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1"/>
          <p:cNvSpPr/>
          <p:nvPr/>
        </p:nvSpPr>
        <p:spPr>
          <a:xfrm>
            <a:off x="548640" y="1508760"/>
            <a:ext cx="6766560" cy="13716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548640" y="1508760"/>
            <a:ext cx="91440" cy="137160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868680" y="1673351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1. Le quai et l’entrepôt, avec nos propres moyens</a:t>
            </a:r>
            <a:endParaRPr/>
          </a:p>
        </p:txBody>
      </p:sp>
      <p:sp>
        <p:nvSpPr>
          <p:cNvPr id="443" name="Google Shape;443;p21"/>
          <p:cNvSpPr txBox="1"/>
          <p:nvPr/>
        </p:nvSpPr>
        <p:spPr>
          <a:xfrm>
            <a:off x="868680" y="2075688"/>
            <a:ext cx="6217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Vridi près du port, Yopougon en zone industrielle, l’AeroHub près de l’aéroport, et nos camions entre les trois. Peu d’acteurs réunissent les trois emplacements.</a:t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548640" y="3017520"/>
            <a:ext cx="6766560" cy="13716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548640" y="3017520"/>
            <a:ext cx="91440" cy="137160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46" name="Google Shape;446;p21"/>
          <p:cNvSpPr txBox="1"/>
          <p:nvPr/>
        </p:nvSpPr>
        <p:spPr>
          <a:xfrm>
            <a:off x="868680" y="3182112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2. La preuve plutôt que l’adjectif</a:t>
            </a:r>
            <a:endParaRPr/>
          </a:p>
        </p:txBody>
      </p:sp>
      <p:sp>
        <p:nvSpPr>
          <p:cNvPr id="447" name="Google Shape;447;p21"/>
          <p:cNvSpPr txBox="1"/>
          <p:nvPr/>
        </p:nvSpPr>
        <p:spPr>
          <a:xfrm>
            <a:off x="868680" y="3584448"/>
            <a:ext cx="6217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Rapport de stock quotidien, inventaire rapproché, réponse sous 24 heures : montrer un rapport type, sans données client, et dire ce qu’on s’engage à tenir.</a:t>
            </a:r>
            <a:endParaRPr/>
          </a:p>
        </p:txBody>
      </p:sp>
      <p:sp>
        <p:nvSpPr>
          <p:cNvPr id="448" name="Google Shape;448;p21"/>
          <p:cNvSpPr/>
          <p:nvPr/>
        </p:nvSpPr>
        <p:spPr>
          <a:xfrm>
            <a:off x="548640" y="4526279"/>
            <a:ext cx="6766560" cy="13716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548640" y="4526279"/>
            <a:ext cx="91440" cy="1371600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868680" y="4690871"/>
            <a:ext cx="6217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3. La visite comme point d’entrée</a:t>
            </a:r>
            <a:endParaRPr/>
          </a:p>
        </p:txBody>
      </p:sp>
      <p:sp>
        <p:nvSpPr>
          <p:cNvPr id="451" name="Google Shape;451;p21"/>
          <p:cNvSpPr txBox="1"/>
          <p:nvPr/>
        </p:nvSpPr>
        <p:spPr>
          <a:xfrm>
            <a:off x="868680" y="5093207"/>
            <a:ext cx="6217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Être le logisticien qu’on vient voir. Une visite d’une heure, préparée selon les volumes du visiteur, proposée partout.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E5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pic>
        <p:nvPicPr>
          <p:cNvPr descr="logo.png" id="457" name="Google Shape;4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0" y="274320"/>
            <a:ext cx="12759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2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PROCHAINES ÉTAPES</a:t>
            </a:r>
            <a:endParaRPr/>
          </a:p>
        </p:txBody>
      </p:sp>
      <p:sp>
        <p:nvSpPr>
          <p:cNvPr id="459" name="Google Shape;459;p22"/>
          <p:cNvSpPr txBox="1"/>
          <p:nvPr/>
        </p:nvSpPr>
        <p:spPr>
          <a:xfrm>
            <a:off x="548640" y="621792"/>
            <a:ext cx="9509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Ce qu’il faut éviter, et la suite</a:t>
            </a:r>
            <a:endParaRPr/>
          </a:p>
        </p:txBody>
      </p:sp>
      <p:sp>
        <p:nvSpPr>
          <p:cNvPr id="460" name="Google Shape;460;p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Proline Logistics · Concurrents à Abidjan et positionnement · octobre 2026</a:t>
            </a:r>
            <a:endParaRPr/>
          </a:p>
        </p:txBody>
      </p:sp>
      <p:sp>
        <p:nvSpPr>
          <p:cNvPr id="461" name="Google Shape;461;p2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10 / 10</a:t>
            </a:r>
            <a:endParaRPr/>
          </a:p>
        </p:txBody>
      </p:sp>
      <p:sp>
        <p:nvSpPr>
          <p:cNvPr id="462" name="Google Shape;462;p22"/>
          <p:cNvSpPr/>
          <p:nvPr/>
        </p:nvSpPr>
        <p:spPr>
          <a:xfrm>
            <a:off x="548640" y="1554480"/>
            <a:ext cx="5440680" cy="443484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63" name="Google Shape;463;p22"/>
          <p:cNvSpPr txBox="1"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202E"/>
                </a:solidFill>
                <a:latin typeface="Montserrat"/>
                <a:ea typeface="Montserrat"/>
                <a:cs typeface="Montserrat"/>
                <a:sym typeface="Montserrat"/>
              </a:rPr>
              <a:t>À ÉVITER</a:t>
            </a:r>
            <a:endParaRPr/>
          </a:p>
        </p:txBody>
      </p:sp>
      <p:sp>
        <p:nvSpPr>
          <p:cNvPr id="464" name="Google Shape;464;p22"/>
          <p:cNvSpPr txBox="1"/>
          <p:nvPr/>
        </p:nvSpPr>
        <p:spPr>
          <a:xfrm>
            <a:off x="868680" y="2240280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Se comparer à AGL sur la taille : nous perdons.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Parler de froid ou de douane tant que le site ne l’affiche pas.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Mettre en avant les certifications ISO avant de les avoir obtenues : dire « démarche engagée ».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■ </a:t>
            </a:r>
            <a:r>
              <a:rPr b="0" i="0" lang="en-US" sz="1300" u="none" cap="none" strike="noStrike">
                <a:solidFill>
                  <a:srgbClr val="3A5A72"/>
                </a:solidFill>
                <a:latin typeface="Montserrat"/>
                <a:ea typeface="Montserrat"/>
                <a:cs typeface="Montserrat"/>
                <a:sym typeface="Montserrat"/>
              </a:rPr>
              <a:t>Laisser les compteurs du site s’afficher à zéro : c’est la première chose qu’un acheteur voit.</a:t>
            </a:r>
            <a:endParaRPr/>
          </a:p>
        </p:txBody>
      </p:sp>
      <p:sp>
        <p:nvSpPr>
          <p:cNvPr id="465" name="Google Shape;465;p22"/>
          <p:cNvSpPr/>
          <p:nvPr/>
        </p:nvSpPr>
        <p:spPr>
          <a:xfrm>
            <a:off x="6172200" y="1554480"/>
            <a:ext cx="5440680" cy="4434840"/>
          </a:xfrm>
          <a:prstGeom prst="rect">
            <a:avLst/>
          </a:prstGeom>
          <a:solidFill>
            <a:srgbClr val="112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Calibri"/>
            </a:endParaRPr>
          </a:p>
        </p:txBody>
      </p:sp>
      <p:sp>
        <p:nvSpPr>
          <p:cNvPr id="466" name="Google Shape;466;p22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LA SUITE PROPOSÉE</a:t>
            </a:r>
            <a:endParaRPr/>
          </a:p>
        </p:txBody>
      </p:sp>
      <p:sp>
        <p:nvSpPr>
          <p:cNvPr id="467" name="Google Shape;467;p22"/>
          <p:cNvSpPr txBox="1"/>
          <p:nvPr/>
        </p:nvSpPr>
        <p:spPr>
          <a:xfrm>
            <a:off x="6492240" y="2240280"/>
            <a:ext cx="484632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Mettre en ligne la nouvelle page Entreposage, centrée sur la visite.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Créer un rapport de stock type, sans données client, à montrer en rendez-vous.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Ajouter au plan 2027 un message unique : « Du quai à l’entrepôt, avec nos propres moyens ».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E5B22"/>
                </a:solidFill>
                <a:latin typeface="Montserrat"/>
                <a:ea typeface="Montserrat"/>
                <a:cs typeface="Montserrat"/>
                <a:sym typeface="Montserrat"/>
              </a:rPr>
              <a:t>→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Refaire cette étude en avril, avant le salon AFRILOG.</a:t>
            </a:r>
            <a:endParaRPr/>
          </a:p>
        </p:txBody>
      </p:sp>
      <p:sp>
        <p:nvSpPr>
          <p:cNvPr id="468" name="Google Shape;468;p22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Sources : </a:t>
            </a:r>
            <a:r>
              <a:rPr b="0" i="0" lang="en-US" sz="900" u="none" cap="none" strike="noStrike">
                <a:solidFill>
                  <a:srgbClr val="565656"/>
                </a:solidFill>
                <a:latin typeface="Montserrat"/>
                <a:ea typeface="Montserrat"/>
                <a:cs typeface="Montserrat"/>
                <a:sym typeface="Montserrat"/>
              </a:rPr>
              <a:t>aglgroup.com · lca.logcluster.org · ayimanlogistics.ci · lta.ci · transit-otl.com · caplogistics.ci · scagroupe.ci · miengnoligroup.com · www.prolinelogistic.com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