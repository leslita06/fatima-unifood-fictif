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Publications par semaine (période relevée)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Publications par semaine (période relevée)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EE5B22"/>
              </a:solidFill>
            </c:spPr>
          </c:dPt>
          <c:cat>
            <c:strRef>
              <c:f>Sheet1!$A$2:$A$5</c:f>
              <c:strCache>
                <c:ptCount val="4"/>
                <c:pt idx="0">
                  <c:v>OTL (LinkedIn)</c:v>
                </c:pt>
                <c:pt idx="1">
                  <c:v>LTA (LinkedIn)</c:v>
                </c:pt>
                <c:pt idx="2">
                  <c:v>AGL (Facebook)</c:v>
                </c:pt>
                <c:pt idx="3">
                  <c:v>Proline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</c:v>
                </c:pt>
                <c:pt idx="1">
                  <c:v>0.3</c:v>
                </c:pt>
                <c:pt idx="2">
                  <c:v>6.0</c:v>
                </c:pt>
                <c:pt idx="3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Réactions médianes par type (nombre de publications)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Réactions médianes par type (nombre de publications)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EE5B22"/>
              </a:solidFill>
            </c:spPr>
          </c:dPt>
          <c:cat>
            <c:strRef>
              <c:f>Sheet1!$A$2:$A$5</c:f>
              <c:strCache>
                <c:ptCount val="4"/>
                <c:pt idx="0">
                  <c:v>Agenda et événements (4)</c:v>
                </c:pt>
                <c:pt idx="1">
                  <c:v>Toute la page (25)</c:v>
                </c:pt>
                <c:pt idx="2">
                  <c:v>Équipes et engins (13)</c:v>
                </c:pt>
                <c:pt idx="3">
                  <c:v>Offres d’emploi (4)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96</c:v>
                </c:pt>
                <c:pt idx="2">
                  <c:v>95</c:v>
                </c:pt>
                <c:pt idx="3">
                  <c:v>270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7.jp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3.jp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4.jpg"/><Relationship Id="rId12" Type="http://schemas.openxmlformats.org/officeDocument/2006/relationships/image" Target="../media/image24.png"/><Relationship Id="rId1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.jpg"/><Relationship Id="rId5" Type="http://schemas.openxmlformats.org/officeDocument/2006/relationships/image" Target="../media/image23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jpg"/><Relationship Id="rId9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8.jpg"/><Relationship Id="rId8" Type="http://schemas.openxmlformats.org/officeDocument/2006/relationships/image" Target="../media/image29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jp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12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6.jpg"/><Relationship Id="rId4" Type="http://schemas.openxmlformats.org/officeDocument/2006/relationships/image" Target="../media/image1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57.png"/><Relationship Id="rId4" Type="http://schemas.openxmlformats.org/officeDocument/2006/relationships/image" Target="../media/image60.png"/><Relationship Id="rId5" Type="http://schemas.openxmlformats.org/officeDocument/2006/relationships/image" Target="../media/image58.png"/><Relationship Id="rId6" Type="http://schemas.openxmlformats.org/officeDocument/2006/relationships/image" Target="../media/image61.png"/><Relationship Id="rId7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_p_caris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pro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19" y="540000"/>
            <a:ext cx="2411162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Proline Logistics face à AGL, LTA et OTL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que font les autres, ce qui vous manque, et 6 publications prêtes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t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240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t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6400" y="4838400"/>
            <a:ext cx="547200" cy="547200"/>
          </a:xfrm>
          <a:prstGeom prst="rect">
            <a:avLst/>
          </a:prstGeom>
        </p:spPr>
      </p:pic>
      <p:pic>
        <p:nvPicPr>
          <p:cNvPr id="16" name="Picture 15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8" name="Picture 17" descr="brand-instagram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20" name="Picture 19" descr="brand-linkedin_b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Une audience qui attend, une page qui se tait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3 517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Six fois LTA (566), onze fois OTL (313). Une vraie base de clients et de candidats.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earch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Aucune publication relevée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Ni sur LinkedIn ni sur Facebook, sur les 6 derniers mois, au relevé du 28/10.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ilding-warehou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atouts que personne ne voit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43 000 m² d’entrepôts, hydrocarbures, Maersk, Nestlé, Cargill : sur le site, pas sur les réseaux.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sers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Chez AGL, ce sont les gens qui marchent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Offres d’emploi et équipes sur les parcs : jusqu’à 465 réactions.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LinkedIn, Facebook et Instagram de Proline, AGL, LTA et OTL,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25 publications pour AGL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Du 29/09 au 28/10 sur Facebook ; 20 sur Instagram. LTA et OTL : leurs seules publications récentes.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valeur du milieu, pour qu’une publication sponsorisée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Une page vide ne se mesure pas : nous comparons ce que font les autres à ce que Proline pourrait montrer.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Quatre logisticiens d’Abidjan,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2601000" cy="10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line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0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Proline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EE5B22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linkedin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3 517 abonnés</a:t>
            </a:r>
          </a:p>
        </p:txBody>
      </p:sp>
      <p:pic>
        <p:nvPicPr>
          <p:cNvPr id="17" name="Picture 16" descr="speakerphon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 publ. relevée</a:t>
            </a:r>
          </a:p>
        </p:txBody>
      </p:sp>
      <p:pic>
        <p:nvPicPr>
          <p:cNvPr id="19" name="Picture 18" descr="users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118 salariés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base solide, aucune prise de parole.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3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3000" y="1584000"/>
            <a:ext cx="2601000" cy="1080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99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g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0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37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AGL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7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LEADER</a:t>
            </a:r>
          </a:p>
        </p:txBody>
      </p:sp>
      <p:pic>
        <p:nvPicPr>
          <p:cNvPr id="28" name="Picture 27" descr="brand-facebook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9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933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87 278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33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09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933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96 réactions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vraie machine éditoriale.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0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0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916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ta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0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4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LTA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4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TRANSITAIRE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6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50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566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6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0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 publ. en juin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6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50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 et 8 J’aime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Des moments d’équipe, rares.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7000" y="1584000"/>
            <a:ext cx="2601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7000" y="1584000"/>
            <a:ext cx="2601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7335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otl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6060" y="2014560"/>
            <a:ext cx="902880" cy="902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171000" y="3168000"/>
            <a:ext cx="2313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OTL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000" y="3528000"/>
            <a:ext cx="2313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TRANSITAIRE</a:t>
            </a:r>
          </a:p>
        </p:txBody>
      </p:sp>
      <p:pic>
        <p:nvPicPr>
          <p:cNvPr id="54" name="Picture 53" descr="brand-linkedin_noi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43000" y="3996000"/>
            <a:ext cx="251999" cy="251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567000" y="3960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313 abonnés</a:t>
            </a:r>
          </a:p>
        </p:txBody>
      </p:sp>
      <p:pic>
        <p:nvPicPr>
          <p:cNvPr id="56" name="Picture 55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000" y="4428000"/>
            <a:ext cx="251999" cy="25199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67000" y="4392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 publ. en juillet</a:t>
            </a:r>
          </a:p>
        </p:txBody>
      </p:sp>
      <p:pic>
        <p:nvPicPr>
          <p:cNvPr id="58" name="Picture 57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43000" y="4860000"/>
            <a:ext cx="251999" cy="251999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567000" y="4824000"/>
            <a:ext cx="1953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20 J’aime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43000" y="5364000"/>
            <a:ext cx="2169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offre d’emploi, rien d’autre.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LES COMPTES DE PROLINE LOGISTICS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Des comptes ouverts, mais rien dedans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3 517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118 salariés rattachés · aucune publication relevée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page de 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Facebook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Page « Proline Logistics » trouvée, sans publication lisible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pris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nom Instagram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@prolinelogistics est une société de Perth, en Australie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EE5B22"/>
                </a:solidFill>
                <a:latin typeface="Poppins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acheteur qui cherche « Proline Logistics » sur Instagram tombe sur un transporteur australien. La présentation LinkedIn dit encore « en près de cinq ans » alors que votre site annonce Abidjan depuis 2013 : à mettre à jour, avec le lien vers le site et les certifications en cours.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FACE AUX CONCURRENTS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AGL publie tous les jours, les autres presque jamais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256000" cy="417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945000"/>
                <a:gridCol w="945000"/>
                <a:gridCol w="945000"/>
                <a:gridCol w="945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Proline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AGL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LTA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OTL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3 517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566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313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Facebook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87 278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5 220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récentes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25 en 1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 (juin)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 (juillet)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96 (FB)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7 sur 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sur 25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AGL est un groupe portuaire : son volume n’est pas la cible. Ce qui compte, c’est ce qui fait réagir chez lui, à reprendre à votre échelle.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Chez AGL : les engins, les équipes, l’emploi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8256" b="42597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08/10 · vidéo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465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31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Les équipes sur le parc à conteneurs, en vidéo : la meilleure publication du mois.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b_AfricaGlobalLogisticsCI_1113290144397020.jpg"/>
          <p:cNvPicPr>
            <a:picLocks noChangeAspect="1"/>
          </p:cNvPicPr>
          <p:nvPr/>
        </p:nvPicPr>
        <p:blipFill>
          <a:blip r:embed="rId8"/>
          <a:srcRect l="2083" r="2083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05/10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375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Une offre d’emploi : on la partage à un proche, elle voyage.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b_AfricaGlobalLogisticsCI_1127969076262460.jpg"/>
          <p:cNvPicPr>
            <a:picLocks noChangeAspect="1"/>
          </p:cNvPicPr>
          <p:nvPr/>
        </p:nvPicPr>
        <p:blipFill>
          <a:blip r:embed="rId9"/>
          <a:srcRect l="2083" r="2083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g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E5B22"/>
                </a:solidFill>
                <a:latin typeface="Poppins"/>
              </a:rPr>
              <a:t>AGL · 21/10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331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24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Chaque mouvement compte » : engins, zones, sécurité. Le métier, montré en vrai.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CE QUE PROLINE PEUT MONTRER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Tout est là pour bien communiquer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1202E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chiffres forts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43 000 m² rackés, 70 000 m² de terre-plein, chariots de 2,5 à 45 tonnes.</a:t>
            </a:r>
          </a:p>
        </p:txBody>
      </p:sp>
      <p:pic>
        <p:nvPicPr>
          <p:cNvPr id="13" name="Picture 12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clients connus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Maersk, CMA CGM, Nestlé, TotalEnergies, Cargill, Barry Callebaut : cités sur votre site.</a:t>
            </a:r>
          </a:p>
        </p:txBody>
      </p:sp>
      <p:pic>
        <p:nvPicPr>
          <p:cNvPr id="15" name="Picture 14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métiers rares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Hydrocarbures, hors-gabarit, sites portuaire et aéroportuaire.</a:t>
            </a:r>
          </a:p>
        </p:txBody>
      </p:sp>
      <p:pic>
        <p:nvPicPr>
          <p:cNvPr id="17" name="Picture 16" descr="circle-check_p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 vraies photos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Citerne, entrepôt, caristes : déjà sur votre site, prêtes à servir.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EE5B22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Aucune prise de parole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0 publication relevée sur 6 mois, LinkedIn comme Facebook.</a:t>
            </a:r>
          </a:p>
        </p:txBody>
      </p:sp>
      <p:pic>
        <p:nvPicPr>
          <p:cNvPr id="23" name="Picture 22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présentation datée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« En près de cinq ans » sur LinkedIn ; « depuis 2013 » sur le site.</a:t>
            </a:r>
          </a:p>
        </p:txBody>
      </p:sp>
      <p:pic>
        <p:nvPicPr>
          <p:cNvPr id="25" name="Picture 24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nom pris sur Instagram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Par une société australienne.</a:t>
            </a:r>
          </a:p>
        </p:txBody>
      </p:sp>
      <p:pic>
        <p:nvPicPr>
          <p:cNvPr id="27" name="Picture 26" descr="circle-x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Personne pour répondre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Les 118 salariés rattachés n’ont rien à partager.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MEILLEURES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meilleures chez AGL : des personnes au travail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15840197475348.jpg"/>
          <p:cNvPicPr>
            <a:picLocks noChangeAspect="1"/>
          </p:cNvPicPr>
          <p:nvPr/>
        </p:nvPicPr>
        <p:blipFill>
          <a:blip r:embed="rId3"/>
          <a:srcRect t="11008" b="25684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465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08/10 · Équipes, vidéo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13290144397020.jpg"/>
          <p:cNvPicPr>
            <a:picLocks noChangeAspect="1"/>
          </p:cNvPicPr>
          <p:nvPr/>
        </p:nvPicPr>
        <p:blipFill>
          <a:blip r:embed="rId7"/>
          <a:srcRect l="20370" r="2037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375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05/10 · Offre d’emploi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27969076262460.jpg"/>
          <p:cNvPicPr>
            <a:picLocks noChangeAspect="1"/>
          </p:cNvPicPr>
          <p:nvPr/>
        </p:nvPicPr>
        <p:blipFill>
          <a:blip r:embed="rId8"/>
          <a:srcRect l="20370" r="2037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331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24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21/10 · Parc à conteneurs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10325751360126.jpg"/>
          <p:cNvPicPr>
            <a:picLocks noChangeAspect="1"/>
          </p:cNvPicPr>
          <p:nvPr/>
        </p:nvPicPr>
        <p:blipFill>
          <a:blip r:embed="rId9"/>
          <a:srcRect t="197" b="46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313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16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02/10 · Une école rénovée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4 offres d’emploi d’AGL font 270 réactions médianes, près de trois fois la moyenne de la page (96). L’emploi et les équipes font partager ; c’est la porte d’entrée la plus simple pour Proline.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MOINS BONNES PUBLICATIONS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Les moins bonnes chez AGL : l’agenda et le football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b_AfricaGlobalLogisticsCI_1133432002382834.jpg"/>
          <p:cNvPicPr>
            <a:picLocks noChangeAspect="1"/>
          </p:cNvPicPr>
          <p:nvPr/>
        </p:nvPicPr>
        <p:blipFill>
          <a:blip r:embed="rId3"/>
          <a:srcRect t="483" b="1127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13" name="Picture 12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29</a:t>
            </a:r>
          </a:p>
        </p:txBody>
      </p:sp>
      <p:pic>
        <p:nvPicPr>
          <p:cNvPr id="15" name="Picture 14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17" name="Picture 16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27/10 · Semaine du service 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b_AfricaGlobalLogisticsCI_1109641558095212.jpg"/>
          <p:cNvPicPr>
            <a:picLocks noChangeAspect="1"/>
          </p:cNvPicPr>
          <p:nvPr/>
        </p:nvPicPr>
        <p:blipFill>
          <a:blip r:embed="rId7"/>
          <a:srcRect t="2578" b="6016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24" name="Picture 23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30</a:t>
            </a:r>
          </a:p>
        </p:txBody>
      </p:sp>
      <p:pic>
        <p:nvPicPr>
          <p:cNvPr id="26" name="Picture 25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28" name="Picture 27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01/10 · Match des Éléphants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fb_AfricaGlobalLogisticsCI_1134623762263658.jpg"/>
          <p:cNvPicPr>
            <a:picLocks noChangeAspect="1"/>
          </p:cNvPicPr>
          <p:nvPr/>
        </p:nvPicPr>
        <p:blipFill>
          <a:blip r:embed="rId8"/>
          <a:srcRect t="483" b="1127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35" name="Picture 34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34</a:t>
            </a:r>
          </a:p>
        </p:txBody>
      </p:sp>
      <p:pic>
        <p:nvPicPr>
          <p:cNvPr id="37" name="Picture 36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39" name="Picture 38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28/10 · Salon CGECI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b_AfricaGlobalLogisticsCI_1126217623104272.jpg"/>
          <p:cNvPicPr>
            <a:picLocks noChangeAspect="1"/>
          </p:cNvPicPr>
          <p:nvPr/>
        </p:nvPicPr>
        <p:blipFill>
          <a:blip r:embed="rId9"/>
          <a:srcRect l="20395" r="20395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ÉVITER</a:t>
            </a:r>
          </a:p>
        </p:txBody>
      </p:sp>
      <p:pic>
        <p:nvPicPr>
          <p:cNvPr id="46" name="Picture 45" descr="heart_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60</a:t>
            </a:r>
          </a:p>
        </p:txBody>
      </p:sp>
      <p:pic>
        <p:nvPicPr>
          <p:cNvPr id="48" name="Picture 47" descr="message-circle_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50" name="Picture 49" descr="share_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19/10 · Partenariat santé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D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Annonces d’agenda, affiches institutionnelles et sujets sans lien avec le métier : trois fois moins de réactions. À éviter pour démarrer.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PAR TYPE DE PUBLICATION · AGL FACEBOOK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qui fait réagir chez AGL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760000" cy="4464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Une offre d’emploi fait près de trois fois plus de réactions que la moyenne : on la partage à quelqu’un.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équipes et les engins font la base régulière de la page.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L’agenda (salons, semaines thématiques) fait le moins.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Classement fait à la lecture des textes : à prendre comme une tendance.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prêtes,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uler-measur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chiffre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Mètres carrés, tonnes, camions : en titre.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to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Vos lieux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Vos entrepôts et vos camions, pas une banque d’images.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s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cariste, un chauffeur, une équipe.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question d’acheteur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Celle qu’un directeur logistique se pose.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L’e-mail et le numéro, en bas de l’image.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EE5B22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Chiffres, métiers et coordonnées viennent de votre site. Deux photos sont des illustrations : à remplacer par vos équipes. Délais, tarifs et noms de clients ne s’affichent qu’avec votre accord.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Vos entrepôts et vos équipes, en grand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v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0" y="1440000"/>
            <a:ext cx="1929600" cy="2412000"/>
          </a:xfrm>
          <a:prstGeom prst="rect">
            <a:avLst/>
          </a:prstGeom>
        </p:spPr>
      </p:pic>
      <p:pic>
        <p:nvPicPr>
          <p:cNvPr id="10" name="Picture 9" descr="v_p_caris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00" y="1440000"/>
            <a:ext cx="1929600" cy="2412000"/>
          </a:xfrm>
          <a:prstGeom prst="rect">
            <a:avLst/>
          </a:prstGeom>
        </p:spPr>
      </p:pic>
      <p:pic>
        <p:nvPicPr>
          <p:cNvPr id="11" name="Picture 10" descr="v_p_citer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200" y="1440000"/>
            <a:ext cx="1929600" cy="2412000"/>
          </a:xfrm>
          <a:prstGeom prst="rect">
            <a:avLst/>
          </a:prstGeom>
        </p:spPr>
      </p:pic>
      <p:pic>
        <p:nvPicPr>
          <p:cNvPr id="12" name="Picture 11" descr="v_p_fif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00" y="3924000"/>
            <a:ext cx="1929600" cy="2412000"/>
          </a:xfrm>
          <a:prstGeom prst="rect">
            <a:avLst/>
          </a:prstGeom>
        </p:spPr>
      </p:pic>
      <p:pic>
        <p:nvPicPr>
          <p:cNvPr id="13" name="Picture 12" descr="v_p_sto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00" y="3924000"/>
            <a:ext cx="1929600" cy="2412000"/>
          </a:xfrm>
          <a:prstGeom prst="rect">
            <a:avLst/>
          </a:prstGeom>
        </p:spPr>
      </p:pic>
      <p:pic>
        <p:nvPicPr>
          <p:cNvPr id="14" name="Picture 13" descr="v_p_port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9200" y="3924000"/>
            <a:ext cx="1929600" cy="241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EE5B22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chiffre ou un métier en titre, sur une photo de vos sites.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 bleu nuit et l’orange de votre logo, partout.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L’e-mail et le numéro en bas : on vous écrit sans chercher.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4 photos viennent de votre site ; 2 sont des illustrations à remplacer par vos équipes.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Entreposage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r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Caristes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caris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Hydrocarbures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citer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Gestion de stock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fif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Inventaire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sto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Conteneurs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pic>
        <p:nvPicPr>
          <p:cNvPr id="9" name="Picture 8" descr="cmp_p_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exister en ligne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Démarrer à 2 par semaine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LinkedIn d’abord, mardi et jeudi à 8 h : c’est là que sont vos 3 517 abonnés et vos acheteurs.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riefcas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Publier vos offres d’emploi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publication qui voyage le plus chez AGL : chaque recrutement devient une vitrine.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orklift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Montrer vos équipes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 cariste, un chauffeur, un chef de quai : une personne par mois, avec son accord.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4</a:t>
            </a:r>
          </a:p>
        </p:txBody>
      </p:sp>
      <p:sp>
        <p:nvSpPr>
          <p:cNvPr id="33" name="Oval 32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encil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Mettre la page à jour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Présentation, ancienneté, certifications en cours, lien vers le site, photo de couverture.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EE5B22"/>
                </a:solidFill>
                <a:latin typeface="Poppins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-instagram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Réserver votre nom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 compte Instagram « proline.ci » ou proche, même vide, pour qu’on ne tombe plus sur l’Australie.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Mettre à jour la page LinkedIn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Réserver le nom Instagram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des 6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Demander aux salariés de suivre la page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riefcas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une offre d’emploi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autres publications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Photographier 2 équipes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réactions et abonnés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les demandes reçues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EE5B22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8 publications, 20 réactions médianes sur LinkedIn, et chaque demande de devis venue des réseaux notée.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1202E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relevée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Réactions médianes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3 517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3 700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Offres d’emploi publiées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Salariés qui partagent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DE6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proline-fond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399" y="216000"/>
            <a:ext cx="1607441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E5B22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Proline Logistics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L’accès à la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Pour publier, et lire les visites et la portée. Et savoir si une page Facebook active existe.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EE5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mera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photos récentes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Une demi-journée de prises de vue sur vos parcs nourrit trois mois de publications.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112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Sur les 6 publications, et sur les noms de clients que vous acceptez d’afficher.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Rien n’a été publié. Les visuels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