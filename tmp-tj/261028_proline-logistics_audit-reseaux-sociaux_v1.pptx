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Publications par semaine (période relevée)</c:v>
                </c:pt>
              </c:strCache>
            </c:strRef>
          </c:tx>
          <c:dPt>
            <c:idx val="0"/>
            <c:spPr>
              <a:solidFill>
                <a:srgbClr val="B9B9B9"/>
              </a:solidFill>
            </c:spPr>
          </c:dPt>
          <c:dPt>
            <c:idx val="1"/>
            <c:spPr>
              <a:solidFill>
                <a:srgbClr val="B9B9B9"/>
              </a:solidFill>
            </c:spPr>
          </c:dPt>
          <c:dPt>
            <c:idx val="2"/>
            <c:spPr>
              <a:solidFill>
                <a:srgbClr val="B9B9B9"/>
              </a:solidFill>
            </c:spPr>
          </c:dPt>
          <c:dPt>
            <c:idx val="3"/>
            <c:spPr>
              <a:solidFill>
                <a:srgbClr val="EE5B22"/>
              </a:solidFill>
            </c:spPr>
          </c:dPt>
          <c:cat>
            <c:strRef>
              <c:f>Sheet1!$A$2:$A$5</c:f>
              <c:strCache>
                <c:ptCount val="4"/>
                <c:pt idx="0">
                  <c:v>OTL (LinkedIn)</c:v>
                </c:pt>
                <c:pt idx="1">
                  <c:v>LTA (LinkedIn)</c:v>
                </c:pt>
                <c:pt idx="2">
                  <c:v>AGL (Facebook)</c:v>
                </c:pt>
                <c:pt idx="3">
                  <c:v>Proline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</c:v>
                </c:pt>
                <c:pt idx="1">
                  <c:v>0.3</c:v>
                </c:pt>
                <c:pt idx="2">
                  <c:v>6.0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Réactions médianes par type (nombre de publications)</c:v>
                </c:pt>
              </c:strCache>
            </c:strRef>
          </c:tx>
          <c:dPt>
            <c:idx val="0"/>
            <c:spPr>
              <a:solidFill>
                <a:srgbClr val="B9B9B9"/>
              </a:solidFill>
            </c:spPr>
          </c:dPt>
          <c:dPt>
            <c:idx val="1"/>
            <c:spPr>
              <a:solidFill>
                <a:srgbClr val="B9B9B9"/>
              </a:solidFill>
            </c:spPr>
          </c:dPt>
          <c:dPt>
            <c:idx val="2"/>
            <c:spPr>
              <a:solidFill>
                <a:srgbClr val="B9B9B9"/>
              </a:solidFill>
            </c:spPr>
          </c:dPt>
          <c:dPt>
            <c:idx val="3"/>
            <c:spPr>
              <a:solidFill>
                <a:srgbClr val="EE5B22"/>
              </a:solidFill>
            </c:spPr>
          </c:dPt>
          <c:cat>
            <c:strRef>
              <c:f>Sheet1!$A$2:$A$5</c:f>
              <c:strCache>
                <c:ptCount val="4"/>
                <c:pt idx="0">
                  <c:v>Agenda et événements (4)</c:v>
                </c:pt>
                <c:pt idx="1">
                  <c:v>Toute la page (25)</c:v>
                </c:pt>
                <c:pt idx="2">
                  <c:v>Équipes et engins (13)</c:v>
                </c:pt>
                <c:pt idx="3">
                  <c:v>Offres d’emploi (4)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96</c:v>
                </c:pt>
                <c:pt idx="2">
                  <c:v>95</c:v>
                </c:pt>
                <c:pt idx="3">
                  <c:v>270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7.jp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3.jp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4.jpg"/><Relationship Id="rId12" Type="http://schemas.openxmlformats.org/officeDocument/2006/relationships/image" Target="../media/image24.png"/><Relationship Id="rId1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5.jpg"/><Relationship Id="rId4" Type="http://schemas.openxmlformats.org/officeDocument/2006/relationships/image" Target="../media/image3.jp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jpg"/><Relationship Id="rId9" Type="http://schemas.openxmlformats.org/officeDocument/2006/relationships/image" Target="../media/image2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5.jp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8.jpg"/><Relationship Id="rId8" Type="http://schemas.openxmlformats.org/officeDocument/2006/relationships/image" Target="../media/image29.jpg"/><Relationship Id="rId9" Type="http://schemas.openxmlformats.org/officeDocument/2006/relationships/image" Target="../media/image35.jpg"/><Relationship Id="rId10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7.jp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8.jpg"/><Relationship Id="rId8" Type="http://schemas.openxmlformats.org/officeDocument/2006/relationships/image" Target="../media/image39.jpg"/><Relationship Id="rId9" Type="http://schemas.openxmlformats.org/officeDocument/2006/relationships/image" Target="../media/image40.jpg"/><Relationship Id="rId10" Type="http://schemas.openxmlformats.org/officeDocument/2006/relationships/image" Target="../media/image4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12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6.jpg"/><Relationship Id="rId4" Type="http://schemas.openxmlformats.org/officeDocument/2006/relationships/image" Target="../media/image1.jpg"/><Relationship Id="rId5" Type="http://schemas.openxmlformats.org/officeDocument/2006/relationships/image" Target="../media/image47.jpg"/><Relationship Id="rId6" Type="http://schemas.openxmlformats.org/officeDocument/2006/relationships/image" Target="../media/image48.jpg"/><Relationship Id="rId7" Type="http://schemas.openxmlformats.org/officeDocument/2006/relationships/image" Target="../media/image49.jpg"/><Relationship Id="rId8" Type="http://schemas.openxmlformats.org/officeDocument/2006/relationships/image" Target="../media/image5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1.jpg"/><Relationship Id="rId4" Type="http://schemas.openxmlformats.org/officeDocument/2006/relationships/image" Target="../media/image52.png"/><Relationship Id="rId5" Type="http://schemas.openxmlformats.org/officeDocument/2006/relationships/image" Target="../media/image46.jpg"/><Relationship Id="rId6" Type="http://schemas.openxmlformats.org/officeDocument/2006/relationships/image" Target="../media/image5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1.jpg"/><Relationship Id="rId4" Type="http://schemas.openxmlformats.org/officeDocument/2006/relationships/image" Target="../media/image52.png"/><Relationship Id="rId5" Type="http://schemas.openxmlformats.org/officeDocument/2006/relationships/image" Target="../media/image1.jpg"/><Relationship Id="rId6" Type="http://schemas.openxmlformats.org/officeDocument/2006/relationships/image" Target="../media/image5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1.jpg"/><Relationship Id="rId4" Type="http://schemas.openxmlformats.org/officeDocument/2006/relationships/image" Target="../media/image52.png"/><Relationship Id="rId5" Type="http://schemas.openxmlformats.org/officeDocument/2006/relationships/image" Target="../media/image47.jpg"/><Relationship Id="rId6" Type="http://schemas.openxmlformats.org/officeDocument/2006/relationships/image" Target="../media/image5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1.jpg"/><Relationship Id="rId4" Type="http://schemas.openxmlformats.org/officeDocument/2006/relationships/image" Target="../media/image52.png"/><Relationship Id="rId5" Type="http://schemas.openxmlformats.org/officeDocument/2006/relationships/image" Target="../media/image48.jpg"/><Relationship Id="rId6" Type="http://schemas.openxmlformats.org/officeDocument/2006/relationships/image" Target="../media/image5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1.jpg"/><Relationship Id="rId4" Type="http://schemas.openxmlformats.org/officeDocument/2006/relationships/image" Target="../media/image52.png"/><Relationship Id="rId5" Type="http://schemas.openxmlformats.org/officeDocument/2006/relationships/image" Target="../media/image49.jpg"/><Relationship Id="rId6" Type="http://schemas.openxmlformats.org/officeDocument/2006/relationships/image" Target="../media/image5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1.jpg"/><Relationship Id="rId4" Type="http://schemas.openxmlformats.org/officeDocument/2006/relationships/image" Target="../media/image52.png"/><Relationship Id="rId5" Type="http://schemas.openxmlformats.org/officeDocument/2006/relationships/image" Target="../media/image50.jpg"/><Relationship Id="rId6" Type="http://schemas.openxmlformats.org/officeDocument/2006/relationships/image" Target="../media/image5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4.jp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5.png"/><Relationship Id="rId4" Type="http://schemas.openxmlformats.org/officeDocument/2006/relationships/image" Target="../media/image58.png"/><Relationship Id="rId5" Type="http://schemas.openxmlformats.org/officeDocument/2006/relationships/image" Target="../media/image56.png"/><Relationship Id="rId6" Type="http://schemas.openxmlformats.org/officeDocument/2006/relationships/image" Target="../media/image59.png"/><Relationship Id="rId7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0.jpg"/><Relationship Id="rId4" Type="http://schemas.openxmlformats.org/officeDocument/2006/relationships/image" Target="../media/image13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72000" y="0"/>
            <a:ext cx="4920119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_p_caris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000" y="893925"/>
            <a:ext cx="4056119" cy="5070148"/>
          </a:xfrm>
          <a:prstGeom prst="rect">
            <a:avLst/>
          </a:prstGeom>
        </p:spPr>
      </p:pic>
      <p:pic>
        <p:nvPicPr>
          <p:cNvPr id="5" name="Picture 4" descr="logo-pro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19" y="540000"/>
            <a:ext cx="2411162" cy="8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8000" y="2015999"/>
            <a:ext cx="61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E5B22"/>
                </a:solidFill>
                <a:latin typeface="Poppins"/>
              </a:rPr>
              <a:t>AUDIT RÉSEAUX SOCIAUX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376000"/>
            <a:ext cx="633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FFFFFF"/>
                </a:solidFill>
                <a:latin typeface="Poppins"/>
              </a:rPr>
              <a:t>Proline Logistics face à AGL, LTA et OTL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4140000"/>
            <a:ext cx="61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DDDDDD"/>
                </a:solidFill>
                <a:latin typeface="Poppins"/>
              </a:rPr>
              <a:t>Ce que font les autres, ce qui vous manque, et 6 publications prêtes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950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AAAAAA"/>
                </a:solidFill>
                <a:latin typeface="Poppins"/>
              </a:rPr>
              <a:t>FACE À</a:t>
            </a:r>
          </a:p>
        </p:txBody>
      </p:sp>
      <p:sp>
        <p:nvSpPr>
          <p:cNvPr id="10" name="Oval 9"/>
          <p:cNvSpPr/>
          <p:nvPr/>
        </p:nvSpPr>
        <p:spPr>
          <a:xfrm>
            <a:off x="1512000" y="4752000"/>
            <a:ext cx="720000" cy="72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g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400" y="4838400"/>
            <a:ext cx="547200" cy="5472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376000" y="4752000"/>
            <a:ext cx="720000" cy="72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t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2400" y="4838400"/>
            <a:ext cx="547200" cy="54720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3240000" y="4752000"/>
            <a:ext cx="720000" cy="72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otl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6400" y="4838400"/>
            <a:ext cx="547200" cy="547200"/>
          </a:xfrm>
          <a:prstGeom prst="rect">
            <a:avLst/>
          </a:prstGeom>
        </p:spPr>
      </p:pic>
      <p:pic>
        <p:nvPicPr>
          <p:cNvPr id="16" name="Picture 15" descr="brand-facebook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000" y="5616000"/>
            <a:ext cx="324000" cy="324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44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Facebook</a:t>
            </a:r>
          </a:p>
        </p:txBody>
      </p:sp>
      <p:pic>
        <p:nvPicPr>
          <p:cNvPr id="18" name="Picture 17" descr="brand-instagram_b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2000" y="5616000"/>
            <a:ext cx="324000" cy="324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28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Instagram</a:t>
            </a:r>
          </a:p>
        </p:txBody>
      </p:sp>
      <p:pic>
        <p:nvPicPr>
          <p:cNvPr id="20" name="Picture 19" descr="brand-linkedin_b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6000" y="5616000"/>
            <a:ext cx="324000" cy="324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12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LinkedIn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000" y="6228000"/>
            <a:ext cx="648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AAAAAA"/>
                </a:solidFill>
                <a:latin typeface="Poppins"/>
              </a:rPr>
              <a:t>Relevé des pages publiques le 28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Poppins"/>
              </a:rPr>
              <a:t>L'ESSENTIEL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Une audience qui attend, une page qui se tait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4000" y="1979999"/>
            <a:ext cx="720000" cy="72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rand-linkedin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00" y="2138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36000" y="1907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3 517 abonnés LinkedIn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6000" y="2645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Six fois LTA (566), onze fois OTL (313). Une vraie base de clients et de candidats.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655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80000" y="1979999"/>
            <a:ext cx="720000" cy="720000"/>
          </a:xfrm>
          <a:prstGeom prst="ellipse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earch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400" y="2138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52000" y="1907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Aucune publication relevée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000" y="2645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Ni sur LinkedIn ni sur Facebook, sur les 6 derniers mois, au relevé du 28/10.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3923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4000" y="4247999"/>
            <a:ext cx="720000" cy="720000"/>
          </a:xfrm>
          <a:prstGeom prst="ellipse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uilding-warehouse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400" y="4406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36000" y="4175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Des atouts que personne ne voit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36000" y="4913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43 000 m² d’entrepôts, hydrocarbures, Maersk, Nestlé, Cargill : sur le site, pas sur les réseaux.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2000" y="3923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80000" y="4247999"/>
            <a:ext cx="720000" cy="72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users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400" y="4406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52000" y="4175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Chez AGL, ce sont les gens qui marchent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000" y="4913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Offres d’emploi et équipes sur les parcs : jusqu’à 465 réactions.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Poppins"/>
              </a:rPr>
              <a:t>MÉTHODE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Ce que nous avons regardé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3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7999" y="1943999"/>
            <a:ext cx="720000" cy="72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y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99" y="2102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Pages publiques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LinkedIn, Facebook et Instagram de Proline, AGL, LTA et OTL, relevés le 28/10/2026.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35999" y="1943999"/>
            <a:ext cx="720000" cy="720000"/>
          </a:xfrm>
          <a:prstGeom prst="ellipse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ist-check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399" y="2102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35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25 publications pour AGL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5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Du 29/09 au 28/10 sur Facebook ; 20 sur Instagram. LTA et OTL : leurs seules publications récentes.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3999" y="1943999"/>
            <a:ext cx="720000" cy="72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arget-arrow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399" y="2102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43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Médianes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3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La valeur du milieu, pour qu’une publication sponsorisée ne fausse pas la moyenne.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0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51999" y="1943999"/>
            <a:ext cx="720000" cy="720000"/>
          </a:xfrm>
          <a:prstGeom prst="ellipse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lert-triang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0399" y="2102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51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Hors de vue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1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Une page vide ne se mesure pas : nous comparons ce que font les autres à ce que Proline pourrait montrer.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Poppins"/>
              </a:rPr>
              <a:t>QUI NOUS AVONS COMPARÉ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Quatre logisticiens d’Abidjan, un seul vraiment présent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4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00" y="1584000"/>
            <a:ext cx="2601000" cy="10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2500" y="1872000"/>
            <a:ext cx="1188000" cy="1188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roline_l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060" y="2014560"/>
            <a:ext cx="902880" cy="90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0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Proline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EE5B22"/>
                </a:solidFill>
                <a:latin typeface="Poppins"/>
              </a:rPr>
              <a:t>NOTRE CLIENT</a:t>
            </a:r>
          </a:p>
        </p:txBody>
      </p:sp>
      <p:pic>
        <p:nvPicPr>
          <p:cNvPr id="15" name="Picture 14" descr="brand-linkedin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0" y="3996000"/>
            <a:ext cx="251999" cy="25199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6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3 517 abonnés</a:t>
            </a:r>
          </a:p>
        </p:txBody>
      </p:sp>
      <p:pic>
        <p:nvPicPr>
          <p:cNvPr id="17" name="Picture 16" descr="speakerphone_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4428000"/>
            <a:ext cx="251999" cy="25199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6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0 publ. relevée</a:t>
            </a:r>
          </a:p>
        </p:txBody>
      </p:sp>
      <p:pic>
        <p:nvPicPr>
          <p:cNvPr id="19" name="Picture 18" descr="users_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00" y="4860000"/>
            <a:ext cx="251999" cy="25199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16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118 salariés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Une base solide, aucune prise de parole.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93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93000" y="1584000"/>
            <a:ext cx="2601000" cy="1080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099500" y="1872000"/>
            <a:ext cx="1188000" cy="1188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gl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2060" y="2014560"/>
            <a:ext cx="902880" cy="90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537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AGL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7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LEADER</a:t>
            </a:r>
          </a:p>
        </p:txBody>
      </p:sp>
      <p:pic>
        <p:nvPicPr>
          <p:cNvPr id="28" name="Picture 27" descr="brand-facebook_no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000" y="3996000"/>
            <a:ext cx="251999" cy="25199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933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87 278 abonnés</a:t>
            </a:r>
          </a:p>
        </p:txBody>
      </p:sp>
      <p:pic>
        <p:nvPicPr>
          <p:cNvPr id="30" name="Picture 29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9000" y="4428000"/>
            <a:ext cx="251999" cy="2519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33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6 publ. / semaine</a:t>
            </a:r>
          </a:p>
        </p:txBody>
      </p:sp>
      <p:pic>
        <p:nvPicPr>
          <p:cNvPr id="32" name="Picture 31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09000" y="4860000"/>
            <a:ext cx="251999" cy="2519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933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96 réactions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09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Une vraie machine éditoriale.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0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0000" y="1584000"/>
            <a:ext cx="2601000" cy="10800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916500" y="1872000"/>
            <a:ext cx="1188000" cy="1188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lta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9060" y="2014560"/>
            <a:ext cx="902880" cy="9028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354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LTA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4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TRANSITAIRE</a:t>
            </a:r>
          </a:p>
        </p:txBody>
      </p:sp>
      <p:pic>
        <p:nvPicPr>
          <p:cNvPr id="41" name="Picture 40" descr="brand-linkedin_noi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6000" y="3996000"/>
            <a:ext cx="251999" cy="25199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750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566 abonnés</a:t>
            </a:r>
          </a:p>
        </p:txBody>
      </p:sp>
      <p:pic>
        <p:nvPicPr>
          <p:cNvPr id="43" name="Picture 42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6000" y="4428000"/>
            <a:ext cx="251999" cy="25199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750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2 publ. en juin</a:t>
            </a:r>
          </a:p>
        </p:txBody>
      </p:sp>
      <p:pic>
        <p:nvPicPr>
          <p:cNvPr id="45" name="Picture 44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6000" y="4860000"/>
            <a:ext cx="251999" cy="25199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750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4 et 8 J’aime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26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Des moments d’équipe, rares.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27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27000" y="1584000"/>
            <a:ext cx="2601000" cy="10800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733500" y="1872000"/>
            <a:ext cx="1188000" cy="1188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otl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76060" y="2014560"/>
            <a:ext cx="902880" cy="90288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171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OTL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71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TRANSITAIRE</a:t>
            </a:r>
          </a:p>
        </p:txBody>
      </p:sp>
      <p:pic>
        <p:nvPicPr>
          <p:cNvPr id="54" name="Picture 53" descr="brand-linkedin_noi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43000" y="3996000"/>
            <a:ext cx="251999" cy="251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567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313 abonnés</a:t>
            </a:r>
          </a:p>
        </p:txBody>
      </p:sp>
      <p:pic>
        <p:nvPicPr>
          <p:cNvPr id="56" name="Picture 55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3000" y="4428000"/>
            <a:ext cx="251999" cy="25199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567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 publ. en juillet</a:t>
            </a:r>
          </a:p>
        </p:txBody>
      </p:sp>
      <p:pic>
        <p:nvPicPr>
          <p:cNvPr id="58" name="Picture 57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43000" y="4860000"/>
            <a:ext cx="251999" cy="251999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567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20 J’aime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43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Une offre d’emploi, rien d’autre.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Poppins"/>
              </a:rPr>
              <a:t>LES COMPTES DE PROLINE 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Des comptes ouverts, mais rien dedans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5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2000" y="1871999"/>
            <a:ext cx="540000" cy="54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rand-linkedin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00" y="1990799"/>
            <a:ext cx="302400" cy="30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2000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3 517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abonnés LinkedIn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118 salariés rattachés · aucune publication relevée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0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36000" y="1871999"/>
            <a:ext cx="540000" cy="54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rand-facebook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800" y="1990799"/>
            <a:ext cx="302400" cy="30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36000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page de 2015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6000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Facebook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6000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Page « Proline Logistics » trouvée, sans publication lisible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3999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9999" y="1871999"/>
            <a:ext cx="540000" cy="54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rand-instagram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799" y="1990799"/>
            <a:ext cx="302400" cy="30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9999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pris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9999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nom Instagram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9999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@prolinelogistics est une société de Perth, en Australie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00" y="4248000"/>
            <a:ext cx="11052000" cy="1764000"/>
          </a:xfrm>
          <a:prstGeom prst="roundRect">
            <a:avLst>
              <a:gd name="adj" fmla="val 6000"/>
            </a:avLst>
          </a:prstGeom>
          <a:solidFill>
            <a:srgbClr val="FD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4000" y="4536000"/>
            <a:ext cx="612000" cy="61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lert-triang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640" y="4670640"/>
            <a:ext cx="342720" cy="3427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92000" y="4464000"/>
            <a:ext cx="9720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E5B22"/>
                </a:solidFill>
                <a:latin typeface="Poppins"/>
              </a:rPr>
              <a:t>À corriger tout de suite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Un acheteur qui cherche « Proline Logistics » sur Instagram tombe sur un transporteur australien. La présentation LinkedIn dit encore « en près de cinq ans » alors que votre site annonce Abidjan depuis 2013 : à mettre à jour, avec le lien vers le site et les certifications en cours.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Poppins"/>
              </a:rPr>
              <a:t>FACE AUX CONCURRENTS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AGL publie tous les jours, les autres presque jamais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6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Proline Logistics · Audit réseaux sociaux · relevé du 28/10/2026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76000" y="1944000"/>
          <a:ext cx="5256000" cy="381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6000" y="1548000"/>
            <a:ext cx="5256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Publications par semaine (période relevée)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48000" y="1584000"/>
          <a:ext cx="5580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945000"/>
                <a:gridCol w="945000"/>
                <a:gridCol w="945000"/>
                <a:gridCol w="945000"/>
              </a:tblGrid>
              <a:tr h="458999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</a:p>
                  </a:txBody>
                  <a:tcPr anchor="ctr">
                    <a:solidFill>
                      <a:srgbClr val="112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Proline</a:t>
                      </a:r>
                    </a:p>
                  </a:txBody>
                  <a:tcPr anchor="ctr">
                    <a:solidFill>
                      <a:srgbClr val="112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AGL</a:t>
                      </a:r>
                    </a:p>
                  </a:txBody>
                  <a:tcPr anchor="ctr">
                    <a:solidFill>
                      <a:srgbClr val="112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LTA</a:t>
                      </a:r>
                    </a:p>
                  </a:txBody>
                  <a:tcPr anchor="ctr">
                    <a:solidFill>
                      <a:srgbClr val="112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OTL</a:t>
                      </a:r>
                    </a:p>
                  </a:txBody>
                  <a:tcPr anchor="ctr">
                    <a:solidFill>
                      <a:srgbClr val="11202E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Abonnés LinkedIn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3 517</a:t>
                      </a:r>
                    </a:p>
                  </a:txBody>
                  <a:tcPr anchor="ctr">
                    <a:solidFill>
                      <a:srgbClr val="FDE6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non relevé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566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313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Abonnés Facebook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–</a:t>
                      </a:r>
                    </a:p>
                  </a:txBody>
                  <a:tcPr anchor="ctr">
                    <a:solidFill>
                      <a:srgbClr val="FDE6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87 278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Abonnés Instagram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–</a:t>
                      </a:r>
                    </a:p>
                  </a:txBody>
                  <a:tcPr anchor="ctr">
                    <a:solidFill>
                      <a:srgbClr val="FDE6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5 220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–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récentes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0</a:t>
                      </a:r>
                    </a:p>
                  </a:txBody>
                  <a:tcPr anchor="ctr">
                    <a:solidFill>
                      <a:srgbClr val="FDE6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25 en 1 mois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 (juin)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 (juillet)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Réactions médianes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–</a:t>
                      </a:r>
                    </a:p>
                  </a:txBody>
                  <a:tcPr anchor="ctr">
                    <a:solidFill>
                      <a:srgbClr val="FDE6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96 (FB)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6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58999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Vidéos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–</a:t>
                      </a:r>
                    </a:p>
                  </a:txBody>
                  <a:tcPr anchor="ctr">
                    <a:solidFill>
                      <a:srgbClr val="FDE6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7 sur 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900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Offres d’emploi publiées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0</a:t>
                      </a:r>
                    </a:p>
                  </a:txBody>
                  <a:tcPr anchor="ctr">
                    <a:solidFill>
                      <a:srgbClr val="FDE6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4 sur 25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00" y="5868000"/>
            <a:ext cx="11052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AGL est un groupe portuaire : son volume n’est pas la cible. Ce qui compte, c’est ce qui fait réagir chez lui, à reprendre à votre échelle.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Poppins"/>
              </a:rPr>
              <a:t>CE QUI MARCHE AILLEURS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Chez AGL : les engins, les équipes, l’emploi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7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AfricaGlobalLogisticsCI_1115840197475348.jpg"/>
          <p:cNvPicPr>
            <a:picLocks noChangeAspect="1"/>
          </p:cNvPicPr>
          <p:nvPr/>
        </p:nvPicPr>
        <p:blipFill>
          <a:blip r:embed="rId3"/>
          <a:srcRect t="18256" b="42597"/>
          <a:stretch>
            <a:fillRect/>
          </a:stretch>
        </p:blipFill>
        <p:spPr>
          <a:xfrm>
            <a:off x="684000" y="1692000"/>
            <a:ext cx="3311999" cy="2304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56000" y="4031999"/>
            <a:ext cx="396000" cy="396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g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520" y="4079519"/>
            <a:ext cx="300960" cy="300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24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E5B22"/>
                </a:solidFill>
                <a:latin typeface="Poppins"/>
              </a:rPr>
              <a:t>AGL · 08/10 · vidéo</a:t>
            </a:r>
          </a:p>
        </p:txBody>
      </p:sp>
      <p:pic>
        <p:nvPicPr>
          <p:cNvPr id="14" name="Picture 13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4500000"/>
            <a:ext cx="216000" cy="21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3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465</a:t>
            </a:r>
          </a:p>
        </p:txBody>
      </p:sp>
      <p:pic>
        <p:nvPicPr>
          <p:cNvPr id="16" name="Picture 15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6000" y="4500000"/>
            <a:ext cx="216000" cy="21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087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31</a:t>
            </a:r>
          </a:p>
        </p:txBody>
      </p:sp>
      <p:pic>
        <p:nvPicPr>
          <p:cNvPr id="18" name="Picture 17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000" y="4500000"/>
            <a:ext cx="216000" cy="21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1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Les équipes sur le parc à conteneurs, en vidéo : la meilleure publication du mois.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b_AfricaGlobalLogisticsCI_1113290144397020.jpg"/>
          <p:cNvPicPr>
            <a:picLocks noChangeAspect="1"/>
          </p:cNvPicPr>
          <p:nvPr/>
        </p:nvPicPr>
        <p:blipFill>
          <a:blip r:embed="rId8"/>
          <a:srcRect l="2083" r="2083"/>
          <a:stretch>
            <a:fillRect/>
          </a:stretch>
        </p:blipFill>
        <p:spPr>
          <a:xfrm>
            <a:off x="4428000" y="1692000"/>
            <a:ext cx="3311999" cy="230400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4500000" y="4031999"/>
            <a:ext cx="396000" cy="396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g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520" y="4079519"/>
            <a:ext cx="300960" cy="3009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968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E5B22"/>
                </a:solidFill>
                <a:latin typeface="Poppins"/>
              </a:rPr>
              <a:t>AGL · 05/10</a:t>
            </a:r>
          </a:p>
        </p:txBody>
      </p:sp>
      <p:pic>
        <p:nvPicPr>
          <p:cNvPr id="26" name="Picture 25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000" y="4500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87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375</a:t>
            </a:r>
          </a:p>
        </p:txBody>
      </p:sp>
      <p:pic>
        <p:nvPicPr>
          <p:cNvPr id="28" name="Picture 27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0000" y="4500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29</a:t>
            </a:r>
          </a:p>
        </p:txBody>
      </p:sp>
      <p:pic>
        <p:nvPicPr>
          <p:cNvPr id="30" name="Picture 29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4000" y="4500000"/>
            <a:ext cx="216000" cy="216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75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6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Une offre d’emploi : on la partage à un proche, elle voyage.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4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b_AfricaGlobalLogisticsCI_1127969076262460.jpg"/>
          <p:cNvPicPr>
            <a:picLocks noChangeAspect="1"/>
          </p:cNvPicPr>
          <p:nvPr/>
        </p:nvPicPr>
        <p:blipFill>
          <a:blip r:embed="rId9"/>
          <a:srcRect l="2083" r="2083"/>
          <a:stretch>
            <a:fillRect/>
          </a:stretch>
        </p:blipFill>
        <p:spPr>
          <a:xfrm>
            <a:off x="8172000" y="1692000"/>
            <a:ext cx="3311999" cy="2304000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8244000" y="4031999"/>
            <a:ext cx="396000" cy="396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ag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1520" y="4079519"/>
            <a:ext cx="300960" cy="3009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712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E5B22"/>
                </a:solidFill>
                <a:latin typeface="Poppins"/>
              </a:rPr>
              <a:t>AGL · 21/10</a:t>
            </a:r>
          </a:p>
        </p:txBody>
      </p:sp>
      <p:pic>
        <p:nvPicPr>
          <p:cNvPr id="38" name="Picture 37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000" y="4500000"/>
            <a:ext cx="216000" cy="216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331</a:t>
            </a:r>
          </a:p>
        </p:txBody>
      </p:sp>
      <p:pic>
        <p:nvPicPr>
          <p:cNvPr id="40" name="Picture 39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4000" y="4500000"/>
            <a:ext cx="216000" cy="2160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575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24</a:t>
            </a:r>
          </a:p>
        </p:txBody>
      </p:sp>
      <p:pic>
        <p:nvPicPr>
          <p:cNvPr id="42" name="Picture 41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8000" y="4500000"/>
            <a:ext cx="216000" cy="216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619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0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« Chaque mouvement compte » : engins, zones, sécurité. Le métier, montré en vrai.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Poppins"/>
              </a:rPr>
              <a:t>CE QUE PROLINE PEUT MONTRER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Tout est là pour bien communiquer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8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5364000" cy="4752000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000" y="1764000"/>
            <a:ext cx="46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1202E"/>
                </a:solidFill>
                <a:latin typeface="Poppins"/>
              </a:rPr>
              <a:t>Ce qui marche</a:t>
            </a:r>
          </a:p>
        </p:txBody>
      </p:sp>
      <p:pic>
        <p:nvPicPr>
          <p:cNvPr id="11" name="Picture 10" descr="circle-check_p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2340000"/>
            <a:ext cx="360000" cy="3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68000" y="230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chiffres forts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43 000 m² rackés, 70 000 m² de terre-plein, chariots de 2,5 à 45 tonnes.</a:t>
            </a:r>
          </a:p>
        </p:txBody>
      </p:sp>
      <p:pic>
        <p:nvPicPr>
          <p:cNvPr id="13" name="Picture 12" descr="circle-check_p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3330000"/>
            <a:ext cx="360000" cy="36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68000" y="329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clients connus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Maersk, CMA CGM, Nestlé, TotalEnergies, Cargill, Barry Callebaut : cités sur votre site.</a:t>
            </a:r>
          </a:p>
        </p:txBody>
      </p:sp>
      <p:pic>
        <p:nvPicPr>
          <p:cNvPr id="15" name="Picture 14" descr="circle-check_p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4320000"/>
            <a:ext cx="360000" cy="3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68000" y="428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métiers rares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Hydrocarbures, hors-gabarit, sites portuaire et aéroportuaire.</a:t>
            </a:r>
          </a:p>
        </p:txBody>
      </p:sp>
      <p:pic>
        <p:nvPicPr>
          <p:cNvPr id="17" name="Picture 16" descr="circle-check_p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5310000"/>
            <a:ext cx="360000" cy="36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68000" y="527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 vraies photos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Citerne, entrepôt, caristes : déjà sur votre site, prêtes à servir.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584000"/>
            <a:ext cx="5364000" cy="4752000"/>
          </a:xfrm>
          <a:prstGeom prst="roundRect">
            <a:avLst>
              <a:gd name="adj" fmla="val 6000"/>
            </a:avLst>
          </a:prstGeom>
          <a:solidFill>
            <a:srgbClr val="FD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0000" y="1764000"/>
            <a:ext cx="46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EE5B22"/>
                </a:solidFill>
                <a:latin typeface="Poppins"/>
              </a:rPr>
              <a:t>Ce qui manque</a:t>
            </a:r>
          </a:p>
        </p:txBody>
      </p:sp>
      <p:pic>
        <p:nvPicPr>
          <p:cNvPr id="21" name="Picture 20" descr="circle-x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2340000"/>
            <a:ext cx="360000" cy="36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84000" y="230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Aucune prise de parole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0 publication relevée sur 6 mois, LinkedIn comme Facebook.</a:t>
            </a:r>
          </a:p>
        </p:txBody>
      </p:sp>
      <p:pic>
        <p:nvPicPr>
          <p:cNvPr id="23" name="Picture 22" descr="circle-x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3330000"/>
            <a:ext cx="360000" cy="36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84000" y="329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Une présentation datée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« En près de cinq ans » sur LinkedIn ; « depuis 2013 » sur le site.</a:t>
            </a:r>
          </a:p>
        </p:txBody>
      </p:sp>
      <p:pic>
        <p:nvPicPr>
          <p:cNvPr id="25" name="Picture 24" descr="circle-x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4320000"/>
            <a:ext cx="360000" cy="360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84000" y="428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Un nom pris sur Instagram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Par une société australienne.</a:t>
            </a:r>
          </a:p>
        </p:txBody>
      </p:sp>
      <p:pic>
        <p:nvPicPr>
          <p:cNvPr id="27" name="Picture 26" descr="circle-x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5310000"/>
            <a:ext cx="360000" cy="36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984000" y="527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Personne pour répondre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Les 118 salariés rattachés n’ont rien à partager.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Poppins"/>
              </a:rPr>
              <a:t>MEILLEURES PUBLICATIONS · AGL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meilleures chez AGL : des personnes au travail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9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AfricaGlobalLogisticsCI_1115840197475348.jpg"/>
          <p:cNvPicPr>
            <a:picLocks noChangeAspect="1"/>
          </p:cNvPicPr>
          <p:nvPr/>
        </p:nvPicPr>
        <p:blipFill>
          <a:blip r:embed="rId3"/>
          <a:srcRect t="11008" b="25684"/>
          <a:stretch>
            <a:fillRect/>
          </a:stretch>
        </p:blipFill>
        <p:spPr>
          <a:xfrm>
            <a:off x="666000" y="1674000"/>
            <a:ext cx="2448000" cy="2754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6000" y="1764000"/>
            <a:ext cx="1224000" cy="288000"/>
          </a:xfrm>
          <a:prstGeom prst="round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1</a:t>
            </a:r>
          </a:p>
        </p:txBody>
      </p:sp>
      <p:pic>
        <p:nvPicPr>
          <p:cNvPr id="13" name="Picture 12" descr="heart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4554000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465</a:t>
            </a:r>
          </a:p>
        </p:txBody>
      </p:sp>
      <p:pic>
        <p:nvPicPr>
          <p:cNvPr id="15" name="Picture 14" descr="message-circle_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000" y="4554000"/>
            <a:ext cx="216000" cy="21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3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31</a:t>
            </a:r>
          </a:p>
        </p:txBody>
      </p:sp>
      <p:pic>
        <p:nvPicPr>
          <p:cNvPr id="17" name="Picture 16" descr="share_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8000" y="4554000"/>
            <a:ext cx="216000" cy="2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9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08/10 · Équipes, vidéo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4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b_AfricaGlobalLogisticsCI_1113290144397020.jpg"/>
          <p:cNvPicPr>
            <a:picLocks noChangeAspect="1"/>
          </p:cNvPicPr>
          <p:nvPr/>
        </p:nvPicPr>
        <p:blipFill>
          <a:blip r:embed="rId7"/>
          <a:srcRect l="20370" r="20370"/>
          <a:stretch>
            <a:fillRect/>
          </a:stretch>
        </p:blipFill>
        <p:spPr>
          <a:xfrm>
            <a:off x="3474000" y="1674000"/>
            <a:ext cx="2448000" cy="2754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564000" y="1764000"/>
            <a:ext cx="1224000" cy="288000"/>
          </a:xfrm>
          <a:prstGeom prst="round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4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2</a:t>
            </a:r>
          </a:p>
        </p:txBody>
      </p:sp>
      <p:pic>
        <p:nvPicPr>
          <p:cNvPr id="24" name="Picture 23" descr="heart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4554000"/>
            <a:ext cx="216000" cy="21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77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375</a:t>
            </a:r>
          </a:p>
        </p:txBody>
      </p:sp>
      <p:pic>
        <p:nvPicPr>
          <p:cNvPr id="26" name="Picture 25" descr="message-circle_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4554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4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29</a:t>
            </a:r>
          </a:p>
        </p:txBody>
      </p:sp>
      <p:pic>
        <p:nvPicPr>
          <p:cNvPr id="28" name="Picture 27" descr="share_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000" y="4554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0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8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05/10 · Offre d’emploi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2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b_AfricaGlobalLogisticsCI_1127969076262460.jpg"/>
          <p:cNvPicPr>
            <a:picLocks noChangeAspect="1"/>
          </p:cNvPicPr>
          <p:nvPr/>
        </p:nvPicPr>
        <p:blipFill>
          <a:blip r:embed="rId8"/>
          <a:srcRect l="20370" r="20370"/>
          <a:stretch>
            <a:fillRect/>
          </a:stretch>
        </p:blipFill>
        <p:spPr>
          <a:xfrm>
            <a:off x="6282000" y="1674000"/>
            <a:ext cx="2448000" cy="275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372000" y="1764000"/>
            <a:ext cx="1224000" cy="288000"/>
          </a:xfrm>
          <a:prstGeom prst="round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2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3</a:t>
            </a:r>
          </a:p>
        </p:txBody>
      </p:sp>
      <p:pic>
        <p:nvPicPr>
          <p:cNvPr id="35" name="Picture 34" descr="heart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00" y="4554000"/>
            <a:ext cx="216000" cy="21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8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331</a:t>
            </a:r>
          </a:p>
        </p:txBody>
      </p:sp>
      <p:pic>
        <p:nvPicPr>
          <p:cNvPr id="37" name="Picture 36" descr="message-circle_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0" y="4554000"/>
            <a:ext cx="216000" cy="216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5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24</a:t>
            </a:r>
          </a:p>
        </p:txBody>
      </p:sp>
      <p:pic>
        <p:nvPicPr>
          <p:cNvPr id="39" name="Picture 38" descr="share_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000" y="4554000"/>
            <a:ext cx="216000" cy="21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1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21/10 · Parc à conteneurs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0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b_AfricaGlobalLogisticsCI_1110325751360126.jpg"/>
          <p:cNvPicPr>
            <a:picLocks noChangeAspect="1"/>
          </p:cNvPicPr>
          <p:nvPr/>
        </p:nvPicPr>
        <p:blipFill>
          <a:blip r:embed="rId9"/>
          <a:srcRect t="197" b="460"/>
          <a:stretch>
            <a:fillRect/>
          </a:stretch>
        </p:blipFill>
        <p:spPr>
          <a:xfrm>
            <a:off x="9090000" y="1674000"/>
            <a:ext cx="2448000" cy="27540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180000" y="1764000"/>
            <a:ext cx="1224000" cy="288000"/>
          </a:xfrm>
          <a:prstGeom prst="round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4</a:t>
            </a:r>
          </a:p>
        </p:txBody>
      </p:sp>
      <p:pic>
        <p:nvPicPr>
          <p:cNvPr id="46" name="Picture 45" descr="heart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554000"/>
            <a:ext cx="216000" cy="216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39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313</a:t>
            </a:r>
          </a:p>
        </p:txBody>
      </p:sp>
      <p:pic>
        <p:nvPicPr>
          <p:cNvPr id="48" name="Picture 47" descr="message-circle_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00" y="4554000"/>
            <a:ext cx="216000" cy="216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25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16</a:t>
            </a:r>
          </a:p>
        </p:txBody>
      </p:sp>
      <p:pic>
        <p:nvPicPr>
          <p:cNvPr id="50" name="Picture 49" descr="share_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2000" y="4554000"/>
            <a:ext cx="216000" cy="2160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12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02/10 · Une école rénovée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bulb_p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Les 4 offres d’emploi d’AGL font 270 réactions médianes, près de trois fois la moyenne de la page (96). L’emploi et les équipes font partager ; c’est la porte d’entrée la plus simple pour Proline.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Poppins"/>
              </a:rPr>
              <a:t>MOINS BONNES PUBLICATIONS · AGL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moins bonnes chez AGL : l’agenda et le football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10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AfricaGlobalLogisticsCI_1133432002382834.jpg"/>
          <p:cNvPicPr>
            <a:picLocks noChangeAspect="1"/>
          </p:cNvPicPr>
          <p:nvPr/>
        </p:nvPicPr>
        <p:blipFill>
          <a:blip r:embed="rId3"/>
          <a:srcRect t="483" b="1127"/>
          <a:stretch>
            <a:fillRect/>
          </a:stretch>
        </p:blipFill>
        <p:spPr>
          <a:xfrm>
            <a:off x="666000" y="1674000"/>
            <a:ext cx="2448000" cy="2754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6000" y="1764000"/>
            <a:ext cx="1224000" cy="288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ÉVITER</a:t>
            </a:r>
          </a:p>
        </p:txBody>
      </p:sp>
      <p:pic>
        <p:nvPicPr>
          <p:cNvPr id="13" name="Picture 12" descr="heart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4554000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29</a:t>
            </a:r>
          </a:p>
        </p:txBody>
      </p:sp>
      <p:pic>
        <p:nvPicPr>
          <p:cNvPr id="15" name="Picture 14" descr="message-circle_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000" y="4554000"/>
            <a:ext cx="216000" cy="21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3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</a:t>
            </a:r>
          </a:p>
        </p:txBody>
      </p:sp>
      <p:pic>
        <p:nvPicPr>
          <p:cNvPr id="17" name="Picture 16" descr="share_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8000" y="4554000"/>
            <a:ext cx="216000" cy="2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9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27/10 · Semaine du service client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4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b_AfricaGlobalLogisticsCI_1109641558095212.jpg"/>
          <p:cNvPicPr>
            <a:picLocks noChangeAspect="1"/>
          </p:cNvPicPr>
          <p:nvPr/>
        </p:nvPicPr>
        <p:blipFill>
          <a:blip r:embed="rId7"/>
          <a:srcRect t="2578" b="6016"/>
          <a:stretch>
            <a:fillRect/>
          </a:stretch>
        </p:blipFill>
        <p:spPr>
          <a:xfrm>
            <a:off x="3474000" y="1674000"/>
            <a:ext cx="2448000" cy="2754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564000" y="1764000"/>
            <a:ext cx="1224000" cy="288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4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ÉVITER</a:t>
            </a:r>
          </a:p>
        </p:txBody>
      </p:sp>
      <p:pic>
        <p:nvPicPr>
          <p:cNvPr id="24" name="Picture 23" descr="heart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4554000"/>
            <a:ext cx="216000" cy="21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77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30</a:t>
            </a:r>
          </a:p>
        </p:txBody>
      </p:sp>
      <p:pic>
        <p:nvPicPr>
          <p:cNvPr id="26" name="Picture 25" descr="message-circle_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4554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4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3</a:t>
            </a:r>
          </a:p>
        </p:txBody>
      </p:sp>
      <p:pic>
        <p:nvPicPr>
          <p:cNvPr id="28" name="Picture 27" descr="share_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000" y="4554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0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8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01/10 · Match des Éléphants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2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b_AfricaGlobalLogisticsCI_1134623762263658.jpg"/>
          <p:cNvPicPr>
            <a:picLocks noChangeAspect="1"/>
          </p:cNvPicPr>
          <p:nvPr/>
        </p:nvPicPr>
        <p:blipFill>
          <a:blip r:embed="rId8"/>
          <a:srcRect t="483" b="1127"/>
          <a:stretch>
            <a:fillRect/>
          </a:stretch>
        </p:blipFill>
        <p:spPr>
          <a:xfrm>
            <a:off x="6282000" y="1674000"/>
            <a:ext cx="2448000" cy="275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372000" y="1764000"/>
            <a:ext cx="1224000" cy="288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2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ÉVITER</a:t>
            </a:r>
          </a:p>
        </p:txBody>
      </p:sp>
      <p:pic>
        <p:nvPicPr>
          <p:cNvPr id="35" name="Picture 34" descr="heart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00" y="4554000"/>
            <a:ext cx="216000" cy="21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8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34</a:t>
            </a:r>
          </a:p>
        </p:txBody>
      </p:sp>
      <p:pic>
        <p:nvPicPr>
          <p:cNvPr id="37" name="Picture 36" descr="message-circle_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0" y="4554000"/>
            <a:ext cx="216000" cy="216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5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</a:t>
            </a:r>
          </a:p>
        </p:txBody>
      </p:sp>
      <p:pic>
        <p:nvPicPr>
          <p:cNvPr id="39" name="Picture 38" descr="share_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000" y="4554000"/>
            <a:ext cx="216000" cy="21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1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28/10 · Salon CGECI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0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b_AfricaGlobalLogisticsCI_1126217623104272.jpg"/>
          <p:cNvPicPr>
            <a:picLocks noChangeAspect="1"/>
          </p:cNvPicPr>
          <p:nvPr/>
        </p:nvPicPr>
        <p:blipFill>
          <a:blip r:embed="rId9"/>
          <a:srcRect l="20395" r="20395"/>
          <a:stretch>
            <a:fillRect/>
          </a:stretch>
        </p:blipFill>
        <p:spPr>
          <a:xfrm>
            <a:off x="9090000" y="1674000"/>
            <a:ext cx="2448000" cy="27540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180000" y="1764000"/>
            <a:ext cx="1224000" cy="288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ÉVITER</a:t>
            </a:r>
          </a:p>
        </p:txBody>
      </p:sp>
      <p:pic>
        <p:nvPicPr>
          <p:cNvPr id="46" name="Picture 45" descr="heart_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554000"/>
            <a:ext cx="216000" cy="216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39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60</a:t>
            </a:r>
          </a:p>
        </p:txBody>
      </p:sp>
      <p:pic>
        <p:nvPicPr>
          <p:cNvPr id="48" name="Picture 47" descr="message-circle_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00" y="4554000"/>
            <a:ext cx="216000" cy="216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25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</a:t>
            </a:r>
          </a:p>
        </p:txBody>
      </p:sp>
      <p:pic>
        <p:nvPicPr>
          <p:cNvPr id="50" name="Picture 49" descr="share_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2000" y="4554000"/>
            <a:ext cx="216000" cy="2160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12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19/10 · Partenariat santé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D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alert-triangle_p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Annonces d’agenda, affiches institutionnelles et sujets sans lien avec le métier : trois fois moins de réactions. À éviter pour démarrer.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Poppins"/>
              </a:rPr>
              <a:t>PAR TYPE DE PUBLICATION · AGL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Ce qui fait réagir chez AGL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11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Proline Logistics · Audit réseaux sociaux · relevé du 28/10/2026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76000" y="1944000"/>
          <a:ext cx="5760000" cy="4104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6000" y="1548000"/>
            <a:ext cx="576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Réactions médianes par type (nombre de publications)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6000" y="1655999"/>
            <a:ext cx="4932000" cy="43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E5B22"/>
                </a:solidFill>
                <a:latin typeface="Poppins"/>
              </a:rPr>
              <a:t>Ce que ça dit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Une offre d’emploi fait près de trois fois plus de réactions que la moyenne : on la partage à quelqu’un.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Les équipes et les engins font la base régulière de la page.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L’agenda (salons, semaines thématiques) fait le moins.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>
                <a:solidFill>
                  <a:srgbClr val="5A5A5A"/>
                </a:solidFill>
                <a:latin typeface="Poppins"/>
              </a:rPr>
              <a:t>Classement fait à la lecture des textes : à prendre comme une tendance.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Poppins"/>
              </a:rPr>
              <a:t>AVANT / APRÈS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6 publications prêtes, avec 5 règles simples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12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0000" y="1835999"/>
            <a:ext cx="720000" cy="72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uler-measur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400" y="1994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 chiffre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Mètres carrés, tonnes, camions : en titre.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8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92000" y="1835999"/>
            <a:ext cx="720000" cy="720000"/>
          </a:xfrm>
          <a:prstGeom prst="ellipse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hoto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400" y="1994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16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Vos lieux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6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Vos entrepôts et vos camions, pas une banque d’images.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24000" y="1835999"/>
            <a:ext cx="720000" cy="72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users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400" y="1994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48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personne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 cariste, un chauffeur, une équipe.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2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6000" y="1835999"/>
            <a:ext cx="720000" cy="720000"/>
          </a:xfrm>
          <a:prstGeom prst="ellipse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essage-circ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400" y="1994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80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question d’acheteur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0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Celle qu’un directeur logistique se pose.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4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88000" y="1835999"/>
            <a:ext cx="720000" cy="72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hone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6400" y="1994399"/>
            <a:ext cx="403200" cy="403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12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 contact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2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L’e-mail et le numéro, en bas de l’image.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00" y="4788000"/>
            <a:ext cx="11052000" cy="1332000"/>
          </a:xfrm>
          <a:prstGeom prst="roundRect">
            <a:avLst>
              <a:gd name="adj" fmla="val 6000"/>
            </a:avLst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000" y="4896000"/>
            <a:ext cx="10440000" cy="115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E5B22"/>
                </a:solidFill>
                <a:latin typeface="Poppins"/>
              </a:rPr>
              <a:t>Ce que nous n’avons pas inventé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  <a:latin typeface="Poppins"/>
              </a:rPr>
              <a:t>Chiffres, métiers et coordonnées viennent de votre site. Deux photos sont des illustrations : à remplacer par vos équipes. Délais, tarifs et noms de clients ne s’affichent qu’avec votre accord.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Poppins"/>
              </a:rPr>
              <a:t>AVANT / APRÈS · LE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Vos entrepôts et vos équipes, en grand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13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Proline Logistics · Audit réseaux sociaux · relevé du 28/10/2026</a:t>
            </a:r>
          </a:p>
        </p:txBody>
      </p:sp>
      <p:pic>
        <p:nvPicPr>
          <p:cNvPr id="9" name="Picture 8" descr="w_p_ra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1475999"/>
            <a:ext cx="1944000" cy="2430000"/>
          </a:xfrm>
          <a:prstGeom prst="rect">
            <a:avLst/>
          </a:prstGeom>
        </p:spPr>
      </p:pic>
      <p:pic>
        <p:nvPicPr>
          <p:cNvPr id="10" name="Picture 9" descr="w_p_carist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000" y="1475999"/>
            <a:ext cx="1944000" cy="2430000"/>
          </a:xfrm>
          <a:prstGeom prst="rect">
            <a:avLst/>
          </a:prstGeom>
        </p:spPr>
      </p:pic>
      <p:pic>
        <p:nvPicPr>
          <p:cNvPr id="11" name="Picture 10" descr="w_p_citern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000" y="1475999"/>
            <a:ext cx="1944000" cy="2430000"/>
          </a:xfrm>
          <a:prstGeom prst="rect">
            <a:avLst/>
          </a:prstGeom>
        </p:spPr>
      </p:pic>
      <p:pic>
        <p:nvPicPr>
          <p:cNvPr id="12" name="Picture 11" descr="w_p_fif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00" y="3977999"/>
            <a:ext cx="1944000" cy="2430000"/>
          </a:xfrm>
          <a:prstGeom prst="rect">
            <a:avLst/>
          </a:prstGeom>
        </p:spPr>
      </p:pic>
      <p:pic>
        <p:nvPicPr>
          <p:cNvPr id="13" name="Picture 12" descr="w_p_stock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000" y="3977999"/>
            <a:ext cx="1944000" cy="2430000"/>
          </a:xfrm>
          <a:prstGeom prst="rect">
            <a:avLst/>
          </a:prstGeom>
        </p:spPr>
      </p:pic>
      <p:pic>
        <p:nvPicPr>
          <p:cNvPr id="14" name="Picture 13" descr="w_p_port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000" y="3977999"/>
            <a:ext cx="1944000" cy="243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80000" y="1512000"/>
            <a:ext cx="3348000" cy="50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E5B22"/>
                </a:solidFill>
                <a:latin typeface="Poppins"/>
              </a:rPr>
              <a:t>Ce qui change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Un chiffre ou un métier en titre, sur une photo de vos sites.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Le bleu nuit et l’orange de votre logo, partout.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L’e-mail et le numéro en bas : on vous écrit sans chercher.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>
                <a:solidFill>
                  <a:srgbClr val="5A5A5A"/>
                </a:solidFill>
                <a:latin typeface="Poppins"/>
              </a:rPr>
              <a:t>4 photos viennent de votre site ; 2 sont des illustrations à remplacer par vos équipes.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Poppins"/>
              </a:rPr>
              <a:t>AVANT / APRÈS · 1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Entreposage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14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AUJOURD’HUI</a:t>
            </a:r>
          </a:p>
        </p:txBody>
      </p:sp>
      <p:pic>
        <p:nvPicPr>
          <p:cNvPr id="11" name="Picture 10" descr="b_p_ra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" y="1872000"/>
            <a:ext cx="3353239" cy="44640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p_rac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E5B22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 chiffre qui vous distingue, en titre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Votre vrai entrepôt en photo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question qui qualifie le prospect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43 000 m² d’entrepôts rackés et 70 000 m² de terre-plein à Abidjan. 📦
Stockage palettisé, parc à conteneurs, suivi par logiciel.
 Combien de palettes stockez-vous par mois 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Poppins"/>
              </a:rPr>
              <a:t>AVANT / APRÈS · 2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Caristes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15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AUJOURD’HUI</a:t>
            </a:r>
          </a:p>
        </p:txBody>
      </p:sp>
      <p:pic>
        <p:nvPicPr>
          <p:cNvPr id="11" name="Picture 10" descr="b_p_ra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" y="1872000"/>
            <a:ext cx="3353239" cy="44640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p_carist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E5B22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Les gens d’abord : ce qui marche chez AGL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preuve de sérieux, sans jargon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question qui fait réfléchir l’acheteur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Un cariste formé, c’est moins de casse et plus de palettes à l’heure. 🦺
Nos équipes sont formées : CACES, sécurité, procédures de chaque client.
 Vos prestataires forment-ils leurs caristes 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Poppins"/>
              </a:rPr>
              <a:t>AVANT / APRÈS · 3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Hydrocarbures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16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AUJOURD’HUI</a:t>
            </a:r>
          </a:p>
        </p:txBody>
      </p:sp>
      <p:pic>
        <p:nvPicPr>
          <p:cNvPr id="11" name="Picture 10" descr="b_p_ra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" y="1872000"/>
            <a:ext cx="3353239" cy="44640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p_citern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E5B22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 métier rare, mis en avant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vraie citerne, pas une image de banque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La question qui touche le client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Transport d’hydrocarbures : chaque citerne Proline est suivie au GPS, du départ à la livraison. ⛽
 Savez-vous où est votre camion, là, maintenant 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Poppins"/>
              </a:rPr>
              <a:t>AVANT / APRÈS · 4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Gestion de stock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17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AUJOURD’HUI</a:t>
            </a:r>
          </a:p>
        </p:txBody>
      </p:sp>
      <p:pic>
        <p:nvPicPr>
          <p:cNvPr id="11" name="Picture 10" descr="b_p_ra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" y="1872000"/>
            <a:ext cx="3353239" cy="44640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p_fif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E5B22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 mot de métier expliqué simplement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L’entrepôt en vrai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question qui ouvre la discussion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Premier entré, premier sorti. Ou premier périmé, premier sorti. 📋
Contrôle qualité, préparation de commandes, inventaire : le bon carton part au bon moment.
 FIFO ou FEFO chez vous 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Poppins"/>
              </a:rPr>
              <a:t>AVANT / APRÈS · 5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Inventaire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18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AUJOURD’HUI</a:t>
            </a:r>
          </a:p>
        </p:txBody>
      </p:sp>
      <p:pic>
        <p:nvPicPr>
          <p:cNvPr id="11" name="Picture 10" descr="b_p_ra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" y="1872000"/>
            <a:ext cx="3353239" cy="44640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p_stoc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E5B22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La promesse de transparence en une phrase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personne au travail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question chiffrée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Inventaire physique et informatique : votre stock compté au carton près. 🧾
Vous voyez ce que nous voyons.
 Votre dernier inventaire a pris combien de jours 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Poppins"/>
              </a:rPr>
              <a:t>AVANT / APRÈS · 6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Conteneurs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19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AUJOURD’HUI</a:t>
            </a:r>
          </a:p>
        </p:txBody>
      </p:sp>
      <p:pic>
        <p:nvPicPr>
          <p:cNvPr id="11" name="Picture 10" descr="b_p_ra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" y="1872000"/>
            <a:ext cx="3353239" cy="44640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p_por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E5B22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 parcours complet, en une image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 camion, le conteneur, la route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question à 2 réponses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Du port à votre entrepôt : transport de conteneurs, sites portuaire et aéroportuaire. 🚛
 Port ou aéroport : d’où arrivent vos marchandises 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Poppins"/>
              </a:rPr>
              <a:t>RECOMMANDATIONS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5 décisions pour exister en ligne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20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Proline Logistics · Audit réseaux sociaux · relevé du 28/10/2026</a:t>
            </a:r>
          </a:p>
        </p:txBody>
      </p:sp>
      <p:pic>
        <p:nvPicPr>
          <p:cNvPr id="9" name="Picture 8" descr="pl_gestion_stock_cariste_jpg.jpg"/>
          <p:cNvPicPr>
            <a:picLocks noChangeAspect="1"/>
          </p:cNvPicPr>
          <p:nvPr/>
        </p:nvPicPr>
        <p:blipFill>
          <a:blip r:embed="rId3"/>
          <a:srcRect l="37098" r="37098"/>
          <a:stretch>
            <a:fillRect/>
          </a:stretch>
        </p:blipFill>
        <p:spPr>
          <a:xfrm>
            <a:off x="8928000" y="1584000"/>
            <a:ext cx="2700000" cy="4662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1584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" y="1584000"/>
            <a:ext cx="90000" cy="846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584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EE5B22"/>
                </a:solidFill>
                <a:latin typeface="Poppins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296000" y="1728000"/>
            <a:ext cx="558000" cy="558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alendar-even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760" y="1850760"/>
            <a:ext cx="312480" cy="312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15999" y="1584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Démarrer à 2 par semaine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6000" y="1584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LinkedIn d’abord, mardi et jeudi à 8 h : c’est là que sont vos 3 517 abonnés et vos acheteurs.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00" y="2538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00" y="2538000"/>
            <a:ext cx="90000" cy="846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000" y="2538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EE5B22"/>
                </a:solidFill>
                <a:latin typeface="Poppins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1296000" y="2682000"/>
            <a:ext cx="558000" cy="558000"/>
          </a:xfrm>
          <a:prstGeom prst="ellipse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riefcase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8760" y="2804760"/>
            <a:ext cx="312480" cy="312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015999" y="2538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Publier vos offres d’emploi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6000" y="2538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La publication qui voyage le plus chez AGL : chaque recrutement devient une vitrine.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" y="3492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00" y="3492000"/>
            <a:ext cx="90000" cy="846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000" y="3492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EE5B22"/>
                </a:solidFill>
                <a:latin typeface="Poppins"/>
              </a:rP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1296000" y="3636000"/>
            <a:ext cx="558000" cy="558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orklift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8760" y="3758760"/>
            <a:ext cx="312480" cy="3124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015999" y="3492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Montrer vos équipes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6000" y="3492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 cariste, un chauffeur, un chef de quai : une personne par mois, avec son accord.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00" y="4446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00" y="4446000"/>
            <a:ext cx="90000" cy="846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6000" y="4446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EE5B22"/>
                </a:solidFill>
                <a:latin typeface="Poppins"/>
              </a:rPr>
              <a:t>4</a:t>
            </a:r>
          </a:p>
        </p:txBody>
      </p:sp>
      <p:sp>
        <p:nvSpPr>
          <p:cNvPr id="34" name="Oval 33"/>
          <p:cNvSpPr/>
          <p:nvPr/>
        </p:nvSpPr>
        <p:spPr>
          <a:xfrm>
            <a:off x="1296000" y="4590000"/>
            <a:ext cx="558000" cy="558000"/>
          </a:xfrm>
          <a:prstGeom prst="ellipse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pencil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8760" y="4712760"/>
            <a:ext cx="312480" cy="3124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015999" y="4446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Mettre la page à jour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56000" y="4446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Présentation, ancienneté, certifications en cours, lien vers le site, photo de couverture.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00" y="5400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6000" y="5400000"/>
            <a:ext cx="90000" cy="846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6000" y="5400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EE5B22"/>
                </a:solidFill>
                <a:latin typeface="Poppins"/>
              </a:rPr>
              <a:t>5</a:t>
            </a:r>
          </a:p>
        </p:txBody>
      </p:sp>
      <p:sp>
        <p:nvSpPr>
          <p:cNvPr id="41" name="Oval 40"/>
          <p:cNvSpPr/>
          <p:nvPr/>
        </p:nvSpPr>
        <p:spPr>
          <a:xfrm>
            <a:off x="1296000" y="5544000"/>
            <a:ext cx="558000" cy="558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rand-instagram_b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8760" y="5666760"/>
            <a:ext cx="312480" cy="312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015999" y="5400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Réserver votre nom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56000" y="5400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 compte Instagram « proline.ci » ou proche, même vide, pour qu’on ne tombe plus sur l’Australie.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Poppins"/>
              </a:rPr>
              <a:t>PLAN 30 JOURS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Le premier mois, semaine par semaine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21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Proline Logistics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576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lendar-event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710000"/>
            <a:ext cx="324000" cy="324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6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Mettre à jour la page LinkedIn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Valider les 6 publications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Réserver le nom Instagram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0" y="1584000"/>
            <a:ext cx="2628000" cy="576000"/>
          </a:xfrm>
          <a:prstGeom prst="round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encil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1710000"/>
            <a:ext cx="324000" cy="32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24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4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8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Publier 2 des 6 publications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Demander aux salariés de suivre la page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Répondre à chaque commentaire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584000"/>
            <a:ext cx="2628000" cy="576000"/>
          </a:xfrm>
          <a:prstGeom prst="round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riefcase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000" y="1710000"/>
            <a:ext cx="324000" cy="324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32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2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Publier une offre d’emploi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Publier 2 autres publications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Photographier 2 équipes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0000" y="1584000"/>
            <a:ext cx="2628000" cy="576000"/>
          </a:xfrm>
          <a:prstGeom prst="round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trending-up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1710000"/>
            <a:ext cx="324000" cy="324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540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0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Compter réactions et abonnés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Compter les demandes reçues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EE5B22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Préparer décembre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00" y="5364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target-arrow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000" y="5544000"/>
            <a:ext cx="503999" cy="5039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40000" y="5364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Poppins"/>
              </a:rPr>
              <a:t>Objectif proposé à 30 jours : 8 publications, 20 réactions médianes sur LinkedIn, et chaque demande de devis venue des réseaux notée.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Poppins"/>
              </a:rPr>
              <a:t>TABLEAU DE BORD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Les chiffres à suivre chaque semaine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22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Proline Logistics · Audit réseaux sociaux · relevé du 28/10/2026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00" y="1584000"/>
          <a:ext cx="11052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2544000"/>
                <a:gridCol w="2544000"/>
                <a:gridCol w="2544000"/>
              </a:tblGrid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Indicateur</a:t>
                      </a:r>
                    </a:p>
                  </a:txBody>
                  <a:tcPr anchor="ctr">
                    <a:solidFill>
                      <a:srgbClr val="112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Où le lire</a:t>
                      </a:r>
                    </a:p>
                  </a:txBody>
                  <a:tcPr anchor="ctr">
                    <a:solidFill>
                      <a:srgbClr val="112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Départ (28/10)</a:t>
                      </a:r>
                    </a:p>
                  </a:txBody>
                  <a:tcPr anchor="ctr">
                    <a:solidFill>
                      <a:srgbClr val="112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Objectif 30 jours</a:t>
                      </a:r>
                    </a:p>
                  </a:txBody>
                  <a:tcPr anchor="ctr">
                    <a:solidFill>
                      <a:srgbClr val="11202E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LinkedIn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Page LinkedIn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0 relevée</a:t>
                      </a:r>
                    </a:p>
                  </a:txBody>
                  <a:tcPr anchor="ctr">
                    <a:solidFill>
                      <a:srgbClr val="FDE6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8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Réactions médianes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Page LinkedIn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–</a:t>
                      </a:r>
                    </a:p>
                  </a:txBody>
                  <a:tcPr anchor="ctr">
                    <a:solidFill>
                      <a:srgbClr val="FDE6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Abonnés LinkedIn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Page LinkedIn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3 517</a:t>
                      </a:r>
                    </a:p>
                  </a:txBody>
                  <a:tcPr anchor="ctr">
                    <a:solidFill>
                      <a:srgbClr val="FDE6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3 700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Offres d’emploi publiées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Page LinkedIn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0</a:t>
                      </a:r>
                    </a:p>
                  </a:txBody>
                  <a:tcPr anchor="ctr">
                    <a:solidFill>
                      <a:srgbClr val="FDE6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Salariés qui partagent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Page LinkedIn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–</a:t>
                      </a:r>
                    </a:p>
                  </a:txBody>
                  <a:tcPr anchor="ctr">
                    <a:solidFill>
                      <a:srgbClr val="FDE6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3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Demandes de devis venues des réseaux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Votre boîte 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non suivi</a:t>
                      </a:r>
                    </a:p>
                  </a:txBody>
                  <a:tcPr anchor="ctr">
                    <a:solidFill>
                      <a:srgbClr val="FDE6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comptées chaque semaine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6000" y="5544000"/>
            <a:ext cx="11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Les visites de la page et la portée ne se lisent qu’avec l’accès administrateur : ce tableau commence par ce qui se voit de l’extérieur.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proline-fond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399" y="216000"/>
            <a:ext cx="1607441" cy="57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E5B22"/>
                </a:solidFill>
                <a:latin typeface="Poppins"/>
              </a:rPr>
              <a:t>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Ce qu’il nous faut pour aller plus loin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23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Proline Logistics · Audit réseaux sociaux · relevé du 28/10/2026</a:t>
            </a:r>
          </a:p>
        </p:txBody>
      </p:sp>
      <p:pic>
        <p:nvPicPr>
          <p:cNvPr id="9" name="Picture 8" descr="pl_entrepot_rack_jpg.jpg"/>
          <p:cNvPicPr>
            <a:picLocks noChangeAspect="1"/>
          </p:cNvPicPr>
          <p:nvPr/>
        </p:nvPicPr>
        <p:blipFill>
          <a:blip r:embed="rId3"/>
          <a:srcRect l="31901" r="31901"/>
          <a:stretch>
            <a:fillRect/>
          </a:stretch>
        </p:blipFill>
        <p:spPr>
          <a:xfrm>
            <a:off x="8928000" y="1584000"/>
            <a:ext cx="2700000" cy="4644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7999" y="1835999"/>
            <a:ext cx="720000" cy="72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ye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399" y="1994399"/>
            <a:ext cx="403200" cy="40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L’accès à la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Pour publier, et lire les visites et la portée. Et savoir si une page Facebook active existe.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7999" y="1835999"/>
            <a:ext cx="720000" cy="720000"/>
          </a:xfrm>
          <a:prstGeom prst="ellipse">
            <a:avLst/>
          </a:prstGeom>
          <a:solidFill>
            <a:srgbClr val="EE5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mera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399" y="1994399"/>
            <a:ext cx="403200" cy="40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1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Des photos récentes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Une demi-journée de prises de vue sur vos parcs nourrit trois mois de publications.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7999" y="1835999"/>
            <a:ext cx="720000" cy="720000"/>
          </a:xfrm>
          <a:prstGeom prst="ellipse">
            <a:avLst/>
          </a:prstGeom>
          <a:solidFill>
            <a:srgbClr val="11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ircle-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399" y="1994399"/>
            <a:ext cx="403200" cy="403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Votre accord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Sur les 6 publications, et sur les noms de clients que vous acceptez d’afficher.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5436000"/>
            <a:ext cx="8136000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Rien n’a été publié. Les visuels reprennent les photos de votre site et vos coordonnées.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