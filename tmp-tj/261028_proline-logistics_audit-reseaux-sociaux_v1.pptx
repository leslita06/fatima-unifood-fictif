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Publications par semaine (période relevée)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Publications par semaine (période relevée)</c:v>
                </c:pt>
              </c:strCache>
            </c:strRef>
          </c:tx>
          <c:dPt>
            <c:idx val="0"/>
            <c:spPr>
              <a:solidFill>
                <a:srgbClr val="EE5B22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cat>
            <c:strRef>
              <c:f>Sheet1!$A$2:$A$5</c:f>
              <c:strCache>
                <c:ptCount val="4"/>
                <c:pt idx="0">
                  <c:v>Proline</c:v>
                </c:pt>
                <c:pt idx="1">
                  <c:v>AGL (Facebook)</c:v>
                </c:pt>
                <c:pt idx="2">
                  <c:v>LTA (LinkedIn)</c:v>
                </c:pt>
                <c:pt idx="3">
                  <c:v>OTL (LinkedIn)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6.0</c:v>
                </c:pt>
                <c:pt idx="2">
                  <c:v>0.3</c:v>
                </c:pt>
                <c:pt idx="3">
                  <c:v>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Réactions médianes par type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type (nombre de publications)</c:v>
                </c:pt>
              </c:strCache>
            </c:strRef>
          </c:tx>
          <c:dPt>
            <c:idx val="0"/>
            <c:spPr>
              <a:solidFill>
                <a:srgbClr val="EE5B22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cat>
            <c:strRef>
              <c:f>Sheet1!$A$2:$A$5</c:f>
              <c:strCache>
                <c:ptCount val="4"/>
                <c:pt idx="0">
                  <c:v>Offres d’emploi (4)</c:v>
                </c:pt>
                <c:pt idx="1">
                  <c:v>Équipes et engins (13)</c:v>
                </c:pt>
                <c:pt idx="2">
                  <c:v>Toute la page (25)</c:v>
                </c:pt>
                <c:pt idx="3">
                  <c:v>Agenda et événements (4)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270</c:v>
                </c:pt>
                <c:pt idx="1">
                  <c:v>95</c:v>
                </c:pt>
                <c:pt idx="2">
                  <c:v>96</c:v>
                </c:pt>
                <c:pt idx="3">
                  <c:v>32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24.png"/><Relationship Id="rId1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jpg"/><Relationship Id="rId9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6.jpg"/><Relationship Id="rId4" Type="http://schemas.openxmlformats.org/officeDocument/2006/relationships/image" Target="../media/image1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png"/><Relationship Id="rId4" Type="http://schemas.openxmlformats.org/officeDocument/2006/relationships/image" Target="../media/image60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p_cari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pro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9" y="540000"/>
            <a:ext cx="2411162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Proline Logistics face à AGL, LTA et OTL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que font les autres, ce qui vous manque, et 6 publications prêtes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t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audience qui attend, une page qui se tait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3 517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Six fois LTA (566), onze fois OTL (313). Une vraie base de clients et de candidats.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Aucune publication relevée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Ni sur LinkedIn ni sur Facebook, sur les 6 derniers mois, au relevé du 28/10.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ilding-warehou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Des atouts que personne ne voit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43 000 m² d’entrepôts, hydrocarbures, Maersk, Nestlé, Cargill : sur le site, pas sur les réseaux.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Chez AGL, ce sont les gens qui marchent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Offres d’emploi et équipes sur les parcs : jusqu’à 465 réactions.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LinkedIn, Facebook et Instagram de Proline, AGL, LTA et OTL,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25 publications pour AGL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Du 29/09 au 28/10 sur Facebook ; 20 sur Instagram. LTA et OTL : leurs seules publications récentes.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page vide ne se mesure pas : nous comparons ce que font les autres à ce que Proline pourrait montrer.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Quatre logisticiens d’Abidjan,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line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EE5B22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3 517 abonnés</a:t>
            </a:r>
          </a:p>
        </p:txBody>
      </p:sp>
      <p:pic>
        <p:nvPicPr>
          <p:cNvPr id="17" name="Picture 16" descr="speakerphon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 publ. relevée</a:t>
            </a:r>
          </a:p>
        </p:txBody>
      </p:sp>
      <p:pic>
        <p:nvPicPr>
          <p:cNvPr id="19" name="Picture 18" descr="users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118 salariés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base solide, aucune prise de parole.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g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AGL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87 278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96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machine éditoriale.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566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 publ. en juin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et 8 J’aime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moments d’équipe, rares.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ot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OTL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54" name="Picture 53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313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publ. en juillet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20 J’aime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offre d’emploi, rien d’autre.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LES COMPTES DE PROLINE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Des comptes ouverts, mais rien dedans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3 517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118 salariés rattachés · aucune publication relevée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page de 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Page « Proline Logistics » trouvée, sans publication lisible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nom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@prolinelogistics est une société de Perth, en Australie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acheteur qui cherche « Proline Logistics » sur Instagram tombe sur un transporteur australien. La présentation LinkedIn dit encore « en près de cinq ans » alors que votre site annonce Abidjan depuis 2013 : à mettre à jour, avec le lien vers le site et les certifications en 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AGL publie tous les jours, les autres presque jamais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45000"/>
                <a:gridCol w="945000"/>
                <a:gridCol w="945000"/>
                <a:gridCol w="945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Proline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AGL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LTA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OTL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566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87 278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5 220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récentes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en 1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 (juin)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(juillet)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96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AGL est un groupe portuaire : son volume n’est pas la cible. Ce qui compte, c’est ce qui fait réagir chez lui, à reprendre à votre échelle.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Chez AGL : les engins, les équipes, l’emploi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8256" b="4259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08/10 · vidéo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Les équipes sur le parc à conteneurs, en vidéo : la meilleure publication du mois.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AfricaGlobalLogisticsCI_1113290144397020.jpg"/>
          <p:cNvPicPr>
            <a:picLocks noChangeAspect="1"/>
          </p:cNvPicPr>
          <p:nvPr/>
        </p:nvPicPr>
        <p:blipFill>
          <a:blip r:embed="rId8"/>
          <a:srcRect l="2083" r="2083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05/10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offre d’emploi : on la partage à un proche, elle voyage.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AfricaGlobalLogisticsCI_1127969076262460.jpg"/>
          <p:cNvPicPr>
            <a:picLocks noChangeAspect="1"/>
          </p:cNvPicPr>
          <p:nvPr/>
        </p:nvPicPr>
        <p:blipFill>
          <a:blip r:embed="rId9"/>
          <a:srcRect l="2083" r="2083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21/10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Chaque mouvement compte » : engins, zones, sécurité. Le métier, montré en vrai.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QUE PROLINE PEUT MONTRER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est là pour bien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1202E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chiffres forts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43 000 m² rackés, 70 000 m² de terre-plein, chariots de 2,5 à 45 tonnes.</a:t>
            </a:r>
          </a:p>
        </p:txBody>
      </p:sp>
      <p:pic>
        <p:nvPicPr>
          <p:cNvPr id="13" name="Picture 12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clients connus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Maersk, CMA CGM, Nestlé, TotalEnergies, Cargill, Barry Callebaut : cités sur votre site.</a:t>
            </a:r>
          </a:p>
        </p:txBody>
      </p:sp>
      <p:pic>
        <p:nvPicPr>
          <p:cNvPr id="15" name="Picture 14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métiers rares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Hydrocarbures, hors-gabarit, sites portuaire et aéroportuaire.</a:t>
            </a:r>
          </a:p>
        </p:txBody>
      </p:sp>
      <p:pic>
        <p:nvPicPr>
          <p:cNvPr id="17" name="Picture 16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 vraies photos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Citerne, entrepôt, caristes : déjà sur votre site, prêtes à servir.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E5B22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Aucune prise de parole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publication relevée sur 6 mois, LinkedIn comme Facebook.</a:t>
            </a:r>
          </a:p>
        </p:txBody>
      </p:sp>
      <p:pic>
        <p:nvPicPr>
          <p:cNvPr id="23" name="Picture 22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présentation datée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En près de cinq ans » sur LinkedIn ; « depuis 2013 » sur le site.</a:t>
            </a:r>
          </a:p>
        </p:txBody>
      </p:sp>
      <p:pic>
        <p:nvPicPr>
          <p:cNvPr id="25" name="Picture 24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nom pris sur Instagram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Par une société australienne.</a:t>
            </a:r>
          </a:p>
        </p:txBody>
      </p:sp>
      <p:pic>
        <p:nvPicPr>
          <p:cNvPr id="27" name="Picture 26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Personne pour répondre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Les 118 salariés rattachés n’ont rien à partager.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MEILLEURES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chez AGL : des personnes au travail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1008" b="25684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08/10 · Équipes, vidéo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13290144397020.jpg"/>
          <p:cNvPicPr>
            <a:picLocks noChangeAspect="1"/>
          </p:cNvPicPr>
          <p:nvPr/>
        </p:nvPicPr>
        <p:blipFill>
          <a:blip r:embed="rId7"/>
          <a:srcRect l="20370" r="2037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05/10 · Offre d’emploi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27969076262460.jpg"/>
          <p:cNvPicPr>
            <a:picLocks noChangeAspect="1"/>
          </p:cNvPicPr>
          <p:nvPr/>
        </p:nvPicPr>
        <p:blipFill>
          <a:blip r:embed="rId8"/>
          <a:srcRect l="20370" r="2037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21/10 · Parc à conteneurs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10325751360126.jpg"/>
          <p:cNvPicPr>
            <a:picLocks noChangeAspect="1"/>
          </p:cNvPicPr>
          <p:nvPr/>
        </p:nvPicPr>
        <p:blipFill>
          <a:blip r:embed="rId9"/>
          <a:srcRect t="197" b="46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313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16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02/10 · Une école rénovée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4 offres d’emploi d’AGL font 270 réactions médianes, près de trois fois la moyenne de la page (96). L’emploi et les équipes font partager ; c’est la porte d’entrée la plus simple pour Proline.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MOINS BONNES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chez AGL : l’agenda et le football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33432002382834.jpg"/>
          <p:cNvPicPr>
            <a:picLocks noChangeAspect="1"/>
          </p:cNvPicPr>
          <p:nvPr/>
        </p:nvPicPr>
        <p:blipFill>
          <a:blip r:embed="rId3"/>
          <a:srcRect t="483" b="112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Semaine du service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09641558095212.jpg"/>
          <p:cNvPicPr>
            <a:picLocks noChangeAspect="1"/>
          </p:cNvPicPr>
          <p:nvPr/>
        </p:nvPicPr>
        <p:blipFill>
          <a:blip r:embed="rId7"/>
          <a:srcRect t="2578" b="6016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30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01/10 · Match des Éléphants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34623762263658.jpg"/>
          <p:cNvPicPr>
            <a:picLocks noChangeAspect="1"/>
          </p:cNvPicPr>
          <p:nvPr/>
        </p:nvPicPr>
        <p:blipFill>
          <a:blip r:embed="rId8"/>
          <a:srcRect t="483" b="112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34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28/10 · Salon CGECI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26217623104272.jpg"/>
          <p:cNvPicPr>
            <a:picLocks noChangeAspect="1"/>
          </p:cNvPicPr>
          <p:nvPr/>
        </p:nvPicPr>
        <p:blipFill>
          <a:blip r:embed="rId9"/>
          <a:srcRect l="20395" r="20395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60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19/10 · Partenariat santé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Annonces d’agenda, affiches institutionnelles et sujets sans lien avec le métier : trois fois moins de réactions. À éviter pour démarrer.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PAR TYPE DE PUBLICATION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chez AGL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offre d’emploi fait près de trois fois plus de réactions que la moyenne : on la partage à quelqu’un.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équipes et les engins font la base régulière de la page.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L’agenda (salons, semaines thématiques) fait le moins.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Classement fait à la lecture des textes : à prendre comme une 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prêtes,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uler-measur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chiffre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Mètres carrés, tonnes, camions : en titre.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t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Vos lieux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Vos entrepôts et vos camions, pas une banque d’images.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cariste, un chauffeur, une 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Celle qu’un directeur logistique se pose.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L’e-mail et le numéro, en bas de l’image.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Chiffres, métiers et coordonnées viennent de votre site. Deux photos sont des illustrations : à remplacer par vos équipes. Délais, tarifs et noms de clients ne s’affichent qu’avec votre 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entrepôts et vos équipes, en grand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v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p_caris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p_fif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p_sto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p_po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chiffre ou un métier en titre, sur une photo de vos sites.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bleu nuit et l’orange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L’e-mail et le numéro en bas : on vous écrit sans chercher.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4 photos viennent de votre site ; 2 sont des illustrations à remplacer par vos équipes.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Entreposage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Caristes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caris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Hydrocarbures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citer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Gestion de stock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fif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Inventaire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st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Conteneurs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exister en ligne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Démarrer à 2 par semaine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 d’abord, mardi et jeudi à 8 h : c’est là que sont vos 3 517 abonnés et vos acheteurs.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Publier vos offres d’emploi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publication qui voyage le plus chez AGL : chaque recrutement devient une vitrine.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orklif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Montrer vos équipes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cariste, un chauffeur, un chef de quai : une personne par mois, avec son accord.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encil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Mettre la page à jour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Présentation, ancienneté, certifications en cours, lien vers le site, photo de couverture.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Réserver votre nom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compte Instagram « proline.ci » ou proche, même vide, pour qu’on ne tombe plus sur l’Australie.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Mettre à jour la page LinkedIn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Réserver le nom 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des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Demander aux salariés de suivre la page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une offre d’emploi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autres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Photographier 2 équipes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réactions et abonnés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reçues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8 publications, 20 réactions médianes sur LinkedIn, et chaque demande de devis venue des réseaux notée.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relevée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3 700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qui partagent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Pour publier, et lire les visites et la portée. Et savoir si une page Facebook active existe.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era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demi-journée de prises de vue sur vos parcs nourrit trois mois de publications.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publications, et sur les noms de clients que vous acceptez d’afficher.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visuels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