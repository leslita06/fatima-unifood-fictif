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Réactions médianes par publication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Réactions médianes par publication</c:v>
                </c:pt>
              </c:strCache>
            </c:strRef>
          </c:tx>
          <c:dPt>
            <c:idx val="0"/>
            <c:spPr>
              <a:solidFill>
                <a:srgbClr val="E84E0E"/>
              </a:solidFill>
            </c:spPr>
          </c:dPt>
          <c:dPt>
            <c:idx val="1"/>
            <c:spPr>
              <a:solidFill>
                <a:srgbClr val="5A5A5A"/>
              </a:solidFill>
            </c:spPr>
          </c:dPt>
          <c:dPt>
            <c:idx val="2"/>
            <c:spPr>
              <a:solidFill>
                <a:srgbClr val="5A5A5A"/>
              </a:solidFill>
            </c:spPr>
          </c:dPt>
          <c:cat>
            <c:strRef>
              <c:f>Sheet1!$A$2:$A$4</c:f>
              <c:strCache>
                <c:ptCount val="3"/>
                <c:pt idx="0">
                  <c:v>TAJ PLAST</c:v>
                </c:pt>
                <c:pt idx="1">
                  <c:v>Plastica CI</c:v>
                </c:pt>
                <c:pt idx="2">
                  <c:v>Metaplast CI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</c:v>
                </c:pt>
                <c:pt idx="1">
                  <c:v>9</c:v>
                </c:pt>
                <c:pt idx="2">
                  <c:v>26</c:v>
                </c:pt>
              </c:numCache>
            </c:numRef>
          </c:val>
        </c:ser>
        <c:dLbls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8.jp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jpg"/><Relationship Id="rId8" Type="http://schemas.openxmlformats.org/officeDocument/2006/relationships/image" Target="../media/image2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6.jp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jpg"/><Relationship Id="rId8" Type="http://schemas.openxmlformats.org/officeDocument/2006/relationships/image" Target="../media/image31.jpg"/><Relationship Id="rId9" Type="http://schemas.openxmlformats.org/officeDocument/2006/relationships/image" Target="../media/image32.jpg"/><Relationship Id="rId10" Type="http://schemas.openxmlformats.org/officeDocument/2006/relationships/image" Target="../media/image3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34.jp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5.jpg"/><Relationship Id="rId8" Type="http://schemas.openxmlformats.org/officeDocument/2006/relationships/image" Target="../media/image36.jpg"/><Relationship Id="rId9" Type="http://schemas.openxmlformats.org/officeDocument/2006/relationships/image" Target="../media/image37.jpg"/><Relationship Id="rId10" Type="http://schemas.openxmlformats.org/officeDocument/2006/relationships/image" Target="../media/image3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3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3.jpg"/><Relationship Id="rId4" Type="http://schemas.openxmlformats.org/officeDocument/2006/relationships/image" Target="../media/image44.jpg"/><Relationship Id="rId5" Type="http://schemas.openxmlformats.org/officeDocument/2006/relationships/image" Target="../media/image45.jpg"/><Relationship Id="rId6" Type="http://schemas.openxmlformats.org/officeDocument/2006/relationships/image" Target="../media/image46.jpg"/><Relationship Id="rId7" Type="http://schemas.openxmlformats.org/officeDocument/2006/relationships/image" Target="../media/image47.jpg"/><Relationship Id="rId8" Type="http://schemas.openxmlformats.org/officeDocument/2006/relationships/image" Target="../media/image4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39.png"/><Relationship Id="rId6" Type="http://schemas.openxmlformats.org/officeDocument/2006/relationships/image" Target="../media/image57.png"/><Relationship Id="rId7" Type="http://schemas.openxmlformats.org/officeDocument/2006/relationships/image" Target="../media/image58.jpg"/><Relationship Id="rId8" Type="http://schemas.openxmlformats.org/officeDocument/2006/relationships/image" Target="../media/image59.jpg"/><Relationship Id="rId9" Type="http://schemas.openxmlformats.org/officeDocument/2006/relationships/image" Target="../media/image60.jpg"/><Relationship Id="rId10" Type="http://schemas.openxmlformats.org/officeDocument/2006/relationships/image" Target="../media/image61.jpg"/><Relationship Id="rId11" Type="http://schemas.openxmlformats.org/officeDocument/2006/relationships/image" Target="../media/image62.jpg"/><Relationship Id="rId12" Type="http://schemas.openxmlformats.org/officeDocument/2006/relationships/image" Target="../media/image63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8.jpg"/><Relationship Id="rId4" Type="http://schemas.openxmlformats.org/officeDocument/2006/relationships/image" Target="../media/image5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60.jpg"/><Relationship Id="rId4" Type="http://schemas.openxmlformats.org/officeDocument/2006/relationships/image" Target="../media/image6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62.jpg"/><Relationship Id="rId4" Type="http://schemas.openxmlformats.org/officeDocument/2006/relationships/image" Target="../media/image6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64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65.png"/><Relationship Id="rId7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66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67.png"/><Relationship Id="rId7" Type="http://schemas.openxmlformats.org/officeDocument/2006/relationships/image" Target="../media/image6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65.png"/><Relationship Id="rId5" Type="http://schemas.openxmlformats.org/officeDocument/2006/relationships/image" Target="../media/image6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20000" y="0"/>
            <a:ext cx="5172119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able_ibi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8000" y="1889817"/>
            <a:ext cx="4236119" cy="307836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020000" y="0"/>
            <a:ext cx="9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blan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000" y="585571"/>
            <a:ext cx="2520000" cy="700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8000" y="2015999"/>
            <a:ext cx="594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E84E0E"/>
                </a:solidFill>
                <a:latin typeface="Arial"/>
              </a:rPr>
              <a:t>AUDIT RÉSEAUX SOCIAUX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2376000"/>
            <a:ext cx="6048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TAJ PLAST face à ses concurrents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000" y="4104000"/>
            <a:ext cx="594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DDDDDD"/>
                </a:solidFill>
                <a:latin typeface="Arial"/>
              </a:rPr>
              <a:t>Ce qui marche, ce qui manque, et 6 publications refaites</a:t>
            </a:r>
          </a:p>
        </p:txBody>
      </p:sp>
      <p:pic>
        <p:nvPicPr>
          <p:cNvPr id="10" name="Picture 9" descr="brand-facebook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" y="5184000"/>
            <a:ext cx="324000" cy="324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4000" y="5202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Facebook</a:t>
            </a:r>
          </a:p>
        </p:txBody>
      </p:sp>
      <p:pic>
        <p:nvPicPr>
          <p:cNvPr id="12" name="Picture 11" descr="brand-instagram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32000" y="5184000"/>
            <a:ext cx="324000" cy="324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628000" y="5202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Instagram</a:t>
            </a:r>
          </a:p>
        </p:txBody>
      </p:sp>
      <p:pic>
        <p:nvPicPr>
          <p:cNvPr id="14" name="Picture 13" descr="brand-linkedin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6000" y="5184000"/>
            <a:ext cx="324000" cy="32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12000" y="5202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LinkedIn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000" y="5976000"/>
            <a:ext cx="576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Arial"/>
              </a:rPr>
              <a:t>Relevé des pages publiques le 27 octobre 2026 · document de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L'ESSENTIEL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Beaucoup de publications, très peu de réactions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2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4000" y="1979999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peakerphon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400" y="2138399"/>
            <a:ext cx="403200" cy="40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36000" y="1979999"/>
            <a:ext cx="3888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Arial"/>
              </a:rPr>
              <a:t>22 publications par semaine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36000" y="2555999"/>
            <a:ext cx="3888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Trois par jour sur Facebook. Metaplast en fait moins d’une, Plastica une.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2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0000" y="1979999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hear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400" y="2138399"/>
            <a:ext cx="403200" cy="40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52000" y="1979999"/>
            <a:ext cx="3888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Arial"/>
              </a:rPr>
              <a:t>3 réactions par publication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000" y="2555999"/>
            <a:ext cx="3888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Pour 11 000 abonnés. Metaplast en obtient 26, Plastica 9.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6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64000" y="4247999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encil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400" y="4406399"/>
            <a:ext cx="403200" cy="403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36000" y="4247999"/>
            <a:ext cx="3888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Arial"/>
              </a:rPr>
              <a:t>23 textes sur 25 sans message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36000" y="4823999"/>
            <a:ext cx="3888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Le texte se limite au téléphone, à l’e-mail et aux mots-dièse.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2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80000" y="4247999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video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8400" y="4406399"/>
            <a:ext cx="403200" cy="403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452000" y="4247999"/>
            <a:ext cx="3888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Arial"/>
              </a:rPr>
              <a:t>0 vidéo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2000" y="4823999"/>
            <a:ext cx="3888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Chez Metaplast, les vidéos font 3,5 fois plus de réactions que les images.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MÉTHODE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Ce que nous avons regardé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3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7999" y="1944000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y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99" y="2102400"/>
            <a:ext cx="403200" cy="40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7999" y="2880000"/>
            <a:ext cx="216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Pages publiques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999" y="3600000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Facebook, Instagram et LinkedIn de TAJ PLAST, Metaplast CI et Plastica CI, relevés le 27/10/2026.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4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35999" y="1944000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ist-check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399" y="2102400"/>
            <a:ext cx="403200" cy="40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635999" y="2880000"/>
            <a:ext cx="216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25 publications par marque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5999" y="3600000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Les 25 dernières sur Facebook : du 19 au 27/10 pour TAJ PLAST, plusieurs mois pour les deux autres.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2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3999" y="1944000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arget-arrow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2399" y="2102400"/>
            <a:ext cx="403200" cy="403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43999" y="2880000"/>
            <a:ext cx="216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Médianes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3999" y="3600000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La valeur du milieu, pour ne pas laisser une publication sponsorisée fausser la moyenne.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0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51999" y="1944000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0399" y="2102400"/>
            <a:ext cx="403200" cy="403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51999" y="2880000"/>
            <a:ext cx="216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Ce qu’on ne voit pas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51999" y="3600000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Portée, clics, messages reçus et budgets publicitaires : il faut l’accès aux comptes.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LES COMPTES DE TAJ PLAST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Une grande page Facebook, peu présente ailleurs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4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92000" y="1871999"/>
            <a:ext cx="540000" cy="54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rand-facebook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00" y="1990799"/>
            <a:ext cx="302400" cy="302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2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Arial"/>
              </a:rPr>
              <a:t>11 000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abonnés Facebook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3419999"/>
            <a:ext cx="313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Arial"/>
              </a:rPr>
              <a:t>Page créée en 2018 · publicité active le 27/10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36000" y="1871999"/>
            <a:ext cx="540000" cy="54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brand-instagram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800" y="1990799"/>
            <a:ext cx="302400" cy="3024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36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Arial"/>
              </a:rPr>
              <a:t>268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6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abonnés Instagram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6000" y="3419999"/>
            <a:ext cx="313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Arial"/>
              </a:rPr>
              <a:t>Metaplast : 827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63999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79999" y="1871999"/>
            <a:ext cx="540000" cy="54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brand-linkedin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8799" y="1990799"/>
            <a:ext cx="302400" cy="3024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279999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Arial"/>
              </a:rPr>
              <a:t>1 515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9999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abonnés LinkedIn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9999" y="3419999"/>
            <a:ext cx="313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Arial"/>
              </a:rPr>
              <a:t>Dernière publication le 19/10 : 2 réactions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6000" y="4248000"/>
            <a:ext cx="11052000" cy="1764000"/>
          </a:xfrm>
          <a:prstGeom prst="roundRect">
            <a:avLst>
              <a:gd name="adj" fmla="val 6000"/>
            </a:avLst>
          </a:prstGeom>
          <a:solidFill>
            <a:srgbClr val="FD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4000" y="4536000"/>
            <a:ext cx="612000" cy="612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640" y="4670640"/>
            <a:ext cx="342720" cy="3427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692000" y="4464000"/>
            <a:ext cx="9720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À corriger tout de suite</a:t>
            </a:r>
          </a:p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Arial"/>
              </a:rPr>
              <a:t>La publication LinkedIn du 19/10 sur le salon du packaging écrit « TAPLAST » au lieu de TAJ PLAST. Trois visuels ont été publiés deux fois sur Facebook en une semaine.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FACE AUX CONCURRENTS · FACEBOOK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Plastica : 3 fois plus de réactions, moins d’abonnés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5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76000" y="1584000"/>
          <a:ext cx="5400000" cy="432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999" y="1655999"/>
          <a:ext cx="5363999" cy="37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5999"/>
                <a:gridCol w="1116000"/>
                <a:gridCol w="1116000"/>
                <a:gridCol w="1116000"/>
              </a:tblGrid>
              <a:tr h="54000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TAJ PLAST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Plastica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Metaplast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Abonnés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11 000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7 788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167 255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Publications / semaine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0,8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Taux de réaction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0,03 %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0,12 %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0,02 %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Vidéos (sur 25)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Prix affiché (sur 25)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Commentaires (total)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818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63999" y="5580000"/>
            <a:ext cx="5364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Taux de réaction = réactions médianes ÷ abonnés. Sur les 25 dernières publications Facebook de chaque page.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CE QUI MARCHE AILLEURS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Les concurrents parlent prix, vidéo et engagements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6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etaplast2.jpg"/>
          <p:cNvPicPr>
            <a:picLocks noChangeAspect="1"/>
          </p:cNvPicPr>
          <p:nvPr/>
        </p:nvPicPr>
        <p:blipFill>
          <a:blip r:embed="rId3"/>
          <a:srcRect t="15217" b="15217"/>
          <a:stretch>
            <a:fillRect/>
          </a:stretch>
        </p:blipFill>
        <p:spPr>
          <a:xfrm>
            <a:off x="684000" y="1692000"/>
            <a:ext cx="3311999" cy="230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2000" y="4068000"/>
            <a:ext cx="3168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E84E0E"/>
                </a:solidFill>
                <a:latin typeface="Arial"/>
              </a:rPr>
              <a:t>Metaplast · 1er/10</a:t>
            </a:r>
          </a:p>
        </p:txBody>
      </p:sp>
      <p:pic>
        <p:nvPicPr>
          <p:cNvPr id="13" name="Picture 12" descr="heart_noi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4428000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43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2 071</a:t>
            </a:r>
          </a:p>
        </p:txBody>
      </p:sp>
      <p:pic>
        <p:nvPicPr>
          <p:cNvPr id="15" name="Picture 14" descr="message-circle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36000" y="4428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87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145</a:t>
            </a:r>
          </a:p>
        </p:txBody>
      </p:sp>
      <p:pic>
        <p:nvPicPr>
          <p:cNvPr id="17" name="Picture 16" descr="shar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80000" y="4428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131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149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000" y="4824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Offre datée : cuve 1 500 L à 80 000 F CFA, livraison gratuite à Abidjan, numéro de commande.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etaplast0.jpg"/>
          <p:cNvPicPr>
            <a:picLocks noChangeAspect="1"/>
          </p:cNvPicPr>
          <p:nvPr/>
        </p:nvPicPr>
        <p:blipFill>
          <a:blip r:embed="rId7"/>
          <a:srcRect t="30435" b="30435"/>
          <a:stretch>
            <a:fillRect/>
          </a:stretch>
        </p:blipFill>
        <p:spPr>
          <a:xfrm>
            <a:off x="4428000" y="1692000"/>
            <a:ext cx="3311999" cy="2304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36000" y="4068000"/>
            <a:ext cx="3168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E84E0E"/>
                </a:solidFill>
                <a:latin typeface="Arial"/>
              </a:rPr>
              <a:t>Metaplast · vidéo du 1er/04</a:t>
            </a:r>
          </a:p>
        </p:txBody>
      </p:sp>
      <p:pic>
        <p:nvPicPr>
          <p:cNvPr id="23" name="Picture 22" descr="heart_noi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6000" y="44280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787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107 046</a:t>
            </a:r>
          </a:p>
        </p:txBody>
      </p:sp>
      <p:pic>
        <p:nvPicPr>
          <p:cNvPr id="25" name="Picture 24" descr="message-circle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0000" y="4428000"/>
            <a:ext cx="216000" cy="216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831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543</a:t>
            </a:r>
          </a:p>
        </p:txBody>
      </p:sp>
      <p:pic>
        <p:nvPicPr>
          <p:cNvPr id="27" name="Picture 26" descr="shar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4000" y="4428000"/>
            <a:ext cx="216000" cy="216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875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1 049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36000" y="4824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Vidéo courte sur les cuves. Ce score hors norme laisse penser à une diffusion payante (hypothèse).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4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lastica1.jpg"/>
          <p:cNvPicPr>
            <a:picLocks noChangeAspect="1"/>
          </p:cNvPicPr>
          <p:nvPr/>
        </p:nvPicPr>
        <p:blipFill>
          <a:blip r:embed="rId8"/>
          <a:srcRect t="14310" b="14310"/>
          <a:stretch>
            <a:fillRect/>
          </a:stretch>
        </p:blipFill>
        <p:spPr>
          <a:xfrm>
            <a:off x="8172000" y="1692000"/>
            <a:ext cx="3311999" cy="23040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280000" y="4068000"/>
            <a:ext cx="3168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E84E0E"/>
                </a:solidFill>
                <a:latin typeface="Arial"/>
              </a:rPr>
              <a:t>Plastica · 19/10</a:t>
            </a:r>
          </a:p>
        </p:txBody>
      </p:sp>
      <p:pic>
        <p:nvPicPr>
          <p:cNvPr id="33" name="Picture 32" descr="heart_noi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0000" y="4428000"/>
            <a:ext cx="216000" cy="2160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531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122</a:t>
            </a:r>
          </a:p>
        </p:txBody>
      </p:sp>
      <p:pic>
        <p:nvPicPr>
          <p:cNvPr id="35" name="Picture 34" descr="message-circle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4000" y="4428000"/>
            <a:ext cx="216000" cy="21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575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9</a:t>
            </a:r>
          </a:p>
        </p:txBody>
      </p:sp>
      <p:pic>
        <p:nvPicPr>
          <p:cNvPr id="37" name="Picture 36" descr="shar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8000" y="4428000"/>
            <a:ext cx="216000" cy="21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619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80000" y="4824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Partenariat avec Magic System FC : des visages, un événement, une fierté locale.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CE QUE FAIT TAJ PLAST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Un beau catalogue, mais rien qui pousse à acheter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7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E3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59641"/>
                </a:solidFill>
                <a:latin typeface="Arial"/>
              </a:rPr>
              <a:t>Ce qui marche</a:t>
            </a:r>
          </a:p>
        </p:txBody>
      </p:sp>
      <p:pic>
        <p:nvPicPr>
          <p:cNvPr id="12" name="Picture 11" descr="circle-check_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2340000"/>
            <a:ext cx="360000" cy="36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68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Visuels soignés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Des produits en situation, aux couleurs vives.</a:t>
            </a:r>
          </a:p>
        </p:txBody>
      </p:sp>
      <p:pic>
        <p:nvPicPr>
          <p:cNvPr id="14" name="Picture 13" descr="circle-check_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3330000"/>
            <a:ext cx="360000" cy="36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68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Gamme variée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Maison, rangement, élevage, sport, eau : de quoi parler à tous.</a:t>
            </a:r>
          </a:p>
        </p:txBody>
      </p:sp>
      <p:pic>
        <p:nvPicPr>
          <p:cNvPr id="16" name="Picture 15" descr="circle-check_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4320000"/>
            <a:ext cx="360000" cy="36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68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Logo toujours présent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La marque est reconnaissable.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2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FD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0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E84E0E"/>
                </a:solidFill>
                <a:latin typeface="Arial"/>
              </a:rPr>
              <a:t>Ce qui manque</a:t>
            </a:r>
          </a:p>
        </p:txBody>
      </p:sp>
      <p:pic>
        <p:nvPicPr>
          <p:cNvPr id="20" name="Picture 19" descr="circle-x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2340000"/>
            <a:ext cx="360000" cy="360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984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Texte vide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23 textes sur 25 ne disent rien du produit.</a:t>
            </a:r>
          </a:p>
        </p:txBody>
      </p:sp>
      <p:pic>
        <p:nvPicPr>
          <p:cNvPr id="22" name="Picture 21" descr="circle-x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3330000"/>
            <a:ext cx="360000" cy="360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984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Aucun prix, aucune question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Rien qui invite à commander ou à répondre.</a:t>
            </a:r>
          </a:p>
        </p:txBody>
      </p:sp>
      <p:pic>
        <p:nvPicPr>
          <p:cNvPr id="24" name="Picture 23" descr="circle-x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4320000"/>
            <a:ext cx="360000" cy="36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984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Trois visuels publiés deux fois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Tiroirs, haltères et égouttoir, à quelques jours d’écart.</a:t>
            </a:r>
          </a:p>
        </p:txBody>
      </p:sp>
      <p:pic>
        <p:nvPicPr>
          <p:cNvPr id="26" name="Picture 25" descr="circle-x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5310000"/>
            <a:ext cx="360000" cy="360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984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Trop de publications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Trois par jour : elles se font concurrence entre elles.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MEILLEURES PUBLICATIONS · FACEBOOK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Les meilleures : un produit utile, mis en situation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8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00_0.jpg"/>
          <p:cNvPicPr>
            <a:picLocks noChangeAspect="1"/>
          </p:cNvPicPr>
          <p:nvPr/>
        </p:nvPicPr>
        <p:blipFill>
          <a:blip r:embed="rId3"/>
          <a:srcRect l="14097" r="14097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56000" y="1764000"/>
            <a:ext cx="1296000" cy="288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6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TOP 1</a:t>
            </a:r>
          </a:p>
        </p:txBody>
      </p:sp>
      <p:pic>
        <p:nvPicPr>
          <p:cNvPr id="14" name="Picture 13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71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7</a:t>
            </a:r>
          </a:p>
        </p:txBody>
      </p:sp>
      <p:pic>
        <p:nvPicPr>
          <p:cNvPr id="16" name="Picture 15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7999" y="4554000"/>
            <a:ext cx="216000" cy="21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99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18" name="Picture 17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5998" y="4554000"/>
            <a:ext cx="216000" cy="21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627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19/10 · Panier Flora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01_0.jpg"/>
          <p:cNvPicPr>
            <a:picLocks noChangeAspect="1"/>
          </p:cNvPicPr>
          <p:nvPr/>
        </p:nvPicPr>
        <p:blipFill>
          <a:blip r:embed="rId7"/>
          <a:srcRect l="20407" r="20407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3564000" y="1764000"/>
            <a:ext cx="1296000" cy="288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4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TOP 2</a:t>
            </a:r>
          </a:p>
        </p:txBody>
      </p:sp>
      <p:pic>
        <p:nvPicPr>
          <p:cNvPr id="25" name="Picture 24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779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6</a:t>
            </a:r>
          </a:p>
        </p:txBody>
      </p:sp>
      <p:pic>
        <p:nvPicPr>
          <p:cNvPr id="27" name="Picture 26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5999" y="4554000"/>
            <a:ext cx="216000" cy="216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607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1</a:t>
            </a:r>
          </a:p>
        </p:txBody>
      </p:sp>
      <p:pic>
        <p:nvPicPr>
          <p:cNvPr id="29" name="Picture 28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3998" y="4554000"/>
            <a:ext cx="216000" cy="216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435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23/10 · Seau maçon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03_0.jpg"/>
          <p:cNvPicPr>
            <a:picLocks noChangeAspect="1"/>
          </p:cNvPicPr>
          <p:nvPr/>
        </p:nvPicPr>
        <p:blipFill>
          <a:blip r:embed="rId8"/>
          <a:srcRect l="14653" r="14653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6372000" y="1764000"/>
            <a:ext cx="1296000" cy="288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72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TOP 3</a:t>
            </a:r>
          </a:p>
        </p:txBody>
      </p:sp>
      <p:pic>
        <p:nvPicPr>
          <p:cNvPr id="36" name="Picture 35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587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6</a:t>
            </a:r>
          </a:p>
        </p:txBody>
      </p:sp>
      <p:pic>
        <p:nvPicPr>
          <p:cNvPr id="38" name="Picture 37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3999" y="4554000"/>
            <a:ext cx="216000" cy="216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415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40" name="Picture 39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1998" y="4554000"/>
            <a:ext cx="216000" cy="216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243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21/10 · Gourde Fresh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t04_0.jpg"/>
          <p:cNvPicPr>
            <a:picLocks noChangeAspect="1"/>
          </p:cNvPicPr>
          <p:nvPr/>
        </p:nvPicPr>
        <p:blipFill>
          <a:blip r:embed="rId9"/>
          <a:srcRect l="5809" r="5809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9180000" y="1764000"/>
            <a:ext cx="1296000" cy="288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80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TOP 4</a:t>
            </a:r>
          </a:p>
        </p:txBody>
      </p:sp>
      <p:pic>
        <p:nvPicPr>
          <p:cNvPr id="47" name="Picture 46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395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5</a:t>
            </a:r>
          </a:p>
        </p:txBody>
      </p:sp>
      <p:pic>
        <p:nvPicPr>
          <p:cNvPr id="49" name="Picture 48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71999" y="4554000"/>
            <a:ext cx="216000" cy="2160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223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51" name="Picture 50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99998" y="4554000"/>
            <a:ext cx="216000" cy="2160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1051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26/10 · Chaises Olivia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E3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bulb_v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580000"/>
            <a:ext cx="503999" cy="503999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440000" y="5508000"/>
            <a:ext cx="10008000" cy="72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Arial"/>
              </a:rPr>
              <a:t>Même la meilleure ne dépasse pas 7 réactions. Le point commun : on voit à quoi sert le produit à la maison (le linge, le chantier, le sport, la terrasse).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MOINS BONNES PUBLICATIONS · FACEBOOK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Les moins bonnes : des visuels déjà vus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9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24_0.jpg"/>
          <p:cNvPicPr>
            <a:picLocks noChangeAspect="1"/>
          </p:cNvPicPr>
          <p:nvPr/>
        </p:nvPicPr>
        <p:blipFill>
          <a:blip r:embed="rId3"/>
          <a:srcRect l="20370" r="20370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56000" y="1764000"/>
            <a:ext cx="129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6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À REVOIR</a:t>
            </a:r>
          </a:p>
        </p:txBody>
      </p:sp>
      <p:pic>
        <p:nvPicPr>
          <p:cNvPr id="14" name="Picture 13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71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pic>
        <p:nvPicPr>
          <p:cNvPr id="16" name="Picture 15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7999" y="4554000"/>
            <a:ext cx="216000" cy="21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99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18" name="Picture 17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5998" y="4554000"/>
            <a:ext cx="216000" cy="21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627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27/10 · Haltères (2e fois)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23_0.jpg"/>
          <p:cNvPicPr>
            <a:picLocks noChangeAspect="1"/>
          </p:cNvPicPr>
          <p:nvPr/>
        </p:nvPicPr>
        <p:blipFill>
          <a:blip r:embed="rId7"/>
          <a:srcRect l="77" r="77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3564000" y="1764000"/>
            <a:ext cx="129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4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À REVOIR</a:t>
            </a:r>
          </a:p>
        </p:txBody>
      </p:sp>
      <p:pic>
        <p:nvPicPr>
          <p:cNvPr id="25" name="Picture 24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779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pic>
        <p:nvPicPr>
          <p:cNvPr id="27" name="Picture 26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5999" y="4554000"/>
            <a:ext cx="216000" cy="216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607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29" name="Picture 28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3998" y="4554000"/>
            <a:ext cx="216000" cy="216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435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27/10 · Bocal Junior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22_0.jpg"/>
          <p:cNvPicPr>
            <a:picLocks noChangeAspect="1"/>
          </p:cNvPicPr>
          <p:nvPr/>
        </p:nvPicPr>
        <p:blipFill>
          <a:blip r:embed="rId8"/>
          <a:srcRect l="15957" r="15957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6372000" y="1764000"/>
            <a:ext cx="129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72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À REVOIR</a:t>
            </a:r>
          </a:p>
        </p:txBody>
      </p:sp>
      <p:pic>
        <p:nvPicPr>
          <p:cNvPr id="36" name="Picture 35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587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1</a:t>
            </a:r>
          </a:p>
        </p:txBody>
      </p:sp>
      <p:pic>
        <p:nvPicPr>
          <p:cNvPr id="38" name="Picture 37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3999" y="4554000"/>
            <a:ext cx="216000" cy="216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415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40" name="Picture 39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1998" y="4554000"/>
            <a:ext cx="216000" cy="216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243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20/10 · Égouttoir (2e fois)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t20_0.jpg"/>
          <p:cNvPicPr>
            <a:picLocks noChangeAspect="1"/>
          </p:cNvPicPr>
          <p:nvPr/>
        </p:nvPicPr>
        <p:blipFill>
          <a:blip r:embed="rId9"/>
          <a:srcRect l="11130" r="11130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9180000" y="1764000"/>
            <a:ext cx="129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80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À REVOIR</a:t>
            </a:r>
          </a:p>
        </p:txBody>
      </p:sp>
      <p:pic>
        <p:nvPicPr>
          <p:cNvPr id="47" name="Picture 46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395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1</a:t>
            </a:r>
          </a:p>
        </p:txBody>
      </p:sp>
      <p:pic>
        <p:nvPicPr>
          <p:cNvPr id="49" name="Picture 48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71999" y="4554000"/>
            <a:ext cx="216000" cy="2160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223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51" name="Picture 50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99998" y="4554000"/>
            <a:ext cx="216000" cy="2160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1051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26/10 · Bol Chic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FD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alert-triangle_o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580000"/>
            <a:ext cx="503999" cy="503999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440000" y="5508000"/>
            <a:ext cx="10008000" cy="72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Arial"/>
              </a:rPr>
              <a:t>Un visuel déjà vu dans la semaine ne fait plus réagir. Le 27/10, deux publications sont parties à 23 minutes d’écart, sans aucune réaction.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6 publications refaites, avec 5 règles simples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10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60000" y="1872000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arget-arrow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8400" y="2030400"/>
            <a:ext cx="403200" cy="40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4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Une idée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4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Un bénéfice concret par publication, dit en une phrase.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08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92000" y="1872000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essage-circle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0400" y="2030400"/>
            <a:ext cx="403200" cy="40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916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Une question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16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Pour faire répondre en commentaire.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40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24000" y="1872000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hon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2400" y="2030400"/>
            <a:ext cx="403200" cy="403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148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Un numéro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48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Commander en un geste, le numéro visible sur l’image.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72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56000" y="1872000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hoto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4400" y="2030400"/>
            <a:ext cx="403200" cy="403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380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Une image nette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80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Le produit en grand, sans texte qui déborde.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4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188000" y="1872000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building-factory-2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46400" y="2030400"/>
            <a:ext cx="403200" cy="403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612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Une preuve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12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Fabriqué en Côte d’Ivoire : on le dit.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76000" y="4788000"/>
            <a:ext cx="11052000" cy="1332000"/>
          </a:xfrm>
          <a:prstGeom prst="roundRect">
            <a:avLst>
              <a:gd name="adj" fmla="val 6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4000" y="4896000"/>
            <a:ext cx="10440000" cy="115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E84E0E"/>
                </a:solidFill>
                <a:latin typeface="Arial"/>
              </a:rPr>
              <a:t>Ce que nous n’avons pas inventé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FFFFFF"/>
                </a:solidFill>
                <a:latin typeface="Arial"/>
              </a:rPr>
              <a:t>Prix, dimensions et délais de livraison ne figurent pas dans vos publications : nous ne les avons pas ajoutés. Ils rendraient chaque publication plus forte, dès que vous nous les donnez.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AVEC DES PERSONNES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Version 3 : vos clients au centre de l’image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11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pic>
        <p:nvPicPr>
          <p:cNvPr id="10" name="Picture 9" descr="v3_cuv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512000"/>
            <a:ext cx="2556000" cy="2556000"/>
          </a:xfrm>
          <a:prstGeom prst="rect">
            <a:avLst/>
          </a:prstGeom>
        </p:spPr>
      </p:pic>
      <p:pic>
        <p:nvPicPr>
          <p:cNvPr id="11" name="Picture 10" descr="v3_pani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000" y="1512000"/>
            <a:ext cx="2556000" cy="2556000"/>
          </a:xfrm>
          <a:prstGeom prst="rect">
            <a:avLst/>
          </a:prstGeom>
        </p:spPr>
      </p:pic>
      <p:pic>
        <p:nvPicPr>
          <p:cNvPr id="12" name="Picture 11" descr="v3_abreuvoir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4000" y="1512000"/>
            <a:ext cx="2556000" cy="2556000"/>
          </a:xfrm>
          <a:prstGeom prst="rect">
            <a:avLst/>
          </a:prstGeom>
        </p:spPr>
      </p:pic>
      <p:pic>
        <p:nvPicPr>
          <p:cNvPr id="13" name="Picture 12" descr="v3_olivia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00" y="4176000"/>
            <a:ext cx="2556000" cy="2556000"/>
          </a:xfrm>
          <a:prstGeom prst="rect">
            <a:avLst/>
          </a:prstGeom>
        </p:spPr>
      </p:pic>
      <p:pic>
        <p:nvPicPr>
          <p:cNvPr id="14" name="Picture 13" descr="v3_ibiza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0000" y="4176000"/>
            <a:ext cx="2556000" cy="2556000"/>
          </a:xfrm>
          <a:prstGeom prst="rect">
            <a:avLst/>
          </a:prstGeom>
        </p:spPr>
      </p:pic>
      <p:pic>
        <p:nvPicPr>
          <p:cNvPr id="15" name="Picture 14" descr="v3_tiroirs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4000" y="4176000"/>
            <a:ext cx="2556000" cy="255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532000" y="1512000"/>
            <a:ext cx="3096000" cy="50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E84E0E"/>
                </a:solidFill>
                <a:latin typeface="Arial"/>
              </a:rPr>
              <a:t>Ce qui change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111111"/>
                </a:solidFill>
                <a:latin typeface="Arial"/>
              </a:rPr>
              <a:t>Une personne vit la scène : on s’y reconnaît.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111111"/>
                </a:solidFill>
                <a:latin typeface="Arial"/>
              </a:rPr>
              <a:t>Le produit, en médaillon, reste bien visible.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111111"/>
                </a:solidFill>
                <a:latin typeface="Arial"/>
              </a:rPr>
              <a:t>Un titre court, un numéro WhatsApp en grand.</a:t>
            </a:r>
          </a:p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Arial"/>
              </a:rPr>
              <a:t>Photos d’illustration : à remplacer par vos clients et vos produits (avec leur accord).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1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Cuves : la publication telle qu’elle apparaîtrait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12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pic>
        <p:nvPicPr>
          <p:cNvPr id="10" name="Picture 9" descr="cmp_cuv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471440"/>
            <a:ext cx="11304000" cy="50491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2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Panier Flora : la publication telle qu’elle apparaîtrait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13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pic>
        <p:nvPicPr>
          <p:cNvPr id="10" name="Picture 9" descr="cmp_pani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471440"/>
            <a:ext cx="11304000" cy="50491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3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Abreuvoir : la publication telle qu’elle apparaîtrait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14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pic>
        <p:nvPicPr>
          <p:cNvPr id="10" name="Picture 9" descr="cmp_abreuvoi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471440"/>
            <a:ext cx="11304000" cy="50491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4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Chaises Olivia : la publication telle qu’elle apparaîtrait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15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pic>
        <p:nvPicPr>
          <p:cNvPr id="10" name="Picture 9" descr="cmp_olivi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471440"/>
            <a:ext cx="11304000" cy="50491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5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Chaises Ibiza : la publication telle qu’elle apparaîtrait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16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pic>
        <p:nvPicPr>
          <p:cNvPr id="10" name="Picture 9" descr="cmp_ibiz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471440"/>
            <a:ext cx="11304000" cy="50491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6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Tiroirs : la publication telle qu’elle apparaîtrait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17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pic>
        <p:nvPicPr>
          <p:cNvPr id="10" name="Picture 9" descr="cmp_tiroi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471440"/>
            <a:ext cx="11304000" cy="50491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VERSION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Version 2 : on arrête de montrer, on raconte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18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2628000" cy="259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7999" y="1908000"/>
            <a:ext cx="684000" cy="684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ock-hour-7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79" y="2058480"/>
            <a:ext cx="383040" cy="383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7999" y="2736000"/>
            <a:ext cx="21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Arial"/>
              </a:rPr>
              <a:t>Une scène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999" y="3131999"/>
            <a:ext cx="2196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Une situation vécue : la coupure d’eau, le matin d’école, le dimanche.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4000" y="1655999"/>
            <a:ext cx="2628000" cy="259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35999" y="1908000"/>
            <a:ext cx="684000" cy="68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parkles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6479" y="2058480"/>
            <a:ext cx="383040" cy="3830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635999" y="2736000"/>
            <a:ext cx="21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Arial"/>
              </a:rPr>
              <a:t>Un parti pris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5999" y="3131999"/>
            <a:ext cx="2196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Un fond de couleur franche, un produit en grand, une phrase qui accroche.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2000" y="1655999"/>
            <a:ext cx="2628000" cy="259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3999" y="1908000"/>
            <a:ext cx="684000" cy="684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essage-circl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4479" y="2058480"/>
            <a:ext cx="383040" cy="3830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43999" y="2736000"/>
            <a:ext cx="21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Arial"/>
              </a:rPr>
              <a:t>Un jeu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3999" y="3131999"/>
            <a:ext cx="2196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Sondage de couleurs, question aux éleveurs : on fait répondre.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0000" y="1655999"/>
            <a:ext cx="2628000" cy="259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51999" y="1908000"/>
            <a:ext cx="684000" cy="68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brand-whatsapp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2479" y="2058480"/>
            <a:ext cx="383040" cy="3830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51999" y="2736000"/>
            <a:ext cx="21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Arial"/>
              </a:rPr>
              <a:t>Un seul geste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51999" y="3131999"/>
            <a:ext cx="2196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Commander sur WhatsApp, avec le numéro en très gros.</a:t>
            </a:r>
          </a:p>
        </p:txBody>
      </p:sp>
      <p:pic>
        <p:nvPicPr>
          <p:cNvPr id="30" name="Picture 29" descr="v2_cuves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600" y="4428000"/>
            <a:ext cx="1612799" cy="2015999"/>
          </a:xfrm>
          <a:prstGeom prst="rect">
            <a:avLst/>
          </a:prstGeom>
        </p:spPr>
      </p:pic>
      <p:pic>
        <p:nvPicPr>
          <p:cNvPr id="31" name="Picture 30" descr="v2_panier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23600" y="4428000"/>
            <a:ext cx="1612799" cy="2015999"/>
          </a:xfrm>
          <a:prstGeom prst="rect">
            <a:avLst/>
          </a:prstGeom>
        </p:spPr>
      </p:pic>
      <p:pic>
        <p:nvPicPr>
          <p:cNvPr id="32" name="Picture 31" descr="v2_abreuvoir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95600" y="4428000"/>
            <a:ext cx="1612799" cy="2015999"/>
          </a:xfrm>
          <a:prstGeom prst="rect">
            <a:avLst/>
          </a:prstGeom>
        </p:spPr>
      </p:pic>
      <p:pic>
        <p:nvPicPr>
          <p:cNvPr id="33" name="Picture 32" descr="v2_ibiza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67600" y="4428000"/>
            <a:ext cx="1612799" cy="2015999"/>
          </a:xfrm>
          <a:prstGeom prst="rect">
            <a:avLst/>
          </a:prstGeom>
        </p:spPr>
      </p:pic>
      <p:pic>
        <p:nvPicPr>
          <p:cNvPr id="34" name="Picture 33" descr="v2_tiroirs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39600" y="4428000"/>
            <a:ext cx="1612799" cy="2015999"/>
          </a:xfrm>
          <a:prstGeom prst="rect">
            <a:avLst/>
          </a:prstGeom>
        </p:spPr>
      </p:pic>
      <p:pic>
        <p:nvPicPr>
          <p:cNvPr id="35" name="Picture 34" descr="v2_choco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11600" y="4428000"/>
            <a:ext cx="1612799" cy="201599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VERSION 2 · 1 SUR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Le besoin, puis le produit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19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48000"/>
            <a:ext cx="5364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v2_cuv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1755000"/>
            <a:ext cx="3528000" cy="441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92000" y="1800000"/>
            <a:ext cx="144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Cuves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2000" y="2520000"/>
            <a:ext cx="1440000" cy="34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Le besoin d’abord : la coupure d’eau, avec les vraies contenances.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548000"/>
            <a:ext cx="5364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v2_pani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000" y="1755000"/>
            <a:ext cx="3528000" cy="441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008000" y="1800000"/>
            <a:ext cx="144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Panier Flora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08000" y="2520000"/>
            <a:ext cx="1440000" cy="34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Votre meilleure publication, en couleur pleine et sans texte parasite.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VERSION 2 · 2 SUR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Faire parler la cible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20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48000"/>
            <a:ext cx="5364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v2_abreuvoi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1755000"/>
            <a:ext cx="3528000" cy="441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92000" y="1800000"/>
            <a:ext cx="144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Abreuvoir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2000" y="2520000"/>
            <a:ext cx="1440000" cy="34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On parle aux éleveurs, avec leurs mots : « poulets assoiffés 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548000"/>
            <a:ext cx="5364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v2_ibiz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000" y="1755000"/>
            <a:ext cx="3528000" cy="441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008000" y="1800000"/>
            <a:ext cx="144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Table et chaises Ibiza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08000" y="2520000"/>
            <a:ext cx="1440000" cy="34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Un sondage de couleurs pour faire commenter.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VERSION 2 · 3 SUR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Raconter une scène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21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48000"/>
            <a:ext cx="5364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v2_tiroi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1755000"/>
            <a:ext cx="3528000" cy="441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92000" y="1800000"/>
            <a:ext cx="144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Tiroirs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2000" y="2520000"/>
            <a:ext cx="1440000" cy="34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Une scène que tous les parents connaissent à 6 h 45.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548000"/>
            <a:ext cx="5364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v2_choc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000" y="1755000"/>
            <a:ext cx="3528000" cy="441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008000" y="1800000"/>
            <a:ext cx="144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Table Choco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08000" y="2520000"/>
            <a:ext cx="1440000" cy="34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Un effet de surprise pour lancer la nouveauté.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RECOMMANDATIONS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5 décisions pour faire réagir, puis faire commander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22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00" y="1584000"/>
            <a:ext cx="90000" cy="846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000" y="1584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84E0E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404000" y="1709999"/>
            <a:ext cx="594000" cy="59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epeat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4680" y="1840679"/>
            <a:ext cx="332640" cy="332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96000" y="1584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Publier moins, mieux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6000" y="1584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Une publication par jour au lieu de trois, jamais deux fois le même visuel dans le mois.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00" y="2538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6000" y="2538000"/>
            <a:ext cx="90000" cy="846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000" y="2538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84E0E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404000" y="2663999"/>
            <a:ext cx="594000" cy="59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encil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4680" y="2794679"/>
            <a:ext cx="332640" cy="332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196000" y="2538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Écrire un vrai texte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6000" y="2538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Bénéfice, question, numéro : la règle des avant / après, sur chaque publication.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6000" y="3492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76000" y="3492000"/>
            <a:ext cx="90000" cy="846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3492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84E0E"/>
                </a:solidFill>
                <a:latin typeface="Arial"/>
              </a:rPr>
              <a:t>3</a:t>
            </a:r>
          </a:p>
        </p:txBody>
      </p:sp>
      <p:sp>
        <p:nvSpPr>
          <p:cNvPr id="27" name="Oval 26"/>
          <p:cNvSpPr/>
          <p:nvPr/>
        </p:nvSpPr>
        <p:spPr>
          <a:xfrm>
            <a:off x="1404000" y="3617999"/>
            <a:ext cx="594000" cy="59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video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4680" y="3748679"/>
            <a:ext cx="332640" cy="332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196000" y="3492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Passer à la vidéo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6000" y="3492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Deux vidéos courtes par semaine : l’usine, un produit en usage, une livraison.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6000" y="4446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76000" y="4446000"/>
            <a:ext cx="90000" cy="846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2000" y="4446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84E0E"/>
                </a:solidFill>
                <a:latin typeface="Arial"/>
              </a:rPr>
              <a:t>4</a:t>
            </a:r>
          </a:p>
        </p:txBody>
      </p:sp>
      <p:sp>
        <p:nvSpPr>
          <p:cNvPr id="34" name="Oval 33"/>
          <p:cNvSpPr/>
          <p:nvPr/>
        </p:nvSpPr>
        <p:spPr>
          <a:xfrm>
            <a:off x="1404000" y="4571999"/>
            <a:ext cx="594000" cy="59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currency-dollar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34680" y="4702679"/>
            <a:ext cx="332640" cy="332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196000" y="4446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Afficher les prix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56000" y="4446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Une offre datée par mois, comme Metaplast, avec un prix et une date de fin.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76000" y="5400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76000" y="5400000"/>
            <a:ext cx="90000" cy="846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2000" y="5400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84E0E"/>
                </a:solidFill>
                <a:latin typeface="Arial"/>
              </a:rPr>
              <a:t>5</a:t>
            </a:r>
          </a:p>
        </p:txBody>
      </p:sp>
      <p:sp>
        <p:nvSpPr>
          <p:cNvPr id="41" name="Oval 40"/>
          <p:cNvSpPr/>
          <p:nvPr/>
        </p:nvSpPr>
        <p:spPr>
          <a:xfrm>
            <a:off x="1404000" y="5525999"/>
            <a:ext cx="594000" cy="59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rand-linkedin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34680" y="5656679"/>
            <a:ext cx="332640" cy="332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2196000" y="5400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Réveiller LinkedIn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56000" y="5400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Une publication par semaine pour les acheteurs professionnels et les revendeurs, sans faute de nom.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PLAN 30 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Le premier mois, semaine par semaine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23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2628000" cy="576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lendar-event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710000"/>
            <a:ext cx="324000" cy="32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16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Semaine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Corriger « TAPLAST » sur LinkedIn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Retirer les publications en double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Valider les 6 publications refaites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4000" y="1584000"/>
            <a:ext cx="2628000" cy="576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encil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1710000"/>
            <a:ext cx="324000" cy="324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924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Semaine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4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8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Publier les 6 avant / après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1 publication par jour, 12 h ou 18 h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Répondre à chaque commentaire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2000" y="1584000"/>
            <a:ext cx="2628000" cy="576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video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000" y="1710000"/>
            <a:ext cx="324000" cy="324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732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Semaine 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2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36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Tourner 2 vidéos à l’usine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Première offre datée avec prix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Relancer Instagram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0000" y="1584000"/>
            <a:ext cx="2628000" cy="576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trending-up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0" y="1710000"/>
            <a:ext cx="324000" cy="324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540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Semaine 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0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Comparer aux 3 réactions de départ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Garder ce qui marche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Préparer le mois suivant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00" y="5364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target-arrow_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000" y="5544000"/>
            <a:ext cx="503999" cy="50399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440000" y="5364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Objectif proposé à 30 jours : passer de 3 à 10 réactions médianes par publication, et compter les commandes venues de Facebook.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SUITE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Ce qu’il nous faut pour aller plus loin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24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4000" y="1944000"/>
            <a:ext cx="792000" cy="792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y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240" y="2118240"/>
            <a:ext cx="443520" cy="443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4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L’accès aux comptes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000" y="3456000"/>
            <a:ext cx="3024000" cy="14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Portée, clics et messages reçus : pour mesurer les ventes, pas seulement les réactions.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608000" y="1944000"/>
            <a:ext cx="792000" cy="792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urrency-dollar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2240" y="2118240"/>
            <a:ext cx="443520" cy="443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08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Prix et délais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08000" y="3456000"/>
            <a:ext cx="3024000" cy="14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Pour écrire des offres datées sur les produits phares.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64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52000" y="1944000"/>
            <a:ext cx="792000" cy="792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ircle-check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6240" y="2118240"/>
            <a:ext cx="443520" cy="443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352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Votre accord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2000" y="3456000"/>
            <a:ext cx="3024000" cy="14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Sur les 6 publications refaites, avant toute mise en ligne.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00" y="5400000"/>
            <a:ext cx="11052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Rien n’a été publié. Les visuels « après » reprennent vos propres images et vos coordonnées.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