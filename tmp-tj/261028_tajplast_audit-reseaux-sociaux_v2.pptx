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Réactions médianes par publication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publication</c:v>
                </c:pt>
              </c:strCache>
            </c:strRef>
          </c:tx>
          <c:dPt>
            <c:idx val="0"/>
            <c:spPr>
              <a:solidFill>
                <a:srgbClr val="E84E0E"/>
              </a:solidFill>
            </c:spPr>
          </c:dPt>
          <c:dPt>
            <c:idx val="1"/>
            <c:spPr>
              <a:solidFill>
                <a:srgbClr val="5A5A5A"/>
              </a:solidFill>
            </c:spPr>
          </c:dPt>
          <c:dPt>
            <c:idx val="2"/>
            <c:spPr>
              <a:solidFill>
                <a:srgbClr val="5A5A5A"/>
              </a:solidFill>
            </c:spPr>
          </c:dPt>
          <c:cat>
            <c:strRef>
              <c:f>Sheet1!$A$2:$A$4</c:f>
              <c:strCache>
                <c:ptCount val="3"/>
                <c:pt idx="0">
                  <c:v>TAJ PLAST</c:v>
                </c:pt>
                <c:pt idx="1">
                  <c:v>Plastica CI</c:v>
                </c:pt>
                <c:pt idx="2">
                  <c:v>Metaplast CI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9</c:v>
                </c:pt>
                <c:pt idx="2">
                  <c:v>26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jpg"/><Relationship Id="rId8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6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4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Relationship Id="rId10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39.png"/><Relationship Id="rId6" Type="http://schemas.openxmlformats.org/officeDocument/2006/relationships/image" Target="../media/image57.png"/><Relationship Id="rId7" Type="http://schemas.openxmlformats.org/officeDocument/2006/relationships/image" Target="../media/image58.jpg"/><Relationship Id="rId8" Type="http://schemas.openxmlformats.org/officeDocument/2006/relationships/image" Target="../media/image44.jpg"/><Relationship Id="rId9" Type="http://schemas.openxmlformats.org/officeDocument/2006/relationships/image" Target="../media/image45.jpg"/><Relationship Id="rId10" Type="http://schemas.openxmlformats.org/officeDocument/2006/relationships/image" Target="../media/image47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8.jpg"/><Relationship Id="rId4" Type="http://schemas.openxmlformats.org/officeDocument/2006/relationships/image" Target="../media/image4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5.jpg"/><Relationship Id="rId4" Type="http://schemas.openxmlformats.org/officeDocument/2006/relationships/image" Target="../media/image4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9.jpg"/><Relationship Id="rId4" Type="http://schemas.openxmlformats.org/officeDocument/2006/relationships/image" Target="../media/image6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2.png"/><Relationship Id="rId7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62.png"/><Relationship Id="rId5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20000" y="0"/>
            <a:ext cx="5172119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ble_ibi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000" y="1889817"/>
            <a:ext cx="4236119" cy="30783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020000" y="0"/>
            <a:ext cx="9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85571"/>
            <a:ext cx="2520000" cy="700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8000" y="2015999"/>
            <a:ext cx="594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AUDIT RÉSEAUX SOCIAUX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376000"/>
            <a:ext cx="604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TAJ PLAST face à ses concurrents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104000"/>
            <a:ext cx="594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DDDDDD"/>
                </a:solidFill>
                <a:latin typeface="Arial"/>
              </a:rPr>
              <a:t>Ce qui marche, ce qui manque, et 6 publications refaites</a:t>
            </a:r>
          </a:p>
        </p:txBody>
      </p:sp>
      <p:pic>
        <p:nvPicPr>
          <p:cNvPr id="10" name="Picture 9" descr="brand-facebook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5184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4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pic>
        <p:nvPicPr>
          <p:cNvPr id="12" name="Picture 11" descr="brand-instagram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2000" y="5184000"/>
            <a:ext cx="324000" cy="32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28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pic>
        <p:nvPicPr>
          <p:cNvPr id="14" name="Picture 13" descr="brand-linkedin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000" y="5184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12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5976000"/>
            <a:ext cx="576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Relevé des pages publiques le 27 octobre 2026 · document de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L'ESSENTIEL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Beaucoup de publications, très peu de réactions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eakerphon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36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22 publications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6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Trois par jour sur Facebook. Metaplast en fait moins d’une, Plastica une.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3 réactions par publication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11 000 abonnés. Metaplast en obtient 26, Plastica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encil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36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23 textes sur 25 sans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6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Le texte se limite au téléphone, à l’e-mail et aux mots-dièse.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52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0 vidéo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Chez Metaplast, les vidéos font 3,5 fois plus de réactions que les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que nous avons regardé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Pages publiques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Facebook, Instagram et LinkedIn de TAJ PLAST, Metaplast CI et Plastica CI, relevés le 27/10/2026.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25 publications par marque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Les 25 dernières sur Facebook : du 19 au 27/10 pour TAJ PLAST, plusieurs mois pour les deux autres.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Médianes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La valeur du milieu, pour ne pas laisser une publication sponsorisée fausser la moyenne.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44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Ce qu’on ne voit 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Portée, clics, messages reçus et budgets publicitaires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COMPTES DE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Une grande page Facebook, peu présente ailleurs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Page créée en 2018 · publicité active le 27/10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268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Instagram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Metaplast : 827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1 515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9999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Dernière publication le 19/10 : 2 réactions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corriger tout de suite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La publication LinkedIn du 19/10 sur le salon du packaging écrit « TAPLAST » au lieu de TAJ PLAST. Trois visuels ont été publiés deux fois sur Facebook en une semaine.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FACE AUX CONCURRENTS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Plastica : 3 fois plus de réactions, moins d’abonnés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76000" y="1584000"/>
          <a:ext cx="5400000" cy="43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999" y="1655999"/>
          <a:ext cx="5363999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/>
                <a:gridCol w="1116000"/>
                <a:gridCol w="1116000"/>
                <a:gridCol w="1116000"/>
              </a:tblGrid>
              <a:tr h="5400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TAJ 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Plastica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Metaplast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Abonnés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11 000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7 788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167 255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0,03 %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0,12 %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0,02 %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Vidéos (sur 25)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Prix affiché (sur 25)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Commentaires (total)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999" y="5580000"/>
            <a:ext cx="53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Taux de réaction = réactions médianes ÷ abonnés. Sur les 25 dernières publications Facebook de chaque page.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QUI MARCHE AILLEURS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concurrents parlent prix, vidéo et engagements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taplast2.jpg"/>
          <p:cNvPicPr>
            <a:picLocks noChangeAspect="1"/>
          </p:cNvPicPr>
          <p:nvPr/>
        </p:nvPicPr>
        <p:blipFill>
          <a:blip r:embed="rId3"/>
          <a:srcRect t="15217" b="1521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1er/10</a:t>
            </a:r>
          </a:p>
        </p:txBody>
      </p:sp>
      <p:pic>
        <p:nvPicPr>
          <p:cNvPr id="13" name="Picture 1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4428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43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2 071</a:t>
            </a:r>
          </a:p>
        </p:txBody>
      </p:sp>
      <p:pic>
        <p:nvPicPr>
          <p:cNvPr id="15" name="Picture 1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6000" y="4428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145</a:t>
            </a:r>
          </a:p>
        </p:txBody>
      </p:sp>
      <p:pic>
        <p:nvPicPr>
          <p:cNvPr id="17" name="Picture 1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000" y="4428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1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Offre datée : cuve 1 500 L à 80 000 F CFA, livraison gratuite à Abidjan, numéro de commande.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taplast0.jpg"/>
          <p:cNvPicPr>
            <a:picLocks noChangeAspect="1"/>
          </p:cNvPicPr>
          <p:nvPr/>
        </p:nvPicPr>
        <p:blipFill>
          <a:blip r:embed="rId7"/>
          <a:srcRect t="30435" b="30435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36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vidéo du 1er/04</a:t>
            </a:r>
          </a:p>
        </p:txBody>
      </p:sp>
      <p:pic>
        <p:nvPicPr>
          <p:cNvPr id="23" name="Picture 2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44280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107 046</a:t>
            </a:r>
          </a:p>
        </p:txBody>
      </p:sp>
      <p:pic>
        <p:nvPicPr>
          <p:cNvPr id="25" name="Picture 2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000" y="4428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543</a:t>
            </a:r>
          </a:p>
        </p:txBody>
      </p:sp>
      <p:pic>
        <p:nvPicPr>
          <p:cNvPr id="27" name="Picture 2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000" y="4428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1 049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6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Vidéo courte sur les cuves. Ce score hors norme laisse penser à une diffusion payante (hypothèse).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lastica1.jpg"/>
          <p:cNvPicPr>
            <a:picLocks noChangeAspect="1"/>
          </p:cNvPicPr>
          <p:nvPr/>
        </p:nvPicPr>
        <p:blipFill>
          <a:blip r:embed="rId8"/>
          <a:srcRect t="14310" b="14310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80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Plastica · 19/10</a:t>
            </a:r>
          </a:p>
        </p:txBody>
      </p:sp>
      <p:pic>
        <p:nvPicPr>
          <p:cNvPr id="33" name="Picture 3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000" y="4428000"/>
            <a:ext cx="216000" cy="21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122</a:t>
            </a:r>
          </a:p>
        </p:txBody>
      </p:sp>
      <p:pic>
        <p:nvPicPr>
          <p:cNvPr id="35" name="Picture 3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4000" y="4428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5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9</a:t>
            </a:r>
          </a:p>
        </p:txBody>
      </p:sp>
      <p:pic>
        <p:nvPicPr>
          <p:cNvPr id="37" name="Picture 3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8000" y="4428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19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Partenariat avec Magic System FC : des visages, un événement, une fierté locale.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QUE FAIT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 beau catalogue, mais rien qui pousse à 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59641"/>
                </a:solidFill>
                <a:latin typeface="Arial"/>
              </a:rPr>
              <a:t>Ce qui marche</a:t>
            </a:r>
          </a:p>
        </p:txBody>
      </p:sp>
      <p:pic>
        <p:nvPicPr>
          <p:cNvPr id="12" name="Picture 11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Visuels soignés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Des produits en situation, aux couleurs vives.</a:t>
            </a:r>
          </a:p>
        </p:txBody>
      </p:sp>
      <p:pic>
        <p:nvPicPr>
          <p:cNvPr id="14" name="Picture 13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Gamme variée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Maison, rangement, élevage, sport, eau : de quoi parler à tous.</a:t>
            </a:r>
          </a:p>
        </p:txBody>
      </p:sp>
      <p:pic>
        <p:nvPicPr>
          <p:cNvPr id="16" name="Picture 15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Logo toujours présent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La marque est reconnaissable.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84E0E"/>
                </a:solidFill>
                <a:latin typeface="Arial"/>
              </a:rPr>
              <a:t>Ce qui manque</a:t>
            </a:r>
          </a:p>
        </p:txBody>
      </p:sp>
      <p:pic>
        <p:nvPicPr>
          <p:cNvPr id="20" name="Picture 19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Texte vide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23 textes sur 25 ne disent rien du produit.</a:t>
            </a:r>
          </a:p>
        </p:txBody>
      </p:sp>
      <p:pic>
        <p:nvPicPr>
          <p:cNvPr id="22" name="Picture 21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Aucun prix, aucune question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qui invite à commander ou à répondre.</a:t>
            </a:r>
          </a:p>
        </p:txBody>
      </p:sp>
      <p:pic>
        <p:nvPicPr>
          <p:cNvPr id="24" name="Picture 23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Trois visuels publiés deux fois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Tiroirs, haltères et égouttoir, à quelques jours d’écart.</a:t>
            </a:r>
          </a:p>
        </p:txBody>
      </p:sp>
      <p:pic>
        <p:nvPicPr>
          <p:cNvPr id="26" name="Picture 25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Trop de publications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Trois par jour : elles se font concurrence entre elles.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MEILLEURES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meilleures : un produit utile, mis en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00_0.jpg"/>
          <p:cNvPicPr>
            <a:picLocks noChangeAspect="1"/>
          </p:cNvPicPr>
          <p:nvPr/>
        </p:nvPicPr>
        <p:blipFill>
          <a:blip r:embed="rId3"/>
          <a:srcRect l="14097" r="1409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1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7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19/10 · Panier Flora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01_0.jpg"/>
          <p:cNvPicPr>
            <a:picLocks noChangeAspect="1"/>
          </p:cNvPicPr>
          <p:nvPr/>
        </p:nvPicPr>
        <p:blipFill>
          <a:blip r:embed="rId7"/>
          <a:srcRect l="20407" r="2040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2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23/10 · Seau maçon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03_0.jpg"/>
          <p:cNvPicPr>
            <a:picLocks noChangeAspect="1"/>
          </p:cNvPicPr>
          <p:nvPr/>
        </p:nvPicPr>
        <p:blipFill>
          <a:blip r:embed="rId8"/>
          <a:srcRect l="14653" r="14653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3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21/10 · Gourde 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04_0.jpg"/>
          <p:cNvPicPr>
            <a:picLocks noChangeAspect="1"/>
          </p:cNvPicPr>
          <p:nvPr/>
        </p:nvPicPr>
        <p:blipFill>
          <a:blip r:embed="rId9"/>
          <a:srcRect l="5809" r="5809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4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5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Chaises Olivia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ulb_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Même la meilleure ne dépasse pas 7 réactions. Le point commun : on voit à quoi sert le produit à la maison (le linge, le chantier, le sport, la terrasse).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MOINS BONNES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moins bonnes : des visuels déjà vus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24_0.jpg"/>
          <p:cNvPicPr>
            <a:picLocks noChangeAspect="1"/>
          </p:cNvPicPr>
          <p:nvPr/>
        </p:nvPicPr>
        <p:blipFill>
          <a:blip r:embed="rId3"/>
          <a:srcRect l="20370" r="2037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Haltères (2e fois)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23_0.jpg"/>
          <p:cNvPicPr>
            <a:picLocks noChangeAspect="1"/>
          </p:cNvPicPr>
          <p:nvPr/>
        </p:nvPicPr>
        <p:blipFill>
          <a:blip r:embed="rId7"/>
          <a:srcRect l="77" r="7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Bocal Junior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22_0.jpg"/>
          <p:cNvPicPr>
            <a:picLocks noChangeAspect="1"/>
          </p:cNvPicPr>
          <p:nvPr/>
        </p:nvPicPr>
        <p:blipFill>
          <a:blip r:embed="rId8"/>
          <a:srcRect l="15957" r="1595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20/10 · Égouttoir (2e fois)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20_0.jpg"/>
          <p:cNvPicPr>
            <a:picLocks noChangeAspect="1"/>
          </p:cNvPicPr>
          <p:nvPr/>
        </p:nvPicPr>
        <p:blipFill>
          <a:blip r:embed="rId9"/>
          <a:srcRect l="11130" r="1113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Bol Chic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lert-triangle_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Un visuel déjà vu dans la semaine ne fait plus réagir. Le 27/10, deux publications sont parties à 23 minutes d’écart, sans aucune réaction.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6 publications refaites, avec 5 règles simples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idée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Un bénéfice concret par publication, dit en une 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ssage-circl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Pour faire répondre en commentaire.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n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 numéro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Commander en un geste, le numéro visible sur l’image.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t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image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produit en grand, sans texte qui déborde.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ilding-factory-2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preuve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Fabriqué en Côte d’Ivoire : on le dit.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Ce que nous n’avons pas inventé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Prix, dimensions et délais de livraison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LE MIX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3 : scènes de vie et produits en grand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v3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0" y="1440000"/>
            <a:ext cx="2268000" cy="2268000"/>
          </a:xfrm>
          <a:prstGeom prst="rect">
            <a:avLst/>
          </a:prstGeom>
        </p:spPr>
      </p:pic>
      <p:pic>
        <p:nvPicPr>
          <p:cNvPr id="11" name="Picture 10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800" y="1440000"/>
            <a:ext cx="1814400" cy="2268000"/>
          </a:xfrm>
          <a:prstGeom prst="rect">
            <a:avLst/>
          </a:prstGeom>
        </p:spPr>
      </p:pic>
      <p:pic>
        <p:nvPicPr>
          <p:cNvPr id="12" name="Picture 11" descr="v2_abreuvoi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0800" y="1440000"/>
            <a:ext cx="1814400" cy="2268000"/>
          </a:xfrm>
          <a:prstGeom prst="rect">
            <a:avLst/>
          </a:prstGeom>
        </p:spPr>
      </p:pic>
      <p:pic>
        <p:nvPicPr>
          <p:cNvPr id="13" name="Picture 12" descr="v3_olivi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000" y="3816000"/>
            <a:ext cx="2268000" cy="2268000"/>
          </a:xfrm>
          <a:prstGeom prst="rect">
            <a:avLst/>
          </a:prstGeom>
        </p:spPr>
      </p:pic>
      <p:pic>
        <p:nvPicPr>
          <p:cNvPr id="14" name="Picture 13" descr="v2_ibiz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0800" y="3816000"/>
            <a:ext cx="1814400" cy="2268000"/>
          </a:xfrm>
          <a:prstGeom prst="rect">
            <a:avLst/>
          </a:prstGeom>
        </p:spPr>
      </p:pic>
      <p:pic>
        <p:nvPicPr>
          <p:cNvPr id="15" name="Picture 14" descr="v3_tiroir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34000" y="3816000"/>
            <a:ext cx="2268000" cy="22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32000" y="1512000"/>
            <a:ext cx="3096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84E0E"/>
                </a:solidFill>
                <a:latin typeface="Arial"/>
              </a:rPr>
              <a:t>Ce qui change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Une publication sur deux montre une personne : on s’y reconnaît.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L’autre montre le produit en grand, sur une couleur franche.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 titre court, un numéro WhatsApp en grand.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Arial"/>
              </a:rPr>
              <a:t>Photos de personnes : illustrations à remplacer par vos clients (avec leur accord).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1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Cuves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00" y="1404000"/>
            <a:ext cx="10480000" cy="471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2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Panier Flora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pan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872" y="1404000"/>
            <a:ext cx="9040255" cy="471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3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Abreuvoir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872" y="1404000"/>
            <a:ext cx="9040255" cy="471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4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Olivia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oliv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6" y="1404000"/>
            <a:ext cx="10558208" cy="471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5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Ibiza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ibiz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872" y="1404000"/>
            <a:ext cx="9040255" cy="471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6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Tiroirs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00" y="1404000"/>
            <a:ext cx="10480000" cy="471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VERSION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2 : on arrête de montrer, on raconte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-hour-7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79" y="2058480"/>
            <a:ext cx="383040" cy="38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Une scène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Une situation vécue : la coupure d’eau, le matin d’école, le dimanche.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parkle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479" y="2058480"/>
            <a:ext cx="383040" cy="38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parti pris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 fond de couleur franche, un produit en grand, une phrase qui accroche.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479" y="2058480"/>
            <a:ext cx="383040" cy="38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jeu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Sondage de couleurs, question aux éleveurs : on fait répondre.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nd-whatsap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2479" y="2058480"/>
            <a:ext cx="383040" cy="38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seul geste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Commander sur WhatsApp, avec le numéro en très gros.</a:t>
            </a:r>
          </a:p>
        </p:txBody>
      </p:sp>
      <p:pic>
        <p:nvPicPr>
          <p:cNvPr id="30" name="Picture 29" descr="v2_cuve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600" y="4428000"/>
            <a:ext cx="1612799" cy="2015999"/>
          </a:xfrm>
          <a:prstGeom prst="rect">
            <a:avLst/>
          </a:prstGeom>
        </p:spPr>
      </p:pic>
      <p:pic>
        <p:nvPicPr>
          <p:cNvPr id="31" name="Picture 30" descr="v2_panie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3600" y="4428000"/>
            <a:ext cx="1612799" cy="2015999"/>
          </a:xfrm>
          <a:prstGeom prst="rect">
            <a:avLst/>
          </a:prstGeom>
        </p:spPr>
      </p:pic>
      <p:pic>
        <p:nvPicPr>
          <p:cNvPr id="32" name="Picture 31" descr="v2_abreuvoi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5600" y="4428000"/>
            <a:ext cx="1612799" cy="2015999"/>
          </a:xfrm>
          <a:prstGeom prst="rect">
            <a:avLst/>
          </a:prstGeom>
        </p:spPr>
      </p:pic>
      <p:pic>
        <p:nvPicPr>
          <p:cNvPr id="33" name="Picture 32" descr="v2_ibiz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600" y="4428000"/>
            <a:ext cx="1612799" cy="2015999"/>
          </a:xfrm>
          <a:prstGeom prst="rect">
            <a:avLst/>
          </a:prstGeom>
        </p:spPr>
      </p:pic>
      <p:pic>
        <p:nvPicPr>
          <p:cNvPr id="34" name="Picture 33" descr="v2_tiroir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9600" y="4428000"/>
            <a:ext cx="1612799" cy="2015999"/>
          </a:xfrm>
          <a:prstGeom prst="rect">
            <a:avLst/>
          </a:prstGeom>
        </p:spPr>
      </p:pic>
      <p:pic>
        <p:nvPicPr>
          <p:cNvPr id="35" name="Picture 34" descr="v2_choco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11600" y="4428000"/>
            <a:ext cx="1612799" cy="20159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1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besoin, puis le produit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Cuves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Le besoin d’abord : la coupure d’eau, avec les vraies contenances.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Panier Flora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Votre meilleure publication, en couleur pleine et sans texte parasite.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2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Faire parler la cible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Abreuvoir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On parle aux éleveurs, avec leurs mots : « poulets assoiffés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ibiz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et chaises Ibiza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sondage de couleurs pour faire commenter.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3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Raconter une scène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Tiroirs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Une scène que tous les parents connaissent à 6 h 45.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choc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Choco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effet de surprise pour lancer la nouveauté.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RECOMMANDATIONS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5 décisions pour faire réagir, puis faire commander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pea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Publier moins, mieux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jour au lieu de trois, jamais deux fois le même visuel dans le mois.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Écrire un vrai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Bénéfice, question, numéro : la règle des avant / après, sur chaque publication.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Passer à la vidéo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Deux vidéos courtes par semaine : l’usine, un produit en usage, une livraison.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urrency-dollar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Afficher les prix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offre datée par mois, comme Metaplast, avec un prix et une date de fin.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semaine pour les acheteurs professionnels et les revendeurs, sans faute de nom.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PLAN 30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premier mois, semaine par semaine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Corriger « TAPLAST » sur LinkedIn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Retirer les publications en double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Valider les 6 publications refaites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Publier les 6 avant / après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1 publication par jour, 12 h ou 18 h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Répondre à chaque commentaire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Tourner 2 vidéos à l’usine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Première offre datée avec prix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Relancer Instagram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Comparer aux 3 réactions de départ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Garder ce qui marche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Préparer le mois suivant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arget-arrow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Objectif proposé à 30 jours : passer de 3 à 10 réactions médianes par publication, et compter les commandes venues de Facebook.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qu’il nous faut pour aller plus loin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Portée, clics et messages reçus : pour mesurer les ventes, pas seulement les réactions.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rrency-dollar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Prix et délais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écrire des offres datées sur les produits phares.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2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n’a été publié. Les visuels « après » reprennent vos propres images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