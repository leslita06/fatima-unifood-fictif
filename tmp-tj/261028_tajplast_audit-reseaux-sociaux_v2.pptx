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Réactions médianes par publication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Réactions médianes par publication</c:v>
                </c:pt>
              </c:strCache>
            </c:strRef>
          </c:tx>
          <c:dPt>
            <c:idx val="0"/>
            <c:spPr>
              <a:solidFill>
                <a:srgbClr val="E84E0E"/>
              </a:solidFill>
            </c:spPr>
          </c:dPt>
          <c:dPt>
            <c:idx val="1"/>
            <c:spPr>
              <a:solidFill>
                <a:srgbClr val="5A5A5A"/>
              </a:solidFill>
            </c:spPr>
          </c:dPt>
          <c:dPt>
            <c:idx val="2"/>
            <c:spPr>
              <a:solidFill>
                <a:srgbClr val="5A5A5A"/>
              </a:solidFill>
            </c:spPr>
          </c:dPt>
          <c:cat>
            <c:strRef>
              <c:f>Sheet1!$A$2:$A$4</c:f>
              <c:strCache>
                <c:ptCount val="3"/>
                <c:pt idx="0">
                  <c:v>TAJ PLAST</c:v>
                </c:pt>
                <c:pt idx="1">
                  <c:v>Plastica CI</c:v>
                </c:pt>
                <c:pt idx="2">
                  <c:v>Metaplast CI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9</c:v>
                </c:pt>
                <c:pt idx="2">
                  <c:v>26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6.jp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7.jp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chart" Target="../charts/chart1.xml"/><Relationship Id="rId4" Type="http://schemas.openxmlformats.org/officeDocument/2006/relationships/image" Target="../media/image17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9.jpg"/><Relationship Id="rId4" Type="http://schemas.openxmlformats.org/officeDocument/2006/relationships/image" Target="../media/image7.jp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jpg"/><Relationship Id="rId9" Type="http://schemas.openxmlformats.org/officeDocument/2006/relationships/image" Target="../media/image33.jpg"/><Relationship Id="rId10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6.jpg"/><Relationship Id="rId4" Type="http://schemas.openxmlformats.org/officeDocument/2006/relationships/image" Target="../media/image19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3.jpg"/><Relationship Id="rId4" Type="http://schemas.openxmlformats.org/officeDocument/2006/relationships/image" Target="../media/image19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44.jpg"/><Relationship Id="rId8" Type="http://schemas.openxmlformats.org/officeDocument/2006/relationships/image" Target="../media/image45.jpg"/><Relationship Id="rId9" Type="http://schemas.openxmlformats.org/officeDocument/2006/relationships/image" Target="../media/image46.jpg"/><Relationship Id="rId10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Relationship Id="rId7" Type="http://schemas.openxmlformats.org/officeDocument/2006/relationships/image" Target="../media/image56.jpg"/><Relationship Id="rId8" Type="http://schemas.openxmlformats.org/officeDocument/2006/relationships/image" Target="../media/image5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48.png"/><Relationship Id="rId6" Type="http://schemas.openxmlformats.org/officeDocument/2006/relationships/image" Target="../media/image66.png"/><Relationship Id="rId7" Type="http://schemas.openxmlformats.org/officeDocument/2006/relationships/image" Target="../media/image67.jpg"/><Relationship Id="rId8" Type="http://schemas.openxmlformats.org/officeDocument/2006/relationships/image" Target="../media/image53.jpg"/><Relationship Id="rId9" Type="http://schemas.openxmlformats.org/officeDocument/2006/relationships/image" Target="../media/image54.jpg"/><Relationship Id="rId10" Type="http://schemas.openxmlformats.org/officeDocument/2006/relationships/image" Target="../media/image56.jpg"/><Relationship Id="rId11" Type="http://schemas.openxmlformats.org/officeDocument/2006/relationships/image" Target="../media/image68.jpg"/><Relationship Id="rId12" Type="http://schemas.openxmlformats.org/officeDocument/2006/relationships/image" Target="../media/image6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7.jpg"/><Relationship Id="rId4" Type="http://schemas.openxmlformats.org/officeDocument/2006/relationships/image" Target="../media/image5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4.jpg"/><Relationship Id="rId4" Type="http://schemas.openxmlformats.org/officeDocument/2006/relationships/image" Target="../media/image5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1.png"/><Relationship Id="rId7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7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71.png"/><Relationship Id="rId5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20000" y="0"/>
            <a:ext cx="5172119" cy="68580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ble_ibi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000" y="1889817"/>
            <a:ext cx="4236119" cy="30783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20000" y="0"/>
            <a:ext cx="9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85571"/>
            <a:ext cx="2520000" cy="700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000" y="2015999"/>
            <a:ext cx="594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4E0E"/>
                </a:solidFill>
                <a:latin typeface="Arial"/>
              </a:rPr>
              <a:t>AUDIT RÉSEAUX SOCIAUX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376000"/>
            <a:ext cx="6048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TAJ PLAST face à ses concurrents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104000"/>
            <a:ext cx="594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DDDDDD"/>
                </a:solidFill>
                <a:latin typeface="Arial"/>
              </a:rPr>
              <a:t>Ce qui marche, ce qui manque, et 6 publications refaites</a:t>
            </a:r>
          </a:p>
        </p:txBody>
      </p:sp>
      <p:pic>
        <p:nvPicPr>
          <p:cNvPr id="10" name="Picture 9" descr="brand-facebook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5328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4000" y="5346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pic>
        <p:nvPicPr>
          <p:cNvPr id="12" name="Picture 11" descr="brand-instagram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000" y="5328000"/>
            <a:ext cx="324000" cy="32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28000" y="5346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pic>
        <p:nvPicPr>
          <p:cNvPr id="14" name="Picture 13" descr="brand-linkedin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6000" y="5328000"/>
            <a:ext cx="324000" cy="324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12000" y="5346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Arial"/>
              </a:rPr>
              <a:t>LinkedIn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6083999"/>
            <a:ext cx="576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Relevé des pages publiques le 27 octobre 2026 · document de travail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16000"/>
            <a:ext cx="79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Arial"/>
              </a:rPr>
              <a:t>FACE À</a:t>
            </a:r>
          </a:p>
        </p:txBody>
      </p:sp>
      <p:sp>
        <p:nvSpPr>
          <p:cNvPr id="18" name="Oval 17"/>
          <p:cNvSpPr/>
          <p:nvPr/>
        </p:nvSpPr>
        <p:spPr>
          <a:xfrm>
            <a:off x="1440000" y="4500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2_plastic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800" y="4528800"/>
            <a:ext cx="662400" cy="662400"/>
          </a:xfrm>
          <a:prstGeom prst="ellipse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2304000" y="4500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2_metaplas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2800" y="4528800"/>
            <a:ext cx="662400" cy="66240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L'ESSENTIEL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Beaucoup de publications, très peu de réactions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peakerphon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36000" y="1943999"/>
            <a:ext cx="388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22 publications par semaine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6000" y="2519999"/>
            <a:ext cx="3888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Trois par jour sur Facebook. Metaplast en fait moins d’une, Plastica une.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52000" y="1943999"/>
            <a:ext cx="388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3 réactions par publication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000" y="2519999"/>
            <a:ext cx="3888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Pour 11 000 abonnés. Metaplast en obtient 26, Plastica 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encil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36000" y="4211999"/>
            <a:ext cx="388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23 textes sur 25 vides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6000" y="4787999"/>
            <a:ext cx="3888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Le texte se limite au téléphone, à l’e-mail et aux mots-dièse.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video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452000" y="4211999"/>
            <a:ext cx="3888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11111"/>
                </a:solidFill>
                <a:latin typeface="Arial"/>
              </a:rPr>
              <a:t>0 vidéo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000" y="4787999"/>
            <a:ext cx="3888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Chez Metaplast, les vidéos font 3,5 fois plus de réactions que les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Ce que nous avons regardé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944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400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88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11111"/>
                </a:solidFill>
                <a:latin typeface="Arial"/>
              </a:rPr>
              <a:t>Pages publiques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Facebook, Instagram et LinkedIn de TAJ PLAST, Metaplast CI et Plastica CI, relevés le 27/10/2026.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5999" y="1944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35999" y="288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11111"/>
                </a:solidFill>
                <a:latin typeface="Arial"/>
              </a:rPr>
              <a:t>25 publications par marque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5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Les 25 dernières sur Facebook : du 19 au 27/10 pour TAJ PLAST, plusieurs mois pour les deux autres.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3999" y="1944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400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3999" y="288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11111"/>
                </a:solidFill>
                <a:latin typeface="Arial"/>
              </a:rPr>
              <a:t>Médianes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La valeur du milieu, pour ne pas laisser une publication sponsorisée fausser la moyenne.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51999" y="1944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400"/>
            <a:ext cx="403200" cy="40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51999" y="2880000"/>
            <a:ext cx="2160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11111"/>
                </a:solidFill>
                <a:latin typeface="Arial"/>
              </a:rPr>
              <a:t>Hors de vue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1999" y="3600000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Portée, clics, messages reçus et budgets publicitaires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QUI NOUS AVONS COMPARÉ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Trois fabricants ivoiriens, trois façons de communiquer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528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3528000" cy="10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10000" y="1872000"/>
            <a:ext cx="1260000" cy="126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2_taj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400" y="1922400"/>
            <a:ext cx="1159200" cy="1159200"/>
          </a:xfrm>
          <a:prstGeom prst="ellipse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6000" y="3204000"/>
            <a:ext cx="3168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TAJ PLAST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3564000"/>
            <a:ext cx="316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E84E0E"/>
                </a:solidFill>
                <a:latin typeface="Arial"/>
              </a:rPr>
              <a:t>NOTRE CLIENT</a:t>
            </a:r>
          </a:p>
        </p:txBody>
      </p:sp>
      <p:pic>
        <p:nvPicPr>
          <p:cNvPr id="16" name="Picture 15" descr="brand-facebook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00" y="4032000"/>
            <a:ext cx="270000" cy="27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03999" y="399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11 000 abonnés</a:t>
            </a:r>
          </a:p>
        </p:txBody>
      </p:sp>
      <p:pic>
        <p:nvPicPr>
          <p:cNvPr id="18" name="Picture 17" descr="speakerphon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000" y="4482000"/>
            <a:ext cx="270000" cy="27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3999" y="444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22 publications / semaine</a:t>
            </a:r>
          </a:p>
        </p:txBody>
      </p:sp>
      <p:pic>
        <p:nvPicPr>
          <p:cNvPr id="20" name="Picture 19" descr="heart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000" y="4932000"/>
            <a:ext cx="270000" cy="27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03999" y="489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3 réactions / publication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000" y="5436000"/>
            <a:ext cx="295199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Beaucoup de catalogue, peu de dialogue.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1584000"/>
            <a:ext cx="3528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0000" y="1584000"/>
            <a:ext cx="3528000" cy="1080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54000" y="1872000"/>
            <a:ext cx="1260000" cy="126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2_plastic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400" y="1922400"/>
            <a:ext cx="1159200" cy="1159200"/>
          </a:xfrm>
          <a:prstGeom prst="ellipse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00000" y="3204000"/>
            <a:ext cx="3168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Plastica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0000" y="3564000"/>
            <a:ext cx="316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59641"/>
                </a:solidFill>
                <a:latin typeface="Arial"/>
              </a:rPr>
              <a:t>CONCURRENT DIRECT</a:t>
            </a:r>
          </a:p>
        </p:txBody>
      </p:sp>
      <p:pic>
        <p:nvPicPr>
          <p:cNvPr id="29" name="Picture 28" descr="brand-facebook_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2000" y="4032000"/>
            <a:ext cx="270000" cy="27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47999" y="399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7 788 abonnés</a:t>
            </a:r>
          </a:p>
        </p:txBody>
      </p:sp>
      <p:pic>
        <p:nvPicPr>
          <p:cNvPr id="31" name="Picture 30" descr="speakerphone_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2000" y="4482000"/>
            <a:ext cx="270000" cy="270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47999" y="444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 publication / semaine</a:t>
            </a:r>
          </a:p>
        </p:txBody>
      </p:sp>
      <p:pic>
        <p:nvPicPr>
          <p:cNvPr id="33" name="Picture 32" descr="heart_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2000" y="4932000"/>
            <a:ext cx="270000" cy="27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47999" y="489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9 réactions / publication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000" y="5436000"/>
            <a:ext cx="295199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Moins de publications, plus de visages et d’événements.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4000" y="1584000"/>
            <a:ext cx="3528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4000" y="1584000"/>
            <a:ext cx="3528000" cy="10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98000" y="1872000"/>
            <a:ext cx="1260000" cy="126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ogo2_metaplast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8400" y="1922400"/>
            <a:ext cx="1159200" cy="1159200"/>
          </a:xfrm>
          <a:prstGeom prst="ellipse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44000" y="3204000"/>
            <a:ext cx="3168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11111"/>
                </a:solidFill>
                <a:latin typeface="Arial"/>
              </a:rPr>
              <a:t>Metaplast CI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4000" y="3564000"/>
            <a:ext cx="3168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5A5A5A"/>
                </a:solidFill>
                <a:latin typeface="Arial"/>
              </a:rPr>
              <a:t>LEADER EN AUDIENCE</a:t>
            </a:r>
          </a:p>
        </p:txBody>
      </p:sp>
      <p:pic>
        <p:nvPicPr>
          <p:cNvPr id="42" name="Picture 41" descr="brand-facebook_noi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6000" y="4032000"/>
            <a:ext cx="270000" cy="27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891999" y="399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167 255 abonnés</a:t>
            </a:r>
          </a:p>
        </p:txBody>
      </p:sp>
      <p:pic>
        <p:nvPicPr>
          <p:cNvPr id="44" name="Picture 43" descr="speakerphone_noi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000" y="4482000"/>
            <a:ext cx="270000" cy="270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91999" y="444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0,8 publication / semaine</a:t>
            </a:r>
          </a:p>
        </p:txBody>
      </p:sp>
      <p:pic>
        <p:nvPicPr>
          <p:cNvPr id="46" name="Picture 45" descr="heart_noi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6000" y="4932000"/>
            <a:ext cx="270000" cy="270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91999" y="4896000"/>
            <a:ext cx="2520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26 réactions / publication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2000" y="5436000"/>
            <a:ext cx="2951999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Prix, vidéos et offres datées.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LES COMPTES DE TAJ PLAST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Une grande page Facebook, peu présente ailleurs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Arial"/>
              </a:rPr>
              <a:t>11 000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abonnés Facebook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3419999"/>
            <a:ext cx="313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Arial"/>
              </a:rPr>
              <a:t>Page créée en 2018 · publicité active le 27/10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Arial"/>
              </a:rPr>
              <a:t>268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abonnés Instagram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6000" y="3419999"/>
            <a:ext cx="313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Arial"/>
              </a:rPr>
              <a:t>Metaplast : 827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Arial"/>
              </a:rPr>
              <a:t>1 515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abonnés LinkedIn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9999" y="3419999"/>
            <a:ext cx="313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Arial"/>
              </a:rPr>
              <a:t>Dernière publication le 19/10 : 2 réactions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À corriger tout de suite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La publication LinkedIn du 19/10 sur le salon du packaging écrit « TAPLAST » au lieu de TAJ PLAST. Trois visuels ont été publiés deux fois sur Facebook en une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FACE AUX CONCURRENTS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Plastica : 3 fois plus de réactions, moins d’abonnés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76000" y="1584000"/>
          <a:ext cx="5400000" cy="453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Oval 10"/>
          <p:cNvSpPr/>
          <p:nvPr/>
        </p:nvSpPr>
        <p:spPr>
          <a:xfrm>
            <a:off x="8442000" y="1548000"/>
            <a:ext cx="792000" cy="792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2_taj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680" y="1579680"/>
            <a:ext cx="728640" cy="728640"/>
          </a:xfrm>
          <a:prstGeom prst="ellipse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9558000" y="1548000"/>
            <a:ext cx="792000" cy="792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2_plastic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680" y="1579680"/>
            <a:ext cx="728640" cy="728640"/>
          </a:xfrm>
          <a:prstGeom prst="ellipse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674000" y="1548000"/>
            <a:ext cx="792000" cy="792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2_metaplas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5680" y="1579680"/>
            <a:ext cx="728640" cy="728640"/>
          </a:xfrm>
          <a:prstGeom prst="ellipse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63999" y="2448000"/>
          <a:ext cx="5363999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999"/>
                <a:gridCol w="1116000"/>
                <a:gridCol w="1116000"/>
                <a:gridCol w="1116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TAJ PLAST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Plastica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Metaplast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Abonnés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11 000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7 788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167 255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Publications / semaine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0,8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Taux de réaction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0,03 %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0,12 %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0,02 %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Vidéos (sur 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Prix affiché (sur 25)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Commentaires (total)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FDE9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63999" y="5760000"/>
            <a:ext cx="5364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Taux de réaction = réactions médianes ÷ abonnés. Sur les 25 dernières publications Facebook de chaque page.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CE QUI MARCHE AILLEURS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Les concurrents parlent prix, vidéo et engagements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taplast2.jpg"/>
          <p:cNvPicPr>
            <a:picLocks noChangeAspect="1"/>
          </p:cNvPicPr>
          <p:nvPr/>
        </p:nvPicPr>
        <p:blipFill>
          <a:blip r:embed="rId3"/>
          <a:srcRect t="15217" b="15217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756000" y="4031999"/>
            <a:ext cx="360000" cy="36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2_metapla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00" y="4046399"/>
            <a:ext cx="331200" cy="331200"/>
          </a:xfrm>
          <a:prstGeom prst="ellipse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000" y="4068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84E0E"/>
                </a:solidFill>
                <a:latin typeface="Arial"/>
              </a:rPr>
              <a:t>Metaplast · 1er/10</a:t>
            </a:r>
          </a:p>
        </p:txBody>
      </p:sp>
      <p:pic>
        <p:nvPicPr>
          <p:cNvPr id="15" name="Picture 14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3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2 071</a:t>
            </a:r>
          </a:p>
        </p:txBody>
      </p:sp>
      <p:pic>
        <p:nvPicPr>
          <p:cNvPr id="17" name="Picture 16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428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87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145</a:t>
            </a:r>
          </a:p>
        </p:txBody>
      </p:sp>
      <p:pic>
        <p:nvPicPr>
          <p:cNvPr id="19" name="Picture 18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428000"/>
            <a:ext cx="216000" cy="21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31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4824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Offre datée : cuve 1 500 L à 80 000 F CFA, livraison gratuite à Abidjan, numéro de commande.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etaplast0.jpg"/>
          <p:cNvPicPr>
            <a:picLocks noChangeAspect="1"/>
          </p:cNvPicPr>
          <p:nvPr/>
        </p:nvPicPr>
        <p:blipFill>
          <a:blip r:embed="rId8"/>
          <a:srcRect t="30435" b="30435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4500000" y="4031999"/>
            <a:ext cx="360000" cy="36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2_metapla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400" y="4046399"/>
            <a:ext cx="331200" cy="331200"/>
          </a:xfrm>
          <a:prstGeom prst="ellipse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32000" y="4068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84E0E"/>
                </a:solidFill>
                <a:latin typeface="Arial"/>
              </a:rPr>
              <a:t>Metaplast · vidéo du 1er/04</a:t>
            </a:r>
          </a:p>
        </p:txBody>
      </p:sp>
      <p:pic>
        <p:nvPicPr>
          <p:cNvPr id="27" name="Picture 26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428000"/>
            <a:ext cx="216000" cy="21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87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107 046</a:t>
            </a:r>
          </a:p>
        </p:txBody>
      </p:sp>
      <p:pic>
        <p:nvPicPr>
          <p:cNvPr id="29" name="Picture 28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428000"/>
            <a:ext cx="216000" cy="21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31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543</a:t>
            </a:r>
          </a:p>
        </p:txBody>
      </p:sp>
      <p:pic>
        <p:nvPicPr>
          <p:cNvPr id="31" name="Picture 30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428000"/>
            <a:ext cx="216000" cy="216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75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1 049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6000" y="4824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Vidéo courte sur les cuves. Ce score hors norme laisse penser à une diffusion payante (hypothèse).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lastica1.jpg"/>
          <p:cNvPicPr>
            <a:picLocks noChangeAspect="1"/>
          </p:cNvPicPr>
          <p:nvPr/>
        </p:nvPicPr>
        <p:blipFill>
          <a:blip r:embed="rId9"/>
          <a:srcRect t="14310" b="14310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8244000" y="4031999"/>
            <a:ext cx="360000" cy="36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2_plastic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8400" y="4046399"/>
            <a:ext cx="331200" cy="331200"/>
          </a:xfrm>
          <a:prstGeom prst="ellipse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76000" y="4068000"/>
            <a:ext cx="2772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E84E0E"/>
                </a:solidFill>
                <a:latin typeface="Arial"/>
              </a:rPr>
              <a:t>Plastica · 19/10</a:t>
            </a:r>
          </a:p>
        </p:txBody>
      </p:sp>
      <p:pic>
        <p:nvPicPr>
          <p:cNvPr id="39" name="Picture 38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428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31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122</a:t>
            </a:r>
          </a:p>
        </p:txBody>
      </p:sp>
      <p:pic>
        <p:nvPicPr>
          <p:cNvPr id="41" name="Picture 40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428000"/>
            <a:ext cx="216000" cy="216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575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pic>
        <p:nvPicPr>
          <p:cNvPr id="43" name="Picture 42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428000"/>
            <a:ext cx="216000" cy="2160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619999" y="4392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0000" y="4824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Partenariat avec Magic System FC : des visages, un événement, une fierté locale.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CE QUE FAIT TAJ PLAST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Un beau catalogue, mais rien qui pousse à acheter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59641"/>
                </a:solidFill>
                <a:latin typeface="Arial"/>
              </a:rPr>
              <a:t>Ce qui marche</a:t>
            </a:r>
          </a:p>
        </p:txBody>
      </p:sp>
      <p:pic>
        <p:nvPicPr>
          <p:cNvPr id="12" name="Picture 11" descr="circle-check_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Visuels soignés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Des produits en situation, aux couleurs vives.</a:t>
            </a:r>
          </a:p>
        </p:txBody>
      </p:sp>
      <p:pic>
        <p:nvPicPr>
          <p:cNvPr id="14" name="Picture 13" descr="circle-check_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Gamme variée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Maison, rangement, élevage, sport, eau : de quoi parler à tous.</a:t>
            </a:r>
          </a:p>
        </p:txBody>
      </p:sp>
      <p:pic>
        <p:nvPicPr>
          <p:cNvPr id="16" name="Picture 15" descr="circle-check_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Logo toujours présent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La marque est reconnaissable.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4E0E"/>
                </a:solidFill>
                <a:latin typeface="Arial"/>
              </a:rPr>
              <a:t>Ce qui manque</a:t>
            </a:r>
          </a:p>
        </p:txBody>
      </p:sp>
      <p:pic>
        <p:nvPicPr>
          <p:cNvPr id="20" name="Picture 19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Texte vide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23 textes sur 25 ne disent rien du produit.</a:t>
            </a:r>
          </a:p>
        </p:txBody>
      </p:sp>
      <p:pic>
        <p:nvPicPr>
          <p:cNvPr id="22" name="Picture 21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Aucun prix, aucune question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Rien qui invite à commander ou à répondre.</a:t>
            </a:r>
          </a:p>
        </p:txBody>
      </p:sp>
      <p:pic>
        <p:nvPicPr>
          <p:cNvPr id="24" name="Picture 23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Trois visuels publiés deux fois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Tiroirs, haltères et égouttoir, à quelques jours d’écart.</a:t>
            </a:r>
          </a:p>
        </p:txBody>
      </p:sp>
      <p:pic>
        <p:nvPicPr>
          <p:cNvPr id="26" name="Picture 25" descr="circle-x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Arial"/>
              </a:rPr>
              <a:t>Trop de publications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Trois par jour : elles se font concurrence entre 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MEILLEURES PUBLICATIONS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Les meilleures : un produit utile, mis en situation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00_0.jpg"/>
          <p:cNvPicPr>
            <a:picLocks noChangeAspect="1"/>
          </p:cNvPicPr>
          <p:nvPr/>
        </p:nvPicPr>
        <p:blipFill>
          <a:blip r:embed="rId3"/>
          <a:srcRect l="14097" r="14097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6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1</a:t>
            </a:r>
          </a:p>
        </p:txBody>
      </p:sp>
      <p:pic>
        <p:nvPicPr>
          <p:cNvPr id="14" name="Picture 13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pic>
        <p:nvPicPr>
          <p:cNvPr id="16" name="Picture 15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999" y="4554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9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18" name="Picture 17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998" y="4554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7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19/10 · Panier Flora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01_0.jpg"/>
          <p:cNvPicPr>
            <a:picLocks noChangeAspect="1"/>
          </p:cNvPicPr>
          <p:nvPr/>
        </p:nvPicPr>
        <p:blipFill>
          <a:blip r:embed="rId7"/>
          <a:srcRect l="20407" r="20407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564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4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2</a:t>
            </a:r>
          </a:p>
        </p:txBody>
      </p:sp>
      <p:pic>
        <p:nvPicPr>
          <p:cNvPr id="25" name="Picture 24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79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pic>
        <p:nvPicPr>
          <p:cNvPr id="27" name="Picture 26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99" y="4554000"/>
            <a:ext cx="216000" cy="21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7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pic>
        <p:nvPicPr>
          <p:cNvPr id="29" name="Picture 28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3998" y="4554000"/>
            <a:ext cx="216000" cy="21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35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23/10 · Seau maçon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03_0.jpg"/>
          <p:cNvPicPr>
            <a:picLocks noChangeAspect="1"/>
          </p:cNvPicPr>
          <p:nvPr/>
        </p:nvPicPr>
        <p:blipFill>
          <a:blip r:embed="rId8"/>
          <a:srcRect l="14653" r="14653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372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2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3</a:t>
            </a:r>
          </a:p>
        </p:txBody>
      </p:sp>
      <p:pic>
        <p:nvPicPr>
          <p:cNvPr id="36" name="Picture 35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87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pic>
        <p:nvPicPr>
          <p:cNvPr id="38" name="Picture 37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999" y="4554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5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40" name="Picture 39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998" y="4554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43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21/10 · Gourde Fresh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04_0.jpg"/>
          <p:cNvPicPr>
            <a:picLocks noChangeAspect="1"/>
          </p:cNvPicPr>
          <p:nvPr/>
        </p:nvPicPr>
        <p:blipFill>
          <a:blip r:embed="rId9"/>
          <a:srcRect l="5809" r="5809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180000" y="1764000"/>
            <a:ext cx="1296000" cy="288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0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TOP 4</a:t>
            </a:r>
          </a:p>
        </p:txBody>
      </p:sp>
      <p:pic>
        <p:nvPicPr>
          <p:cNvPr id="47" name="Picture 46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5</a:t>
            </a:r>
          </a:p>
        </p:txBody>
      </p:sp>
      <p:pic>
        <p:nvPicPr>
          <p:cNvPr id="49" name="Picture 48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999" y="4554000"/>
            <a:ext cx="216000" cy="216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23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51" name="Picture 50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9998" y="4554000"/>
            <a:ext cx="216000" cy="216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051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26/10 · Chaises Olivia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E3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ulb_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580000"/>
            <a:ext cx="503999" cy="50399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40000" y="5508000"/>
            <a:ext cx="100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Même la meilleure ne dépasse pas 7 réactions. Le point commun : on voit à quoi sert le produit à la maison (le linge, le chantier, le sport, la terrasse).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MOINS BONNES PUBLICATIONS · 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Les moins bonnes : des visuels déjà vus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24_0.jpg"/>
          <p:cNvPicPr>
            <a:picLocks noChangeAspect="1"/>
          </p:cNvPicPr>
          <p:nvPr/>
        </p:nvPicPr>
        <p:blipFill>
          <a:blip r:embed="rId3"/>
          <a:srcRect l="20370" r="2037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56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14" name="Picture 13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pic>
        <p:nvPicPr>
          <p:cNvPr id="16" name="Picture 15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999" y="4554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99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18" name="Picture 17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5998" y="4554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7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27/10 · Haltères (2e fois)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23_0.jpg"/>
          <p:cNvPicPr>
            <a:picLocks noChangeAspect="1"/>
          </p:cNvPicPr>
          <p:nvPr/>
        </p:nvPicPr>
        <p:blipFill>
          <a:blip r:embed="rId7"/>
          <a:srcRect l="77" r="77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564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4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25" name="Picture 24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79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pic>
        <p:nvPicPr>
          <p:cNvPr id="27" name="Picture 26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999" y="4554000"/>
            <a:ext cx="216000" cy="21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7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29" name="Picture 28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3998" y="4554000"/>
            <a:ext cx="216000" cy="21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435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27/10 · Bocal Junior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22_0.jpg"/>
          <p:cNvPicPr>
            <a:picLocks noChangeAspect="1"/>
          </p:cNvPicPr>
          <p:nvPr/>
        </p:nvPicPr>
        <p:blipFill>
          <a:blip r:embed="rId8"/>
          <a:srcRect l="15957" r="15957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372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2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36" name="Picture 35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87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pic>
        <p:nvPicPr>
          <p:cNvPr id="38" name="Picture 37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999" y="4554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15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40" name="Picture 39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998" y="4554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43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20/10 · Égouttoir (2e fois)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20_0.jpg"/>
          <p:cNvPicPr>
            <a:picLocks noChangeAspect="1"/>
          </p:cNvPicPr>
          <p:nvPr/>
        </p:nvPicPr>
        <p:blipFill>
          <a:blip r:embed="rId9"/>
          <a:srcRect l="11130" r="1113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180000" y="1764000"/>
            <a:ext cx="1296000" cy="288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0000" y="1764000"/>
            <a:ext cx="1296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À REVOIR</a:t>
            </a:r>
          </a:p>
        </p:txBody>
      </p:sp>
      <p:pic>
        <p:nvPicPr>
          <p:cNvPr id="47" name="Picture 46" descr="heart_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999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pic>
        <p:nvPicPr>
          <p:cNvPr id="49" name="Picture 48" descr="message-circle_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999" y="4554000"/>
            <a:ext cx="216000" cy="216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23998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-</a:t>
            </a:r>
          </a:p>
        </p:txBody>
      </p:sp>
      <p:pic>
        <p:nvPicPr>
          <p:cNvPr id="51" name="Picture 50" descr="share_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9998" y="4554000"/>
            <a:ext cx="216000" cy="2160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051997" y="4518000"/>
            <a:ext cx="57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11111"/>
                </a:solidFill>
                <a:latin typeface="Arial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Arial"/>
              </a:rPr>
              <a:t>26/10 · Bol Chic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D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alert-triangle_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580000"/>
            <a:ext cx="503999" cy="50399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440000" y="5508000"/>
            <a:ext cx="10008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Arial"/>
              </a:rPr>
              <a:t>Un visuel déjà vu dans la semaine ne fait plus réagir. Le 27/10, deux publications sont parties à 23 minutes d’écart, sans aucune réaction.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6 publications refaites, avec 5 règles simples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60000" y="1872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2030400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4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idée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Un bénéfice concret par publication, dit en une phrase.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2000" y="1872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essage-circl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2030400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16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Pour faire répondre en commentaire.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000" y="1872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n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2030400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48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 numéro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Commander en un geste, le numéro visible sur l’image.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6000" y="1872000"/>
            <a:ext cx="720000" cy="720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oto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2030400"/>
            <a:ext cx="403200" cy="403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80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image nette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0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Le produit en grand, sans texte qui déborde.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88000" y="1872000"/>
            <a:ext cx="720000" cy="720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uilding-factory-2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2030400"/>
            <a:ext cx="403200" cy="403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612000" y="2772000"/>
            <a:ext cx="1872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Une preuve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2000" y="3168000"/>
            <a:ext cx="1872000" cy="129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Arial"/>
              </a:rPr>
              <a:t>Fabriqué en Côte d’Ivoire : on le dit.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E84E0E"/>
                </a:solidFill>
                <a:latin typeface="Arial"/>
              </a:rPr>
              <a:t>Ce que nous n’avons pas inventé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Prix, dimensions et délais de livraison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LE MIX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Version 3 : scènes de vie et produits en grand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v3_cuv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00" y="1440000"/>
            <a:ext cx="2268000" cy="2268000"/>
          </a:xfrm>
          <a:prstGeom prst="rect">
            <a:avLst/>
          </a:prstGeom>
        </p:spPr>
      </p:pic>
      <p:pic>
        <p:nvPicPr>
          <p:cNvPr id="11" name="Picture 10" descr="v2_pani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0800" y="1440000"/>
            <a:ext cx="1814400" cy="2268000"/>
          </a:xfrm>
          <a:prstGeom prst="rect">
            <a:avLst/>
          </a:prstGeom>
        </p:spPr>
      </p:pic>
      <p:pic>
        <p:nvPicPr>
          <p:cNvPr id="12" name="Picture 11" descr="v2_abreuvoi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0800" y="1440000"/>
            <a:ext cx="1814400" cy="2268000"/>
          </a:xfrm>
          <a:prstGeom prst="rect">
            <a:avLst/>
          </a:prstGeom>
        </p:spPr>
      </p:pic>
      <p:pic>
        <p:nvPicPr>
          <p:cNvPr id="13" name="Picture 12" descr="v3_olivi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00" y="3816000"/>
            <a:ext cx="2268000" cy="2268000"/>
          </a:xfrm>
          <a:prstGeom prst="rect">
            <a:avLst/>
          </a:prstGeom>
        </p:spPr>
      </p:pic>
      <p:pic>
        <p:nvPicPr>
          <p:cNvPr id="14" name="Picture 13" descr="v2_ibiz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800" y="3816000"/>
            <a:ext cx="1814400" cy="2268000"/>
          </a:xfrm>
          <a:prstGeom prst="rect">
            <a:avLst/>
          </a:prstGeom>
        </p:spPr>
      </p:pic>
      <p:pic>
        <p:nvPicPr>
          <p:cNvPr id="15" name="Picture 14" descr="v3_tiroir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4000" y="3816000"/>
            <a:ext cx="2268000" cy="226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32000" y="1512000"/>
            <a:ext cx="3096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4E0E"/>
                </a:solidFill>
                <a:latin typeface="Arial"/>
              </a:rPr>
              <a:t>Ce qui change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111111"/>
                </a:solidFill>
                <a:latin typeface="Arial"/>
              </a:rPr>
              <a:t>Une publication sur deux montre une personne : on s’y reconnaît.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111111"/>
                </a:solidFill>
                <a:latin typeface="Arial"/>
              </a:rPr>
              <a:t>L’autre montre le produit en grand, sur une couleur franche.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111111"/>
                </a:solidFill>
                <a:latin typeface="Arial"/>
              </a:rPr>
              <a:t>Un titre court, un numéro WhatsApp en grand.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Arial"/>
              </a:rPr>
              <a:t>Photos de personnes : illustrations à remplacer par vos clients (avec leur accord).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1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Cuves : avant, 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cmp2_cuv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07000"/>
            <a:ext cx="11304000" cy="471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2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Panier Flora : avant, 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cmp2_pan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07000"/>
            <a:ext cx="11304000" cy="471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3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Abreuvoir : avant, 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cmp2_abreuvo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07000"/>
            <a:ext cx="11304000" cy="471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4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Chaises Olivia : avant, 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16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cmp2_oliv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07000"/>
            <a:ext cx="11304000" cy="471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5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Chaises Ibiza : avant, 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17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cmp2_ibiz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07000"/>
            <a:ext cx="11304000" cy="471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6 SUR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Tiroirs : avant, après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18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pic>
        <p:nvPicPr>
          <p:cNvPr id="10" name="Picture 9" descr="cmp2_tiroi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07000"/>
            <a:ext cx="11304000" cy="471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AVANT / APRÈS · VERSION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Version 2 : on arrête de montrer, on raconte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19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2628000" cy="259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908000"/>
            <a:ext cx="684000" cy="684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ock-hour-7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79" y="2058480"/>
            <a:ext cx="383040" cy="38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Une scène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131999"/>
            <a:ext cx="219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Une situation vécue : la coupure d’eau, le matin d’école, le dimanche.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4000" y="1655999"/>
            <a:ext cx="2628000" cy="259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5999" y="1908000"/>
            <a:ext cx="684000" cy="68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parkle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479" y="2058480"/>
            <a:ext cx="383040" cy="38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35999" y="2736000"/>
            <a:ext cx="21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Un parti pris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5999" y="3131999"/>
            <a:ext cx="219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Un fond de couleur franche, un produit en grand, une phrase qui accroche.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1655999"/>
            <a:ext cx="2628000" cy="259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3999" y="1908000"/>
            <a:ext cx="684000" cy="684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479" y="2058480"/>
            <a:ext cx="383040" cy="383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43999" y="2736000"/>
            <a:ext cx="21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Un jeu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999" y="3131999"/>
            <a:ext cx="219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Sondage de couleurs, question aux éleveurs : on fait répondre.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0" y="1655999"/>
            <a:ext cx="2628000" cy="259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51999" y="1908000"/>
            <a:ext cx="684000" cy="68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and-whatsap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2479" y="2058480"/>
            <a:ext cx="383040" cy="3830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51999" y="2736000"/>
            <a:ext cx="21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Arial"/>
              </a:rPr>
              <a:t>Un seul geste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1999" y="3131999"/>
            <a:ext cx="2196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Commander sur WhatsApp, avec le numéro en très gros.</a:t>
            </a:r>
          </a:p>
        </p:txBody>
      </p:sp>
      <p:pic>
        <p:nvPicPr>
          <p:cNvPr id="30" name="Picture 29" descr="v2_cuve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00" y="4428000"/>
            <a:ext cx="1612799" cy="2015999"/>
          </a:xfrm>
          <a:prstGeom prst="rect">
            <a:avLst/>
          </a:prstGeom>
        </p:spPr>
      </p:pic>
      <p:pic>
        <p:nvPicPr>
          <p:cNvPr id="31" name="Picture 30" descr="v2_pani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3600" y="4428000"/>
            <a:ext cx="1612799" cy="2015999"/>
          </a:xfrm>
          <a:prstGeom prst="rect">
            <a:avLst/>
          </a:prstGeom>
        </p:spPr>
      </p:pic>
      <p:pic>
        <p:nvPicPr>
          <p:cNvPr id="32" name="Picture 31" descr="v2_abreuvoi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600" y="4428000"/>
            <a:ext cx="1612799" cy="2015999"/>
          </a:xfrm>
          <a:prstGeom prst="rect">
            <a:avLst/>
          </a:prstGeom>
        </p:spPr>
      </p:pic>
      <p:pic>
        <p:nvPicPr>
          <p:cNvPr id="33" name="Picture 32" descr="v2_ibiz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7600" y="4428000"/>
            <a:ext cx="1612799" cy="2015999"/>
          </a:xfrm>
          <a:prstGeom prst="rect">
            <a:avLst/>
          </a:prstGeom>
        </p:spPr>
      </p:pic>
      <p:pic>
        <p:nvPicPr>
          <p:cNvPr id="34" name="Picture 33" descr="v2_tiroir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9600" y="4428000"/>
            <a:ext cx="1612799" cy="2015999"/>
          </a:xfrm>
          <a:prstGeom prst="rect">
            <a:avLst/>
          </a:prstGeom>
        </p:spPr>
      </p:pic>
      <p:pic>
        <p:nvPicPr>
          <p:cNvPr id="35" name="Picture 34" descr="v2_choco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11600" y="4428000"/>
            <a:ext cx="1612799" cy="2015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VERSION 2 · 1 SUR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 besoin, puis le produit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20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5364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2_cuv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1755000"/>
            <a:ext cx="3528000" cy="44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92000" y="1800000"/>
            <a:ext cx="144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Cuves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2000" y="2520000"/>
            <a:ext cx="1440000" cy="34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Le besoin d’abord : la coupure d’eau, avec les vraies contenances.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548000"/>
            <a:ext cx="5364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2_pani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00" y="1755000"/>
            <a:ext cx="3528000" cy="441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8000" y="1800000"/>
            <a:ext cx="144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Panier Flora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8000" y="2520000"/>
            <a:ext cx="1440000" cy="34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Votre meilleure publication, en couleur pleine et sans texte parasite.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VERSION 2 · 2 SUR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Faire parler la cible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5364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2_abreuvo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1755000"/>
            <a:ext cx="3528000" cy="44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92000" y="1800000"/>
            <a:ext cx="144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Abreuvoir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2000" y="2520000"/>
            <a:ext cx="1440000" cy="34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On parle aux éleveurs, avec leurs mots : « poulets assoiffés 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548000"/>
            <a:ext cx="5364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2_ibiz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00" y="1755000"/>
            <a:ext cx="3528000" cy="441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8000" y="1800000"/>
            <a:ext cx="144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Table et chaises Ibiza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8000" y="2520000"/>
            <a:ext cx="1440000" cy="34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Un sondage de couleurs pour faire commenter.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VERSION 2 · 3 SUR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Raconter une scène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48000"/>
            <a:ext cx="5364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2_tiroi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00" y="1755000"/>
            <a:ext cx="3528000" cy="44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92000" y="1800000"/>
            <a:ext cx="144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Tiroirs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2000" y="2520000"/>
            <a:ext cx="1440000" cy="34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Une scène que tous les parents connaissent à 6 h 45.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548000"/>
            <a:ext cx="5364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2_choc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000" y="1755000"/>
            <a:ext cx="3528000" cy="441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8000" y="1800000"/>
            <a:ext cx="1440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E84E0E"/>
                </a:solidFill>
                <a:latin typeface="Arial"/>
              </a:rPr>
              <a:t>Table Choco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8000" y="2520000"/>
            <a:ext cx="1440000" cy="34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11111"/>
                </a:solidFill>
                <a:latin typeface="Arial"/>
              </a:rPr>
              <a:t>Un effet de surprise pour lancer la nouveauté.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5 décisions pour faire réagir, puis faire commander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1584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404000" y="1709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pea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80" y="1840679"/>
            <a:ext cx="332640" cy="332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96000" y="1584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Publier moins, mieux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6000" y="1584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Une publication par jour au lieu de trois, jamais deux fois le même visuel dans le mois.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2538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404000" y="2663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680" y="2794679"/>
            <a:ext cx="332640" cy="332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96000" y="2538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Écrire un vrai texte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6000" y="2538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Bénéfice, question, numéro : la règle des avant / après, sur chaque publication.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3492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404000" y="3617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4680" y="3748679"/>
            <a:ext cx="332640" cy="332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196000" y="3492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Passer à la vidéo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6000" y="3492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Deux vidéos courtes par semaine : l’usine, un produit en usage, une livraison.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4446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404000" y="4571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urrency-dollar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4680" y="4702679"/>
            <a:ext cx="332640" cy="332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196000" y="4446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Afficher les prix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6000" y="4446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Une offre datée par mois, comme Metaplast, avec un prix et une date de fin.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11052000" cy="84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000" y="5400000"/>
            <a:ext cx="503999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84E0E"/>
                </a:solidFill>
                <a:latin typeface="Arial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404000" y="5525999"/>
            <a:ext cx="594000" cy="594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680" y="5656679"/>
            <a:ext cx="332640" cy="332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196000" y="5400000"/>
            <a:ext cx="3060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Arial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6000" y="5400000"/>
            <a:ext cx="622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Arial"/>
              </a:rPr>
              <a:t>Une publication par semaine pour les acheteurs professionnels et les revendeurs, sans faute de nom.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PLAN 30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Le premier mois, semaine par semaine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24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Corriger « TAPLAST » sur LinkedIn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Retirer les publications en double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Valider les 6 publications refaites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Publier les 6 avant / après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1 publication par jour, 12 h ou 18 h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Répondre à chaque commentaire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Tourner 2 vidéos à l’usine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Première offre datée avec prix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Relancer Instagram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Semaine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Comparer aux 3 réactions de départ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Garder ce qui marche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850">
                <a:solidFill>
                  <a:srgbClr val="E84E0E"/>
                </a:solidFill>
                <a:latin typeface="Arial"/>
              </a:rPr>
              <a:t>■  </a:t>
            </a:r>
            <a:r>
              <a:rPr sz="1250">
                <a:solidFill>
                  <a:srgbClr val="111111"/>
                </a:solidFill>
                <a:latin typeface="Arial"/>
              </a:rPr>
              <a:t>Préparer le mois suivant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arget-arrow_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Arial"/>
              </a:rPr>
              <a:t>Objectif proposé à 30 jours : passer de 3 à 10 réactions médianes par publication, et compter les commandes venues de Facebook.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aj-se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119" y="283729"/>
            <a:ext cx="1584000" cy="44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4E0E"/>
                </a:solidFill>
                <a:latin typeface="Arial"/>
              </a:rPr>
              <a:t>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0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11111"/>
                </a:solidFill>
                <a:latin typeface="Arial"/>
              </a:rPr>
              <a:t>Ce qu’il nous faut pour aller plus loin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498000"/>
            <a:ext cx="720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Arial"/>
              </a:rPr>
              <a:t>TAJ PLAST · Audit réseaux sociaux · relevé du 27/10/2026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" y="1655999"/>
            <a:ext cx="3528000" cy="342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4000" y="1944000"/>
            <a:ext cx="792000" cy="792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40" y="2118240"/>
            <a:ext cx="443520" cy="443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000" y="2951999"/>
            <a:ext cx="302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000" y="3456000"/>
            <a:ext cx="3024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Portée, clics et messages reçus : pour mesurer les ventes, pas seulement les réactions.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28000" cy="342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8000" y="1944000"/>
            <a:ext cx="792000" cy="792000"/>
          </a:xfrm>
          <a:prstGeom prst="ellipse">
            <a:avLst/>
          </a:prstGeom>
          <a:solidFill>
            <a:srgbClr val="E84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urrency-dollar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240" y="2118240"/>
            <a:ext cx="443520" cy="443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000" y="2951999"/>
            <a:ext cx="302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Prix et délais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000" y="3456000"/>
            <a:ext cx="3024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Pour écrire des offres datées sur les produits phares.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4000" y="1655999"/>
            <a:ext cx="3528000" cy="342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2000" y="1944000"/>
            <a:ext cx="792000" cy="792000"/>
          </a:xfrm>
          <a:prstGeom prst="ellipse">
            <a:avLst/>
          </a:prstGeom>
          <a:solidFill>
            <a:srgbClr val="1596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240" y="2118240"/>
            <a:ext cx="443520" cy="443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52000" y="2951999"/>
            <a:ext cx="3024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Arial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2000" y="3456000"/>
            <a:ext cx="3024000" cy="14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A5A5A"/>
                </a:solidFill>
                <a:latin typeface="Arial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00000"/>
            <a:ext cx="11052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Arial"/>
              </a:rPr>
              <a:t>Rien n’a été publié. Les visuels « après » reprennent vos propres images et vos coordonnées.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