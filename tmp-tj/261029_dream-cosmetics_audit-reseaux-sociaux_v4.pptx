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jp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7.jp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3.jp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4.jpg"/><Relationship Id="rId12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3.jpg"/><Relationship Id="rId5" Type="http://schemas.openxmlformats.org/officeDocument/2006/relationships/image" Target="../media/image23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jpg"/><Relationship Id="rId9" Type="http://schemas.openxmlformats.org/officeDocument/2006/relationships/image" Target="../media/image4.jpg"/><Relationship Id="rId10" Type="http://schemas.openxmlformats.org/officeDocument/2006/relationships/image" Target="../media/image28.jpg"/><Relationship Id="rId11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1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jpg"/><Relationship Id="rId8" Type="http://schemas.openxmlformats.org/officeDocument/2006/relationships/image" Target="../media/image35.jpg"/><Relationship Id="rId9" Type="http://schemas.openxmlformats.org/officeDocument/2006/relationships/image" Target="../media/image36.jpg"/><Relationship Id="rId10" Type="http://schemas.openxmlformats.org/officeDocument/2006/relationships/image" Target="../media/image3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38.jpg"/><Relationship Id="rId4" Type="http://schemas.openxmlformats.org/officeDocument/2006/relationships/image" Target="../media/image20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9.jpg"/><Relationship Id="rId8" Type="http://schemas.openxmlformats.org/officeDocument/2006/relationships/image" Target="../media/image40.jpg"/><Relationship Id="rId9" Type="http://schemas.openxmlformats.org/officeDocument/2006/relationships/image" Target="../media/image41.jpg"/><Relationship Id="rId10" Type="http://schemas.openxmlformats.org/officeDocument/2006/relationships/image" Target="../media/image4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45.jpg"/><Relationship Id="rId4" Type="http://schemas.openxmlformats.org/officeDocument/2006/relationships/image" Target="../media/image46.jpg"/><Relationship Id="rId5" Type="http://schemas.openxmlformats.org/officeDocument/2006/relationships/image" Target="../media/image47.jpg"/><Relationship Id="rId6" Type="http://schemas.openxmlformats.org/officeDocument/2006/relationships/image" Target="../media/image48.jpg"/><Relationship Id="rId7" Type="http://schemas.openxmlformats.org/officeDocument/2006/relationships/image" Target="../media/image49.jpg"/><Relationship Id="rId8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0.jpg"/><Relationship Id="rId4" Type="http://schemas.openxmlformats.org/officeDocument/2006/relationships/image" Target="../media/image51.png"/><Relationship Id="rId5" Type="http://schemas.openxmlformats.org/officeDocument/2006/relationships/image" Target="../media/image45.jpg"/><Relationship Id="rId6" Type="http://schemas.openxmlformats.org/officeDocument/2006/relationships/image" Target="../media/image5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3.jpg"/><Relationship Id="rId4" Type="http://schemas.openxmlformats.org/officeDocument/2006/relationships/image" Target="../media/image51.png"/><Relationship Id="rId5" Type="http://schemas.openxmlformats.org/officeDocument/2006/relationships/image" Target="../media/image46.jpg"/><Relationship Id="rId6" Type="http://schemas.openxmlformats.org/officeDocument/2006/relationships/image" Target="../media/image5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4.jpg"/><Relationship Id="rId4" Type="http://schemas.openxmlformats.org/officeDocument/2006/relationships/image" Target="../media/image51.png"/><Relationship Id="rId5" Type="http://schemas.openxmlformats.org/officeDocument/2006/relationships/image" Target="../media/image47.jpg"/><Relationship Id="rId6" Type="http://schemas.openxmlformats.org/officeDocument/2006/relationships/image" Target="../media/image5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5.jpg"/><Relationship Id="rId4" Type="http://schemas.openxmlformats.org/officeDocument/2006/relationships/image" Target="../media/image51.png"/><Relationship Id="rId5" Type="http://schemas.openxmlformats.org/officeDocument/2006/relationships/image" Target="../media/image48.jpg"/><Relationship Id="rId6" Type="http://schemas.openxmlformats.org/officeDocument/2006/relationships/image" Target="../media/image5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6.jpg"/><Relationship Id="rId4" Type="http://schemas.openxmlformats.org/officeDocument/2006/relationships/image" Target="../media/image51.png"/><Relationship Id="rId5" Type="http://schemas.openxmlformats.org/officeDocument/2006/relationships/image" Target="../media/image49.jpg"/><Relationship Id="rId6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7.jpg"/><Relationship Id="rId4" Type="http://schemas.openxmlformats.org/officeDocument/2006/relationships/image" Target="../media/image51.png"/><Relationship Id="rId5" Type="http://schemas.openxmlformats.org/officeDocument/2006/relationships/image" Target="../media/image1.jpg"/><Relationship Id="rId6" Type="http://schemas.openxmlformats.org/officeDocument/2006/relationships/image" Target="../media/image5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58.jpg"/><Relationship Id="rId4" Type="http://schemas.openxmlformats.org/officeDocument/2006/relationships/image" Target="../media/image43.png"/><Relationship Id="rId5" Type="http://schemas.openxmlformats.org/officeDocument/2006/relationships/image" Target="../media/image59.png"/><Relationship Id="rId6" Type="http://schemas.openxmlformats.org/officeDocument/2006/relationships/image" Target="../media/image60.png"/><Relationship Id="rId7" Type="http://schemas.openxmlformats.org/officeDocument/2006/relationships/image" Target="../media/image61.png"/><Relationship Id="rId8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62.jpg"/><Relationship Id="rId4" Type="http://schemas.openxmlformats.org/officeDocument/2006/relationships/image" Target="../media/image63.jpg"/><Relationship Id="rId5" Type="http://schemas.openxmlformats.org/officeDocument/2006/relationships/image" Target="../media/image64.jpg"/><Relationship Id="rId6" Type="http://schemas.openxmlformats.org/officeDocument/2006/relationships/image" Target="../media/image65.jpg"/><Relationship Id="rId7" Type="http://schemas.openxmlformats.org/officeDocument/2006/relationships/image" Target="../media/image66.jpg"/><Relationship Id="rId8" Type="http://schemas.openxmlformats.org/officeDocument/2006/relationships/image" Target="../media/image67.jpg"/><Relationship Id="rId9" Type="http://schemas.openxmlformats.org/officeDocument/2006/relationships/image" Target="../media/image3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24.jpg"/><Relationship Id="rId4" Type="http://schemas.openxmlformats.org/officeDocument/2006/relationships/image" Target="../media/image68.jpg"/><Relationship Id="rId5" Type="http://schemas.openxmlformats.org/officeDocument/2006/relationships/image" Target="../media/image69.jpg"/><Relationship Id="rId6" Type="http://schemas.openxmlformats.org/officeDocument/2006/relationships/image" Target="../media/image70.jpg"/><Relationship Id="rId7" Type="http://schemas.openxmlformats.org/officeDocument/2006/relationships/image" Target="../media/image71.jpg"/><Relationship Id="rId8" Type="http://schemas.openxmlformats.org/officeDocument/2006/relationships/image" Target="../media/image72.jpg"/><Relationship Id="rId9" Type="http://schemas.openxmlformats.org/officeDocument/2006/relationships/image" Target="../media/image7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5.png"/><Relationship Id="rId4" Type="http://schemas.openxmlformats.org/officeDocument/2006/relationships/image" Target="../media/image74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Relationship Id="rId7" Type="http://schemas.openxmlformats.org/officeDocument/2006/relationships/image" Target="../media/image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77.jpg"/><Relationship Id="rId4" Type="http://schemas.openxmlformats.org/officeDocument/2006/relationships/image" Target="../media/image78.jpg"/><Relationship Id="rId5" Type="http://schemas.openxmlformats.org/officeDocument/2006/relationships/image" Target="../media/image79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0.jpg"/><Relationship Id="rId4" Type="http://schemas.openxmlformats.org/officeDocument/2006/relationships/image" Target="../media/image81.jpg"/><Relationship Id="rId5" Type="http://schemas.openxmlformats.org/officeDocument/2006/relationships/image" Target="../media/image82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3.jpg"/><Relationship Id="rId4" Type="http://schemas.openxmlformats.org/officeDocument/2006/relationships/image" Target="../media/image84.jpg"/><Relationship Id="rId5" Type="http://schemas.openxmlformats.org/officeDocument/2006/relationships/image" Target="../media/image85.jpg"/><Relationship Id="rId6" Type="http://schemas.openxmlformats.org/officeDocument/2006/relationships/image" Target="../media/image86.jpg"/><Relationship Id="rId7" Type="http://schemas.openxmlformats.org/officeDocument/2006/relationships/image" Target="../media/image87.jpg"/><Relationship Id="rId8" Type="http://schemas.openxmlformats.org/officeDocument/2006/relationships/image" Target="../media/image3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88.jpg"/><Relationship Id="rId4" Type="http://schemas.openxmlformats.org/officeDocument/2006/relationships/image" Target="../media/image89.jpg"/><Relationship Id="rId5" Type="http://schemas.openxmlformats.org/officeDocument/2006/relationships/image" Target="../media/image90.jpg"/><Relationship Id="rId6" Type="http://schemas.openxmlformats.org/officeDocument/2006/relationships/image" Target="../media/image91.jpg"/><Relationship Id="rId7" Type="http://schemas.openxmlformats.org/officeDocument/2006/relationships/image" Target="../media/image92.jpg"/><Relationship Id="rId8" Type="http://schemas.openxmlformats.org/officeDocument/2006/relationships/image" Target="../media/image3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3.png"/><Relationship Id="rId4" Type="http://schemas.openxmlformats.org/officeDocument/2006/relationships/image" Target="../media/image94.png"/><Relationship Id="rId5" Type="http://schemas.openxmlformats.org/officeDocument/2006/relationships/image" Target="../media/image61.png"/><Relationship Id="rId6" Type="http://schemas.openxmlformats.org/officeDocument/2006/relationships/image" Target="../media/image95.png"/><Relationship Id="rId7" Type="http://schemas.openxmlformats.org/officeDocument/2006/relationships/image" Target="../media/image15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96.jpg"/><Relationship Id="rId4" Type="http://schemas.openxmlformats.org/officeDocument/2006/relationships/image" Target="../media/image13.png"/><Relationship Id="rId5" Type="http://schemas.openxmlformats.org/officeDocument/2006/relationships/image" Target="../media/image60.png"/><Relationship Id="rId6" Type="http://schemas.openxmlformats.org/officeDocument/2006/relationships/image" Target="../media/image9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72000" y="0"/>
            <a:ext cx="4920119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_d_beb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8000" y="893925"/>
            <a:ext cx="4056119" cy="5070148"/>
          </a:xfrm>
          <a:prstGeom prst="rect">
            <a:avLst/>
          </a:prstGeom>
        </p:spPr>
      </p:pic>
      <p:pic>
        <p:nvPicPr>
          <p:cNvPr id="5" name="Picture 4" descr="logo_blan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552069"/>
            <a:ext cx="2700000" cy="83986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8000" y="2015999"/>
            <a:ext cx="612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FF8087"/>
                </a:solidFill>
                <a:latin typeface="Poppins"/>
              </a:rPr>
              <a:t>AUDIT RÉSEAUX SOCIAUX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8000" y="2376000"/>
            <a:ext cx="633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Poppins"/>
              </a:rPr>
              <a:t>Dream Cosmetics face à Gandour, SIVOP et Kaera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4140000"/>
            <a:ext cx="612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0">
                <a:solidFill>
                  <a:srgbClr val="DDDDDD"/>
                </a:solidFill>
                <a:latin typeface="Poppins"/>
              </a:rPr>
              <a:t>Ce qui marche, ce qui manque, et 6 publications refaites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000" y="4950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>
                <a:solidFill>
                  <a:srgbClr val="AAAAAA"/>
                </a:solidFill>
                <a:latin typeface="Poppins"/>
              </a:rPr>
              <a:t>FACE À</a:t>
            </a:r>
          </a:p>
        </p:txBody>
      </p:sp>
      <p:sp>
        <p:nvSpPr>
          <p:cNvPr id="10" name="Oval 9"/>
          <p:cNvSpPr/>
          <p:nvPr/>
        </p:nvSpPr>
        <p:spPr>
          <a:xfrm>
            <a:off x="1512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gand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8400" y="4838400"/>
            <a:ext cx="547200" cy="547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2376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ivop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62400" y="4838400"/>
            <a:ext cx="547200" cy="547200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240000" y="4752000"/>
            <a:ext cx="720000" cy="720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kaera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6400" y="4838400"/>
            <a:ext cx="547200" cy="547200"/>
          </a:xfrm>
          <a:prstGeom prst="rect">
            <a:avLst/>
          </a:prstGeom>
        </p:spPr>
      </p:pic>
      <p:pic>
        <p:nvPicPr>
          <p:cNvPr id="16" name="Picture 15" descr="brand-facebook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000" y="5616000"/>
            <a:ext cx="324000" cy="324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4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Facebook</a:t>
            </a:r>
          </a:p>
        </p:txBody>
      </p:sp>
      <p:pic>
        <p:nvPicPr>
          <p:cNvPr id="18" name="Picture 17" descr="brand-instagram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32000" y="5616000"/>
            <a:ext cx="324000" cy="324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28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Instagram</a:t>
            </a:r>
          </a:p>
        </p:txBody>
      </p:sp>
      <p:pic>
        <p:nvPicPr>
          <p:cNvPr id="20" name="Picture 19" descr="brand-linkedin_b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16000" y="5616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212000" y="5634000"/>
            <a:ext cx="1224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FFFFF"/>
                </a:solidFill>
                <a:latin typeface="Poppins"/>
              </a:rPr>
              <a:t>LinkedIn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6228000"/>
            <a:ext cx="648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AAAAAA"/>
                </a:solidFill>
                <a:latin typeface="Poppins"/>
              </a:rPr>
              <a:t>Relevé des pages publiques le 28 octobre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L'ESSENTIEL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très grande audience, des publications inégales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4000" y="1979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users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400" y="2138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36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211 469 abonnés Facebook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36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La 4e page du groupe, mais une marque connue : Gandour en a 993 513, SIVOP 662 562.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2000" y="1655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80000" y="1979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hear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400" y="2138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452000" y="1907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138 réactions par publication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52000" y="2645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Médiane sur Facebook. De 11 à 75 577 : quelques publications font tout le score.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4000" y="4247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rand-instagram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2400" y="4406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6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Le meilleur Instagram du groupe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6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0,38 % de réactions par abonné, contre 0,11 % chez SIVOP et 0,03 % chez Gandour.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3923999"/>
            <a:ext cx="5364000" cy="2015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80000" y="4247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message-circ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8400" y="4406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452000" y="4175998"/>
            <a:ext cx="3924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700" b="1">
                <a:solidFill>
                  <a:srgbClr val="111111"/>
                </a:solidFill>
                <a:latin typeface="Poppins"/>
              </a:rPr>
              <a:t>Des questions sans réponses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000" y="4913999"/>
            <a:ext cx="3924000" cy="97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>
                <a:solidFill>
                  <a:srgbClr val="5A5A5A"/>
                </a:solidFill>
                <a:latin typeface="Poppins"/>
              </a:rPr>
              <a:t>15 publications sur 25 posent une question, mais 15 sur 24 n’ont aucun commentaire sur Instagram.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MÉTHODE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que nous avons regardé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7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eye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399" y="2102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7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Pages publiques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Facebook, Instagram et LinkedIn de Dream Cosmetics, Gandour, SIVOP et Kaera, relevés le 28/10/2026.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635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list-check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399" y="2102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635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25 publications par marque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5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Les 25 dernières sur chaque réseau : du 2/09 au 27/10 pour Dream Cosmetics.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3999" y="1943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target-arrow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2399" y="2102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43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Médianes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3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La valeur du milieu, pour qu’une publication sponsorisée ne fausse pas la moyenne.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655999"/>
            <a:ext cx="2628000" cy="4248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251999" y="1943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0399" y="2102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251999" y="2843999"/>
            <a:ext cx="2160000" cy="68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Hors de vue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51999" y="3635999"/>
            <a:ext cx="2160000" cy="21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5A5A5A"/>
                </a:solidFill>
                <a:latin typeface="Poppins"/>
              </a:rPr>
              <a:t>Portée, clics, messages reçus, budgets publicitaires et ventes : il faut l’accès aux comptes.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QUI NOUS AVONS COMPARÉ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Quatre fabricants ivoiriens, quatre façons de communiquer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00" y="1584000"/>
            <a:ext cx="2601000" cy="10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82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eam_f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5060" y="2014560"/>
            <a:ext cx="902880" cy="9028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20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NOTRE CLIENT</a:t>
            </a:r>
          </a:p>
        </p:txBody>
      </p:sp>
      <p:pic>
        <p:nvPicPr>
          <p:cNvPr id="15" name="Picture 14" descr="brand-facebook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000" y="3996000"/>
            <a:ext cx="251999" cy="25199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16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211 469 abonnés</a:t>
            </a:r>
          </a:p>
        </p:txBody>
      </p:sp>
      <p:pic>
        <p:nvPicPr>
          <p:cNvPr id="17" name="Picture 16" descr="speakerphon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428000"/>
            <a:ext cx="251999" cy="25199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16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3,2 publ. / semaine</a:t>
            </a:r>
          </a:p>
        </p:txBody>
      </p:sp>
      <p:pic>
        <p:nvPicPr>
          <p:cNvPr id="19" name="Picture 18" descr="heart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4860000"/>
            <a:ext cx="251999" cy="25199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16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138 réactions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2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textes travaillés, en deux langues.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93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93000" y="1584000"/>
            <a:ext cx="2601000" cy="1080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099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gandour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42060" y="2014560"/>
            <a:ext cx="902880" cy="90288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3537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37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LEADER EN AUDIENCE</a:t>
            </a:r>
          </a:p>
        </p:txBody>
      </p:sp>
      <p:pic>
        <p:nvPicPr>
          <p:cNvPr id="28" name="Picture 27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9000" y="3996000"/>
            <a:ext cx="251999" cy="25199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3933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993 513 abonnés</a:t>
            </a:r>
          </a:p>
        </p:txBody>
      </p:sp>
      <p:pic>
        <p:nvPicPr>
          <p:cNvPr id="30" name="Picture 29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09000" y="4428000"/>
            <a:ext cx="251999" cy="251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933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1,7 publ. / semaine</a:t>
            </a:r>
          </a:p>
        </p:txBody>
      </p:sp>
      <p:pic>
        <p:nvPicPr>
          <p:cNvPr id="32" name="Picture 31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9000" y="4860000"/>
            <a:ext cx="251999" cy="251999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3933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1 022 réactions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09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Peu de publications, beaucoup d’effet.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0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10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916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sivop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9060" y="2014560"/>
            <a:ext cx="902880" cy="90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54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54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LE PLUS ACTIF</a:t>
            </a:r>
          </a:p>
        </p:txBody>
      </p:sp>
      <p:pic>
        <p:nvPicPr>
          <p:cNvPr id="41" name="Picture 40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26000" y="3996000"/>
            <a:ext cx="251999" cy="251999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750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662 562 abonnés</a:t>
            </a:r>
          </a:p>
        </p:txBody>
      </p:sp>
      <p:pic>
        <p:nvPicPr>
          <p:cNvPr id="43" name="Picture 42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6000" y="4428000"/>
            <a:ext cx="251999" cy="251999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750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5,5 publ. / semaine</a:t>
            </a:r>
          </a:p>
        </p:txBody>
      </p:sp>
      <p:pic>
        <p:nvPicPr>
          <p:cNvPr id="45" name="Picture 44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6000" y="4860000"/>
            <a:ext cx="251999" cy="251999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750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100 réactions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26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Des événements et des causes.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27000" y="1584000"/>
            <a:ext cx="2601000" cy="4752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027000" y="1584000"/>
            <a:ext cx="2601000" cy="108000"/>
          </a:xfrm>
          <a:prstGeom prst="rect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733500" y="1872000"/>
            <a:ext cx="1188000" cy="1188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kaera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876060" y="2014560"/>
            <a:ext cx="902880" cy="90288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9171000" y="3168000"/>
            <a:ext cx="2313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71000" y="3528000"/>
            <a:ext cx="2313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TOUT EN VIDÉO</a:t>
            </a:r>
          </a:p>
        </p:txBody>
      </p:sp>
      <p:pic>
        <p:nvPicPr>
          <p:cNvPr id="54" name="Picture 53" descr="brand-facebook_noi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3000" y="3996000"/>
            <a:ext cx="251999" cy="251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9567000" y="3960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579 371 abonnés</a:t>
            </a:r>
          </a:p>
        </p:txBody>
      </p:sp>
      <p:pic>
        <p:nvPicPr>
          <p:cNvPr id="56" name="Picture 55" descr="speakerphone_noi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43000" y="4428000"/>
            <a:ext cx="251999" cy="251999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9567000" y="4392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0,9 publ. / semaine</a:t>
            </a:r>
          </a:p>
        </p:txBody>
      </p:sp>
      <p:pic>
        <p:nvPicPr>
          <p:cNvPr id="58" name="Picture 57" descr="heart_noi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43000" y="4860000"/>
            <a:ext cx="251999" cy="251999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9567000" y="4824000"/>
            <a:ext cx="1953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120 réactions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243000" y="5364000"/>
            <a:ext cx="2169000" cy="9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24 vidéos sur 25.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LES COMPTES DE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Facebook pour l’audience, Instagram pour l’attention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92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brand-facebook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800" y="1990799"/>
            <a:ext cx="302400" cy="302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92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211 469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Facebook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Page créée en 2012 · publicité active le 28/10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0000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536000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brand-instagram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00" y="1990799"/>
            <a:ext cx="302400" cy="302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536000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16 727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6000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Instagram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6000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920 publications · 63 J’aime médians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63999" y="1655999"/>
            <a:ext cx="3564000" cy="237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79999" y="1871999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brand-linked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799" y="1990799"/>
            <a:ext cx="302400" cy="3024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8279999" y="2519999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111111"/>
                </a:solidFill>
                <a:latin typeface="Poppins"/>
              </a:rPr>
              <a:t>5 205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9999" y="3095999"/>
            <a:ext cx="3132000" cy="43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abonnés LinkedIn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9999" y="3401998"/>
            <a:ext cx="3132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>
                <a:solidFill>
                  <a:srgbClr val="5A5A5A"/>
                </a:solidFill>
                <a:latin typeface="Poppins"/>
              </a:rPr>
              <a:t>Aucune publication récente n’a pu être relevée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6000" y="4248000"/>
            <a:ext cx="11052000" cy="17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64000" y="4536000"/>
            <a:ext cx="612000" cy="612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alert-triangle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8640" y="4670640"/>
            <a:ext cx="342720" cy="3427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692000" y="4464000"/>
            <a:ext cx="9720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À regarder tout de suite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24 textes sur 25 sont écrits en français puis en anglais. En Côte d’Ivoire, la moitié anglaise allonge le texte et repousse la question finale sous « voir plus ». Sur LinkedIn, 5 205 abonnés attendent : recruteurs, distributeurs, acheteurs de la grande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FACE AUX CONCURRENTS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Sur Instagram, Dream Cosmetics fait mieux que tous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256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Instagram : J’aime médians ÷ abonnés (%)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Dream Cosmetics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250000"/>
            <a:ext cx="2700001" cy="46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4000" y="2016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0,38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952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SIVOP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3186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3186000"/>
            <a:ext cx="781579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4000" y="2952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0,11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888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Kaera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4122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4122000"/>
            <a:ext cx="497368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4000" y="3888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824000"/>
            <a:ext cx="1583999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Gandour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5058000"/>
            <a:ext cx="2700001" cy="4680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5058000"/>
            <a:ext cx="213157" cy="4680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04000" y="4824000"/>
            <a:ext cx="792000" cy="93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0,03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6048000" y="1584000"/>
          <a:ext cx="5580000" cy="388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900000"/>
                <a:gridCol w="900000"/>
                <a:gridCol w="900000"/>
                <a:gridCol w="900000"/>
              </a:tblGrid>
              <a:tr h="432000">
                <a:tc>
                  <a:txBody>
                    <a:bodyPr/>
                    <a:lstStyle/>
                    <a:p>
                      <a:pPr algn="l">
                        <a:defRPr sz="1150" b="1">
                          <a:solidFill>
                            <a:srgbClr val="FFFFFF"/>
                          </a:solidFill>
                          <a:latin typeface="Poppins"/>
                        </a:defRPr>
                      </a:pP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Dream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Gandour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SIVOP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Kaera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211 469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993 513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662 562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579 371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/ semaine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3,2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1,7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5,5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(FB)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1 022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120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Taux de réaction (FB)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0,07 %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0,02 %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(sur 25, FB)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24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Abonnés 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16 727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90 122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35 072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23 293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J’aime médians (IG)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63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37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16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Publicité active (28/10)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Oui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Non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576000" y="5868000"/>
            <a:ext cx="11052000" cy="503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Taux de réaction = réactions médianes ÷ abonnés. 25 dernières publications de chaque page, relevées le 28/10/2026.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QUI MARCHE AILLEURS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concurrents misent sur bébé, les nouveautés et les causes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rcRect t="9130" b="21304"/>
          <a:stretch>
            <a:fillRect/>
          </a:stretch>
        </p:blipFill>
        <p:spPr>
          <a:xfrm>
            <a:off x="684000" y="1692000"/>
            <a:ext cx="3311999" cy="230400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756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gando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520" y="4079519"/>
            <a:ext cx="300960" cy="3009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24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17/07</a:t>
            </a:r>
          </a:p>
        </p:txBody>
      </p:sp>
      <p:pic>
        <p:nvPicPr>
          <p:cNvPr id="14" name="Picture 13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000" y="4500000"/>
            <a:ext cx="216000" cy="216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43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40 885</a:t>
            </a:r>
          </a:p>
        </p:txBody>
      </p:sp>
      <p:pic>
        <p:nvPicPr>
          <p:cNvPr id="16" name="Picture 15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36000" y="4500000"/>
            <a:ext cx="216000" cy="216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0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50</a:t>
            </a:r>
          </a:p>
        </p:txBody>
      </p:sp>
      <p:pic>
        <p:nvPicPr>
          <p:cNvPr id="18" name="Picture 17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80000" y="4500000"/>
            <a:ext cx="216000" cy="2160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1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Bébé Switz, « la gamme des futurs champions » : une phrase, un bébé, rien d’autre.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20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fb_SIVOP_1460642816162257.jpg"/>
          <p:cNvPicPr>
            <a:picLocks noChangeAspect="1"/>
          </p:cNvPicPr>
          <p:nvPr/>
        </p:nvPicPr>
        <p:blipFill>
          <a:blip r:embed="rId8"/>
          <a:srcRect t="13198" b="30796"/>
          <a:stretch>
            <a:fillRect/>
          </a:stretch>
        </p:blipFill>
        <p:spPr>
          <a:xfrm>
            <a:off x="4428000" y="1692000"/>
            <a:ext cx="3311999" cy="230400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4500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sivop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47520" y="4079519"/>
            <a:ext cx="300960" cy="3009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968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22/10</a:t>
            </a:r>
          </a:p>
        </p:txBody>
      </p:sp>
      <p:pic>
        <p:nvPicPr>
          <p:cNvPr id="26" name="Picture 25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6000" y="4500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787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6 712</a:t>
            </a:r>
          </a:p>
        </p:txBody>
      </p:sp>
      <p:pic>
        <p:nvPicPr>
          <p:cNvPr id="28" name="Picture 27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80000" y="4500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8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pic>
        <p:nvPicPr>
          <p:cNvPr id="30" name="Picture 29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000" y="4500000"/>
            <a:ext cx="216000" cy="216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Octobre Rose avec un partenaire : la marque porte une cause, pas un produit.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64000" y="1584000"/>
            <a:ext cx="3528000" cy="482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b_kaeracosmetic_1407334458094864.jpg"/>
          <p:cNvPicPr>
            <a:picLocks noChangeAspect="1"/>
          </p:cNvPicPr>
          <p:nvPr/>
        </p:nvPicPr>
        <p:blipFill>
          <a:blip r:embed="rId10"/>
          <a:srcRect t="18256" b="42597"/>
          <a:stretch>
            <a:fillRect/>
          </a:stretch>
        </p:blipFill>
        <p:spPr>
          <a:xfrm>
            <a:off x="8172000" y="1692000"/>
            <a:ext cx="3311999" cy="2304000"/>
          </a:xfrm>
          <a:prstGeom prst="rect">
            <a:avLst/>
          </a:prstGeom>
        </p:spPr>
      </p:pic>
      <p:sp>
        <p:nvSpPr>
          <p:cNvPr id="35" name="Oval 34"/>
          <p:cNvSpPr/>
          <p:nvPr/>
        </p:nvSpPr>
        <p:spPr>
          <a:xfrm>
            <a:off x="8244000" y="4031999"/>
            <a:ext cx="396000" cy="396000"/>
          </a:xfrm>
          <a:prstGeom prst="ellipse">
            <a:avLst/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kaera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91520" y="4079519"/>
            <a:ext cx="300960" cy="30096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8712000" y="4086000"/>
            <a:ext cx="2736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08/05 · vidéo</a:t>
            </a:r>
          </a:p>
        </p:txBody>
      </p:sp>
      <p:pic>
        <p:nvPicPr>
          <p:cNvPr id="38" name="Picture 37" descr="heart_noi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000" y="4500000"/>
            <a:ext cx="216000" cy="2160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531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4 614</a:t>
            </a:r>
          </a:p>
        </p:txBody>
      </p:sp>
      <p:pic>
        <p:nvPicPr>
          <p:cNvPr id="40" name="Picture 39" descr="message-circle_noi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4000" y="4500000"/>
            <a:ext cx="216000" cy="2160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75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89</a:t>
            </a:r>
          </a:p>
        </p:txBody>
      </p:sp>
      <p:pic>
        <p:nvPicPr>
          <p:cNvPr id="42" name="Picture 41" descr="share_noi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8000" y="4500000"/>
            <a:ext cx="216000" cy="21600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0619999" y="4464000"/>
            <a:ext cx="86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11111"/>
                </a:solidFill>
                <a:latin typeface="Poppins"/>
              </a:rPr>
              <a:t>109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80000" y="4860000"/>
            <a:ext cx="3168000" cy="151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Une routine en vidéo, du gel de bain à la brume : 109 partages.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FAIT DREAM COSMETICS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Une voix de marque, mais pas toujours le bon public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4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FF8087"/>
                </a:solidFill>
                <a:latin typeface="Poppins"/>
              </a:rPr>
              <a:t>Ce qui marche</a:t>
            </a:r>
          </a:p>
        </p:txBody>
      </p:sp>
      <p:pic>
        <p:nvPicPr>
          <p:cNvPr id="11" name="Picture 10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2340000"/>
            <a:ext cx="360000" cy="3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68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textes avec du caractère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« Even Better que votre ex » : un ton drôle, reconnaissable.</a:t>
            </a:r>
          </a:p>
        </p:txBody>
      </p:sp>
      <p:pic>
        <p:nvPicPr>
          <p:cNvPr id="13" name="Picture 12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3330000"/>
            <a:ext cx="360000" cy="3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368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dans 15 textes sur 25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L’intention de faire répondre est là.</a:t>
            </a:r>
          </a:p>
        </p:txBody>
      </p:sp>
      <p:pic>
        <p:nvPicPr>
          <p:cNvPr id="15" name="Picture 14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4320000"/>
            <a:ext cx="360000" cy="3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68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Babymed, la gamme qui porte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8 publications, 216 réactions médianes : la meilleure gamme régulière.</a:t>
            </a:r>
          </a:p>
        </p:txBody>
      </p:sp>
      <p:pic>
        <p:nvPicPr>
          <p:cNvPr id="17" name="Picture 16" descr="circle-check_dr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000" y="5310000"/>
            <a:ext cx="360000" cy="360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368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Un Instagram très vivant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Le meilleur taux du groupe, et une vidéo vue 205 110 fois.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5364000" cy="4752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0000" y="1764000"/>
            <a:ext cx="468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1">
                <a:solidFill>
                  <a:srgbClr val="AE172A"/>
                </a:solidFill>
                <a:latin typeface="Poppins"/>
              </a:rPr>
              <a:t>Ce qui manque</a:t>
            </a:r>
          </a:p>
        </p:txBody>
      </p:sp>
      <p:pic>
        <p:nvPicPr>
          <p:cNvPr id="21" name="Picture 20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2340000"/>
            <a:ext cx="360000" cy="3600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84000" y="230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Deux langues dans chaque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24 sur 25 : l’anglais pousse la question hors de vue.</a:t>
            </a:r>
          </a:p>
        </p:txBody>
      </p:sp>
      <p:pic>
        <p:nvPicPr>
          <p:cNvPr id="23" name="Picture 22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3330000"/>
            <a:ext cx="360000" cy="360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984000" y="329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Aucun prix, aucun point de vente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0 sur 25 : on ne sait pas où acheter.</a:t>
            </a:r>
          </a:p>
        </p:txBody>
      </p:sp>
      <p:pic>
        <p:nvPicPr>
          <p:cNvPr id="25" name="Picture 24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4320000"/>
            <a:ext cx="360000" cy="360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984000" y="428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scores en dents de scie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5 publications au-dessus de 2 400, 4 en dessous de 30.</a:t>
            </a:r>
          </a:p>
        </p:txBody>
      </p:sp>
      <p:pic>
        <p:nvPicPr>
          <p:cNvPr id="27" name="Picture 26" descr="circle-x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0000" y="5310000"/>
            <a:ext cx="360000" cy="3600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84000" y="5274000"/>
            <a:ext cx="4392000" cy="93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Des questions qui tombent à plat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150" b="0">
                <a:solidFill>
                  <a:srgbClr val="5A5A5A"/>
                </a:solidFill>
                <a:latin typeface="Poppins"/>
              </a:rPr>
              <a:t>15 publications Instagram sur 24 sans aucun commentaire.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MEILLEURES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meilleures : un usage clair, une émotion simple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44646141036182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1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75 577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94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02/09 · Déodorant Day by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586443180189811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2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9 508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13/10 · Pommade Babymed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70312905136172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3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9 435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73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28/09 · « Quelle team ? »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1327190368077.jpg"/>
          <p:cNvPicPr>
            <a:picLocks noChangeAspect="1"/>
          </p:cNvPicPr>
          <p:nvPr/>
        </p:nvPicPr>
        <p:blipFill>
          <a:blip r:embed="rId9"/>
          <a:srcRect t="3000" b="700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TOP 4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3 339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27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09/09 · Cocopulp « votre ex »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bulb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 score de 75 577 sur le déodorant laisse penser à une diffusion payante (hypothèse). Les trois suivantes ont un point commun : un produit du quotidien et une phrase qui fait sourire ou choisir.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MOINS BONNES PUBLICATIONS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moins bonnes : on ne voit ni le produit ni la personne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dreamcosmetics.net_1582934050540724.jpg"/>
          <p:cNvPicPr>
            <a:picLocks noChangeAspect="1"/>
          </p:cNvPicPr>
          <p:nvPr/>
        </p:nvPicPr>
        <p:blipFill>
          <a:blip r:embed="rId3"/>
          <a:srcRect t="3000" b="7000"/>
          <a:stretch>
            <a:fillRect/>
          </a:stretch>
        </p:blipFill>
        <p:spPr>
          <a:xfrm>
            <a:off x="666000" y="1674000"/>
            <a:ext cx="2448000" cy="27540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756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13" name="Picture 12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000" y="4554000"/>
            <a:ext cx="216000" cy="216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7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</a:t>
            </a:r>
          </a:p>
        </p:txBody>
      </p:sp>
      <p:pic>
        <p:nvPicPr>
          <p:cNvPr id="15" name="Picture 14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000" y="4554000"/>
            <a:ext cx="216000" cy="216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83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17" name="Picture 16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48000" y="4554000"/>
            <a:ext cx="216000" cy="216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69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10/10 · Routine du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84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fb_dreamcosmetics.net_1602069965293799.jpg"/>
          <p:cNvPicPr>
            <a:picLocks noChangeAspect="1"/>
          </p:cNvPicPr>
          <p:nvPr/>
        </p:nvPicPr>
        <p:blipFill>
          <a:blip r:embed="rId7"/>
          <a:srcRect t="3000" b="7000"/>
          <a:stretch>
            <a:fillRect/>
          </a:stretch>
        </p:blipFill>
        <p:spPr>
          <a:xfrm>
            <a:off x="3474000" y="1674000"/>
            <a:ext cx="2448000" cy="275400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3564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64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24" name="Picture 23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4554000"/>
            <a:ext cx="216000" cy="2160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77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pic>
        <p:nvPicPr>
          <p:cNvPr id="26" name="Picture 25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45540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64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28" name="Picture 27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56000" y="4554000"/>
            <a:ext cx="216000" cy="2160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50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8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27/10 · Always Young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92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fb_dreamcosmetics.net_1569260318574764.jpg"/>
          <p:cNvPicPr>
            <a:picLocks noChangeAspect="1"/>
          </p:cNvPicPr>
          <p:nvPr/>
        </p:nvPicPr>
        <p:blipFill>
          <a:blip r:embed="rId8"/>
          <a:srcRect t="3000" b="7000"/>
          <a:stretch>
            <a:fillRect/>
          </a:stretch>
        </p:blipFill>
        <p:spPr>
          <a:xfrm>
            <a:off x="6282000" y="1674000"/>
            <a:ext cx="2448000" cy="27540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372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72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35" name="Picture 34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000" y="4554000"/>
            <a:ext cx="216000" cy="216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587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19</a:t>
            </a:r>
          </a:p>
        </p:txBody>
      </p:sp>
      <p:pic>
        <p:nvPicPr>
          <p:cNvPr id="37" name="Picture 36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000" y="4554000"/>
            <a:ext cx="216000" cy="2160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451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39" name="Picture 38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64000" y="4554000"/>
            <a:ext cx="216000" cy="216000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36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27/09 · Boutons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00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solidFill>
              <a:srgbClr val="E2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fb_dreamcosmetics.net_1553266583507471.jpg"/>
          <p:cNvPicPr>
            <a:picLocks noChangeAspect="1"/>
          </p:cNvPicPr>
          <p:nvPr/>
        </p:nvPicPr>
        <p:blipFill>
          <a:blip r:embed="rId9"/>
          <a:srcRect t="4603" b="10740"/>
          <a:stretch>
            <a:fillRect/>
          </a:stretch>
        </p:blipFill>
        <p:spPr>
          <a:xfrm>
            <a:off x="9090000" y="1674000"/>
            <a:ext cx="2448000" cy="2754000"/>
          </a:xfrm>
          <a:prstGeom prst="rect">
            <a:avLst/>
          </a:prstGeom>
        </p:spPr>
      </p:pic>
      <p:sp>
        <p:nvSpPr>
          <p:cNvPr id="44" name="Rounded Rectangle 43"/>
          <p:cNvSpPr/>
          <p:nvPr/>
        </p:nvSpPr>
        <p:spPr>
          <a:xfrm>
            <a:off x="9180000" y="1764000"/>
            <a:ext cx="1224000" cy="288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000" y="1764000"/>
            <a:ext cx="1224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À REVOIR</a:t>
            </a:r>
          </a:p>
        </p:txBody>
      </p:sp>
      <p:pic>
        <p:nvPicPr>
          <p:cNvPr id="46" name="Picture 45" descr="heart_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4554000"/>
            <a:ext cx="216000" cy="21600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9395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28</a:t>
            </a:r>
          </a:p>
        </p:txBody>
      </p:sp>
      <p:pic>
        <p:nvPicPr>
          <p:cNvPr id="48" name="Picture 47" descr="message-circle_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08000" y="4554000"/>
            <a:ext cx="216000" cy="21600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0259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pic>
        <p:nvPicPr>
          <p:cNvPr id="50" name="Picture 49" descr="share_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2000" y="4554000"/>
            <a:ext cx="216000" cy="216000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11123999" y="4518000"/>
            <a:ext cx="68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44000" y="4824000"/>
            <a:ext cx="2340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A5A5A"/>
                </a:solidFill>
                <a:latin typeface="Poppins"/>
              </a:rPr>
              <a:t>11/09 · Salle de bain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BE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alert-triangle_d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Des devinettes (« swipez pour découvrir », « la coupable n’est peut-être pas… ») qui gardent la réponse cachée, et un texte en anglais seul le 27/10 : 13 réactions pour 211 469 abonnés.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PAR GAMME · FACEBOOK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et Day by Day tirent la page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00" y="1548000"/>
            <a:ext cx="5760000" cy="36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Réactions médianes par gamme (nombre de publications)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6000" y="201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111"/>
                </a:solidFill>
                <a:latin typeface="Poppins"/>
              </a:rPr>
              <a:t>Babymed (8)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31999" y="216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31999" y="2167200"/>
            <a:ext cx="401429" cy="3696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08000" y="201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AE172A"/>
                </a:solidFill>
                <a:latin typeface="Poppins"/>
              </a:rPr>
              <a:t>216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00" y="2688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Day by Day (4)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31999" y="2839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2231999" y="2839200"/>
            <a:ext cx="208148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08000" y="2688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00" y="3360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Cocopulp (2)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231999" y="3511200"/>
            <a:ext cx="3204001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08000" y="3360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1 724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00" y="4032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Sans gamme nommée (7)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31999" y="4183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2231999" y="4183200"/>
            <a:ext cx="9664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08000" y="4032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6000" y="4704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Dr Wang (1)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31999" y="4855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31999" y="4855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508000" y="4704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00" y="5376000"/>
            <a:ext cx="1583999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111111"/>
                </a:solidFill>
                <a:latin typeface="Poppins"/>
              </a:rPr>
              <a:t>Always Young (1)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31999" y="5527200"/>
            <a:ext cx="3204001" cy="369600"/>
          </a:xfrm>
          <a:prstGeom prst="round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2231999" y="5527200"/>
            <a:ext cx="90000" cy="369600"/>
          </a:xfrm>
          <a:prstGeom prst="roundRect">
            <a:avLst/>
          </a:prstGeom>
          <a:solidFill>
            <a:srgbClr val="B9B9B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8000" y="5376000"/>
            <a:ext cx="792000" cy="67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111111"/>
                </a:solidFill>
                <a:latin typeface="Poppins"/>
              </a:rPr>
              <a:t>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96000" y="1655999"/>
            <a:ext cx="4932000" cy="43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que ça dit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Babymed est la seule gamme publiée souvent et qui marche à chaque fois : 8 publications, 216 réactions médianes, un pic à 9 508.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Cocopulp a deux publications seulement, mais une médiane de 1 724 : à pousser.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Les publications sans produit nommé font 52 réactions : quatre fois moins que Babymed.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Le chiffre entre parenthèses est le nombre de publications : sur 1 ou 2, c’est une tendance, pas une preuve.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6 publications refaites, avec 5 règles simples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geste ou un bénéfice, dit en une phrase.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users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personne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visage et le produit, côte à côte.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message-circl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question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À laquelle on répond en un mot.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world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L’anglais en commentaire, ou sur une publication à part.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sparkles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nom de la gamme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En grand sur l’image : Babymed, Day by Day…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Ce que nous n’avons pas inventé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Prix, points de vente et promotions ne figurent pas dans vos publications : nous ne les avons pas ajoutés. Ils rendraient chaque publication plus forte, dès que vous nous les donnez.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LE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Une personne et un produit sur chaque visuel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w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00" y="1475999"/>
            <a:ext cx="1944000" cy="2430000"/>
          </a:xfrm>
          <a:prstGeom prst="rect">
            <a:avLst/>
          </a:prstGeom>
        </p:spPr>
      </p:pic>
      <p:pic>
        <p:nvPicPr>
          <p:cNvPr id="10" name="Picture 9" descr="w_d_ho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6000" y="1475999"/>
            <a:ext cx="1944000" cy="2430000"/>
          </a:xfrm>
          <a:prstGeom prst="rect">
            <a:avLst/>
          </a:prstGeom>
        </p:spPr>
      </p:pic>
      <p:pic>
        <p:nvPicPr>
          <p:cNvPr id="11" name="Picture 10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000" y="1475999"/>
            <a:ext cx="1944000" cy="2430000"/>
          </a:xfrm>
          <a:prstGeom prst="rect">
            <a:avLst/>
          </a:prstGeom>
        </p:spPr>
      </p:pic>
      <p:pic>
        <p:nvPicPr>
          <p:cNvPr id="12" name="Picture 11" descr="w_d_parfum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000" y="3977999"/>
            <a:ext cx="1944000" cy="2430000"/>
          </a:xfrm>
          <a:prstGeom prst="rect">
            <a:avLst/>
          </a:prstGeom>
        </p:spPr>
      </p:pic>
      <p:pic>
        <p:nvPicPr>
          <p:cNvPr id="13" name="Picture 12" descr="w_d_carott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000" y="3977999"/>
            <a:ext cx="1944000" cy="2430000"/>
          </a:xfrm>
          <a:prstGeom prst="rect">
            <a:avLst/>
          </a:prstGeom>
        </p:spPr>
      </p:pic>
      <p:pic>
        <p:nvPicPr>
          <p:cNvPr id="14" name="Picture 13" descr="w_d_beb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000" y="3977999"/>
            <a:ext cx="1944000" cy="2430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80000" y="1512000"/>
            <a:ext cx="3348000" cy="504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AE172A"/>
                </a:solidFill>
                <a:latin typeface="Poppins"/>
              </a:rPr>
              <a:t>Ce qui change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visage pour qu’on s’y reconnaisse, le produit dans un rond blanc pour qu’on le retrouve en rayon.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Un titre court en grand, la question dans le texte.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111111"/>
                </a:solidFill>
                <a:latin typeface="Poppins"/>
              </a:rPr>
              <a:t>Le rouge et le rose de votre logo, partout.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050" b="0">
                <a:solidFill>
                  <a:srgbClr val="5A5A5A"/>
                </a:solidFill>
                <a:latin typeface="Poppins"/>
              </a:rPr>
              <a:t>Photos de personnes : illustrations à remplacer par vos égéries ou vos clientes (avec leur accord).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1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Always Young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alway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87100"/>
            <a:ext cx="3456000" cy="40338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alway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texte en français, d’abord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visage et le produit, côte à côte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question à laquelle on répond en 1 mot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soir, on se démaquille, on applique, on souffle. 2 minutes pour soi. 🤍
La crème Always Young s’applique en fin de journée, sur peau propre.
 Vous, c’est le matin ou le soir ? Dites-le 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2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routine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hom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homm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3 étapes écrites dans le post, pas cachées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montré, avec son nom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fait compter : réponse facile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Messieurs, après la douche : 1. on sèche bien, 2. on hydrate, 3. on parfume. 💧
Le gel douche Day by Day Men fait la première étape pour vous.
 Vous en faites combien sur les 3 ? 👇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3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Clear Therapy, boutons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out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949400"/>
            <a:ext cx="3456000" cy="4309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outon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donne la réponse, pas une devinette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conseil utile, qu’on a envie de partager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 produit en appui, pas en vedette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Vos boutons reviennent ? Regardez votre taie d’oreiller. 😴
Elle touche votre visage 8 heures par nuit. Changez-la chaque semaine, et nettoyez votre peau matin et soir.
 Vous la changez tous les combien ? 👇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4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Day by Day Men, parfum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parfu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parfum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L’humour d’origine gardé, en plus court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homme et le flacon, bien visibles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L’identification fait voyager le post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Elle dit qu’elle « emprunte ». On sait tous que c’est faux. 💙
L’eau de Cologne Day by Day Men, fraîche toute la journée.
 Identifiez celle qui vous pique votre parfum 👇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5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Carowhite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carot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2016900"/>
            <a:ext cx="3456000" cy="41742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carott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 vrai choix au lieu d’une phrase vague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femme qui applique, pas un pot seul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Deux camps : tout le monde peut répondre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Team pommade ou team lait ? 🥕
La gamme Carowhite à l’huile de carotte existe dans les deux.
 Votre camp en commentaire 👇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AVANT / APRÈS · 6 SUR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Babymed : avant, après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19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12000"/>
            <a:ext cx="3456000" cy="270000"/>
          </a:xfrm>
          <a:prstGeom prst="round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00" y="1512000"/>
            <a:ext cx="345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5A5A5A"/>
                </a:solidFill>
                <a:latin typeface="Poppins"/>
              </a:rPr>
              <a:t>AVANT · PUBLIÉ</a:t>
            </a:r>
          </a:p>
        </p:txBody>
      </p:sp>
      <p:pic>
        <p:nvPicPr>
          <p:cNvPr id="11" name="Picture 10" descr="b_d_beb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879200"/>
            <a:ext cx="3456000" cy="4449600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4158000" y="3744000"/>
            <a:ext cx="540000" cy="54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rrow-right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6000" y="3851999"/>
            <a:ext cx="324000" cy="324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824000" y="1512000"/>
            <a:ext cx="3816000" cy="270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24000" y="1512000"/>
            <a:ext cx="3816000" cy="27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FFFFFF"/>
                </a:solidFill>
                <a:latin typeface="Poppins"/>
              </a:rPr>
              <a:t>APRÈS · PROPOSÉ</a:t>
            </a:r>
          </a:p>
        </p:txBody>
      </p:sp>
      <p:pic>
        <p:nvPicPr>
          <p:cNvPr id="16" name="Picture 15" descr="w_d_beb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400" y="1872000"/>
            <a:ext cx="3571200" cy="4464000"/>
          </a:xfrm>
          <a:prstGeom prst="rect">
            <a:avLst/>
          </a:prstGeom>
        </p:spPr>
      </p:pic>
      <p:sp>
        <p:nvSpPr>
          <p:cNvPr id="17" name="Rounded Rectangle 16"/>
          <p:cNvSpPr/>
          <p:nvPr/>
        </p:nvSpPr>
        <p:spPr>
          <a:xfrm>
            <a:off x="8820000" y="1512000"/>
            <a:ext cx="2808000" cy="482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36000" y="1655999"/>
            <a:ext cx="2448000" cy="32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AE172A"/>
                </a:solidFill>
                <a:latin typeface="Poppins"/>
              </a:rPr>
              <a:t>Ce qui change</a:t>
            </a:r>
          </a:p>
        </p:txBody>
      </p:sp>
      <p:sp>
        <p:nvSpPr>
          <p:cNvPr id="19" name="Oval 18"/>
          <p:cNvSpPr/>
          <p:nvPr/>
        </p:nvSpPr>
        <p:spPr>
          <a:xfrm>
            <a:off x="9036000" y="2088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149200"/>
            <a:ext cx="216000" cy="216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468000" y="2052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On parle de la gamme qui marche le mieux chez vous</a:t>
            </a:r>
          </a:p>
        </p:txBody>
      </p:sp>
      <p:sp>
        <p:nvSpPr>
          <p:cNvPr id="22" name="Oval 21"/>
          <p:cNvSpPr/>
          <p:nvPr/>
        </p:nvSpPr>
        <p:spPr>
          <a:xfrm>
            <a:off x="9036000" y="2790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2851200"/>
            <a:ext cx="216000" cy="21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468000" y="2754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Une mère et son bébé, une scène vraie</a:t>
            </a:r>
          </a:p>
        </p:txBody>
      </p:sp>
      <p:sp>
        <p:nvSpPr>
          <p:cNvPr id="25" name="Oval 24"/>
          <p:cNvSpPr/>
          <p:nvPr/>
        </p:nvSpPr>
        <p:spPr>
          <a:xfrm>
            <a:off x="9036000" y="3492000"/>
            <a:ext cx="342000" cy="342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97200" y="3553200"/>
            <a:ext cx="216000" cy="2160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468000" y="3456000"/>
            <a:ext cx="2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11111"/>
                </a:solidFill>
                <a:latin typeface="Poppins"/>
              </a:rPr>
              <a:t>Les mamans répondent entre elles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036000" y="4248000"/>
            <a:ext cx="2376000" cy="21600"/>
          </a:xfrm>
          <a:prstGeom prst="rect">
            <a:avLst/>
          </a:prstGeom>
          <a:solidFill>
            <a:srgbClr val="E2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6000" y="4320000"/>
            <a:ext cx="2376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1">
                <a:solidFill>
                  <a:srgbClr val="5A5A5A"/>
                </a:solidFill>
                <a:latin typeface="Poppins"/>
              </a:rPr>
              <a:t>LE TEXTE PROPOSÉ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6000" y="4536000"/>
            <a:ext cx="2376000" cy="1764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bain, un massage, la pommade. Bébé dort. 🤍
La Pommade Nourrissante Babymed, au beurre de karité.
 Mamans, votre astuce pour le coucher ? 👇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RECOMMANDATIONS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5 décisions pour faire réagir, puis faire acheter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alw_2.jpg"/>
          <p:cNvPicPr>
            <a:picLocks noChangeAspect="1"/>
          </p:cNvPicPr>
          <p:nvPr/>
        </p:nvPicPr>
        <p:blipFill>
          <a:blip r:embed="rId3"/>
          <a:srcRect l="6530" r="6530"/>
          <a:stretch>
            <a:fillRect/>
          </a:stretch>
        </p:blipFill>
        <p:spPr>
          <a:xfrm>
            <a:off x="8928000" y="1584000"/>
            <a:ext cx="2700000" cy="4662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76000" y="1584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6000" y="1584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1296000" y="1728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world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8760" y="1850760"/>
            <a:ext cx="312480" cy="312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015999" y="1584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Le français d’abord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56000" y="1584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 texte en français seul ; l’anglais en premier commentaire, ou réservé à une publication export.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00" y="2538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00" y="2538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6000" y="2538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2</a:t>
            </a:r>
          </a:p>
        </p:txBody>
      </p:sp>
      <p:sp>
        <p:nvSpPr>
          <p:cNvPr id="20" name="Oval 19"/>
          <p:cNvSpPr/>
          <p:nvPr/>
        </p:nvSpPr>
        <p:spPr>
          <a:xfrm>
            <a:off x="1296000" y="2682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baby-carriage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8760" y="2804760"/>
            <a:ext cx="312480" cy="312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015999" y="2538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Miser sur Babymed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56000" y="2538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Babymed par semaine : c’est votre gamme la plus régulière, et Gandour gagne sur bébé.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00" y="3492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76000" y="3492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6000" y="3492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3</a:t>
            </a:r>
          </a:p>
        </p:txBody>
      </p:sp>
      <p:sp>
        <p:nvSpPr>
          <p:cNvPr id="27" name="Oval 26"/>
          <p:cNvSpPr/>
          <p:nvPr/>
        </p:nvSpPr>
        <p:spPr>
          <a:xfrm>
            <a:off x="1296000" y="3636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map-pin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8760" y="3758760"/>
            <a:ext cx="312480" cy="3124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2015999" y="3492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Dire où acheter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56000" y="3492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fois par semaine : la pharmacie, le supermarché, le marché où l’on trouve le produit.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00" y="4446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00" y="4446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6000" y="4446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4</a:t>
            </a:r>
          </a:p>
        </p:txBody>
      </p:sp>
      <p:sp>
        <p:nvSpPr>
          <p:cNvPr id="34" name="Oval 33"/>
          <p:cNvSpPr/>
          <p:nvPr/>
        </p:nvSpPr>
        <p:spPr>
          <a:xfrm>
            <a:off x="1296000" y="4590000"/>
            <a:ext cx="558000" cy="558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ideo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18760" y="4712760"/>
            <a:ext cx="312480" cy="31248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2015999" y="4446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Plus de vidéos courtes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56000" y="4446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Votre vidéo PawPaw a fait 205 110 vues sur Instagram : deux vidéos de routine par semaine.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6000" y="5400000"/>
            <a:ext cx="8136000" cy="846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6000" y="5400000"/>
            <a:ext cx="90000" cy="846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6000" y="5400000"/>
            <a:ext cx="46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2400" b="1">
                <a:solidFill>
                  <a:srgbClr val="AE172A"/>
                </a:solidFill>
                <a:latin typeface="Poppins"/>
              </a:rPr>
              <a:t>5</a:t>
            </a:r>
          </a:p>
        </p:txBody>
      </p:sp>
      <p:sp>
        <p:nvSpPr>
          <p:cNvPr id="41" name="Oval 40"/>
          <p:cNvSpPr/>
          <p:nvPr/>
        </p:nvSpPr>
        <p:spPr>
          <a:xfrm>
            <a:off x="1296000" y="5544000"/>
            <a:ext cx="558000" cy="558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brand-linkedin_b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8760" y="5666760"/>
            <a:ext cx="312480" cy="31248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2015999" y="5400000"/>
            <a:ext cx="2304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50" b="1">
                <a:solidFill>
                  <a:srgbClr val="111111"/>
                </a:solidFill>
                <a:latin typeface="Poppins"/>
              </a:rPr>
              <a:t>Réveiller LinkedIn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56000" y="5400000"/>
            <a:ext cx="4248000" cy="84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5A5A5A"/>
                </a:solidFill>
                <a:latin typeface="Poppins"/>
              </a:rPr>
              <a:t>Une publication par semaine pour les distributeurs et les futurs collaborateurs : l’usine, les équipes, l’export.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EUROPE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Les grandes marques européennes : une idée, un produit, beaucoup de vide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21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VEA_c5ea7c8e19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NIVEA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16/09/2026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titre, trois bénéfices avec icônes, le produit en grand.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La_Roche-Posay_ea140c7c70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826999"/>
            <a:ext cx="1602000" cy="1602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17/09/2026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visage, le produit au premier plan, le nom de la gamme en très gros.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_Roche-Posay_8b32fa3c55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826999"/>
            <a:ext cx="1602000" cy="1602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La Roche-Posay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11/08/2026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Fond d’une seule couleur, un produit, un bouton d’achat.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BIODERMA_b0863e60d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4000" y="1826999"/>
            <a:ext cx="1602000" cy="1602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Bioderma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27/10/2026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La peau et le produit, un titre en haut, rien d’autre.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Eucerin_a11b4b01af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826999"/>
            <a:ext cx="1602000" cy="1602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Eucerin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21/09/2026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geste d’application : on voit à quoi sert le produit.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Vogue_France_with_Cl_4e1b81119f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2176769"/>
            <a:ext cx="1602000" cy="9024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Clarins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Publicité Meta · 13/10/2026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Deux visages, une ambiance, aucun texte sur l’image.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bulb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Relevé dans la bibliothèque publicitaire de Meta le 29/10/2026 (publicités actives). Aucune n’a plus d’une phrase sur l’image ; le logo est petit, le produit est grand.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FONT LES MEILLEURES · AFRIQUE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Côte d’Ivoire : Gandour montre la voie, et Dream fait déjà de la publicité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22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fb_Gandourci_1495738615919916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000" y="1826999"/>
            <a:ext cx="1602000" cy="1602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Switz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40 885 réactions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 bébé, un flacon, une phrase. Le meilleur score du relevé.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48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b_Gandourci_155559172326793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0000" y="1626749"/>
            <a:ext cx="1602000" cy="20025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556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56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13 519 réactions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6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seul sur un aplat de la couleur de son parfum.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20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fb_Gandourci_1552142523612858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2000" y="1626749"/>
            <a:ext cx="1602000" cy="2002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4428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Gandour · Feel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28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10 068 réactions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28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L’ingrédient autour du flacon : on comprend sans lire.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2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fb_kaeracosmetic_1472525108242465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7761" y="1620000"/>
            <a:ext cx="1134478" cy="20159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300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Kaera · Soleil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0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2 017 réactions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0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Le produit en très gros plan, couleurs franches.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64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fb_SIVOP_1454071436819395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6000" y="1626749"/>
            <a:ext cx="1602000" cy="20025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72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SIVOP · parfum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72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2 620 réactions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72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Une nature morte douce, le flacon au centre.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36000" y="1548000"/>
            <a:ext cx="1745999" cy="3744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dream_pub_ng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08000" y="1626749"/>
            <a:ext cx="1602000" cy="20025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10044000" y="3708000"/>
            <a:ext cx="1548000" cy="251999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AE172A"/>
                </a:solidFill>
                <a:latin typeface="Poppins"/>
              </a:rPr>
              <a:t>Dream Cosmetics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44000" y="3941999"/>
            <a:ext cx="154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Pub active · Nigeria, Kenya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44000" y="4176000"/>
            <a:ext cx="1548000" cy="108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111111"/>
                </a:solidFill>
                <a:latin typeface="Poppins"/>
              </a:rPr>
              <a:t>Octobre Rose, depuis le 26/10 : belle image, aucun produit.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6000" y="5436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trending-up_d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000" y="5616000"/>
            <a:ext cx="503999" cy="50399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440000" y="5436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Les quatre meilleures publications du relevé africain font la même chose : un produit ou un bébé, une couleur, une phrase. Réactions Facebook relevées le 28/10/2026.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CE QUE NOUS EN RETENONS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6 règles tirées des meilleures, appliquées à vos flyers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23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60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target-arrow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8400" y="1994399"/>
            <a:ext cx="403200" cy="4032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84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idée par flyer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4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 bénéfice, dit en cinq mots au plus.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08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2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ackag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0400" y="1994399"/>
            <a:ext cx="403200" cy="403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2916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Le produit en héros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16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Grand, net, au centre ou au premier plan.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0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24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phot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82400" y="1994399"/>
            <a:ext cx="403200" cy="4032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148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Une vraie photo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48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Une peau, un bébé, un ingrédient : jamais un dessin.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72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56000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droplet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4400" y="1994399"/>
            <a:ext cx="403200" cy="4032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380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La couleur de la gamme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0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Orange karité, bleu Men, vert d’eau Babymed.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04000" y="1655999"/>
            <a:ext cx="208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188000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brand-instagram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6400" y="1994399"/>
            <a:ext cx="403200" cy="4032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612000" y="2664000"/>
            <a:ext cx="1872000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1">
                <a:solidFill>
                  <a:srgbClr val="111111"/>
                </a:solidFill>
                <a:latin typeface="Poppins"/>
              </a:rPr>
              <a:t>Où vous trouver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12000" y="3311999"/>
            <a:ext cx="1872000" cy="11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Instagram, Facebook et site, en bas, toujours au même endroit.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00" y="4788000"/>
            <a:ext cx="11052000" cy="1332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4000" y="4896000"/>
            <a:ext cx="10440000" cy="1152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AE172A"/>
                </a:solidFill>
                <a:latin typeface="Poppins"/>
              </a:rPr>
              <a:t>La sixième règle : moins de texte</a:t>
            </a:r>
          </a:p>
          <a:p>
            <a:pPr algn="l">
              <a:lnSpc>
                <a:spcPct val="110000"/>
              </a:lnSpc>
              <a:spcBef>
                <a:spcPts val="400"/>
              </a:spcBef>
            </a:pPr>
            <a:r>
              <a:rPr sz="1250" b="0">
                <a:solidFill>
                  <a:srgbClr val="FFFFFF"/>
                </a:solidFill>
                <a:latin typeface="Poppins"/>
              </a:rPr>
              <a:t>Les grandes marques n’écrivent jamais plus d’une phrase sur l’image. Le reste va dans la légende de la publication.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100" b="1">
                <a:solidFill>
                  <a:srgbClr val="111111"/>
                </a:solidFill>
                <a:latin typeface="Poppins"/>
              </a:rPr>
              <a:t>Le nouveau jet : six flyers dans les codes des grandes marques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24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1_daybyday-women-kari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karité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Feel, NIVEA</a:t>
            </a:r>
          </a:p>
        </p:txBody>
      </p:sp>
      <p:pic>
        <p:nvPicPr>
          <p:cNvPr id="13" name="Picture 12" descr="02_babymed-douceur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le premier bain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Switz, Bioderma</a:t>
            </a:r>
          </a:p>
        </p:txBody>
      </p:sp>
      <p:pic>
        <p:nvPicPr>
          <p:cNvPr id="17" name="Picture 16" descr="03_cocopulp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Cocopulp · gel douche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Gandour cacao, SIVOP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NOUVELLE LIGNE DE FLYERS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Trois gammes, trois couleurs, une même signature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25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04_daybyday-men-perfect-day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0000"/>
            <a:ext cx="3528000" cy="4410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Men · Perfect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La Roche-Posay, NIVEA Men</a:t>
            </a:r>
          </a:p>
        </p:txBody>
      </p:sp>
      <p:pic>
        <p:nvPicPr>
          <p:cNvPr id="13" name="Picture 12" descr="05_daybyday-women-gamm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000" y="1440000"/>
            <a:ext cx="3528000" cy="44100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320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20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Day by Day Women · les 4 laits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0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NIVEA « choisissez le vôtre »</a:t>
            </a:r>
          </a:p>
        </p:txBody>
      </p:sp>
      <p:pic>
        <p:nvPicPr>
          <p:cNvPr id="17" name="Picture 16" descr="06_babymed-coffret-naissanc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000" y="1440000"/>
            <a:ext cx="3528000" cy="441000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8064000" y="5903999"/>
            <a:ext cx="3528000" cy="288000"/>
          </a:xfrm>
          <a:prstGeom prst="roundRect">
            <a:avLst/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64000" y="5903999"/>
            <a:ext cx="3528000" cy="288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050" b="1">
                <a:solidFill>
                  <a:srgbClr val="AE172A"/>
                </a:solidFill>
                <a:latin typeface="Poppins"/>
              </a:rPr>
              <a:t>Babymed · coffret naissance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64000" y="6192000"/>
            <a:ext cx="3528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850" b="0">
                <a:solidFill>
                  <a:srgbClr val="5A5A5A"/>
                </a:solidFill>
                <a:latin typeface="Poppins"/>
              </a:rPr>
              <a:t>Sur le modèle : Clarins, Avène coffrets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1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A : l’éditorial du soir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26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A1_daybyday-women-apaisan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apaisant</a:t>
            </a:r>
          </a:p>
        </p:txBody>
      </p:sp>
      <p:pic>
        <p:nvPicPr>
          <p:cNvPr id="11" name="Picture 10" descr="A2_daybyday-cacao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cacao</a:t>
            </a:r>
          </a:p>
        </p:txBody>
      </p:sp>
      <p:pic>
        <p:nvPicPr>
          <p:cNvPr id="13" name="Picture 12" descr="A3_daybyday-men-gel-douch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· gel douche</a:t>
            </a:r>
          </a:p>
        </p:txBody>
      </p:sp>
      <p:pic>
        <p:nvPicPr>
          <p:cNvPr id="15" name="Picture 14" descr="A4_babymed-beurr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Babymed · beurre</a:t>
            </a:r>
          </a:p>
        </p:txBody>
      </p:sp>
      <p:pic>
        <p:nvPicPr>
          <p:cNvPr id="17" name="Picture 16" descr="A5_daybyday-women-moringa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Women · moringa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Clarins et des campagnes de magazine : un grand portrait, un fond sombre, un titre en italique, le produit en bas à droite. Une couleur de filet par gamme. Pour les publicités et les lancements : l’image fait monter la marque en gamme.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DEUX AUTRES DIRECTIONS ARTISTIQUES · 2 SUR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Direction B : la couleur franche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27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B1_daybyday-grenadin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00" y="1444500"/>
            <a:ext cx="2124000" cy="2655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76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grenadine</a:t>
            </a:r>
          </a:p>
        </p:txBody>
      </p:sp>
      <p:pic>
        <p:nvPicPr>
          <p:cNvPr id="11" name="Picture 10" descr="B2_daybyday-alo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8000" y="1444500"/>
            <a:ext cx="2124000" cy="2655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808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aloe vera</a:t>
            </a:r>
          </a:p>
        </p:txBody>
      </p:sp>
      <p:pic>
        <p:nvPicPr>
          <p:cNvPr id="13" name="Picture 12" descr="B3_daybyday-amand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0000" y="1444500"/>
            <a:ext cx="2124000" cy="2655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0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· amande</a:t>
            </a:r>
          </a:p>
        </p:txBody>
      </p:sp>
      <p:pic>
        <p:nvPicPr>
          <p:cNvPr id="15" name="Picture 14" descr="B4_cocopulp-lai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2000" y="1444500"/>
            <a:ext cx="2124000" cy="2655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272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Cocopulp · lait</a:t>
            </a:r>
          </a:p>
        </p:txBody>
      </p:sp>
      <p:pic>
        <p:nvPicPr>
          <p:cNvPr id="17" name="Picture 16" descr="B5_daybyday-men-spor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4000" y="1444500"/>
            <a:ext cx="2124000" cy="2655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504000" y="4140000"/>
            <a:ext cx="2124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1">
                <a:solidFill>
                  <a:srgbClr val="AE172A"/>
                </a:solidFill>
                <a:latin typeface="Poppins"/>
              </a:rPr>
              <a:t>Day by Day Men Sport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00" y="4896000"/>
            <a:ext cx="11052000" cy="1080000"/>
          </a:xfrm>
          <a:prstGeom prst="roundRect">
            <a:avLst>
              <a:gd name="adj" fmla="val 6000"/>
            </a:avLst>
          </a:prstGeom>
          <a:solidFill>
            <a:srgbClr val="FFF0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bulb_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2000" y="5184000"/>
            <a:ext cx="503999" cy="5039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440000" y="4896000"/>
            <a:ext cx="10008000" cy="1080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0">
                <a:solidFill>
                  <a:srgbClr val="111111"/>
                </a:solidFill>
                <a:latin typeface="Poppins"/>
              </a:rPr>
              <a:t>Sur le modèle de NIVEA « choisissez le vôtre » et de Kaera : un aplat de la couleur du parfum, le nom de l’ingrédient en très gros, l’ingrédient en photo dans un rond. Pour le fil de tous les jours : on reconnaît le produit au premier coup d’œil, en rayon aussi.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PLAN 30 JOURS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 premier mois, semaine par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28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lendar-event_b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00" y="1710000"/>
            <a:ext cx="324000" cy="324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16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0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Valider les 6 publications refaites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Passer les textes en français seul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Lister les points de vente à citer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4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pencil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8000" y="1710000"/>
            <a:ext cx="324000" cy="3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924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84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8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Publier les 6 avant / après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3 publications par semaine, 12 h ou 19 h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Répondre à chaque commentaire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2000" y="1584000"/>
            <a:ext cx="2628000" cy="576000"/>
          </a:xfrm>
          <a:prstGeom prst="round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video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6000" y="1710000"/>
            <a:ext cx="324000" cy="3240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732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2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Tourner 2 vidéos de routine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Un sondage Babymed pour les mamans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Première publication LinkedIn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0000" y="1584000"/>
            <a:ext cx="2628000" cy="576000"/>
          </a:xfrm>
          <a:prstGeom prst="round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trending-up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0" y="1710000"/>
            <a:ext cx="324000" cy="3240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540000" y="1584000"/>
            <a:ext cx="2015999" cy="576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FFFFFF"/>
                </a:solidFill>
                <a:latin typeface="Poppins"/>
              </a:rPr>
              <a:t>Semaine 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00000" y="2304000"/>
            <a:ext cx="2628000" cy="2880000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0" y="2448000"/>
            <a:ext cx="2376000" cy="26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Comparer aux 138 réactions de départ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Garder ce qui marche</a:t>
            </a:r>
          </a:p>
          <a:p>
            <a:pPr>
              <a:spcAft>
                <a:spcPts val="700"/>
              </a:spcAft>
            </a:pPr>
            <a:r>
              <a:rPr sz="800">
                <a:solidFill>
                  <a:srgbClr val="AE172A"/>
                </a:solidFill>
                <a:latin typeface="Poppins"/>
              </a:rPr>
              <a:t>■  </a:t>
            </a:r>
            <a:r>
              <a:rPr sz="1200">
                <a:solidFill>
                  <a:srgbClr val="111111"/>
                </a:solidFill>
                <a:latin typeface="Poppins"/>
              </a:rPr>
              <a:t>Préparer le mois suivant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76000" y="5364000"/>
            <a:ext cx="11052000" cy="864000"/>
          </a:xfrm>
          <a:prstGeom prst="roundRect">
            <a:avLst>
              <a:gd name="adj" fmla="val 6000"/>
            </a:avLst>
          </a:prstGeom>
          <a:solidFill>
            <a:srgbClr val="2A0E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target-arrow_b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000" y="5544000"/>
            <a:ext cx="503999" cy="50399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440000" y="5364000"/>
            <a:ext cx="10008000" cy="8640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FFFFFF"/>
                </a:solidFill>
                <a:latin typeface="Poppins"/>
              </a:rPr>
              <a:t>Objectif proposé à 30 jours : passer de 138 à 300 réactions médianes sur Facebook, et d’un commentaire sur trois publications Instagram à une sur deux.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TABLEAU DE BORD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Les chiffres à suivre chaque semaine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29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76000" y="1584000"/>
          <a:ext cx="11052000" cy="3671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0000"/>
                <a:gridCol w="2544000"/>
                <a:gridCol w="2544000"/>
                <a:gridCol w="2544000"/>
              </a:tblGrid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Indicateur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Où le lire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Départ (28/10)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Poppins"/>
                        </a:rPr>
                        <a:t>Objectif 30 jours</a:t>
                      </a:r>
                    </a:p>
                  </a:txBody>
                  <a:tcPr anchor="ctr">
                    <a:solidFill>
                      <a:srgbClr val="2A0E1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Réactions médianes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Facebook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138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300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Instagram sans commentaire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Instagram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15 sur 24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Moins de 12 sur 24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en français seul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1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25 sur 25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qui disent où acheter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Vos textes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0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4571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Vidéos publiées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Facebook et Instagram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7 sur 25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8 par mois</a:t>
                      </a:r>
                    </a:p>
                  </a:txBody>
                  <a:tcPr anchor="ctr">
                    <a:solidFill>
                      <a:srgbClr val="F4F4F2"/>
                    </a:solidFill>
                  </a:tcPr>
                </a:tc>
              </a:tr>
              <a:tr h="524573">
                <a:tc>
                  <a:txBody>
                    <a:bodyPr/>
                    <a:lstStyle/>
                    <a:p>
                      <a:pPr algn="l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Publications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Page LinkedIn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111111"/>
                          </a:solidFill>
                          <a:latin typeface="Poppins"/>
                        </a:rPr>
                        <a:t>aucune relevée</a:t>
                      </a:r>
                    </a:p>
                  </a:txBody>
                  <a:tcPr anchor="ctr">
                    <a:solidFill>
                      <a:srgbClr val="FBE6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111111"/>
                          </a:solidFill>
                          <a:latin typeface="Poppins"/>
                        </a:rPr>
                        <a:t>4 par mois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76000" y="5544000"/>
            <a:ext cx="11052000" cy="64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Les ventes et la portée ne se lisent qu’avec l’accès aux comptes : ce tableau commence par ce qui se voit de l’extérieur.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dr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6120" y="246443"/>
            <a:ext cx="1655999" cy="51511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6000" y="324000"/>
            <a:ext cx="8640000" cy="288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AE172A"/>
                </a:solidFill>
                <a:latin typeface="Poppins"/>
              </a:rPr>
              <a:t>SUITE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00" y="576000"/>
            <a:ext cx="9180000" cy="72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500" b="1">
                <a:solidFill>
                  <a:srgbClr val="111111"/>
                </a:solidFill>
                <a:latin typeface="Poppins"/>
              </a:rPr>
              <a:t>Ce qu’il nous faut pour aller plus loin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76000" y="1278000"/>
            <a:ext cx="792000" cy="50400"/>
          </a:xfrm>
          <a:prstGeom prst="rect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72119" y="6498000"/>
            <a:ext cx="1296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30 /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00" y="6498000"/>
            <a:ext cx="7920000" cy="21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A5A5A"/>
                </a:solidFill>
                <a:latin typeface="Poppins"/>
              </a:rPr>
              <a:t>Dream Cosmetics · Audit réseaux sociaux · relevé du 28/10/2026</a:t>
            </a:r>
          </a:p>
        </p:txBody>
      </p:sp>
      <p:pic>
        <p:nvPicPr>
          <p:cNvPr id="9" name="Picture 8" descr="d_baby_9.jpg"/>
          <p:cNvPicPr>
            <a:picLocks noChangeAspect="1"/>
          </p:cNvPicPr>
          <p:nvPr/>
        </p:nvPicPr>
        <p:blipFill>
          <a:blip r:embed="rId3"/>
          <a:srcRect l="6362" r="6362"/>
          <a:stretch>
            <a:fillRect/>
          </a:stretch>
        </p:blipFill>
        <p:spPr>
          <a:xfrm>
            <a:off x="8928000" y="1584000"/>
            <a:ext cx="2700000" cy="46440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7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eye_b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399" y="1994399"/>
            <a:ext cx="403200" cy="403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2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L’accès aux comptes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Portée, clics, messages et budgets publicitaires : pour savoir quelles publications sont payées, et ce qu’elles rapportent.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617999" y="1835999"/>
            <a:ext cx="720000" cy="720000"/>
          </a:xfrm>
          <a:prstGeom prst="ellipse">
            <a:avLst/>
          </a:prstGeom>
          <a:solidFill>
            <a:srgbClr val="AE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map-pin_b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6399" y="1994399"/>
            <a:ext cx="403200" cy="403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1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Points de vente et prix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Pour écrire « où l’acheter » et des offres datées.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6000" y="1584000"/>
            <a:ext cx="2628000" cy="3671999"/>
          </a:xfrm>
          <a:prstGeom prst="roundRect">
            <a:avLst>
              <a:gd name="adj" fmla="val 6000"/>
            </a:avLst>
          </a:prstGeom>
          <a:solidFill>
            <a:srgbClr val="F4F4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07999" y="1835999"/>
            <a:ext cx="720000" cy="720000"/>
          </a:xfrm>
          <a:prstGeom prst="ellipse">
            <a:avLst/>
          </a:prstGeom>
          <a:solidFill>
            <a:srgbClr val="FF808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ircle-check_b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66399" y="1994399"/>
            <a:ext cx="403200" cy="4032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407999" y="2736000"/>
            <a:ext cx="2196000" cy="576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500" b="1">
                <a:solidFill>
                  <a:srgbClr val="111111"/>
                </a:solidFill>
                <a:latin typeface="Poppins"/>
              </a:rPr>
              <a:t>Votre accord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7999" y="3348000"/>
            <a:ext cx="2196000" cy="1800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>
                <a:solidFill>
                  <a:srgbClr val="5A5A5A"/>
                </a:solidFill>
                <a:latin typeface="Poppins"/>
              </a:rPr>
              <a:t>Sur les 6 publications refaites, avant toute mise en ligne.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00" y="5436000"/>
            <a:ext cx="8136000" cy="7920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5A5A5A"/>
                </a:solidFill>
                <a:latin typeface="Poppins"/>
              </a:rPr>
              <a:t>Rien n’a été publié. Les photos de personnes sont des illustrations ; les produits sont ceux de votre catalogue.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