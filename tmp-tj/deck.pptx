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jpg"/><Relationship Id="rId4" Type="http://schemas.openxmlformats.org/officeDocument/2006/relationships/image" Target="../media/image12.jpg"/><Relationship Id="rId5" Type="http://schemas.openxmlformats.org/officeDocument/2006/relationships/image" Target="../media/image17.jpg"/><Relationship Id="rId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_post-04_hydrocarbures_4572000x6858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16952" y="0"/>
            <a:ext cx="73152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48640"/>
            <a:ext cx="301752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58368"/>
            <a:ext cx="2041451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E5B22"/>
                </a:solidFill>
                <a:latin typeface="Montserrat"/>
              </a:rPr>
              <a:t>LINKEDIN · DIRECTION ARTISTIQUE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6675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Montserrat"/>
              </a:rPr>
              <a:t>Des posts dans l’esprit de </a:t>
            </a:r>
            <a:r>
              <a:rPr sz="3600" b="1">
                <a:solidFill>
                  <a:srgbClr val="EE5B22"/>
                </a:solidFill>
                <a:latin typeface="Montserrat"/>
              </a:rPr>
              <a:t>Centaures, Continental et DHL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D2DB"/>
                </a:solidFill>
                <a:latin typeface="Montserrat"/>
              </a:rPr>
              <a:t>Ce qui plaît dans ces trois comptes, la planche d’inspiration, trois gabarits Proline Logistics et les quatre posts de novembre refaits dans ce style.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A3B5"/>
                </a:solidFill>
                <a:latin typeface="Montserrat"/>
              </a:rPr>
              <a:t>Préparation interne Mstudio · 29 octobre 2026 · rien n’a été envoyé au 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QUE PUBLIENT LES RÉFÉRENCES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trois comptes, relevés le 29 octobre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2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11064240" cy="4142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01752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Les Centaures Routiers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Continental Shipping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DHL Africa</a:t>
                      </a:r>
                    </a:p>
                  </a:txBody>
                  <a:tcPr marL="73152" marR="73152" marT="27432" marB="27432" anchor="ctr">
                    <a:solidFill>
                      <a:srgbClr val="1120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Compte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linkedin.com/company/les-centaures-routiers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linkedin.com/company/continental-shipping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linkedin.com/company/dhl-express-africa (publie pour DHL Express Côte d’Ivoire)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Abonnés LinkedIn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27 302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2 404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55 181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Rythme observé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(une douzaine du 17/08 au 23/10)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environ 1 post par semaine (10 posts du 7/08 au 26/10)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3 posts par semaine environ (une douzaine en octobre)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Réactions par post (posts relevés)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20 à 98 (6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5 à 12 (5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35 à 275 (5 posts)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Format dominant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image carrée : moitié texte blanc, moitié photo, liste à coches, barre rouge des contacts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plein cadre, bandeau diagonal vert, badge « Did you know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photo d’événement réelle ou affiche « jalon » sur fond de carte, icônes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Couleurs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rouge, blanc, noir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vert sapin, blanc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jaune et rouge DHL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Ton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commercial direct, en français, adresse mail en fin de 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expert, en anglais, accroche « le saviez-vous 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institutionnel, un fait par post, preuve par l’image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02E"/>
                          </a:solidFill>
                          <a:latin typeface="Montserrat"/>
                        </a:rPr>
                        <a:t>Autres réseaux</a:t>
                      </a:r>
                    </a:p>
                  </a:txBody>
                  <a:tcPr marL="73152" marR="73152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page Facebook lescentauresroutiers.ci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aucun compte Facebook ni Instagram trouvé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1202E"/>
                          </a:solidFill>
                          <a:latin typeface="Montserrat"/>
                        </a:rPr>
                        <a:t>Facebook DHLAfrica, Instagram @dhlafrica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Le nom donné, « Centaure Routiers », correspond à la page « Les Centaures Routiers » (Groupe Centaures). Aucune page DHL propre à la Côte d’Ivoire n’a été trouvée sur LinkedIn (recherches « DHL Côte d’Ivoire », « DHL Express Côte d’Ivoire ») : c’est la page DHL Africa qui publie pour Abidjan. Sources : pages publiques LinkedIn et Facebook, consultées le 29/10/2026.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CE QU’ON REPREND, CE QU’ON LAISSE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Planche d’inspiration : six posts réels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3 / 10</a:t>
            </a:r>
          </a:p>
        </p:txBody>
      </p:sp>
      <p:pic>
        <p:nvPicPr>
          <p:cNvPr id="9" name="Picture 8" descr="_c_cen0_1783080x17830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178308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30 réactions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bandeau logo, liste à coches, barre de contacts.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trop de rouge et de texte en capitales.</a:t>
            </a:r>
          </a:p>
        </p:txBody>
      </p:sp>
      <p:pic>
        <p:nvPicPr>
          <p:cNvPr id="15" name="Picture 14" descr="_c_cen4_1783080x17830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0592" y="1417320"/>
            <a:ext cx="1783080" cy="1783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50592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Les Centaures Routiers · septembre 2026 · 42 réactions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3744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un chiffre par ligne (100 t, 70 ans, 600 véhicules).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50592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photo détourée en cercle, effet chargé.</a:t>
            </a:r>
          </a:p>
        </p:txBody>
      </p:sp>
      <p:pic>
        <p:nvPicPr>
          <p:cNvPr id="21" name="Picture 20" descr="_c_con1_1783080x1783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544" y="1417320"/>
            <a:ext cx="1783080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52544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avril 2026 · 11 réactions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2544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série « Le saviez-vous ? », le badge incliné.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2544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l’anglais, le texte sans fond peu lisible.</a:t>
            </a:r>
          </a:p>
        </p:txBody>
      </p:sp>
      <p:pic>
        <p:nvPicPr>
          <p:cNvPr id="27" name="Picture 26" descr="_c_con0_1783080x1783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1417320"/>
            <a:ext cx="1783080" cy="1783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54496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Continental Shipping · septembre 2026 · 5 réactions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photo plein cadre du parc, diagonale de couleur.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le slogan en capitales sans fait précis.</a:t>
            </a:r>
          </a:p>
        </p:txBody>
      </p:sp>
      <p:pic>
        <p:nvPicPr>
          <p:cNvPr id="33" name="Picture 32" descr="_c_dhl1_1783080x1783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1417320"/>
            <a:ext cx="1783080" cy="17830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56448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septembre 2026 · 275 réactions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6448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le post « jalon », trois icônes, un fait clair.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56448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la carte du monde, hors sujet pour Abidjan.</a:t>
            </a:r>
          </a:p>
        </p:txBody>
      </p:sp>
      <p:pic>
        <p:nvPicPr>
          <p:cNvPr id="39" name="Picture 38" descr="_c_dhl0_1783080x1783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1417320"/>
            <a:ext cx="1783080" cy="17830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0" y="327355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565656"/>
                </a:solidFill>
                <a:latin typeface="Montserrat"/>
              </a:rPr>
              <a:t>DHL Africa · octobre 2026 · 52 réactions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3776472"/>
            <a:ext cx="1783080" cy="1078992"/>
          </a:xfrm>
          <a:prstGeom prst="rect">
            <a:avLst/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3840480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E6B3A"/>
                </a:solidFill>
                <a:latin typeface="Montserrat"/>
              </a:rPr>
              <a:t>On reprend : la vraie photo d’équipe ou de salon, sans texte.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0" y="4919472"/>
            <a:ext cx="1783080" cy="914400"/>
          </a:xfrm>
          <a:prstGeom prst="rect">
            <a:avLst/>
          </a:prstGeom>
          <a:solidFill>
            <a:srgbClr val="FB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31552" y="4983480"/>
            <a:ext cx="16367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A3360A"/>
                </a:solidFill>
                <a:latin typeface="Montserrat"/>
              </a:rPr>
              <a:t>On laisse : rien, à reprendre tel quel.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Captures des visuels publiés, tels qu’affichés sur les pages publiques LinkedIn le 29/10/2026 (réactions comptées ce jour-là). Usage interne d’inspiration uniquement.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SIX RÈGLES POUR TOUS LES POSTS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 style Proline Logistics qui en sort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Bandeau blanc en tête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logo Proline Logistics en couleurs, à gauche ; la série du post à droite (Capacités, Expertise, Fiabilité, Équipes, Actualité). Repris des Centaures.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Barre orange en pied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téléphone et e-mail de l’entreprise sur chaque visuel, comme la barre rouge des Centaures.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8" y="150876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8" y="150876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8" y="1783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8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Vraies photos des parcs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8" y="26517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photos du site prolinelogistic.com, recadrées en grand. Jamais de banque d’images ni de camion détouré.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Une diagonale 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pour séparer photo et texte, à la manière du bandeau vert de Continental Shipping, en plus discret.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79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Un fait, un chiffre sourcé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un seul message par visuel ; chaque chiffre vient du site, avec la mention de la source sur le visuel.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8" y="3749040"/>
            <a:ext cx="3520440" cy="2011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18" y="3749040"/>
            <a:ext cx="3520440" cy="73152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8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9510E"/>
                </a:solidFill>
                <a:latin typeface="Montserrat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8" y="4526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1202E"/>
                </a:solidFill>
                <a:latin typeface="Montserrat"/>
              </a:rPr>
              <a:t>Bleu nuit, orange, blanc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8920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5A72"/>
                </a:solidFill>
                <a:latin typeface="Montserrat"/>
              </a:rPr>
              <a:t>fond #11202E, orange #E9510E et #EE5B22, fond clair #F6F8FA ; une seule police, Montserrat. Aucun emoji.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A · chiffre ou capacité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A_chiff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du post « jalon » de DHL et des listes chiffrées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Capacités et Jalons, une à deux fois par mois.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photo du parc en haut, diagonale, un grand chiffre orange, trois chiffres secondaires, la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Chiffres utilisables : </a:t>
            </a:r>
            <a:r>
              <a:rPr sz="1300">
                <a:solidFill>
                  <a:srgbClr val="11202E"/>
                </a:solidFill>
                <a:latin typeface="Montserrat"/>
              </a:rPr>
              <a:t>40 000 EVP par an, 265 tracteurs et remorques, 30 chariots de 2,5 à 45 t, 4 parcs, 43 000 m² d’entrepôts, 70 000 m² de terre-plein, 80 000 m³ d’hydrocarbures par 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Source : </a:t>
            </a:r>
            <a:r>
              <a:rPr sz="1300">
                <a:solidFill>
                  <a:srgbClr val="11202E"/>
                </a:solidFill>
                <a:latin typeface="Montserrat"/>
              </a:rPr>
              <a:t>prolinelogistic.com, page d’accueil et page Services, relevées le 29/10/2026.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B · terrain ou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B_ter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photos d’équipe de DHL et des photos chantier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 Équipes et terrain ; prêt pour le post du jeudi 5 novembre sur le métier de cariste.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une photo réelle en pleine page, un badge orange « Sur le terrain », une phrase courte en blanc, deux lignes d’explication.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Photo : </a:t>
            </a:r>
            <a:r>
              <a:rPr sz="1300">
                <a:solidFill>
                  <a:srgbClr val="11202E"/>
                </a:solidFill>
                <a:latin typeface="Montserrat"/>
              </a:rPr>
              <a:t>cariste en manutention, photo du site Proline Logistics. Les prochaines viendront d’une séance photo sur un parc.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À éviter : </a:t>
            </a:r>
            <a:r>
              <a:rPr sz="1300">
                <a:solidFill>
                  <a:srgbClr val="11202E"/>
                </a:solidFill>
                <a:latin typeface="Montserrat"/>
              </a:rPr>
              <a:t>marques de clients visibles sur la photo sans leur accord : recadrer.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GABARITS 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Gabarit C · actualité client ou partenaire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931920" cy="4914900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abarit-C_act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931920" cy="4914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7760" y="1463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9510E"/>
                </a:solidFill>
                <a:latin typeface="Montserrat"/>
              </a:rPr>
              <a:t>Inspiré des posts « actualité » de DHL et des félicitations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66751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Quand : </a:t>
            </a:r>
            <a:r>
              <a:rPr sz="1300">
                <a:solidFill>
                  <a:srgbClr val="11202E"/>
                </a:solidFill>
                <a:latin typeface="Montserrat"/>
              </a:rPr>
              <a:t>piliers Jalons et Capacités ; prêt pour le post du mardi 17 novembre sur l’AeroHub.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Structure : </a:t>
            </a:r>
            <a:r>
              <a:rPr sz="1300">
                <a:solidFill>
                  <a:srgbClr val="11202E"/>
                </a:solidFill>
                <a:latin typeface="Montserrat"/>
              </a:rPr>
              <a:t>fond clair, titre qui nomme le fait, photo encadrée, trois icônes de preuve, source.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Exemple : </a:t>
            </a:r>
            <a:r>
              <a:rPr sz="1300">
                <a:solidFill>
                  <a:srgbClr val="11202E"/>
                </a:solidFill>
                <a:latin typeface="Montserrat"/>
              </a:rPr>
              <a:t>l’AeroHub, opéré avec CEVA Logistique depuis 2024 (site, page Entreprise). Photo actuelle : entrepôt Proline du site ; une photo de l’AeroHub serait plus juste.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00">
                <a:solidFill>
                  <a:srgbClr val="E9510E"/>
                </a:solidFill>
                <a:latin typeface="Montserrat"/>
              </a:rPr>
              <a:t>● </a:t>
            </a:r>
            <a:r>
              <a:rPr sz="1300" b="1">
                <a:solidFill>
                  <a:srgbClr val="11202E"/>
                </a:solidFill>
                <a:latin typeface="Montserrat"/>
              </a:rPr>
              <a:t>Règle : </a:t>
            </a:r>
            <a:r>
              <a:rPr sz="1300">
                <a:solidFill>
                  <a:srgbClr val="11202E"/>
                </a:solidFill>
                <a:latin typeface="Montserrat"/>
              </a:rPr>
              <a:t>un client n’est nommé qu’avec son accord écrit.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8 / 10</a:t>
            </a:r>
          </a:p>
        </p:txBody>
      </p:sp>
      <p:pic>
        <p:nvPicPr>
          <p:cNvPr id="9" name="Picture 8" descr="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1 · mardi 3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Quatre parcs, là où passent vos flux. Gabarit A en version cartes.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Chiffres : page Implantations du site.</a:t>
            </a:r>
          </a:p>
        </p:txBody>
      </p:sp>
      <p:pic>
        <p:nvPicPr>
          <p:cNvPr id="13" name="Picture 12" descr="post-02_fifo-fef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2 · mercredi 4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FIFO ou FEFO : série « Le saviez-vous ? 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Méthode décrite page Services du site.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MÊMES TEXTES, NOUVEAUX VISUELS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Les posts de novembre, refaits dans ce style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9 / 10</a:t>
            </a:r>
          </a:p>
        </p:txBody>
      </p:sp>
      <p:pic>
        <p:nvPicPr>
          <p:cNvPr id="9" name="Picture 8" descr="post-03_inventai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108960" cy="3886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4048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3 · mardi 10 novembre, 8 h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Votre stock, compté deux fois. Mise en page partagée des Centaures.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Inventaire croisé et rapport journalier : page Services.</a:t>
            </a:r>
          </a:p>
        </p:txBody>
      </p:sp>
      <p:pic>
        <p:nvPicPr>
          <p:cNvPr id="13" name="Picture 12" descr="post-04_hydrocarbur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3108960" cy="3886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9760" y="14630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202E"/>
                </a:solidFill>
                <a:latin typeface="Montserrat"/>
              </a:rPr>
              <a:t>Post 4 · jeudi 12 novembre, 8 h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7744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5A72"/>
                </a:solidFill>
                <a:latin typeface="Montserrat"/>
              </a:rPr>
              <a:t>80 000 m³ par an, suivis au GPS. Gabarit jalon.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93192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65656"/>
                </a:solidFill>
                <a:latin typeface="Montserrat"/>
              </a:rPr>
              <a:t>80 000 m³ par an et démarche ISO : pages Services et Entreprise.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656"/>
                </a:solidFill>
                <a:latin typeface="Montserrat"/>
              </a:rPr>
              <a:t>Les textes des posts ne changent pas (ligne éditoriale du 29/10). Format 4:5, 1080 × 1350, prêt pour la page entreprise. Rien n’est publié sans l’accord de la direction de Proline Logistics.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4320"/>
            <a:ext cx="1403498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202E"/>
                </a:solidFill>
                <a:latin typeface="Montserrat"/>
              </a:rPr>
              <a:t>Avant, après, et ce qu’il reste à trancher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65656"/>
                </a:solidFill>
                <a:latin typeface="Montserrat"/>
              </a:rPr>
              <a:t>Proline Logistics · designs LinkedIn · préparation interne Mstudio · 29 octobre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11202E"/>
                </a:solidFill>
                <a:latin typeface="Montserrat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65656"/>
                </a:solidFill>
                <a:latin typeface="Montserrat"/>
              </a:rPr>
              <a:t>AVANT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9510E"/>
                </a:solidFill>
                <a:latin typeface="Montserrat"/>
              </a:rPr>
              <a:t>APRÈS</a:t>
            </a:r>
          </a:p>
        </p:txBody>
      </p:sp>
      <p:pic>
        <p:nvPicPr>
          <p:cNvPr id="11" name="Picture 10" descr="261029_Proline_post-01_quatre-par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1143000" cy="1428750"/>
          </a:xfrm>
          <a:prstGeom prst="rect">
            <a:avLst/>
          </a:prstGeom>
        </p:spPr>
      </p:pic>
      <p:pic>
        <p:nvPicPr>
          <p:cNvPr id="12" name="Picture 11" descr="post-01_quatre-parc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691640"/>
            <a:ext cx="1143000" cy="1428750"/>
          </a:xfrm>
          <a:prstGeom prst="rect">
            <a:avLst/>
          </a:prstGeom>
        </p:spPr>
      </p:pic>
      <p:pic>
        <p:nvPicPr>
          <p:cNvPr id="13" name="Picture 12" descr="261029_Proline_post-04_hydrocarbur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1691640"/>
            <a:ext cx="1143000" cy="1428750"/>
          </a:xfrm>
          <a:prstGeom prst="rect">
            <a:avLst/>
          </a:prstGeom>
        </p:spPr>
      </p:pic>
      <p:pic>
        <p:nvPicPr>
          <p:cNvPr id="14" name="Picture 13" descr="post-04_hydrocarbu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1691640"/>
            <a:ext cx="1143000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338328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change : </a:t>
            </a:r>
            <a:r>
              <a:rPr sz="1150">
                <a:solidFill>
                  <a:srgbClr val="11202E"/>
                </a:solidFill>
                <a:latin typeface="Montserrat"/>
              </a:rPr>
              <a:t>logo en couleurs bien visible, contacts sur chaque visuel, vraies photos plus grandes, une série reconnaissable au premier coup d’œil.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50">
                <a:solidFill>
                  <a:srgbClr val="E9510E"/>
                </a:solidFill>
                <a:latin typeface="Montserrat"/>
              </a:rPr>
              <a:t>● </a:t>
            </a:r>
            <a:r>
              <a:rPr sz="1150" b="1">
                <a:solidFill>
                  <a:srgbClr val="11202E"/>
                </a:solidFill>
                <a:latin typeface="Montserrat"/>
              </a:rPr>
              <a:t>Ce qui ne change pas : </a:t>
            </a:r>
            <a:r>
              <a:rPr sz="1150">
                <a:solidFill>
                  <a:srgbClr val="11202E"/>
                </a:solidFill>
                <a:latin typeface="Montserrat"/>
              </a:rPr>
              <a:t>le ton sobre et chiffré, les textes, le calendrier.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349240" cy="484632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554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202E"/>
                </a:solidFill>
                <a:latin typeface="Montserrat"/>
              </a:rPr>
              <a:t>Points ouverts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Photos : </a:t>
            </a:r>
            <a:r>
              <a:rPr sz="1100">
                <a:solidFill>
                  <a:srgbClr val="11202E"/>
                </a:solidFill>
                <a:latin typeface="Montserrat"/>
              </a:rPr>
              <a:t>le site n’en offre que cinq, de taille moyenne. Une demi-journée de photos sur les parcs de Yopougon et Vridi donnerait de quoi tenir six mois.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Barre de contacts : </a:t>
            </a:r>
            <a:r>
              <a:rPr sz="1100">
                <a:solidFill>
                  <a:srgbClr val="11202E"/>
                </a:solidFill>
                <a:latin typeface="Montserrat"/>
              </a:rPr>
              <a:t>téléphone et e-mail du site ; Proline Logistics peut préférer un numéro WhatsApp commercial, qu’elle dit très important.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Clients cités : </a:t>
            </a:r>
            <a:r>
              <a:rPr sz="1100">
                <a:solidFill>
                  <a:srgbClr val="11202E"/>
                </a:solidFill>
                <a:latin typeface="Montserrat"/>
              </a:rPr>
              <a:t>les références du site (TotalEnergies, CEVA Logistique et d’autres) ne seront mises en avant qu’avec leur accord écrit.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800">
                <a:solidFill>
                  <a:srgbClr val="E9510E"/>
                </a:solidFill>
                <a:latin typeface="Montserrat"/>
              </a:rPr>
              <a:t>● </a:t>
            </a:r>
            <a:r>
              <a:rPr sz="1100" b="1">
                <a:solidFill>
                  <a:srgbClr val="11202E"/>
                </a:solidFill>
                <a:latin typeface="Montserrat"/>
              </a:rPr>
              <a:t>Choix à faire : </a:t>
            </a:r>
            <a:r>
              <a:rPr sz="1100">
                <a:solidFill>
                  <a:srgbClr val="11202E"/>
                </a:solidFill>
                <a:latin typeface="Montserrat"/>
              </a:rPr>
              <a:t>garder les trois gabarits, ou n’en retenir que deux pour un fil plus uniforme. Par défaut : les trois, à raison d’un gabarit par pilier.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