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Abonnés Facebook</c:v>
                </c:pt>
              </c:strCache>
            </c:strRef>
          </c:tx>
          <c:dPt>
            <c:idx val="0"/>
            <c:spPr>
              <a:solidFill>
                <a:srgbClr val="5A5A5A"/>
              </a:solidFill>
            </c:spPr>
          </c:dPt>
          <c:dPt>
            <c:idx val="1"/>
            <c:spPr>
              <a:solidFill>
                <a:srgbClr val="E84E0E"/>
              </a:solidFill>
            </c:spPr>
          </c:dPt>
          <c:dPt>
            <c:idx val="2"/>
            <c:spPr>
              <a:solidFill>
                <a:srgbClr val="5A5A5A"/>
              </a:solidFill>
            </c:spPr>
          </c:dPt>
          <c:dPt>
            <c:idx val="3"/>
            <c:spPr>
              <a:solidFill>
                <a:srgbClr val="5A5A5A"/>
              </a:solidFill>
            </c:spPr>
          </c:dPt>
          <c:cat>
            <c:strRef>
              <c:f>Sheet1!$A$2:$A$5</c:f>
              <c:strCache>
                <c:ptCount val="4"/>
                <c:pt idx="0">
                  <c:v>OK Plast CI</c:v>
                </c:pt>
                <c:pt idx="1">
                  <c:v>TAJ PLAST</c:v>
                </c:pt>
                <c:pt idx="2">
                  <c:v>Sippec</c:v>
                </c:pt>
                <c:pt idx="3">
                  <c:v>Metaplast CI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8100</c:v>
                </c:pt>
                <c:pt idx="1">
                  <c:v>11000</c:v>
                </c:pt>
                <c:pt idx="2">
                  <c:v>117000</c:v>
                </c:pt>
                <c:pt idx="3">
                  <c:v>167000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x_7381785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40000" cy="6858000"/>
          </a:xfrm>
          <a:prstGeom prst="rect">
            <a:avLst/>
          </a:prstGeom>
          <a:solidFill>
            <a:srgbClr val="111111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720000"/>
            <a:ext cx="2736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ped-logo-tajp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13" y="792000"/>
            <a:ext cx="2460774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376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84E0E"/>
                </a:solidFill>
                <a:latin typeface="Arial"/>
              </a:rPr>
              <a:t>ÉTUDE DE LA CONCURRENCE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736000"/>
            <a:ext cx="5832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Comment les fabricants de plastique d'Abidjan se font connaître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4752000"/>
            <a:ext cx="864000" cy="54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4932000"/>
            <a:ext cx="576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Préparée pour Kevin Assi, responsable commercial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CCCCC"/>
                </a:solidFill>
                <a:latin typeface="Arial"/>
              </a:rPr>
              <a:t>Relevé public du 27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L'essentiel en trois constats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655999"/>
            <a:ext cx="3528000" cy="424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655999"/>
            <a:ext cx="3528000" cy="90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1872000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E84E0E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2592000"/>
            <a:ext cx="30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Les plus suivis vendent une marque produit, pas une usine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744000"/>
            <a:ext cx="3096000" cy="20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Metaplast pousse « Tank Ivoire » avec un prix affiché, la livraison gratuite et une garantie de 25 ans. Sa page Facebook affiche environ 167 000 abonnés.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1655999"/>
            <a:ext cx="3528000" cy="424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0" y="1655999"/>
            <a:ext cx="3528000" cy="90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6000" y="1872000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59641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000" y="2592000"/>
            <a:ext cx="30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Les artisans sont un canal à part entière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744000"/>
            <a:ext cx="3096000" cy="20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Sippec forme les peintres dans sa Sippec Académie depuis 2018 et parle aux professionnels du chantier. Sa page Facebook affiche environ 117 000 abonnés.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4000" y="1655999"/>
            <a:ext cx="3528000" cy="424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4000" y="1655999"/>
            <a:ext cx="3528000" cy="90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0000" y="1872000"/>
            <a:ext cx="72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0" y="2592000"/>
            <a:ext cx="3096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Sur la maison, personne ne domine en ligne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3744000"/>
            <a:ext cx="3096000" cy="20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OK Plast (environ 8 100 abonnés) et Plastica restent discrets. Avec environ 11 000 abonnés, TAJ PLAST est déjà devant OK Plast sur Facebook.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LE PÉRIMÈTRE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Six concurrents passés au crible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00" y="1620000"/>
          <a:ext cx="10943998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2015999"/>
                <a:gridCol w="1296000"/>
                <a:gridCol w="3744000"/>
                <a:gridCol w="2015999"/>
              </a:tblGrid>
              <a:tr h="565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Entreprise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Implantation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Ancienneté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 qu'elle vend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Face à TAJ PLAST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OK PLAST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Yopougon, zone industrielle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Depuis 1992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Maison, meubles, cuisine, bébé, objets personnalisés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9641"/>
                          </a:solidFill>
                          <a:latin typeface="Arial"/>
                        </a:rPr>
                        <a:t>Gamme maison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PLASTICA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Koumassi, zone industrielle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Depuis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Tables, chaises, seaux, bassines, sacs, films, palettes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9641"/>
                          </a:solidFill>
                          <a:latin typeface="Arial"/>
                        </a:rPr>
                        <a:t>Maison et industrie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METAPLAST CI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Abidjan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Depuis 1997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Cuves « Tank Ivoire », fosses septiques, pompes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84E0E"/>
                          </a:solidFill>
                          <a:latin typeface="Arial"/>
                        </a:rPr>
                        <a:t>Assainissement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SIPPEC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Abidjan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Plus de 14 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Peinture et plasturgie : gestion et stockage de l'eau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84E0E"/>
                          </a:solidFill>
                          <a:latin typeface="Arial"/>
                        </a:rPr>
                        <a:t>Assainissement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SOTICI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Abidjan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Depuis 1973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Tubes et raccords en PVC et polyéthylène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84E0E"/>
                          </a:solidFill>
                          <a:latin typeface="Arial"/>
                        </a:rPr>
                        <a:t>Assainissement, BTP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6571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11111"/>
                          </a:solidFill>
                          <a:latin typeface="Arial"/>
                        </a:rPr>
                        <a:t>Tout pour le stockage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Cocody, Angré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n. 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  <a:latin typeface="Arial"/>
                        </a:rPr>
                        <a:t>Distributeur en ligne : cuves, fosses, bacs à ordures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84E0E"/>
                          </a:solidFill>
                          <a:latin typeface="Arial"/>
                        </a:rPr>
                        <a:t>Assainissement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00" y="5903999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Sources : sites des entreprises, pages Facebook et LinkedIn publiques, annuaires. « n. c. » : non communiqué.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LES AUDIENCES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Qui se fait entendre sur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76000" y="1548000"/>
          <a:ext cx="7020000" cy="4248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92000" y="1620000"/>
            <a:ext cx="3671999" cy="4176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8000" y="1800000"/>
            <a:ext cx="331199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4E0E"/>
                </a:solidFill>
                <a:latin typeface="Arial"/>
              </a:rPr>
              <a:t>Ce que ça 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8000" y="2268000"/>
            <a:ext cx="3311999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Les deux pages les plus suivies parlent d'eau et de chantier, pas d'articles de ménage.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Sur la maison, TAJ PLAST a la plus grosse page Facebook trouvée, devant OK Plast.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Plastica a une page Facebook, mais son audience n'a pas pu être 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5903999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Chiffres affichés sur les pages publiques le 27 octobre 2026, arrondis. Le nombre d'abonnés ne dit rien des ventes ni de l'engagement.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CONCURRENT DIRECT · GAMME MAISON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OK PLAST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311999" cy="129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_okp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9" y="1986507"/>
            <a:ext cx="2808000" cy="4909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00" y="3096000"/>
            <a:ext cx="3384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Yopougon, zone industrielle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Facebook : environ 8 100 abonnés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Page LinkedIn active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Aucun compte Instagram ni TikTok trouvé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548000"/>
            <a:ext cx="39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Comment il se fait connaître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944000"/>
            <a:ext cx="381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Le « fabriqué en Côte d'Ivoire » : </a:t>
            </a:r>
            <a:r>
              <a:rPr sz="1300">
                <a:solidFill>
                  <a:srgbClr val="111111"/>
                </a:solidFill>
                <a:latin typeface="Arial"/>
              </a:rPr>
              <a:t>c'est la première promesse de son site.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Un catalogue en ligne </a:t>
            </a:r>
            <a:r>
              <a:rPr sz="1300">
                <a:solidFill>
                  <a:srgbClr val="111111"/>
                </a:solidFill>
                <a:latin typeface="Arial"/>
              </a:rPr>
              <a:t>classé par pièce (maison, meubles, cuisine, bébé), avec une rubrique « Nouveautés ».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Le B2B : </a:t>
            </a:r>
            <a:r>
              <a:rPr sz="1300">
                <a:solidFill>
                  <a:srgbClr val="111111"/>
                </a:solidFill>
                <a:latin typeface="Arial"/>
              </a:rPr>
              <a:t>il imprime le logo des marques sur ses articles (offset, sérigraphie, IML) pour leurs opérations promotionnelles.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représentants </a:t>
            </a:r>
            <a:r>
              <a:rPr sz="1300">
                <a:solidFill>
                  <a:srgbClr val="111111"/>
                </a:solidFill>
                <a:latin typeface="Arial"/>
              </a:rPr>
              <a:t>dans toute l'Afrique de l'Ouest.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4000" y="1584000"/>
            <a:ext cx="3240000" cy="424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0" y="176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retenir pour TAJ PLAST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2232000"/>
            <a:ext cx="2844000" cy="34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Le marché des objets promotionnels est une porte d'entrée que TAJ PLAST n'exploite pas en ligne : chaises, seaux ou tables au logo d'une marque, d'une mairie ou d'un événement.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CONCURRENT DIRECT · VOISIN DE KOUMASSI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PLASTICA CI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311999" cy="129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_plas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999" y="1764000"/>
            <a:ext cx="936000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00" y="3096000"/>
            <a:ext cx="3384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Koumassi, zone industrielle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Créée en 1999, filiale au Togo depuis 2011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Facebook, LinkedIn, médiathèque photos et vidéos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548000"/>
            <a:ext cx="39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Comment il se fait connaître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944000"/>
            <a:ext cx="381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Une image d'industriel sérieux : </a:t>
            </a:r>
            <a:r>
              <a:rPr sz="1300">
                <a:solidFill>
                  <a:srgbClr val="111111"/>
                </a:solidFill>
                <a:latin typeface="Arial"/>
              </a:rPr>
              <a:t>pages « Engagements QHSE et certification » et « Politique qualité ».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actualités régulières </a:t>
            </a:r>
            <a:r>
              <a:rPr sz="1300">
                <a:solidFill>
                  <a:srgbClr val="111111"/>
                </a:solidFill>
                <a:latin typeface="Arial"/>
              </a:rPr>
              <a:t>sur son site : Octobre Rose, visite d'une délégation de la région Auvergne-Rhône-Alpes.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La presse économique : </a:t>
            </a:r>
            <a:r>
              <a:rPr sz="1300">
                <a:solidFill>
                  <a:srgbClr val="111111"/>
                </a:solidFill>
                <a:latin typeface="Arial"/>
              </a:rPr>
              <a:t>rachat du groupe français Guérin, projet d'école de la plasturgie relayé par Ivoire Industrie Mag.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Un recrutement de partenaires </a:t>
            </a:r>
            <a:r>
              <a:rPr sz="1300">
                <a:solidFill>
                  <a:srgbClr val="111111"/>
                </a:solidFill>
                <a:latin typeface="Arial"/>
              </a:rPr>
              <a:t>avec une page « Devenir partenaire » sur le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4000" y="1584000"/>
            <a:ext cx="3240000" cy="424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0" y="176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retenir pour TAJ PLAST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2232000"/>
            <a:ext cx="2844000" cy="34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Plastica soigne sa crédibilité auprès des acheteurs professionnels. TAJ PLAST peut faire de même sur LinkedIn : visite d'usine, contrôle qualité, présence au salon du packaging.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CONCURRENT DIRECT · CUVES ET FOSSES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METAPLAST CI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311999" cy="129600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_metap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9" y="2076000"/>
            <a:ext cx="2808000" cy="31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00" y="3096000"/>
            <a:ext cx="3384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Facebook : environ 167 000 abonnés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Instagram et LinkedIn actifs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Une chargée de marketing digital en poste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548000"/>
            <a:ext cx="39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Comment il se fait connaître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944000"/>
            <a:ext cx="381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Une marque produit : </a:t>
            </a:r>
            <a:r>
              <a:rPr sz="1300">
                <a:solidFill>
                  <a:srgbClr val="111111"/>
                </a:solidFill>
                <a:latin typeface="Arial"/>
              </a:rPr>
              <a:t>« Tank Ivoire », mise en avant partout plutôt que le nom de l'usine.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preuves chiffrées : </a:t>
            </a:r>
            <a:r>
              <a:rPr sz="1300">
                <a:solidFill>
                  <a:srgbClr val="111111"/>
                </a:solidFill>
                <a:latin typeface="Arial"/>
              </a:rPr>
              <a:t>garantie 25 ans, résistance aux UV, 100 % polyéthylène.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Le prix affiché : </a:t>
            </a:r>
            <a:r>
              <a:rPr sz="1300">
                <a:solidFill>
                  <a:srgbClr val="111111"/>
                </a:solidFill>
                <a:latin typeface="Arial"/>
              </a:rPr>
              <a:t>cuve de 1 500 litres à 99 900 F CFA en octobre 2025, livraison gratuite à Abidjan.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packs </a:t>
            </a:r>
            <a:r>
              <a:rPr sz="1300">
                <a:solidFill>
                  <a:srgbClr val="111111"/>
                </a:solidFill>
                <a:latin typeface="Arial"/>
              </a:rPr>
              <a:t>cuve de 1 000 litres et surpresseur, et une signature : « Les pros du stockage ».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distributeurs en ligne </a:t>
            </a:r>
            <a:r>
              <a:rPr sz="1300">
                <a:solidFill>
                  <a:srgbClr val="111111"/>
                </a:solidFill>
                <a:latin typeface="Arial"/>
              </a:rPr>
              <a:t>qui revendent Tank Ivoire.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4000" y="1584000"/>
            <a:ext cx="3240000" cy="424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0" y="176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retenir pour TAJ PLAST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2232000"/>
            <a:ext cx="2844000" cy="34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C'est le modèle à suivre pour les cuves et fosses TAJ PLAST : un nom de gamme, une garantie, un prix d'appel et la livraison. L'offre doit être validée par la direction avant d'être publiée.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CONCURRENT INDIRECT · EAU ET CHANTIER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SIPPEC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311999" cy="129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584000"/>
            <a:ext cx="3311999" cy="12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E84E0E"/>
                </a:solidFill>
                <a:latin typeface="Arial"/>
              </a:rPr>
              <a:t>SIPPEC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3096000"/>
            <a:ext cx="3384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Facebook : environ 117 000 abonnés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Peinture et plasturgie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750">
                <a:solidFill>
                  <a:srgbClr val="159641"/>
                </a:solidFill>
                <a:latin typeface="Arial"/>
              </a:rPr>
              <a:t>■  </a:t>
            </a:r>
            <a:r>
              <a:rPr sz="1150">
                <a:solidFill>
                  <a:srgbClr val="5A5A5A"/>
                </a:solidFill>
                <a:latin typeface="Arial"/>
              </a:rPr>
              <a:t>Accompagne particuliers et professionnels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548000"/>
            <a:ext cx="39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Comment il se fait connaître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944000"/>
            <a:ext cx="381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La formation des artisans : </a:t>
            </a:r>
            <a:r>
              <a:rPr sz="1300">
                <a:solidFill>
                  <a:srgbClr val="111111"/>
                </a:solidFill>
                <a:latin typeface="Arial"/>
              </a:rPr>
              <a:t>la Sippec Académie accueille des peintres depuis 2018, et un centre a ouvert au Burkina Faso en 2020.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brochures téléchargeables </a:t>
            </a:r>
            <a:r>
              <a:rPr sz="1300">
                <a:solidFill>
                  <a:srgbClr val="111111"/>
                </a:solidFill>
                <a:latin typeface="Arial"/>
              </a:rPr>
              <a:t>par gamme : gestion de l'eau, stockage de l'eau, peinture.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Des contenus de chantier </a:t>
            </a:r>
            <a:r>
              <a:rPr sz="1300">
                <a:solidFill>
                  <a:srgbClr val="111111"/>
                </a:solidFill>
                <a:latin typeface="Arial"/>
              </a:rPr>
              <a:t>sur Facebook, adressés aux professionnels.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Une chaîne YouTube </a:t>
            </a:r>
            <a:r>
              <a:rPr sz="1300">
                <a:solidFill>
                  <a:srgbClr val="111111"/>
                </a:solidFill>
                <a:latin typeface="Arial"/>
              </a:rPr>
              <a:t>reliée au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4000" y="1584000"/>
            <a:ext cx="3240000" cy="424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0" y="1764000"/>
            <a:ext cx="28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retenir pour TAJ PLAST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2232000"/>
            <a:ext cx="2844000" cy="34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Former et équiper les plombiers et maçons, c'est créer des prescripteurs. C'est le prolongement naturel du programme Ambassadeurs prévu dans le plan 2027.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ASSAINISSEMENT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Deux autres acteurs à surveiller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620000"/>
            <a:ext cx="5400000" cy="4176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2000" y="1835999"/>
            <a:ext cx="2160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_soti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04" y="1908000"/>
            <a:ext cx="1282191" cy="93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68000" y="2124000"/>
            <a:ext cx="2664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11111"/>
                </a:solidFill>
                <a:latin typeface="Arial"/>
              </a:rPr>
              <a:t>SOTICI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204000"/>
            <a:ext cx="496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Fabricant de tubes et raccords en PVC et polyéthylène, créé en 1973.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Présent sur Facebook et Instagram.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Un acteur de référence du chantier : TAJ PLAST le croise auprès des plombiers.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1620000"/>
            <a:ext cx="5400000" cy="4176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8000" y="1835999"/>
            <a:ext cx="2160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_t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392" y="1908000"/>
            <a:ext cx="1777215" cy="93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84000" y="2124000"/>
            <a:ext cx="2664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11111"/>
                </a:solidFill>
                <a:latin typeface="Arial"/>
              </a:rPr>
              <a:t>Tout pour le stockage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3204000"/>
            <a:ext cx="496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Distributeur en ligne installé à Cocody Angré.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Vend cuves, fosses septiques et bacs à ordures, dont la gamme Tank Ivoire de Metaplast.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sz="1300">
                <a:solidFill>
                  <a:srgbClr val="111111"/>
                </a:solidFill>
                <a:latin typeface="Arial"/>
              </a:rPr>
              <a:t>Présent sur Facebook, Instagram et LinkedIn.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5903999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À retenir : les distributeurs en ligne sont un relais pour les cuves et fosses. TAJ PLAST peut en recruter plutôt que tout vendre seul.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LES CANAUX COMPARÉS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Qui utilise quoi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00" y="1512000"/>
          <a:ext cx="10908000" cy="41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1242000"/>
                <a:gridCol w="1242000"/>
                <a:gridCol w="1242000"/>
                <a:gridCol w="1242000"/>
                <a:gridCol w="1242000"/>
                <a:gridCol w="1242000"/>
              </a:tblGrid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TAJ PLAST</a:t>
                      </a:r>
                    </a:p>
                  </a:txBody>
                  <a:tcPr>
                    <a:solidFill>
                      <a:srgbClr val="E84E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OK Plast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Plastica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Metaplast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Sippec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Sotici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Site avec catalogue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Facebook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Instagram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LinkedIn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YouTube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Marque produit mise en avant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Prix ou promotion affichés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Garantie chiffrée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Formation des artisans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Objets personnalisés pour les marques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latin typeface="Arial"/>
                        </a:rPr>
                        <a:t>Vente sur une place de marché en ligne</a:t>
                      </a:r>
                    </a:p>
                  </a:txBody>
                  <a:tcPr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59641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anchor="ctr">
                    <a:solidFill>
                      <a:srgbClr val="FC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BBBBB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00" y="5903999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● trouvé lors du relevé · – non trouvé, ce qui ne prouve pas l'absence. Aucun compte TikTok trouvé pour ces six entreprises.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Ce que TAJ PLAST peut en faire en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548000"/>
            <a:ext cx="11088000" cy="77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48000"/>
            <a:ext cx="108000" cy="774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1602000"/>
            <a:ext cx="503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4E0E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1620000"/>
            <a:ext cx="10008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Donner un nom à la gamme assainissement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avec une garantie, un prix d'appel et la livraison, comme Tank Ivoire. Le prix et la garantie se décident avec la direction.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430000"/>
            <a:ext cx="11088000" cy="77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00" y="2430000"/>
            <a:ext cx="108000" cy="774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" y="2484000"/>
            <a:ext cx="503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59641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502000"/>
            <a:ext cx="10008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Former les plombiers et maçons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dans le cadre du programme Ambassadeurs : démonstrations de pose, fiches techniques et code de recommandation.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3311999"/>
            <a:ext cx="11088000" cy="77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00" y="3311999"/>
            <a:ext cx="108000" cy="774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000" y="3365999"/>
            <a:ext cx="503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383999"/>
            <a:ext cx="10008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Prendre la tête sur la maison en ligne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avec Instagram et TikTok, où aucun fabricant n'a été trouvé : des vidéos de vrais intérieurs ivoiriens.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4194000"/>
            <a:ext cx="11088000" cy="77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00" y="4194000"/>
            <a:ext cx="108000" cy="774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4248000"/>
            <a:ext cx="503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4E0E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4266000"/>
            <a:ext cx="10008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Vendre aux marques et aux institutions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des chaises, tables et seaux à leur logo, à condition que l'usine sache imprimer. C'est à vérifier.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5076000"/>
            <a:ext cx="11088000" cy="77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00" y="5076000"/>
            <a:ext cx="108000" cy="774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000" y="5130000"/>
            <a:ext cx="503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59641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0000" y="5148000"/>
            <a:ext cx="10008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Montrer l'usine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sur LinkedIn : capacité, contrôle qualité, salons. C'est la crédibilité que soigne Plastica.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ped-logo-tajp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20748"/>
            <a:ext cx="1584000" cy="602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À LIRE AVANT DE DÉCIDER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Méthode et limites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Étude de la concurrence · octobre 2026</a:t>
            </a:r>
          </a:p>
        </p:txBody>
      </p:sp>
      <p:pic>
        <p:nvPicPr>
          <p:cNvPr id="10" name="Picture 9" descr="px_20179811.jpg"/>
          <p:cNvPicPr>
            <a:picLocks noChangeAspect="1"/>
          </p:cNvPicPr>
          <p:nvPr/>
        </p:nvPicPr>
        <p:blipFill>
          <a:blip r:embed="rId3"/>
          <a:srcRect l="18917" r="18917"/>
          <a:stretch>
            <a:fillRect/>
          </a:stretch>
        </p:blipFill>
        <p:spPr>
          <a:xfrm>
            <a:off x="7703999" y="1584000"/>
            <a:ext cx="3960000" cy="424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00" y="1620000"/>
            <a:ext cx="6768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Ce qui a été regardé : </a:t>
            </a:r>
            <a:r>
              <a:rPr sz="1300">
                <a:solidFill>
                  <a:srgbClr val="111111"/>
                </a:solidFill>
                <a:latin typeface="Arial"/>
              </a:rPr>
              <a:t>les sites des entreprises, leurs pages Facebook, Instagram et LinkedIn publiques, les annuaires d'entreprises et la presse en ligne, le 27 octobre 2026.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Ce qui n'a pas été regardé : </a:t>
            </a:r>
            <a:r>
              <a:rPr sz="1300">
                <a:solidFill>
                  <a:srgbClr val="111111"/>
                </a:solidFill>
                <a:latin typeface="Arial"/>
              </a:rPr>
              <a:t>les boutiques, les marchés, les revendeurs, la radio et l'affichage. Une tournée terrain de deux jours compléterait l'étude.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Les abonnés ne sont pas des ventes : </a:t>
            </a:r>
            <a:r>
              <a:rPr sz="1300">
                <a:solidFill>
                  <a:srgbClr val="111111"/>
                </a:solidFill>
                <a:latin typeface="Arial"/>
              </a:rPr>
              <a:t>une grosse page peut avoir été achetée ou peu active. L'engagement des publications n'a pas été mesuré.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Non trouvé ne veut pas dire absent : </a:t>
            </a:r>
            <a:r>
              <a:rPr sz="1300">
                <a:solidFill>
                  <a:srgbClr val="111111"/>
                </a:solidFill>
                <a:latin typeface="Arial"/>
              </a:rPr>
              <a:t>un compte peut exister sous un autre nom.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>
                <a:solidFill>
                  <a:srgbClr val="E84E0E"/>
                </a:solidFill>
                <a:latin typeface="Arial"/>
              </a:rPr>
              <a:t>■  </a:t>
            </a:r>
            <a:r>
              <a:rPr b="1" sz="1300">
                <a:solidFill>
                  <a:srgbClr val="111111"/>
                </a:solidFill>
                <a:latin typeface="Arial"/>
              </a:rPr>
              <a:t>Aucun prix de TAJ PLAST </a:t>
            </a:r>
            <a:r>
              <a:rPr sz="1300">
                <a:solidFill>
                  <a:srgbClr val="111111"/>
                </a:solidFill>
                <a:latin typeface="Arial"/>
              </a:rPr>
              <a:t>n'est comparé ici : il faudra la grille des prix et celle des concurrents relevée en magasin.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3999" y="5868000"/>
            <a:ext cx="39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5A5A5A"/>
                </a:solidFill>
                <a:latin typeface="Arial"/>
              </a:rPr>
              <a:t>Photo : Pexels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