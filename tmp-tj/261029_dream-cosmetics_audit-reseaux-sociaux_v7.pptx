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png"/><Relationship Id="rId10" Type="http://schemas.openxmlformats.org/officeDocument/2006/relationships/image" Target="../media/image28.jpg"/><Relationship Id="rId11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50.jpg"/><Relationship Id="rId9" Type="http://schemas.openxmlformats.org/officeDocument/2006/relationships/image" Target="../media/image3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51.jpg"/><Relationship Id="rId5" Type="http://schemas.openxmlformats.org/officeDocument/2006/relationships/image" Target="../media/image47.jpg"/><Relationship Id="rId6" Type="http://schemas.openxmlformats.org/officeDocument/2006/relationships/image" Target="../media/image52.jpg"/><Relationship Id="rId7" Type="http://schemas.openxmlformats.org/officeDocument/2006/relationships/image" Target="../media/image49.jpg"/><Relationship Id="rId8" Type="http://schemas.openxmlformats.org/officeDocument/2006/relationships/image" Target="../media/image53.jpg"/><Relationship Id="rId9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43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64.jpg"/><Relationship Id="rId5" Type="http://schemas.openxmlformats.org/officeDocument/2006/relationships/image" Target="../media/image65.jpg"/><Relationship Id="rId6" Type="http://schemas.openxmlformats.org/officeDocument/2006/relationships/image" Target="../media/image66.jpg"/><Relationship Id="rId7" Type="http://schemas.openxmlformats.org/officeDocument/2006/relationships/image" Target="../media/image67.jpg"/><Relationship Id="rId8" Type="http://schemas.openxmlformats.org/officeDocument/2006/relationships/image" Target="../media/image68.jpg"/><Relationship Id="rId9" Type="http://schemas.openxmlformats.org/officeDocument/2006/relationships/image" Target="../media/image6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6.jpg"/><Relationship Id="rId4" Type="http://schemas.openxmlformats.org/officeDocument/2006/relationships/image" Target="../media/image77.jpg"/><Relationship Id="rId5" Type="http://schemas.openxmlformats.org/officeDocument/2006/relationships/image" Target="../media/image7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9.jpg"/><Relationship Id="rId4" Type="http://schemas.openxmlformats.org/officeDocument/2006/relationships/image" Target="../media/image80.jpg"/><Relationship Id="rId5" Type="http://schemas.openxmlformats.org/officeDocument/2006/relationships/image" Target="../media/image81.jpg"/><Relationship Id="rId6" Type="http://schemas.openxmlformats.org/officeDocument/2006/relationships/image" Target="../media/image82.jpg"/><Relationship Id="rId7" Type="http://schemas.openxmlformats.org/officeDocument/2006/relationships/image" Target="../media/image83.jpg"/><Relationship Id="rId8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4.jpg"/><Relationship Id="rId4" Type="http://schemas.openxmlformats.org/officeDocument/2006/relationships/image" Target="../media/image85.jpg"/><Relationship Id="rId5" Type="http://schemas.openxmlformats.org/officeDocument/2006/relationships/image" Target="../media/image86.jpg"/><Relationship Id="rId6" Type="http://schemas.openxmlformats.org/officeDocument/2006/relationships/image" Target="../media/image87.jpg"/><Relationship Id="rId7" Type="http://schemas.openxmlformats.org/officeDocument/2006/relationships/image" Target="../media/image88.jpg"/><Relationship Id="rId8" Type="http://schemas.openxmlformats.org/officeDocument/2006/relationships/image" Target="../media/image3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57.png"/><Relationship Id="rId6" Type="http://schemas.openxmlformats.org/officeDocument/2006/relationships/image" Target="../media/image91.png"/><Relationship Id="rId7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2.jpg"/><Relationship Id="rId4" Type="http://schemas.openxmlformats.org/officeDocument/2006/relationships/image" Target="../media/image13.png"/><Relationship Id="rId5" Type="http://schemas.openxmlformats.org/officeDocument/2006/relationships/image" Target="../media/image56.png"/><Relationship Id="rId6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17 flyers proposés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pic>
        <p:nvPicPr>
          <p:cNvPr id="10" name="Picture 9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000" y="4752000"/>
            <a:ext cx="720000" cy="720000"/>
          </a:xfrm>
          <a:prstGeom prst="rect">
            <a:avLst/>
          </a:prstGeom>
        </p:spPr>
      </p:pic>
      <p:pic>
        <p:nvPicPr>
          <p:cNvPr id="11" name="Picture 10" descr="rond_siv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6000" y="4752000"/>
            <a:ext cx="720000" cy="720000"/>
          </a:xfrm>
          <a:prstGeom prst="rect">
            <a:avLst/>
          </a:prstGeom>
        </p:spPr>
      </p:pic>
      <p:pic>
        <p:nvPicPr>
          <p:cNvPr id="12" name="Picture 11" descr="rond_ka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000" y="4752000"/>
            <a:ext cx="720000" cy="720000"/>
          </a:xfrm>
          <a:prstGeom prst="rect">
            <a:avLst/>
          </a:prstGeom>
        </p:spPr>
      </p:pic>
      <p:pic>
        <p:nvPicPr>
          <p:cNvPr id="13" name="Picture 12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5" name="Picture 14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17" name="Picture 16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nd_dream_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500" y="1872000"/>
            <a:ext cx="1188000" cy="118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4" name="Picture 13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6" name="Picture 15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8" name="Picture 17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ond_gandou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500" y="1872000"/>
            <a:ext cx="1188000" cy="1188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6" name="Picture 25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28" name="Picture 27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0" name="Picture 29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rond_sivo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6500" y="1872000"/>
            <a:ext cx="1188000" cy="1188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38" name="Picture 3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0" name="Picture 3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2" name="Picture 4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ond_kaer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33500" y="1872000"/>
            <a:ext cx="1188000" cy="1188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0" name="Picture 49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2" name="Picture 51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4" name="Picture 53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pic>
        <p:nvPicPr>
          <p:cNvPr id="11" name="Picture 10" descr="rond_gand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0" y="4031999"/>
            <a:ext cx="396000" cy="39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3" name="Picture 12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5" name="Picture 14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7" name="Picture 16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pic>
        <p:nvPicPr>
          <p:cNvPr id="22" name="Picture 21" descr="rond_sivo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0000" y="4031999"/>
            <a:ext cx="396000" cy="396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4" name="Picture 2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6" name="Picture 2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28" name="Picture 2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pic>
        <p:nvPicPr>
          <p:cNvPr id="33" name="Picture 32" descr="rond_kaer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4000" y="4031999"/>
            <a:ext cx="396000" cy="39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5" name="Picture 34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37" name="Picture 36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39" name="Picture 38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règles simples pour chaque publication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Avant / après, version 1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01587"/>
            <a:ext cx="1584000" cy="18488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14" name="Picture 13" descr="A1_daybyday-women-apaisa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64000"/>
            <a:ext cx="1800000" cy="225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Femme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8" name="Picture 17" descr="b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0" y="1838475"/>
            <a:ext cx="1584000" cy="19750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30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0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1" name="Picture 20" descr="A3_daybyday-men-gel-douch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000" y="1764000"/>
            <a:ext cx="1800000" cy="225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0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Homme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4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4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25" name="Picture 24" descr="b_d_beb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000" y="1806300"/>
            <a:ext cx="1584000" cy="2039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74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8" name="Picture 27" descr="A4_babymed-beurr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000" y="1764000"/>
            <a:ext cx="1800000" cy="225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64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Bébé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788000"/>
            <a:ext cx="11052000" cy="11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112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4788000"/>
            <a:ext cx="10008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Un grand portrait sur fond sombre, un titre court en italique, le vrai flacon en bas à droite, une couleur par gamme. Pour les publicités et les lancements : la marque monte en gamme. Photos : illustrations à remplacer par vos égéries ou vos clientes, avec leur accord.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Avant / après, version 2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01587"/>
            <a:ext cx="1584000" cy="184882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286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14" name="Picture 13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64000"/>
            <a:ext cx="1800000" cy="225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6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Femme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18" name="Picture 17" descr="b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0" y="1838475"/>
            <a:ext cx="1584000" cy="19750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30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0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1" name="Picture 20" descr="B5_daybyday-men-spor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000" y="1764000"/>
            <a:ext cx="1800000" cy="225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20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Homme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4000" y="1440000"/>
            <a:ext cx="1584000" cy="234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4000" y="1440000"/>
            <a:ext cx="1584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AVANT</a:t>
            </a:r>
          </a:p>
        </p:txBody>
      </p:sp>
      <p:pic>
        <p:nvPicPr>
          <p:cNvPr id="25" name="Picture 24" descr="b_d_beb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000" y="1806300"/>
            <a:ext cx="1584000" cy="20394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774000" y="1440000"/>
            <a:ext cx="1800000" cy="234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000" y="1440000"/>
            <a:ext cx="1800000" cy="23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FFFFFF"/>
                </a:solidFill>
                <a:latin typeface="Poppins"/>
              </a:rPr>
              <a:t>APRÈS</a:t>
            </a:r>
          </a:p>
        </p:txBody>
      </p:sp>
      <p:pic>
        <p:nvPicPr>
          <p:cNvPr id="28" name="Picture 27" descr="B6_babymed-douceu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4000" y="1764000"/>
            <a:ext cx="1800000" cy="2250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64000" y="4086000"/>
            <a:ext cx="351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Bébé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788000"/>
            <a:ext cx="11052000" cy="11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112000"/>
            <a:ext cx="503999" cy="5039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40000" y="4788000"/>
            <a:ext cx="10008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Un aplat de la couleur du parfum, l’ingrédient en très gros et en photo, le flacon au premier plan.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grandes marques européennes : une idée, un produit, beaucoup de vide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VEA_c5ea7c8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NIVEA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16/09/2026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titre, trois bénéfices avec icônes, le produit en grand.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_Roche-Posay_ea140c7c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826999"/>
            <a:ext cx="1602000" cy="160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17/09/2026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visage, le produit au premier plan, le nom de la gamme en très gros.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_Roche-Posay_8b32fa3c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826999"/>
            <a:ext cx="1602000" cy="160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Fond d’une seule couleur, un produit, un bouton d’achat.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ODERMA_b0863e60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0" y="1826999"/>
            <a:ext cx="1602000" cy="160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Bioderma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27/10/2026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La peau et le produit, un titre en haut, rien d’autre.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ucerin_a11b4b01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826999"/>
            <a:ext cx="1602000" cy="160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Eucerin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21/09/2026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geste d’application : on voit à quoi sert le produit.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ogue_France_with_Cl_4e1b81119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2176769"/>
            <a:ext cx="1602000" cy="902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Clarins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13/10/2026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Deux visages, une ambiance, aucun texte sur l’image.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Relevé dans la bibliothèque publicitaire de Meta le 29/10/2026 (publicités actives). Aucune n’a plus d’une phrase sur l’image ; le logo est petit, le produit est grand.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Côte d’Ivoire : Gandour montre la voie, et Dream fait déjà de la publicité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Switz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40 885 réactions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bébé, un flacon, une phrase. Le meilleur score du relevé.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_Gandourci_15555917232679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626749"/>
            <a:ext cx="1602000" cy="200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13 519 réactions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seul sur un aplat de la couleur de son parfum.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b_Gandourci_15521425236128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626749"/>
            <a:ext cx="1602000" cy="200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10 068 réactions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L’ingrédient autour du flacon : on comprend sans lire.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b_kaeracosmetic_14725251082424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61" y="1620000"/>
            <a:ext cx="1134478" cy="2015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Soleil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2 017 réactions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en très gros plan, couleurs franches.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b_SIVOP_14540714368193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626749"/>
            <a:ext cx="1602000" cy="200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parfum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2 620 réactions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nature morte douce, le flacon au centre.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ream_pub_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1626749"/>
            <a:ext cx="1602000" cy="2002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Dream Cosmetics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 active · Nigeria, Kenya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Octobre Rose, depuis le 26/10 : belle image, aucun produit.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quatre meilleures publications du relevé africain font la même chose : un produit ou un bébé, une couleur, une phrase. Réactions Facebook relevées le 28/10/2026.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NOUS EN RETENONS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6 règles tirées des meilleures, appliquées à vos flyers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 par flyer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bénéfice, dit en cinq mots au plus.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ckag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produit en héros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Grand, net, au centre ou au premier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ot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Une peau, un bébé, un ingrédient : jamais un dessin.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rople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La couleur de la gamme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Orange karité, bleu Men, vert d’eau Babymed.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Où vous trouver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Instagram, Facebook et site, en bas, toujours au même endroit.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La sixième règle : moins de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grandes marques n’écrivent jamais plus d’une phrase sur l’image. Le reste va dans la légende de la publication.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 nouveau jet : six flyers dans les codes des grandes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1_daybyday-women-ka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karité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Feel, NIVEA</a:t>
            </a:r>
          </a:p>
        </p:txBody>
      </p:sp>
      <p:pic>
        <p:nvPicPr>
          <p:cNvPr id="13" name="Picture 12" descr="02_babymed-douc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le premier 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Switz, Bioderma</a:t>
            </a:r>
          </a:p>
        </p:txBody>
      </p:sp>
      <p:pic>
        <p:nvPicPr>
          <p:cNvPr id="17" name="Picture 16" descr="03_cocopulp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Cocopulp · gel douche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cacao, SIVOP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gammes, trois couleurs, une même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4_daybyday-men-perfect-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Men · Perfect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La Roche-Posay, NIVEA Men</a:t>
            </a:r>
          </a:p>
        </p:txBody>
      </p:sp>
      <p:pic>
        <p:nvPicPr>
          <p:cNvPr id="13" name="Picture 12" descr="05_daybyday-women-ga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les 4 laits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NIVEA « choisissez le vôtre »</a:t>
            </a:r>
          </a:p>
        </p:txBody>
      </p:sp>
      <p:pic>
        <p:nvPicPr>
          <p:cNvPr id="17" name="Picture 16" descr="06_babymed-coffret-naiss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coffret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Clarins, Avène coffrets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A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A1_daybyday-women-apais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apaisant</a:t>
            </a:r>
          </a:p>
        </p:txBody>
      </p:sp>
      <p:pic>
        <p:nvPicPr>
          <p:cNvPr id="11" name="Picture 10" descr="A2_daybyday-cac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cacao</a:t>
            </a:r>
          </a:p>
        </p:txBody>
      </p:sp>
      <p:pic>
        <p:nvPicPr>
          <p:cNvPr id="13" name="Picture 12" descr="A3_daybyday-men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· gel douche</a:t>
            </a:r>
          </a:p>
        </p:txBody>
      </p:sp>
      <p:pic>
        <p:nvPicPr>
          <p:cNvPr id="15" name="Picture 14" descr="A4_babymed-beur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Babymed · beurre</a:t>
            </a:r>
          </a:p>
        </p:txBody>
      </p:sp>
      <p:pic>
        <p:nvPicPr>
          <p:cNvPr id="17" name="Picture 16" descr="A5_daybyday-women-moring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moringa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Clarins et des campagnes de magazine : un grand portrait, un fond sombre, un titre en italique, le produit en bas à droite. Une couleur de filet par gamme. Pour les publicités et les lancements : l’image fait monter la marque en gamme.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B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B1_daybyday-grenad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grenadine</a:t>
            </a:r>
          </a:p>
        </p:txBody>
      </p:sp>
      <p:pic>
        <p:nvPicPr>
          <p:cNvPr id="11" name="Picture 10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aloe vera</a:t>
            </a:r>
          </a:p>
        </p:txBody>
      </p:sp>
      <p:pic>
        <p:nvPicPr>
          <p:cNvPr id="13" name="Picture 12" descr="B3_daybyday-aman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amande</a:t>
            </a:r>
          </a:p>
        </p:txBody>
      </p:sp>
      <p:pic>
        <p:nvPicPr>
          <p:cNvPr id="15" name="Picture 14" descr="B4_cocopulp-lai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Cocopulp · lait</a:t>
            </a:r>
          </a:p>
        </p:txBody>
      </p:sp>
      <p:pic>
        <p:nvPicPr>
          <p:cNvPr id="17" name="Picture 16" descr="B5_daybyday-men-s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NIVEA « choisissez le vôtre » et de Kaera : un aplat de la couleur du parfum, le nom de l’ingrédient en très gros, l’ingrédient en photo dans un rond.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Choisir une direction : A ou B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3 premiers flyers retenus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flyers retenus,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