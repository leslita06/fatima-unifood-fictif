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Relationship Id="rId5" Type="http://schemas.openxmlformats.org/officeDocument/2006/relationships/image" Target="../media/image45.jpg"/><Relationship Id="rId6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Relationship Id="rId4" Type="http://schemas.openxmlformats.org/officeDocument/2006/relationships/image" Target="../media/image51.png"/><Relationship Id="rId5" Type="http://schemas.openxmlformats.org/officeDocument/2006/relationships/image" Target="../media/image46.jp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1.png"/><Relationship Id="rId5" Type="http://schemas.openxmlformats.org/officeDocument/2006/relationships/image" Target="../media/image47.jpg"/><Relationship Id="rId6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Relationship Id="rId4" Type="http://schemas.openxmlformats.org/officeDocument/2006/relationships/image" Target="../media/image51.png"/><Relationship Id="rId5" Type="http://schemas.openxmlformats.org/officeDocument/2006/relationships/image" Target="../media/image48.jpg"/><Relationship Id="rId6" Type="http://schemas.openxmlformats.org/officeDocument/2006/relationships/image" Target="../media/image5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Relationship Id="rId4" Type="http://schemas.openxmlformats.org/officeDocument/2006/relationships/image" Target="../media/image51.png"/><Relationship Id="rId5" Type="http://schemas.openxmlformats.org/officeDocument/2006/relationships/image" Target="../media/image49.jpg"/><Relationship Id="rId6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jpg"/><Relationship Id="rId4" Type="http://schemas.openxmlformats.org/officeDocument/2006/relationships/image" Target="../media/image51.png"/><Relationship Id="rId5" Type="http://schemas.openxmlformats.org/officeDocument/2006/relationships/image" Target="../media/image1.jp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8.jpg"/><Relationship Id="rId4" Type="http://schemas.openxmlformats.org/officeDocument/2006/relationships/image" Target="../media/image43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jpg"/><Relationship Id="rId6" Type="http://schemas.openxmlformats.org/officeDocument/2006/relationships/image" Target="../media/image65.jpg"/><Relationship Id="rId7" Type="http://schemas.openxmlformats.org/officeDocument/2006/relationships/image" Target="../media/image66.jpg"/><Relationship Id="rId8" Type="http://schemas.openxmlformats.org/officeDocument/2006/relationships/image" Target="../media/image67.jpg"/><Relationship Id="rId9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77.jpg"/><Relationship Id="rId4" Type="http://schemas.openxmlformats.org/officeDocument/2006/relationships/image" Target="../media/image78.jpg"/><Relationship Id="rId5" Type="http://schemas.openxmlformats.org/officeDocument/2006/relationships/image" Target="../media/image7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0.jpg"/><Relationship Id="rId4" Type="http://schemas.openxmlformats.org/officeDocument/2006/relationships/image" Target="../media/image81.jpg"/><Relationship Id="rId5" Type="http://schemas.openxmlformats.org/officeDocument/2006/relationships/image" Target="../media/image8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61.png"/><Relationship Id="rId6" Type="http://schemas.openxmlformats.org/officeDocument/2006/relationships/image" Target="../media/image85.png"/><Relationship Id="rId7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6.jpg"/><Relationship Id="rId4" Type="http://schemas.openxmlformats.org/officeDocument/2006/relationships/image" Target="../media/image13.png"/><Relationship Id="rId5" Type="http://schemas.openxmlformats.org/officeDocument/2006/relationships/image" Target="../media/image60.png"/><Relationship Id="rId6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Instagram : J’aime médians ÷ abonnés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0,38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781579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497368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213157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0,03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gamme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Babymed (8)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16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167200"/>
            <a:ext cx="401429" cy="3696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216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688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Day by Day (4)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2839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2839200"/>
            <a:ext cx="208148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2688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360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Cocopulp (2)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3360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1 724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032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Sans gamme nommée (7)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4183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4183200"/>
            <a:ext cx="9664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4032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4704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Dr Wang (1)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999" y="4855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999" y="4855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08000" y="4704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537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Always Young (1)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31999" y="552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31999" y="5527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8000" y="537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w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87100"/>
            <a:ext cx="3456000" cy="40338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alway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texte en français, d’abord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visage et le produit, côte à côte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laquelle on répond en 1 mot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soir, on se démaquille, on applique, on souffle. 2 minutes pour soi. 🤍
La crème Always Young s’applique en fin de journée, sur peau propre.
 Vous, c’est le matin ou le soir ? Dites-le 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hom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3 étapes écrites dans le post, pas cachées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montré, avec son nom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fait compter : réponse facile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Messieurs, après la douche : 1. on sèche bien, 2. on hydrate, 3. on parfume. 💧
Le gel douche Day by Day Men fait la première étape pour vous.
 Vous en faites combien sur les 3 ? 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donne la réponse, pas une devinette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conseil utile, qu’on a envie de partager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en appui, pas en vedette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Vos boutons reviennent ? Regardez votre taie d’oreiller. 😴
Elle touche votre visage 8 heures par nuit. Changez-la chaque semaine, et nettoyez votre peau matin et soir.
 Vous la changez tous les combien ? 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parfu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L’humour d’origine gardé, en plus court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homme et le flacon, bien visibles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Elle dit qu’elle « emprunte ». On sait tous que c’est faux. 💙
L’eau de Cologne Day by Day Men, fraîche toute la journée.
 Identifiez celle qui vous pique votre parfum 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carot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vrai choix au lieu d’une phrase vague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femme qui applique, pas un pot seul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Deux camps : tout le monde peut répondre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Team pommade ou team lait ? 🥕
La gamme Carowhite à l’huile de carotte existe dans les deux.
 Votre camp en commentaire 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eb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parle de la gamme qui marche le mieux chez vous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mère et son bébé, une scène vraie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mamans répondent entre elles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bain, un massage, la pommade. Bébé dort. 🤍
La Pommade Nourrissante Babymed, au beurre de karité.
 Mamans, votre astuce pour le coucher ? 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alw_2.jpg"/>
          <p:cNvPicPr>
            <a:picLocks noChangeAspect="1"/>
          </p:cNvPicPr>
          <p:nvPr/>
        </p:nvPicPr>
        <p:blipFill>
          <a:blip r:embed="rId3"/>
          <a:srcRect l="6530" r="6530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orld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by-carriag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pin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ideo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FONT LES MEILLEURES · EUROPE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grandes marques européennes : une idée, un produit, beaucoup de vide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VEA_c5ea7c8e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826999"/>
            <a:ext cx="1602000" cy="160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NIVEA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16/09/2026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titre, trois bénéfices avec icônes, le produit en grand.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8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a_Roche-Posay_ea140c7c7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1826999"/>
            <a:ext cx="1602000" cy="160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6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La Roche-Posay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17/09/2026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6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visage, le produit au premier plan, le nom de la gamme en très gros.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_Roche-Posay_8b32fa3c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1826999"/>
            <a:ext cx="1602000" cy="160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28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La Roche-Posay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8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11/08/2026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8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Fond d’une seule couleur, un produit, un bouton d’achat.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BIODERMA_b0863e60d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000" y="1826999"/>
            <a:ext cx="1602000" cy="160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0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Bioderma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27/10/2026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La peau et le produit, un titre en haut, rien d’autre.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4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ucerin_a11b4b01a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6000" y="1826999"/>
            <a:ext cx="1602000" cy="160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2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Eucerin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2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21/09/2026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2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geste d’application : on voit à quoi sert le produit.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eraVe_Skincare_f48a478a5b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000" y="2327624"/>
            <a:ext cx="1602000" cy="6007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4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CeraVe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Meta · 16/10/2026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Une vraie scène de famille, sans texte sur l’image.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ulb_d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Relevé dans la bibliothèque publicitaire de Meta le 29/10/2026 (publicités actives). Aucune n’a plus d’une phrase sur l’image ; le logo est petit, le produit est grand.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FONT LES MEILLEURES · AFRIQUE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Côte d’Ivoire : Gandour montre la voie, et Dream fait déjà de la publicité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1826999"/>
            <a:ext cx="1602000" cy="160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Bébé Switz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Facebook · 40 885 réactions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bébé, un flacon, une phrase. Le meilleur score du relevé.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8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b_Gandourci_15555917232679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1626749"/>
            <a:ext cx="1602000" cy="2002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6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Feel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Facebook · 13 519 réactions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6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produit seul sur un aplat de la couleur de son parfum.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b_Gandourci_15521425236128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1626749"/>
            <a:ext cx="1602000" cy="2002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28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Feel cacao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8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Facebook · 10 068 réactions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8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L’ingrédient autour du flacon : on comprend sans lire.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b_kaeracosmetic_147252510824246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7761" y="1620000"/>
            <a:ext cx="1134478" cy="201599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0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Soleil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Facebook · 2 017 réactions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produit en très gros plan, couleurs franches.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4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b_SIVOP_14540714368193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6000" y="1626749"/>
            <a:ext cx="1602000" cy="2002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2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parfum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2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Facebook · 2 620 réactions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2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Une nature morte douce, le flacon au centre.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6000" y="1548000"/>
            <a:ext cx="1745999" cy="374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ream_pub_ng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000" y="1626749"/>
            <a:ext cx="1602000" cy="2002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44000" y="3708000"/>
            <a:ext cx="1548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Dream Cosmetics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4000" y="3941999"/>
            <a:ext cx="154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Publicité active · Nigeria, Kenya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4000" y="4176000"/>
            <a:ext cx="1548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Octobre Rose, en ligne depuis le 26/10 : une bonne image, mais aucun produit.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rending-up_d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quatre meilleures publications du relevé africain font la même chose : un produit ou un bébé, une couleur, une phrase. Réactions relevées le 28/10/2026.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NOUS EN RETENONS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6 règles tirées des meilleures, appliquées à vos flyers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 par flyer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bénéfice, dit en cinq mots au plus.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ckag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produit en héros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Grand, net, au centre ou au premier plan.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hot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Une peau, un bébé, un ingrédient : jamais un dessin.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roplet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La couleur de la gamme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Orange karité, bleu Men, vert d’eau Babymed.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Où vous trouver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Instagram, Facebook et site, en bas, toujours au même endroit.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La sixième règle : moins de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grandes marques n’écrivent jamais plus d’une phrase sur l’image. Le reste va dans la légende de la publication.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NOUVELLE LIGNE DE FLYERS · 1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 nouveau jet : six flyers dans les codes des grandes marques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24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01_daybyday-women-kar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40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Women · karité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Feel, NIVEA</a:t>
            </a:r>
          </a:p>
        </p:txBody>
      </p:sp>
      <p:pic>
        <p:nvPicPr>
          <p:cNvPr id="13" name="Picture 12" descr="02_babymed-douc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440000"/>
            <a:ext cx="3528000" cy="441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20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Babymed · le premier bain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Bébé Switz, CeraVe</a:t>
            </a:r>
          </a:p>
        </p:txBody>
      </p:sp>
      <p:pic>
        <p:nvPicPr>
          <p:cNvPr id="17" name="Picture 16" descr="03_cocopulp-gel-douch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440000"/>
            <a:ext cx="3528000" cy="4410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64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4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Cocopulp · gel douche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4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Gandour cacao, SIVOP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NOUVELLE LIGNE DE FLYERS · 2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Trois gammes, trois couleurs, une même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25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04_daybyday-men-perfect-d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40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Men · Perfect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La Roche-Posay, NIVEA Men</a:t>
            </a:r>
          </a:p>
        </p:txBody>
      </p:sp>
      <p:pic>
        <p:nvPicPr>
          <p:cNvPr id="13" name="Picture 12" descr="05_daybyday-women-ga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440000"/>
            <a:ext cx="3528000" cy="441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20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Day by Day Women · les 4 laits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NIVEA « choisissez le vôtre »</a:t>
            </a:r>
          </a:p>
        </p:txBody>
      </p:sp>
      <p:pic>
        <p:nvPicPr>
          <p:cNvPr id="17" name="Picture 16" descr="06_babymed-coffret-naissanc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440000"/>
            <a:ext cx="3528000" cy="4410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64000" y="5903999"/>
            <a:ext cx="3528000" cy="288000"/>
          </a:xfrm>
          <a:prstGeom prst="round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4000" y="5903999"/>
            <a:ext cx="3528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AE172A"/>
                </a:solidFill>
                <a:latin typeface="Poppins"/>
              </a:rPr>
              <a:t>Babymed · coffret naissance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4000" y="6192000"/>
            <a:ext cx="3528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5A5A5A"/>
                </a:solidFill>
                <a:latin typeface="Poppins"/>
              </a:rPr>
              <a:t>Sur le modèle : Clarins, Avène coffrets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26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27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baby_9.jpg"/>
          <p:cNvPicPr>
            <a:picLocks noChangeAspect="1"/>
          </p:cNvPicPr>
          <p:nvPr/>
        </p:nvPicPr>
        <p:blipFill>
          <a:blip r:embed="rId3"/>
          <a:srcRect l="6362" r="6362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