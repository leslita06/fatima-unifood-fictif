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3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4.png"/><Relationship Id="rId1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4.jpg"/><Relationship Id="rId4" Type="http://schemas.openxmlformats.org/officeDocument/2006/relationships/image" Target="../media/image3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jpg"/><Relationship Id="rId9" Type="http://schemas.openxmlformats.org/officeDocument/2006/relationships/image" Target="../media/image4.png"/><Relationship Id="rId10" Type="http://schemas.openxmlformats.org/officeDocument/2006/relationships/image" Target="../media/image28.jpg"/><Relationship Id="rId11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31.jpg"/><Relationship Id="rId4" Type="http://schemas.openxmlformats.org/officeDocument/2006/relationships/image" Target="../media/image20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jpg"/><Relationship Id="rId8" Type="http://schemas.openxmlformats.org/officeDocument/2006/relationships/image" Target="../media/image35.jpg"/><Relationship Id="rId9" Type="http://schemas.openxmlformats.org/officeDocument/2006/relationships/image" Target="../media/image36.jpg"/><Relationship Id="rId10" Type="http://schemas.openxmlformats.org/officeDocument/2006/relationships/image" Target="../media/image3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38.jpg"/><Relationship Id="rId4" Type="http://schemas.openxmlformats.org/officeDocument/2006/relationships/image" Target="../media/image20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9.jpg"/><Relationship Id="rId8" Type="http://schemas.openxmlformats.org/officeDocument/2006/relationships/image" Target="../media/image40.jpg"/><Relationship Id="rId9" Type="http://schemas.openxmlformats.org/officeDocument/2006/relationships/image" Target="../media/image41.jpg"/><Relationship Id="rId10" Type="http://schemas.openxmlformats.org/officeDocument/2006/relationships/image" Target="../media/image4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45.jpg"/><Relationship Id="rId4" Type="http://schemas.openxmlformats.org/officeDocument/2006/relationships/image" Target="../media/image46.jpg"/><Relationship Id="rId5" Type="http://schemas.openxmlformats.org/officeDocument/2006/relationships/image" Target="../media/image47.jpg"/><Relationship Id="rId6" Type="http://schemas.openxmlformats.org/officeDocument/2006/relationships/image" Target="../media/image48.jpg"/><Relationship Id="rId7" Type="http://schemas.openxmlformats.org/officeDocument/2006/relationships/image" Target="../media/image49.jpg"/><Relationship Id="rId8" Type="http://schemas.openxmlformats.org/officeDocument/2006/relationships/image" Target="../media/image50.jpg"/><Relationship Id="rId9" Type="http://schemas.openxmlformats.org/officeDocument/2006/relationships/image" Target="../media/image3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45.jpg"/><Relationship Id="rId4" Type="http://schemas.openxmlformats.org/officeDocument/2006/relationships/image" Target="../media/image51.jpg"/><Relationship Id="rId5" Type="http://schemas.openxmlformats.org/officeDocument/2006/relationships/image" Target="../media/image47.jpg"/><Relationship Id="rId6" Type="http://schemas.openxmlformats.org/officeDocument/2006/relationships/image" Target="../media/image52.jpg"/><Relationship Id="rId7" Type="http://schemas.openxmlformats.org/officeDocument/2006/relationships/image" Target="../media/image49.jpg"/><Relationship Id="rId8" Type="http://schemas.openxmlformats.org/officeDocument/2006/relationships/image" Target="../media/image53.jpg"/><Relationship Id="rId9" Type="http://schemas.openxmlformats.org/officeDocument/2006/relationships/image" Target="../media/image3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4.jpg"/><Relationship Id="rId4" Type="http://schemas.openxmlformats.org/officeDocument/2006/relationships/image" Target="../media/image43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8.jpg"/><Relationship Id="rId4" Type="http://schemas.openxmlformats.org/officeDocument/2006/relationships/image" Target="../media/image59.jpg"/><Relationship Id="rId5" Type="http://schemas.openxmlformats.org/officeDocument/2006/relationships/image" Target="../media/image60.jpg"/><Relationship Id="rId6" Type="http://schemas.openxmlformats.org/officeDocument/2006/relationships/image" Target="../media/image61.jpg"/><Relationship Id="rId7" Type="http://schemas.openxmlformats.org/officeDocument/2006/relationships/image" Target="../media/image62.jpg"/><Relationship Id="rId8" Type="http://schemas.openxmlformats.org/officeDocument/2006/relationships/image" Target="../media/image63.jpg"/><Relationship Id="rId9" Type="http://schemas.openxmlformats.org/officeDocument/2006/relationships/image" Target="../media/image3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4.jpg"/><Relationship Id="rId4" Type="http://schemas.openxmlformats.org/officeDocument/2006/relationships/image" Target="../media/image64.jpg"/><Relationship Id="rId5" Type="http://schemas.openxmlformats.org/officeDocument/2006/relationships/image" Target="../media/image65.jpg"/><Relationship Id="rId6" Type="http://schemas.openxmlformats.org/officeDocument/2006/relationships/image" Target="../media/image66.jpg"/><Relationship Id="rId7" Type="http://schemas.openxmlformats.org/officeDocument/2006/relationships/image" Target="../media/image67.jpg"/><Relationship Id="rId8" Type="http://schemas.openxmlformats.org/officeDocument/2006/relationships/image" Target="../media/image68.jpg"/><Relationship Id="rId9" Type="http://schemas.openxmlformats.org/officeDocument/2006/relationships/image" Target="../media/image6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5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73.jpg"/><Relationship Id="rId4" Type="http://schemas.openxmlformats.org/officeDocument/2006/relationships/image" Target="../media/image74.jpg"/><Relationship Id="rId5" Type="http://schemas.openxmlformats.org/officeDocument/2006/relationships/image" Target="../media/image7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76.jpg"/><Relationship Id="rId4" Type="http://schemas.openxmlformats.org/officeDocument/2006/relationships/image" Target="../media/image77.jpg"/><Relationship Id="rId5" Type="http://schemas.openxmlformats.org/officeDocument/2006/relationships/image" Target="../media/image78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79.jpg"/><Relationship Id="rId4" Type="http://schemas.openxmlformats.org/officeDocument/2006/relationships/image" Target="../media/image80.jpg"/><Relationship Id="rId5" Type="http://schemas.openxmlformats.org/officeDocument/2006/relationships/image" Target="../media/image81.jpg"/><Relationship Id="rId6" Type="http://schemas.openxmlformats.org/officeDocument/2006/relationships/image" Target="../media/image82.jpg"/><Relationship Id="rId7" Type="http://schemas.openxmlformats.org/officeDocument/2006/relationships/image" Target="../media/image83.jpg"/><Relationship Id="rId8" Type="http://schemas.openxmlformats.org/officeDocument/2006/relationships/image" Target="../media/image3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84.jpg"/><Relationship Id="rId4" Type="http://schemas.openxmlformats.org/officeDocument/2006/relationships/image" Target="../media/image85.jpg"/><Relationship Id="rId5" Type="http://schemas.openxmlformats.org/officeDocument/2006/relationships/image" Target="../media/image86.jpg"/><Relationship Id="rId6" Type="http://schemas.openxmlformats.org/officeDocument/2006/relationships/image" Target="../media/image87.jpg"/><Relationship Id="rId7" Type="http://schemas.openxmlformats.org/officeDocument/2006/relationships/image" Target="../media/image88.jpg"/><Relationship Id="rId8" Type="http://schemas.openxmlformats.org/officeDocument/2006/relationships/image" Target="../media/image3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89.png"/><Relationship Id="rId4" Type="http://schemas.openxmlformats.org/officeDocument/2006/relationships/image" Target="../media/image90.png"/><Relationship Id="rId5" Type="http://schemas.openxmlformats.org/officeDocument/2006/relationships/image" Target="../media/image57.png"/><Relationship Id="rId6" Type="http://schemas.openxmlformats.org/officeDocument/2006/relationships/image" Target="../media/image91.png"/><Relationship Id="rId7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92.jpg"/><Relationship Id="rId4" Type="http://schemas.openxmlformats.org/officeDocument/2006/relationships/image" Target="../media/image13.png"/><Relationship Id="rId5" Type="http://schemas.openxmlformats.org/officeDocument/2006/relationships/image" Target="../media/image56.png"/><Relationship Id="rId6" Type="http://schemas.openxmlformats.org/officeDocument/2006/relationships/image" Target="../media/image9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2A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72000" y="0"/>
            <a:ext cx="4920119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_d_beb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8000" y="893925"/>
            <a:ext cx="4056119" cy="5070148"/>
          </a:xfrm>
          <a:prstGeom prst="rect">
            <a:avLst/>
          </a:prstGeom>
        </p:spPr>
      </p:pic>
      <p:pic>
        <p:nvPicPr>
          <p:cNvPr id="5" name="Picture 4" descr="logo_blan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00" y="552069"/>
            <a:ext cx="2700000" cy="8398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8000" y="2015999"/>
            <a:ext cx="61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8087"/>
                </a:solidFill>
                <a:latin typeface="Poppins"/>
              </a:rPr>
              <a:t>AUDIT RÉSEAUX SOCIAUX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2376000"/>
            <a:ext cx="6336000" cy="18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>
                <a:solidFill>
                  <a:srgbClr val="FFFFFF"/>
                </a:solidFill>
                <a:latin typeface="Poppins"/>
              </a:rPr>
              <a:t>Dream Cosmetics face à Gandour, SIVOP et Kaera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4140000"/>
            <a:ext cx="612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DDDDDD"/>
                </a:solidFill>
                <a:latin typeface="Poppins"/>
              </a:rPr>
              <a:t>Ce qui marche, ce qui manque, et 6 publications refaites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4950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AAAAAA"/>
                </a:solidFill>
                <a:latin typeface="Poppins"/>
              </a:rPr>
              <a:t>FACE À</a:t>
            </a:r>
          </a:p>
        </p:txBody>
      </p:sp>
      <p:pic>
        <p:nvPicPr>
          <p:cNvPr id="10" name="Picture 9" descr="rond_gandou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2000" y="4752000"/>
            <a:ext cx="720000" cy="720000"/>
          </a:xfrm>
          <a:prstGeom prst="rect">
            <a:avLst/>
          </a:prstGeom>
        </p:spPr>
      </p:pic>
      <p:pic>
        <p:nvPicPr>
          <p:cNvPr id="11" name="Picture 10" descr="rond_siv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6000" y="4752000"/>
            <a:ext cx="720000" cy="720000"/>
          </a:xfrm>
          <a:prstGeom prst="rect">
            <a:avLst/>
          </a:prstGeom>
        </p:spPr>
      </p:pic>
      <p:pic>
        <p:nvPicPr>
          <p:cNvPr id="12" name="Picture 11" descr="rond_kaer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0000" y="4752000"/>
            <a:ext cx="720000" cy="720000"/>
          </a:xfrm>
          <a:prstGeom prst="rect">
            <a:avLst/>
          </a:prstGeom>
        </p:spPr>
      </p:pic>
      <p:pic>
        <p:nvPicPr>
          <p:cNvPr id="13" name="Picture 12" descr="brand-facebook_b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000" y="5616000"/>
            <a:ext cx="324000" cy="324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44000" y="5634000"/>
            <a:ext cx="1224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Poppins"/>
              </a:rPr>
              <a:t>Facebook</a:t>
            </a:r>
          </a:p>
        </p:txBody>
      </p:sp>
      <p:pic>
        <p:nvPicPr>
          <p:cNvPr id="15" name="Picture 14" descr="brand-instagram_b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32000" y="5616000"/>
            <a:ext cx="324000" cy="32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28000" y="5634000"/>
            <a:ext cx="1224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Poppins"/>
              </a:rPr>
              <a:t>Instagram</a:t>
            </a:r>
          </a:p>
        </p:txBody>
      </p:sp>
      <p:pic>
        <p:nvPicPr>
          <p:cNvPr id="17" name="Picture 16" descr="brand-linkedin_b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6000" y="5616000"/>
            <a:ext cx="324000" cy="324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212000" y="5634000"/>
            <a:ext cx="1224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Poppins"/>
              </a:rPr>
              <a:t>LinkedIn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000" y="6228000"/>
            <a:ext cx="648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AAAAAA"/>
                </a:solidFill>
                <a:latin typeface="Poppins"/>
              </a:rPr>
              <a:t>Relevé des pages publiques le 28 octobre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L'ESSENTIEL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Une très grande audience, des publications inégales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655999"/>
            <a:ext cx="5364000" cy="2015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4000" y="1979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users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400" y="2138399"/>
            <a:ext cx="403200" cy="40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36000" y="1907998"/>
            <a:ext cx="3924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1111"/>
                </a:solidFill>
                <a:latin typeface="Poppins"/>
              </a:rPr>
              <a:t>211 469 abonnés Facebook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36000" y="2645999"/>
            <a:ext cx="3924000" cy="97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5A5A"/>
                </a:solidFill>
                <a:latin typeface="Poppins"/>
              </a:rPr>
              <a:t>La 4e page du groupe, mais une marque connue : Gandour en a 993 513, SIVOP 662 562.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2000" y="1655999"/>
            <a:ext cx="5364000" cy="2015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80000" y="1979999"/>
            <a:ext cx="720000" cy="720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hear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400" y="2138399"/>
            <a:ext cx="403200" cy="403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452000" y="1907998"/>
            <a:ext cx="3924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1111"/>
                </a:solidFill>
                <a:latin typeface="Poppins"/>
              </a:rPr>
              <a:t>138 réactions par publication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000" y="2645999"/>
            <a:ext cx="3924000" cy="97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5A5A"/>
                </a:solidFill>
                <a:latin typeface="Poppins"/>
              </a:rPr>
              <a:t>Médiane sur Facebook. De 11 à 75 577 : quelques publications font tout le score.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00" y="3923999"/>
            <a:ext cx="5364000" cy="2015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4000" y="4247999"/>
            <a:ext cx="720000" cy="720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brand-instagram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400" y="4406399"/>
            <a:ext cx="403200" cy="403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36000" y="4175998"/>
            <a:ext cx="3924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1111"/>
                </a:solidFill>
                <a:latin typeface="Poppins"/>
              </a:rPr>
              <a:t>Le meilleur Instagram du groupe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36000" y="4913999"/>
            <a:ext cx="3924000" cy="97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5A5A"/>
                </a:solidFill>
                <a:latin typeface="Poppins"/>
              </a:rPr>
              <a:t>0,38 % de réactions par abonné, contre 0,11 % chez SIVOP et 0,03 % chez Gandour.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2000" y="3923999"/>
            <a:ext cx="5364000" cy="2015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80000" y="4247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message-circle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400" y="4406399"/>
            <a:ext cx="403200" cy="403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452000" y="4175998"/>
            <a:ext cx="3924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1111"/>
                </a:solidFill>
                <a:latin typeface="Poppins"/>
              </a:rPr>
              <a:t>Des questions sans réponses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000" y="4913999"/>
            <a:ext cx="3924000" cy="97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5A5A"/>
                </a:solidFill>
                <a:latin typeface="Poppins"/>
              </a:rPr>
              <a:t>15 publications sur 25 posent une question, mais 15 sur 24 n’ont aucun commentaire sur Instagram.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MÉTHODE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Ce que nous avons regardé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3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655999"/>
            <a:ext cx="2628000" cy="4248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7999" y="1943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ye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399" y="2102399"/>
            <a:ext cx="403200" cy="40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7999" y="2843999"/>
            <a:ext cx="2160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Pages publiques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999" y="3635999"/>
            <a:ext cx="2160000" cy="21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Poppins"/>
              </a:rPr>
              <a:t>Facebook, Instagram et LinkedIn de Dream Cosmetics, Gandour, SIVOP et Kaera, relevés le 28/10/2026.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4000" y="1655999"/>
            <a:ext cx="2628000" cy="4248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35999" y="1943999"/>
            <a:ext cx="720000" cy="720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ist-check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399" y="2102399"/>
            <a:ext cx="403200" cy="403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35999" y="2843999"/>
            <a:ext cx="2160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25 publications par marque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5999" y="3635999"/>
            <a:ext cx="2160000" cy="21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Poppins"/>
              </a:rPr>
              <a:t>Les 25 dernières sur chaque réseau : du 2/09 au 27/10 pour Dream Cosmetics.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2000" y="1655999"/>
            <a:ext cx="2628000" cy="4248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3999" y="1943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target-arrow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2399" y="2102399"/>
            <a:ext cx="403200" cy="403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43999" y="2843999"/>
            <a:ext cx="2160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Médianes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3999" y="3635999"/>
            <a:ext cx="2160000" cy="21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Poppins"/>
              </a:rPr>
              <a:t>La valeur du milieu, pour qu’une publication sponsorisée ne fausse pas la moyenne.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0000" y="1655999"/>
            <a:ext cx="2628000" cy="4248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251999" y="1943999"/>
            <a:ext cx="720000" cy="720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alert-triangle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0399" y="2102399"/>
            <a:ext cx="403200" cy="403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51999" y="2843999"/>
            <a:ext cx="2160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Hors de vue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1999" y="3635999"/>
            <a:ext cx="2160000" cy="21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Poppins"/>
              </a:rPr>
              <a:t>Portée, clics, messages reçus, budgets publicitaires et ventes : il faut l’accès aux comptes.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QUI NOUS AVONS COMPARÉ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Quatre fabricants ivoiriens, quatre façons de communiquer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4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2601000" cy="4752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6000" y="1584000"/>
            <a:ext cx="2601000" cy="10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ond_dream_f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500" y="1872000"/>
            <a:ext cx="1188000" cy="1188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0000" y="3168000"/>
            <a:ext cx="2313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11111"/>
                </a:solidFill>
                <a:latin typeface="Poppins"/>
              </a:rPr>
              <a:t>Dream Cosmetics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3528000"/>
            <a:ext cx="2313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AE172A"/>
                </a:solidFill>
                <a:latin typeface="Poppins"/>
              </a:rPr>
              <a:t>NOTRE CLIENT</a:t>
            </a:r>
          </a:p>
        </p:txBody>
      </p:sp>
      <p:pic>
        <p:nvPicPr>
          <p:cNvPr id="14" name="Picture 13" descr="brand-facebook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000" y="3996000"/>
            <a:ext cx="251999" cy="25199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6000" y="3960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211 469 abonnés</a:t>
            </a:r>
          </a:p>
        </p:txBody>
      </p:sp>
      <p:pic>
        <p:nvPicPr>
          <p:cNvPr id="16" name="Picture 15" descr="speakerphon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000" y="4428000"/>
            <a:ext cx="251999" cy="25199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16000" y="4392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3,2 publ. / semaine</a:t>
            </a:r>
          </a:p>
        </p:txBody>
      </p:sp>
      <p:pic>
        <p:nvPicPr>
          <p:cNvPr id="18" name="Picture 17" descr="heart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000" y="4860000"/>
            <a:ext cx="251999" cy="25199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16000" y="4824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138 réactions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000" y="5364000"/>
            <a:ext cx="2169000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Des textes travaillés, en deux langues.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93000" y="1584000"/>
            <a:ext cx="2601000" cy="4752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93000" y="1584000"/>
            <a:ext cx="2601000" cy="1080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rond_gandou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9500" y="1872000"/>
            <a:ext cx="1188000" cy="1188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537000" y="3168000"/>
            <a:ext cx="2313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11111"/>
                </a:solidFill>
                <a:latin typeface="Poppins"/>
              </a:rPr>
              <a:t>Gandour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37000" y="3528000"/>
            <a:ext cx="2313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LEADER EN AUDIENCE</a:t>
            </a:r>
          </a:p>
        </p:txBody>
      </p:sp>
      <p:pic>
        <p:nvPicPr>
          <p:cNvPr id="26" name="Picture 25" descr="brand-facebook_noi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9000" y="3996000"/>
            <a:ext cx="251999" cy="25199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933000" y="3960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993 513 abonnés</a:t>
            </a:r>
          </a:p>
        </p:txBody>
      </p:sp>
      <p:pic>
        <p:nvPicPr>
          <p:cNvPr id="28" name="Picture 27" descr="speakerphone_noi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09000" y="4428000"/>
            <a:ext cx="251999" cy="25199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933000" y="4392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1,7 publ. / semaine</a:t>
            </a:r>
          </a:p>
        </p:txBody>
      </p:sp>
      <p:pic>
        <p:nvPicPr>
          <p:cNvPr id="30" name="Picture 29" descr="heart_noi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09000" y="4860000"/>
            <a:ext cx="251999" cy="25199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933000" y="4824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1 022 réactions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09000" y="5364000"/>
            <a:ext cx="2169000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Peu de publications, beaucoup d’effet.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0000" y="1584000"/>
            <a:ext cx="2601000" cy="4752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0000" y="1584000"/>
            <a:ext cx="2601000" cy="108000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rond_sivo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16500" y="1872000"/>
            <a:ext cx="1188000" cy="1188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354000" y="3168000"/>
            <a:ext cx="2313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11111"/>
                </a:solidFill>
                <a:latin typeface="Poppins"/>
              </a:rPr>
              <a:t>SIVOP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4000" y="3528000"/>
            <a:ext cx="2313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LE PLUS ACTIF</a:t>
            </a:r>
          </a:p>
        </p:txBody>
      </p:sp>
      <p:pic>
        <p:nvPicPr>
          <p:cNvPr id="38" name="Picture 37" descr="brand-facebook_noi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6000" y="3996000"/>
            <a:ext cx="251999" cy="25199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750000" y="3960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662 562 abonnés</a:t>
            </a:r>
          </a:p>
        </p:txBody>
      </p:sp>
      <p:pic>
        <p:nvPicPr>
          <p:cNvPr id="40" name="Picture 39" descr="speakerphone_noi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6000" y="4428000"/>
            <a:ext cx="251999" cy="25199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750000" y="4392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5,5 publ. / semaine</a:t>
            </a:r>
          </a:p>
        </p:txBody>
      </p:sp>
      <p:pic>
        <p:nvPicPr>
          <p:cNvPr id="42" name="Picture 41" descr="heart_noi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6000" y="4860000"/>
            <a:ext cx="251999" cy="25199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750000" y="4824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100 réactions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26000" y="5364000"/>
            <a:ext cx="2169000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Des événements et des causes.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27000" y="1584000"/>
            <a:ext cx="2601000" cy="4752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7000" y="1584000"/>
            <a:ext cx="2601000" cy="108000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rond_kaer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33500" y="1872000"/>
            <a:ext cx="1188000" cy="11880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171000" y="3168000"/>
            <a:ext cx="2313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11111"/>
                </a:solidFill>
                <a:latin typeface="Poppins"/>
              </a:rPr>
              <a:t>Kaera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71000" y="3528000"/>
            <a:ext cx="2313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TOUT EN VIDÉO</a:t>
            </a:r>
          </a:p>
        </p:txBody>
      </p:sp>
      <p:pic>
        <p:nvPicPr>
          <p:cNvPr id="50" name="Picture 49" descr="brand-facebook_noi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3000" y="3996000"/>
            <a:ext cx="251999" cy="251999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567000" y="3960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579 371 abonnés</a:t>
            </a:r>
          </a:p>
        </p:txBody>
      </p:sp>
      <p:pic>
        <p:nvPicPr>
          <p:cNvPr id="52" name="Picture 51" descr="speakerphone_noi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43000" y="4428000"/>
            <a:ext cx="251999" cy="251999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567000" y="4392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0,9 publ. / semaine</a:t>
            </a:r>
          </a:p>
        </p:txBody>
      </p:sp>
      <p:pic>
        <p:nvPicPr>
          <p:cNvPr id="54" name="Picture 53" descr="heart_noi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43000" y="4860000"/>
            <a:ext cx="251999" cy="25199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9567000" y="4824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120 réactions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43000" y="5364000"/>
            <a:ext cx="2169000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24 vidéos sur 25.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LES COMPTES DE DREAM COSMETICS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Facebook pour l’audience, Instagram pour l’attention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5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655999"/>
            <a:ext cx="3564000" cy="2376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2000" y="1871999"/>
            <a:ext cx="540000" cy="54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rand-facebook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800" y="1990799"/>
            <a:ext cx="302400" cy="302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2000" y="2519999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11111"/>
                </a:solidFill>
                <a:latin typeface="Poppins"/>
              </a:rPr>
              <a:t>211 469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3095999"/>
            <a:ext cx="3132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abonnés Facebook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" y="3401998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A5A5A"/>
                </a:solidFill>
                <a:latin typeface="Poppins"/>
              </a:rPr>
              <a:t>Page créée en 2012 · publicité active le 28/10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00" y="1655999"/>
            <a:ext cx="3564000" cy="2376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36000" y="1871999"/>
            <a:ext cx="540000" cy="54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rand-instagram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800" y="1990799"/>
            <a:ext cx="302400" cy="302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36000" y="2519999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11111"/>
                </a:solidFill>
                <a:latin typeface="Poppins"/>
              </a:rPr>
              <a:t>16 727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6000" y="3095999"/>
            <a:ext cx="3132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abonnés Instagram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6000" y="3401998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A5A5A"/>
                </a:solidFill>
                <a:latin typeface="Poppins"/>
              </a:rPr>
              <a:t>920 publications · 63 J’aime médians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63999" y="1655999"/>
            <a:ext cx="3564000" cy="2376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79999" y="1871999"/>
            <a:ext cx="540000" cy="54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brand-linkedin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8799" y="1990799"/>
            <a:ext cx="302400" cy="302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279999" y="2519999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11111"/>
                </a:solidFill>
                <a:latin typeface="Poppins"/>
              </a:rPr>
              <a:t>5 205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9999" y="3095999"/>
            <a:ext cx="3132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abonnés LinkedIn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9999" y="3401998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A5A5A"/>
                </a:solidFill>
                <a:latin typeface="Poppins"/>
              </a:rPr>
              <a:t>Aucune publication récente n’a pu être relevée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6000" y="4248000"/>
            <a:ext cx="11052000" cy="1764000"/>
          </a:xfrm>
          <a:prstGeom prst="roundRect">
            <a:avLst>
              <a:gd name="adj" fmla="val 6000"/>
            </a:avLst>
          </a:prstGeom>
          <a:solidFill>
            <a:srgbClr val="FB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64000" y="4536000"/>
            <a:ext cx="612000" cy="612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alert-triangle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640" y="4670640"/>
            <a:ext cx="342720" cy="3427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692000" y="4464000"/>
            <a:ext cx="9720000" cy="151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AE172A"/>
                </a:solidFill>
                <a:latin typeface="Poppins"/>
              </a:rPr>
              <a:t>À regarder tout de suite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1111"/>
                </a:solidFill>
                <a:latin typeface="Poppins"/>
              </a:rPr>
              <a:t>24 textes sur 25 sont écrits en français puis en anglais. En Côte d’Ivoire, la moitié anglaise allonge le texte et repousse la question finale sous « voir plus ». Sur LinkedIn, 5 205 abonnés attendent : recruteurs, distributeurs, acheteurs de la grande distribution.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FACE AUX CONCURRENTS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Sur Instagram, Dream Cosmetics fait mieux que tous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6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1548000"/>
            <a:ext cx="5256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Instagram : J’aime médians ÷ abonnés (%)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2016000"/>
            <a:ext cx="1583999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11111"/>
                </a:solidFill>
                <a:latin typeface="Poppins"/>
              </a:rPr>
              <a:t>Dream Cosmetics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31999" y="2250000"/>
            <a:ext cx="2700001" cy="4680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31999" y="2250000"/>
            <a:ext cx="2700001" cy="468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4000" y="2016000"/>
            <a:ext cx="792000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AE172A"/>
                </a:solidFill>
                <a:latin typeface="Poppins"/>
              </a:rPr>
              <a:t>0,38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2952000"/>
            <a:ext cx="1583999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SIVOP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31999" y="3186000"/>
            <a:ext cx="2700001" cy="4680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31999" y="3186000"/>
            <a:ext cx="781579" cy="4680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4000" y="2952000"/>
            <a:ext cx="792000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0,11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00" y="3888000"/>
            <a:ext cx="1583999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Kaera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31999" y="4122000"/>
            <a:ext cx="2700001" cy="4680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31999" y="4122000"/>
            <a:ext cx="497368" cy="4680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4000" y="3888000"/>
            <a:ext cx="792000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0,07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00" y="4824000"/>
            <a:ext cx="1583999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Gandour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31999" y="5058000"/>
            <a:ext cx="2700001" cy="4680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231999" y="5058000"/>
            <a:ext cx="213157" cy="4680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4000" y="4824000"/>
            <a:ext cx="792000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0,03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048000" y="1584000"/>
          <a:ext cx="5580000" cy="38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900000"/>
                <a:gridCol w="900000"/>
                <a:gridCol w="900000"/>
                <a:gridCol w="900000"/>
              </a:tblGrid>
              <a:tr h="4320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Dream</a:t>
                      </a: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Gandour</a:t>
                      </a: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SIVOP</a:t>
                      </a: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Kaera</a:t>
                      </a: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Abonnés Facebook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211 469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993 513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662 562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579 371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Publications / semaine (FB)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3,2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1,7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5,5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0,9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Réactions médianes (FB)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138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1 022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100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120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Taux de réaction (FB)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0,07 %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0,10 %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0,02 %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0,02 %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Vidéos (sur 25, FB)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7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5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5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24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Abonnés Instagram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16 727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90 122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35 072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23 293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J’aime médians (IG)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63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26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37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16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Publicité active (28/10)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Oui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Non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Oui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Non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76000" y="5868000"/>
            <a:ext cx="11052000" cy="503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Taux de réaction = réactions médianes ÷ abonnés. 25 dernières publications de chaque page, relevées le 28/10/2026.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CE QUI MARCHE AILLEURS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Les concurrents misent sur bébé, les nouveautés et les causes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7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3528000" cy="482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b_Gandourci_1495738615919916.jpg"/>
          <p:cNvPicPr>
            <a:picLocks noChangeAspect="1"/>
          </p:cNvPicPr>
          <p:nvPr/>
        </p:nvPicPr>
        <p:blipFill>
          <a:blip r:embed="rId3"/>
          <a:srcRect t="9130" b="21304"/>
          <a:stretch>
            <a:fillRect/>
          </a:stretch>
        </p:blipFill>
        <p:spPr>
          <a:xfrm>
            <a:off x="684000" y="1692000"/>
            <a:ext cx="3311999" cy="2304000"/>
          </a:xfrm>
          <a:prstGeom prst="rect">
            <a:avLst/>
          </a:prstGeom>
        </p:spPr>
      </p:pic>
      <p:pic>
        <p:nvPicPr>
          <p:cNvPr id="11" name="Picture 10" descr="rond_gandou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00" y="4031999"/>
            <a:ext cx="396000" cy="396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24000" y="4086000"/>
            <a:ext cx="273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Gandour · 17/07</a:t>
            </a:r>
          </a:p>
        </p:txBody>
      </p:sp>
      <p:pic>
        <p:nvPicPr>
          <p:cNvPr id="13" name="Picture 12" descr="heart_no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000" y="4500000"/>
            <a:ext cx="216000" cy="21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43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40 885</a:t>
            </a:r>
          </a:p>
        </p:txBody>
      </p:sp>
      <p:pic>
        <p:nvPicPr>
          <p:cNvPr id="15" name="Picture 14" descr="message-circle_noi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6000" y="4500000"/>
            <a:ext cx="216000" cy="216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087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50</a:t>
            </a:r>
          </a:p>
        </p:txBody>
      </p:sp>
      <p:pic>
        <p:nvPicPr>
          <p:cNvPr id="17" name="Picture 16" descr="share_noi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80000" y="4500000"/>
            <a:ext cx="216000" cy="216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131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52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000" y="4860000"/>
            <a:ext cx="3168000" cy="151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Bébé Switz, « la gamme des futurs champions » : une phrase, un bébé, rien d’autre.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0000" y="1584000"/>
            <a:ext cx="3528000" cy="482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b_SIVOP_1460642816162257.jpg"/>
          <p:cNvPicPr>
            <a:picLocks noChangeAspect="1"/>
          </p:cNvPicPr>
          <p:nvPr/>
        </p:nvPicPr>
        <p:blipFill>
          <a:blip r:embed="rId8"/>
          <a:srcRect t="13198" b="30796"/>
          <a:stretch>
            <a:fillRect/>
          </a:stretch>
        </p:blipFill>
        <p:spPr>
          <a:xfrm>
            <a:off x="4428000" y="1692000"/>
            <a:ext cx="3311999" cy="2304000"/>
          </a:xfrm>
          <a:prstGeom prst="rect">
            <a:avLst/>
          </a:prstGeom>
        </p:spPr>
      </p:pic>
      <p:pic>
        <p:nvPicPr>
          <p:cNvPr id="22" name="Picture 21" descr="rond_sivo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00000" y="4031999"/>
            <a:ext cx="396000" cy="396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968000" y="4086000"/>
            <a:ext cx="273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SIVOP · 22/10</a:t>
            </a:r>
          </a:p>
        </p:txBody>
      </p:sp>
      <p:pic>
        <p:nvPicPr>
          <p:cNvPr id="24" name="Picture 23" descr="heart_no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6000" y="4500000"/>
            <a:ext cx="216000" cy="216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787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6 712</a:t>
            </a:r>
          </a:p>
        </p:txBody>
      </p:sp>
      <p:pic>
        <p:nvPicPr>
          <p:cNvPr id="26" name="Picture 25" descr="message-circle_noi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0000" y="45000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31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9</a:t>
            </a:r>
          </a:p>
        </p:txBody>
      </p:sp>
      <p:pic>
        <p:nvPicPr>
          <p:cNvPr id="28" name="Picture 27" descr="share_noi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4000" y="4500000"/>
            <a:ext cx="216000" cy="216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875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36000" y="4860000"/>
            <a:ext cx="3168000" cy="151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Octobre Rose avec un partenaire : la marque porte une cause, pas un produit.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64000" y="1584000"/>
            <a:ext cx="3528000" cy="482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fb_kaeracosmetic_1407334458094864.jpg"/>
          <p:cNvPicPr>
            <a:picLocks noChangeAspect="1"/>
          </p:cNvPicPr>
          <p:nvPr/>
        </p:nvPicPr>
        <p:blipFill>
          <a:blip r:embed="rId10"/>
          <a:srcRect t="18256" b="42597"/>
          <a:stretch>
            <a:fillRect/>
          </a:stretch>
        </p:blipFill>
        <p:spPr>
          <a:xfrm>
            <a:off x="8172000" y="1692000"/>
            <a:ext cx="3311999" cy="2304000"/>
          </a:xfrm>
          <a:prstGeom prst="rect">
            <a:avLst/>
          </a:prstGeom>
        </p:spPr>
      </p:pic>
      <p:pic>
        <p:nvPicPr>
          <p:cNvPr id="33" name="Picture 32" descr="rond_kaer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44000" y="4031999"/>
            <a:ext cx="396000" cy="396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712000" y="4086000"/>
            <a:ext cx="273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Kaera · 08/05 · vidéo</a:t>
            </a:r>
          </a:p>
        </p:txBody>
      </p:sp>
      <p:pic>
        <p:nvPicPr>
          <p:cNvPr id="35" name="Picture 34" descr="heart_no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0000" y="4500000"/>
            <a:ext cx="216000" cy="216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531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4 614</a:t>
            </a:r>
          </a:p>
        </p:txBody>
      </p:sp>
      <p:pic>
        <p:nvPicPr>
          <p:cNvPr id="37" name="Picture 36" descr="message-circle_noi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4000" y="4500000"/>
            <a:ext cx="216000" cy="216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575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89</a:t>
            </a:r>
          </a:p>
        </p:txBody>
      </p:sp>
      <p:pic>
        <p:nvPicPr>
          <p:cNvPr id="39" name="Picture 38" descr="share_noi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8000" y="4500000"/>
            <a:ext cx="216000" cy="216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619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109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80000" y="4860000"/>
            <a:ext cx="3168000" cy="151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Une routine en vidéo, du gel de bain à la brume : 109 partages.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CE QUE FAIT DREAM COSMETICS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Une voix de marque, mais pas toujours le bon public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8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5364000" cy="4752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000" y="1764000"/>
            <a:ext cx="46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F8087"/>
                </a:solidFill>
                <a:latin typeface="Poppins"/>
              </a:rPr>
              <a:t>Ce qui marche</a:t>
            </a:r>
          </a:p>
        </p:txBody>
      </p:sp>
      <p:pic>
        <p:nvPicPr>
          <p:cNvPr id="11" name="Picture 10" descr="circle-check_dr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" y="2340000"/>
            <a:ext cx="360000" cy="36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68000" y="230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Des textes avec du caractère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« Even Better que votre ex » : un ton drôle, reconnaissable.</a:t>
            </a:r>
          </a:p>
        </p:txBody>
      </p:sp>
      <p:pic>
        <p:nvPicPr>
          <p:cNvPr id="13" name="Picture 12" descr="circle-check_dr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" y="3330000"/>
            <a:ext cx="360000" cy="36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68000" y="329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Des questions dans 15 textes sur 25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L’intention de faire répondre est là.</a:t>
            </a:r>
          </a:p>
        </p:txBody>
      </p:sp>
      <p:pic>
        <p:nvPicPr>
          <p:cNvPr id="15" name="Picture 14" descr="circle-check_dr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" y="4320000"/>
            <a:ext cx="360000" cy="36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68000" y="428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Babymed, la gamme qui porte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8 publications, 216 réactions médianes : la meilleure gamme régulière.</a:t>
            </a:r>
          </a:p>
        </p:txBody>
      </p:sp>
      <p:pic>
        <p:nvPicPr>
          <p:cNvPr id="17" name="Picture 16" descr="circle-check_dr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" y="5310000"/>
            <a:ext cx="360000" cy="360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68000" y="527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Un Instagram très vivant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Le meilleur taux du groupe, et une vidéo vue 205 110 fois.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2000" y="1584000"/>
            <a:ext cx="5364000" cy="4752000"/>
          </a:xfrm>
          <a:prstGeom prst="roundRect">
            <a:avLst>
              <a:gd name="adj" fmla="val 6000"/>
            </a:avLst>
          </a:prstGeom>
          <a:solidFill>
            <a:srgbClr val="FB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0000" y="1764000"/>
            <a:ext cx="46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AE172A"/>
                </a:solidFill>
                <a:latin typeface="Poppins"/>
              </a:rPr>
              <a:t>Ce qui manque</a:t>
            </a:r>
          </a:p>
        </p:txBody>
      </p:sp>
      <p:pic>
        <p:nvPicPr>
          <p:cNvPr id="21" name="Picture 20" descr="circle-x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0" y="2340000"/>
            <a:ext cx="360000" cy="360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984000" y="230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Deux langues dans chaque texte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24 sur 25 : l’anglais pousse la question hors de vue.</a:t>
            </a:r>
          </a:p>
        </p:txBody>
      </p:sp>
      <p:pic>
        <p:nvPicPr>
          <p:cNvPr id="23" name="Picture 22" descr="circle-x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0" y="3330000"/>
            <a:ext cx="360000" cy="360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984000" y="329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Aucun prix, aucun point de vente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0 sur 25 : on ne sait pas où acheter.</a:t>
            </a:r>
          </a:p>
        </p:txBody>
      </p:sp>
      <p:pic>
        <p:nvPicPr>
          <p:cNvPr id="25" name="Picture 24" descr="circle-x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0" y="4320000"/>
            <a:ext cx="360000" cy="360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984000" y="428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Des scores en dents de scie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5 publications au-dessus de 2 400, 4 en dessous de 30.</a:t>
            </a:r>
          </a:p>
        </p:txBody>
      </p:sp>
      <p:pic>
        <p:nvPicPr>
          <p:cNvPr id="27" name="Picture 26" descr="circle-x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0" y="5310000"/>
            <a:ext cx="360000" cy="360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984000" y="527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Des questions qui tombent à plat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15 publications Instagram sur 24 sans aucun commentaire.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MEILLEURES PUBLICATIONS ·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Les meilleures : un usage clair, une émotion simple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9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b_dreamcosmetics.net_1544646141036182.jpg"/>
          <p:cNvPicPr>
            <a:picLocks noChangeAspect="1"/>
          </p:cNvPicPr>
          <p:nvPr/>
        </p:nvPicPr>
        <p:blipFill>
          <a:blip r:embed="rId3"/>
          <a:srcRect t="3000" b="7000"/>
          <a:stretch>
            <a:fillRect/>
          </a:stretch>
        </p:blipFill>
        <p:spPr>
          <a:xfrm>
            <a:off x="666000" y="1674000"/>
            <a:ext cx="2448000" cy="2754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56000" y="1764000"/>
            <a:ext cx="1224000" cy="288000"/>
          </a:xfrm>
          <a:prstGeom prst="round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6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TOP 1</a:t>
            </a:r>
          </a:p>
        </p:txBody>
      </p:sp>
      <p:pic>
        <p:nvPicPr>
          <p:cNvPr id="13" name="Picture 12" descr="heart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00" y="4554000"/>
            <a:ext cx="216000" cy="21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71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75 577</a:t>
            </a:r>
          </a:p>
        </p:txBody>
      </p:sp>
      <p:pic>
        <p:nvPicPr>
          <p:cNvPr id="15" name="Picture 14" descr="message-circl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4000" y="4554000"/>
            <a:ext cx="216000" cy="216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3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94</a:t>
            </a:r>
          </a:p>
        </p:txBody>
      </p:sp>
      <p:pic>
        <p:nvPicPr>
          <p:cNvPr id="17" name="Picture 16" descr="share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8000" y="4554000"/>
            <a:ext cx="216000" cy="216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69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38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02/09 · Déodorant Day by Day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4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b_dreamcosmetics.net_1586443180189811.jpg"/>
          <p:cNvPicPr>
            <a:picLocks noChangeAspect="1"/>
          </p:cNvPicPr>
          <p:nvPr/>
        </p:nvPicPr>
        <p:blipFill>
          <a:blip r:embed="rId7"/>
          <a:srcRect t="3000" b="7000"/>
          <a:stretch>
            <a:fillRect/>
          </a:stretch>
        </p:blipFill>
        <p:spPr>
          <a:xfrm>
            <a:off x="3474000" y="1674000"/>
            <a:ext cx="2448000" cy="27540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3564000" y="1764000"/>
            <a:ext cx="1224000" cy="288000"/>
          </a:xfrm>
          <a:prstGeom prst="round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4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TOP 2</a:t>
            </a:r>
          </a:p>
        </p:txBody>
      </p:sp>
      <p:pic>
        <p:nvPicPr>
          <p:cNvPr id="24" name="Picture 23" descr="heart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8000" y="4554000"/>
            <a:ext cx="216000" cy="216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77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9 508</a:t>
            </a:r>
          </a:p>
        </p:txBody>
      </p:sp>
      <p:pic>
        <p:nvPicPr>
          <p:cNvPr id="26" name="Picture 25" descr="message-circl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2000" y="45540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643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28</a:t>
            </a:r>
          </a:p>
        </p:txBody>
      </p:sp>
      <p:pic>
        <p:nvPicPr>
          <p:cNvPr id="28" name="Picture 27" descr="share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6000" y="4554000"/>
            <a:ext cx="216000" cy="216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07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8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13/10 · Pommade Babymed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2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fb_dreamcosmetics.net_1570312905136172.jpg"/>
          <p:cNvPicPr>
            <a:picLocks noChangeAspect="1"/>
          </p:cNvPicPr>
          <p:nvPr/>
        </p:nvPicPr>
        <p:blipFill>
          <a:blip r:embed="rId8"/>
          <a:srcRect t="3000" b="7000"/>
          <a:stretch>
            <a:fillRect/>
          </a:stretch>
        </p:blipFill>
        <p:spPr>
          <a:xfrm>
            <a:off x="6282000" y="1674000"/>
            <a:ext cx="2448000" cy="27540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6372000" y="1764000"/>
            <a:ext cx="1224000" cy="288000"/>
          </a:xfrm>
          <a:prstGeom prst="round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2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TOP 3</a:t>
            </a:r>
          </a:p>
        </p:txBody>
      </p:sp>
      <p:pic>
        <p:nvPicPr>
          <p:cNvPr id="35" name="Picture 34" descr="heart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000" y="4554000"/>
            <a:ext cx="216000" cy="216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587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9 435</a:t>
            </a:r>
          </a:p>
        </p:txBody>
      </p:sp>
      <p:pic>
        <p:nvPicPr>
          <p:cNvPr id="37" name="Picture 36" descr="message-circl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000" y="4554000"/>
            <a:ext cx="216000" cy="216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451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73</a:t>
            </a:r>
          </a:p>
        </p:txBody>
      </p:sp>
      <p:pic>
        <p:nvPicPr>
          <p:cNvPr id="39" name="Picture 38" descr="share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000" y="4554000"/>
            <a:ext cx="216000" cy="216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31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36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28/09 · « Quelle team ? »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00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fb_dreamcosmetics.net_1551327190368077.jpg"/>
          <p:cNvPicPr>
            <a:picLocks noChangeAspect="1"/>
          </p:cNvPicPr>
          <p:nvPr/>
        </p:nvPicPr>
        <p:blipFill>
          <a:blip r:embed="rId9"/>
          <a:srcRect t="3000" b="7000"/>
          <a:stretch>
            <a:fillRect/>
          </a:stretch>
        </p:blipFill>
        <p:spPr>
          <a:xfrm>
            <a:off x="9090000" y="1674000"/>
            <a:ext cx="2448000" cy="2754000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9180000" y="1764000"/>
            <a:ext cx="1224000" cy="288000"/>
          </a:xfrm>
          <a:prstGeom prst="round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80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TOP 4</a:t>
            </a:r>
          </a:p>
        </p:txBody>
      </p:sp>
      <p:pic>
        <p:nvPicPr>
          <p:cNvPr id="46" name="Picture 45" descr="heart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4554000"/>
            <a:ext cx="216000" cy="2160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39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3 339</a:t>
            </a:r>
          </a:p>
        </p:txBody>
      </p:sp>
      <p:pic>
        <p:nvPicPr>
          <p:cNvPr id="48" name="Picture 47" descr="message-circl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8000" y="4554000"/>
            <a:ext cx="216000" cy="2160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25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27</a:t>
            </a:r>
          </a:p>
        </p:txBody>
      </p:sp>
      <p:pic>
        <p:nvPicPr>
          <p:cNvPr id="50" name="Picture 49" descr="share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2000" y="4554000"/>
            <a:ext cx="216000" cy="2160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1123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09/09 · Cocopulp « votre ex »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76000" y="5436000"/>
            <a:ext cx="11052000" cy="864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bulb_d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2000" y="5616000"/>
            <a:ext cx="503999" cy="50399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440000" y="5436000"/>
            <a:ext cx="10008000" cy="86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111"/>
                </a:solidFill>
                <a:latin typeface="Poppins"/>
              </a:rPr>
              <a:t>Le score de 75 577 sur le déodorant laisse penser à une diffusion payante (hypothèse). Les trois suivantes ont un point commun : un produit du quotidien et une phrase qui fait sourire ou choisir.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MOINS BONNES PUBLICATIONS ·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Les moins bonnes : on ne voit ni le produit ni la personne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10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b_dreamcosmetics.net_1582934050540724.jpg"/>
          <p:cNvPicPr>
            <a:picLocks noChangeAspect="1"/>
          </p:cNvPicPr>
          <p:nvPr/>
        </p:nvPicPr>
        <p:blipFill>
          <a:blip r:embed="rId3"/>
          <a:srcRect t="3000" b="7000"/>
          <a:stretch>
            <a:fillRect/>
          </a:stretch>
        </p:blipFill>
        <p:spPr>
          <a:xfrm>
            <a:off x="666000" y="1674000"/>
            <a:ext cx="2448000" cy="2754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56000" y="1764000"/>
            <a:ext cx="1224000" cy="288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6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À REVOIR</a:t>
            </a:r>
          </a:p>
        </p:txBody>
      </p:sp>
      <p:pic>
        <p:nvPicPr>
          <p:cNvPr id="13" name="Picture 12" descr="heart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00" y="4554000"/>
            <a:ext cx="216000" cy="21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71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11</a:t>
            </a:r>
          </a:p>
        </p:txBody>
      </p:sp>
      <p:pic>
        <p:nvPicPr>
          <p:cNvPr id="15" name="Picture 14" descr="message-circl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4000" y="4554000"/>
            <a:ext cx="216000" cy="216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3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pic>
        <p:nvPicPr>
          <p:cNvPr id="17" name="Picture 16" descr="share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8000" y="4554000"/>
            <a:ext cx="216000" cy="216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69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10/10 · Routine du matin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4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b_dreamcosmetics.net_1602069965293799.jpg"/>
          <p:cNvPicPr>
            <a:picLocks noChangeAspect="1"/>
          </p:cNvPicPr>
          <p:nvPr/>
        </p:nvPicPr>
        <p:blipFill>
          <a:blip r:embed="rId7"/>
          <a:srcRect t="3000" b="7000"/>
          <a:stretch>
            <a:fillRect/>
          </a:stretch>
        </p:blipFill>
        <p:spPr>
          <a:xfrm>
            <a:off x="3474000" y="1674000"/>
            <a:ext cx="2448000" cy="27540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3564000" y="1764000"/>
            <a:ext cx="1224000" cy="288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4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À REVOIR</a:t>
            </a:r>
          </a:p>
        </p:txBody>
      </p:sp>
      <p:pic>
        <p:nvPicPr>
          <p:cNvPr id="24" name="Picture 23" descr="heart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8000" y="4554000"/>
            <a:ext cx="216000" cy="216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77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13</a:t>
            </a:r>
          </a:p>
        </p:txBody>
      </p:sp>
      <p:pic>
        <p:nvPicPr>
          <p:cNvPr id="26" name="Picture 25" descr="message-circl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2000" y="45540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643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pic>
        <p:nvPicPr>
          <p:cNvPr id="28" name="Picture 27" descr="share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6000" y="4554000"/>
            <a:ext cx="216000" cy="216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07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8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27/10 · Always Young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2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fb_dreamcosmetics.net_1569260318574764.jpg"/>
          <p:cNvPicPr>
            <a:picLocks noChangeAspect="1"/>
          </p:cNvPicPr>
          <p:nvPr/>
        </p:nvPicPr>
        <p:blipFill>
          <a:blip r:embed="rId8"/>
          <a:srcRect t="3000" b="7000"/>
          <a:stretch>
            <a:fillRect/>
          </a:stretch>
        </p:blipFill>
        <p:spPr>
          <a:xfrm>
            <a:off x="6282000" y="1674000"/>
            <a:ext cx="2448000" cy="27540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6372000" y="1764000"/>
            <a:ext cx="1224000" cy="288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2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À REVOIR</a:t>
            </a:r>
          </a:p>
        </p:txBody>
      </p:sp>
      <p:pic>
        <p:nvPicPr>
          <p:cNvPr id="35" name="Picture 34" descr="heart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000" y="4554000"/>
            <a:ext cx="216000" cy="216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587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19</a:t>
            </a:r>
          </a:p>
        </p:txBody>
      </p:sp>
      <p:pic>
        <p:nvPicPr>
          <p:cNvPr id="37" name="Picture 36" descr="message-circl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000" y="4554000"/>
            <a:ext cx="216000" cy="216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451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pic>
        <p:nvPicPr>
          <p:cNvPr id="39" name="Picture 38" descr="share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000" y="4554000"/>
            <a:ext cx="216000" cy="216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31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36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27/09 · Boutons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00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fb_dreamcosmetics.net_1553266583507471.jpg"/>
          <p:cNvPicPr>
            <a:picLocks noChangeAspect="1"/>
          </p:cNvPicPr>
          <p:nvPr/>
        </p:nvPicPr>
        <p:blipFill>
          <a:blip r:embed="rId9"/>
          <a:srcRect t="4603" b="10740"/>
          <a:stretch>
            <a:fillRect/>
          </a:stretch>
        </p:blipFill>
        <p:spPr>
          <a:xfrm>
            <a:off x="9090000" y="1674000"/>
            <a:ext cx="2448000" cy="2754000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9180000" y="1764000"/>
            <a:ext cx="1224000" cy="288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80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À REVOIR</a:t>
            </a:r>
          </a:p>
        </p:txBody>
      </p:sp>
      <p:pic>
        <p:nvPicPr>
          <p:cNvPr id="46" name="Picture 45" descr="heart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4554000"/>
            <a:ext cx="216000" cy="2160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39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28</a:t>
            </a:r>
          </a:p>
        </p:txBody>
      </p:sp>
      <p:pic>
        <p:nvPicPr>
          <p:cNvPr id="48" name="Picture 47" descr="message-circl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8000" y="4554000"/>
            <a:ext cx="216000" cy="2160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25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pic>
        <p:nvPicPr>
          <p:cNvPr id="50" name="Picture 49" descr="share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2000" y="4554000"/>
            <a:ext cx="216000" cy="2160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1123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11/09 · Salle de bain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76000" y="5436000"/>
            <a:ext cx="11052000" cy="864000"/>
          </a:xfrm>
          <a:prstGeom prst="roundRect">
            <a:avLst>
              <a:gd name="adj" fmla="val 6000"/>
            </a:avLst>
          </a:prstGeom>
          <a:solidFill>
            <a:srgbClr val="FB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alert-triangle_d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2000" y="5616000"/>
            <a:ext cx="503999" cy="50399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440000" y="5436000"/>
            <a:ext cx="10008000" cy="86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111"/>
                </a:solidFill>
                <a:latin typeface="Poppins"/>
              </a:rPr>
              <a:t>Des devinettes (« swipez pour découvrir », « la coupable n’est peut-être pas… ») qui gardent la réponse cachée, et un texte en anglais seul le 27/10 : 13 réactions pour 211 469 abonnés.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PAR GAMME ·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Babymed et Day by Day tirent la 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11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1548000"/>
            <a:ext cx="576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Réactions médianes par gamme (nombre de publications)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2016000"/>
            <a:ext cx="1583999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11111"/>
                </a:solidFill>
                <a:latin typeface="Poppins"/>
              </a:rPr>
              <a:t>Babymed (8)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31999" y="2167200"/>
            <a:ext cx="3204001" cy="3696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31999" y="2167200"/>
            <a:ext cx="401429" cy="3696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8000" y="2016000"/>
            <a:ext cx="792000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AE172A"/>
                </a:solidFill>
                <a:latin typeface="Poppins"/>
              </a:rPr>
              <a:t>216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2688000"/>
            <a:ext cx="1583999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Day by Day (4)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31999" y="2839200"/>
            <a:ext cx="3204001" cy="3696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31999" y="2839200"/>
            <a:ext cx="208148" cy="3696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08000" y="2688000"/>
            <a:ext cx="792000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00" y="3360000"/>
            <a:ext cx="1583999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Cocopulp (2)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31999" y="3511200"/>
            <a:ext cx="3204001" cy="3696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31999" y="3511200"/>
            <a:ext cx="3204001" cy="3696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08000" y="3360000"/>
            <a:ext cx="792000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1 724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00" y="4032000"/>
            <a:ext cx="1583999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Sans gamme nommée (7)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31999" y="4183200"/>
            <a:ext cx="3204001" cy="3696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231999" y="4183200"/>
            <a:ext cx="96640" cy="3696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08000" y="4032000"/>
            <a:ext cx="792000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52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00" y="4704000"/>
            <a:ext cx="1583999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Dr Wang (1)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31999" y="4855200"/>
            <a:ext cx="3204001" cy="3696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231999" y="4855200"/>
            <a:ext cx="90000" cy="3696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08000" y="4704000"/>
            <a:ext cx="792000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46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00" y="5376000"/>
            <a:ext cx="1583999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Always Young (1)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31999" y="5527200"/>
            <a:ext cx="3204001" cy="3696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231999" y="5527200"/>
            <a:ext cx="90000" cy="3696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08000" y="5376000"/>
            <a:ext cx="792000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96000" y="1655999"/>
            <a:ext cx="4932000" cy="43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AE172A"/>
                </a:solidFill>
                <a:latin typeface="Poppins"/>
              </a:rPr>
              <a:t>Ce que ça dit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1111"/>
                </a:solidFill>
                <a:latin typeface="Poppins"/>
              </a:rPr>
              <a:t>Babymed est la seule gamme publiée souvent et qui marche à chaque fois : 8 publications, 216 réactions médianes, un pic à 9 508.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1111"/>
                </a:solidFill>
                <a:latin typeface="Poppins"/>
              </a:rPr>
              <a:t>Cocopulp a deux publications seulement, mais une médiane de 1 724 : à pousser.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1111"/>
                </a:solidFill>
                <a:latin typeface="Poppins"/>
              </a:rPr>
              <a:t>Les publications sans produit nommé font 52 réactions : quatre fois moins que Babymed.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050" b="0">
                <a:solidFill>
                  <a:srgbClr val="5A5A5A"/>
                </a:solidFill>
                <a:latin typeface="Poppins"/>
              </a:rPr>
              <a:t>Le chiffre entre parenthèses est le nombre de publications : sur 1 ou 2, c’est une tendance, pas une preuve.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AVANT / APRÈS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6 publications refaites, avec 5 règles simples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12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60000" y="1835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arget-arrow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8400" y="1994399"/>
            <a:ext cx="403200" cy="40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4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Une idée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Un geste ou un bénéfice, dit en une phrase.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8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92000" y="1835999"/>
            <a:ext cx="720000" cy="720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users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0400" y="1994399"/>
            <a:ext cx="403200" cy="403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916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Une personne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6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Un visage et le produit, côte à côte.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40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24000" y="1835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message-circle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2400" y="1994399"/>
            <a:ext cx="403200" cy="403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148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Une vraie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8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À laquelle on répond en un mot.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72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56000" y="1835999"/>
            <a:ext cx="720000" cy="720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world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4400" y="1994399"/>
            <a:ext cx="403200" cy="403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380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Le français d’abord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0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L’anglais en commentaire, ou sur une publication à part.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4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188000" y="1835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sparkles_b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46400" y="1994399"/>
            <a:ext cx="403200" cy="4032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612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Le nom de la gamme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12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En grand sur l’image : Babymed, Day by Day…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00" y="4788000"/>
            <a:ext cx="11052000" cy="1332000"/>
          </a:xfrm>
          <a:prstGeom prst="roundRect">
            <a:avLst>
              <a:gd name="adj" fmla="val 6000"/>
            </a:avLst>
          </a:prstGeom>
          <a:solidFill>
            <a:srgbClr val="2A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4000" y="4896000"/>
            <a:ext cx="10440000" cy="115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AE172A"/>
                </a:solidFill>
                <a:latin typeface="Poppins"/>
              </a:rPr>
              <a:t>Ce que nous n’avons pas inventé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FFFFFF"/>
                </a:solidFill>
                <a:latin typeface="Poppins"/>
              </a:rPr>
              <a:t>Prix, points de vente et promotions ne figurent pas dans vos publications : nous ne les avons pas ajoutés. Ils rendraient chaque publication plus forte, dès que vous nous les donnez.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AVANT / APRÈS · 1 SUR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Avant / après, version 1 : l’éditorial du soir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13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440000"/>
            <a:ext cx="1584000" cy="234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440000"/>
            <a:ext cx="1584000" cy="23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5A5A5A"/>
                </a:solidFill>
                <a:latin typeface="Poppins"/>
              </a:rPr>
              <a:t>AVANT</a:t>
            </a:r>
          </a:p>
        </p:txBody>
      </p:sp>
      <p:pic>
        <p:nvPicPr>
          <p:cNvPr id="11" name="Picture 10" descr="b_d_alway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1901587"/>
            <a:ext cx="1584000" cy="184882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286000" y="1440000"/>
            <a:ext cx="1800000" cy="234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1440000"/>
            <a:ext cx="1800000" cy="23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</a:rPr>
              <a:t>APRÈS</a:t>
            </a:r>
          </a:p>
        </p:txBody>
      </p:sp>
      <p:pic>
        <p:nvPicPr>
          <p:cNvPr id="14" name="Picture 13" descr="A1_daybyday-women-apaisan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764000"/>
            <a:ext cx="1800000" cy="2250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6000" y="4086000"/>
            <a:ext cx="351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Femme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0000" y="1440000"/>
            <a:ext cx="1584000" cy="234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0000" y="1440000"/>
            <a:ext cx="1584000" cy="23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5A5A5A"/>
                </a:solidFill>
                <a:latin typeface="Poppins"/>
              </a:rPr>
              <a:t>AVANT</a:t>
            </a:r>
          </a:p>
        </p:txBody>
      </p:sp>
      <p:pic>
        <p:nvPicPr>
          <p:cNvPr id="18" name="Picture 17" descr="b_d_homm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0000" y="1838475"/>
            <a:ext cx="1584000" cy="197505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030000" y="1440000"/>
            <a:ext cx="1800000" cy="234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0000" y="1440000"/>
            <a:ext cx="1800000" cy="23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</a:rPr>
              <a:t>APRÈS</a:t>
            </a:r>
          </a:p>
        </p:txBody>
      </p:sp>
      <p:pic>
        <p:nvPicPr>
          <p:cNvPr id="21" name="Picture 20" descr="A3_daybyday-men-gel-douch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0000" y="1764000"/>
            <a:ext cx="1800000" cy="2250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320000" y="4086000"/>
            <a:ext cx="351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Homme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4000" y="1440000"/>
            <a:ext cx="1584000" cy="234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64000" y="1440000"/>
            <a:ext cx="1584000" cy="23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5A5A5A"/>
                </a:solidFill>
                <a:latin typeface="Poppins"/>
              </a:rPr>
              <a:t>AVANT</a:t>
            </a:r>
          </a:p>
        </p:txBody>
      </p:sp>
      <p:pic>
        <p:nvPicPr>
          <p:cNvPr id="25" name="Picture 24" descr="b_d_beb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4000" y="1806300"/>
            <a:ext cx="1584000" cy="203940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9774000" y="1440000"/>
            <a:ext cx="1800000" cy="234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74000" y="1440000"/>
            <a:ext cx="1800000" cy="23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</a:rPr>
              <a:t>APRÈS</a:t>
            </a:r>
          </a:p>
        </p:txBody>
      </p:sp>
      <p:pic>
        <p:nvPicPr>
          <p:cNvPr id="28" name="Picture 27" descr="A4_babymed-beurr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4000" y="1764000"/>
            <a:ext cx="1800000" cy="2250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064000" y="4086000"/>
            <a:ext cx="351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Bébé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6000" y="4788000"/>
            <a:ext cx="11052000" cy="1152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bulb_d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2000" y="5112000"/>
            <a:ext cx="503999" cy="50399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440000" y="4788000"/>
            <a:ext cx="10008000" cy="115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111"/>
                </a:solidFill>
                <a:latin typeface="Poppins"/>
              </a:rPr>
              <a:t>Un grand portrait sur fond sombre, un titre court en italique, le vrai flacon en bas à droite, une couleur par gamme. Pour les publicités et les lancements : la marque monte en gamme. Photos : illustrations à remplacer par vos égéries ou vos clientes, avec leur accord.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AVANT / APRÈS · 2 SUR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Avant / après, version 2 : la couleur franche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14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440000"/>
            <a:ext cx="1584000" cy="234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440000"/>
            <a:ext cx="1584000" cy="23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5A5A5A"/>
                </a:solidFill>
                <a:latin typeface="Poppins"/>
              </a:rPr>
              <a:t>AVANT</a:t>
            </a:r>
          </a:p>
        </p:txBody>
      </p:sp>
      <p:pic>
        <p:nvPicPr>
          <p:cNvPr id="11" name="Picture 10" descr="b_d_alway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1901587"/>
            <a:ext cx="1584000" cy="184882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286000" y="1440000"/>
            <a:ext cx="1800000" cy="234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1440000"/>
            <a:ext cx="1800000" cy="23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</a:rPr>
              <a:t>APRÈS</a:t>
            </a:r>
          </a:p>
        </p:txBody>
      </p:sp>
      <p:pic>
        <p:nvPicPr>
          <p:cNvPr id="14" name="Picture 13" descr="B2_daybyday-alo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764000"/>
            <a:ext cx="1800000" cy="2250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6000" y="4086000"/>
            <a:ext cx="351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Femme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0000" y="1440000"/>
            <a:ext cx="1584000" cy="234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0000" y="1440000"/>
            <a:ext cx="1584000" cy="23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5A5A5A"/>
                </a:solidFill>
                <a:latin typeface="Poppins"/>
              </a:rPr>
              <a:t>AVANT</a:t>
            </a:r>
          </a:p>
        </p:txBody>
      </p:sp>
      <p:pic>
        <p:nvPicPr>
          <p:cNvPr id="18" name="Picture 17" descr="b_d_homm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0000" y="1838475"/>
            <a:ext cx="1584000" cy="197505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030000" y="1440000"/>
            <a:ext cx="1800000" cy="234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0000" y="1440000"/>
            <a:ext cx="1800000" cy="23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</a:rPr>
              <a:t>APRÈS</a:t>
            </a:r>
          </a:p>
        </p:txBody>
      </p:sp>
      <p:pic>
        <p:nvPicPr>
          <p:cNvPr id="21" name="Picture 20" descr="B5_daybyday-men-sport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0000" y="1764000"/>
            <a:ext cx="1800000" cy="2250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320000" y="4086000"/>
            <a:ext cx="351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Homme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4000" y="1440000"/>
            <a:ext cx="1584000" cy="234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64000" y="1440000"/>
            <a:ext cx="1584000" cy="23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5A5A5A"/>
                </a:solidFill>
                <a:latin typeface="Poppins"/>
              </a:rPr>
              <a:t>AVANT</a:t>
            </a:r>
          </a:p>
        </p:txBody>
      </p:sp>
      <p:pic>
        <p:nvPicPr>
          <p:cNvPr id="25" name="Picture 24" descr="b_d_beb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4000" y="1806300"/>
            <a:ext cx="1584000" cy="203940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9774000" y="1440000"/>
            <a:ext cx="1800000" cy="234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74000" y="1440000"/>
            <a:ext cx="1800000" cy="23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</a:rPr>
              <a:t>APRÈS</a:t>
            </a:r>
          </a:p>
        </p:txBody>
      </p:sp>
      <p:pic>
        <p:nvPicPr>
          <p:cNvPr id="28" name="Picture 27" descr="B6_babymed-douceur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4000" y="1764000"/>
            <a:ext cx="1800000" cy="2250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064000" y="4086000"/>
            <a:ext cx="351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Bébé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6000" y="4788000"/>
            <a:ext cx="11052000" cy="1152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bulb_d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2000" y="5112000"/>
            <a:ext cx="503999" cy="50399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440000" y="4788000"/>
            <a:ext cx="10008000" cy="115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111"/>
                </a:solidFill>
                <a:latin typeface="Poppins"/>
              </a:rPr>
              <a:t>Un aplat de la couleur du parfum, l’ingrédient en très gros et en photo, le flacon au premier plan. Pour le fil de tous les jours : on reconnaît le produit au premier coup d’œil, en rayon aussi.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RECOMMANDATIONS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5 décisions pour faire réagir, puis faire acheter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15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pic>
        <p:nvPicPr>
          <p:cNvPr id="9" name="Picture 8" descr="d_alw_2.jpg"/>
          <p:cNvPicPr>
            <a:picLocks noChangeAspect="1"/>
          </p:cNvPicPr>
          <p:nvPr/>
        </p:nvPicPr>
        <p:blipFill>
          <a:blip r:embed="rId3"/>
          <a:srcRect l="6530" r="6530"/>
          <a:stretch>
            <a:fillRect/>
          </a:stretch>
        </p:blipFill>
        <p:spPr>
          <a:xfrm>
            <a:off x="8928000" y="1584000"/>
            <a:ext cx="2700000" cy="4662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76000" y="1584000"/>
            <a:ext cx="8136000" cy="846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00" y="1584000"/>
            <a:ext cx="90000" cy="846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6000" y="1584000"/>
            <a:ext cx="46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AE172A"/>
                </a:solidFill>
                <a:latin typeface="Poppins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1296000" y="1728000"/>
            <a:ext cx="558000" cy="558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world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8760" y="1850760"/>
            <a:ext cx="312480" cy="312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015999" y="1584000"/>
            <a:ext cx="2304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Le français d’abord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6000" y="1584000"/>
            <a:ext cx="424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5A5A"/>
                </a:solidFill>
                <a:latin typeface="Poppins"/>
              </a:rPr>
              <a:t>Un texte en français seul ; l’anglais en premier commentaire, ou réservé à une publication export.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00" y="2538000"/>
            <a:ext cx="8136000" cy="846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6000" y="2538000"/>
            <a:ext cx="90000" cy="846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000" y="2538000"/>
            <a:ext cx="46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AE172A"/>
                </a:solidFill>
                <a:latin typeface="Poppins"/>
              </a:rPr>
              <a:t>2</a:t>
            </a:r>
          </a:p>
        </p:txBody>
      </p:sp>
      <p:sp>
        <p:nvSpPr>
          <p:cNvPr id="20" name="Oval 19"/>
          <p:cNvSpPr/>
          <p:nvPr/>
        </p:nvSpPr>
        <p:spPr>
          <a:xfrm>
            <a:off x="1296000" y="2682000"/>
            <a:ext cx="558000" cy="558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baby-carriage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8760" y="2804760"/>
            <a:ext cx="312480" cy="3124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015999" y="2538000"/>
            <a:ext cx="2304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Miser sur Babymed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56000" y="2538000"/>
            <a:ext cx="424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5A5A"/>
                </a:solidFill>
                <a:latin typeface="Poppins"/>
              </a:rPr>
              <a:t>Une publication Babymed par semaine : c’est votre gamme la plus régulière, et Gandour gagne sur bébé.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00" y="3492000"/>
            <a:ext cx="8136000" cy="846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6000" y="3492000"/>
            <a:ext cx="90000" cy="846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6000" y="3492000"/>
            <a:ext cx="46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AE172A"/>
                </a:solidFill>
                <a:latin typeface="Poppins"/>
              </a:rPr>
              <a:t>3</a:t>
            </a:r>
          </a:p>
        </p:txBody>
      </p:sp>
      <p:sp>
        <p:nvSpPr>
          <p:cNvPr id="27" name="Oval 26"/>
          <p:cNvSpPr/>
          <p:nvPr/>
        </p:nvSpPr>
        <p:spPr>
          <a:xfrm>
            <a:off x="1296000" y="3636000"/>
            <a:ext cx="558000" cy="558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map-pin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8760" y="3758760"/>
            <a:ext cx="312480" cy="3124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015999" y="3492000"/>
            <a:ext cx="2304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Dire où acheter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56000" y="3492000"/>
            <a:ext cx="424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5A5A"/>
                </a:solidFill>
                <a:latin typeface="Poppins"/>
              </a:rPr>
              <a:t>Une fois par semaine : la pharmacie, le supermarché, le marché où l’on trouve le produit.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000" y="4446000"/>
            <a:ext cx="8136000" cy="846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76000" y="4446000"/>
            <a:ext cx="90000" cy="846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6000" y="4446000"/>
            <a:ext cx="46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AE172A"/>
                </a:solidFill>
                <a:latin typeface="Poppins"/>
              </a:rPr>
              <a:t>4</a:t>
            </a:r>
          </a:p>
        </p:txBody>
      </p:sp>
      <p:sp>
        <p:nvSpPr>
          <p:cNvPr id="34" name="Oval 33"/>
          <p:cNvSpPr/>
          <p:nvPr/>
        </p:nvSpPr>
        <p:spPr>
          <a:xfrm>
            <a:off x="1296000" y="4590000"/>
            <a:ext cx="558000" cy="558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video_b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8760" y="4712760"/>
            <a:ext cx="312480" cy="31248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2015999" y="4446000"/>
            <a:ext cx="2304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Plus de vidéos courtes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56000" y="4446000"/>
            <a:ext cx="424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5A5A"/>
                </a:solidFill>
                <a:latin typeface="Poppins"/>
              </a:rPr>
              <a:t>Votre vidéo PawPaw a fait 205 110 vues sur Instagram : deux vidéos de routine par semaine.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6000" y="5400000"/>
            <a:ext cx="8136000" cy="846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6000" y="5400000"/>
            <a:ext cx="90000" cy="846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6000" y="5400000"/>
            <a:ext cx="46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AE172A"/>
                </a:solidFill>
                <a:latin typeface="Poppins"/>
              </a:rPr>
              <a:t>5</a:t>
            </a:r>
          </a:p>
        </p:txBody>
      </p:sp>
      <p:sp>
        <p:nvSpPr>
          <p:cNvPr id="41" name="Oval 40"/>
          <p:cNvSpPr/>
          <p:nvPr/>
        </p:nvSpPr>
        <p:spPr>
          <a:xfrm>
            <a:off x="1296000" y="5544000"/>
            <a:ext cx="558000" cy="558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brand-linkedin_b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8760" y="5666760"/>
            <a:ext cx="312480" cy="31248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2015999" y="5400000"/>
            <a:ext cx="2304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Réveiller LinkedIn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56000" y="5400000"/>
            <a:ext cx="424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5A5A"/>
                </a:solidFill>
                <a:latin typeface="Poppins"/>
              </a:rPr>
              <a:t>Une publication par semaine pour les distributeurs et les futurs collaborateurs : l’usine, les équipes, l’export.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CE QUE FONT LES MEILLEURES · EUROPE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Les grandes marques européennes : une idée, un produit, beaucoup de vide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16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NIVEA_c5ea7c8e1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00" y="1826999"/>
            <a:ext cx="1602000" cy="160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4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NIVEA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Publicité Meta · 16/09/2026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Un titre, trois bénéfices avec icônes, le produit en grand.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48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a_Roche-Posay_ea140c7c7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0000" y="1826999"/>
            <a:ext cx="1602000" cy="1602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56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La Roche-Posay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56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Publicité Meta · 17/09/2026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6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Un visage, le produit au premier plan, le nom de la gamme en très gros.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0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a_Roche-Posay_8b32fa3c5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2000" y="1826999"/>
            <a:ext cx="1602000" cy="1602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428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La Roche-Posay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8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Publicité Meta · 11/08/2026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8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Fond d’une seule couleur, un produit, un bouton d’achat.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2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BIODERMA_b0863e60d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4000" y="1826999"/>
            <a:ext cx="1602000" cy="1602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300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Bioderma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0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Publicité Meta · 27/10/2026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La peau et le produit, un titre en haut, rien d’autre.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64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Eucerin_a11b4b01af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6000" y="1826999"/>
            <a:ext cx="1602000" cy="16020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172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Eucerin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2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Publicité Meta · 21/09/2026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72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Le geste d’application : on voit à quoi sert le produit.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36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Vogue_France_with_Cl_4e1b81119f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8000" y="2176769"/>
            <a:ext cx="1602000" cy="90246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044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Clarins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44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Publicité Meta · 13/10/2026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44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Deux visages, une ambiance, aucun texte sur l’image.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76000" y="5436000"/>
            <a:ext cx="11052000" cy="864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bulb_d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2000" y="5616000"/>
            <a:ext cx="503999" cy="50399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40000" y="5436000"/>
            <a:ext cx="10008000" cy="86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111"/>
                </a:solidFill>
                <a:latin typeface="Poppins"/>
              </a:rPr>
              <a:t>Relevé dans la bibliothèque publicitaire de Meta le 29/10/2026 (publicités actives). Aucune n’a plus d’une phrase sur l’image ; le logo est petit, le produit est grand.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CE QUE FONT LES MEILLEURES · AFRIQUE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Côte d’Ivoire : Gandour montre la voie, et Dream fait déjà de la publicité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17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b_Gandourci_149573861591991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00" y="1826999"/>
            <a:ext cx="1602000" cy="160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4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Gandour · Switz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40 885 réactions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Un bébé, un flacon, une phrase. Le meilleur score du relevé.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48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b_Gandourci_155559172326793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0000" y="1626749"/>
            <a:ext cx="1602000" cy="2002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56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Gandour · Feel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56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13 519 réactions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6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Le produit seul sur un aplat de la couleur de son parfum.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0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fb_Gandourci_155214252361285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2000" y="1626749"/>
            <a:ext cx="1602000" cy="20025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428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Gandour · Feel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8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10 068 réactions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8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L’ingrédient autour du flacon : on comprend sans lire.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2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fb_kaeracosmetic_147252510824246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7761" y="1620000"/>
            <a:ext cx="1134478" cy="201599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300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Kaera · Soleil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0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2 017 réactions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Le produit en très gros plan, couleurs franches.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64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fb_SIVOP_145407143681939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6000" y="1626749"/>
            <a:ext cx="1602000" cy="20025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172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SIVOP · parfum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2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2 620 réactions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72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Une nature morte douce, le flacon au centre.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36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dream_pub_ng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8000" y="1626749"/>
            <a:ext cx="1602000" cy="20025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044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Dream Cosmetics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44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Pub active · Nigeria, Kenya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44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Octobre Rose, depuis le 26/10 : belle image, aucun produit.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76000" y="5436000"/>
            <a:ext cx="11052000" cy="864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trending-up_d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2000" y="5616000"/>
            <a:ext cx="503999" cy="50399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40000" y="5436000"/>
            <a:ext cx="10008000" cy="86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111"/>
                </a:solidFill>
                <a:latin typeface="Poppins"/>
              </a:rPr>
              <a:t>Les quatre meilleures publications du relevé africain font la même chose : un produit ou un bébé, une couleur, une phrase. Réactions Facebook relevées le 28/10/2026.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CE QUE NOUS EN RETENONS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6 règles tirées des meilleures, appliquées à vos flyers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18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60000" y="1835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arget-arrow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8400" y="1994399"/>
            <a:ext cx="403200" cy="40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4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Une idée par flyer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Un bénéfice, dit en cinq mots au plus.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8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92000" y="1835999"/>
            <a:ext cx="720000" cy="720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ackage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0400" y="1994399"/>
            <a:ext cx="403200" cy="403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916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Le produit en héros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6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Grand, net, au centre ou au premier plan.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40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24000" y="1835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hoto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2400" y="1994399"/>
            <a:ext cx="403200" cy="403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148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Une vraie photo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8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Une peau, un bébé, un ingrédient : jamais un dessin.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72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56000" y="1835999"/>
            <a:ext cx="720000" cy="720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droplet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4400" y="1994399"/>
            <a:ext cx="403200" cy="403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380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La couleur de la gamme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0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Orange karité, bleu Men, vert d’eau Babymed.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4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188000" y="1835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brand-instagram_b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46400" y="1994399"/>
            <a:ext cx="403200" cy="4032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612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Où vous trouver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12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Instagram, Facebook et site, en bas, toujours au même endroit.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00" y="4788000"/>
            <a:ext cx="11052000" cy="1332000"/>
          </a:xfrm>
          <a:prstGeom prst="roundRect">
            <a:avLst>
              <a:gd name="adj" fmla="val 6000"/>
            </a:avLst>
          </a:prstGeom>
          <a:solidFill>
            <a:srgbClr val="2A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4000" y="4896000"/>
            <a:ext cx="10440000" cy="115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AE172A"/>
                </a:solidFill>
                <a:latin typeface="Poppins"/>
              </a:rPr>
              <a:t>La sixième règle : moins de texte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FFFFFF"/>
                </a:solidFill>
                <a:latin typeface="Poppins"/>
              </a:rPr>
              <a:t>Les grandes marques n’écrivent jamais plus d’une phrase sur l’image. Le reste va dans la légende de la publication.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NOUVELLE LIGNE DE FLYERS · 1 SUR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Le nouveau jet : six flyers dans les codes des grandes marques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19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pic>
        <p:nvPicPr>
          <p:cNvPr id="9" name="Picture 8" descr="01_daybyday-women-kari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1440000"/>
            <a:ext cx="3528000" cy="441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76000" y="5903999"/>
            <a:ext cx="3528000" cy="288000"/>
          </a:xfrm>
          <a:prstGeom prst="roundRect">
            <a:avLst/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00" y="5903999"/>
            <a:ext cx="3528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AE172A"/>
                </a:solidFill>
                <a:latin typeface="Poppins"/>
              </a:rPr>
              <a:t>Day by Day Women · karité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00" y="6192000"/>
            <a:ext cx="352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Sur le modèle : Gandour Feel, NIVEA</a:t>
            </a:r>
          </a:p>
        </p:txBody>
      </p:sp>
      <p:pic>
        <p:nvPicPr>
          <p:cNvPr id="13" name="Picture 12" descr="02_babymed-douceu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000" y="1440000"/>
            <a:ext cx="3528000" cy="4410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320000" y="5903999"/>
            <a:ext cx="3528000" cy="288000"/>
          </a:xfrm>
          <a:prstGeom prst="roundRect">
            <a:avLst/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0000" y="5903999"/>
            <a:ext cx="3528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AE172A"/>
                </a:solidFill>
                <a:latin typeface="Poppins"/>
              </a:rPr>
              <a:t>Babymed · le premier bain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0" y="6192000"/>
            <a:ext cx="352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Sur le modèle : Gandour Switz, Bioderma</a:t>
            </a:r>
          </a:p>
        </p:txBody>
      </p:sp>
      <p:pic>
        <p:nvPicPr>
          <p:cNvPr id="17" name="Picture 16" descr="03_cocopulp-gel-douch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000" y="1440000"/>
            <a:ext cx="3528000" cy="44100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064000" y="5903999"/>
            <a:ext cx="3528000" cy="288000"/>
          </a:xfrm>
          <a:prstGeom prst="roundRect">
            <a:avLst/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64000" y="5903999"/>
            <a:ext cx="3528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AE172A"/>
                </a:solidFill>
                <a:latin typeface="Poppins"/>
              </a:rPr>
              <a:t>Cocopulp · gel douche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4000" y="6192000"/>
            <a:ext cx="352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Sur le modèle : Gandour cacao, SIVOP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NOUVELLE LIGNE DE FLYERS · 2 SUR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Trois gammes, trois couleurs, une même signature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20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pic>
        <p:nvPicPr>
          <p:cNvPr id="9" name="Picture 8" descr="04_daybyday-men-perfect-da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1440000"/>
            <a:ext cx="3528000" cy="441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76000" y="5903999"/>
            <a:ext cx="3528000" cy="288000"/>
          </a:xfrm>
          <a:prstGeom prst="roundRect">
            <a:avLst/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00" y="5903999"/>
            <a:ext cx="3528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AE172A"/>
                </a:solidFill>
                <a:latin typeface="Poppins"/>
              </a:rPr>
              <a:t>Day by Day Men · Perfect 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00" y="6192000"/>
            <a:ext cx="352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Sur le modèle : La Roche-Posay, NIVEA Men</a:t>
            </a:r>
          </a:p>
        </p:txBody>
      </p:sp>
      <p:pic>
        <p:nvPicPr>
          <p:cNvPr id="13" name="Picture 12" descr="05_daybyday-women-gamm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000" y="1440000"/>
            <a:ext cx="3528000" cy="4410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320000" y="5903999"/>
            <a:ext cx="3528000" cy="288000"/>
          </a:xfrm>
          <a:prstGeom prst="roundRect">
            <a:avLst/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0000" y="5903999"/>
            <a:ext cx="3528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AE172A"/>
                </a:solidFill>
                <a:latin typeface="Poppins"/>
              </a:rPr>
              <a:t>Day by Day Women · les 4 laits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0" y="6192000"/>
            <a:ext cx="352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Sur le modèle : NIVEA « choisissez le vôtre »</a:t>
            </a:r>
          </a:p>
        </p:txBody>
      </p:sp>
      <p:pic>
        <p:nvPicPr>
          <p:cNvPr id="17" name="Picture 16" descr="06_babymed-coffret-naissanc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000" y="1440000"/>
            <a:ext cx="3528000" cy="44100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064000" y="5903999"/>
            <a:ext cx="3528000" cy="288000"/>
          </a:xfrm>
          <a:prstGeom prst="roundRect">
            <a:avLst/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64000" y="5903999"/>
            <a:ext cx="3528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AE172A"/>
                </a:solidFill>
                <a:latin typeface="Poppins"/>
              </a:rPr>
              <a:t>Babymed · coffret naissance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4000" y="6192000"/>
            <a:ext cx="352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Sur le modèle : Clarins, Avène coffrets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DEUX AUTRES DIRECTIONS ARTISTIQUES · 1 SUR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Direction A : l’éditorial du soir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21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pic>
        <p:nvPicPr>
          <p:cNvPr id="9" name="Picture 8" descr="A1_daybyday-women-apaisa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1444500"/>
            <a:ext cx="2124000" cy="2655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6000" y="4140000"/>
            <a:ext cx="212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AE172A"/>
                </a:solidFill>
                <a:latin typeface="Poppins"/>
              </a:rPr>
              <a:t>Day by Day Women · apaisant</a:t>
            </a:r>
          </a:p>
        </p:txBody>
      </p:sp>
      <p:pic>
        <p:nvPicPr>
          <p:cNvPr id="11" name="Picture 10" descr="A2_daybyday-caca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8000" y="1444500"/>
            <a:ext cx="2124000" cy="2655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808000" y="4140000"/>
            <a:ext cx="212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AE172A"/>
                </a:solidFill>
                <a:latin typeface="Poppins"/>
              </a:rPr>
              <a:t>Day by Day · cacao</a:t>
            </a:r>
          </a:p>
        </p:txBody>
      </p:sp>
      <p:pic>
        <p:nvPicPr>
          <p:cNvPr id="13" name="Picture 12" descr="A3_daybyday-men-gel-douch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0000" y="1444500"/>
            <a:ext cx="2124000" cy="2655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40000" y="4140000"/>
            <a:ext cx="212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AE172A"/>
                </a:solidFill>
                <a:latin typeface="Poppins"/>
              </a:rPr>
              <a:t>Day by Day Men · gel douche</a:t>
            </a:r>
          </a:p>
        </p:txBody>
      </p:sp>
      <p:pic>
        <p:nvPicPr>
          <p:cNvPr id="15" name="Picture 14" descr="A4_babymed-beurr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2000" y="1444500"/>
            <a:ext cx="2124000" cy="2655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72000" y="4140000"/>
            <a:ext cx="212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AE172A"/>
                </a:solidFill>
                <a:latin typeface="Poppins"/>
              </a:rPr>
              <a:t>Babymed · beurre</a:t>
            </a:r>
          </a:p>
        </p:txBody>
      </p:sp>
      <p:pic>
        <p:nvPicPr>
          <p:cNvPr id="17" name="Picture 16" descr="A5_daybyday-women-moringa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4000" y="1444500"/>
            <a:ext cx="2124000" cy="2655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504000" y="4140000"/>
            <a:ext cx="212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AE172A"/>
                </a:solidFill>
                <a:latin typeface="Poppins"/>
              </a:rPr>
              <a:t>Day by Day Women · moringa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00" y="4896000"/>
            <a:ext cx="11052000" cy="1080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bulb_d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2000" y="5184000"/>
            <a:ext cx="503999" cy="50399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440000" y="4896000"/>
            <a:ext cx="10008000" cy="108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111"/>
                </a:solidFill>
                <a:latin typeface="Poppins"/>
              </a:rPr>
              <a:t>Sur le modèle de Clarins et des campagnes de magazine : un grand portrait, un fond sombre, un titre en italique, le produit en bas à droite. Une couleur de filet par gamme. Pour les publicités et les lancements : l’image fait monter la marque en gamme.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DEUX AUTRES DIRECTIONS ARTISTIQUES · 2 SUR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Direction B : la couleur franche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22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pic>
        <p:nvPicPr>
          <p:cNvPr id="9" name="Picture 8" descr="B1_daybyday-grenadin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1444500"/>
            <a:ext cx="2124000" cy="2655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6000" y="4140000"/>
            <a:ext cx="212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AE172A"/>
                </a:solidFill>
                <a:latin typeface="Poppins"/>
              </a:rPr>
              <a:t>Day by Day · grenadine</a:t>
            </a:r>
          </a:p>
        </p:txBody>
      </p:sp>
      <p:pic>
        <p:nvPicPr>
          <p:cNvPr id="11" name="Picture 10" descr="B2_daybyday-alo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8000" y="1444500"/>
            <a:ext cx="2124000" cy="2655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808000" y="4140000"/>
            <a:ext cx="212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AE172A"/>
                </a:solidFill>
                <a:latin typeface="Poppins"/>
              </a:rPr>
              <a:t>Day by Day · aloe vera</a:t>
            </a:r>
          </a:p>
        </p:txBody>
      </p:sp>
      <p:pic>
        <p:nvPicPr>
          <p:cNvPr id="13" name="Picture 12" descr="B3_daybyday-amand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0000" y="1444500"/>
            <a:ext cx="2124000" cy="2655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40000" y="4140000"/>
            <a:ext cx="212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AE172A"/>
                </a:solidFill>
                <a:latin typeface="Poppins"/>
              </a:rPr>
              <a:t>Day by Day · amande</a:t>
            </a:r>
          </a:p>
        </p:txBody>
      </p:sp>
      <p:pic>
        <p:nvPicPr>
          <p:cNvPr id="15" name="Picture 14" descr="B4_cocopulp-lait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2000" y="1444500"/>
            <a:ext cx="2124000" cy="2655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72000" y="4140000"/>
            <a:ext cx="212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AE172A"/>
                </a:solidFill>
                <a:latin typeface="Poppins"/>
              </a:rPr>
              <a:t>Cocopulp · lait</a:t>
            </a:r>
          </a:p>
        </p:txBody>
      </p:sp>
      <p:pic>
        <p:nvPicPr>
          <p:cNvPr id="17" name="Picture 16" descr="B5_daybyday-men-sport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4000" y="1444500"/>
            <a:ext cx="2124000" cy="2655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504000" y="4140000"/>
            <a:ext cx="212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AE172A"/>
                </a:solidFill>
                <a:latin typeface="Poppins"/>
              </a:rPr>
              <a:t>Day by Day Men Sport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00" y="4896000"/>
            <a:ext cx="11052000" cy="1080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bulb_d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2000" y="5184000"/>
            <a:ext cx="503999" cy="50399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440000" y="4896000"/>
            <a:ext cx="10008000" cy="108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111"/>
                </a:solidFill>
                <a:latin typeface="Poppins"/>
              </a:rPr>
              <a:t>Sur le modèle de NIVEA « choisissez le vôtre » et de Kaera : un aplat de la couleur du parfum, le nom de l’ingrédient en très gros, l’ingrédient en photo dans un rond. Pour le fil de tous les jours : on reconnaît le produit au premier coup d’œil, en rayon aussi.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PLAN 30 JOURS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Le premier mois, semaine par semaine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23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2628000" cy="576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alendar-event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710000"/>
            <a:ext cx="324000" cy="324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16000" y="1584000"/>
            <a:ext cx="2015999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Poppins"/>
              </a:rPr>
              <a:t>Semaine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00" y="2304000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000" y="2448000"/>
            <a:ext cx="2376000" cy="26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Valider les 6 publications refaites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Passer les textes en français seul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Lister les points de vente à citer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4000" y="1584000"/>
            <a:ext cx="2628000" cy="576000"/>
          </a:xfrm>
          <a:prstGeom prst="round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encil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8000" y="1710000"/>
            <a:ext cx="324000" cy="32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924000" y="1584000"/>
            <a:ext cx="2015999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Poppins"/>
              </a:rPr>
              <a:t>Semaine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4000" y="2304000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8000" y="2448000"/>
            <a:ext cx="2376000" cy="26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Publier les 6 avant / après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3 publications par semaine, 12 h ou 19 h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Répondre à chaque commentaire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2000" y="1584000"/>
            <a:ext cx="2628000" cy="576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video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000" y="1710000"/>
            <a:ext cx="324000" cy="324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732000" y="1584000"/>
            <a:ext cx="2015999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Poppins"/>
              </a:rPr>
              <a:t>Semaine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2000" y="2304000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000" y="2448000"/>
            <a:ext cx="2376000" cy="26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Tourner 2 vidéos de routine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Un sondage Babymed pour les mamans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Première publication LinkedIn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0000" y="1584000"/>
            <a:ext cx="2628000" cy="576000"/>
          </a:xfrm>
          <a:prstGeom prst="round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trending-up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1710000"/>
            <a:ext cx="324000" cy="324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540000" y="1584000"/>
            <a:ext cx="2015999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Poppins"/>
              </a:rPr>
              <a:t>Semaine 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0000" y="2304000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2448000"/>
            <a:ext cx="2376000" cy="26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Comparer aux 138 réactions de départ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Garder ce qui marche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Préparer le mois suivant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6000" y="5364000"/>
            <a:ext cx="11052000" cy="864000"/>
          </a:xfrm>
          <a:prstGeom prst="roundRect">
            <a:avLst>
              <a:gd name="adj" fmla="val 6000"/>
            </a:avLst>
          </a:prstGeom>
          <a:solidFill>
            <a:srgbClr val="2A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target-arrow_b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000" y="5544000"/>
            <a:ext cx="503999" cy="50399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440000" y="5364000"/>
            <a:ext cx="10008000" cy="86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Poppins"/>
              </a:rPr>
              <a:t>Objectif proposé à 30 jours : passer de 138 à 300 réactions médianes sur Facebook, et d’un commentaire sur trois publications Instagram à une sur deux.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TABLEAU DE BORD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Les chiffres à suivre chaque semaine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24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76000" y="1584000"/>
          <a:ext cx="11052000" cy="367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0000"/>
                <a:gridCol w="2544000"/>
                <a:gridCol w="2544000"/>
                <a:gridCol w="2544000"/>
              </a:tblGrid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Indicateur</a:t>
                      </a: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Où le lire</a:t>
                      </a: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Départ (28/10)</a:t>
                      </a: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Objectif 30 jours</a:t>
                      </a: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</a:tr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Réactions médianes Facebook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Page Facebook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138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300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Publications Instagram sans commentaire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Instagram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15 sur 24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Moins de 12 sur 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Publications en français seul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Vos textes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1 sur 25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25 sur 25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Publications qui disent où acheter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Vos textes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0 sur 25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4 par mois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Vidéos publiées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Facebook et Instagram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7 sur 25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8 par mois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524573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Publications LinkedIn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Page LinkedIn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aucune relevée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4 par mois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76000" y="5544000"/>
            <a:ext cx="11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Les ventes et la portée ne se lisent qu’avec l’accès aux comptes : ce tableau commence par ce qui se voit de l’extérieur.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Ce qu’il nous faut pour aller plus loin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25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pic>
        <p:nvPicPr>
          <p:cNvPr id="9" name="Picture 8" descr="d_baby_9.jpg"/>
          <p:cNvPicPr>
            <a:picLocks noChangeAspect="1"/>
          </p:cNvPicPr>
          <p:nvPr/>
        </p:nvPicPr>
        <p:blipFill>
          <a:blip r:embed="rId3"/>
          <a:srcRect l="6362" r="6362"/>
          <a:stretch>
            <a:fillRect/>
          </a:stretch>
        </p:blipFill>
        <p:spPr>
          <a:xfrm>
            <a:off x="8928000" y="1584000"/>
            <a:ext cx="2700000" cy="4644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76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7999" y="1835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ye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399" y="1994399"/>
            <a:ext cx="403200" cy="403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7999" y="2736000"/>
            <a:ext cx="2196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L’accès aux comptes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999" y="3348000"/>
            <a:ext cx="2196000" cy="18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Portée, clics, messages et budgets publicitaires : pour savoir quelles publications sont payées, et ce qu’elles rapportent.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6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17999" y="1835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map-pin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6399" y="1994399"/>
            <a:ext cx="403200" cy="403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17999" y="2736000"/>
            <a:ext cx="2196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Points de vente et prix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7999" y="3348000"/>
            <a:ext cx="2196000" cy="18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Pour écrire « où l’acheter » et des offres datées.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6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7999" y="1835999"/>
            <a:ext cx="720000" cy="720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ircle-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6399" y="1994399"/>
            <a:ext cx="403200" cy="403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07999" y="2736000"/>
            <a:ext cx="2196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Votre accord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7999" y="3348000"/>
            <a:ext cx="2196000" cy="18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Sur les 6 publications refaites, avant toute mise en ligne.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00" y="5436000"/>
            <a:ext cx="8136000" cy="79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Rien n’a été publié. Les photos de personnes sont des illustrations ; les produits sont ceux de votre catalogue.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