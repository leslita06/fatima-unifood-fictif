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3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4.jp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jpg"/><Relationship Id="rId9" Type="http://schemas.openxmlformats.org/officeDocument/2006/relationships/image" Target="../media/image4.png"/><Relationship Id="rId10" Type="http://schemas.openxmlformats.org/officeDocument/2006/relationships/image" Target="../media/image28.jpg"/><Relationship Id="rId11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1.jpg"/><Relationship Id="rId4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jpg"/><Relationship Id="rId8" Type="http://schemas.openxmlformats.org/officeDocument/2006/relationships/image" Target="../media/image35.jpg"/><Relationship Id="rId9" Type="http://schemas.openxmlformats.org/officeDocument/2006/relationships/image" Target="../media/image36.jpg"/><Relationship Id="rId10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8.jpg"/><Relationship Id="rId4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image" Target="../media/image4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6" Type="http://schemas.openxmlformats.org/officeDocument/2006/relationships/image" Target="../media/image48.jpg"/><Relationship Id="rId7" Type="http://schemas.openxmlformats.org/officeDocument/2006/relationships/image" Target="../media/image49.jpg"/><Relationship Id="rId8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0.jpg"/><Relationship Id="rId4" Type="http://schemas.openxmlformats.org/officeDocument/2006/relationships/image" Target="../media/image51.png"/><Relationship Id="rId5" Type="http://schemas.openxmlformats.org/officeDocument/2006/relationships/image" Target="../media/image45.jpg"/><Relationship Id="rId6" Type="http://schemas.openxmlformats.org/officeDocument/2006/relationships/image" Target="../media/image5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3.jpg"/><Relationship Id="rId4" Type="http://schemas.openxmlformats.org/officeDocument/2006/relationships/image" Target="../media/image51.png"/><Relationship Id="rId5" Type="http://schemas.openxmlformats.org/officeDocument/2006/relationships/image" Target="../media/image46.jpg"/><Relationship Id="rId6" Type="http://schemas.openxmlformats.org/officeDocument/2006/relationships/image" Target="../media/image5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jpg"/><Relationship Id="rId4" Type="http://schemas.openxmlformats.org/officeDocument/2006/relationships/image" Target="../media/image51.png"/><Relationship Id="rId5" Type="http://schemas.openxmlformats.org/officeDocument/2006/relationships/image" Target="../media/image47.jpg"/><Relationship Id="rId6" Type="http://schemas.openxmlformats.org/officeDocument/2006/relationships/image" Target="../media/image5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5.jpg"/><Relationship Id="rId4" Type="http://schemas.openxmlformats.org/officeDocument/2006/relationships/image" Target="../media/image51.png"/><Relationship Id="rId5" Type="http://schemas.openxmlformats.org/officeDocument/2006/relationships/image" Target="../media/image48.jpg"/><Relationship Id="rId6" Type="http://schemas.openxmlformats.org/officeDocument/2006/relationships/image" Target="../media/image5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6.jpg"/><Relationship Id="rId4" Type="http://schemas.openxmlformats.org/officeDocument/2006/relationships/image" Target="../media/image51.png"/><Relationship Id="rId5" Type="http://schemas.openxmlformats.org/officeDocument/2006/relationships/image" Target="../media/image49.jpg"/><Relationship Id="rId6" Type="http://schemas.openxmlformats.org/officeDocument/2006/relationships/image" Target="../media/image5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7.jpg"/><Relationship Id="rId4" Type="http://schemas.openxmlformats.org/officeDocument/2006/relationships/image" Target="../media/image51.png"/><Relationship Id="rId5" Type="http://schemas.openxmlformats.org/officeDocument/2006/relationships/image" Target="../media/image1.jp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8.jpg"/><Relationship Id="rId4" Type="http://schemas.openxmlformats.org/officeDocument/2006/relationships/image" Target="../media/image43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2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image" Target="../media/image65.jpg"/><Relationship Id="rId7" Type="http://schemas.openxmlformats.org/officeDocument/2006/relationships/image" Target="../media/image66.jpg"/><Relationship Id="rId8" Type="http://schemas.openxmlformats.org/officeDocument/2006/relationships/image" Target="../media/image67.jpg"/><Relationship Id="rId9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4.jpg"/><Relationship Id="rId4" Type="http://schemas.openxmlformats.org/officeDocument/2006/relationships/image" Target="../media/image68.jpg"/><Relationship Id="rId5" Type="http://schemas.openxmlformats.org/officeDocument/2006/relationships/image" Target="../media/image69.jpg"/><Relationship Id="rId6" Type="http://schemas.openxmlformats.org/officeDocument/2006/relationships/image" Target="../media/image70.jpg"/><Relationship Id="rId7" Type="http://schemas.openxmlformats.org/officeDocument/2006/relationships/image" Target="../media/image71.jpg"/><Relationship Id="rId8" Type="http://schemas.openxmlformats.org/officeDocument/2006/relationships/image" Target="../media/image72.jpg"/><Relationship Id="rId9" Type="http://schemas.openxmlformats.org/officeDocument/2006/relationships/image" Target="../media/image7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7.jpg"/><Relationship Id="rId4" Type="http://schemas.openxmlformats.org/officeDocument/2006/relationships/image" Target="../media/image78.jpg"/><Relationship Id="rId5" Type="http://schemas.openxmlformats.org/officeDocument/2006/relationships/image" Target="../media/image7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0.jpg"/><Relationship Id="rId4" Type="http://schemas.openxmlformats.org/officeDocument/2006/relationships/image" Target="../media/image81.jpg"/><Relationship Id="rId5" Type="http://schemas.openxmlformats.org/officeDocument/2006/relationships/image" Target="../media/image8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3.jpg"/><Relationship Id="rId4" Type="http://schemas.openxmlformats.org/officeDocument/2006/relationships/image" Target="../media/image84.jpg"/><Relationship Id="rId5" Type="http://schemas.openxmlformats.org/officeDocument/2006/relationships/image" Target="../media/image85.jpg"/><Relationship Id="rId6" Type="http://schemas.openxmlformats.org/officeDocument/2006/relationships/image" Target="../media/image86.jpg"/><Relationship Id="rId7" Type="http://schemas.openxmlformats.org/officeDocument/2006/relationships/image" Target="../media/image87.jpg"/><Relationship Id="rId8" Type="http://schemas.openxmlformats.org/officeDocument/2006/relationships/image" Target="../media/image3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8.jpg"/><Relationship Id="rId4" Type="http://schemas.openxmlformats.org/officeDocument/2006/relationships/image" Target="../media/image89.jpg"/><Relationship Id="rId5" Type="http://schemas.openxmlformats.org/officeDocument/2006/relationships/image" Target="../media/image90.jpg"/><Relationship Id="rId6" Type="http://schemas.openxmlformats.org/officeDocument/2006/relationships/image" Target="../media/image91.jpg"/><Relationship Id="rId7" Type="http://schemas.openxmlformats.org/officeDocument/2006/relationships/image" Target="../media/image92.jpg"/><Relationship Id="rId8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61.png"/><Relationship Id="rId6" Type="http://schemas.openxmlformats.org/officeDocument/2006/relationships/image" Target="../media/image95.png"/><Relationship Id="rId7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96.jpg"/><Relationship Id="rId4" Type="http://schemas.openxmlformats.org/officeDocument/2006/relationships/image" Target="../media/image13.png"/><Relationship Id="rId5" Type="http://schemas.openxmlformats.org/officeDocument/2006/relationships/image" Target="../media/image60.png"/><Relationship Id="rId6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72000" y="0"/>
            <a:ext cx="4920119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_d_be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000" y="893925"/>
            <a:ext cx="4056119" cy="5070148"/>
          </a:xfrm>
          <a:prstGeom prst="rect">
            <a:avLst/>
          </a:prstGeom>
        </p:spPr>
      </p:pic>
      <p:pic>
        <p:nvPicPr>
          <p:cNvPr id="5" name="Picture 4" descr="logo_bla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552069"/>
            <a:ext cx="2700000" cy="8398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2015999"/>
            <a:ext cx="61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8087"/>
                </a:solidFill>
                <a:latin typeface="Poppins"/>
              </a:rPr>
              <a:t>AUDIT RÉSEAUX SOCIAUX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76000"/>
            <a:ext cx="633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Poppins"/>
              </a:rPr>
              <a:t>Dream Cosmetics face à Gandour, SIVOP et Kaera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140000"/>
            <a:ext cx="61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DDDDDD"/>
                </a:solidFill>
                <a:latin typeface="Poppins"/>
              </a:rPr>
              <a:t>Ce qui marche, ce qui manque, et 6 publications refaites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950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AAAAAA"/>
                </a:solidFill>
                <a:latin typeface="Poppins"/>
              </a:rPr>
              <a:t>FACE À</a:t>
            </a:r>
          </a:p>
        </p:txBody>
      </p:sp>
      <p:pic>
        <p:nvPicPr>
          <p:cNvPr id="10" name="Picture 9" descr="rond_gand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000" y="4752000"/>
            <a:ext cx="720000" cy="720000"/>
          </a:xfrm>
          <a:prstGeom prst="rect">
            <a:avLst/>
          </a:prstGeom>
        </p:spPr>
      </p:pic>
      <p:pic>
        <p:nvPicPr>
          <p:cNvPr id="11" name="Picture 10" descr="rond_siv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000" y="4752000"/>
            <a:ext cx="720000" cy="720000"/>
          </a:xfrm>
          <a:prstGeom prst="rect">
            <a:avLst/>
          </a:prstGeom>
        </p:spPr>
      </p:pic>
      <p:pic>
        <p:nvPicPr>
          <p:cNvPr id="12" name="Picture 11" descr="rond_ka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000" y="4752000"/>
            <a:ext cx="720000" cy="720000"/>
          </a:xfrm>
          <a:prstGeom prst="rect">
            <a:avLst/>
          </a:prstGeom>
        </p:spPr>
      </p:pic>
      <p:pic>
        <p:nvPicPr>
          <p:cNvPr id="13" name="Picture 12" descr="brand-facebook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000" y="5616000"/>
            <a:ext cx="324000" cy="324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4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Facebook</a:t>
            </a:r>
          </a:p>
        </p:txBody>
      </p:sp>
      <p:pic>
        <p:nvPicPr>
          <p:cNvPr id="15" name="Picture 14" descr="brand-instagram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2000" y="5616000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28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Instagram</a:t>
            </a:r>
          </a:p>
        </p:txBody>
      </p:sp>
      <p:pic>
        <p:nvPicPr>
          <p:cNvPr id="17" name="Picture 16" descr="brand-linkedin_b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6000" y="5616000"/>
            <a:ext cx="324000" cy="324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12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" y="6228000"/>
            <a:ext cx="648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AAAAA"/>
                </a:solidFill>
                <a:latin typeface="Poppins"/>
              </a:rPr>
              <a:t>Relevé des pages publiques le 28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L'ESSENTIEL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Une très grande audience, des publications inégales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4000" y="1979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s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00" y="2138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36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211 469 abonnés Facebook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6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La 4e page du groupe, mais une marque connue : Gandour en a 993 513, SIVOP 662 562.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0000" y="1979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ear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00" y="2138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52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138 réactions par publication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Médiane sur Facebook. De 11 à 75 577 : quelques publications font tout le score.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4000" y="4247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rand-instagram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00" y="4406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36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Le meilleur Instagram du groupe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6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0,38 % de réactions par abonné, contre 0,11 % chez SIVOP et 0,03 % chez Gandour.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0000" y="4247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essage-circ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400" y="4406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52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Des questions sans réponses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15 publications sur 25 posent une question, mais 15 sur 24 n’ont aucun commentaire sur Instagram.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que nous avons regardé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7999" y="1943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y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99" y="2102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Pages publiques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Facebook, Instagram et LinkedIn de Dream Cosmetics, Gandour, SIVOP et Kaera, relevés le 28/10/2026.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5999" y="1943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ist-check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399" y="2102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35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25 publications par marque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5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Les 25 dernières sur chaque réseau : du 2/09 au 27/10 pour Dream Cosmetics.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3999" y="1943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arget-arrow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399" y="2102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43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Médianes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La valeur du milieu, pour qu’une publication sponsorisée ne fausse pas la moyenne.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51999" y="1943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399" y="2102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51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Hors de vue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1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Portée, clics, messages reçus, budgets publicitaires et ventes : il faut l’accès aux comptes.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QUI NOUS AVONS COMPARÉ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Quatre fabricants ivoiriens, quatre façons de communiquer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00" y="1584000"/>
            <a:ext cx="2601000" cy="10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dream_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500" y="1872000"/>
            <a:ext cx="1188000" cy="118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0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Dream Cosmetics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NOTRE CLIENT</a:t>
            </a:r>
          </a:p>
        </p:txBody>
      </p:sp>
      <p:pic>
        <p:nvPicPr>
          <p:cNvPr id="14" name="Picture 13" descr="brand-facebook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96000"/>
            <a:ext cx="251999" cy="2519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6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211 469 abonnés</a:t>
            </a:r>
          </a:p>
        </p:txBody>
      </p:sp>
      <p:pic>
        <p:nvPicPr>
          <p:cNvPr id="16" name="Picture 15" descr="speakerphon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428000"/>
            <a:ext cx="251999" cy="2519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16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3,2 publ. / semaine</a:t>
            </a:r>
          </a:p>
        </p:txBody>
      </p:sp>
      <p:pic>
        <p:nvPicPr>
          <p:cNvPr id="18" name="Picture 17" descr="heart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4860000"/>
            <a:ext cx="251999" cy="25199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16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138 réactions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Des textes travaillés, en deux langues.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93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93000" y="1584000"/>
            <a:ext cx="2601000" cy="1080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nd_gandou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500" y="1872000"/>
            <a:ext cx="1188000" cy="1188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37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Gandour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7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LEADER EN AUDIENCE</a:t>
            </a:r>
          </a:p>
        </p:txBody>
      </p:sp>
      <p:pic>
        <p:nvPicPr>
          <p:cNvPr id="26" name="Picture 25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000" y="3996000"/>
            <a:ext cx="251999" cy="25199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933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993 513 abonnés</a:t>
            </a:r>
          </a:p>
        </p:txBody>
      </p:sp>
      <p:pic>
        <p:nvPicPr>
          <p:cNvPr id="28" name="Picture 27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000" y="4428000"/>
            <a:ext cx="251999" cy="2519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933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1,7 publ. / semaine</a:t>
            </a:r>
          </a:p>
        </p:txBody>
      </p:sp>
      <p:pic>
        <p:nvPicPr>
          <p:cNvPr id="30" name="Picture 29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9000" y="4860000"/>
            <a:ext cx="251999" cy="251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33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1 022 réactions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9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Peu de publications, beaucoup d’effet.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0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0000" y="1584000"/>
            <a:ext cx="2601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rond_sivo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6500" y="1872000"/>
            <a:ext cx="1188000" cy="1188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354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SIVOP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4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LE PLUS ACTIF</a:t>
            </a:r>
          </a:p>
        </p:txBody>
      </p:sp>
      <p:pic>
        <p:nvPicPr>
          <p:cNvPr id="38" name="Picture 37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6000" y="3996000"/>
            <a:ext cx="251999" cy="25199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50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662 562 abonnés</a:t>
            </a:r>
          </a:p>
        </p:txBody>
      </p:sp>
      <p:pic>
        <p:nvPicPr>
          <p:cNvPr id="40" name="Picture 39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6000" y="4428000"/>
            <a:ext cx="251999" cy="2519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750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5,5 publ. / semaine</a:t>
            </a:r>
          </a:p>
        </p:txBody>
      </p:sp>
      <p:pic>
        <p:nvPicPr>
          <p:cNvPr id="42" name="Picture 41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6000" y="4860000"/>
            <a:ext cx="251999" cy="25199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50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100 réactions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6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Des événements et des causes.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27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7000" y="1584000"/>
            <a:ext cx="2601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rond_kaer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33500" y="1872000"/>
            <a:ext cx="1188000" cy="1188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71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Kaera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71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TOUT EN VIDÉO</a:t>
            </a:r>
          </a:p>
        </p:txBody>
      </p:sp>
      <p:pic>
        <p:nvPicPr>
          <p:cNvPr id="50" name="Picture 49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3000" y="3996000"/>
            <a:ext cx="251999" cy="25199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567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579 371 abonnés</a:t>
            </a:r>
          </a:p>
        </p:txBody>
      </p:sp>
      <p:pic>
        <p:nvPicPr>
          <p:cNvPr id="52" name="Picture 51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3000" y="4428000"/>
            <a:ext cx="251999" cy="25199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67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0,9 publ. / semaine</a:t>
            </a:r>
          </a:p>
        </p:txBody>
      </p:sp>
      <p:pic>
        <p:nvPicPr>
          <p:cNvPr id="54" name="Picture 53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3000" y="4860000"/>
            <a:ext cx="251999" cy="251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567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120 réactions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43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24 vidéos sur 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LES COMPTES DE DREAM COSMETICS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Facebook pour l’audience, Instagram pour l’attention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2000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nd-facebook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00" y="1990799"/>
            <a:ext cx="302400" cy="30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2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211 469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Page créée en 2012 · publicité active le 28/10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36000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nd-instagram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00" y="1990799"/>
            <a:ext cx="302400" cy="30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36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16 727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Instagram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6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920 publications · 63 J’aime médians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3999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9999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nd-linkedin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99" y="1990799"/>
            <a:ext cx="302400" cy="30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9999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5 205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999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LinkedIn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9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Aucune publication récente n’a pu être relevée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00" y="4248000"/>
            <a:ext cx="11052000" cy="1764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4000" y="4536000"/>
            <a:ext cx="612000" cy="612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640" y="4670640"/>
            <a:ext cx="342720" cy="3427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92000" y="4464000"/>
            <a:ext cx="9720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À regarder tout de suite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24 textes sur 25 sont écrits en français puis en anglais. En Côte d’Ivoire, la moitié anglaise allonge le texte et repousse la question finale sous « voir plus ». Sur LinkedIn, 5 205 abonnés attendent : recruteurs, distributeurs, acheteurs de la grande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FACE AUX CONCURRENTS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Sur Instagram, Dream Cosmetics fait mieux que tous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48000"/>
            <a:ext cx="52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Instagram : J’aime médians ÷ abonnés (%)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016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111"/>
                </a:solidFill>
                <a:latin typeface="Poppins"/>
              </a:rPr>
              <a:t>Dream Cosmetics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999" y="2250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999" y="2250000"/>
            <a:ext cx="2700001" cy="46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4000" y="2016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AE172A"/>
                </a:solidFill>
                <a:latin typeface="Poppins"/>
              </a:rPr>
              <a:t>0,38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52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SIVOP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999" y="3186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999" y="3186000"/>
            <a:ext cx="781579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4000" y="2952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888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Kaera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999" y="4122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31999" y="4122000"/>
            <a:ext cx="497368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4000" y="3888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824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Gandour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999" y="5058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1999" y="5058000"/>
            <a:ext cx="213157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4000" y="4824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0,03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48000" y="1584000"/>
          <a:ext cx="5580000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900000"/>
                <a:gridCol w="900000"/>
                <a:gridCol w="900000"/>
                <a:gridCol w="900000"/>
              </a:tblGrid>
              <a:tr h="4320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Dream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Gandour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SIVOP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Kaera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211 469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993 513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662 562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579 371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/ semaine (FB)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3,2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1,7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Réactions médianes (FB)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138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1 022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100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120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Taux de réaction (FB)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0,07 %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0,10 %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0,02 %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0,02 %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 (sur 25, FB)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7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24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Instagram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16 727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90 122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35 072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23 293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J’aime médians (IG)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63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37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Publicité active (28/10)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Oui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Oui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76000" y="5868000"/>
            <a:ext cx="1105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Taux de réaction = réactions médianes ÷ abonnés. 25 dernières publications de chaque page, relevées le 28/10/2026.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QUI MARCHE AILLEURS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concurrents misent sur bébé, les nouveautés et les causes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Gandourci_1495738615919916.jpg"/>
          <p:cNvPicPr>
            <a:picLocks noChangeAspect="1"/>
          </p:cNvPicPr>
          <p:nvPr/>
        </p:nvPicPr>
        <p:blipFill>
          <a:blip r:embed="rId3"/>
          <a:srcRect t="9130" b="21304"/>
          <a:stretch>
            <a:fillRect/>
          </a:stretch>
        </p:blipFill>
        <p:spPr>
          <a:xfrm>
            <a:off x="684000" y="1692000"/>
            <a:ext cx="3311999" cy="2304000"/>
          </a:xfrm>
          <a:prstGeom prst="rect">
            <a:avLst/>
          </a:prstGeom>
        </p:spPr>
      </p:pic>
      <p:pic>
        <p:nvPicPr>
          <p:cNvPr id="11" name="Picture 10" descr="rond_gand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00" y="4031999"/>
            <a:ext cx="396000" cy="39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24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17/07</a:t>
            </a:r>
          </a:p>
        </p:txBody>
      </p:sp>
      <p:pic>
        <p:nvPicPr>
          <p:cNvPr id="13" name="Picture 12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500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3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40 885</a:t>
            </a:r>
          </a:p>
        </p:txBody>
      </p:sp>
      <p:pic>
        <p:nvPicPr>
          <p:cNvPr id="15" name="Picture 14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6000" y="4500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50</a:t>
            </a:r>
          </a:p>
        </p:txBody>
      </p:sp>
      <p:pic>
        <p:nvPicPr>
          <p:cNvPr id="17" name="Picture 16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000" y="4500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Bébé Switz, « la gamme des futurs champions » : une phrase, un bébé, rien d’autre.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SIVOP_1460642816162257.jpg"/>
          <p:cNvPicPr>
            <a:picLocks noChangeAspect="1"/>
          </p:cNvPicPr>
          <p:nvPr/>
        </p:nvPicPr>
        <p:blipFill>
          <a:blip r:embed="rId8"/>
          <a:srcRect t="13198" b="30796"/>
          <a:stretch>
            <a:fillRect/>
          </a:stretch>
        </p:blipFill>
        <p:spPr>
          <a:xfrm>
            <a:off x="4428000" y="1692000"/>
            <a:ext cx="3311999" cy="2304000"/>
          </a:xfrm>
          <a:prstGeom prst="rect">
            <a:avLst/>
          </a:prstGeom>
        </p:spPr>
      </p:pic>
      <p:pic>
        <p:nvPicPr>
          <p:cNvPr id="22" name="Picture 21" descr="rond_siv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0000" y="4031999"/>
            <a:ext cx="396000" cy="396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968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SIVOP · 22/10</a:t>
            </a:r>
          </a:p>
        </p:txBody>
      </p:sp>
      <p:pic>
        <p:nvPicPr>
          <p:cNvPr id="24" name="Picture 23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000" y="4500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6 712</a:t>
            </a:r>
          </a:p>
        </p:txBody>
      </p:sp>
      <p:pic>
        <p:nvPicPr>
          <p:cNvPr id="26" name="Picture 25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000" y="4500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</a:t>
            </a:r>
          </a:p>
        </p:txBody>
      </p:sp>
      <p:pic>
        <p:nvPicPr>
          <p:cNvPr id="28" name="Picture 27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000" y="4500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6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Octobre Rose avec un partenaire : la marque porte une cause, pas un produit.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4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kaeracosmetic_1407334458094864.jpg"/>
          <p:cNvPicPr>
            <a:picLocks noChangeAspect="1"/>
          </p:cNvPicPr>
          <p:nvPr/>
        </p:nvPicPr>
        <p:blipFill>
          <a:blip r:embed="rId10"/>
          <a:srcRect t="18256" b="42597"/>
          <a:stretch>
            <a:fillRect/>
          </a:stretch>
        </p:blipFill>
        <p:spPr>
          <a:xfrm>
            <a:off x="8172000" y="1692000"/>
            <a:ext cx="3311999" cy="2304000"/>
          </a:xfrm>
          <a:prstGeom prst="rect">
            <a:avLst/>
          </a:prstGeom>
        </p:spPr>
      </p:pic>
      <p:pic>
        <p:nvPicPr>
          <p:cNvPr id="33" name="Picture 32" descr="rond_kaer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4000" y="4031999"/>
            <a:ext cx="396000" cy="396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712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Kaera · 08/05 · vidéo</a:t>
            </a:r>
          </a:p>
        </p:txBody>
      </p:sp>
      <p:pic>
        <p:nvPicPr>
          <p:cNvPr id="35" name="Picture 34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000" y="4500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4 614</a:t>
            </a:r>
          </a:p>
        </p:txBody>
      </p:sp>
      <p:pic>
        <p:nvPicPr>
          <p:cNvPr id="37" name="Picture 36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000" y="4500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5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89</a:t>
            </a:r>
          </a:p>
        </p:txBody>
      </p:sp>
      <p:pic>
        <p:nvPicPr>
          <p:cNvPr id="39" name="Picture 38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8000" y="4500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619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0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Une routine en vidéo, du gel de bain à la brume : 109 partages.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FAIT DREAM COSMETICS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Une voix de marque, mais pas toujours le bon public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8087"/>
                </a:solidFill>
                <a:latin typeface="Poppins"/>
              </a:rPr>
              <a:t>Ce qui marche</a:t>
            </a:r>
          </a:p>
        </p:txBody>
      </p:sp>
      <p:pic>
        <p:nvPicPr>
          <p:cNvPr id="11" name="Picture 10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2340000"/>
            <a:ext cx="360000" cy="3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68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textes avec du caractère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« Even Better que votre ex » : un ton drôle, reconnaissable.</a:t>
            </a:r>
          </a:p>
        </p:txBody>
      </p:sp>
      <p:pic>
        <p:nvPicPr>
          <p:cNvPr id="13" name="Picture 12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3330000"/>
            <a:ext cx="360000" cy="3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68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questions dans 15 textes sur 25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L’intention de faire répondre est là.</a:t>
            </a:r>
          </a:p>
        </p:txBody>
      </p:sp>
      <p:pic>
        <p:nvPicPr>
          <p:cNvPr id="15" name="Picture 14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4320000"/>
            <a:ext cx="360000" cy="3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68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Babymed, la gamme qui porte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8 publications, 216 réactions médianes : la meilleure gamme régulière.</a:t>
            </a:r>
          </a:p>
        </p:txBody>
      </p:sp>
      <p:pic>
        <p:nvPicPr>
          <p:cNvPr id="17" name="Picture 16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5310000"/>
            <a:ext cx="360000" cy="36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68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 Instagram très vivant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Le meilleur taux du groupe, et une vidéo vue 205 110 fois.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AE172A"/>
                </a:solidFill>
                <a:latin typeface="Poppins"/>
              </a:rPr>
              <a:t>Ce qui manque</a:t>
            </a:r>
          </a:p>
        </p:txBody>
      </p:sp>
      <p:pic>
        <p:nvPicPr>
          <p:cNvPr id="21" name="Picture 20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2340000"/>
            <a:ext cx="360000" cy="36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84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Deux langues dans chaque texte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24 sur 25 : l’anglais pousse la question hors de vue.</a:t>
            </a:r>
          </a:p>
        </p:txBody>
      </p:sp>
      <p:pic>
        <p:nvPicPr>
          <p:cNvPr id="23" name="Picture 22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3330000"/>
            <a:ext cx="360000" cy="36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84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Aucun prix, aucun point de vente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0 sur 25 : on ne sait pas où acheter.</a:t>
            </a:r>
          </a:p>
        </p:txBody>
      </p:sp>
      <p:pic>
        <p:nvPicPr>
          <p:cNvPr id="25" name="Picture 24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4320000"/>
            <a:ext cx="360000" cy="36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84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scores en dents de scie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5 publications au-dessus de 2 400, 4 en dessous de 30.</a:t>
            </a:r>
          </a:p>
        </p:txBody>
      </p:sp>
      <p:pic>
        <p:nvPicPr>
          <p:cNvPr id="27" name="Picture 26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5310000"/>
            <a:ext cx="360000" cy="36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84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questions qui tombent à plat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15 publications Instagram sur 24 sans aucun commentaire.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MEILLEURES PUBLICATIONS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meilleures : un usage clair, une émotion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dreamcosmetics.net_1544646141036182.jpg"/>
          <p:cNvPicPr>
            <a:picLocks noChangeAspect="1"/>
          </p:cNvPicPr>
          <p:nvPr/>
        </p:nvPicPr>
        <p:blipFill>
          <a:blip r:embed="rId3"/>
          <a:srcRect t="3000" b="700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1</a:t>
            </a:r>
          </a:p>
        </p:txBody>
      </p:sp>
      <p:pic>
        <p:nvPicPr>
          <p:cNvPr id="13" name="Picture 12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75 577</a:t>
            </a:r>
          </a:p>
        </p:txBody>
      </p:sp>
      <p:pic>
        <p:nvPicPr>
          <p:cNvPr id="15" name="Picture 14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94</a:t>
            </a:r>
          </a:p>
        </p:txBody>
      </p:sp>
      <p:pic>
        <p:nvPicPr>
          <p:cNvPr id="17" name="Picture 16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02/09 · Déodorant Day by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dreamcosmetics.net_1586443180189811.jpg"/>
          <p:cNvPicPr>
            <a:picLocks noChangeAspect="1"/>
          </p:cNvPicPr>
          <p:nvPr/>
        </p:nvPicPr>
        <p:blipFill>
          <a:blip r:embed="rId7"/>
          <a:srcRect t="3000" b="700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2</a:t>
            </a:r>
          </a:p>
        </p:txBody>
      </p:sp>
      <p:pic>
        <p:nvPicPr>
          <p:cNvPr id="24" name="Picture 23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9 508</a:t>
            </a:r>
          </a:p>
        </p:txBody>
      </p:sp>
      <p:pic>
        <p:nvPicPr>
          <p:cNvPr id="26" name="Picture 25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28</a:t>
            </a:r>
          </a:p>
        </p:txBody>
      </p:sp>
      <p:pic>
        <p:nvPicPr>
          <p:cNvPr id="28" name="Picture 27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13/10 · Pommade Babymed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dreamcosmetics.net_1570312905136172.jpg"/>
          <p:cNvPicPr>
            <a:picLocks noChangeAspect="1"/>
          </p:cNvPicPr>
          <p:nvPr/>
        </p:nvPicPr>
        <p:blipFill>
          <a:blip r:embed="rId8"/>
          <a:srcRect t="3000" b="700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3</a:t>
            </a:r>
          </a:p>
        </p:txBody>
      </p:sp>
      <p:pic>
        <p:nvPicPr>
          <p:cNvPr id="35" name="Picture 34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9 435</a:t>
            </a:r>
          </a:p>
        </p:txBody>
      </p:sp>
      <p:pic>
        <p:nvPicPr>
          <p:cNvPr id="37" name="Picture 36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73</a:t>
            </a:r>
          </a:p>
        </p:txBody>
      </p:sp>
      <p:pic>
        <p:nvPicPr>
          <p:cNvPr id="39" name="Picture 38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28/09 · « Quelle team ? 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dreamcosmetics.net_1551327190368077.jpg"/>
          <p:cNvPicPr>
            <a:picLocks noChangeAspect="1"/>
          </p:cNvPicPr>
          <p:nvPr/>
        </p:nvPicPr>
        <p:blipFill>
          <a:blip r:embed="rId9"/>
          <a:srcRect t="3000" b="700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4</a:t>
            </a:r>
          </a:p>
        </p:txBody>
      </p:sp>
      <p:pic>
        <p:nvPicPr>
          <p:cNvPr id="46" name="Picture 45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3 339</a:t>
            </a:r>
          </a:p>
        </p:txBody>
      </p:sp>
      <p:pic>
        <p:nvPicPr>
          <p:cNvPr id="48" name="Picture 47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27</a:t>
            </a:r>
          </a:p>
        </p:txBody>
      </p:sp>
      <p:pic>
        <p:nvPicPr>
          <p:cNvPr id="50" name="Picture 49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09/09 · Cocopulp « votre ex »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ulb_d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Le score de 75 577 sur le déodorant laisse penser à une diffusion payante (hypothèse). Les trois suivantes ont un point commun : un produit du quotidien et une phrase qui fait sourire ou choisir.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MOINS BONNES PUBLICATIONS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moins bonnes : on ne voit ni le produit ni la personne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dreamcosmetics.net_1582934050540724.jpg"/>
          <p:cNvPicPr>
            <a:picLocks noChangeAspect="1"/>
          </p:cNvPicPr>
          <p:nvPr/>
        </p:nvPicPr>
        <p:blipFill>
          <a:blip r:embed="rId3"/>
          <a:srcRect t="3000" b="700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13" name="Picture 12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11</a:t>
            </a:r>
          </a:p>
        </p:txBody>
      </p:sp>
      <p:pic>
        <p:nvPicPr>
          <p:cNvPr id="15" name="Picture 14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17" name="Picture 16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10/10 · Routine du matin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dreamcosmetics.net_1602069965293799.jpg"/>
          <p:cNvPicPr>
            <a:picLocks noChangeAspect="1"/>
          </p:cNvPicPr>
          <p:nvPr/>
        </p:nvPicPr>
        <p:blipFill>
          <a:blip r:embed="rId7"/>
          <a:srcRect t="3000" b="700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24" name="Picture 23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13</a:t>
            </a:r>
          </a:p>
        </p:txBody>
      </p:sp>
      <p:pic>
        <p:nvPicPr>
          <p:cNvPr id="26" name="Picture 25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28" name="Picture 27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27/10 · Always Young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dreamcosmetics.net_1569260318574764.jpg"/>
          <p:cNvPicPr>
            <a:picLocks noChangeAspect="1"/>
          </p:cNvPicPr>
          <p:nvPr/>
        </p:nvPicPr>
        <p:blipFill>
          <a:blip r:embed="rId8"/>
          <a:srcRect t="3000" b="700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35" name="Picture 34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19</a:t>
            </a:r>
          </a:p>
        </p:txBody>
      </p:sp>
      <p:pic>
        <p:nvPicPr>
          <p:cNvPr id="37" name="Picture 36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39" name="Picture 38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27/09 · Boutons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dreamcosmetics.net_1553266583507471.jpg"/>
          <p:cNvPicPr>
            <a:picLocks noChangeAspect="1"/>
          </p:cNvPicPr>
          <p:nvPr/>
        </p:nvPicPr>
        <p:blipFill>
          <a:blip r:embed="rId9"/>
          <a:srcRect t="4603" b="1074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46" name="Picture 45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28</a:t>
            </a:r>
          </a:p>
        </p:txBody>
      </p:sp>
      <p:pic>
        <p:nvPicPr>
          <p:cNvPr id="48" name="Picture 47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50" name="Picture 49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11/09 · Salle de bain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alert-triangle_d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Des devinettes (« swipez pour découvrir », « la coupable n’est peut-être pas… ») qui gardent la réponse cachée, et un texte en anglais seul le 27/10 : 13 réactions pour 211 469 abonnés.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PAR GAMME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Babymed et Day by Day tirent la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48000"/>
            <a:ext cx="57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Réactions médianes par gamme (nombre de publications)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016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111"/>
                </a:solidFill>
                <a:latin typeface="Poppins"/>
              </a:rPr>
              <a:t>Babymed (8)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999" y="2167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999" y="2167200"/>
            <a:ext cx="401429" cy="3696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8000" y="2016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AE172A"/>
                </a:solidFill>
                <a:latin typeface="Poppins"/>
              </a:rPr>
              <a:t>216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688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Day by Day (4)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999" y="2839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999" y="2839200"/>
            <a:ext cx="208148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8000" y="2688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360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Cocopulp (2)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999" y="3511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31999" y="3511200"/>
            <a:ext cx="3204001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8000" y="3360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1 724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032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Sans gamme nommée (7)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999" y="4183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1999" y="4183200"/>
            <a:ext cx="9664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08000" y="4032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4704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Dr Wang (1)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31999" y="4855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31999" y="4855200"/>
            <a:ext cx="9000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08000" y="4704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5376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Always Young (1)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31999" y="5527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31999" y="5527200"/>
            <a:ext cx="9000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08000" y="5376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6000" y="1655999"/>
            <a:ext cx="4932000" cy="4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AE172A"/>
                </a:solidFill>
                <a:latin typeface="Poppins"/>
              </a:rPr>
              <a:t>Ce que ça dit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Babymed est la seule gamme publiée souvent et qui marche à chaque fois : 8 publications, 216 réactions médianes, un pic à 9 508.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Cocopulp a deux publications seulement, mais une médiane de 1 724 : à pousser.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Les publications sans produit nommé font 52 réactions : quatre fois moins que Babymed.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A5A5A"/>
                </a:solidFill>
                <a:latin typeface="Poppins"/>
              </a:rPr>
              <a:t>Le chiffre entre parenthèses est le nombre de publications : sur 1 ou 2, c’est une tendance, pas une preuve.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6 publications refaites, avec 5 règles simples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0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arrow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1994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idée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geste ou un bénéfice, dit en une phrase.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2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sers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1994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16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personne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visage et le produit, côte à côte.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essage-circl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1994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8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vraie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À laquelle on répond en un mot.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6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orld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1994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0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français d’abord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L’anglais en commentaire, ou sur une publication à part.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8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parkles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1994399"/>
            <a:ext cx="403200" cy="4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2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nom de la gamme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2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En grand sur l’image : Babymed, Day by Day…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E172A"/>
                </a:solidFill>
                <a:latin typeface="Poppins"/>
              </a:rPr>
              <a:t>Ce que nous n’avons pas inventé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  <a:latin typeface="Poppins"/>
              </a:rPr>
              <a:t>Prix, points de vente et promotions ne figurent pas dans vos publications : nous ne les avons pas ajoutés. Ils rendraient chaque publication plus forte, dès que vous nous les donnez.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LE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Une personne et un produit sur chaque visuel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w_d_alway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475999"/>
            <a:ext cx="1944000" cy="2430000"/>
          </a:xfrm>
          <a:prstGeom prst="rect">
            <a:avLst/>
          </a:prstGeom>
        </p:spPr>
      </p:pic>
      <p:pic>
        <p:nvPicPr>
          <p:cNvPr id="10" name="Picture 9" descr="w_d_hom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000" y="1475999"/>
            <a:ext cx="1944000" cy="2430000"/>
          </a:xfrm>
          <a:prstGeom prst="rect">
            <a:avLst/>
          </a:prstGeom>
        </p:spPr>
      </p:pic>
      <p:pic>
        <p:nvPicPr>
          <p:cNvPr id="11" name="Picture 10" descr="w_d_bouton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000" y="1475999"/>
            <a:ext cx="1944000" cy="2430000"/>
          </a:xfrm>
          <a:prstGeom prst="rect">
            <a:avLst/>
          </a:prstGeom>
        </p:spPr>
      </p:pic>
      <p:pic>
        <p:nvPicPr>
          <p:cNvPr id="12" name="Picture 11" descr="w_d_parfum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3977999"/>
            <a:ext cx="1944000" cy="2430000"/>
          </a:xfrm>
          <a:prstGeom prst="rect">
            <a:avLst/>
          </a:prstGeom>
        </p:spPr>
      </p:pic>
      <p:pic>
        <p:nvPicPr>
          <p:cNvPr id="13" name="Picture 12" descr="w_d_carott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000" y="3977999"/>
            <a:ext cx="1944000" cy="2430000"/>
          </a:xfrm>
          <a:prstGeom prst="rect">
            <a:avLst/>
          </a:prstGeom>
        </p:spPr>
      </p:pic>
      <p:pic>
        <p:nvPicPr>
          <p:cNvPr id="14" name="Picture 13" descr="w_d_beb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000" y="3977999"/>
            <a:ext cx="1944000" cy="243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0000" y="1512000"/>
            <a:ext cx="3348000" cy="50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AE172A"/>
                </a:solidFill>
                <a:latin typeface="Poppins"/>
              </a:rPr>
              <a:t>Ce qui change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Un visage pour qu’on s’y reconnaisse, le produit dans un rond blanc pour qu’on le retrouve en rayon.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Un titre court en grand, la question dans le texte.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Le rouge et le rose de votre logo, partout.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A5A5A"/>
                </a:solidFill>
                <a:latin typeface="Poppins"/>
              </a:rPr>
              <a:t>Photos de personnes : illustrations à remplacer par vos égéries ou vos clientes (avec leur accord).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1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Always Young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alway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2087100"/>
            <a:ext cx="3456000" cy="40338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alway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texte en français, d’abord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visage et le produit, côte à côte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question à laquelle on répond en 1 mot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soir, on se démaquille, on applique, on souffle. 2 minutes pour soi. 🤍
La crème Always Young s’applique en fin de journée, sur peau propre.
 Vous, c’est le matin ou le soir ? Dites-le 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2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Day by Day Men, routine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hom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49400"/>
            <a:ext cx="3456000" cy="4309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homm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Les 3 étapes écrites dans le post, pas cachées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produit montré, avec son nom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On fait compter : réponse facile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Messieurs, après la douche : 1. on sèche bien, 2. on hydrate, 3. on parfume. 💧
Le gel douche Day by Day Men fait la première étape pour vous.
 Vous en faites combien sur les 3 ? 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3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Clear Therapy, boutons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bout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49400"/>
            <a:ext cx="3456000" cy="4309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bouton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On donne la réponse, pas une devinette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conseil utile, qu’on a envie de partager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produit en appui, pas en vedette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Vos boutons reviennent ? Regardez votre taie d’oreiller. 😴
Elle touche votre visage 8 heures par nuit. Changez-la chaque semaine, et nettoyez votre peau matin et soir.
 Vous la changez tous les combien ? 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4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Day by Day Men, parfum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parfu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879200"/>
            <a:ext cx="3456000" cy="44496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parfu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L’humour d’origine gardé, en plus court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homme et le flacon, bien visibles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L’identification fait voyager le post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Elle dit qu’elle « emprunte ». On sait tous que c’est faux. 💙
L’eau de Cologne Day by Day Men, fraîche toute la journée.
 Identifiez celle qui vous pique votre parfum 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5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Carowhite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carot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2016900"/>
            <a:ext cx="3456000" cy="4174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carot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vrai choix au lieu d’une phrase vague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femme qui applique, pas un pot seul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Deux camps : tout le monde peut répondre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Team pommade ou team lait ? 🥕
La gamme Carowhite à l’huile de carotte existe dans les deux.
 Votre camp en commentaire 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6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Babymed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beb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879200"/>
            <a:ext cx="3456000" cy="44496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beb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On parle de la gamme qui marche le mieux chez vous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mère et son bébé, une scène vraie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Les mamans répondent entre elles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bain, un massage, la pommade. Bébé dort. 🤍
La Pommade Nourrissante Babymed, au beurre de karité.
 Mamans, votre astuce pour le coucher ? 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5 décisions pour faire réagir, puis faire acheter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d_alw_2.jpg"/>
          <p:cNvPicPr>
            <a:picLocks noChangeAspect="1"/>
          </p:cNvPicPr>
          <p:nvPr/>
        </p:nvPicPr>
        <p:blipFill>
          <a:blip r:embed="rId3"/>
          <a:srcRect l="6530" r="6530"/>
          <a:stretch>
            <a:fillRect/>
          </a:stretch>
        </p:blipFill>
        <p:spPr>
          <a:xfrm>
            <a:off x="8928000" y="1584000"/>
            <a:ext cx="2700000" cy="466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584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296000" y="1728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orld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760" y="1850760"/>
            <a:ext cx="312480" cy="312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15999" y="1584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Le français d’abord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6000" y="1584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 texte en français seul ; l’anglais en premier commentaire, ou réservé à une publication export.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2538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00" y="2538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00" y="2538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296000" y="2682000"/>
            <a:ext cx="558000" cy="558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aby-carriag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760" y="2804760"/>
            <a:ext cx="312480" cy="312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15999" y="2538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Miser sur Babymed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6000" y="2538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publication Babymed par semaine : c’est votre gamme la plus régulière, et Gandour gagne sur bébé.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492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3492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000" y="3492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296000" y="3636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ap-pin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8760" y="3758760"/>
            <a:ext cx="312480" cy="3124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15999" y="3492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Dire où acheter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6000" y="3492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fois par semaine : la pharmacie, le supermarché, le marché où l’on trouve le produit.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00" y="4446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00" y="4446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000" y="4446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1296000" y="4590000"/>
            <a:ext cx="558000" cy="558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deo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8760" y="4712760"/>
            <a:ext cx="312480" cy="3124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015999" y="4446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Plus de vidéos courtes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6000" y="4446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Votre vidéo PawPaw a fait 205 110 vues sur Instagram : deux vidéos de routine par semaine.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00" y="5400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00" y="5400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000" y="5400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1296000" y="5544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rand-linkedin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8760" y="5666760"/>
            <a:ext cx="312480" cy="312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015999" y="5400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Réveiller LinkedIn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6000" y="5400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publication par semaine pour les distributeurs et les futurs collaborateurs : l’usine, les équipes, l’export.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FONT LES MEILLEURES · EUROPE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grandes marques européennes : une idée, un produit, beaucoup de vide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IVEA_c5ea7c8e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826999"/>
            <a:ext cx="1602000" cy="160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NIVEA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16/09/2026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titre, trois bénéfices avec icônes, le produit en grand.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8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a_Roche-Posay_ea140c7c7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00" y="1826999"/>
            <a:ext cx="1602000" cy="160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56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La Roche-Posay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6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17/09/2026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6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visage, le produit au premier plan, le nom de la gamme en très gros.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_Roche-Posay_8b32fa3c5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1826999"/>
            <a:ext cx="1602000" cy="160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28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La Roche-Posay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8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11/08/2026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8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Fond d’une seule couleur, un produit, un bouton d’achat.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IODERMA_b0863e60d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4000" y="1826999"/>
            <a:ext cx="1602000" cy="160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00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Bioderma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27/10/2026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La peau et le produit, un titre en haut, rien d’autre.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4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ucerin_a11b4b01a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6000" y="1826999"/>
            <a:ext cx="1602000" cy="1602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2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Eucerin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2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21/09/2026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2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geste d’application : on voit à quoi sert le produit.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ogue_France_with_Cl_4e1b81119f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8000" y="2176769"/>
            <a:ext cx="1602000" cy="9024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4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Clarins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13/10/2026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Deux visages, une ambiance, aucun texte sur l’image.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ulb_d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Relevé dans la bibliothèque publicitaire de Meta le 29/10/2026 (publicités actives). Aucune n’a plus d’une phrase sur l’image ; le logo est petit, le produit est grand.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FONT LES MEILLEURES · AFRIQUE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Côte d’Ivoire : Gandour montre la voie, et Dream fait déjà de la publicité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Gandourci_14957386159199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826999"/>
            <a:ext cx="1602000" cy="160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Switz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40 885 réactions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bébé, un flacon, une phrase. Le meilleur score du relevé.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8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b_Gandourci_155559172326793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00" y="1626749"/>
            <a:ext cx="1602000" cy="2002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56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Feel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6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13 519 réactions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6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produit seul sur un aplat de la couleur de son parfum.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b_Gandourci_155214252361285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1626749"/>
            <a:ext cx="1602000" cy="2002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28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Feel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8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10 068 réactions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8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L’ingrédient autour du flacon : on comprend sans lire.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b_kaeracosmetic_147252510824246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761" y="1620000"/>
            <a:ext cx="1134478" cy="201599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00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Kaera · Soleil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2 017 réactions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produit en très gros plan, couleurs franches.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4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b_SIVOP_145407143681939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6000" y="1626749"/>
            <a:ext cx="1602000" cy="2002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2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SIVOP · parfum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2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2 620 réactions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2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Une nature morte douce, le flacon au centre.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ream_pub_ng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8000" y="1626749"/>
            <a:ext cx="1602000" cy="2002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4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Dream Cosmetics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 active · Nigeria, Kenya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Octobre Rose, depuis le 26/10 : belle image, aucun produit.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trending-up_d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Les quatre meilleures publications du relevé africain font la même chose : un produit ou un bébé, une couleur, une phrase. Réactions Facebook relevées le 28/10/2026.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NOUS EN RETENONS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6 règles tirées des meilleures, appliquées à vos flyers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0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arrow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1994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idée par flyer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bénéfice, dit en cinq mots au plus.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2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ackag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1994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16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produit en héros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Grand, net, au centre ou au premier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hot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1994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8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vraie 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Une peau, un bébé, un ingrédient : jamais un dessin.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6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roplet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1994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0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La couleur de la gamme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Orange karité, bleu Men, vert d’eau Babymed.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8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rand-instagram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1994399"/>
            <a:ext cx="403200" cy="4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2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Où vous trouver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2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Instagram, Facebook et site, en bas, toujours au même endroit.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E172A"/>
                </a:solidFill>
                <a:latin typeface="Poppins"/>
              </a:rPr>
              <a:t>La sixième règle : moins de texte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  <a:latin typeface="Poppins"/>
              </a:rPr>
              <a:t>Les grandes marques n’écrivent jamais plus d’une phrase sur l’image. Le reste va dans la légende de la publication.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NOUVELLE LIGNE DE FLYERS · 1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 nouveau jet : six flyers dans les codes des grandes marques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01_daybyday-women-kari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0000"/>
            <a:ext cx="3528000" cy="441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Women · karité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Feel, NIVEA</a:t>
            </a:r>
          </a:p>
        </p:txBody>
      </p:sp>
      <p:pic>
        <p:nvPicPr>
          <p:cNvPr id="13" name="Picture 12" descr="02_babymed-douceu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440000"/>
            <a:ext cx="3528000" cy="4410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20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Babymed · le premier bain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Switz, Bioderma</a:t>
            </a:r>
          </a:p>
        </p:txBody>
      </p:sp>
      <p:pic>
        <p:nvPicPr>
          <p:cNvPr id="17" name="Picture 16" descr="03_cocopulp-gel-douch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00" y="1440000"/>
            <a:ext cx="3528000" cy="4410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64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4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Cocopulp · gel douche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4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cacao, SIVOP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NOUVELLE LIGNE DE FLYERS · 2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Trois gammes, trois couleurs, une même signature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04_daybyday-men-perfect-d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0000"/>
            <a:ext cx="3528000" cy="441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Men · Perfect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La Roche-Posay, NIVEA Men</a:t>
            </a:r>
          </a:p>
        </p:txBody>
      </p:sp>
      <p:pic>
        <p:nvPicPr>
          <p:cNvPr id="13" name="Picture 12" descr="05_daybyday-women-gam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440000"/>
            <a:ext cx="3528000" cy="4410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20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Women · les 4 laits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NIVEA « choisissez le vôtre »</a:t>
            </a:r>
          </a:p>
        </p:txBody>
      </p:sp>
      <p:pic>
        <p:nvPicPr>
          <p:cNvPr id="17" name="Picture 16" descr="06_babymed-coffret-naissan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00" y="1440000"/>
            <a:ext cx="3528000" cy="4410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64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4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Babymed · coffret naissance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4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Clarins, Avène coffrets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DEUX AUTRES DIRECTIONS ARTISTIQUES · 1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Direction A : l’éditorial du soir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A1_daybyday-women-apaisa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4500"/>
            <a:ext cx="2124000" cy="265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Women · apaisant</a:t>
            </a:r>
          </a:p>
        </p:txBody>
      </p:sp>
      <p:pic>
        <p:nvPicPr>
          <p:cNvPr id="11" name="Picture 10" descr="A2_daybyday-cac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00" y="1444500"/>
            <a:ext cx="2124000" cy="265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08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cacao</a:t>
            </a:r>
          </a:p>
        </p:txBody>
      </p:sp>
      <p:pic>
        <p:nvPicPr>
          <p:cNvPr id="13" name="Picture 12" descr="A3_daybyday-men-gel-douch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0" y="1444500"/>
            <a:ext cx="2124000" cy="265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40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Men · gel douche</a:t>
            </a:r>
          </a:p>
        </p:txBody>
      </p:sp>
      <p:pic>
        <p:nvPicPr>
          <p:cNvPr id="15" name="Picture 14" descr="A4_babymed-beurr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000" y="1444500"/>
            <a:ext cx="2124000" cy="2655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72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Babymed · beurre</a:t>
            </a:r>
          </a:p>
        </p:txBody>
      </p:sp>
      <p:pic>
        <p:nvPicPr>
          <p:cNvPr id="17" name="Picture 16" descr="A5_daybyday-women-moring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4000" y="1444500"/>
            <a:ext cx="2124000" cy="2655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04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Women · moringa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4896000"/>
            <a:ext cx="11052000" cy="1080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ulb_d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000" y="5184000"/>
            <a:ext cx="503999" cy="5039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0000" y="4896000"/>
            <a:ext cx="10008000" cy="10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Sur le modèle de Clarins et des campagnes de magazine : un grand portrait, un fond sombre, un titre en italique, le produit en bas à droite. Une couleur de filet par gamme. Pour les publicités et les lancements : l’image fait monter la marque en gamme.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DEUX AUTRES DIRECTIONS ARTISTIQUES · 2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Direction B : la couleur franche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B1_daybyday-grenad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4500"/>
            <a:ext cx="2124000" cy="265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grenadine</a:t>
            </a:r>
          </a:p>
        </p:txBody>
      </p:sp>
      <p:pic>
        <p:nvPicPr>
          <p:cNvPr id="11" name="Picture 10" descr="B2_daybyday-alo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00" y="1444500"/>
            <a:ext cx="2124000" cy="265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08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aloe vera</a:t>
            </a:r>
          </a:p>
        </p:txBody>
      </p:sp>
      <p:pic>
        <p:nvPicPr>
          <p:cNvPr id="13" name="Picture 12" descr="B3_daybyday-amand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0" y="1444500"/>
            <a:ext cx="2124000" cy="265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40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amande</a:t>
            </a:r>
          </a:p>
        </p:txBody>
      </p:sp>
      <p:pic>
        <p:nvPicPr>
          <p:cNvPr id="15" name="Picture 14" descr="B4_cocopulp-lai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000" y="1444500"/>
            <a:ext cx="2124000" cy="2655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72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Cocopulp · lait</a:t>
            </a:r>
          </a:p>
        </p:txBody>
      </p:sp>
      <p:pic>
        <p:nvPicPr>
          <p:cNvPr id="17" name="Picture 16" descr="B5_daybyday-men-spor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4000" y="1444500"/>
            <a:ext cx="2124000" cy="2655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04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Men Sport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4896000"/>
            <a:ext cx="11052000" cy="1080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ulb_d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000" y="5184000"/>
            <a:ext cx="503999" cy="5039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0000" y="4896000"/>
            <a:ext cx="10008000" cy="10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Sur le modèle de NIVEA « choisissez le vôtre » et de Kaera : un aplat de la couleur du parfum, le nom de l’ingrédient en très gros, l’ingrédient en photo dans un rond. Pour le fil de tous les jours : on reconnaît le produit au premier coup d’œil, en rayon aussi.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PLAN 30 JOURS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 premier mois, semaine par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576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lendar-event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10000"/>
            <a:ext cx="324000" cy="3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6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Valider les 6 publications refaites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Passer les textes en français seul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Lister les points de vente à citer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584000"/>
            <a:ext cx="2628000" cy="576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ncil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1710000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24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4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8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Publier les 6 avant / après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3 publications par semaine, 12 h ou 19 h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Répondre à chaque commentaire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2628000" cy="576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de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000" y="1710000"/>
            <a:ext cx="324000" cy="3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32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2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Tourner 2 vidéos de routine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Un sondage Babymed pour les mamans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Première publication LinkedIn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584000"/>
            <a:ext cx="2628000" cy="576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rending-up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710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40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Comparer aux 138 réactions de départ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Garder ce qui marche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Préparer le mois suivant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00" y="5364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arget-arrow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00" y="5544000"/>
            <a:ext cx="503999" cy="503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40000" y="5364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Poppins"/>
              </a:rPr>
              <a:t>Objectif proposé à 30 jours : passer de 138 à 300 réactions médianes sur Facebook, et d’un commentaire sur trois publications Instagram à une sur deux.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Les chiffres à suivre chaque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00" y="1584000"/>
          <a:ext cx="11052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2544000"/>
                <a:gridCol w="2544000"/>
                <a:gridCol w="2544000"/>
              </a:tblGrid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Indicateur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Où le lire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Départ (28/10)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Objectif 30 jours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Réactions médianes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138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300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Instagram sans commentaire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Instagram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15 sur 24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Moins de 12 sur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en français seul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Vos textes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25 sur 25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qui disent où acheter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Vos textes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 publiées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Facebook et Instagram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7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8 par mois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aucune relevée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00" y="5544000"/>
            <a:ext cx="11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Les ventes et la portée ne se lisent qu’avec l’accès aux comptes : ce tableau commence par ce qui se voit de l’extérieur.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qu’il nous faut pour aller plus loin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30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d_baby_9.jpg"/>
          <p:cNvPicPr>
            <a:picLocks noChangeAspect="1"/>
          </p:cNvPicPr>
          <p:nvPr/>
        </p:nvPicPr>
        <p:blipFill>
          <a:blip r:embed="rId3"/>
          <a:srcRect l="6362" r="6362"/>
          <a:stretch>
            <a:fillRect/>
          </a:stretch>
        </p:blipFill>
        <p:spPr>
          <a:xfrm>
            <a:off x="8928000" y="1584000"/>
            <a:ext cx="2700000" cy="4644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999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y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99" y="1994399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L’accès aux comptes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Portée, clics, messages et budgets publicitaires : pour savoir quelles publications sont payées, et ce qu’elles rapportent.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7999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p-pin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399" y="1994399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1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Points de vente et prix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Pour écrire « où l’acheter » et des offres datées.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7999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ircle-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399" y="1994399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Votre accord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Sur les 6 publications refaites, avant toute mise en ligne.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36000"/>
            <a:ext cx="8136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Rien n’a été publié. Les photos de personnes sont des illustrations ; les produits sont ceux de votre catalogue.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