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1.jpg"/>
          <p:cNvPicPr>
            <a:picLocks noChangeAspect="1"/>
          </p:cNvPicPr>
          <p:nvPr/>
        </p:nvPicPr>
        <p:blipFill>
          <a:blip r:embed="rId2"/>
          <a:stretch>
            <a:fillRect/>
          </a:stretch>
        </p:blipFill>
        <p:spPr>
          <a:xfrm>
            <a:off x="6300000" y="0"/>
            <a:ext cx="5903999" cy="6858000"/>
          </a:xfrm>
          <a:prstGeom prst="rect">
            <a:avLst/>
          </a:prstGeom>
        </p:spPr>
      </p:pic>
      <p:sp>
        <p:nvSpPr>
          <p:cNvPr id="4" name="Rectangle 3"/>
          <p:cNvSpPr/>
          <p:nvPr/>
        </p:nvSpPr>
        <p:spPr>
          <a:xfrm>
            <a:off x="6300000" y="0"/>
            <a:ext cx="144000" cy="6858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white.png"/>
          <p:cNvPicPr>
            <a:picLocks noChangeAspect="1"/>
          </p:cNvPicPr>
          <p:nvPr/>
        </p:nvPicPr>
        <p:blipFill>
          <a:blip r:embed="rId3"/>
          <a:stretch>
            <a:fillRect/>
          </a:stretch>
        </p:blipFill>
        <p:spPr>
          <a:xfrm>
            <a:off x="720000" y="648000"/>
            <a:ext cx="1165714" cy="1224000"/>
          </a:xfrm>
          <a:prstGeom prst="rect">
            <a:avLst/>
          </a:prstGeom>
        </p:spPr>
      </p:pic>
      <p:sp>
        <p:nvSpPr>
          <p:cNvPr id="6" name="TextBox 5"/>
          <p:cNvSpPr txBox="1"/>
          <p:nvPr/>
        </p:nvSpPr>
        <p:spPr>
          <a:xfrm>
            <a:off x="720000" y="2376000"/>
            <a:ext cx="5400000" cy="2880000"/>
          </a:xfrm>
          <a:prstGeom prst="rect">
            <a:avLst/>
          </a:prstGeom>
          <a:noFill/>
        </p:spPr>
        <p:txBody>
          <a:bodyPr wrap="square">
            <a:spAutoFit/>
          </a:bodyPr>
          <a:lstStyle/>
          <a:p>
            <a:pPr>
              <a:spcAft>
                <a:spcPts val="500"/>
              </a:spcAft>
            </a:pPr>
            <a:r>
              <a:rPr sz="1400" b="1">
                <a:solidFill>
                  <a:srgbClr val="F2D20F"/>
                </a:solidFill>
                <a:latin typeface="Poppins"/>
              </a:rPr>
              <a:t>AUDIT RÉSEAUX SOCIAUX</a:t>
            </a:r>
          </a:p>
          <a:p>
            <a:pPr>
              <a:spcAft>
                <a:spcPts val="500"/>
              </a:spcAft>
            </a:pPr>
            <a:r>
              <a:rPr sz="3400" b="1">
                <a:solidFill>
                  <a:srgbClr val="FFFFFF"/>
                </a:solidFill>
                <a:latin typeface="Poppins"/>
              </a:rPr>
              <a:t>Centre commercial Sococé, Deux-Plateaux</a:t>
            </a:r>
          </a:p>
          <a:p>
            <a:pPr>
              <a:spcAft>
                <a:spcPts val="500"/>
              </a:spcAft>
            </a:pPr>
            <a:r>
              <a:rPr sz="1500" b="0">
                <a:solidFill>
                  <a:srgbClr val="E6E0F2"/>
                </a:solidFill>
                <a:latin typeface="Poppins"/>
              </a:rPr>
              <a:t>Ce que Sococé montre en ligne aujourd'hui, comparé à Cap Sud, PlaYce et Cosmos Yopougon, et ce qu'il faut faire en 90 jours</a:t>
            </a:r>
          </a:p>
        </p:txBody>
      </p:sp>
      <p:sp>
        <p:nvSpPr>
          <p:cNvPr id="7" name="TextBox 6"/>
          <p:cNvSpPr txBox="1"/>
          <p:nvPr/>
        </p:nvSpPr>
        <p:spPr>
          <a:xfrm>
            <a:off x="720000" y="6192000"/>
            <a:ext cx="5400000" cy="360000"/>
          </a:xfrm>
          <a:prstGeom prst="rect">
            <a:avLst/>
          </a:prstGeom>
          <a:noFill/>
        </p:spPr>
        <p:txBody>
          <a:bodyPr wrap="square">
            <a:spAutoFit/>
          </a:bodyPr>
          <a:lstStyle/>
          <a:p>
            <a:pPr>
              <a:spcAft>
                <a:spcPts val="500"/>
              </a:spcAft>
            </a:pPr>
            <a:r>
              <a:rPr sz="1100" b="0">
                <a:solidFill>
                  <a:srgbClr val="E6E0F2"/>
                </a:solidFill>
                <a:latin typeface="Poppins"/>
              </a:rPr>
              <a:t>Relevé du 21 octobre 2026 · Abidjan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L'ESSENTIEL</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Sococé n'a pas de présence en ligne à son nom : c'est le premier chantier</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2</a:t>
            </a:r>
          </a:p>
        </p:txBody>
      </p:sp>
      <p:sp>
        <p:nvSpPr>
          <p:cNvPr id="8" name="Rectangle 7"/>
          <p:cNvSpPr/>
          <p:nvPr/>
        </p:nvSpPr>
        <p:spPr>
          <a:xfrm>
            <a:off x="540000" y="1655999"/>
            <a:ext cx="5400000" cy="216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0000" y="1655999"/>
            <a:ext cx="108000" cy="2160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000" y="1835999"/>
            <a:ext cx="4896000" cy="1908000"/>
          </a:xfrm>
          <a:prstGeom prst="rect">
            <a:avLst/>
          </a:prstGeom>
          <a:noFill/>
        </p:spPr>
        <p:txBody>
          <a:bodyPr wrap="square">
            <a:spAutoFit/>
          </a:bodyPr>
          <a:lstStyle/>
          <a:p>
            <a:pPr>
              <a:spcAft>
                <a:spcPts val="500"/>
              </a:spcAft>
            </a:pPr>
            <a:r>
              <a:rPr sz="1500" b="1">
                <a:solidFill>
                  <a:srgbClr val="3B2470"/>
                </a:solidFill>
                <a:latin typeface="Poppins"/>
              </a:rPr>
              <a:t>Aucune page officielle active</a:t>
            </a:r>
          </a:p>
          <a:p>
            <a:pPr>
              <a:spcAft>
                <a:spcPts val="500"/>
              </a:spcAft>
            </a:pPr>
            <a:r>
              <a:rPr sz="1250" b="0">
                <a:solidFill>
                  <a:srgbClr val="231C33"/>
                </a:solidFill>
                <a:latin typeface="Poppins"/>
              </a:rPr>
              <a:t>Pas de page Facebook, pas de compte TikTok au nom du centre commercial. Le seul compte Instagram, @hyperusococe, est arrêté depuis le 26 avril 2019.</a:t>
            </a:r>
          </a:p>
        </p:txBody>
      </p:sp>
      <p:sp>
        <p:nvSpPr>
          <p:cNvPr id="11" name="Rectangle 10"/>
          <p:cNvSpPr/>
          <p:nvPr/>
        </p:nvSpPr>
        <p:spPr>
          <a:xfrm>
            <a:off x="6156000" y="1655999"/>
            <a:ext cx="5400000" cy="216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6000" y="1655999"/>
            <a:ext cx="108000" cy="2160000"/>
          </a:xfrm>
          <a:prstGeom prst="rect">
            <a:avLst/>
          </a:prstGeom>
          <a:solidFill>
            <a:srgbClr val="F2D2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0000" y="1835999"/>
            <a:ext cx="4896000" cy="1908000"/>
          </a:xfrm>
          <a:prstGeom prst="rect">
            <a:avLst/>
          </a:prstGeom>
          <a:noFill/>
        </p:spPr>
        <p:txBody>
          <a:bodyPr wrap="square">
            <a:spAutoFit/>
          </a:bodyPr>
          <a:lstStyle/>
          <a:p>
            <a:pPr>
              <a:spcAft>
                <a:spcPts val="500"/>
              </a:spcAft>
            </a:pPr>
            <a:r>
              <a:rPr sz="1500" b="1">
                <a:solidFill>
                  <a:srgbClr val="3B2470"/>
                </a:solidFill>
                <a:latin typeface="Poppins"/>
              </a:rPr>
              <a:t>Le nom est occupé par d'autres</a:t>
            </a:r>
          </a:p>
          <a:p>
            <a:pPr>
              <a:spcAft>
                <a:spcPts val="500"/>
              </a:spcAft>
            </a:pPr>
            <a:r>
              <a:rPr sz="1250" b="0">
                <a:solidFill>
                  <a:srgbClr val="231C33"/>
                </a:solidFill>
                <a:latin typeface="Poppins"/>
              </a:rPr>
              <a:t>Sur Facebook, la page « Sococe CI SA » (14 267 abonnés, publicité en cours) est celle de l'autre Sococé, la distribution de Marcory. Sur TikTok, des comptes de particuliers s'appellent « Sococé ».</a:t>
            </a:r>
          </a:p>
        </p:txBody>
      </p:sp>
      <p:sp>
        <p:nvSpPr>
          <p:cNvPr id="14" name="Rectangle 13"/>
          <p:cNvSpPr/>
          <p:nvPr/>
        </p:nvSpPr>
        <p:spPr>
          <a:xfrm>
            <a:off x="540000" y="3996000"/>
            <a:ext cx="5400000" cy="216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0000" y="3996000"/>
            <a:ext cx="108000" cy="2160000"/>
          </a:xfrm>
          <a:prstGeom prst="rect">
            <a:avLst/>
          </a:prstGeom>
          <a:solidFill>
            <a:srgbClr val="70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 y="4176000"/>
            <a:ext cx="4896000" cy="1908000"/>
          </a:xfrm>
          <a:prstGeom prst="rect">
            <a:avLst/>
          </a:prstGeom>
          <a:noFill/>
        </p:spPr>
        <p:txBody>
          <a:bodyPr wrap="square">
            <a:spAutoFit/>
          </a:bodyPr>
          <a:lstStyle/>
          <a:p>
            <a:pPr>
              <a:spcAft>
                <a:spcPts val="500"/>
              </a:spcAft>
            </a:pPr>
            <a:r>
              <a:rPr sz="1500" b="1">
                <a:solidFill>
                  <a:srgbClr val="3B2470"/>
                </a:solidFill>
                <a:latin typeface="Poppins"/>
              </a:rPr>
              <a:t>La vraie vitrine, c'est Google</a:t>
            </a:r>
          </a:p>
          <a:p>
            <a:pPr>
              <a:spcAft>
                <a:spcPts val="500"/>
              </a:spcAft>
            </a:pPr>
            <a:r>
              <a:rPr sz="1250" b="0">
                <a:solidFill>
                  <a:srgbClr val="231C33"/>
                </a:solidFill>
                <a:latin typeface="Poppins"/>
              </a:rPr>
              <a:t>La fiche Hyper U Sococé affiche 4,4 sur 5 avec 1 312 avis. C'est le seul endroit où les clients parlent de Sococé en ligne, et personne n'y répond pour le centre.</a:t>
            </a:r>
          </a:p>
        </p:txBody>
      </p:sp>
      <p:sp>
        <p:nvSpPr>
          <p:cNvPr id="17" name="Rectangle 16"/>
          <p:cNvSpPr/>
          <p:nvPr/>
        </p:nvSpPr>
        <p:spPr>
          <a:xfrm>
            <a:off x="6156000" y="3996000"/>
            <a:ext cx="5400000" cy="216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6000" y="3996000"/>
            <a:ext cx="108000" cy="2160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0000" y="4176000"/>
            <a:ext cx="4896000" cy="1908000"/>
          </a:xfrm>
          <a:prstGeom prst="rect">
            <a:avLst/>
          </a:prstGeom>
          <a:noFill/>
        </p:spPr>
        <p:txBody>
          <a:bodyPr wrap="square">
            <a:spAutoFit/>
          </a:bodyPr>
          <a:lstStyle/>
          <a:p>
            <a:pPr>
              <a:spcAft>
                <a:spcPts val="500"/>
              </a:spcAft>
            </a:pPr>
            <a:r>
              <a:rPr sz="1500" b="1">
                <a:solidFill>
                  <a:srgbClr val="3B2470"/>
                </a:solidFill>
                <a:latin typeface="Poppins"/>
              </a:rPr>
              <a:t>Les concurrents ont 10 à 20 fois plus d'audience</a:t>
            </a:r>
          </a:p>
          <a:p>
            <a:pPr>
              <a:spcAft>
                <a:spcPts val="500"/>
              </a:spcAft>
            </a:pPr>
            <a:r>
              <a:rPr sz="1250" b="0">
                <a:solidFill>
                  <a:srgbClr val="231C33"/>
                </a:solidFill>
                <a:latin typeface="Poppins"/>
              </a:rPr>
              <a:t>Cosmos Yopougon a 254 320 abonnés Facebook, PlaYce 159 978, Cap Sud 97 177. Aucun des trois ne fait de publicité en ce moment : leur audience vient du contenu.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MÉTHODE</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Comment nous avons fait le relevé</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3</a:t>
            </a:r>
          </a:p>
        </p:txBody>
      </p:sp>
      <p:sp>
        <p:nvSpPr>
          <p:cNvPr id="8" name="TextBox 7"/>
          <p:cNvSpPr txBox="1"/>
          <p:nvPr/>
        </p:nvSpPr>
        <p:spPr>
          <a:xfrm>
            <a:off x="540000" y="1655999"/>
            <a:ext cx="5400000" cy="4320000"/>
          </a:xfrm>
          <a:prstGeom prst="rect">
            <a:avLst/>
          </a:prstGeom>
          <a:noFill/>
        </p:spPr>
        <p:txBody>
          <a:bodyPr wrap="square">
            <a:spAutoFit/>
          </a:bodyPr>
          <a:lstStyle/>
          <a:p>
            <a:pPr>
              <a:spcAft>
                <a:spcPts val="500"/>
              </a:spcAft>
            </a:pPr>
            <a:r>
              <a:rPr sz="1500" b="1">
                <a:solidFill>
                  <a:srgbClr val="654D99"/>
                </a:solidFill>
                <a:latin typeface="Poppins"/>
              </a:rPr>
              <a:t>Ce que nous avons cherché</a:t>
            </a:r>
          </a:p>
          <a:p>
            <a:pPr>
              <a:spcAft>
                <a:spcPts val="500"/>
              </a:spcAft>
            </a:pPr>
            <a:r>
              <a:rPr sz="1250" b="0">
                <a:solidFill>
                  <a:srgbClr val="231C33"/>
                </a:solidFill>
                <a:latin typeface="Poppins"/>
              </a:rPr>
              <a:t>Les comptes au nom du centre commercial Sococé et de l'Hyper U Sococé sur Facebook, Instagram, TikTok et Google, en essayant les variantes du nom (sococe, sococé, sococe2plateaux, centrecommercialsococe, hyperusococe…).</a:t>
            </a:r>
          </a:p>
          <a:p>
            <a:pPr>
              <a:spcAft>
                <a:spcPts val="500"/>
              </a:spcAft>
            </a:pPr>
            <a:r>
              <a:rPr sz="1500" b="1">
                <a:solidFill>
                  <a:srgbClr val="654D99"/>
                </a:solidFill>
                <a:latin typeface="Poppins"/>
              </a:rPr>
              <a:t>Sources</a:t>
            </a:r>
          </a:p>
          <a:p>
            <a:pPr>
              <a:spcAft>
                <a:spcPts val="500"/>
              </a:spcAft>
            </a:pPr>
            <a:r>
              <a:rPr sz="1250" b="0">
                <a:solidFill>
                  <a:srgbClr val="231C33"/>
                </a:solidFill>
                <a:latin typeface="Poppins"/>
              </a:rPr>
              <a:t>Les pages publiques des réseaux, relevées le 21 octobre 2026 ; la fiche Sococé du site du groupe Prosuma ; les fiches Google Maps. Les deux sites sococe.ci et sococe.com sont en construction et ne renvoient vers aucun compte.</a:t>
            </a:r>
          </a:p>
          <a:p>
            <a:pPr>
              <a:spcAft>
                <a:spcPts val="500"/>
              </a:spcAft>
            </a:pPr>
            <a:r>
              <a:rPr sz="1500" b="1">
                <a:solidFill>
                  <a:srgbClr val="654D99"/>
                </a:solidFill>
                <a:latin typeface="Poppins"/>
              </a:rPr>
              <a:t>Ce que ce relevé ne voit pas</a:t>
            </a:r>
          </a:p>
          <a:p>
            <a:pPr>
              <a:spcAft>
                <a:spcPts val="500"/>
              </a:spcAft>
            </a:pPr>
            <a:r>
              <a:rPr sz="1250" b="0">
                <a:solidFill>
                  <a:srgbClr val="231C33"/>
                </a:solidFill>
                <a:latin typeface="Poppins"/>
              </a:rPr>
              <a:t>Les statistiques internes (portée, visites du profil), les messages privés et d'éventuels comptes privés ou supprimés. Si le centre gère une page que nous n'avons pas trouvée, elle n'est en tout cas pas trouvable par un client.</a:t>
            </a:r>
          </a:p>
        </p:txBody>
      </p:sp>
      <p:pic>
        <p:nvPicPr>
          <p:cNvPr id="9" name="Picture 8" descr="p3.jpg"/>
          <p:cNvPicPr>
            <a:picLocks noChangeAspect="1"/>
          </p:cNvPicPr>
          <p:nvPr/>
        </p:nvPicPr>
        <p:blipFill>
          <a:blip r:embed="rId3"/>
          <a:stretch>
            <a:fillRect/>
          </a:stretch>
        </p:blipFill>
        <p:spPr>
          <a:xfrm>
            <a:off x="6480000" y="1655999"/>
            <a:ext cx="5184000" cy="4536000"/>
          </a:xfrm>
          <a:prstGeom prst="rect">
            <a:avLst/>
          </a:prstGeom>
        </p:spPr>
      </p:pic>
      <p:sp>
        <p:nvSpPr>
          <p:cNvPr id="10" name="TextBox 9"/>
          <p:cNvSpPr txBox="1"/>
          <p:nvPr/>
        </p:nvSpPr>
        <p:spPr>
          <a:xfrm>
            <a:off x="6480000" y="6228000"/>
            <a:ext cx="5184000" cy="216000"/>
          </a:xfrm>
          <a:prstGeom prst="rect">
            <a:avLst/>
          </a:prstGeom>
          <a:noFill/>
        </p:spPr>
        <p:txBody>
          <a:bodyPr wrap="square">
            <a:spAutoFit/>
          </a:bodyPr>
          <a:lstStyle/>
          <a:p>
            <a:pPr>
              <a:spcAft>
                <a:spcPts val="500"/>
              </a:spcAft>
            </a:pPr>
            <a:r>
              <a:rPr sz="800" b="0">
                <a:solidFill>
                  <a:srgbClr val="6B6578"/>
                </a:solidFill>
                <a:latin typeface="Poppins"/>
              </a:rPr>
              <a:t>Photo d'illustration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ÉTAT DES LIEUX</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Sococé en ligne aujourd'hui, canal par canal</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4</a:t>
            </a:r>
          </a:p>
        </p:txBody>
      </p:sp>
      <p:sp>
        <p:nvSpPr>
          <p:cNvPr id="8" name="Rectangle 7"/>
          <p:cNvSpPr/>
          <p:nvPr/>
        </p:nvSpPr>
        <p:spPr>
          <a:xfrm>
            <a:off x="540000" y="1655999"/>
            <a:ext cx="11124000" cy="540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000" y="1710000"/>
            <a:ext cx="1728000" cy="540000"/>
          </a:xfrm>
          <a:prstGeom prst="rect">
            <a:avLst/>
          </a:prstGeom>
          <a:noFill/>
        </p:spPr>
        <p:txBody>
          <a:bodyPr wrap="square">
            <a:spAutoFit/>
          </a:bodyPr>
          <a:lstStyle/>
          <a:p>
            <a:pPr>
              <a:spcAft>
                <a:spcPts val="500"/>
              </a:spcAft>
            </a:pPr>
            <a:r>
              <a:rPr sz="1150" b="1">
                <a:solidFill>
                  <a:srgbClr val="FFFFFF"/>
                </a:solidFill>
                <a:latin typeface="Poppins"/>
              </a:rPr>
              <a:t>Canal</a:t>
            </a:r>
          </a:p>
        </p:txBody>
      </p:sp>
      <p:sp>
        <p:nvSpPr>
          <p:cNvPr id="10" name="TextBox 9"/>
          <p:cNvSpPr txBox="1"/>
          <p:nvPr/>
        </p:nvSpPr>
        <p:spPr>
          <a:xfrm>
            <a:off x="2502000" y="1710000"/>
            <a:ext cx="3167999" cy="540000"/>
          </a:xfrm>
          <a:prstGeom prst="rect">
            <a:avLst/>
          </a:prstGeom>
          <a:noFill/>
        </p:spPr>
        <p:txBody>
          <a:bodyPr wrap="square">
            <a:spAutoFit/>
          </a:bodyPr>
          <a:lstStyle/>
          <a:p>
            <a:pPr>
              <a:spcAft>
                <a:spcPts val="500"/>
              </a:spcAft>
            </a:pPr>
            <a:r>
              <a:rPr sz="1150" b="1">
                <a:solidFill>
                  <a:srgbClr val="FFFFFF"/>
                </a:solidFill>
                <a:latin typeface="Poppins"/>
              </a:rPr>
              <a:t>Ce qui existe</a:t>
            </a:r>
          </a:p>
        </p:txBody>
      </p:sp>
      <p:sp>
        <p:nvSpPr>
          <p:cNvPr id="11" name="TextBox 10"/>
          <p:cNvSpPr txBox="1"/>
          <p:nvPr/>
        </p:nvSpPr>
        <p:spPr>
          <a:xfrm>
            <a:off x="5813999" y="1710000"/>
            <a:ext cx="2376000" cy="540000"/>
          </a:xfrm>
          <a:prstGeom prst="rect">
            <a:avLst/>
          </a:prstGeom>
          <a:noFill/>
        </p:spPr>
        <p:txBody>
          <a:bodyPr wrap="square">
            <a:spAutoFit/>
          </a:bodyPr>
          <a:lstStyle/>
          <a:p>
            <a:pPr>
              <a:spcAft>
                <a:spcPts val="500"/>
              </a:spcAft>
            </a:pPr>
            <a:r>
              <a:rPr sz="1150" b="1">
                <a:solidFill>
                  <a:srgbClr val="FFFFFF"/>
                </a:solidFill>
                <a:latin typeface="Poppins"/>
              </a:rPr>
              <a:t>Chiffres relevés</a:t>
            </a:r>
          </a:p>
        </p:txBody>
      </p:sp>
      <p:sp>
        <p:nvSpPr>
          <p:cNvPr id="12" name="TextBox 11"/>
          <p:cNvSpPr txBox="1"/>
          <p:nvPr/>
        </p:nvSpPr>
        <p:spPr>
          <a:xfrm>
            <a:off x="8333999" y="1710000"/>
            <a:ext cx="3276000" cy="540000"/>
          </a:xfrm>
          <a:prstGeom prst="rect">
            <a:avLst/>
          </a:prstGeom>
          <a:noFill/>
        </p:spPr>
        <p:txBody>
          <a:bodyPr wrap="square">
            <a:spAutoFit/>
          </a:bodyPr>
          <a:lstStyle/>
          <a:p>
            <a:pPr>
              <a:spcAft>
                <a:spcPts val="500"/>
              </a:spcAft>
            </a:pPr>
            <a:r>
              <a:rPr sz="1150" b="1">
                <a:solidFill>
                  <a:srgbClr val="FFFFFF"/>
                </a:solidFill>
                <a:latin typeface="Poppins"/>
              </a:rPr>
              <a:t>Ce que ça veut dire</a:t>
            </a:r>
          </a:p>
        </p:txBody>
      </p:sp>
      <p:sp>
        <p:nvSpPr>
          <p:cNvPr id="13" name="Rectangle 12"/>
          <p:cNvSpPr/>
          <p:nvPr/>
        </p:nvSpPr>
        <p:spPr>
          <a:xfrm>
            <a:off x="540000" y="2196000"/>
            <a:ext cx="11124000" cy="54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 y="2250000"/>
            <a:ext cx="1728000" cy="540000"/>
          </a:xfrm>
          <a:prstGeom prst="rect">
            <a:avLst/>
          </a:prstGeom>
          <a:noFill/>
        </p:spPr>
        <p:txBody>
          <a:bodyPr wrap="square">
            <a:spAutoFit/>
          </a:bodyPr>
          <a:lstStyle/>
          <a:p>
            <a:pPr>
              <a:spcAft>
                <a:spcPts val="500"/>
              </a:spcAft>
            </a:pPr>
            <a:r>
              <a:rPr sz="1150" b="1">
                <a:solidFill>
                  <a:srgbClr val="231C33"/>
                </a:solidFill>
                <a:latin typeface="Poppins"/>
              </a:rPr>
              <a:t>Facebook</a:t>
            </a:r>
          </a:p>
        </p:txBody>
      </p:sp>
      <p:sp>
        <p:nvSpPr>
          <p:cNvPr id="15" name="TextBox 14"/>
          <p:cNvSpPr txBox="1"/>
          <p:nvPr/>
        </p:nvSpPr>
        <p:spPr>
          <a:xfrm>
            <a:off x="2502000" y="2250000"/>
            <a:ext cx="3167999" cy="540000"/>
          </a:xfrm>
          <a:prstGeom prst="rect">
            <a:avLst/>
          </a:prstGeom>
          <a:noFill/>
        </p:spPr>
        <p:txBody>
          <a:bodyPr wrap="square">
            <a:spAutoFit/>
          </a:bodyPr>
          <a:lstStyle/>
          <a:p>
            <a:pPr>
              <a:spcAft>
                <a:spcPts val="500"/>
              </a:spcAft>
            </a:pPr>
            <a:r>
              <a:rPr sz="1150" b="0">
                <a:solidFill>
                  <a:srgbClr val="231C33"/>
                </a:solidFill>
                <a:latin typeface="Poppins"/>
              </a:rPr>
              <a:t>Aucune page du centre commercial</a:t>
            </a:r>
          </a:p>
        </p:txBody>
      </p:sp>
      <p:sp>
        <p:nvSpPr>
          <p:cNvPr id="16" name="TextBox 15"/>
          <p:cNvSpPr txBox="1"/>
          <p:nvPr/>
        </p:nvSpPr>
        <p:spPr>
          <a:xfrm>
            <a:off x="5813999" y="2250000"/>
            <a:ext cx="2376000" cy="540000"/>
          </a:xfrm>
          <a:prstGeom prst="rect">
            <a:avLst/>
          </a:prstGeom>
          <a:noFill/>
        </p:spPr>
        <p:txBody>
          <a:bodyPr wrap="square">
            <a:spAutoFit/>
          </a:bodyPr>
          <a:lstStyle/>
          <a:p>
            <a:pPr>
              <a:spcAft>
                <a:spcPts val="500"/>
              </a:spcAft>
            </a:pPr>
            <a:r>
              <a:rPr sz="1150" b="0">
                <a:solidFill>
                  <a:srgbClr val="E0369A"/>
                </a:solidFill>
                <a:latin typeface="Poppins"/>
              </a:rPr>
              <a:t>0</a:t>
            </a:r>
          </a:p>
        </p:txBody>
      </p:sp>
      <p:sp>
        <p:nvSpPr>
          <p:cNvPr id="17" name="TextBox 16"/>
          <p:cNvSpPr txBox="1"/>
          <p:nvPr/>
        </p:nvSpPr>
        <p:spPr>
          <a:xfrm>
            <a:off x="8333999" y="2250000"/>
            <a:ext cx="3276000" cy="540000"/>
          </a:xfrm>
          <a:prstGeom prst="rect">
            <a:avLst/>
          </a:prstGeom>
          <a:noFill/>
        </p:spPr>
        <p:txBody>
          <a:bodyPr wrap="square">
            <a:spAutoFit/>
          </a:bodyPr>
          <a:lstStyle/>
          <a:p>
            <a:pPr>
              <a:spcAft>
                <a:spcPts val="500"/>
              </a:spcAft>
            </a:pPr>
            <a:r>
              <a:rPr sz="1150" b="0">
                <a:solidFill>
                  <a:srgbClr val="231C33"/>
                </a:solidFill>
                <a:latin typeface="Poppins"/>
              </a:rPr>
              <a:t>Le réseau le plus utilisé à Abidjan est vide</a:t>
            </a:r>
          </a:p>
        </p:txBody>
      </p:sp>
      <p:sp>
        <p:nvSpPr>
          <p:cNvPr id="18" name="TextBox 17"/>
          <p:cNvSpPr txBox="1"/>
          <p:nvPr/>
        </p:nvSpPr>
        <p:spPr>
          <a:xfrm>
            <a:off x="630000" y="2790000"/>
            <a:ext cx="1728000" cy="540000"/>
          </a:xfrm>
          <a:prstGeom prst="rect">
            <a:avLst/>
          </a:prstGeom>
          <a:noFill/>
        </p:spPr>
        <p:txBody>
          <a:bodyPr wrap="square">
            <a:spAutoFit/>
          </a:bodyPr>
          <a:lstStyle/>
          <a:p>
            <a:pPr>
              <a:spcAft>
                <a:spcPts val="500"/>
              </a:spcAft>
            </a:pPr>
            <a:r>
              <a:rPr sz="1150" b="1">
                <a:solidFill>
                  <a:srgbClr val="231C33"/>
                </a:solidFill>
                <a:latin typeface="Poppins"/>
              </a:rPr>
              <a:t>Instagram</a:t>
            </a:r>
          </a:p>
        </p:txBody>
      </p:sp>
      <p:sp>
        <p:nvSpPr>
          <p:cNvPr id="19" name="TextBox 18"/>
          <p:cNvSpPr txBox="1"/>
          <p:nvPr/>
        </p:nvSpPr>
        <p:spPr>
          <a:xfrm>
            <a:off x="2502000" y="2790000"/>
            <a:ext cx="3167999" cy="540000"/>
          </a:xfrm>
          <a:prstGeom prst="rect">
            <a:avLst/>
          </a:prstGeom>
          <a:noFill/>
        </p:spPr>
        <p:txBody>
          <a:bodyPr wrap="square">
            <a:spAutoFit/>
          </a:bodyPr>
          <a:lstStyle/>
          <a:p>
            <a:pPr>
              <a:spcAft>
                <a:spcPts val="500"/>
              </a:spcAft>
            </a:pPr>
            <a:r>
              <a:rPr sz="1150" b="0">
                <a:solidFill>
                  <a:srgbClr val="231C33"/>
                </a:solidFill>
                <a:latin typeface="Poppins"/>
              </a:rPr>
              <a:t>@hyperusococe, bio « Centre commercial »</a:t>
            </a:r>
          </a:p>
        </p:txBody>
      </p:sp>
      <p:sp>
        <p:nvSpPr>
          <p:cNvPr id="20" name="TextBox 19"/>
          <p:cNvSpPr txBox="1"/>
          <p:nvPr/>
        </p:nvSpPr>
        <p:spPr>
          <a:xfrm>
            <a:off x="5813999" y="2790000"/>
            <a:ext cx="2376000" cy="540000"/>
          </a:xfrm>
          <a:prstGeom prst="rect">
            <a:avLst/>
          </a:prstGeom>
          <a:noFill/>
        </p:spPr>
        <p:txBody>
          <a:bodyPr wrap="square">
            <a:spAutoFit/>
          </a:bodyPr>
          <a:lstStyle/>
          <a:p>
            <a:pPr>
              <a:spcAft>
                <a:spcPts val="500"/>
              </a:spcAft>
            </a:pPr>
            <a:r>
              <a:rPr sz="1150" b="0">
                <a:solidFill>
                  <a:srgbClr val="231C33"/>
                </a:solidFill>
                <a:latin typeface="Poppins"/>
              </a:rPr>
              <a:t>500 abonnés · dernier post 26/04/2019</a:t>
            </a:r>
          </a:p>
        </p:txBody>
      </p:sp>
      <p:sp>
        <p:nvSpPr>
          <p:cNvPr id="21" name="TextBox 20"/>
          <p:cNvSpPr txBox="1"/>
          <p:nvPr/>
        </p:nvSpPr>
        <p:spPr>
          <a:xfrm>
            <a:off x="8333999" y="2790000"/>
            <a:ext cx="3276000" cy="540000"/>
          </a:xfrm>
          <a:prstGeom prst="rect">
            <a:avLst/>
          </a:prstGeom>
          <a:noFill/>
        </p:spPr>
        <p:txBody>
          <a:bodyPr wrap="square">
            <a:spAutoFit/>
          </a:bodyPr>
          <a:lstStyle/>
          <a:p>
            <a:pPr>
              <a:spcAft>
                <a:spcPts val="500"/>
              </a:spcAft>
            </a:pPr>
            <a:r>
              <a:rPr sz="1150" b="0">
                <a:solidFill>
                  <a:srgbClr val="E0369A"/>
                </a:solidFill>
                <a:latin typeface="Poppins"/>
              </a:rPr>
              <a:t>Compte abandonné depuis 7 ans</a:t>
            </a:r>
          </a:p>
        </p:txBody>
      </p:sp>
      <p:sp>
        <p:nvSpPr>
          <p:cNvPr id="22" name="Rectangle 21"/>
          <p:cNvSpPr/>
          <p:nvPr/>
        </p:nvSpPr>
        <p:spPr>
          <a:xfrm>
            <a:off x="540000" y="3276000"/>
            <a:ext cx="11124000" cy="54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00" y="3330000"/>
            <a:ext cx="1728000" cy="540000"/>
          </a:xfrm>
          <a:prstGeom prst="rect">
            <a:avLst/>
          </a:prstGeom>
          <a:noFill/>
        </p:spPr>
        <p:txBody>
          <a:bodyPr wrap="square">
            <a:spAutoFit/>
          </a:bodyPr>
          <a:lstStyle/>
          <a:p>
            <a:pPr>
              <a:spcAft>
                <a:spcPts val="500"/>
              </a:spcAft>
            </a:pPr>
            <a:r>
              <a:rPr sz="1150" b="1">
                <a:solidFill>
                  <a:srgbClr val="231C33"/>
                </a:solidFill>
                <a:latin typeface="Poppins"/>
              </a:rPr>
              <a:t>TikTok</a:t>
            </a:r>
          </a:p>
        </p:txBody>
      </p:sp>
      <p:sp>
        <p:nvSpPr>
          <p:cNvPr id="24" name="TextBox 23"/>
          <p:cNvSpPr txBox="1"/>
          <p:nvPr/>
        </p:nvSpPr>
        <p:spPr>
          <a:xfrm>
            <a:off x="2502000" y="3330000"/>
            <a:ext cx="3167999" cy="540000"/>
          </a:xfrm>
          <a:prstGeom prst="rect">
            <a:avLst/>
          </a:prstGeom>
          <a:noFill/>
        </p:spPr>
        <p:txBody>
          <a:bodyPr wrap="square">
            <a:spAutoFit/>
          </a:bodyPr>
          <a:lstStyle/>
          <a:p>
            <a:pPr>
              <a:spcAft>
                <a:spcPts val="500"/>
              </a:spcAft>
            </a:pPr>
            <a:r>
              <a:rPr sz="1150" b="0">
                <a:solidFill>
                  <a:srgbClr val="231C33"/>
                </a:solidFill>
                <a:latin typeface="Poppins"/>
              </a:rPr>
              <a:t>Aucun compte officiel</a:t>
            </a:r>
          </a:p>
        </p:txBody>
      </p:sp>
      <p:sp>
        <p:nvSpPr>
          <p:cNvPr id="25" name="TextBox 24"/>
          <p:cNvSpPr txBox="1"/>
          <p:nvPr/>
        </p:nvSpPr>
        <p:spPr>
          <a:xfrm>
            <a:off x="5813999" y="3330000"/>
            <a:ext cx="2376000" cy="540000"/>
          </a:xfrm>
          <a:prstGeom prst="rect">
            <a:avLst/>
          </a:prstGeom>
          <a:noFill/>
        </p:spPr>
        <p:txBody>
          <a:bodyPr wrap="square">
            <a:spAutoFit/>
          </a:bodyPr>
          <a:lstStyle/>
          <a:p>
            <a:pPr>
              <a:spcAft>
                <a:spcPts val="500"/>
              </a:spcAft>
            </a:pPr>
            <a:r>
              <a:rPr sz="1150" b="0">
                <a:solidFill>
                  <a:srgbClr val="231C33"/>
                </a:solidFill>
                <a:latin typeface="Poppins"/>
              </a:rPr>
              <a:t>Homonymes : « sococ85 » 4 654 abonnés</a:t>
            </a:r>
          </a:p>
        </p:txBody>
      </p:sp>
      <p:sp>
        <p:nvSpPr>
          <p:cNvPr id="26" name="TextBox 25"/>
          <p:cNvSpPr txBox="1"/>
          <p:nvPr/>
        </p:nvSpPr>
        <p:spPr>
          <a:xfrm>
            <a:off x="8333999" y="3330000"/>
            <a:ext cx="3276000" cy="540000"/>
          </a:xfrm>
          <a:prstGeom prst="rect">
            <a:avLst/>
          </a:prstGeom>
          <a:noFill/>
        </p:spPr>
        <p:txBody>
          <a:bodyPr wrap="square">
            <a:spAutoFit/>
          </a:bodyPr>
          <a:lstStyle/>
          <a:p>
            <a:pPr>
              <a:spcAft>
                <a:spcPts val="500"/>
              </a:spcAft>
            </a:pPr>
            <a:r>
              <a:rPr sz="1150" b="0">
                <a:solidFill>
                  <a:srgbClr val="231C33"/>
                </a:solidFill>
                <a:latin typeface="Poppins"/>
              </a:rPr>
              <a:t>Le nom est pris par des particuliers</a:t>
            </a:r>
          </a:p>
        </p:txBody>
      </p:sp>
      <p:sp>
        <p:nvSpPr>
          <p:cNvPr id="27" name="TextBox 26"/>
          <p:cNvSpPr txBox="1"/>
          <p:nvPr/>
        </p:nvSpPr>
        <p:spPr>
          <a:xfrm>
            <a:off x="630000" y="3870000"/>
            <a:ext cx="1728000" cy="540000"/>
          </a:xfrm>
          <a:prstGeom prst="rect">
            <a:avLst/>
          </a:prstGeom>
          <a:noFill/>
        </p:spPr>
        <p:txBody>
          <a:bodyPr wrap="square">
            <a:spAutoFit/>
          </a:bodyPr>
          <a:lstStyle/>
          <a:p>
            <a:pPr>
              <a:spcAft>
                <a:spcPts val="500"/>
              </a:spcAft>
            </a:pPr>
            <a:r>
              <a:rPr sz="1150" b="1">
                <a:solidFill>
                  <a:srgbClr val="231C33"/>
                </a:solidFill>
                <a:latin typeface="Poppins"/>
              </a:rPr>
              <a:t>Google Maps</a:t>
            </a:r>
          </a:p>
        </p:txBody>
      </p:sp>
      <p:sp>
        <p:nvSpPr>
          <p:cNvPr id="28" name="TextBox 27"/>
          <p:cNvSpPr txBox="1"/>
          <p:nvPr/>
        </p:nvSpPr>
        <p:spPr>
          <a:xfrm>
            <a:off x="2502000" y="3870000"/>
            <a:ext cx="3167999" cy="540000"/>
          </a:xfrm>
          <a:prstGeom prst="rect">
            <a:avLst/>
          </a:prstGeom>
          <a:noFill/>
        </p:spPr>
        <p:txBody>
          <a:bodyPr wrap="square">
            <a:spAutoFit/>
          </a:bodyPr>
          <a:lstStyle/>
          <a:p>
            <a:pPr>
              <a:spcAft>
                <a:spcPts val="500"/>
              </a:spcAft>
            </a:pPr>
            <a:r>
              <a:rPr sz="1150" b="0">
                <a:solidFill>
                  <a:srgbClr val="231C33"/>
                </a:solidFill>
                <a:latin typeface="Poppins"/>
              </a:rPr>
              <a:t>Fiche Hyper U Sococé</a:t>
            </a:r>
          </a:p>
        </p:txBody>
      </p:sp>
      <p:sp>
        <p:nvSpPr>
          <p:cNvPr id="29" name="TextBox 28"/>
          <p:cNvSpPr txBox="1"/>
          <p:nvPr/>
        </p:nvSpPr>
        <p:spPr>
          <a:xfrm>
            <a:off x="5813999" y="3870000"/>
            <a:ext cx="2376000" cy="540000"/>
          </a:xfrm>
          <a:prstGeom prst="rect">
            <a:avLst/>
          </a:prstGeom>
          <a:noFill/>
        </p:spPr>
        <p:txBody>
          <a:bodyPr wrap="square">
            <a:spAutoFit/>
          </a:bodyPr>
          <a:lstStyle/>
          <a:p>
            <a:pPr>
              <a:spcAft>
                <a:spcPts val="500"/>
              </a:spcAft>
            </a:pPr>
            <a:r>
              <a:rPr sz="1150" b="0">
                <a:solidFill>
                  <a:srgbClr val="70B800"/>
                </a:solidFill>
                <a:latin typeface="Poppins"/>
              </a:rPr>
              <a:t>4,4 / 5 · 1 312 avis</a:t>
            </a:r>
          </a:p>
        </p:txBody>
      </p:sp>
      <p:sp>
        <p:nvSpPr>
          <p:cNvPr id="30" name="TextBox 29"/>
          <p:cNvSpPr txBox="1"/>
          <p:nvPr/>
        </p:nvSpPr>
        <p:spPr>
          <a:xfrm>
            <a:off x="8333999" y="3870000"/>
            <a:ext cx="3276000" cy="540000"/>
          </a:xfrm>
          <a:prstGeom prst="rect">
            <a:avLst/>
          </a:prstGeom>
          <a:noFill/>
        </p:spPr>
        <p:txBody>
          <a:bodyPr wrap="square">
            <a:spAutoFit/>
          </a:bodyPr>
          <a:lstStyle/>
          <a:p>
            <a:pPr>
              <a:spcAft>
                <a:spcPts val="500"/>
              </a:spcAft>
            </a:pPr>
            <a:r>
              <a:rPr sz="1150" b="0">
                <a:solidFill>
                  <a:srgbClr val="231C33"/>
                </a:solidFill>
                <a:latin typeface="Poppins"/>
              </a:rPr>
              <a:t>Bonne réputation, non exploitée</a:t>
            </a:r>
          </a:p>
        </p:txBody>
      </p:sp>
      <p:sp>
        <p:nvSpPr>
          <p:cNvPr id="31" name="Rectangle 30"/>
          <p:cNvSpPr/>
          <p:nvPr/>
        </p:nvSpPr>
        <p:spPr>
          <a:xfrm>
            <a:off x="540000" y="4356000"/>
            <a:ext cx="11124000" cy="54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000" y="4410000"/>
            <a:ext cx="1728000" cy="540000"/>
          </a:xfrm>
          <a:prstGeom prst="rect">
            <a:avLst/>
          </a:prstGeom>
          <a:noFill/>
        </p:spPr>
        <p:txBody>
          <a:bodyPr wrap="square">
            <a:spAutoFit/>
          </a:bodyPr>
          <a:lstStyle/>
          <a:p>
            <a:pPr>
              <a:spcAft>
                <a:spcPts val="500"/>
              </a:spcAft>
            </a:pPr>
            <a:r>
              <a:rPr sz="1150" b="1">
                <a:solidFill>
                  <a:srgbClr val="231C33"/>
                </a:solidFill>
                <a:latin typeface="Poppins"/>
              </a:rPr>
              <a:t>Google Maps</a:t>
            </a:r>
          </a:p>
        </p:txBody>
      </p:sp>
      <p:sp>
        <p:nvSpPr>
          <p:cNvPr id="33" name="TextBox 32"/>
          <p:cNvSpPr txBox="1"/>
          <p:nvPr/>
        </p:nvSpPr>
        <p:spPr>
          <a:xfrm>
            <a:off x="2502000" y="4410000"/>
            <a:ext cx="3167999" cy="540000"/>
          </a:xfrm>
          <a:prstGeom prst="rect">
            <a:avLst/>
          </a:prstGeom>
          <a:noFill/>
        </p:spPr>
        <p:txBody>
          <a:bodyPr wrap="square">
            <a:spAutoFit/>
          </a:bodyPr>
          <a:lstStyle/>
          <a:p>
            <a:pPr>
              <a:spcAft>
                <a:spcPts val="500"/>
              </a:spcAft>
            </a:pPr>
            <a:r>
              <a:rPr sz="1150" b="0">
                <a:solidFill>
                  <a:srgbClr val="231C33"/>
                </a:solidFill>
                <a:latin typeface="Poppins"/>
              </a:rPr>
              <a:t>Fiches « Centre commercial Sococé » et « Deux Plateaux Sococé »</a:t>
            </a:r>
          </a:p>
        </p:txBody>
      </p:sp>
      <p:sp>
        <p:nvSpPr>
          <p:cNvPr id="34" name="TextBox 33"/>
          <p:cNvSpPr txBox="1"/>
          <p:nvPr/>
        </p:nvSpPr>
        <p:spPr>
          <a:xfrm>
            <a:off x="5813999" y="4410000"/>
            <a:ext cx="2376000" cy="540000"/>
          </a:xfrm>
          <a:prstGeom prst="rect">
            <a:avLst/>
          </a:prstGeom>
          <a:noFill/>
        </p:spPr>
        <p:txBody>
          <a:bodyPr wrap="square">
            <a:spAutoFit/>
          </a:bodyPr>
          <a:lstStyle/>
          <a:p>
            <a:pPr>
              <a:spcAft>
                <a:spcPts val="500"/>
              </a:spcAft>
            </a:pPr>
            <a:r>
              <a:rPr sz="1150" b="0">
                <a:solidFill>
                  <a:srgbClr val="231C33"/>
                </a:solidFill>
                <a:latin typeface="Poppins"/>
              </a:rPr>
              <a:t>sans note · 4,3 / 5 (11 avis)</a:t>
            </a:r>
          </a:p>
        </p:txBody>
      </p:sp>
      <p:sp>
        <p:nvSpPr>
          <p:cNvPr id="35" name="TextBox 34"/>
          <p:cNvSpPr txBox="1"/>
          <p:nvPr/>
        </p:nvSpPr>
        <p:spPr>
          <a:xfrm>
            <a:off x="8333999" y="4410000"/>
            <a:ext cx="3276000" cy="540000"/>
          </a:xfrm>
          <a:prstGeom prst="rect">
            <a:avLst/>
          </a:prstGeom>
          <a:noFill/>
        </p:spPr>
        <p:txBody>
          <a:bodyPr wrap="square">
            <a:spAutoFit/>
          </a:bodyPr>
          <a:lstStyle/>
          <a:p>
            <a:pPr>
              <a:spcAft>
                <a:spcPts val="500"/>
              </a:spcAft>
            </a:pPr>
            <a:r>
              <a:rPr sz="1150" b="0">
                <a:solidFill>
                  <a:srgbClr val="231C33"/>
                </a:solidFill>
                <a:latin typeface="Poppins"/>
              </a:rPr>
              <a:t>Doublons qui dispersent les avis</a:t>
            </a:r>
          </a:p>
        </p:txBody>
      </p:sp>
      <p:sp>
        <p:nvSpPr>
          <p:cNvPr id="36" name="TextBox 35"/>
          <p:cNvSpPr txBox="1"/>
          <p:nvPr/>
        </p:nvSpPr>
        <p:spPr>
          <a:xfrm>
            <a:off x="630000" y="4950000"/>
            <a:ext cx="1728000" cy="540000"/>
          </a:xfrm>
          <a:prstGeom prst="rect">
            <a:avLst/>
          </a:prstGeom>
          <a:noFill/>
        </p:spPr>
        <p:txBody>
          <a:bodyPr wrap="square">
            <a:spAutoFit/>
          </a:bodyPr>
          <a:lstStyle/>
          <a:p>
            <a:pPr>
              <a:spcAft>
                <a:spcPts val="500"/>
              </a:spcAft>
            </a:pPr>
            <a:r>
              <a:rPr sz="1150" b="1">
                <a:solidFill>
                  <a:srgbClr val="231C33"/>
                </a:solidFill>
                <a:latin typeface="Poppins"/>
              </a:rPr>
              <a:t>Site web</a:t>
            </a:r>
          </a:p>
        </p:txBody>
      </p:sp>
      <p:sp>
        <p:nvSpPr>
          <p:cNvPr id="37" name="TextBox 36"/>
          <p:cNvSpPr txBox="1"/>
          <p:nvPr/>
        </p:nvSpPr>
        <p:spPr>
          <a:xfrm>
            <a:off x="2502000" y="4950000"/>
            <a:ext cx="3167999" cy="540000"/>
          </a:xfrm>
          <a:prstGeom prst="rect">
            <a:avLst/>
          </a:prstGeom>
          <a:noFill/>
        </p:spPr>
        <p:txBody>
          <a:bodyPr wrap="square">
            <a:spAutoFit/>
          </a:bodyPr>
          <a:lstStyle/>
          <a:p>
            <a:pPr>
              <a:spcAft>
                <a:spcPts val="500"/>
              </a:spcAft>
            </a:pPr>
            <a:r>
              <a:rPr sz="1150" b="0">
                <a:solidFill>
                  <a:srgbClr val="231C33"/>
                </a:solidFill>
                <a:latin typeface="Poppins"/>
              </a:rPr>
              <a:t>sococe.ci, sococe.com</a:t>
            </a:r>
          </a:p>
        </p:txBody>
      </p:sp>
      <p:sp>
        <p:nvSpPr>
          <p:cNvPr id="38" name="TextBox 37"/>
          <p:cNvSpPr txBox="1"/>
          <p:nvPr/>
        </p:nvSpPr>
        <p:spPr>
          <a:xfrm>
            <a:off x="5813999" y="4950000"/>
            <a:ext cx="2376000" cy="540000"/>
          </a:xfrm>
          <a:prstGeom prst="rect">
            <a:avLst/>
          </a:prstGeom>
          <a:noFill/>
        </p:spPr>
        <p:txBody>
          <a:bodyPr wrap="square">
            <a:spAutoFit/>
          </a:bodyPr>
          <a:lstStyle/>
          <a:p>
            <a:pPr>
              <a:spcAft>
                <a:spcPts val="500"/>
              </a:spcAft>
            </a:pPr>
            <a:r>
              <a:rPr sz="1150" b="0">
                <a:solidFill>
                  <a:srgbClr val="231C33"/>
                </a:solidFill>
                <a:latin typeface="Poppins"/>
              </a:rPr>
              <a:t>En construction</a:t>
            </a:r>
          </a:p>
        </p:txBody>
      </p:sp>
      <p:sp>
        <p:nvSpPr>
          <p:cNvPr id="39" name="TextBox 38"/>
          <p:cNvSpPr txBox="1"/>
          <p:nvPr/>
        </p:nvSpPr>
        <p:spPr>
          <a:xfrm>
            <a:off x="8333999" y="4950000"/>
            <a:ext cx="3276000" cy="540000"/>
          </a:xfrm>
          <a:prstGeom prst="rect">
            <a:avLst/>
          </a:prstGeom>
          <a:noFill/>
        </p:spPr>
        <p:txBody>
          <a:bodyPr wrap="square">
            <a:spAutoFit/>
          </a:bodyPr>
          <a:lstStyle/>
          <a:p>
            <a:pPr>
              <a:spcAft>
                <a:spcPts val="500"/>
              </a:spcAft>
            </a:pPr>
            <a:r>
              <a:rPr sz="1150" b="0">
                <a:solidFill>
                  <a:srgbClr val="231C33"/>
                </a:solidFill>
                <a:latin typeface="Poppins"/>
              </a:rPr>
              <a:t>Aucun lien vers des comptes</a:t>
            </a:r>
          </a:p>
        </p:txBody>
      </p:sp>
      <p:sp>
        <p:nvSpPr>
          <p:cNvPr id="40" name="Rectangle 39"/>
          <p:cNvSpPr/>
          <p:nvPr/>
        </p:nvSpPr>
        <p:spPr>
          <a:xfrm>
            <a:off x="540000" y="5436000"/>
            <a:ext cx="11124000" cy="540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000" y="5490000"/>
            <a:ext cx="1728000" cy="540000"/>
          </a:xfrm>
          <a:prstGeom prst="rect">
            <a:avLst/>
          </a:prstGeom>
          <a:noFill/>
        </p:spPr>
        <p:txBody>
          <a:bodyPr wrap="square">
            <a:spAutoFit/>
          </a:bodyPr>
          <a:lstStyle/>
          <a:p>
            <a:pPr>
              <a:spcAft>
                <a:spcPts val="500"/>
              </a:spcAft>
            </a:pPr>
            <a:r>
              <a:rPr sz="1150" b="1">
                <a:solidFill>
                  <a:srgbClr val="231C33"/>
                </a:solidFill>
                <a:latin typeface="Poppins"/>
              </a:rPr>
              <a:t>Groupe Prosuma</a:t>
            </a:r>
          </a:p>
        </p:txBody>
      </p:sp>
      <p:sp>
        <p:nvSpPr>
          <p:cNvPr id="42" name="TextBox 41"/>
          <p:cNvSpPr txBox="1"/>
          <p:nvPr/>
        </p:nvSpPr>
        <p:spPr>
          <a:xfrm>
            <a:off x="2502000" y="5490000"/>
            <a:ext cx="3167999" cy="540000"/>
          </a:xfrm>
          <a:prstGeom prst="rect">
            <a:avLst/>
          </a:prstGeom>
          <a:noFill/>
        </p:spPr>
        <p:txBody>
          <a:bodyPr wrap="square">
            <a:spAutoFit/>
          </a:bodyPr>
          <a:lstStyle/>
          <a:p>
            <a:pPr>
              <a:spcAft>
                <a:spcPts val="500"/>
              </a:spcAft>
            </a:pPr>
            <a:r>
              <a:rPr sz="1150" b="0">
                <a:solidFill>
                  <a:srgbClr val="231C33"/>
                </a:solidFill>
                <a:latin typeface="Poppins"/>
              </a:rPr>
              <a:t>Page Facebook du groupe</a:t>
            </a:r>
          </a:p>
        </p:txBody>
      </p:sp>
      <p:sp>
        <p:nvSpPr>
          <p:cNvPr id="43" name="TextBox 42"/>
          <p:cNvSpPr txBox="1"/>
          <p:nvPr/>
        </p:nvSpPr>
        <p:spPr>
          <a:xfrm>
            <a:off x="5813999" y="5490000"/>
            <a:ext cx="2376000" cy="540000"/>
          </a:xfrm>
          <a:prstGeom prst="rect">
            <a:avLst/>
          </a:prstGeom>
          <a:noFill/>
        </p:spPr>
        <p:txBody>
          <a:bodyPr wrap="square">
            <a:spAutoFit/>
          </a:bodyPr>
          <a:lstStyle/>
          <a:p>
            <a:pPr>
              <a:spcAft>
                <a:spcPts val="500"/>
              </a:spcAft>
            </a:pPr>
            <a:r>
              <a:rPr sz="1150" b="0">
                <a:solidFill>
                  <a:srgbClr val="231C33"/>
                </a:solidFill>
                <a:latin typeface="Poppins"/>
              </a:rPr>
              <a:t>53 000 abonnés</a:t>
            </a:r>
          </a:p>
        </p:txBody>
      </p:sp>
      <p:sp>
        <p:nvSpPr>
          <p:cNvPr id="44" name="TextBox 43"/>
          <p:cNvSpPr txBox="1"/>
          <p:nvPr/>
        </p:nvSpPr>
        <p:spPr>
          <a:xfrm>
            <a:off x="8333999" y="5490000"/>
            <a:ext cx="3276000" cy="540000"/>
          </a:xfrm>
          <a:prstGeom prst="rect">
            <a:avLst/>
          </a:prstGeom>
          <a:noFill/>
        </p:spPr>
        <p:txBody>
          <a:bodyPr wrap="square">
            <a:spAutoFit/>
          </a:bodyPr>
          <a:lstStyle/>
          <a:p>
            <a:pPr>
              <a:spcAft>
                <a:spcPts val="500"/>
              </a:spcAft>
            </a:pPr>
            <a:r>
              <a:rPr sz="1150" b="0">
                <a:solidFill>
                  <a:srgbClr val="231C33"/>
                </a:solidFill>
                <a:latin typeface="Poppins"/>
              </a:rPr>
              <a:t>1 publication sur 40 cite Sococé depuis nov.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INSTAGRAM</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Le compte Instagram @hyperusococe s'est arrêté en avril 2019</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5</a:t>
            </a:r>
          </a:p>
        </p:txBody>
      </p:sp>
      <p:sp>
        <p:nvSpPr>
          <p:cNvPr id="8" name="Rectangle 7"/>
          <p:cNvSpPr/>
          <p:nvPr/>
        </p:nvSpPr>
        <p:spPr>
          <a:xfrm>
            <a:off x="540000" y="1655999"/>
            <a:ext cx="2628000" cy="154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6000" y="1764000"/>
            <a:ext cx="2304000" cy="648000"/>
          </a:xfrm>
          <a:prstGeom prst="rect">
            <a:avLst/>
          </a:prstGeom>
          <a:noFill/>
        </p:spPr>
        <p:txBody>
          <a:bodyPr wrap="square">
            <a:spAutoFit/>
          </a:bodyPr>
          <a:lstStyle/>
          <a:p>
            <a:pPr>
              <a:spcAft>
                <a:spcPts val="500"/>
              </a:spcAft>
            </a:pPr>
            <a:r>
              <a:rPr sz="3600" b="1">
                <a:solidFill>
                  <a:srgbClr val="654D99"/>
                </a:solidFill>
                <a:latin typeface="Poppins"/>
              </a:rPr>
              <a:t>500</a:t>
            </a:r>
          </a:p>
        </p:txBody>
      </p:sp>
      <p:sp>
        <p:nvSpPr>
          <p:cNvPr id="10" name="TextBox 9"/>
          <p:cNvSpPr txBox="1"/>
          <p:nvPr/>
        </p:nvSpPr>
        <p:spPr>
          <a:xfrm>
            <a:off x="756000" y="2448000"/>
            <a:ext cx="2304000" cy="720000"/>
          </a:xfrm>
          <a:prstGeom prst="rect">
            <a:avLst/>
          </a:prstGeom>
          <a:noFill/>
        </p:spPr>
        <p:txBody>
          <a:bodyPr wrap="square">
            <a:spAutoFit/>
          </a:bodyPr>
          <a:lstStyle/>
          <a:p>
            <a:pPr>
              <a:spcAft>
                <a:spcPts val="500"/>
              </a:spcAft>
            </a:pPr>
            <a:r>
              <a:rPr sz="1150" b="0">
                <a:solidFill>
                  <a:srgbClr val="231C33"/>
                </a:solidFill>
                <a:latin typeface="Poppins"/>
              </a:rPr>
              <a:t>abonnés</a:t>
            </a:r>
          </a:p>
        </p:txBody>
      </p:sp>
      <p:sp>
        <p:nvSpPr>
          <p:cNvPr id="11" name="Rectangle 10"/>
          <p:cNvSpPr/>
          <p:nvPr/>
        </p:nvSpPr>
        <p:spPr>
          <a:xfrm>
            <a:off x="3348000" y="1655999"/>
            <a:ext cx="2628000" cy="154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4000" y="1764000"/>
            <a:ext cx="2304000" cy="648000"/>
          </a:xfrm>
          <a:prstGeom prst="rect">
            <a:avLst/>
          </a:prstGeom>
          <a:noFill/>
        </p:spPr>
        <p:txBody>
          <a:bodyPr wrap="square">
            <a:spAutoFit/>
          </a:bodyPr>
          <a:lstStyle/>
          <a:p>
            <a:pPr>
              <a:spcAft>
                <a:spcPts val="500"/>
              </a:spcAft>
            </a:pPr>
            <a:r>
              <a:rPr sz="3600" b="1">
                <a:solidFill>
                  <a:srgbClr val="654D99"/>
                </a:solidFill>
                <a:latin typeface="Poppins"/>
              </a:rPr>
              <a:t>14</a:t>
            </a:r>
          </a:p>
        </p:txBody>
      </p:sp>
      <p:sp>
        <p:nvSpPr>
          <p:cNvPr id="13" name="TextBox 12"/>
          <p:cNvSpPr txBox="1"/>
          <p:nvPr/>
        </p:nvSpPr>
        <p:spPr>
          <a:xfrm>
            <a:off x="3564000" y="2448000"/>
            <a:ext cx="2304000" cy="720000"/>
          </a:xfrm>
          <a:prstGeom prst="rect">
            <a:avLst/>
          </a:prstGeom>
          <a:noFill/>
        </p:spPr>
        <p:txBody>
          <a:bodyPr wrap="square">
            <a:spAutoFit/>
          </a:bodyPr>
          <a:lstStyle/>
          <a:p>
            <a:pPr>
              <a:spcAft>
                <a:spcPts val="500"/>
              </a:spcAft>
            </a:pPr>
            <a:r>
              <a:rPr sz="1150" b="0">
                <a:solidFill>
                  <a:srgbClr val="231C33"/>
                </a:solidFill>
                <a:latin typeface="Poppins"/>
              </a:rPr>
              <a:t>publications, toutes entre le 29 mars et le 26 avril 2019</a:t>
            </a:r>
          </a:p>
        </p:txBody>
      </p:sp>
      <p:sp>
        <p:nvSpPr>
          <p:cNvPr id="14" name="Rectangle 13"/>
          <p:cNvSpPr/>
          <p:nvPr/>
        </p:nvSpPr>
        <p:spPr>
          <a:xfrm>
            <a:off x="6156000" y="1655999"/>
            <a:ext cx="2628000" cy="154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2000" y="1764000"/>
            <a:ext cx="2304000" cy="648000"/>
          </a:xfrm>
          <a:prstGeom prst="rect">
            <a:avLst/>
          </a:prstGeom>
          <a:noFill/>
        </p:spPr>
        <p:txBody>
          <a:bodyPr wrap="square">
            <a:spAutoFit/>
          </a:bodyPr>
          <a:lstStyle/>
          <a:p>
            <a:pPr>
              <a:spcAft>
                <a:spcPts val="500"/>
              </a:spcAft>
            </a:pPr>
            <a:r>
              <a:rPr sz="3600" b="1">
                <a:solidFill>
                  <a:srgbClr val="654D99"/>
                </a:solidFill>
                <a:latin typeface="Poppins"/>
              </a:rPr>
              <a:t>9,5</a:t>
            </a:r>
          </a:p>
        </p:txBody>
      </p:sp>
      <p:sp>
        <p:nvSpPr>
          <p:cNvPr id="16" name="TextBox 15"/>
          <p:cNvSpPr txBox="1"/>
          <p:nvPr/>
        </p:nvSpPr>
        <p:spPr>
          <a:xfrm>
            <a:off x="6372000" y="2448000"/>
            <a:ext cx="2304000" cy="720000"/>
          </a:xfrm>
          <a:prstGeom prst="rect">
            <a:avLst/>
          </a:prstGeom>
          <a:noFill/>
        </p:spPr>
        <p:txBody>
          <a:bodyPr wrap="square">
            <a:spAutoFit/>
          </a:bodyPr>
          <a:lstStyle/>
          <a:p>
            <a:pPr>
              <a:spcAft>
                <a:spcPts val="500"/>
              </a:spcAft>
            </a:pPr>
            <a:r>
              <a:rPr sz="1150" b="0">
                <a:solidFill>
                  <a:srgbClr val="231C33"/>
                </a:solidFill>
                <a:latin typeface="Poppins"/>
              </a:rPr>
              <a:t>j'aime par publication (médiane)</a:t>
            </a:r>
          </a:p>
        </p:txBody>
      </p:sp>
      <p:sp>
        <p:nvSpPr>
          <p:cNvPr id="17" name="Rectangle 16"/>
          <p:cNvSpPr/>
          <p:nvPr/>
        </p:nvSpPr>
        <p:spPr>
          <a:xfrm>
            <a:off x="8964000" y="1655999"/>
            <a:ext cx="2628000" cy="154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0000" y="1764000"/>
            <a:ext cx="2304000" cy="648000"/>
          </a:xfrm>
          <a:prstGeom prst="rect">
            <a:avLst/>
          </a:prstGeom>
          <a:noFill/>
        </p:spPr>
        <p:txBody>
          <a:bodyPr wrap="square">
            <a:spAutoFit/>
          </a:bodyPr>
          <a:lstStyle/>
          <a:p>
            <a:pPr>
              <a:spcAft>
                <a:spcPts val="500"/>
              </a:spcAft>
            </a:pPr>
            <a:r>
              <a:rPr sz="3600" b="1">
                <a:solidFill>
                  <a:srgbClr val="654D99"/>
                </a:solidFill>
                <a:latin typeface="Poppins"/>
              </a:rPr>
              <a:t>0</a:t>
            </a:r>
          </a:p>
        </p:txBody>
      </p:sp>
      <p:sp>
        <p:nvSpPr>
          <p:cNvPr id="19" name="TextBox 18"/>
          <p:cNvSpPr txBox="1"/>
          <p:nvPr/>
        </p:nvSpPr>
        <p:spPr>
          <a:xfrm>
            <a:off x="9180000" y="2448000"/>
            <a:ext cx="2304000" cy="720000"/>
          </a:xfrm>
          <a:prstGeom prst="rect">
            <a:avLst/>
          </a:prstGeom>
          <a:noFill/>
        </p:spPr>
        <p:txBody>
          <a:bodyPr wrap="square">
            <a:spAutoFit/>
          </a:bodyPr>
          <a:lstStyle/>
          <a:p>
            <a:pPr>
              <a:spcAft>
                <a:spcPts val="500"/>
              </a:spcAft>
            </a:pPr>
            <a:r>
              <a:rPr sz="1150" b="0">
                <a:solidFill>
                  <a:srgbClr val="231C33"/>
                </a:solidFill>
                <a:latin typeface="Poppins"/>
              </a:rPr>
              <a:t>commentaire sur 12 publications sur 14</a:t>
            </a:r>
          </a:p>
        </p:txBody>
      </p:sp>
      <p:sp>
        <p:nvSpPr>
          <p:cNvPr id="20" name="TextBox 19"/>
          <p:cNvSpPr txBox="1"/>
          <p:nvPr/>
        </p:nvSpPr>
        <p:spPr>
          <a:xfrm>
            <a:off x="540000" y="3456000"/>
            <a:ext cx="5400000" cy="2880000"/>
          </a:xfrm>
          <a:prstGeom prst="rect">
            <a:avLst/>
          </a:prstGeom>
          <a:noFill/>
        </p:spPr>
        <p:txBody>
          <a:bodyPr wrap="square">
            <a:spAutoFit/>
          </a:bodyPr>
          <a:lstStyle/>
          <a:p>
            <a:pPr>
              <a:spcAft>
                <a:spcPts val="500"/>
              </a:spcAft>
            </a:pPr>
            <a:r>
              <a:rPr sz="1500" b="1">
                <a:solidFill>
                  <a:srgbClr val="654D99"/>
                </a:solidFill>
                <a:latin typeface="Poppins"/>
              </a:rPr>
              <a:t>Ce qu'on y voyait</a:t>
            </a:r>
          </a:p>
          <a:p>
            <a:pPr>
              <a:spcAft>
                <a:spcPts val="500"/>
              </a:spcAft>
            </a:pPr>
            <a:r>
              <a:rPr sz="1250" b="0">
                <a:solidFill>
                  <a:srgbClr val="231C33"/>
                </a:solidFill>
                <a:latin typeface="Poppins"/>
              </a:rPr>
              <a:t>Des promotions d'électroménager et d'épicerie de l'Hyper U, sur le même modèle : « PROMOTION … Uniquement à Hyper U - Sococe ». 13 photos produit, 1 seule vidéo (les desserts Dip n Dip, la publication la plus commentée).</a:t>
            </a:r>
          </a:p>
          <a:p>
            <a:pPr>
              <a:spcAft>
                <a:spcPts val="500"/>
              </a:spcAft>
            </a:pPr>
            <a:r>
              <a:rPr sz="1500" b="1">
                <a:solidFill>
                  <a:srgbClr val="654D99"/>
                </a:solidFill>
                <a:latin typeface="Poppins"/>
              </a:rPr>
              <a:t>Le risque</a:t>
            </a:r>
          </a:p>
          <a:p>
            <a:pPr>
              <a:spcAft>
                <a:spcPts val="500"/>
              </a:spcAft>
            </a:pPr>
            <a:r>
              <a:rPr sz="1250" b="0">
                <a:solidFill>
                  <a:srgbClr val="231C33"/>
                </a:solidFill>
                <a:latin typeface="Poppins"/>
              </a:rPr>
              <a:t>Un client qui cherche Sococé sur Instagram tombe sur des prix de 2019 et en conclut que le centre ne communique plus.</a:t>
            </a:r>
          </a:p>
        </p:txBody>
      </p:sp>
      <p:sp>
        <p:nvSpPr>
          <p:cNvPr id="21" name="TextBox 20"/>
          <p:cNvSpPr txBox="1"/>
          <p:nvPr/>
        </p:nvSpPr>
        <p:spPr>
          <a:xfrm>
            <a:off x="6336000" y="3456000"/>
            <a:ext cx="5328000" cy="2880000"/>
          </a:xfrm>
          <a:prstGeom prst="rect">
            <a:avLst/>
          </a:prstGeom>
          <a:noFill/>
        </p:spPr>
        <p:txBody>
          <a:bodyPr wrap="square">
            <a:spAutoFit/>
          </a:bodyPr>
          <a:lstStyle/>
          <a:p>
            <a:pPr>
              <a:spcAft>
                <a:spcPts val="500"/>
              </a:spcAft>
            </a:pPr>
            <a:r>
              <a:rPr sz="1500" b="1">
                <a:solidFill>
                  <a:srgbClr val="E0369A"/>
                </a:solidFill>
                <a:latin typeface="Poppins"/>
              </a:rPr>
              <a:t>Ce que ça nous apprend</a:t>
            </a:r>
          </a:p>
          <a:p>
            <a:pPr>
              <a:spcAft>
                <a:spcPts val="500"/>
              </a:spcAft>
            </a:pPr>
            <a:r>
              <a:rPr sz="1250" b="0">
                <a:solidFill>
                  <a:srgbClr val="231C33"/>
                </a:solidFill>
                <a:latin typeface="Poppins"/>
              </a:rPr>
              <a:t>La publication qui a le mieux marché n'était pas une promotion mais une enseigne du centre (Dip n Dip) et une envie (« venez vous faire plaisir ce week-end »). C'est exactement ce qui marche aujourd'hui chez Cap Sud et PlaYce.</a:t>
            </a:r>
          </a:p>
          <a:p>
            <a:pPr>
              <a:spcAft>
                <a:spcPts val="500"/>
              </a:spcAft>
            </a:pPr>
            <a:r>
              <a:rPr sz="1500" b="1">
                <a:solidFill>
                  <a:srgbClr val="E0369A"/>
                </a:solidFill>
                <a:latin typeface="Poppins"/>
              </a:rPr>
              <a:t>À décider</a:t>
            </a:r>
          </a:p>
          <a:p>
            <a:pPr>
              <a:spcAft>
                <a:spcPts val="500"/>
              </a:spcAft>
            </a:pPr>
            <a:r>
              <a:rPr sz="1250" b="0">
                <a:solidFill>
                  <a:srgbClr val="231C33"/>
                </a:solidFill>
                <a:latin typeface="Poppins"/>
              </a:rPr>
              <a:t>Reprendre ce compte (en le renommant au nom du centre) plutôt que d'en ouvrir un nouveau : il a déjà un historique et 500 abonnés. Il faut retrouver qui détient les accès.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RISQUE DE CONFUSION</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Le nom « Sococé » est déjà occupé par d'autres en ligne</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6</a:t>
            </a:r>
          </a:p>
        </p:txBody>
      </p:sp>
      <p:sp>
        <p:nvSpPr>
          <p:cNvPr id="8" name="Rectangle 7"/>
          <p:cNvSpPr/>
          <p:nvPr/>
        </p:nvSpPr>
        <p:spPr>
          <a:xfrm>
            <a:off x="540000" y="1655999"/>
            <a:ext cx="3564000" cy="30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0000" y="1655999"/>
            <a:ext cx="3564000" cy="108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6000" y="1872000"/>
            <a:ext cx="3168000" cy="2808000"/>
          </a:xfrm>
          <a:prstGeom prst="rect">
            <a:avLst/>
          </a:prstGeom>
          <a:noFill/>
        </p:spPr>
        <p:txBody>
          <a:bodyPr wrap="square">
            <a:spAutoFit/>
          </a:bodyPr>
          <a:lstStyle/>
          <a:p>
            <a:pPr>
              <a:spcAft>
                <a:spcPts val="500"/>
              </a:spcAft>
            </a:pPr>
            <a:r>
              <a:rPr sz="1400" b="1">
                <a:solidFill>
                  <a:srgbClr val="3B2470"/>
                </a:solidFill>
                <a:latin typeface="Poppins"/>
              </a:rPr>
              <a:t>Facebook · « Sococe CI SA »</a:t>
            </a:r>
          </a:p>
          <a:p>
            <a:pPr>
              <a:spcAft>
                <a:spcPts val="500"/>
              </a:spcAft>
            </a:pPr>
            <a:r>
              <a:rPr sz="1200" b="1">
                <a:solidFill>
                  <a:srgbClr val="E0369A"/>
                </a:solidFill>
                <a:latin typeface="Poppins"/>
              </a:rPr>
              <a:t>14 267 abonnés, publicité en cours</a:t>
            </a:r>
          </a:p>
          <a:p>
            <a:pPr>
              <a:spcAft>
                <a:spcPts val="500"/>
              </a:spcAft>
            </a:pPr>
            <a:r>
              <a:rPr sz="1200" b="0">
                <a:solidFill>
                  <a:srgbClr val="231C33"/>
                </a:solidFill>
                <a:latin typeface="Poppins"/>
              </a:rPr>
              <a:t>C'est la page de Sococé CI, la distribution de la zone 4 à Marcory. Un client qui tape « Sococé » sur Facebook tombe sur elle, pas sur le centre des Deux-Plateaux.</a:t>
            </a:r>
          </a:p>
        </p:txBody>
      </p:sp>
      <p:sp>
        <p:nvSpPr>
          <p:cNvPr id="11" name="Rectangle 10"/>
          <p:cNvSpPr/>
          <p:nvPr/>
        </p:nvSpPr>
        <p:spPr>
          <a:xfrm>
            <a:off x="4284000" y="1655999"/>
            <a:ext cx="3564000" cy="30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4000" y="1655999"/>
            <a:ext cx="3564000" cy="108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00000" y="1872000"/>
            <a:ext cx="3168000" cy="2808000"/>
          </a:xfrm>
          <a:prstGeom prst="rect">
            <a:avLst/>
          </a:prstGeom>
          <a:noFill/>
        </p:spPr>
        <p:txBody>
          <a:bodyPr wrap="square">
            <a:spAutoFit/>
          </a:bodyPr>
          <a:lstStyle/>
          <a:p>
            <a:pPr>
              <a:spcAft>
                <a:spcPts val="500"/>
              </a:spcAft>
            </a:pPr>
            <a:r>
              <a:rPr sz="1400" b="1">
                <a:solidFill>
                  <a:srgbClr val="3B2470"/>
                </a:solidFill>
                <a:latin typeface="Poppins"/>
              </a:rPr>
              <a:t>Instagram · @sococe_ci_sa</a:t>
            </a:r>
          </a:p>
          <a:p>
            <a:pPr>
              <a:spcAft>
                <a:spcPts val="500"/>
              </a:spcAft>
            </a:pPr>
            <a:r>
              <a:rPr sz="1200" b="1">
                <a:solidFill>
                  <a:srgbClr val="E0369A"/>
                </a:solidFill>
                <a:latin typeface="Poppins"/>
              </a:rPr>
              <a:t>21 abonnés</a:t>
            </a:r>
          </a:p>
          <a:p>
            <a:pPr>
              <a:spcAft>
                <a:spcPts val="500"/>
              </a:spcAft>
            </a:pPr>
            <a:r>
              <a:rPr sz="1200" b="0">
                <a:solidFill>
                  <a:srgbClr val="231C33"/>
                </a:solidFill>
                <a:latin typeface="Poppins"/>
              </a:rPr>
              <a:t>Même enseigne de Marcory, sur Instagram. Elle occupe le nom le plus évident.</a:t>
            </a:r>
          </a:p>
        </p:txBody>
      </p:sp>
      <p:sp>
        <p:nvSpPr>
          <p:cNvPr id="14" name="Rectangle 13"/>
          <p:cNvSpPr/>
          <p:nvPr/>
        </p:nvSpPr>
        <p:spPr>
          <a:xfrm>
            <a:off x="8028000" y="1655999"/>
            <a:ext cx="3564000" cy="30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28000" y="1655999"/>
            <a:ext cx="3564000" cy="108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4000" y="1872000"/>
            <a:ext cx="3168000" cy="2808000"/>
          </a:xfrm>
          <a:prstGeom prst="rect">
            <a:avLst/>
          </a:prstGeom>
          <a:noFill/>
        </p:spPr>
        <p:txBody>
          <a:bodyPr wrap="square">
            <a:spAutoFit/>
          </a:bodyPr>
          <a:lstStyle/>
          <a:p>
            <a:pPr>
              <a:spcAft>
                <a:spcPts val="500"/>
              </a:spcAft>
            </a:pPr>
            <a:r>
              <a:rPr sz="1400" b="1">
                <a:solidFill>
                  <a:srgbClr val="3B2470"/>
                </a:solidFill>
                <a:latin typeface="Poppins"/>
              </a:rPr>
              <a:t>TikTok · « sococ85 », « sococ04 »</a:t>
            </a:r>
          </a:p>
          <a:p>
            <a:pPr>
              <a:spcAft>
                <a:spcPts val="500"/>
              </a:spcAft>
            </a:pPr>
            <a:r>
              <a:rPr sz="1200" b="1">
                <a:solidFill>
                  <a:srgbClr val="E0369A"/>
                </a:solidFill>
                <a:latin typeface="Poppins"/>
              </a:rPr>
              <a:t>4 654 et 1 860 abonnés</a:t>
            </a:r>
          </a:p>
          <a:p>
            <a:pPr>
              <a:spcAft>
                <a:spcPts val="500"/>
              </a:spcAft>
            </a:pPr>
            <a:r>
              <a:rPr sz="1200" b="0">
                <a:solidFill>
                  <a:srgbClr val="231C33"/>
                </a:solidFill>
                <a:latin typeface="Poppins"/>
              </a:rPr>
              <a:t>Comptes de particuliers qui portent le nom Sococé sans lien avec le centre. Ils apparaissent en premier quand on cherche « sococé 2 plateaux ».</a:t>
            </a:r>
          </a:p>
        </p:txBody>
      </p:sp>
      <p:sp>
        <p:nvSpPr>
          <p:cNvPr id="17" name="Rectangle 16"/>
          <p:cNvSpPr/>
          <p:nvPr/>
        </p:nvSpPr>
        <p:spPr>
          <a:xfrm>
            <a:off x="540000" y="5040000"/>
            <a:ext cx="11124000" cy="1224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000" y="5184000"/>
            <a:ext cx="10620000" cy="1007999"/>
          </a:xfrm>
          <a:prstGeom prst="rect">
            <a:avLst/>
          </a:prstGeom>
          <a:noFill/>
        </p:spPr>
        <p:txBody>
          <a:bodyPr wrap="square">
            <a:spAutoFit/>
          </a:bodyPr>
          <a:lstStyle/>
          <a:p>
            <a:pPr>
              <a:spcAft>
                <a:spcPts val="500"/>
              </a:spcAft>
            </a:pPr>
            <a:r>
              <a:rPr sz="1400" b="1">
                <a:solidFill>
                  <a:srgbClr val="F2D20F"/>
                </a:solidFill>
                <a:latin typeface="Poppins"/>
              </a:rPr>
              <a:t>Conséquence</a:t>
            </a:r>
          </a:p>
          <a:p>
            <a:pPr>
              <a:spcAft>
                <a:spcPts val="500"/>
              </a:spcAft>
            </a:pPr>
            <a:r>
              <a:rPr sz="1300" b="0">
                <a:solidFill>
                  <a:srgbClr val="FFFFFF"/>
                </a:solidFill>
                <a:latin typeface="Poppins"/>
              </a:rPr>
              <a:t>Le centre doit prendre un nom de compte qui le distingue sans ambiguïté, le même partout, par exemple « Sococé Deux-Plateaux » (aucune page Facebook n'existait à ce nom le 21 octobre). À valider avant de créer quoi que ce soit.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AVIS EN LIGNE</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Google Maps est aujourd'hui la seule vitrine qui travaille pour Sococé</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7</a:t>
            </a:r>
          </a:p>
        </p:txBody>
      </p:sp>
      <p:pic>
        <p:nvPicPr>
          <p:cNvPr id="8" name="Picture 7" descr="p2.jpg"/>
          <p:cNvPicPr>
            <a:picLocks noChangeAspect="1"/>
          </p:cNvPicPr>
          <p:nvPr/>
        </p:nvPicPr>
        <p:blipFill>
          <a:blip r:embed="rId3"/>
          <a:stretch>
            <a:fillRect/>
          </a:stretch>
        </p:blipFill>
        <p:spPr>
          <a:xfrm>
            <a:off x="540000" y="1655999"/>
            <a:ext cx="4680000" cy="4608000"/>
          </a:xfrm>
          <a:prstGeom prst="rect">
            <a:avLst/>
          </a:prstGeom>
        </p:spPr>
      </p:pic>
      <p:sp>
        <p:nvSpPr>
          <p:cNvPr id="9" name="TextBox 8"/>
          <p:cNvSpPr txBox="1"/>
          <p:nvPr/>
        </p:nvSpPr>
        <p:spPr>
          <a:xfrm>
            <a:off x="540000" y="6300000"/>
            <a:ext cx="4680000" cy="216000"/>
          </a:xfrm>
          <a:prstGeom prst="rect">
            <a:avLst/>
          </a:prstGeom>
          <a:noFill/>
        </p:spPr>
        <p:txBody>
          <a:bodyPr wrap="square">
            <a:spAutoFit/>
          </a:bodyPr>
          <a:lstStyle/>
          <a:p>
            <a:pPr>
              <a:spcAft>
                <a:spcPts val="500"/>
              </a:spcAft>
            </a:pPr>
            <a:r>
              <a:rPr sz="800" b="0">
                <a:solidFill>
                  <a:srgbClr val="6B6578"/>
                </a:solidFill>
                <a:latin typeface="Poppins"/>
              </a:rPr>
              <a:t>Photo d'illustration</a:t>
            </a:r>
          </a:p>
        </p:txBody>
      </p:sp>
      <p:sp>
        <p:nvSpPr>
          <p:cNvPr id="10" name="Rectangle 9"/>
          <p:cNvSpPr/>
          <p:nvPr/>
        </p:nvSpPr>
        <p:spPr>
          <a:xfrm>
            <a:off x="5580000" y="1655999"/>
            <a:ext cx="6083999" cy="468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70000" y="1710000"/>
            <a:ext cx="2880000" cy="468000"/>
          </a:xfrm>
          <a:prstGeom prst="rect">
            <a:avLst/>
          </a:prstGeom>
          <a:noFill/>
        </p:spPr>
        <p:txBody>
          <a:bodyPr wrap="square">
            <a:spAutoFit/>
          </a:bodyPr>
          <a:lstStyle/>
          <a:p>
            <a:pPr>
              <a:spcAft>
                <a:spcPts val="500"/>
              </a:spcAft>
            </a:pPr>
            <a:r>
              <a:rPr sz="1200" b="1">
                <a:solidFill>
                  <a:srgbClr val="FFFFFF"/>
                </a:solidFill>
                <a:latin typeface="Poppins"/>
              </a:rPr>
              <a:t>Fiche Google</a:t>
            </a:r>
          </a:p>
        </p:txBody>
      </p:sp>
      <p:sp>
        <p:nvSpPr>
          <p:cNvPr id="12" name="TextBox 11"/>
          <p:cNvSpPr txBox="1"/>
          <p:nvPr/>
        </p:nvSpPr>
        <p:spPr>
          <a:xfrm>
            <a:off x="8694000" y="1710000"/>
            <a:ext cx="1224000" cy="468000"/>
          </a:xfrm>
          <a:prstGeom prst="rect">
            <a:avLst/>
          </a:prstGeom>
          <a:noFill/>
        </p:spPr>
        <p:txBody>
          <a:bodyPr wrap="square">
            <a:spAutoFit/>
          </a:bodyPr>
          <a:lstStyle/>
          <a:p>
            <a:pPr>
              <a:spcAft>
                <a:spcPts val="500"/>
              </a:spcAft>
            </a:pPr>
            <a:r>
              <a:rPr sz="1200" b="1">
                <a:solidFill>
                  <a:srgbClr val="FFFFFF"/>
                </a:solidFill>
                <a:latin typeface="Poppins"/>
              </a:rPr>
              <a:t>Note</a:t>
            </a:r>
          </a:p>
        </p:txBody>
      </p:sp>
      <p:sp>
        <p:nvSpPr>
          <p:cNvPr id="13" name="TextBox 12"/>
          <p:cNvSpPr txBox="1"/>
          <p:nvPr/>
        </p:nvSpPr>
        <p:spPr>
          <a:xfrm>
            <a:off x="10062000" y="1710000"/>
            <a:ext cx="1548000" cy="468000"/>
          </a:xfrm>
          <a:prstGeom prst="rect">
            <a:avLst/>
          </a:prstGeom>
          <a:noFill/>
        </p:spPr>
        <p:txBody>
          <a:bodyPr wrap="square">
            <a:spAutoFit/>
          </a:bodyPr>
          <a:lstStyle/>
          <a:p>
            <a:pPr>
              <a:spcAft>
                <a:spcPts val="500"/>
              </a:spcAft>
            </a:pPr>
            <a:r>
              <a:rPr sz="1200" b="1">
                <a:solidFill>
                  <a:srgbClr val="FFFFFF"/>
                </a:solidFill>
                <a:latin typeface="Poppins"/>
              </a:rPr>
              <a:t>Nombre d'avis</a:t>
            </a:r>
          </a:p>
        </p:txBody>
      </p:sp>
      <p:sp>
        <p:nvSpPr>
          <p:cNvPr id="14" name="Rectangle 13"/>
          <p:cNvSpPr/>
          <p:nvPr/>
        </p:nvSpPr>
        <p:spPr>
          <a:xfrm>
            <a:off x="5580000" y="2124000"/>
            <a:ext cx="6083999" cy="46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0000" y="2178000"/>
            <a:ext cx="2880000" cy="468000"/>
          </a:xfrm>
          <a:prstGeom prst="rect">
            <a:avLst/>
          </a:prstGeom>
          <a:noFill/>
        </p:spPr>
        <p:txBody>
          <a:bodyPr wrap="square">
            <a:spAutoFit/>
          </a:bodyPr>
          <a:lstStyle/>
          <a:p>
            <a:pPr>
              <a:spcAft>
                <a:spcPts val="500"/>
              </a:spcAft>
            </a:pPr>
            <a:r>
              <a:rPr sz="1200" b="1">
                <a:solidFill>
                  <a:srgbClr val="231C33"/>
                </a:solidFill>
                <a:latin typeface="Poppins"/>
              </a:rPr>
              <a:t>Hyper U Sococé</a:t>
            </a:r>
          </a:p>
        </p:txBody>
      </p:sp>
      <p:sp>
        <p:nvSpPr>
          <p:cNvPr id="16" name="TextBox 15"/>
          <p:cNvSpPr txBox="1"/>
          <p:nvPr/>
        </p:nvSpPr>
        <p:spPr>
          <a:xfrm>
            <a:off x="8694000" y="2178000"/>
            <a:ext cx="1224000" cy="468000"/>
          </a:xfrm>
          <a:prstGeom prst="rect">
            <a:avLst/>
          </a:prstGeom>
          <a:noFill/>
        </p:spPr>
        <p:txBody>
          <a:bodyPr wrap="square">
            <a:spAutoFit/>
          </a:bodyPr>
          <a:lstStyle/>
          <a:p>
            <a:pPr>
              <a:spcAft>
                <a:spcPts val="500"/>
              </a:spcAft>
            </a:pPr>
            <a:r>
              <a:rPr sz="1200" b="0">
                <a:solidFill>
                  <a:srgbClr val="70B800"/>
                </a:solidFill>
                <a:latin typeface="Poppins"/>
              </a:rPr>
              <a:t>4,4</a:t>
            </a:r>
          </a:p>
        </p:txBody>
      </p:sp>
      <p:sp>
        <p:nvSpPr>
          <p:cNvPr id="17" name="TextBox 16"/>
          <p:cNvSpPr txBox="1"/>
          <p:nvPr/>
        </p:nvSpPr>
        <p:spPr>
          <a:xfrm>
            <a:off x="10062000" y="2178000"/>
            <a:ext cx="1548000" cy="468000"/>
          </a:xfrm>
          <a:prstGeom prst="rect">
            <a:avLst/>
          </a:prstGeom>
          <a:noFill/>
        </p:spPr>
        <p:txBody>
          <a:bodyPr wrap="square">
            <a:spAutoFit/>
          </a:bodyPr>
          <a:lstStyle/>
          <a:p>
            <a:pPr>
              <a:spcAft>
                <a:spcPts val="500"/>
              </a:spcAft>
            </a:pPr>
            <a:r>
              <a:rPr sz="1200" b="0">
                <a:solidFill>
                  <a:srgbClr val="231C33"/>
                </a:solidFill>
                <a:latin typeface="Poppins"/>
              </a:rPr>
              <a:t>1 312</a:t>
            </a:r>
          </a:p>
        </p:txBody>
      </p:sp>
      <p:sp>
        <p:nvSpPr>
          <p:cNvPr id="18" name="TextBox 17"/>
          <p:cNvSpPr txBox="1"/>
          <p:nvPr/>
        </p:nvSpPr>
        <p:spPr>
          <a:xfrm>
            <a:off x="5670000" y="2646000"/>
            <a:ext cx="2880000" cy="468000"/>
          </a:xfrm>
          <a:prstGeom prst="rect">
            <a:avLst/>
          </a:prstGeom>
          <a:noFill/>
        </p:spPr>
        <p:txBody>
          <a:bodyPr wrap="square">
            <a:spAutoFit/>
          </a:bodyPr>
          <a:lstStyle/>
          <a:p>
            <a:pPr>
              <a:spcAft>
                <a:spcPts val="500"/>
              </a:spcAft>
            </a:pPr>
            <a:r>
              <a:rPr sz="1200" b="1">
                <a:solidFill>
                  <a:srgbClr val="231C33"/>
                </a:solidFill>
                <a:latin typeface="Poppins"/>
              </a:rPr>
              <a:t>Centre commercial Cap Sud</a:t>
            </a:r>
          </a:p>
        </p:txBody>
      </p:sp>
      <p:sp>
        <p:nvSpPr>
          <p:cNvPr id="19" name="TextBox 18"/>
          <p:cNvSpPr txBox="1"/>
          <p:nvPr/>
        </p:nvSpPr>
        <p:spPr>
          <a:xfrm>
            <a:off x="8694000" y="2646000"/>
            <a:ext cx="1224000" cy="468000"/>
          </a:xfrm>
          <a:prstGeom prst="rect">
            <a:avLst/>
          </a:prstGeom>
          <a:noFill/>
        </p:spPr>
        <p:txBody>
          <a:bodyPr wrap="square">
            <a:spAutoFit/>
          </a:bodyPr>
          <a:lstStyle/>
          <a:p>
            <a:pPr>
              <a:spcAft>
                <a:spcPts val="500"/>
              </a:spcAft>
            </a:pPr>
            <a:r>
              <a:rPr sz="1200" b="0">
                <a:solidFill>
                  <a:srgbClr val="231C33"/>
                </a:solidFill>
                <a:latin typeface="Poppins"/>
              </a:rPr>
              <a:t>4,2</a:t>
            </a:r>
          </a:p>
        </p:txBody>
      </p:sp>
      <p:sp>
        <p:nvSpPr>
          <p:cNvPr id="20" name="TextBox 19"/>
          <p:cNvSpPr txBox="1"/>
          <p:nvPr/>
        </p:nvSpPr>
        <p:spPr>
          <a:xfrm>
            <a:off x="10062000" y="2646000"/>
            <a:ext cx="1548000" cy="468000"/>
          </a:xfrm>
          <a:prstGeom prst="rect">
            <a:avLst/>
          </a:prstGeom>
          <a:noFill/>
        </p:spPr>
        <p:txBody>
          <a:bodyPr wrap="square">
            <a:spAutoFit/>
          </a:bodyPr>
          <a:lstStyle/>
          <a:p>
            <a:pPr>
              <a:spcAft>
                <a:spcPts val="500"/>
              </a:spcAft>
            </a:pPr>
            <a:r>
              <a:rPr sz="1200" b="0">
                <a:solidFill>
                  <a:srgbClr val="231C33"/>
                </a:solidFill>
                <a:latin typeface="Poppins"/>
              </a:rPr>
              <a:t>10 229</a:t>
            </a:r>
          </a:p>
        </p:txBody>
      </p:sp>
      <p:sp>
        <p:nvSpPr>
          <p:cNvPr id="21" name="Rectangle 20"/>
          <p:cNvSpPr/>
          <p:nvPr/>
        </p:nvSpPr>
        <p:spPr>
          <a:xfrm>
            <a:off x="5580000" y="3060000"/>
            <a:ext cx="6083999" cy="46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70000" y="3114000"/>
            <a:ext cx="2880000" cy="468000"/>
          </a:xfrm>
          <a:prstGeom prst="rect">
            <a:avLst/>
          </a:prstGeom>
          <a:noFill/>
        </p:spPr>
        <p:txBody>
          <a:bodyPr wrap="square">
            <a:spAutoFit/>
          </a:bodyPr>
          <a:lstStyle/>
          <a:p>
            <a:pPr>
              <a:spcAft>
                <a:spcPts val="500"/>
              </a:spcAft>
            </a:pPr>
            <a:r>
              <a:rPr sz="1200" b="1">
                <a:solidFill>
                  <a:srgbClr val="231C33"/>
                </a:solidFill>
                <a:latin typeface="Poppins"/>
              </a:rPr>
              <a:t>Cosmos Yopougon</a:t>
            </a:r>
          </a:p>
        </p:txBody>
      </p:sp>
      <p:sp>
        <p:nvSpPr>
          <p:cNvPr id="23" name="TextBox 22"/>
          <p:cNvSpPr txBox="1"/>
          <p:nvPr/>
        </p:nvSpPr>
        <p:spPr>
          <a:xfrm>
            <a:off x="8694000" y="3114000"/>
            <a:ext cx="1224000" cy="468000"/>
          </a:xfrm>
          <a:prstGeom prst="rect">
            <a:avLst/>
          </a:prstGeom>
          <a:noFill/>
        </p:spPr>
        <p:txBody>
          <a:bodyPr wrap="square">
            <a:spAutoFit/>
          </a:bodyPr>
          <a:lstStyle/>
          <a:p>
            <a:pPr>
              <a:spcAft>
                <a:spcPts val="500"/>
              </a:spcAft>
            </a:pPr>
            <a:r>
              <a:rPr sz="1200" b="0">
                <a:solidFill>
                  <a:srgbClr val="231C33"/>
                </a:solidFill>
                <a:latin typeface="Poppins"/>
              </a:rPr>
              <a:t>4,2</a:t>
            </a:r>
          </a:p>
        </p:txBody>
      </p:sp>
      <p:sp>
        <p:nvSpPr>
          <p:cNvPr id="24" name="TextBox 23"/>
          <p:cNvSpPr txBox="1"/>
          <p:nvPr/>
        </p:nvSpPr>
        <p:spPr>
          <a:xfrm>
            <a:off x="10062000" y="3114000"/>
            <a:ext cx="1548000" cy="468000"/>
          </a:xfrm>
          <a:prstGeom prst="rect">
            <a:avLst/>
          </a:prstGeom>
          <a:noFill/>
        </p:spPr>
        <p:txBody>
          <a:bodyPr wrap="square">
            <a:spAutoFit/>
          </a:bodyPr>
          <a:lstStyle/>
          <a:p>
            <a:pPr>
              <a:spcAft>
                <a:spcPts val="500"/>
              </a:spcAft>
            </a:pPr>
            <a:r>
              <a:rPr sz="1200" b="0">
                <a:solidFill>
                  <a:srgbClr val="231C33"/>
                </a:solidFill>
                <a:latin typeface="Poppins"/>
              </a:rPr>
              <a:t>7 109</a:t>
            </a:r>
          </a:p>
        </p:txBody>
      </p:sp>
      <p:sp>
        <p:nvSpPr>
          <p:cNvPr id="25" name="TextBox 24"/>
          <p:cNvSpPr txBox="1"/>
          <p:nvPr/>
        </p:nvSpPr>
        <p:spPr>
          <a:xfrm>
            <a:off x="5670000" y="3582000"/>
            <a:ext cx="2880000" cy="468000"/>
          </a:xfrm>
          <a:prstGeom prst="rect">
            <a:avLst/>
          </a:prstGeom>
          <a:noFill/>
        </p:spPr>
        <p:txBody>
          <a:bodyPr wrap="square">
            <a:spAutoFit/>
          </a:bodyPr>
          <a:lstStyle/>
          <a:p>
            <a:pPr>
              <a:spcAft>
                <a:spcPts val="500"/>
              </a:spcAft>
            </a:pPr>
            <a:r>
              <a:rPr sz="1200" b="1">
                <a:solidFill>
                  <a:srgbClr val="231C33"/>
                </a:solidFill>
                <a:latin typeface="Poppins"/>
              </a:rPr>
              <a:t>PlaYce Marcory</a:t>
            </a:r>
          </a:p>
        </p:txBody>
      </p:sp>
      <p:sp>
        <p:nvSpPr>
          <p:cNvPr id="26" name="TextBox 25"/>
          <p:cNvSpPr txBox="1"/>
          <p:nvPr/>
        </p:nvSpPr>
        <p:spPr>
          <a:xfrm>
            <a:off x="8694000" y="3582000"/>
            <a:ext cx="1224000" cy="468000"/>
          </a:xfrm>
          <a:prstGeom prst="rect">
            <a:avLst/>
          </a:prstGeom>
          <a:noFill/>
        </p:spPr>
        <p:txBody>
          <a:bodyPr wrap="square">
            <a:spAutoFit/>
          </a:bodyPr>
          <a:lstStyle/>
          <a:p>
            <a:pPr>
              <a:spcAft>
                <a:spcPts val="500"/>
              </a:spcAft>
            </a:pPr>
            <a:r>
              <a:rPr sz="1200" b="0">
                <a:solidFill>
                  <a:srgbClr val="231C33"/>
                </a:solidFill>
                <a:latin typeface="Poppins"/>
              </a:rPr>
              <a:t>4,1</a:t>
            </a:r>
          </a:p>
        </p:txBody>
      </p:sp>
      <p:sp>
        <p:nvSpPr>
          <p:cNvPr id="27" name="TextBox 26"/>
          <p:cNvSpPr txBox="1"/>
          <p:nvPr/>
        </p:nvSpPr>
        <p:spPr>
          <a:xfrm>
            <a:off x="10062000" y="3582000"/>
            <a:ext cx="1548000" cy="468000"/>
          </a:xfrm>
          <a:prstGeom prst="rect">
            <a:avLst/>
          </a:prstGeom>
          <a:noFill/>
        </p:spPr>
        <p:txBody>
          <a:bodyPr wrap="square">
            <a:spAutoFit/>
          </a:bodyPr>
          <a:lstStyle/>
          <a:p>
            <a:pPr>
              <a:spcAft>
                <a:spcPts val="500"/>
              </a:spcAft>
            </a:pPr>
            <a:r>
              <a:rPr sz="1200" b="0">
                <a:solidFill>
                  <a:srgbClr val="231C33"/>
                </a:solidFill>
                <a:latin typeface="Poppins"/>
              </a:rPr>
              <a:t>826</a:t>
            </a:r>
          </a:p>
        </p:txBody>
      </p:sp>
      <p:sp>
        <p:nvSpPr>
          <p:cNvPr id="28" name="Rectangle 27"/>
          <p:cNvSpPr/>
          <p:nvPr/>
        </p:nvSpPr>
        <p:spPr>
          <a:xfrm>
            <a:off x="5580000" y="3996000"/>
            <a:ext cx="6083999" cy="468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70000" y="4050000"/>
            <a:ext cx="2880000" cy="468000"/>
          </a:xfrm>
          <a:prstGeom prst="rect">
            <a:avLst/>
          </a:prstGeom>
          <a:noFill/>
        </p:spPr>
        <p:txBody>
          <a:bodyPr wrap="square">
            <a:spAutoFit/>
          </a:bodyPr>
          <a:lstStyle/>
          <a:p>
            <a:pPr>
              <a:spcAft>
                <a:spcPts val="500"/>
              </a:spcAft>
            </a:pPr>
            <a:r>
              <a:rPr sz="1200" b="1">
                <a:solidFill>
                  <a:srgbClr val="231C33"/>
                </a:solidFill>
                <a:latin typeface="Poppins"/>
              </a:rPr>
              <a:t>Centre commercial Sococé</a:t>
            </a:r>
          </a:p>
        </p:txBody>
      </p:sp>
      <p:sp>
        <p:nvSpPr>
          <p:cNvPr id="30" name="TextBox 29"/>
          <p:cNvSpPr txBox="1"/>
          <p:nvPr/>
        </p:nvSpPr>
        <p:spPr>
          <a:xfrm>
            <a:off x="8694000" y="4050000"/>
            <a:ext cx="1224000" cy="468000"/>
          </a:xfrm>
          <a:prstGeom prst="rect">
            <a:avLst/>
          </a:prstGeom>
          <a:noFill/>
        </p:spPr>
        <p:txBody>
          <a:bodyPr wrap="square">
            <a:spAutoFit/>
          </a:bodyPr>
          <a:lstStyle/>
          <a:p>
            <a:pPr>
              <a:spcAft>
                <a:spcPts val="500"/>
              </a:spcAft>
            </a:pPr>
            <a:r>
              <a:rPr sz="1200" b="0">
                <a:solidFill>
                  <a:srgbClr val="E0369A"/>
                </a:solidFill>
                <a:latin typeface="Poppins"/>
              </a:rPr>
              <a:t>aucune</a:t>
            </a:r>
          </a:p>
        </p:txBody>
      </p:sp>
      <p:sp>
        <p:nvSpPr>
          <p:cNvPr id="31" name="TextBox 30"/>
          <p:cNvSpPr txBox="1"/>
          <p:nvPr/>
        </p:nvSpPr>
        <p:spPr>
          <a:xfrm>
            <a:off x="10062000" y="4050000"/>
            <a:ext cx="1548000" cy="468000"/>
          </a:xfrm>
          <a:prstGeom prst="rect">
            <a:avLst/>
          </a:prstGeom>
          <a:noFill/>
        </p:spPr>
        <p:txBody>
          <a:bodyPr wrap="square">
            <a:spAutoFit/>
          </a:bodyPr>
          <a:lstStyle/>
          <a:p>
            <a:pPr>
              <a:spcAft>
                <a:spcPts val="500"/>
              </a:spcAft>
            </a:pPr>
            <a:r>
              <a:rPr sz="1200" b="0">
                <a:solidFill>
                  <a:srgbClr val="231C33"/>
                </a:solidFill>
                <a:latin typeface="Poppins"/>
              </a:rPr>
              <a:t>0</a:t>
            </a:r>
          </a:p>
        </p:txBody>
      </p:sp>
      <p:sp>
        <p:nvSpPr>
          <p:cNvPr id="32" name="TextBox 31"/>
          <p:cNvSpPr txBox="1"/>
          <p:nvPr/>
        </p:nvSpPr>
        <p:spPr>
          <a:xfrm>
            <a:off x="5580000" y="4680000"/>
            <a:ext cx="6120000" cy="1800000"/>
          </a:xfrm>
          <a:prstGeom prst="rect">
            <a:avLst/>
          </a:prstGeom>
          <a:noFill/>
        </p:spPr>
        <p:txBody>
          <a:bodyPr wrap="square">
            <a:spAutoFit/>
          </a:bodyPr>
          <a:lstStyle/>
          <a:p>
            <a:pPr>
              <a:spcAft>
                <a:spcPts val="500"/>
              </a:spcAft>
            </a:pPr>
            <a:r>
              <a:rPr sz="1400" b="1">
                <a:solidFill>
                  <a:srgbClr val="654D99"/>
                </a:solidFill>
                <a:latin typeface="Poppins"/>
              </a:rPr>
              <a:t>Ce que ça veut dire</a:t>
            </a:r>
          </a:p>
          <a:p>
            <a:pPr>
              <a:spcAft>
                <a:spcPts val="500"/>
              </a:spcAft>
            </a:pPr>
            <a:r>
              <a:rPr sz="1200" b="0">
                <a:solidFill>
                  <a:srgbClr val="231C33"/>
                </a:solidFill>
                <a:latin typeface="Poppins"/>
              </a:rPr>
              <a:t>Sococé a la meilleure note des quatre, mais le centre lui-même n'a pas de fiche notée : tous les avis vont à l'Hyper U. Cap Sud en a huit fois plus. Revendiquer et compléter la fiche du centre (horaires, photos, enseignes, lien vers les réseaux), fusionner les doublons et répondre aux avis coûte peu et se voit tout de suite.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COMPARAISON CHIFFRÉE</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Face à trois centres d'Abidjan, Sococé part de presque zéro</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8</a:t>
            </a:r>
          </a:p>
        </p:txBody>
      </p:sp>
      <p:sp>
        <p:nvSpPr>
          <p:cNvPr id="8" name="Rectangle 7"/>
          <p:cNvSpPr/>
          <p:nvPr/>
        </p:nvSpPr>
        <p:spPr>
          <a:xfrm>
            <a:off x="540000" y="1655999"/>
            <a:ext cx="11124000" cy="4967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000" y="1710000"/>
            <a:ext cx="2591999" cy="496799"/>
          </a:xfrm>
          <a:prstGeom prst="rect">
            <a:avLst/>
          </a:prstGeom>
          <a:noFill/>
        </p:spPr>
        <p:txBody>
          <a:bodyPr wrap="square">
            <a:spAutoFit/>
          </a:bodyPr>
          <a:lstStyle/>
          <a:p>
            <a:pPr>
              <a:spcAft>
                <a:spcPts val="500"/>
              </a:spcAft>
            </a:pPr>
            <a:r>
              <a:rPr sz="1150" b="1">
                <a:solidFill>
                  <a:srgbClr val="FFFFFF"/>
                </a:solidFill>
                <a:latin typeface="Poppins"/>
              </a:rPr>
              <a:t>Relevé du 21 oct. 2026</a:t>
            </a:r>
          </a:p>
        </p:txBody>
      </p:sp>
      <p:sp>
        <p:nvSpPr>
          <p:cNvPr id="10" name="TextBox 9"/>
          <p:cNvSpPr txBox="1"/>
          <p:nvPr/>
        </p:nvSpPr>
        <p:spPr>
          <a:xfrm>
            <a:off x="3366000" y="1710000"/>
            <a:ext cx="1943999" cy="496799"/>
          </a:xfrm>
          <a:prstGeom prst="rect">
            <a:avLst/>
          </a:prstGeom>
          <a:noFill/>
        </p:spPr>
        <p:txBody>
          <a:bodyPr wrap="square">
            <a:spAutoFit/>
          </a:bodyPr>
          <a:lstStyle/>
          <a:p>
            <a:pPr>
              <a:spcAft>
                <a:spcPts val="500"/>
              </a:spcAft>
            </a:pPr>
            <a:r>
              <a:rPr sz="1150" b="1">
                <a:solidFill>
                  <a:srgbClr val="FFFFFF"/>
                </a:solidFill>
                <a:latin typeface="Poppins"/>
              </a:rPr>
              <a:t>Sococé</a:t>
            </a:r>
          </a:p>
        </p:txBody>
      </p:sp>
      <p:sp>
        <p:nvSpPr>
          <p:cNvPr id="11" name="TextBox 10"/>
          <p:cNvSpPr txBox="1"/>
          <p:nvPr/>
        </p:nvSpPr>
        <p:spPr>
          <a:xfrm>
            <a:off x="5453999" y="1710000"/>
            <a:ext cx="1943999" cy="496799"/>
          </a:xfrm>
          <a:prstGeom prst="rect">
            <a:avLst/>
          </a:prstGeom>
          <a:noFill/>
        </p:spPr>
        <p:txBody>
          <a:bodyPr wrap="square">
            <a:spAutoFit/>
          </a:bodyPr>
          <a:lstStyle/>
          <a:p>
            <a:pPr>
              <a:spcAft>
                <a:spcPts val="500"/>
              </a:spcAft>
            </a:pPr>
            <a:r>
              <a:rPr sz="1150" b="1">
                <a:solidFill>
                  <a:srgbClr val="FFFFFF"/>
                </a:solidFill>
                <a:latin typeface="Poppins"/>
              </a:rPr>
              <a:t>Cap Sud</a:t>
            </a:r>
          </a:p>
        </p:txBody>
      </p:sp>
      <p:sp>
        <p:nvSpPr>
          <p:cNvPr id="12" name="TextBox 11"/>
          <p:cNvSpPr txBox="1"/>
          <p:nvPr/>
        </p:nvSpPr>
        <p:spPr>
          <a:xfrm>
            <a:off x="7542000" y="1710000"/>
            <a:ext cx="1943999" cy="496799"/>
          </a:xfrm>
          <a:prstGeom prst="rect">
            <a:avLst/>
          </a:prstGeom>
          <a:noFill/>
        </p:spPr>
        <p:txBody>
          <a:bodyPr wrap="square">
            <a:spAutoFit/>
          </a:bodyPr>
          <a:lstStyle/>
          <a:p>
            <a:pPr>
              <a:spcAft>
                <a:spcPts val="500"/>
              </a:spcAft>
            </a:pPr>
            <a:r>
              <a:rPr sz="1150" b="1">
                <a:solidFill>
                  <a:srgbClr val="FFFFFF"/>
                </a:solidFill>
                <a:latin typeface="Poppins"/>
              </a:rPr>
              <a:t>PlaYce</a:t>
            </a:r>
          </a:p>
        </p:txBody>
      </p:sp>
      <p:sp>
        <p:nvSpPr>
          <p:cNvPr id="13" name="TextBox 12"/>
          <p:cNvSpPr txBox="1"/>
          <p:nvPr/>
        </p:nvSpPr>
        <p:spPr>
          <a:xfrm>
            <a:off x="9630000" y="1710000"/>
            <a:ext cx="1980000" cy="496799"/>
          </a:xfrm>
          <a:prstGeom prst="rect">
            <a:avLst/>
          </a:prstGeom>
          <a:noFill/>
        </p:spPr>
        <p:txBody>
          <a:bodyPr wrap="square">
            <a:spAutoFit/>
          </a:bodyPr>
          <a:lstStyle/>
          <a:p>
            <a:pPr>
              <a:spcAft>
                <a:spcPts val="500"/>
              </a:spcAft>
            </a:pPr>
            <a:r>
              <a:rPr sz="1150" b="1">
                <a:solidFill>
                  <a:srgbClr val="FFFFFF"/>
                </a:solidFill>
                <a:latin typeface="Poppins"/>
              </a:rPr>
              <a:t>Cosmos Yopougon</a:t>
            </a:r>
          </a:p>
        </p:txBody>
      </p:sp>
      <p:sp>
        <p:nvSpPr>
          <p:cNvPr id="14" name="Rectangle 13"/>
          <p:cNvSpPr/>
          <p:nvPr/>
        </p:nvSpPr>
        <p:spPr>
          <a:xfrm>
            <a:off x="540000" y="2152800"/>
            <a:ext cx="11124000" cy="496799"/>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000" y="2206800"/>
            <a:ext cx="2591999" cy="496799"/>
          </a:xfrm>
          <a:prstGeom prst="rect">
            <a:avLst/>
          </a:prstGeom>
          <a:noFill/>
        </p:spPr>
        <p:txBody>
          <a:bodyPr wrap="square">
            <a:spAutoFit/>
          </a:bodyPr>
          <a:lstStyle/>
          <a:p>
            <a:pPr>
              <a:spcAft>
                <a:spcPts val="500"/>
              </a:spcAft>
            </a:pPr>
            <a:r>
              <a:rPr sz="1150" b="1">
                <a:solidFill>
                  <a:srgbClr val="231C33"/>
                </a:solidFill>
                <a:latin typeface="Poppins"/>
              </a:rPr>
              <a:t>Abonnés Facebook</a:t>
            </a:r>
          </a:p>
        </p:txBody>
      </p:sp>
      <p:sp>
        <p:nvSpPr>
          <p:cNvPr id="16" name="TextBox 15"/>
          <p:cNvSpPr txBox="1"/>
          <p:nvPr/>
        </p:nvSpPr>
        <p:spPr>
          <a:xfrm>
            <a:off x="3366000" y="2206800"/>
            <a:ext cx="1943999" cy="496799"/>
          </a:xfrm>
          <a:prstGeom prst="rect">
            <a:avLst/>
          </a:prstGeom>
          <a:noFill/>
        </p:spPr>
        <p:txBody>
          <a:bodyPr wrap="square">
            <a:spAutoFit/>
          </a:bodyPr>
          <a:lstStyle/>
          <a:p>
            <a:pPr>
              <a:spcAft>
                <a:spcPts val="500"/>
              </a:spcAft>
            </a:pPr>
            <a:r>
              <a:rPr sz="1150" b="0">
                <a:solidFill>
                  <a:srgbClr val="E0369A"/>
                </a:solidFill>
                <a:latin typeface="Poppins"/>
              </a:rPr>
              <a:t>aucune page</a:t>
            </a:r>
          </a:p>
        </p:txBody>
      </p:sp>
      <p:sp>
        <p:nvSpPr>
          <p:cNvPr id="17" name="TextBox 16"/>
          <p:cNvSpPr txBox="1"/>
          <p:nvPr/>
        </p:nvSpPr>
        <p:spPr>
          <a:xfrm>
            <a:off x="5453999" y="2206800"/>
            <a:ext cx="1943999" cy="496799"/>
          </a:xfrm>
          <a:prstGeom prst="rect">
            <a:avLst/>
          </a:prstGeom>
          <a:noFill/>
        </p:spPr>
        <p:txBody>
          <a:bodyPr wrap="square">
            <a:spAutoFit/>
          </a:bodyPr>
          <a:lstStyle/>
          <a:p>
            <a:pPr>
              <a:spcAft>
                <a:spcPts val="500"/>
              </a:spcAft>
            </a:pPr>
            <a:r>
              <a:rPr sz="1150" b="0">
                <a:solidFill>
                  <a:srgbClr val="231C33"/>
                </a:solidFill>
                <a:latin typeface="Poppins"/>
              </a:rPr>
              <a:t>97 177</a:t>
            </a:r>
          </a:p>
        </p:txBody>
      </p:sp>
      <p:sp>
        <p:nvSpPr>
          <p:cNvPr id="18" name="TextBox 17"/>
          <p:cNvSpPr txBox="1"/>
          <p:nvPr/>
        </p:nvSpPr>
        <p:spPr>
          <a:xfrm>
            <a:off x="7542000" y="2206800"/>
            <a:ext cx="1943999" cy="496799"/>
          </a:xfrm>
          <a:prstGeom prst="rect">
            <a:avLst/>
          </a:prstGeom>
          <a:noFill/>
        </p:spPr>
        <p:txBody>
          <a:bodyPr wrap="square">
            <a:spAutoFit/>
          </a:bodyPr>
          <a:lstStyle/>
          <a:p>
            <a:pPr>
              <a:spcAft>
                <a:spcPts val="500"/>
              </a:spcAft>
            </a:pPr>
            <a:r>
              <a:rPr sz="1150" b="0">
                <a:solidFill>
                  <a:srgbClr val="231C33"/>
                </a:solidFill>
                <a:latin typeface="Poppins"/>
              </a:rPr>
              <a:t>159 978</a:t>
            </a:r>
          </a:p>
        </p:txBody>
      </p:sp>
      <p:sp>
        <p:nvSpPr>
          <p:cNvPr id="19" name="TextBox 18"/>
          <p:cNvSpPr txBox="1"/>
          <p:nvPr/>
        </p:nvSpPr>
        <p:spPr>
          <a:xfrm>
            <a:off x="9630000" y="2206800"/>
            <a:ext cx="1980000" cy="496799"/>
          </a:xfrm>
          <a:prstGeom prst="rect">
            <a:avLst/>
          </a:prstGeom>
          <a:noFill/>
        </p:spPr>
        <p:txBody>
          <a:bodyPr wrap="square">
            <a:spAutoFit/>
          </a:bodyPr>
          <a:lstStyle/>
          <a:p>
            <a:pPr>
              <a:spcAft>
                <a:spcPts val="500"/>
              </a:spcAft>
            </a:pPr>
            <a:r>
              <a:rPr sz="1150" b="0">
                <a:solidFill>
                  <a:srgbClr val="231C33"/>
                </a:solidFill>
                <a:latin typeface="Poppins"/>
              </a:rPr>
              <a:t>254 320</a:t>
            </a:r>
          </a:p>
        </p:txBody>
      </p:sp>
      <p:sp>
        <p:nvSpPr>
          <p:cNvPr id="20" name="TextBox 19"/>
          <p:cNvSpPr txBox="1"/>
          <p:nvPr/>
        </p:nvSpPr>
        <p:spPr>
          <a:xfrm>
            <a:off x="630000" y="2703600"/>
            <a:ext cx="2591999" cy="496799"/>
          </a:xfrm>
          <a:prstGeom prst="rect">
            <a:avLst/>
          </a:prstGeom>
          <a:noFill/>
        </p:spPr>
        <p:txBody>
          <a:bodyPr wrap="square">
            <a:spAutoFit/>
          </a:bodyPr>
          <a:lstStyle/>
          <a:p>
            <a:pPr>
              <a:spcAft>
                <a:spcPts val="500"/>
              </a:spcAft>
            </a:pPr>
            <a:r>
              <a:rPr sz="1150" b="1">
                <a:solidFill>
                  <a:srgbClr val="231C33"/>
                </a:solidFill>
                <a:latin typeface="Poppins"/>
              </a:rPr>
              <a:t>Publications Facebook / semaine</a:t>
            </a:r>
          </a:p>
        </p:txBody>
      </p:sp>
      <p:sp>
        <p:nvSpPr>
          <p:cNvPr id="21" name="TextBox 20"/>
          <p:cNvSpPr txBox="1"/>
          <p:nvPr/>
        </p:nvSpPr>
        <p:spPr>
          <a:xfrm>
            <a:off x="3366000" y="2703600"/>
            <a:ext cx="1943999" cy="496799"/>
          </a:xfrm>
          <a:prstGeom prst="rect">
            <a:avLst/>
          </a:prstGeom>
          <a:noFill/>
        </p:spPr>
        <p:txBody>
          <a:bodyPr wrap="square">
            <a:spAutoFit/>
          </a:bodyPr>
          <a:lstStyle/>
          <a:p>
            <a:pPr>
              <a:spcAft>
                <a:spcPts val="500"/>
              </a:spcAft>
            </a:pPr>
            <a:r>
              <a:rPr sz="1150" b="0">
                <a:solidFill>
                  <a:srgbClr val="231C33"/>
                </a:solidFill>
                <a:latin typeface="Poppins"/>
              </a:rPr>
              <a:t>—</a:t>
            </a:r>
          </a:p>
        </p:txBody>
      </p:sp>
      <p:sp>
        <p:nvSpPr>
          <p:cNvPr id="22" name="TextBox 21"/>
          <p:cNvSpPr txBox="1"/>
          <p:nvPr/>
        </p:nvSpPr>
        <p:spPr>
          <a:xfrm>
            <a:off x="5453999" y="2703600"/>
            <a:ext cx="1943999" cy="496799"/>
          </a:xfrm>
          <a:prstGeom prst="rect">
            <a:avLst/>
          </a:prstGeom>
          <a:noFill/>
        </p:spPr>
        <p:txBody>
          <a:bodyPr wrap="square">
            <a:spAutoFit/>
          </a:bodyPr>
          <a:lstStyle/>
          <a:p>
            <a:pPr>
              <a:spcAft>
                <a:spcPts val="500"/>
              </a:spcAft>
            </a:pPr>
            <a:r>
              <a:rPr sz="1150" b="0">
                <a:solidFill>
                  <a:srgbClr val="231C33"/>
                </a:solidFill>
                <a:latin typeface="Poppins"/>
              </a:rPr>
              <a:t>4,1</a:t>
            </a:r>
          </a:p>
        </p:txBody>
      </p:sp>
      <p:sp>
        <p:nvSpPr>
          <p:cNvPr id="23" name="TextBox 22"/>
          <p:cNvSpPr txBox="1"/>
          <p:nvPr/>
        </p:nvSpPr>
        <p:spPr>
          <a:xfrm>
            <a:off x="7542000" y="2703600"/>
            <a:ext cx="1943999" cy="496799"/>
          </a:xfrm>
          <a:prstGeom prst="rect">
            <a:avLst/>
          </a:prstGeom>
          <a:noFill/>
        </p:spPr>
        <p:txBody>
          <a:bodyPr wrap="square">
            <a:spAutoFit/>
          </a:bodyPr>
          <a:lstStyle/>
          <a:p>
            <a:pPr>
              <a:spcAft>
                <a:spcPts val="500"/>
              </a:spcAft>
            </a:pPr>
            <a:r>
              <a:rPr sz="1150" b="0">
                <a:solidFill>
                  <a:srgbClr val="231C33"/>
                </a:solidFill>
                <a:latin typeface="Poppins"/>
              </a:rPr>
              <a:t>3,3</a:t>
            </a:r>
          </a:p>
        </p:txBody>
      </p:sp>
      <p:sp>
        <p:nvSpPr>
          <p:cNvPr id="24" name="TextBox 23"/>
          <p:cNvSpPr txBox="1"/>
          <p:nvPr/>
        </p:nvSpPr>
        <p:spPr>
          <a:xfrm>
            <a:off x="9630000" y="2703600"/>
            <a:ext cx="1980000" cy="496799"/>
          </a:xfrm>
          <a:prstGeom prst="rect">
            <a:avLst/>
          </a:prstGeom>
          <a:noFill/>
        </p:spPr>
        <p:txBody>
          <a:bodyPr wrap="square">
            <a:spAutoFit/>
          </a:bodyPr>
          <a:lstStyle/>
          <a:p>
            <a:pPr>
              <a:spcAft>
                <a:spcPts val="500"/>
              </a:spcAft>
            </a:pPr>
            <a:r>
              <a:rPr sz="1150" b="0">
                <a:solidFill>
                  <a:srgbClr val="231C33"/>
                </a:solidFill>
                <a:latin typeface="Poppins"/>
              </a:rPr>
              <a:t>12,5</a:t>
            </a:r>
          </a:p>
        </p:txBody>
      </p:sp>
      <p:sp>
        <p:nvSpPr>
          <p:cNvPr id="25" name="Rectangle 24"/>
          <p:cNvSpPr/>
          <p:nvPr/>
        </p:nvSpPr>
        <p:spPr>
          <a:xfrm>
            <a:off x="540000" y="3146399"/>
            <a:ext cx="11124000" cy="496799"/>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000" y="3200399"/>
            <a:ext cx="2591999" cy="496799"/>
          </a:xfrm>
          <a:prstGeom prst="rect">
            <a:avLst/>
          </a:prstGeom>
          <a:noFill/>
        </p:spPr>
        <p:txBody>
          <a:bodyPr wrap="square">
            <a:spAutoFit/>
          </a:bodyPr>
          <a:lstStyle/>
          <a:p>
            <a:pPr>
              <a:spcAft>
                <a:spcPts val="500"/>
              </a:spcAft>
            </a:pPr>
            <a:r>
              <a:rPr sz="1150" b="1">
                <a:solidFill>
                  <a:srgbClr val="231C33"/>
                </a:solidFill>
                <a:latin typeface="Poppins"/>
              </a:rPr>
              <a:t>Réactions par post Facebook (médiane)</a:t>
            </a:r>
          </a:p>
        </p:txBody>
      </p:sp>
      <p:sp>
        <p:nvSpPr>
          <p:cNvPr id="27" name="TextBox 26"/>
          <p:cNvSpPr txBox="1"/>
          <p:nvPr/>
        </p:nvSpPr>
        <p:spPr>
          <a:xfrm>
            <a:off x="3366000" y="3200399"/>
            <a:ext cx="1943999" cy="496799"/>
          </a:xfrm>
          <a:prstGeom prst="rect">
            <a:avLst/>
          </a:prstGeom>
          <a:noFill/>
        </p:spPr>
        <p:txBody>
          <a:bodyPr wrap="square">
            <a:spAutoFit/>
          </a:bodyPr>
          <a:lstStyle/>
          <a:p>
            <a:pPr>
              <a:spcAft>
                <a:spcPts val="500"/>
              </a:spcAft>
            </a:pPr>
            <a:r>
              <a:rPr sz="1150" b="0">
                <a:solidFill>
                  <a:srgbClr val="231C33"/>
                </a:solidFill>
                <a:latin typeface="Poppins"/>
              </a:rPr>
              <a:t>—</a:t>
            </a:r>
          </a:p>
        </p:txBody>
      </p:sp>
      <p:sp>
        <p:nvSpPr>
          <p:cNvPr id="28" name="TextBox 27"/>
          <p:cNvSpPr txBox="1"/>
          <p:nvPr/>
        </p:nvSpPr>
        <p:spPr>
          <a:xfrm>
            <a:off x="5453999" y="3200399"/>
            <a:ext cx="1943999" cy="496799"/>
          </a:xfrm>
          <a:prstGeom prst="rect">
            <a:avLst/>
          </a:prstGeom>
          <a:noFill/>
        </p:spPr>
        <p:txBody>
          <a:bodyPr wrap="square">
            <a:spAutoFit/>
          </a:bodyPr>
          <a:lstStyle/>
          <a:p>
            <a:pPr>
              <a:spcAft>
                <a:spcPts val="500"/>
              </a:spcAft>
            </a:pPr>
            <a:r>
              <a:rPr sz="1150" b="0">
                <a:solidFill>
                  <a:srgbClr val="231C33"/>
                </a:solidFill>
                <a:latin typeface="Poppins"/>
              </a:rPr>
              <a:t>17</a:t>
            </a:r>
          </a:p>
        </p:txBody>
      </p:sp>
      <p:sp>
        <p:nvSpPr>
          <p:cNvPr id="29" name="TextBox 28"/>
          <p:cNvSpPr txBox="1"/>
          <p:nvPr/>
        </p:nvSpPr>
        <p:spPr>
          <a:xfrm>
            <a:off x="7542000" y="3200399"/>
            <a:ext cx="1943999" cy="496799"/>
          </a:xfrm>
          <a:prstGeom prst="rect">
            <a:avLst/>
          </a:prstGeom>
          <a:noFill/>
        </p:spPr>
        <p:txBody>
          <a:bodyPr wrap="square">
            <a:spAutoFit/>
          </a:bodyPr>
          <a:lstStyle/>
          <a:p>
            <a:pPr>
              <a:spcAft>
                <a:spcPts val="500"/>
              </a:spcAft>
            </a:pPr>
            <a:r>
              <a:rPr sz="1150" b="0">
                <a:solidFill>
                  <a:srgbClr val="231C33"/>
                </a:solidFill>
                <a:latin typeface="Poppins"/>
              </a:rPr>
              <a:t>12</a:t>
            </a:r>
          </a:p>
        </p:txBody>
      </p:sp>
      <p:sp>
        <p:nvSpPr>
          <p:cNvPr id="30" name="TextBox 29"/>
          <p:cNvSpPr txBox="1"/>
          <p:nvPr/>
        </p:nvSpPr>
        <p:spPr>
          <a:xfrm>
            <a:off x="9630000" y="3200399"/>
            <a:ext cx="1980000" cy="496799"/>
          </a:xfrm>
          <a:prstGeom prst="rect">
            <a:avLst/>
          </a:prstGeom>
          <a:noFill/>
        </p:spPr>
        <p:txBody>
          <a:bodyPr wrap="square">
            <a:spAutoFit/>
          </a:bodyPr>
          <a:lstStyle/>
          <a:p>
            <a:pPr>
              <a:spcAft>
                <a:spcPts val="500"/>
              </a:spcAft>
            </a:pPr>
            <a:r>
              <a:rPr sz="1150" b="0">
                <a:solidFill>
                  <a:srgbClr val="231C33"/>
                </a:solidFill>
                <a:latin typeface="Poppins"/>
              </a:rPr>
              <a:t>6</a:t>
            </a:r>
          </a:p>
        </p:txBody>
      </p:sp>
      <p:sp>
        <p:nvSpPr>
          <p:cNvPr id="31" name="TextBox 30"/>
          <p:cNvSpPr txBox="1"/>
          <p:nvPr/>
        </p:nvSpPr>
        <p:spPr>
          <a:xfrm>
            <a:off x="630000" y="3697200"/>
            <a:ext cx="2591999" cy="496799"/>
          </a:xfrm>
          <a:prstGeom prst="rect">
            <a:avLst/>
          </a:prstGeom>
          <a:noFill/>
        </p:spPr>
        <p:txBody>
          <a:bodyPr wrap="square">
            <a:spAutoFit/>
          </a:bodyPr>
          <a:lstStyle/>
          <a:p>
            <a:pPr>
              <a:spcAft>
                <a:spcPts val="500"/>
              </a:spcAft>
            </a:pPr>
            <a:r>
              <a:rPr sz="1150" b="1">
                <a:solidFill>
                  <a:srgbClr val="231C33"/>
                </a:solidFill>
                <a:latin typeface="Poppins"/>
              </a:rPr>
              <a:t>Abonnés Instagram</a:t>
            </a:r>
          </a:p>
        </p:txBody>
      </p:sp>
      <p:sp>
        <p:nvSpPr>
          <p:cNvPr id="32" name="TextBox 31"/>
          <p:cNvSpPr txBox="1"/>
          <p:nvPr/>
        </p:nvSpPr>
        <p:spPr>
          <a:xfrm>
            <a:off x="3366000" y="3697200"/>
            <a:ext cx="1943999" cy="496799"/>
          </a:xfrm>
          <a:prstGeom prst="rect">
            <a:avLst/>
          </a:prstGeom>
          <a:noFill/>
        </p:spPr>
        <p:txBody>
          <a:bodyPr wrap="square">
            <a:spAutoFit/>
          </a:bodyPr>
          <a:lstStyle/>
          <a:p>
            <a:pPr>
              <a:spcAft>
                <a:spcPts val="500"/>
              </a:spcAft>
            </a:pPr>
            <a:r>
              <a:rPr sz="1150" b="0">
                <a:solidFill>
                  <a:srgbClr val="E0369A"/>
                </a:solidFill>
                <a:latin typeface="Poppins"/>
              </a:rPr>
              <a:t>500 (arrêté)</a:t>
            </a:r>
          </a:p>
        </p:txBody>
      </p:sp>
      <p:sp>
        <p:nvSpPr>
          <p:cNvPr id="33" name="TextBox 32"/>
          <p:cNvSpPr txBox="1"/>
          <p:nvPr/>
        </p:nvSpPr>
        <p:spPr>
          <a:xfrm>
            <a:off x="5453999" y="3697200"/>
            <a:ext cx="1943999" cy="496799"/>
          </a:xfrm>
          <a:prstGeom prst="rect">
            <a:avLst/>
          </a:prstGeom>
          <a:noFill/>
        </p:spPr>
        <p:txBody>
          <a:bodyPr wrap="square">
            <a:spAutoFit/>
          </a:bodyPr>
          <a:lstStyle/>
          <a:p>
            <a:pPr>
              <a:spcAft>
                <a:spcPts val="500"/>
              </a:spcAft>
            </a:pPr>
            <a:r>
              <a:rPr sz="1150" b="0">
                <a:solidFill>
                  <a:srgbClr val="231C33"/>
                </a:solidFill>
                <a:latin typeface="Poppins"/>
              </a:rPr>
              <a:t>13 982</a:t>
            </a:r>
          </a:p>
        </p:txBody>
      </p:sp>
      <p:sp>
        <p:nvSpPr>
          <p:cNvPr id="34" name="TextBox 33"/>
          <p:cNvSpPr txBox="1"/>
          <p:nvPr/>
        </p:nvSpPr>
        <p:spPr>
          <a:xfrm>
            <a:off x="7542000" y="3697200"/>
            <a:ext cx="1943999" cy="496799"/>
          </a:xfrm>
          <a:prstGeom prst="rect">
            <a:avLst/>
          </a:prstGeom>
          <a:noFill/>
        </p:spPr>
        <p:txBody>
          <a:bodyPr wrap="square">
            <a:spAutoFit/>
          </a:bodyPr>
          <a:lstStyle/>
          <a:p>
            <a:pPr>
              <a:spcAft>
                <a:spcPts val="500"/>
              </a:spcAft>
            </a:pPr>
            <a:r>
              <a:rPr sz="1150" b="0">
                <a:solidFill>
                  <a:srgbClr val="231C33"/>
                </a:solidFill>
                <a:latin typeface="Poppins"/>
              </a:rPr>
              <a:t>20 465</a:t>
            </a:r>
          </a:p>
        </p:txBody>
      </p:sp>
      <p:sp>
        <p:nvSpPr>
          <p:cNvPr id="35" name="TextBox 34"/>
          <p:cNvSpPr txBox="1"/>
          <p:nvPr/>
        </p:nvSpPr>
        <p:spPr>
          <a:xfrm>
            <a:off x="9630000" y="3697200"/>
            <a:ext cx="1980000" cy="496799"/>
          </a:xfrm>
          <a:prstGeom prst="rect">
            <a:avLst/>
          </a:prstGeom>
          <a:noFill/>
        </p:spPr>
        <p:txBody>
          <a:bodyPr wrap="square">
            <a:spAutoFit/>
          </a:bodyPr>
          <a:lstStyle/>
          <a:p>
            <a:pPr>
              <a:spcAft>
                <a:spcPts val="500"/>
              </a:spcAft>
            </a:pPr>
            <a:r>
              <a:rPr sz="1150" b="0">
                <a:solidFill>
                  <a:srgbClr val="231C33"/>
                </a:solidFill>
                <a:latin typeface="Poppins"/>
              </a:rPr>
              <a:t>4 363</a:t>
            </a:r>
          </a:p>
        </p:txBody>
      </p:sp>
      <p:sp>
        <p:nvSpPr>
          <p:cNvPr id="36" name="Rectangle 35"/>
          <p:cNvSpPr/>
          <p:nvPr/>
        </p:nvSpPr>
        <p:spPr>
          <a:xfrm>
            <a:off x="540000" y="4140000"/>
            <a:ext cx="11124000" cy="496799"/>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000" y="4194000"/>
            <a:ext cx="2591999" cy="496799"/>
          </a:xfrm>
          <a:prstGeom prst="rect">
            <a:avLst/>
          </a:prstGeom>
          <a:noFill/>
        </p:spPr>
        <p:txBody>
          <a:bodyPr wrap="square">
            <a:spAutoFit/>
          </a:bodyPr>
          <a:lstStyle/>
          <a:p>
            <a:pPr>
              <a:spcAft>
                <a:spcPts val="500"/>
              </a:spcAft>
            </a:pPr>
            <a:r>
              <a:rPr sz="1150" b="1">
                <a:solidFill>
                  <a:srgbClr val="231C33"/>
                </a:solidFill>
                <a:latin typeface="Poppins"/>
              </a:rPr>
              <a:t>Publications Instagram / semaine</a:t>
            </a:r>
          </a:p>
        </p:txBody>
      </p:sp>
      <p:sp>
        <p:nvSpPr>
          <p:cNvPr id="38" name="TextBox 37"/>
          <p:cNvSpPr txBox="1"/>
          <p:nvPr/>
        </p:nvSpPr>
        <p:spPr>
          <a:xfrm>
            <a:off x="3366000" y="4194000"/>
            <a:ext cx="1943999" cy="496799"/>
          </a:xfrm>
          <a:prstGeom prst="rect">
            <a:avLst/>
          </a:prstGeom>
          <a:noFill/>
        </p:spPr>
        <p:txBody>
          <a:bodyPr wrap="square">
            <a:spAutoFit/>
          </a:bodyPr>
          <a:lstStyle/>
          <a:p>
            <a:pPr>
              <a:spcAft>
                <a:spcPts val="500"/>
              </a:spcAft>
            </a:pPr>
            <a:r>
              <a:rPr sz="1150" b="0">
                <a:solidFill>
                  <a:srgbClr val="231C33"/>
                </a:solidFill>
                <a:latin typeface="Poppins"/>
              </a:rPr>
              <a:t>0 depuis 2019</a:t>
            </a:r>
          </a:p>
        </p:txBody>
      </p:sp>
      <p:sp>
        <p:nvSpPr>
          <p:cNvPr id="39" name="TextBox 38"/>
          <p:cNvSpPr txBox="1"/>
          <p:nvPr/>
        </p:nvSpPr>
        <p:spPr>
          <a:xfrm>
            <a:off x="5453999" y="4194000"/>
            <a:ext cx="1943999" cy="496799"/>
          </a:xfrm>
          <a:prstGeom prst="rect">
            <a:avLst/>
          </a:prstGeom>
          <a:noFill/>
        </p:spPr>
        <p:txBody>
          <a:bodyPr wrap="square">
            <a:spAutoFit/>
          </a:bodyPr>
          <a:lstStyle/>
          <a:p>
            <a:pPr>
              <a:spcAft>
                <a:spcPts val="500"/>
              </a:spcAft>
            </a:pPr>
            <a:r>
              <a:rPr sz="1150" b="0">
                <a:solidFill>
                  <a:srgbClr val="231C33"/>
                </a:solidFill>
                <a:latin typeface="Poppins"/>
              </a:rPr>
              <a:t>3,0</a:t>
            </a:r>
          </a:p>
        </p:txBody>
      </p:sp>
      <p:sp>
        <p:nvSpPr>
          <p:cNvPr id="40" name="TextBox 39"/>
          <p:cNvSpPr txBox="1"/>
          <p:nvPr/>
        </p:nvSpPr>
        <p:spPr>
          <a:xfrm>
            <a:off x="7542000" y="4194000"/>
            <a:ext cx="1943999" cy="496799"/>
          </a:xfrm>
          <a:prstGeom prst="rect">
            <a:avLst/>
          </a:prstGeom>
          <a:noFill/>
        </p:spPr>
        <p:txBody>
          <a:bodyPr wrap="square">
            <a:spAutoFit/>
          </a:bodyPr>
          <a:lstStyle/>
          <a:p>
            <a:pPr>
              <a:spcAft>
                <a:spcPts val="500"/>
              </a:spcAft>
            </a:pPr>
            <a:r>
              <a:rPr sz="1150" b="0">
                <a:solidFill>
                  <a:srgbClr val="231C33"/>
                </a:solidFill>
                <a:latin typeface="Poppins"/>
              </a:rPr>
              <a:t>3,8</a:t>
            </a:r>
          </a:p>
        </p:txBody>
      </p:sp>
      <p:sp>
        <p:nvSpPr>
          <p:cNvPr id="41" name="TextBox 40"/>
          <p:cNvSpPr txBox="1"/>
          <p:nvPr/>
        </p:nvSpPr>
        <p:spPr>
          <a:xfrm>
            <a:off x="9630000" y="4194000"/>
            <a:ext cx="1980000" cy="496799"/>
          </a:xfrm>
          <a:prstGeom prst="rect">
            <a:avLst/>
          </a:prstGeom>
          <a:noFill/>
        </p:spPr>
        <p:txBody>
          <a:bodyPr wrap="square">
            <a:spAutoFit/>
          </a:bodyPr>
          <a:lstStyle/>
          <a:p>
            <a:pPr>
              <a:spcAft>
                <a:spcPts val="500"/>
              </a:spcAft>
            </a:pPr>
            <a:r>
              <a:rPr sz="1150" b="0">
                <a:solidFill>
                  <a:srgbClr val="231C33"/>
                </a:solidFill>
                <a:latin typeface="Poppins"/>
              </a:rPr>
              <a:t>5,5</a:t>
            </a:r>
          </a:p>
        </p:txBody>
      </p:sp>
      <p:sp>
        <p:nvSpPr>
          <p:cNvPr id="42" name="TextBox 41"/>
          <p:cNvSpPr txBox="1"/>
          <p:nvPr/>
        </p:nvSpPr>
        <p:spPr>
          <a:xfrm>
            <a:off x="630000" y="4690800"/>
            <a:ext cx="2591999" cy="496799"/>
          </a:xfrm>
          <a:prstGeom prst="rect">
            <a:avLst/>
          </a:prstGeom>
          <a:noFill/>
        </p:spPr>
        <p:txBody>
          <a:bodyPr wrap="square">
            <a:spAutoFit/>
          </a:bodyPr>
          <a:lstStyle/>
          <a:p>
            <a:pPr>
              <a:spcAft>
                <a:spcPts val="500"/>
              </a:spcAft>
            </a:pPr>
            <a:r>
              <a:rPr sz="1150" b="1">
                <a:solidFill>
                  <a:srgbClr val="231C33"/>
                </a:solidFill>
                <a:latin typeface="Poppins"/>
              </a:rPr>
              <a:t>Part de vidéos (30 derniers posts)</a:t>
            </a:r>
          </a:p>
        </p:txBody>
      </p:sp>
      <p:sp>
        <p:nvSpPr>
          <p:cNvPr id="43" name="TextBox 42"/>
          <p:cNvSpPr txBox="1"/>
          <p:nvPr/>
        </p:nvSpPr>
        <p:spPr>
          <a:xfrm>
            <a:off x="3366000" y="4690800"/>
            <a:ext cx="1943999" cy="496799"/>
          </a:xfrm>
          <a:prstGeom prst="rect">
            <a:avLst/>
          </a:prstGeom>
          <a:noFill/>
        </p:spPr>
        <p:txBody>
          <a:bodyPr wrap="square">
            <a:spAutoFit/>
          </a:bodyPr>
          <a:lstStyle/>
          <a:p>
            <a:pPr>
              <a:spcAft>
                <a:spcPts val="500"/>
              </a:spcAft>
            </a:pPr>
            <a:r>
              <a:rPr sz="1150" b="0">
                <a:solidFill>
                  <a:srgbClr val="231C33"/>
                </a:solidFill>
                <a:latin typeface="Poppins"/>
              </a:rPr>
              <a:t>—</a:t>
            </a:r>
          </a:p>
        </p:txBody>
      </p:sp>
      <p:sp>
        <p:nvSpPr>
          <p:cNvPr id="44" name="TextBox 43"/>
          <p:cNvSpPr txBox="1"/>
          <p:nvPr/>
        </p:nvSpPr>
        <p:spPr>
          <a:xfrm>
            <a:off x="5453999" y="4690800"/>
            <a:ext cx="1943999" cy="496799"/>
          </a:xfrm>
          <a:prstGeom prst="rect">
            <a:avLst/>
          </a:prstGeom>
          <a:noFill/>
        </p:spPr>
        <p:txBody>
          <a:bodyPr wrap="square">
            <a:spAutoFit/>
          </a:bodyPr>
          <a:lstStyle/>
          <a:p>
            <a:pPr>
              <a:spcAft>
                <a:spcPts val="500"/>
              </a:spcAft>
            </a:pPr>
            <a:r>
              <a:rPr sz="1150" b="0">
                <a:solidFill>
                  <a:srgbClr val="231C33"/>
                </a:solidFill>
                <a:latin typeface="Poppins"/>
              </a:rPr>
              <a:t>43 %</a:t>
            </a:r>
          </a:p>
        </p:txBody>
      </p:sp>
      <p:sp>
        <p:nvSpPr>
          <p:cNvPr id="45" name="TextBox 44"/>
          <p:cNvSpPr txBox="1"/>
          <p:nvPr/>
        </p:nvSpPr>
        <p:spPr>
          <a:xfrm>
            <a:off x="7542000" y="4690800"/>
            <a:ext cx="1943999" cy="496799"/>
          </a:xfrm>
          <a:prstGeom prst="rect">
            <a:avLst/>
          </a:prstGeom>
          <a:noFill/>
        </p:spPr>
        <p:txBody>
          <a:bodyPr wrap="square">
            <a:spAutoFit/>
          </a:bodyPr>
          <a:lstStyle/>
          <a:p>
            <a:pPr>
              <a:spcAft>
                <a:spcPts val="500"/>
              </a:spcAft>
            </a:pPr>
            <a:r>
              <a:rPr sz="1150" b="0">
                <a:solidFill>
                  <a:srgbClr val="231C33"/>
                </a:solidFill>
                <a:latin typeface="Poppins"/>
              </a:rPr>
              <a:t>87 %</a:t>
            </a:r>
          </a:p>
        </p:txBody>
      </p:sp>
      <p:sp>
        <p:nvSpPr>
          <p:cNvPr id="46" name="TextBox 45"/>
          <p:cNvSpPr txBox="1"/>
          <p:nvPr/>
        </p:nvSpPr>
        <p:spPr>
          <a:xfrm>
            <a:off x="9630000" y="4690800"/>
            <a:ext cx="1980000" cy="496799"/>
          </a:xfrm>
          <a:prstGeom prst="rect">
            <a:avLst/>
          </a:prstGeom>
          <a:noFill/>
        </p:spPr>
        <p:txBody>
          <a:bodyPr wrap="square">
            <a:spAutoFit/>
          </a:bodyPr>
          <a:lstStyle/>
          <a:p>
            <a:pPr>
              <a:spcAft>
                <a:spcPts val="500"/>
              </a:spcAft>
            </a:pPr>
            <a:r>
              <a:rPr sz="1150" b="0">
                <a:solidFill>
                  <a:srgbClr val="231C33"/>
                </a:solidFill>
                <a:latin typeface="Poppins"/>
              </a:rPr>
              <a:t>33 %</a:t>
            </a:r>
          </a:p>
        </p:txBody>
      </p:sp>
      <p:sp>
        <p:nvSpPr>
          <p:cNvPr id="47" name="Rectangle 46"/>
          <p:cNvSpPr/>
          <p:nvPr/>
        </p:nvSpPr>
        <p:spPr>
          <a:xfrm>
            <a:off x="540000" y="5133600"/>
            <a:ext cx="11124000" cy="496799"/>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000" y="5187600"/>
            <a:ext cx="2591999" cy="496799"/>
          </a:xfrm>
          <a:prstGeom prst="rect">
            <a:avLst/>
          </a:prstGeom>
          <a:noFill/>
        </p:spPr>
        <p:txBody>
          <a:bodyPr wrap="square">
            <a:spAutoFit/>
          </a:bodyPr>
          <a:lstStyle/>
          <a:p>
            <a:pPr>
              <a:spcAft>
                <a:spcPts val="500"/>
              </a:spcAft>
            </a:pPr>
            <a:r>
              <a:rPr sz="1150" b="1">
                <a:solidFill>
                  <a:srgbClr val="231C33"/>
                </a:solidFill>
                <a:latin typeface="Poppins"/>
              </a:rPr>
              <a:t>Publicité Facebook en cours</a:t>
            </a:r>
          </a:p>
        </p:txBody>
      </p:sp>
      <p:sp>
        <p:nvSpPr>
          <p:cNvPr id="49" name="TextBox 48"/>
          <p:cNvSpPr txBox="1"/>
          <p:nvPr/>
        </p:nvSpPr>
        <p:spPr>
          <a:xfrm>
            <a:off x="3366000" y="5187600"/>
            <a:ext cx="1943999" cy="496799"/>
          </a:xfrm>
          <a:prstGeom prst="rect">
            <a:avLst/>
          </a:prstGeom>
          <a:noFill/>
        </p:spPr>
        <p:txBody>
          <a:bodyPr wrap="square">
            <a:spAutoFit/>
          </a:bodyPr>
          <a:lstStyle/>
          <a:p>
            <a:pPr>
              <a:spcAft>
                <a:spcPts val="500"/>
              </a:spcAft>
            </a:pPr>
            <a:r>
              <a:rPr sz="1150" b="0">
                <a:solidFill>
                  <a:srgbClr val="231C33"/>
                </a:solidFill>
                <a:latin typeface="Poppins"/>
              </a:rPr>
              <a:t>—</a:t>
            </a:r>
          </a:p>
        </p:txBody>
      </p:sp>
      <p:sp>
        <p:nvSpPr>
          <p:cNvPr id="50" name="TextBox 49"/>
          <p:cNvSpPr txBox="1"/>
          <p:nvPr/>
        </p:nvSpPr>
        <p:spPr>
          <a:xfrm>
            <a:off x="5453999" y="5187600"/>
            <a:ext cx="1943999" cy="496799"/>
          </a:xfrm>
          <a:prstGeom prst="rect">
            <a:avLst/>
          </a:prstGeom>
          <a:noFill/>
        </p:spPr>
        <p:txBody>
          <a:bodyPr wrap="square">
            <a:spAutoFit/>
          </a:bodyPr>
          <a:lstStyle/>
          <a:p>
            <a:pPr>
              <a:spcAft>
                <a:spcPts val="500"/>
              </a:spcAft>
            </a:pPr>
            <a:r>
              <a:rPr sz="1150" b="0">
                <a:solidFill>
                  <a:srgbClr val="231C33"/>
                </a:solidFill>
                <a:latin typeface="Poppins"/>
              </a:rPr>
              <a:t>non</a:t>
            </a:r>
          </a:p>
        </p:txBody>
      </p:sp>
      <p:sp>
        <p:nvSpPr>
          <p:cNvPr id="51" name="TextBox 50"/>
          <p:cNvSpPr txBox="1"/>
          <p:nvPr/>
        </p:nvSpPr>
        <p:spPr>
          <a:xfrm>
            <a:off x="7542000" y="5187600"/>
            <a:ext cx="1943999" cy="496799"/>
          </a:xfrm>
          <a:prstGeom prst="rect">
            <a:avLst/>
          </a:prstGeom>
          <a:noFill/>
        </p:spPr>
        <p:txBody>
          <a:bodyPr wrap="square">
            <a:spAutoFit/>
          </a:bodyPr>
          <a:lstStyle/>
          <a:p>
            <a:pPr>
              <a:spcAft>
                <a:spcPts val="500"/>
              </a:spcAft>
            </a:pPr>
            <a:r>
              <a:rPr sz="1150" b="0">
                <a:solidFill>
                  <a:srgbClr val="231C33"/>
                </a:solidFill>
                <a:latin typeface="Poppins"/>
              </a:rPr>
              <a:t>non</a:t>
            </a:r>
          </a:p>
        </p:txBody>
      </p:sp>
      <p:sp>
        <p:nvSpPr>
          <p:cNvPr id="52" name="TextBox 51"/>
          <p:cNvSpPr txBox="1"/>
          <p:nvPr/>
        </p:nvSpPr>
        <p:spPr>
          <a:xfrm>
            <a:off x="9630000" y="5187600"/>
            <a:ext cx="1980000" cy="496799"/>
          </a:xfrm>
          <a:prstGeom prst="rect">
            <a:avLst/>
          </a:prstGeom>
          <a:noFill/>
        </p:spPr>
        <p:txBody>
          <a:bodyPr wrap="square">
            <a:spAutoFit/>
          </a:bodyPr>
          <a:lstStyle/>
          <a:p>
            <a:pPr>
              <a:spcAft>
                <a:spcPts val="500"/>
              </a:spcAft>
            </a:pPr>
            <a:r>
              <a:rPr sz="1150" b="0">
                <a:solidFill>
                  <a:srgbClr val="231C33"/>
                </a:solidFill>
                <a:latin typeface="Poppins"/>
              </a:rPr>
              <a:t>non</a:t>
            </a:r>
          </a:p>
        </p:txBody>
      </p:sp>
      <p:sp>
        <p:nvSpPr>
          <p:cNvPr id="53" name="TextBox 52"/>
          <p:cNvSpPr txBox="1"/>
          <p:nvPr/>
        </p:nvSpPr>
        <p:spPr>
          <a:xfrm>
            <a:off x="630000" y="5684400"/>
            <a:ext cx="2591999" cy="496799"/>
          </a:xfrm>
          <a:prstGeom prst="rect">
            <a:avLst/>
          </a:prstGeom>
          <a:noFill/>
        </p:spPr>
        <p:txBody>
          <a:bodyPr wrap="square">
            <a:spAutoFit/>
          </a:bodyPr>
          <a:lstStyle/>
          <a:p>
            <a:pPr>
              <a:spcAft>
                <a:spcPts val="500"/>
              </a:spcAft>
            </a:pPr>
            <a:r>
              <a:rPr sz="1150" b="1">
                <a:solidFill>
                  <a:srgbClr val="231C33"/>
                </a:solidFill>
                <a:latin typeface="Poppins"/>
              </a:rPr>
              <a:t>Avis Google</a:t>
            </a:r>
          </a:p>
        </p:txBody>
      </p:sp>
      <p:sp>
        <p:nvSpPr>
          <p:cNvPr id="54" name="TextBox 53"/>
          <p:cNvSpPr txBox="1"/>
          <p:nvPr/>
        </p:nvSpPr>
        <p:spPr>
          <a:xfrm>
            <a:off x="3366000" y="5684400"/>
            <a:ext cx="1943999" cy="496799"/>
          </a:xfrm>
          <a:prstGeom prst="rect">
            <a:avLst/>
          </a:prstGeom>
          <a:noFill/>
        </p:spPr>
        <p:txBody>
          <a:bodyPr wrap="square">
            <a:spAutoFit/>
          </a:bodyPr>
          <a:lstStyle/>
          <a:p>
            <a:pPr>
              <a:spcAft>
                <a:spcPts val="500"/>
              </a:spcAft>
            </a:pPr>
            <a:r>
              <a:rPr sz="1150" b="0">
                <a:solidFill>
                  <a:srgbClr val="231C33"/>
                </a:solidFill>
                <a:latin typeface="Poppins"/>
              </a:rPr>
              <a:t>1 312 (Hyper U)</a:t>
            </a:r>
          </a:p>
        </p:txBody>
      </p:sp>
      <p:sp>
        <p:nvSpPr>
          <p:cNvPr id="55" name="TextBox 54"/>
          <p:cNvSpPr txBox="1"/>
          <p:nvPr/>
        </p:nvSpPr>
        <p:spPr>
          <a:xfrm>
            <a:off x="5453999" y="5684400"/>
            <a:ext cx="1943999" cy="496799"/>
          </a:xfrm>
          <a:prstGeom prst="rect">
            <a:avLst/>
          </a:prstGeom>
          <a:noFill/>
        </p:spPr>
        <p:txBody>
          <a:bodyPr wrap="square">
            <a:spAutoFit/>
          </a:bodyPr>
          <a:lstStyle/>
          <a:p>
            <a:pPr>
              <a:spcAft>
                <a:spcPts val="500"/>
              </a:spcAft>
            </a:pPr>
            <a:r>
              <a:rPr sz="1150" b="0">
                <a:solidFill>
                  <a:srgbClr val="231C33"/>
                </a:solidFill>
                <a:latin typeface="Poppins"/>
              </a:rPr>
              <a:t>10 229</a:t>
            </a:r>
          </a:p>
        </p:txBody>
      </p:sp>
      <p:sp>
        <p:nvSpPr>
          <p:cNvPr id="56" name="TextBox 55"/>
          <p:cNvSpPr txBox="1"/>
          <p:nvPr/>
        </p:nvSpPr>
        <p:spPr>
          <a:xfrm>
            <a:off x="7542000" y="5684400"/>
            <a:ext cx="1943999" cy="496799"/>
          </a:xfrm>
          <a:prstGeom prst="rect">
            <a:avLst/>
          </a:prstGeom>
          <a:noFill/>
        </p:spPr>
        <p:txBody>
          <a:bodyPr wrap="square">
            <a:spAutoFit/>
          </a:bodyPr>
          <a:lstStyle/>
          <a:p>
            <a:pPr>
              <a:spcAft>
                <a:spcPts val="500"/>
              </a:spcAft>
            </a:pPr>
            <a:r>
              <a:rPr sz="1150" b="0">
                <a:solidFill>
                  <a:srgbClr val="231C33"/>
                </a:solidFill>
                <a:latin typeface="Poppins"/>
              </a:rPr>
              <a:t>826</a:t>
            </a:r>
          </a:p>
        </p:txBody>
      </p:sp>
      <p:sp>
        <p:nvSpPr>
          <p:cNvPr id="57" name="TextBox 56"/>
          <p:cNvSpPr txBox="1"/>
          <p:nvPr/>
        </p:nvSpPr>
        <p:spPr>
          <a:xfrm>
            <a:off x="9630000" y="5684400"/>
            <a:ext cx="1980000" cy="496799"/>
          </a:xfrm>
          <a:prstGeom prst="rect">
            <a:avLst/>
          </a:prstGeom>
          <a:noFill/>
        </p:spPr>
        <p:txBody>
          <a:bodyPr wrap="square">
            <a:spAutoFit/>
          </a:bodyPr>
          <a:lstStyle/>
          <a:p>
            <a:pPr>
              <a:spcAft>
                <a:spcPts val="500"/>
              </a:spcAft>
            </a:pPr>
            <a:r>
              <a:rPr sz="1150" b="0">
                <a:solidFill>
                  <a:srgbClr val="231C33"/>
                </a:solidFill>
                <a:latin typeface="Poppins"/>
              </a:rPr>
              <a:t>7 109</a:t>
            </a:r>
          </a:p>
        </p:txBody>
      </p:sp>
      <p:sp>
        <p:nvSpPr>
          <p:cNvPr id="58" name="TextBox 57"/>
          <p:cNvSpPr txBox="1"/>
          <p:nvPr/>
        </p:nvSpPr>
        <p:spPr>
          <a:xfrm>
            <a:off x="540000" y="6156000"/>
            <a:ext cx="11160000" cy="360000"/>
          </a:xfrm>
          <a:prstGeom prst="rect">
            <a:avLst/>
          </a:prstGeom>
          <a:noFill/>
        </p:spPr>
        <p:txBody>
          <a:bodyPr wrap="square">
            <a:spAutoFit/>
          </a:bodyPr>
          <a:lstStyle/>
          <a:p>
            <a:pPr>
              <a:spcAft>
                <a:spcPts val="500"/>
              </a:spcAft>
            </a:pPr>
            <a:r>
              <a:rPr sz="950" b="0">
                <a:solidFill>
                  <a:srgbClr val="6B6578"/>
                </a:solidFill>
                <a:latin typeface="Poppins"/>
              </a:rPr>
              <a:t>Médianes calculées sur les 25 dernières publications Facebook et les 30 dernières publications Instagram de chaque compte. Cap Sud appartient, comme Sococé, au groupe Prosuma.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CE QUI MARCHE</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Ce qui fait réagir chez les concurrents : l'événement, le jeu, le conseil</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9</a:t>
            </a:r>
          </a:p>
        </p:txBody>
      </p:sp>
      <p:sp>
        <p:nvSpPr>
          <p:cNvPr id="8" name="Rectangle 7"/>
          <p:cNvSpPr/>
          <p:nvPr/>
        </p:nvSpPr>
        <p:spPr>
          <a:xfrm>
            <a:off x="540000" y="1655999"/>
            <a:ext cx="3564000" cy="21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0000" y="1655999"/>
            <a:ext cx="108000" cy="2196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999" y="1800000"/>
            <a:ext cx="3168000" cy="2015999"/>
          </a:xfrm>
          <a:prstGeom prst="rect">
            <a:avLst/>
          </a:prstGeom>
          <a:noFill/>
        </p:spPr>
        <p:txBody>
          <a:bodyPr wrap="square">
            <a:spAutoFit/>
          </a:bodyPr>
          <a:lstStyle/>
          <a:p>
            <a:pPr>
              <a:spcAft>
                <a:spcPts val="500"/>
              </a:spcAft>
            </a:pPr>
            <a:r>
              <a:rPr sz="1300" b="1">
                <a:solidFill>
                  <a:srgbClr val="3B2470"/>
                </a:solidFill>
                <a:latin typeface="Poppins"/>
              </a:rPr>
              <a:t>Cap Sud · 492 réactions</a:t>
            </a:r>
          </a:p>
          <a:p>
            <a:pPr>
              <a:spcAft>
                <a:spcPts val="500"/>
              </a:spcAft>
            </a:pPr>
            <a:r>
              <a:rPr sz="1150" b="0">
                <a:solidFill>
                  <a:srgbClr val="231C33"/>
                </a:solidFill>
                <a:latin typeface="Poppins"/>
              </a:rPr>
              <a:t>Avant-première du film Ébintô au cinéma du centre, avec l'équipe du film.</a:t>
            </a:r>
          </a:p>
          <a:p>
            <a:pPr>
              <a:spcAft>
                <a:spcPts val="500"/>
              </a:spcAft>
            </a:pPr>
            <a:r>
              <a:rPr sz="1150" b="1">
                <a:solidFill>
                  <a:srgbClr val="E0369A"/>
                </a:solidFill>
                <a:latin typeface="Poppins"/>
              </a:rPr>
              <a:t>Un événement exclusif dans le centre</a:t>
            </a:r>
          </a:p>
        </p:txBody>
      </p:sp>
      <p:sp>
        <p:nvSpPr>
          <p:cNvPr id="11" name="Rectangle 10"/>
          <p:cNvSpPr/>
          <p:nvPr/>
        </p:nvSpPr>
        <p:spPr>
          <a:xfrm>
            <a:off x="4284000" y="1655999"/>
            <a:ext cx="3564000" cy="21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4000" y="1655999"/>
            <a:ext cx="108000" cy="2196000"/>
          </a:xfrm>
          <a:prstGeom prst="rect">
            <a:avLst/>
          </a:prstGeom>
          <a:solidFill>
            <a:srgbClr val="70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800000"/>
            <a:ext cx="3168000" cy="2015999"/>
          </a:xfrm>
          <a:prstGeom prst="rect">
            <a:avLst/>
          </a:prstGeom>
          <a:noFill/>
        </p:spPr>
        <p:txBody>
          <a:bodyPr wrap="square">
            <a:spAutoFit/>
          </a:bodyPr>
          <a:lstStyle/>
          <a:p>
            <a:pPr>
              <a:spcAft>
                <a:spcPts val="500"/>
              </a:spcAft>
            </a:pPr>
            <a:r>
              <a:rPr sz="1300" b="1">
                <a:solidFill>
                  <a:srgbClr val="3B2470"/>
                </a:solidFill>
                <a:latin typeface="Poppins"/>
              </a:rPr>
              <a:t>Cap Sud · 361 réactions</a:t>
            </a:r>
          </a:p>
          <a:p>
            <a:pPr>
              <a:spcAft>
                <a:spcPts val="500"/>
              </a:spcAft>
            </a:pPr>
            <a:r>
              <a:rPr sz="1150" b="0">
                <a:solidFill>
                  <a:srgbClr val="231C33"/>
                </a:solidFill>
                <a:latin typeface="Poppins"/>
              </a:rPr>
              <a:t>« Qui aura le bon pronostic ? Côte d'Ivoire – Cameroun » : le score exact en commentaire.</a:t>
            </a:r>
          </a:p>
          <a:p>
            <a:pPr>
              <a:spcAft>
                <a:spcPts val="500"/>
              </a:spcAft>
            </a:pPr>
            <a:r>
              <a:rPr sz="1150" b="1">
                <a:solidFill>
                  <a:srgbClr val="E0369A"/>
                </a:solidFill>
                <a:latin typeface="Poppins"/>
              </a:rPr>
              <a:t>Un jeu lié à l'actualité</a:t>
            </a:r>
          </a:p>
        </p:txBody>
      </p:sp>
      <p:sp>
        <p:nvSpPr>
          <p:cNvPr id="14" name="Rectangle 13"/>
          <p:cNvSpPr/>
          <p:nvPr/>
        </p:nvSpPr>
        <p:spPr>
          <a:xfrm>
            <a:off x="8028000" y="1655999"/>
            <a:ext cx="3564000" cy="21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28000" y="1655999"/>
            <a:ext cx="108000" cy="2196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6000" y="1800000"/>
            <a:ext cx="3168000" cy="2015999"/>
          </a:xfrm>
          <a:prstGeom prst="rect">
            <a:avLst/>
          </a:prstGeom>
          <a:noFill/>
        </p:spPr>
        <p:txBody>
          <a:bodyPr wrap="square">
            <a:spAutoFit/>
          </a:bodyPr>
          <a:lstStyle/>
          <a:p>
            <a:pPr>
              <a:spcAft>
                <a:spcPts val="500"/>
              </a:spcAft>
            </a:pPr>
            <a:r>
              <a:rPr sz="1300" b="1">
                <a:solidFill>
                  <a:srgbClr val="3B2470"/>
                </a:solidFill>
                <a:latin typeface="Poppins"/>
              </a:rPr>
              <a:t>Cap Sud · 347 réactions</a:t>
            </a:r>
          </a:p>
          <a:p>
            <a:pPr>
              <a:spcAft>
                <a:spcPts val="500"/>
              </a:spcAft>
            </a:pPr>
            <a:r>
              <a:rPr sz="1150" b="0">
                <a:solidFill>
                  <a:srgbClr val="231C33"/>
                </a:solidFill>
                <a:latin typeface="Poppins"/>
              </a:rPr>
              <a:t>« On t'offre 200 000 FCFA, mais dans une seule boutique. Tu prends laquelle ? »</a:t>
            </a:r>
          </a:p>
          <a:p>
            <a:pPr>
              <a:spcAft>
                <a:spcPts val="500"/>
              </a:spcAft>
            </a:pPr>
            <a:r>
              <a:rPr sz="1150" b="1">
                <a:solidFill>
                  <a:srgbClr val="E0369A"/>
                </a:solidFill>
                <a:latin typeface="Poppins"/>
              </a:rPr>
              <a:t>Une question qui fait citer les enseignes</a:t>
            </a:r>
          </a:p>
        </p:txBody>
      </p:sp>
      <p:sp>
        <p:nvSpPr>
          <p:cNvPr id="17" name="Rectangle 16"/>
          <p:cNvSpPr/>
          <p:nvPr/>
        </p:nvSpPr>
        <p:spPr>
          <a:xfrm>
            <a:off x="540000" y="4031999"/>
            <a:ext cx="3564000" cy="21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0000" y="4031999"/>
            <a:ext cx="108000" cy="2196000"/>
          </a:xfrm>
          <a:prstGeom prst="rect">
            <a:avLst/>
          </a:prstGeom>
          <a:solidFill>
            <a:srgbClr val="E03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999" y="4176000"/>
            <a:ext cx="3168000" cy="2015999"/>
          </a:xfrm>
          <a:prstGeom prst="rect">
            <a:avLst/>
          </a:prstGeom>
          <a:noFill/>
        </p:spPr>
        <p:txBody>
          <a:bodyPr wrap="square">
            <a:spAutoFit/>
          </a:bodyPr>
          <a:lstStyle/>
          <a:p>
            <a:pPr>
              <a:spcAft>
                <a:spcPts val="500"/>
              </a:spcAft>
            </a:pPr>
            <a:r>
              <a:rPr sz="1300" b="1">
                <a:solidFill>
                  <a:srgbClr val="3B2470"/>
                </a:solidFill>
                <a:latin typeface="Poppins"/>
              </a:rPr>
              <a:t>Cosmos · 149 réactions</a:t>
            </a:r>
          </a:p>
          <a:p>
            <a:pPr>
              <a:spcAft>
                <a:spcPts val="500"/>
              </a:spcAft>
            </a:pPr>
            <a:r>
              <a:rPr sz="1150" b="0">
                <a:solidFill>
                  <a:srgbClr val="231C33"/>
                </a:solidFill>
                <a:latin typeface="Poppins"/>
              </a:rPr>
              <a:t>Dépistage gratuit du cancer du sein du 14 au 17 octobre dans le centre.</a:t>
            </a:r>
          </a:p>
          <a:p>
            <a:pPr>
              <a:spcAft>
                <a:spcPts val="500"/>
              </a:spcAft>
            </a:pPr>
            <a:r>
              <a:rPr sz="1150" b="1">
                <a:solidFill>
                  <a:srgbClr val="E0369A"/>
                </a:solidFill>
                <a:latin typeface="Poppins"/>
              </a:rPr>
              <a:t>Un service utile, Octobre rose</a:t>
            </a:r>
          </a:p>
        </p:txBody>
      </p:sp>
      <p:sp>
        <p:nvSpPr>
          <p:cNvPr id="20" name="Rectangle 19"/>
          <p:cNvSpPr/>
          <p:nvPr/>
        </p:nvSpPr>
        <p:spPr>
          <a:xfrm>
            <a:off x="4284000" y="4031999"/>
            <a:ext cx="3564000" cy="21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84000" y="4031999"/>
            <a:ext cx="108000" cy="2196000"/>
          </a:xfrm>
          <a:prstGeom prst="rect">
            <a:avLst/>
          </a:prstGeom>
          <a:solidFill>
            <a:srgbClr val="70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176000"/>
            <a:ext cx="3168000" cy="2015999"/>
          </a:xfrm>
          <a:prstGeom prst="rect">
            <a:avLst/>
          </a:prstGeom>
          <a:noFill/>
        </p:spPr>
        <p:txBody>
          <a:bodyPr wrap="square">
            <a:spAutoFit/>
          </a:bodyPr>
          <a:lstStyle/>
          <a:p>
            <a:pPr>
              <a:spcAft>
                <a:spcPts val="500"/>
              </a:spcAft>
            </a:pPr>
            <a:r>
              <a:rPr sz="1300" b="1">
                <a:solidFill>
                  <a:srgbClr val="3B2470"/>
                </a:solidFill>
                <a:latin typeface="Poppins"/>
              </a:rPr>
              <a:t>PlaYce · 513 j'aime (Instagram)</a:t>
            </a:r>
          </a:p>
          <a:p>
            <a:pPr>
              <a:spcAft>
                <a:spcPts val="500"/>
              </a:spcAft>
            </a:pPr>
            <a:r>
              <a:rPr sz="1150" b="0">
                <a:solidFill>
                  <a:srgbClr val="231C33"/>
                </a:solidFill>
                <a:latin typeface="Poppins"/>
              </a:rPr>
              <a:t>Vidéo de tenues Koton pour la rentrée, tournée dans le centre.</a:t>
            </a:r>
          </a:p>
          <a:p>
            <a:pPr>
              <a:spcAft>
                <a:spcPts val="500"/>
              </a:spcAft>
            </a:pPr>
            <a:r>
              <a:rPr sz="1150" b="1">
                <a:solidFill>
                  <a:srgbClr val="E0369A"/>
                </a:solidFill>
                <a:latin typeface="Poppins"/>
              </a:rPr>
              <a:t>Le centre qui conseille, pas qui vend</a:t>
            </a:r>
          </a:p>
        </p:txBody>
      </p:sp>
      <p:sp>
        <p:nvSpPr>
          <p:cNvPr id="23" name="Rectangle 22"/>
          <p:cNvSpPr/>
          <p:nvPr/>
        </p:nvSpPr>
        <p:spPr>
          <a:xfrm>
            <a:off x="8028000" y="4031999"/>
            <a:ext cx="3564000" cy="2196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28000" y="4031999"/>
            <a:ext cx="108000" cy="2196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6000" y="4176000"/>
            <a:ext cx="3168000" cy="2015999"/>
          </a:xfrm>
          <a:prstGeom prst="rect">
            <a:avLst/>
          </a:prstGeom>
          <a:noFill/>
        </p:spPr>
        <p:txBody>
          <a:bodyPr wrap="square">
            <a:spAutoFit/>
          </a:bodyPr>
          <a:lstStyle/>
          <a:p>
            <a:pPr>
              <a:spcAft>
                <a:spcPts val="500"/>
              </a:spcAft>
            </a:pPr>
            <a:r>
              <a:rPr sz="1300" b="1">
                <a:solidFill>
                  <a:srgbClr val="3B2470"/>
                </a:solidFill>
                <a:latin typeface="Poppins"/>
              </a:rPr>
              <a:t>Cap Sud · 11 867 vues</a:t>
            </a:r>
          </a:p>
          <a:p>
            <a:pPr>
              <a:spcAft>
                <a:spcPts val="500"/>
              </a:spcAft>
            </a:pPr>
            <a:r>
              <a:rPr sz="1150" b="0">
                <a:solidFill>
                  <a:srgbClr val="231C33"/>
                </a:solidFill>
                <a:latin typeface="Poppins"/>
              </a:rPr>
              <a:t>Nombre de vues médian de ses vidéos Instagram, contre 317 pour PlaYce.</a:t>
            </a:r>
          </a:p>
          <a:p>
            <a:pPr>
              <a:spcAft>
                <a:spcPts val="500"/>
              </a:spcAft>
            </a:pPr>
            <a:r>
              <a:rPr sz="1150" b="1">
                <a:solidFill>
                  <a:srgbClr val="E0369A"/>
                </a:solidFill>
                <a:latin typeface="Poppins"/>
              </a:rPr>
              <a:t>Des vidéos courtes et scénarisées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125999"/>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11124000" y="324000"/>
            <a:ext cx="677647" cy="720000"/>
          </a:xfrm>
          <a:prstGeom prst="rect">
            <a:avLst/>
          </a:prstGeom>
        </p:spPr>
      </p:pic>
      <p:sp>
        <p:nvSpPr>
          <p:cNvPr id="4" name="TextBox 3"/>
          <p:cNvSpPr txBox="1"/>
          <p:nvPr/>
        </p:nvSpPr>
        <p:spPr>
          <a:xfrm>
            <a:off x="540000" y="396000"/>
            <a:ext cx="9360000" cy="288000"/>
          </a:xfrm>
          <a:prstGeom prst="rect">
            <a:avLst/>
          </a:prstGeom>
          <a:noFill/>
        </p:spPr>
        <p:txBody>
          <a:bodyPr wrap="square">
            <a:spAutoFit/>
          </a:bodyPr>
          <a:lstStyle/>
          <a:p>
            <a:pPr>
              <a:spcAft>
                <a:spcPts val="500"/>
              </a:spcAft>
            </a:pPr>
            <a:r>
              <a:rPr sz="1100" b="1">
                <a:solidFill>
                  <a:srgbClr val="E0369A"/>
                </a:solidFill>
                <a:latin typeface="Poppins"/>
              </a:rPr>
              <a:t>PLAN D'ACTION 90 JOURS</a:t>
            </a:r>
          </a:p>
        </p:txBody>
      </p:sp>
      <p:sp>
        <p:nvSpPr>
          <p:cNvPr id="5" name="TextBox 4"/>
          <p:cNvSpPr txBox="1"/>
          <p:nvPr/>
        </p:nvSpPr>
        <p:spPr>
          <a:xfrm>
            <a:off x="540000" y="648000"/>
            <a:ext cx="10260000" cy="864000"/>
          </a:xfrm>
          <a:prstGeom prst="rect">
            <a:avLst/>
          </a:prstGeom>
          <a:noFill/>
        </p:spPr>
        <p:txBody>
          <a:bodyPr wrap="square">
            <a:spAutoFit/>
          </a:bodyPr>
          <a:lstStyle/>
          <a:p>
            <a:pPr>
              <a:spcAft>
                <a:spcPts val="500"/>
              </a:spcAft>
            </a:pPr>
            <a:r>
              <a:rPr sz="2400" b="1">
                <a:solidFill>
                  <a:srgbClr val="3B2470"/>
                </a:solidFill>
                <a:latin typeface="Poppins"/>
              </a:rPr>
              <a:t>Nos recommandations, dans l'ordre</a:t>
            </a:r>
          </a:p>
        </p:txBody>
      </p:sp>
      <p:sp>
        <p:nvSpPr>
          <p:cNvPr id="6" name="TextBox 5"/>
          <p:cNvSpPr txBox="1"/>
          <p:nvPr/>
        </p:nvSpPr>
        <p:spPr>
          <a:xfrm>
            <a:off x="540000" y="6516000"/>
            <a:ext cx="7200000" cy="251999"/>
          </a:xfrm>
          <a:prstGeom prst="rect">
            <a:avLst/>
          </a:prstGeom>
          <a:noFill/>
        </p:spPr>
        <p:txBody>
          <a:bodyPr wrap="square">
            <a:spAutoFit/>
          </a:bodyPr>
          <a:lstStyle/>
          <a:p>
            <a:pPr>
              <a:spcAft>
                <a:spcPts val="500"/>
              </a:spcAft>
            </a:pPr>
            <a:r>
              <a:rPr sz="900" b="0">
                <a:solidFill>
                  <a:srgbClr val="6B6578"/>
                </a:solidFill>
                <a:latin typeface="Poppins"/>
              </a:rPr>
              <a:t>Audit réseaux sociaux · Centre commercial Sococé · octobre 2026</a:t>
            </a:r>
          </a:p>
        </p:txBody>
      </p:sp>
      <p:sp>
        <p:nvSpPr>
          <p:cNvPr id="7" name="TextBox 6"/>
          <p:cNvSpPr txBox="1"/>
          <p:nvPr/>
        </p:nvSpPr>
        <p:spPr>
          <a:xfrm>
            <a:off x="11160000" y="6516000"/>
            <a:ext cx="540000" cy="251999"/>
          </a:xfrm>
          <a:prstGeom prst="rect">
            <a:avLst/>
          </a:prstGeom>
          <a:noFill/>
        </p:spPr>
        <p:txBody>
          <a:bodyPr wrap="square">
            <a:spAutoFit/>
          </a:bodyPr>
          <a:lstStyle/>
          <a:p>
            <a:pPr algn="r">
              <a:spcAft>
                <a:spcPts val="500"/>
              </a:spcAft>
            </a:pPr>
            <a:r>
              <a:rPr sz="900" b="0">
                <a:solidFill>
                  <a:srgbClr val="6B6578"/>
                </a:solidFill>
                <a:latin typeface="Poppins"/>
              </a:rPr>
              <a:t>10</a:t>
            </a:r>
          </a:p>
        </p:txBody>
      </p:sp>
      <p:sp>
        <p:nvSpPr>
          <p:cNvPr id="8" name="Rectangle 7"/>
          <p:cNvSpPr/>
          <p:nvPr/>
        </p:nvSpPr>
        <p:spPr>
          <a:xfrm>
            <a:off x="540000" y="1655999"/>
            <a:ext cx="11124000" cy="522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000" y="1710000"/>
            <a:ext cx="576000" cy="522000"/>
          </a:xfrm>
          <a:prstGeom prst="rect">
            <a:avLst/>
          </a:prstGeom>
          <a:noFill/>
        </p:spPr>
        <p:txBody>
          <a:bodyPr wrap="square">
            <a:spAutoFit/>
          </a:bodyPr>
          <a:lstStyle/>
          <a:p>
            <a:pPr>
              <a:spcAft>
                <a:spcPts val="500"/>
              </a:spcAft>
            </a:pPr>
            <a:r>
              <a:rPr sz="1150" b="1">
                <a:solidFill>
                  <a:srgbClr val="FFFFFF"/>
                </a:solidFill>
                <a:latin typeface="Poppins"/>
              </a:rPr>
              <a:t/>
            </a:r>
          </a:p>
        </p:txBody>
      </p:sp>
      <p:sp>
        <p:nvSpPr>
          <p:cNvPr id="10" name="TextBox 9"/>
          <p:cNvSpPr txBox="1"/>
          <p:nvPr/>
        </p:nvSpPr>
        <p:spPr>
          <a:xfrm>
            <a:off x="1350000" y="1710000"/>
            <a:ext cx="3744000" cy="522000"/>
          </a:xfrm>
          <a:prstGeom prst="rect">
            <a:avLst/>
          </a:prstGeom>
          <a:noFill/>
        </p:spPr>
        <p:txBody>
          <a:bodyPr wrap="square">
            <a:spAutoFit/>
          </a:bodyPr>
          <a:lstStyle/>
          <a:p>
            <a:pPr>
              <a:spcAft>
                <a:spcPts val="500"/>
              </a:spcAft>
            </a:pPr>
            <a:r>
              <a:rPr sz="1150" b="1">
                <a:solidFill>
                  <a:srgbClr val="FFFFFF"/>
                </a:solidFill>
                <a:latin typeface="Poppins"/>
              </a:rPr>
              <a:t>Action</a:t>
            </a:r>
          </a:p>
        </p:txBody>
      </p:sp>
      <p:sp>
        <p:nvSpPr>
          <p:cNvPr id="11" name="TextBox 10"/>
          <p:cNvSpPr txBox="1"/>
          <p:nvPr/>
        </p:nvSpPr>
        <p:spPr>
          <a:xfrm>
            <a:off x="5238000" y="1710000"/>
            <a:ext cx="4284000" cy="522000"/>
          </a:xfrm>
          <a:prstGeom prst="rect">
            <a:avLst/>
          </a:prstGeom>
          <a:noFill/>
        </p:spPr>
        <p:txBody>
          <a:bodyPr wrap="square">
            <a:spAutoFit/>
          </a:bodyPr>
          <a:lstStyle/>
          <a:p>
            <a:pPr>
              <a:spcAft>
                <a:spcPts val="500"/>
              </a:spcAft>
            </a:pPr>
            <a:r>
              <a:rPr sz="1150" b="1">
                <a:solidFill>
                  <a:srgbClr val="FFFFFF"/>
                </a:solidFill>
                <a:latin typeface="Poppins"/>
              </a:rPr>
              <a:t>Pourquoi</a:t>
            </a:r>
          </a:p>
        </p:txBody>
      </p:sp>
      <p:sp>
        <p:nvSpPr>
          <p:cNvPr id="12" name="TextBox 11"/>
          <p:cNvSpPr txBox="1"/>
          <p:nvPr/>
        </p:nvSpPr>
        <p:spPr>
          <a:xfrm>
            <a:off x="9666000" y="1710000"/>
            <a:ext cx="1943999" cy="522000"/>
          </a:xfrm>
          <a:prstGeom prst="rect">
            <a:avLst/>
          </a:prstGeom>
          <a:noFill/>
        </p:spPr>
        <p:txBody>
          <a:bodyPr wrap="square">
            <a:spAutoFit/>
          </a:bodyPr>
          <a:lstStyle/>
          <a:p>
            <a:pPr>
              <a:spcAft>
                <a:spcPts val="500"/>
              </a:spcAft>
            </a:pPr>
            <a:r>
              <a:rPr sz="1150" b="1">
                <a:solidFill>
                  <a:srgbClr val="FFFFFF"/>
                </a:solidFill>
                <a:latin typeface="Poppins"/>
              </a:rPr>
              <a:t>Quand</a:t>
            </a:r>
          </a:p>
        </p:txBody>
      </p:sp>
      <p:sp>
        <p:nvSpPr>
          <p:cNvPr id="13" name="Rectangle 12"/>
          <p:cNvSpPr/>
          <p:nvPr/>
        </p:nvSpPr>
        <p:spPr>
          <a:xfrm>
            <a:off x="540000" y="2178000"/>
            <a:ext cx="11124000" cy="522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 y="2232000"/>
            <a:ext cx="576000" cy="522000"/>
          </a:xfrm>
          <a:prstGeom prst="rect">
            <a:avLst/>
          </a:prstGeom>
          <a:noFill/>
        </p:spPr>
        <p:txBody>
          <a:bodyPr wrap="square">
            <a:spAutoFit/>
          </a:bodyPr>
          <a:lstStyle/>
          <a:p>
            <a:pPr>
              <a:spcAft>
                <a:spcPts val="500"/>
              </a:spcAft>
            </a:pPr>
            <a:r>
              <a:rPr sz="1150" b="1">
                <a:solidFill>
                  <a:srgbClr val="E0369A"/>
                </a:solidFill>
                <a:latin typeface="Poppins"/>
              </a:rPr>
              <a:t>1</a:t>
            </a:r>
          </a:p>
        </p:txBody>
      </p:sp>
      <p:sp>
        <p:nvSpPr>
          <p:cNvPr id="15" name="TextBox 14"/>
          <p:cNvSpPr txBox="1"/>
          <p:nvPr/>
        </p:nvSpPr>
        <p:spPr>
          <a:xfrm>
            <a:off x="1350000" y="2232000"/>
            <a:ext cx="3744000" cy="522000"/>
          </a:xfrm>
          <a:prstGeom prst="rect">
            <a:avLst/>
          </a:prstGeom>
          <a:noFill/>
        </p:spPr>
        <p:txBody>
          <a:bodyPr wrap="square">
            <a:spAutoFit/>
          </a:bodyPr>
          <a:lstStyle/>
          <a:p>
            <a:pPr>
              <a:spcAft>
                <a:spcPts val="500"/>
              </a:spcAft>
            </a:pPr>
            <a:r>
              <a:rPr sz="1150" b="0">
                <a:solidFill>
                  <a:srgbClr val="231C33"/>
                </a:solidFill>
                <a:latin typeface="Poppins"/>
              </a:rPr>
              <a:t>Choisir un nom unique et créer la page Facebook du centre</a:t>
            </a:r>
          </a:p>
        </p:txBody>
      </p:sp>
      <p:sp>
        <p:nvSpPr>
          <p:cNvPr id="16" name="TextBox 15"/>
          <p:cNvSpPr txBox="1"/>
          <p:nvPr/>
        </p:nvSpPr>
        <p:spPr>
          <a:xfrm>
            <a:off x="5238000" y="2232000"/>
            <a:ext cx="4284000" cy="522000"/>
          </a:xfrm>
          <a:prstGeom prst="rect">
            <a:avLst/>
          </a:prstGeom>
          <a:noFill/>
        </p:spPr>
        <p:txBody>
          <a:bodyPr wrap="square">
            <a:spAutoFit/>
          </a:bodyPr>
          <a:lstStyle/>
          <a:p>
            <a:pPr>
              <a:spcAft>
                <a:spcPts val="500"/>
              </a:spcAft>
            </a:pPr>
            <a:r>
              <a:rPr sz="1150" b="0">
                <a:solidFill>
                  <a:srgbClr val="231C33"/>
                </a:solidFill>
                <a:latin typeface="Poppins"/>
              </a:rPr>
              <a:t>Facebook est le réseau où se trouve l'audience des trois concurrents</a:t>
            </a:r>
          </a:p>
        </p:txBody>
      </p:sp>
      <p:sp>
        <p:nvSpPr>
          <p:cNvPr id="17" name="TextBox 16"/>
          <p:cNvSpPr txBox="1"/>
          <p:nvPr/>
        </p:nvSpPr>
        <p:spPr>
          <a:xfrm>
            <a:off x="9666000" y="2232000"/>
            <a:ext cx="1943999" cy="522000"/>
          </a:xfrm>
          <a:prstGeom prst="rect">
            <a:avLst/>
          </a:prstGeom>
          <a:noFill/>
        </p:spPr>
        <p:txBody>
          <a:bodyPr wrap="square">
            <a:spAutoFit/>
          </a:bodyPr>
          <a:lstStyle/>
          <a:p>
            <a:pPr>
              <a:spcAft>
                <a:spcPts val="500"/>
              </a:spcAft>
            </a:pPr>
            <a:r>
              <a:rPr sz="1150" b="0">
                <a:solidFill>
                  <a:srgbClr val="231C33"/>
                </a:solidFill>
                <a:latin typeface="Poppins"/>
              </a:rPr>
              <a:t>Semaines 1-2</a:t>
            </a:r>
          </a:p>
        </p:txBody>
      </p:sp>
      <p:sp>
        <p:nvSpPr>
          <p:cNvPr id="18" name="TextBox 17"/>
          <p:cNvSpPr txBox="1"/>
          <p:nvPr/>
        </p:nvSpPr>
        <p:spPr>
          <a:xfrm>
            <a:off x="630000" y="2754000"/>
            <a:ext cx="576000" cy="522000"/>
          </a:xfrm>
          <a:prstGeom prst="rect">
            <a:avLst/>
          </a:prstGeom>
          <a:noFill/>
        </p:spPr>
        <p:txBody>
          <a:bodyPr wrap="square">
            <a:spAutoFit/>
          </a:bodyPr>
          <a:lstStyle/>
          <a:p>
            <a:pPr>
              <a:spcAft>
                <a:spcPts val="500"/>
              </a:spcAft>
            </a:pPr>
            <a:r>
              <a:rPr sz="1150" b="1">
                <a:solidFill>
                  <a:srgbClr val="E0369A"/>
                </a:solidFill>
                <a:latin typeface="Poppins"/>
              </a:rPr>
              <a:t>2</a:t>
            </a:r>
          </a:p>
        </p:txBody>
      </p:sp>
      <p:sp>
        <p:nvSpPr>
          <p:cNvPr id="19" name="TextBox 18"/>
          <p:cNvSpPr txBox="1"/>
          <p:nvPr/>
        </p:nvSpPr>
        <p:spPr>
          <a:xfrm>
            <a:off x="1350000" y="2754000"/>
            <a:ext cx="3744000" cy="522000"/>
          </a:xfrm>
          <a:prstGeom prst="rect">
            <a:avLst/>
          </a:prstGeom>
          <a:noFill/>
        </p:spPr>
        <p:txBody>
          <a:bodyPr wrap="square">
            <a:spAutoFit/>
          </a:bodyPr>
          <a:lstStyle/>
          <a:p>
            <a:pPr>
              <a:spcAft>
                <a:spcPts val="500"/>
              </a:spcAft>
            </a:pPr>
            <a:r>
              <a:rPr sz="1150" b="0">
                <a:solidFill>
                  <a:srgbClr val="231C33"/>
                </a:solidFill>
                <a:latin typeface="Poppins"/>
              </a:rPr>
              <a:t>Revendiquer la fiche Google du centre, fusionner les doublons, répondre aux avis</a:t>
            </a:r>
          </a:p>
        </p:txBody>
      </p:sp>
      <p:sp>
        <p:nvSpPr>
          <p:cNvPr id="20" name="TextBox 19"/>
          <p:cNvSpPr txBox="1"/>
          <p:nvPr/>
        </p:nvSpPr>
        <p:spPr>
          <a:xfrm>
            <a:off x="5238000" y="2754000"/>
            <a:ext cx="4284000" cy="522000"/>
          </a:xfrm>
          <a:prstGeom prst="rect">
            <a:avLst/>
          </a:prstGeom>
          <a:noFill/>
        </p:spPr>
        <p:txBody>
          <a:bodyPr wrap="square">
            <a:spAutoFit/>
          </a:bodyPr>
          <a:lstStyle/>
          <a:p>
            <a:pPr>
              <a:spcAft>
                <a:spcPts val="500"/>
              </a:spcAft>
            </a:pPr>
            <a:r>
              <a:rPr sz="1150" b="0">
                <a:solidFill>
                  <a:srgbClr val="231C33"/>
                </a:solidFill>
                <a:latin typeface="Poppins"/>
              </a:rPr>
              <a:t>1 312 avis à 4,4 déjà acquis, sans effort de création</a:t>
            </a:r>
          </a:p>
        </p:txBody>
      </p:sp>
      <p:sp>
        <p:nvSpPr>
          <p:cNvPr id="21" name="TextBox 20"/>
          <p:cNvSpPr txBox="1"/>
          <p:nvPr/>
        </p:nvSpPr>
        <p:spPr>
          <a:xfrm>
            <a:off x="9666000" y="2754000"/>
            <a:ext cx="1943999" cy="522000"/>
          </a:xfrm>
          <a:prstGeom prst="rect">
            <a:avLst/>
          </a:prstGeom>
          <a:noFill/>
        </p:spPr>
        <p:txBody>
          <a:bodyPr wrap="square">
            <a:spAutoFit/>
          </a:bodyPr>
          <a:lstStyle/>
          <a:p>
            <a:pPr>
              <a:spcAft>
                <a:spcPts val="500"/>
              </a:spcAft>
            </a:pPr>
            <a:r>
              <a:rPr sz="1150" b="0">
                <a:solidFill>
                  <a:srgbClr val="231C33"/>
                </a:solidFill>
                <a:latin typeface="Poppins"/>
              </a:rPr>
              <a:t>Semaines 1-2</a:t>
            </a:r>
          </a:p>
        </p:txBody>
      </p:sp>
      <p:sp>
        <p:nvSpPr>
          <p:cNvPr id="22" name="Rectangle 21"/>
          <p:cNvSpPr/>
          <p:nvPr/>
        </p:nvSpPr>
        <p:spPr>
          <a:xfrm>
            <a:off x="540000" y="3221999"/>
            <a:ext cx="11124000" cy="522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00" y="3276000"/>
            <a:ext cx="576000" cy="522000"/>
          </a:xfrm>
          <a:prstGeom prst="rect">
            <a:avLst/>
          </a:prstGeom>
          <a:noFill/>
        </p:spPr>
        <p:txBody>
          <a:bodyPr wrap="square">
            <a:spAutoFit/>
          </a:bodyPr>
          <a:lstStyle/>
          <a:p>
            <a:pPr>
              <a:spcAft>
                <a:spcPts val="500"/>
              </a:spcAft>
            </a:pPr>
            <a:r>
              <a:rPr sz="1150" b="1">
                <a:solidFill>
                  <a:srgbClr val="E0369A"/>
                </a:solidFill>
                <a:latin typeface="Poppins"/>
              </a:rPr>
              <a:t>3</a:t>
            </a:r>
          </a:p>
        </p:txBody>
      </p:sp>
      <p:sp>
        <p:nvSpPr>
          <p:cNvPr id="24" name="TextBox 23"/>
          <p:cNvSpPr txBox="1"/>
          <p:nvPr/>
        </p:nvSpPr>
        <p:spPr>
          <a:xfrm>
            <a:off x="1350000" y="3276000"/>
            <a:ext cx="3744000" cy="522000"/>
          </a:xfrm>
          <a:prstGeom prst="rect">
            <a:avLst/>
          </a:prstGeom>
          <a:noFill/>
        </p:spPr>
        <p:txBody>
          <a:bodyPr wrap="square">
            <a:spAutoFit/>
          </a:bodyPr>
          <a:lstStyle/>
          <a:p>
            <a:pPr>
              <a:spcAft>
                <a:spcPts val="500"/>
              </a:spcAft>
            </a:pPr>
            <a:r>
              <a:rPr sz="1150" b="0">
                <a:solidFill>
                  <a:srgbClr val="231C33"/>
                </a:solidFill>
                <a:latin typeface="Poppins"/>
              </a:rPr>
              <a:t>Reprendre @hyperusococe et le renommer au nom du centre</a:t>
            </a:r>
          </a:p>
        </p:txBody>
      </p:sp>
      <p:sp>
        <p:nvSpPr>
          <p:cNvPr id="25" name="TextBox 24"/>
          <p:cNvSpPr txBox="1"/>
          <p:nvPr/>
        </p:nvSpPr>
        <p:spPr>
          <a:xfrm>
            <a:off x="5238000" y="3276000"/>
            <a:ext cx="4284000" cy="522000"/>
          </a:xfrm>
          <a:prstGeom prst="rect">
            <a:avLst/>
          </a:prstGeom>
          <a:noFill/>
        </p:spPr>
        <p:txBody>
          <a:bodyPr wrap="square">
            <a:spAutoFit/>
          </a:bodyPr>
          <a:lstStyle/>
          <a:p>
            <a:pPr>
              <a:spcAft>
                <a:spcPts val="500"/>
              </a:spcAft>
            </a:pPr>
            <a:r>
              <a:rPr sz="1150" b="0">
                <a:solidFill>
                  <a:srgbClr val="231C33"/>
                </a:solidFill>
                <a:latin typeface="Poppins"/>
              </a:rPr>
              <a:t>Garder l'historique et les 500 abonnés</a:t>
            </a:r>
          </a:p>
        </p:txBody>
      </p:sp>
      <p:sp>
        <p:nvSpPr>
          <p:cNvPr id="26" name="TextBox 25"/>
          <p:cNvSpPr txBox="1"/>
          <p:nvPr/>
        </p:nvSpPr>
        <p:spPr>
          <a:xfrm>
            <a:off x="9666000" y="3276000"/>
            <a:ext cx="1943999" cy="522000"/>
          </a:xfrm>
          <a:prstGeom prst="rect">
            <a:avLst/>
          </a:prstGeom>
          <a:noFill/>
        </p:spPr>
        <p:txBody>
          <a:bodyPr wrap="square">
            <a:spAutoFit/>
          </a:bodyPr>
          <a:lstStyle/>
          <a:p>
            <a:pPr>
              <a:spcAft>
                <a:spcPts val="500"/>
              </a:spcAft>
            </a:pPr>
            <a:r>
              <a:rPr sz="1150" b="0">
                <a:solidFill>
                  <a:srgbClr val="231C33"/>
                </a:solidFill>
                <a:latin typeface="Poppins"/>
              </a:rPr>
              <a:t>Semaine 2</a:t>
            </a:r>
          </a:p>
        </p:txBody>
      </p:sp>
      <p:sp>
        <p:nvSpPr>
          <p:cNvPr id="27" name="TextBox 26"/>
          <p:cNvSpPr txBox="1"/>
          <p:nvPr/>
        </p:nvSpPr>
        <p:spPr>
          <a:xfrm>
            <a:off x="630000" y="3797999"/>
            <a:ext cx="576000" cy="522000"/>
          </a:xfrm>
          <a:prstGeom prst="rect">
            <a:avLst/>
          </a:prstGeom>
          <a:noFill/>
        </p:spPr>
        <p:txBody>
          <a:bodyPr wrap="square">
            <a:spAutoFit/>
          </a:bodyPr>
          <a:lstStyle/>
          <a:p>
            <a:pPr>
              <a:spcAft>
                <a:spcPts val="500"/>
              </a:spcAft>
            </a:pPr>
            <a:r>
              <a:rPr sz="1150" b="1">
                <a:solidFill>
                  <a:srgbClr val="654D99"/>
                </a:solidFill>
                <a:latin typeface="Poppins"/>
              </a:rPr>
              <a:t>4</a:t>
            </a:r>
          </a:p>
        </p:txBody>
      </p:sp>
      <p:sp>
        <p:nvSpPr>
          <p:cNvPr id="28" name="TextBox 27"/>
          <p:cNvSpPr txBox="1"/>
          <p:nvPr/>
        </p:nvSpPr>
        <p:spPr>
          <a:xfrm>
            <a:off x="1350000" y="3797999"/>
            <a:ext cx="3744000" cy="522000"/>
          </a:xfrm>
          <a:prstGeom prst="rect">
            <a:avLst/>
          </a:prstGeom>
          <a:noFill/>
        </p:spPr>
        <p:txBody>
          <a:bodyPr wrap="square">
            <a:spAutoFit/>
          </a:bodyPr>
          <a:lstStyle/>
          <a:p>
            <a:pPr>
              <a:spcAft>
                <a:spcPts val="500"/>
              </a:spcAft>
            </a:pPr>
            <a:r>
              <a:rPr sz="1150" b="0">
                <a:solidFill>
                  <a:srgbClr val="231C33"/>
                </a:solidFill>
                <a:latin typeface="Poppins"/>
              </a:rPr>
              <a:t>Publier 3 à 4 fois par semaine : enseignes, événements, jeux, conseils</a:t>
            </a:r>
          </a:p>
        </p:txBody>
      </p:sp>
      <p:sp>
        <p:nvSpPr>
          <p:cNvPr id="29" name="TextBox 28"/>
          <p:cNvSpPr txBox="1"/>
          <p:nvPr/>
        </p:nvSpPr>
        <p:spPr>
          <a:xfrm>
            <a:off x="5238000" y="3797999"/>
            <a:ext cx="4284000" cy="522000"/>
          </a:xfrm>
          <a:prstGeom prst="rect">
            <a:avLst/>
          </a:prstGeom>
          <a:noFill/>
        </p:spPr>
        <p:txBody>
          <a:bodyPr wrap="square">
            <a:spAutoFit/>
          </a:bodyPr>
          <a:lstStyle/>
          <a:p>
            <a:pPr>
              <a:spcAft>
                <a:spcPts val="500"/>
              </a:spcAft>
            </a:pPr>
            <a:r>
              <a:rPr sz="1150" b="0">
                <a:solidFill>
                  <a:srgbClr val="231C33"/>
                </a:solidFill>
                <a:latin typeface="Poppins"/>
              </a:rPr>
              <a:t>Le rythme de Cap Sud et PlaYce, avec ce qui fait réagir chez eux</a:t>
            </a:r>
          </a:p>
        </p:txBody>
      </p:sp>
      <p:sp>
        <p:nvSpPr>
          <p:cNvPr id="30" name="TextBox 29"/>
          <p:cNvSpPr txBox="1"/>
          <p:nvPr/>
        </p:nvSpPr>
        <p:spPr>
          <a:xfrm>
            <a:off x="9666000" y="3797999"/>
            <a:ext cx="1943999" cy="522000"/>
          </a:xfrm>
          <a:prstGeom prst="rect">
            <a:avLst/>
          </a:prstGeom>
          <a:noFill/>
        </p:spPr>
        <p:txBody>
          <a:bodyPr wrap="square">
            <a:spAutoFit/>
          </a:bodyPr>
          <a:lstStyle/>
          <a:p>
            <a:pPr>
              <a:spcAft>
                <a:spcPts val="500"/>
              </a:spcAft>
            </a:pPr>
            <a:r>
              <a:rPr sz="1150" b="0">
                <a:solidFill>
                  <a:srgbClr val="231C33"/>
                </a:solidFill>
                <a:latin typeface="Poppins"/>
              </a:rPr>
              <a:t>Dès le mois 1</a:t>
            </a:r>
          </a:p>
        </p:txBody>
      </p:sp>
      <p:sp>
        <p:nvSpPr>
          <p:cNvPr id="31" name="Rectangle 30"/>
          <p:cNvSpPr/>
          <p:nvPr/>
        </p:nvSpPr>
        <p:spPr>
          <a:xfrm>
            <a:off x="540000" y="4266000"/>
            <a:ext cx="11124000" cy="522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000" y="4320000"/>
            <a:ext cx="576000" cy="522000"/>
          </a:xfrm>
          <a:prstGeom prst="rect">
            <a:avLst/>
          </a:prstGeom>
          <a:noFill/>
        </p:spPr>
        <p:txBody>
          <a:bodyPr wrap="square">
            <a:spAutoFit/>
          </a:bodyPr>
          <a:lstStyle/>
          <a:p>
            <a:pPr>
              <a:spcAft>
                <a:spcPts val="500"/>
              </a:spcAft>
            </a:pPr>
            <a:r>
              <a:rPr sz="1150" b="1">
                <a:solidFill>
                  <a:srgbClr val="654D99"/>
                </a:solidFill>
                <a:latin typeface="Poppins"/>
              </a:rPr>
              <a:t>5</a:t>
            </a:r>
          </a:p>
        </p:txBody>
      </p:sp>
      <p:sp>
        <p:nvSpPr>
          <p:cNvPr id="33" name="TextBox 32"/>
          <p:cNvSpPr txBox="1"/>
          <p:nvPr/>
        </p:nvSpPr>
        <p:spPr>
          <a:xfrm>
            <a:off x="1350000" y="4320000"/>
            <a:ext cx="3744000" cy="522000"/>
          </a:xfrm>
          <a:prstGeom prst="rect">
            <a:avLst/>
          </a:prstGeom>
          <a:noFill/>
        </p:spPr>
        <p:txBody>
          <a:bodyPr wrap="square">
            <a:spAutoFit/>
          </a:bodyPr>
          <a:lstStyle/>
          <a:p>
            <a:pPr>
              <a:spcAft>
                <a:spcPts val="500"/>
              </a:spcAft>
            </a:pPr>
            <a:r>
              <a:rPr sz="1150" b="0">
                <a:solidFill>
                  <a:srgbClr val="231C33"/>
                </a:solidFill>
                <a:latin typeface="Poppins"/>
              </a:rPr>
              <a:t>Une vidéo courte par semaine, tournée dans le centre</a:t>
            </a:r>
          </a:p>
        </p:txBody>
      </p:sp>
      <p:sp>
        <p:nvSpPr>
          <p:cNvPr id="34" name="TextBox 33"/>
          <p:cNvSpPr txBox="1"/>
          <p:nvPr/>
        </p:nvSpPr>
        <p:spPr>
          <a:xfrm>
            <a:off x="5238000" y="4320000"/>
            <a:ext cx="4284000" cy="522000"/>
          </a:xfrm>
          <a:prstGeom prst="rect">
            <a:avLst/>
          </a:prstGeom>
          <a:noFill/>
        </p:spPr>
        <p:txBody>
          <a:bodyPr wrap="square">
            <a:spAutoFit/>
          </a:bodyPr>
          <a:lstStyle/>
          <a:p>
            <a:pPr>
              <a:spcAft>
                <a:spcPts val="500"/>
              </a:spcAft>
            </a:pPr>
            <a:r>
              <a:rPr sz="1150" b="0">
                <a:solidFill>
                  <a:srgbClr val="231C33"/>
                </a:solidFill>
                <a:latin typeface="Poppins"/>
              </a:rPr>
              <a:t>Les vidéos de Cap Sud font une médiane de 11 867 vues</a:t>
            </a:r>
          </a:p>
        </p:txBody>
      </p:sp>
      <p:sp>
        <p:nvSpPr>
          <p:cNvPr id="35" name="TextBox 34"/>
          <p:cNvSpPr txBox="1"/>
          <p:nvPr/>
        </p:nvSpPr>
        <p:spPr>
          <a:xfrm>
            <a:off x="9666000" y="4320000"/>
            <a:ext cx="1943999" cy="522000"/>
          </a:xfrm>
          <a:prstGeom prst="rect">
            <a:avLst/>
          </a:prstGeom>
          <a:noFill/>
        </p:spPr>
        <p:txBody>
          <a:bodyPr wrap="square">
            <a:spAutoFit/>
          </a:bodyPr>
          <a:lstStyle/>
          <a:p>
            <a:pPr>
              <a:spcAft>
                <a:spcPts val="500"/>
              </a:spcAft>
            </a:pPr>
            <a:r>
              <a:rPr sz="1150" b="0">
                <a:solidFill>
                  <a:srgbClr val="231C33"/>
                </a:solidFill>
                <a:latin typeface="Poppins"/>
              </a:rPr>
              <a:t>Dès le mois 1</a:t>
            </a:r>
          </a:p>
        </p:txBody>
      </p:sp>
      <p:sp>
        <p:nvSpPr>
          <p:cNvPr id="36" name="TextBox 35"/>
          <p:cNvSpPr txBox="1"/>
          <p:nvPr/>
        </p:nvSpPr>
        <p:spPr>
          <a:xfrm>
            <a:off x="630000" y="4842000"/>
            <a:ext cx="576000" cy="522000"/>
          </a:xfrm>
          <a:prstGeom prst="rect">
            <a:avLst/>
          </a:prstGeom>
          <a:noFill/>
        </p:spPr>
        <p:txBody>
          <a:bodyPr wrap="square">
            <a:spAutoFit/>
          </a:bodyPr>
          <a:lstStyle/>
          <a:p>
            <a:pPr>
              <a:spcAft>
                <a:spcPts val="500"/>
              </a:spcAft>
            </a:pPr>
            <a:r>
              <a:rPr sz="1150" b="1">
                <a:solidFill>
                  <a:srgbClr val="654D99"/>
                </a:solidFill>
                <a:latin typeface="Poppins"/>
              </a:rPr>
              <a:t>6</a:t>
            </a:r>
          </a:p>
        </p:txBody>
      </p:sp>
      <p:sp>
        <p:nvSpPr>
          <p:cNvPr id="37" name="TextBox 36"/>
          <p:cNvSpPr txBox="1"/>
          <p:nvPr/>
        </p:nvSpPr>
        <p:spPr>
          <a:xfrm>
            <a:off x="1350000" y="4842000"/>
            <a:ext cx="3744000" cy="522000"/>
          </a:xfrm>
          <a:prstGeom prst="rect">
            <a:avLst/>
          </a:prstGeom>
          <a:noFill/>
        </p:spPr>
        <p:txBody>
          <a:bodyPr wrap="square">
            <a:spAutoFit/>
          </a:bodyPr>
          <a:lstStyle/>
          <a:p>
            <a:pPr>
              <a:spcAft>
                <a:spcPts val="500"/>
              </a:spcAft>
            </a:pPr>
            <a:r>
              <a:rPr sz="1150" b="0">
                <a:solidFill>
                  <a:srgbClr val="231C33"/>
                </a:solidFill>
                <a:latin typeface="Poppins"/>
              </a:rPr>
              <a:t>Faire relayer chaque mois par les enseignes et par Prosuma</a:t>
            </a:r>
          </a:p>
        </p:txBody>
      </p:sp>
      <p:sp>
        <p:nvSpPr>
          <p:cNvPr id="38" name="TextBox 37"/>
          <p:cNvSpPr txBox="1"/>
          <p:nvPr/>
        </p:nvSpPr>
        <p:spPr>
          <a:xfrm>
            <a:off x="5238000" y="4842000"/>
            <a:ext cx="4284000" cy="522000"/>
          </a:xfrm>
          <a:prstGeom prst="rect">
            <a:avLst/>
          </a:prstGeom>
          <a:noFill/>
        </p:spPr>
        <p:txBody>
          <a:bodyPr wrap="square">
            <a:spAutoFit/>
          </a:bodyPr>
          <a:lstStyle/>
          <a:p>
            <a:pPr>
              <a:spcAft>
                <a:spcPts val="500"/>
              </a:spcAft>
            </a:pPr>
            <a:r>
              <a:rPr sz="1150" b="0">
                <a:solidFill>
                  <a:srgbClr val="231C33"/>
                </a:solidFill>
                <a:latin typeface="Poppins"/>
              </a:rPr>
              <a:t>Hyper U, Majestic, Burger King ont déjà leur public</a:t>
            </a:r>
          </a:p>
        </p:txBody>
      </p:sp>
      <p:sp>
        <p:nvSpPr>
          <p:cNvPr id="39" name="TextBox 38"/>
          <p:cNvSpPr txBox="1"/>
          <p:nvPr/>
        </p:nvSpPr>
        <p:spPr>
          <a:xfrm>
            <a:off x="9666000" y="4842000"/>
            <a:ext cx="1943999" cy="522000"/>
          </a:xfrm>
          <a:prstGeom prst="rect">
            <a:avLst/>
          </a:prstGeom>
          <a:noFill/>
        </p:spPr>
        <p:txBody>
          <a:bodyPr wrap="square">
            <a:spAutoFit/>
          </a:bodyPr>
          <a:lstStyle/>
          <a:p>
            <a:pPr>
              <a:spcAft>
                <a:spcPts val="500"/>
              </a:spcAft>
            </a:pPr>
            <a:r>
              <a:rPr sz="1150" b="0">
                <a:solidFill>
                  <a:srgbClr val="231C33"/>
                </a:solidFill>
                <a:latin typeface="Poppins"/>
              </a:rPr>
              <a:t>Mois 2-3</a:t>
            </a:r>
          </a:p>
        </p:txBody>
      </p:sp>
      <p:sp>
        <p:nvSpPr>
          <p:cNvPr id="40" name="Rectangle 39"/>
          <p:cNvSpPr/>
          <p:nvPr/>
        </p:nvSpPr>
        <p:spPr>
          <a:xfrm>
            <a:off x="540000" y="5310000"/>
            <a:ext cx="11124000" cy="522000"/>
          </a:xfrm>
          <a:prstGeom prst="rect">
            <a:avLst/>
          </a:prstGeom>
          <a:solidFill>
            <a:srgbClr val="F5F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000" y="5364000"/>
            <a:ext cx="576000" cy="522000"/>
          </a:xfrm>
          <a:prstGeom prst="rect">
            <a:avLst/>
          </a:prstGeom>
          <a:noFill/>
        </p:spPr>
        <p:txBody>
          <a:bodyPr wrap="square">
            <a:spAutoFit/>
          </a:bodyPr>
          <a:lstStyle/>
          <a:p>
            <a:pPr>
              <a:spcAft>
                <a:spcPts val="500"/>
              </a:spcAft>
            </a:pPr>
            <a:r>
              <a:rPr sz="1150" b="1">
                <a:solidFill>
                  <a:srgbClr val="70B800"/>
                </a:solidFill>
                <a:latin typeface="Poppins"/>
              </a:rPr>
              <a:t>7</a:t>
            </a:r>
          </a:p>
        </p:txBody>
      </p:sp>
      <p:sp>
        <p:nvSpPr>
          <p:cNvPr id="42" name="TextBox 41"/>
          <p:cNvSpPr txBox="1"/>
          <p:nvPr/>
        </p:nvSpPr>
        <p:spPr>
          <a:xfrm>
            <a:off x="1350000" y="5364000"/>
            <a:ext cx="3744000" cy="522000"/>
          </a:xfrm>
          <a:prstGeom prst="rect">
            <a:avLst/>
          </a:prstGeom>
          <a:noFill/>
        </p:spPr>
        <p:txBody>
          <a:bodyPr wrap="square">
            <a:spAutoFit/>
          </a:bodyPr>
          <a:lstStyle/>
          <a:p>
            <a:pPr>
              <a:spcAft>
                <a:spcPts val="500"/>
              </a:spcAft>
            </a:pPr>
            <a:r>
              <a:rPr sz="1150" b="0">
                <a:solidFill>
                  <a:srgbClr val="231C33"/>
                </a:solidFill>
                <a:latin typeface="Poppins"/>
              </a:rPr>
              <a:t>Ouvrir TikTok une fois le rythme tenu sur Facebook</a:t>
            </a:r>
          </a:p>
        </p:txBody>
      </p:sp>
      <p:sp>
        <p:nvSpPr>
          <p:cNvPr id="43" name="TextBox 42"/>
          <p:cNvSpPr txBox="1"/>
          <p:nvPr/>
        </p:nvSpPr>
        <p:spPr>
          <a:xfrm>
            <a:off x="5238000" y="5364000"/>
            <a:ext cx="4284000" cy="522000"/>
          </a:xfrm>
          <a:prstGeom prst="rect">
            <a:avLst/>
          </a:prstGeom>
          <a:noFill/>
        </p:spPr>
        <p:txBody>
          <a:bodyPr wrap="square">
            <a:spAutoFit/>
          </a:bodyPr>
          <a:lstStyle/>
          <a:p>
            <a:pPr>
              <a:spcAft>
                <a:spcPts val="500"/>
              </a:spcAft>
            </a:pPr>
            <a:r>
              <a:rPr sz="1150" b="0">
                <a:solidFill>
                  <a:srgbClr val="231C33"/>
                </a:solidFill>
                <a:latin typeface="Poppins"/>
              </a:rPr>
              <a:t>Mieux vaut un réseau tenu que trois abandonnés</a:t>
            </a:r>
          </a:p>
        </p:txBody>
      </p:sp>
      <p:sp>
        <p:nvSpPr>
          <p:cNvPr id="44" name="TextBox 43"/>
          <p:cNvSpPr txBox="1"/>
          <p:nvPr/>
        </p:nvSpPr>
        <p:spPr>
          <a:xfrm>
            <a:off x="9666000" y="5364000"/>
            <a:ext cx="1943999" cy="522000"/>
          </a:xfrm>
          <a:prstGeom prst="rect">
            <a:avLst/>
          </a:prstGeom>
          <a:noFill/>
        </p:spPr>
        <p:txBody>
          <a:bodyPr wrap="square">
            <a:spAutoFit/>
          </a:bodyPr>
          <a:lstStyle/>
          <a:p>
            <a:pPr>
              <a:spcAft>
                <a:spcPts val="500"/>
              </a:spcAft>
            </a:pPr>
            <a:r>
              <a:rPr sz="1150" b="0">
                <a:solidFill>
                  <a:srgbClr val="231C33"/>
                </a:solidFill>
                <a:latin typeface="Poppins"/>
              </a:rPr>
              <a:t>Mois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654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720000" y="576000"/>
            <a:ext cx="891429" cy="936000"/>
          </a:xfrm>
          <a:prstGeom prst="rect">
            <a:avLst/>
          </a:prstGeom>
        </p:spPr>
      </p:pic>
      <p:sp>
        <p:nvSpPr>
          <p:cNvPr id="4" name="TextBox 3"/>
          <p:cNvSpPr txBox="1"/>
          <p:nvPr/>
        </p:nvSpPr>
        <p:spPr>
          <a:xfrm>
            <a:off x="720000" y="1800000"/>
            <a:ext cx="10440000" cy="720000"/>
          </a:xfrm>
          <a:prstGeom prst="rect">
            <a:avLst/>
          </a:prstGeom>
          <a:noFill/>
        </p:spPr>
        <p:txBody>
          <a:bodyPr wrap="square">
            <a:spAutoFit/>
          </a:bodyPr>
          <a:lstStyle/>
          <a:p>
            <a:pPr>
              <a:spcAft>
                <a:spcPts val="500"/>
              </a:spcAft>
            </a:pPr>
            <a:r>
              <a:rPr sz="2800" b="1">
                <a:solidFill>
                  <a:srgbClr val="FFFFFF"/>
                </a:solidFill>
                <a:latin typeface="Poppins"/>
              </a:rPr>
              <a:t>Pour passer à l'action</a:t>
            </a:r>
          </a:p>
        </p:txBody>
      </p:sp>
      <p:sp>
        <p:nvSpPr>
          <p:cNvPr id="5" name="Rectangle 4"/>
          <p:cNvSpPr/>
          <p:nvPr/>
        </p:nvSpPr>
        <p:spPr>
          <a:xfrm>
            <a:off x="720000" y="2951999"/>
            <a:ext cx="3456000" cy="2664000"/>
          </a:xfrm>
          <a:prstGeom prst="rect">
            <a:avLst/>
          </a:prstGeom>
          <a:solidFill>
            <a:srgbClr val="3B2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2000" y="3096000"/>
            <a:ext cx="3024000" cy="2520000"/>
          </a:xfrm>
          <a:prstGeom prst="rect">
            <a:avLst/>
          </a:prstGeom>
          <a:noFill/>
        </p:spPr>
        <p:txBody>
          <a:bodyPr wrap="square">
            <a:spAutoFit/>
          </a:bodyPr>
          <a:lstStyle/>
          <a:p>
            <a:pPr>
              <a:spcAft>
                <a:spcPts val="500"/>
              </a:spcAft>
            </a:pPr>
            <a:r>
              <a:rPr sz="3000" b="1">
                <a:solidFill>
                  <a:srgbClr val="F2D20F"/>
                </a:solidFill>
                <a:latin typeface="Poppins"/>
              </a:rPr>
              <a:t>1</a:t>
            </a:r>
          </a:p>
          <a:p>
            <a:pPr>
              <a:spcAft>
                <a:spcPts val="500"/>
              </a:spcAft>
            </a:pPr>
            <a:r>
              <a:rPr sz="1500" b="1">
                <a:solidFill>
                  <a:srgbClr val="FFFFFF"/>
                </a:solidFill>
                <a:latin typeface="Poppins"/>
              </a:rPr>
              <a:t>Valider le nom de compte</a:t>
            </a:r>
          </a:p>
          <a:p>
            <a:pPr>
              <a:spcAft>
                <a:spcPts val="500"/>
              </a:spcAft>
            </a:pPr>
            <a:r>
              <a:rPr sz="1250" b="0">
                <a:solidFill>
                  <a:srgbClr val="E6E0F2"/>
                </a:solidFill>
                <a:latin typeface="Poppins"/>
              </a:rPr>
              <a:t>« Sococé Deux-Plateaux », ou autre, pour éviter la confusion avec Sococé CI.</a:t>
            </a:r>
          </a:p>
        </p:txBody>
      </p:sp>
      <p:sp>
        <p:nvSpPr>
          <p:cNvPr id="7" name="Rectangle 6"/>
          <p:cNvSpPr/>
          <p:nvPr/>
        </p:nvSpPr>
        <p:spPr>
          <a:xfrm>
            <a:off x="4392000" y="2951999"/>
            <a:ext cx="3456000" cy="2664000"/>
          </a:xfrm>
          <a:prstGeom prst="rect">
            <a:avLst/>
          </a:prstGeom>
          <a:solidFill>
            <a:srgbClr val="3B2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3999" y="3096000"/>
            <a:ext cx="3024000" cy="2520000"/>
          </a:xfrm>
          <a:prstGeom prst="rect">
            <a:avLst/>
          </a:prstGeom>
          <a:noFill/>
        </p:spPr>
        <p:txBody>
          <a:bodyPr wrap="square">
            <a:spAutoFit/>
          </a:bodyPr>
          <a:lstStyle/>
          <a:p>
            <a:pPr>
              <a:spcAft>
                <a:spcPts val="500"/>
              </a:spcAft>
            </a:pPr>
            <a:r>
              <a:rPr sz="3000" b="1">
                <a:solidFill>
                  <a:srgbClr val="F2D20F"/>
                </a:solidFill>
                <a:latin typeface="Poppins"/>
              </a:rPr>
              <a:t>2</a:t>
            </a:r>
          </a:p>
          <a:p>
            <a:pPr>
              <a:spcAft>
                <a:spcPts val="500"/>
              </a:spcAft>
            </a:pPr>
            <a:r>
              <a:rPr sz="1500" b="1">
                <a:solidFill>
                  <a:srgbClr val="FFFFFF"/>
                </a:solidFill>
                <a:latin typeface="Poppins"/>
              </a:rPr>
              <a:t>Retrouver les accès</a:t>
            </a:r>
          </a:p>
          <a:p>
            <a:pPr>
              <a:spcAft>
                <a:spcPts val="500"/>
              </a:spcAft>
            </a:pPr>
            <a:r>
              <a:rPr sz="1250" b="0">
                <a:solidFill>
                  <a:srgbClr val="E6E0F2"/>
                </a:solidFill>
                <a:latin typeface="Poppins"/>
              </a:rPr>
              <a:t>Qui détient @hyperusococe et la fiche Google du centre ?</a:t>
            </a:r>
          </a:p>
        </p:txBody>
      </p:sp>
      <p:sp>
        <p:nvSpPr>
          <p:cNvPr id="9" name="Rectangle 8"/>
          <p:cNvSpPr/>
          <p:nvPr/>
        </p:nvSpPr>
        <p:spPr>
          <a:xfrm>
            <a:off x="8063999" y="2951999"/>
            <a:ext cx="3456000" cy="2664000"/>
          </a:xfrm>
          <a:prstGeom prst="rect">
            <a:avLst/>
          </a:prstGeom>
          <a:solidFill>
            <a:srgbClr val="3B2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5999" y="3096000"/>
            <a:ext cx="3024000" cy="2520000"/>
          </a:xfrm>
          <a:prstGeom prst="rect">
            <a:avLst/>
          </a:prstGeom>
          <a:noFill/>
        </p:spPr>
        <p:txBody>
          <a:bodyPr wrap="square">
            <a:spAutoFit/>
          </a:bodyPr>
          <a:lstStyle/>
          <a:p>
            <a:pPr>
              <a:spcAft>
                <a:spcPts val="500"/>
              </a:spcAft>
            </a:pPr>
            <a:r>
              <a:rPr sz="3000" b="1">
                <a:solidFill>
                  <a:srgbClr val="F2D20F"/>
                </a:solidFill>
                <a:latin typeface="Poppins"/>
              </a:rPr>
              <a:t>3</a:t>
            </a:r>
          </a:p>
          <a:p>
            <a:pPr>
              <a:spcAft>
                <a:spcPts val="500"/>
              </a:spcAft>
            </a:pPr>
            <a:r>
              <a:rPr sz="1500" b="1">
                <a:solidFill>
                  <a:srgbClr val="FFFFFF"/>
                </a:solidFill>
                <a:latin typeface="Poppins"/>
              </a:rPr>
              <a:t>Lancer le calendrier</a:t>
            </a:r>
          </a:p>
          <a:p>
            <a:pPr>
              <a:spcAft>
                <a:spcPts val="500"/>
              </a:spcAft>
            </a:pPr>
            <a:r>
              <a:rPr sz="1250" b="0">
                <a:solidFill>
                  <a:srgbClr val="E6E0F2"/>
                </a:solidFill>
                <a:latin typeface="Poppins"/>
              </a:rPr>
              <a:t>Nous préparons le premier mois de publications et les visuels aux couleurs de Sococé.</a:t>
            </a:r>
          </a:p>
        </p:txBody>
      </p:sp>
      <p:sp>
        <p:nvSpPr>
          <p:cNvPr id="11" name="TextBox 10"/>
          <p:cNvSpPr txBox="1"/>
          <p:nvPr/>
        </p:nvSpPr>
        <p:spPr>
          <a:xfrm>
            <a:off x="720000" y="6120000"/>
            <a:ext cx="10440000" cy="360000"/>
          </a:xfrm>
          <a:prstGeom prst="rect">
            <a:avLst/>
          </a:prstGeom>
          <a:noFill/>
        </p:spPr>
        <p:txBody>
          <a:bodyPr wrap="square">
            <a:spAutoFit/>
          </a:bodyPr>
          <a:lstStyle/>
          <a:p>
            <a:pPr>
              <a:spcAft>
                <a:spcPts val="500"/>
              </a:spcAft>
            </a:pPr>
            <a:r>
              <a:rPr sz="1100" b="0">
                <a:solidFill>
                  <a:srgbClr val="E6E0F2"/>
                </a:solidFill>
                <a:latin typeface="Poppins"/>
              </a:rPr>
              <a:t>Préparé par Mstudio · relevé du 21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