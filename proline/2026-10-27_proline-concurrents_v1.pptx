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0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_r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09360" y="0"/>
            <a:ext cx="109728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265176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21792"/>
            <a:ext cx="2041451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E5B22"/>
                </a:solidFill>
                <a:latin typeface="Montserrat"/>
              </a:rPr>
              <a:t>ÉTUDE CONCURRENTIELLE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5486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ontserrat"/>
              </a:rPr>
              <a:t>Comment se présentent les logisticiens d’Abidjan, et où Proline peut faire la différence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9D3DC"/>
                </a:solidFill>
                <a:latin typeface="Montserrat"/>
              </a:rPr>
              <a:t>Sept acteurs comparés sur ce qu’ils disent d’eux-mêmes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9D3DC"/>
                </a:solidFill>
                <a:latin typeface="Montserrat"/>
              </a:rPr>
              <a:t>Sites officiels consultés le 27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8195"/>
                </a:solidFill>
                <a:latin typeface="Montserrat"/>
              </a:rPr>
              <a:t>Préparé pour Ruth Kouadio, direction commerciale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035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8195"/>
                </a:solidFill>
                <a:latin typeface="Montserrat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74320"/>
            <a:ext cx="1275907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5B22"/>
                </a:solidFill>
                <a:latin typeface="Montserrat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1202E"/>
                </a:solidFill>
                <a:latin typeface="Montserrat"/>
              </a:rPr>
              <a:t>Quatre choses à retenir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Proline Logistics · Concurrents à Abidjan et positionnement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2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40680" cy="21031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91440" cy="210312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E5B22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74519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02E"/>
                </a:solidFill>
                <a:latin typeface="Montserrat"/>
              </a:rPr>
              <a:t>Tout le monde dit la même chose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14600"/>
            <a:ext cx="4297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5A72"/>
                </a:solidFill>
                <a:latin typeface="Montserrat"/>
              </a:rPr>
              <a:t>« Sécurisé », « sur mesure », « de bout en bout », « partenaire de confiance » : ces mots reviennent sur presque tous les sites. Ils ne distinguent plus personne.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00200"/>
            <a:ext cx="5440680" cy="21031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00200"/>
            <a:ext cx="91440" cy="210312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E5B22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874519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02E"/>
                </a:solidFill>
                <a:latin typeface="Montserrat"/>
              </a:rPr>
              <a:t>AGL écrase sur la taille et le froid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514600"/>
            <a:ext cx="4297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5A72"/>
                </a:solidFill>
                <a:latin typeface="Montserrat"/>
              </a:rPr>
              <a:t>Plus de 315 000 m² en Côte d’Ivoire et une plateforme à trois températures près de l’aéroport. Inutile de l’attaquer sur ce terrain.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5440680" cy="21031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91440" cy="210312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E5B22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0624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02E"/>
                </a:solidFill>
                <a:latin typeface="Montserrat"/>
              </a:rPr>
              <a:t>Les autres se spécialisent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846320"/>
            <a:ext cx="4297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5A72"/>
                </a:solidFill>
                <a:latin typeface="Montserrat"/>
              </a:rPr>
              <a:t>Ayiman sur l’énergie, LTA et LOGITRANS sur la douane, OTL sur l’export depuis deux ports, Miengnoli sur la facturation à l’usage.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931920"/>
            <a:ext cx="5440680" cy="21031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931920"/>
            <a:ext cx="91440" cy="210312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160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E5B22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20624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1202E"/>
                </a:solidFill>
                <a:latin typeface="Montserrat"/>
              </a:rPr>
              <a:t>Personne ne vend la visite ni la preuve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846320"/>
            <a:ext cx="4297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5A72"/>
                </a:solidFill>
                <a:latin typeface="Montserrat"/>
              </a:rPr>
              <a:t>Sur les pages consultées, seul Proline propose une visite et annonce une réponse sous 24 heures. C’est l’angle à prendre.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74320"/>
            <a:ext cx="1275907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5B22"/>
                </a:solidFill>
                <a:latin typeface="Montserrat"/>
              </a:rPr>
              <a:t>PÉRIMÈTRE ET 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1202E"/>
                </a:solidFill>
                <a:latin typeface="Montserrat"/>
              </a:rPr>
              <a:t>Ce que couvre cette étude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Proline Logistics · Concurrents à Abidjan et positionnement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3 / 10</a:t>
            </a:r>
          </a:p>
        </p:txBody>
      </p:sp>
      <p:pic>
        <p:nvPicPr>
          <p:cNvPr id="8" name="Picture 7" descr="b_c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463040"/>
            <a:ext cx="4142232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54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1202E"/>
                </a:solidFill>
                <a:latin typeface="Montserrat"/>
              </a:rPr>
              <a:t>ACTEURS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609344"/>
            <a:ext cx="54864" cy="82296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554480"/>
            <a:ext cx="4663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A5A72"/>
                </a:solidFill>
                <a:latin typeface="Montserrat"/>
              </a:rPr>
              <a:t>AGL, Ayiman Logistics, Lagune Transit Abidjan (LTA), OTL, CAP Logistics, LOGITRANS, Miengnoli Group, comparés à Proline.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1202E"/>
                </a:solidFill>
                <a:latin typeface="Montserrat"/>
              </a:rPr>
              <a:t>POURQUOI EUX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752344"/>
            <a:ext cx="54864" cy="82296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697480"/>
            <a:ext cx="4663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A5A72"/>
                </a:solidFill>
                <a:latin typeface="Montserrat"/>
              </a:rPr>
              <a:t>Ils proposent tous de l’entreposage à Abidjan et apparaissent quand un importateur cherche un entrepôt en ligne.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1202E"/>
                </a:solidFill>
                <a:latin typeface="Montserrat"/>
              </a:rPr>
              <a:t>SOURCES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3895344"/>
            <a:ext cx="54864" cy="82296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3840480"/>
            <a:ext cx="4663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A5A72"/>
                </a:solidFill>
                <a:latin typeface="Montserrat"/>
              </a:rPr>
              <a:t>Leurs sites officiels, et pour AGL l’évaluation logistique de la Côte d’Ivoire publiée par le Logistics Cluster.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83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1202E"/>
                </a:solidFill>
                <a:latin typeface="Montserrat"/>
              </a:rPr>
              <a:t>LIMITES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5038344"/>
            <a:ext cx="54864" cy="82296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4983480"/>
            <a:ext cx="4663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A5A72"/>
                </a:solidFill>
                <a:latin typeface="Montserrat"/>
              </a:rPr>
              <a:t>Nous comparons ce qu’ils affichent, pas leurs prix ni leur qualité réelle. Leurs réseaux sociaux ne sont pas couverts ici.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74320"/>
            <a:ext cx="1275907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5B22"/>
                </a:solidFill>
                <a:latin typeface="Montserrat"/>
              </a:rPr>
              <a:t>LES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1202E"/>
                </a:solidFill>
                <a:latin typeface="Montserrat"/>
              </a:rPr>
              <a:t>Qui dit quoi : la promesse de chacun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Proline Logistics · Concurrents à Abidjan et positionnement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4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194560" cy="41148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Acteur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554480"/>
            <a:ext cx="5486400" cy="41148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6459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Promesse affichée sur son site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554480"/>
            <a:ext cx="3383280" cy="41148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459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Preuve mise en avant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65960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3911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1202E"/>
                </a:solidFill>
                <a:latin typeface="Montserrat"/>
              </a:rPr>
              <a:t>AGL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96596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03911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« Logistique contractuelle connectée et performante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965960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0391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Taille, froid, logiciel maison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514600"/>
            <a:ext cx="2194560" cy="548640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58775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1202E"/>
                </a:solidFill>
                <a:latin typeface="Montserrat"/>
              </a:rPr>
              <a:t>Ayiman Logistics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2514600"/>
            <a:ext cx="5486400" cy="548640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258775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« Logistique pour l’industrie énergétique 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514600"/>
            <a:ext cx="3383280" cy="548640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58775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25 000 m² couverts, label TAPA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063239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136391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1202E"/>
                </a:solidFill>
                <a:latin typeface="Montserrat"/>
              </a:rPr>
              <a:t>LTA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063239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3136391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« Un entrepôt, un vrai levier de performance 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063239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136391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60 000 m² sous douane ou non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611879"/>
            <a:ext cx="2194560" cy="548640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685031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1202E"/>
                </a:solidFill>
                <a:latin typeface="Montserrat"/>
              </a:rPr>
              <a:t>OTL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3611879"/>
            <a:ext cx="5486400" cy="548640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3685031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« Accélérez vos exportations 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611879"/>
            <a:ext cx="3383280" cy="548640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685031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4 entrepôts, Abidjan et San Pedro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160520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23367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1202E"/>
                </a:solidFill>
                <a:latin typeface="Montserrat"/>
              </a:rPr>
              <a:t>CAP Logistics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416052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0360" y="423367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« Le client au cœur de nos préoccupations »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4160520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423367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Depuis 2003, camions de 5 ans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709160"/>
            <a:ext cx="2194560" cy="548640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78231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1202E"/>
                </a:solidFill>
                <a:latin typeface="Montserrat"/>
              </a:rPr>
              <a:t>LOGITRANS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4709160"/>
            <a:ext cx="5486400" cy="548640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360" y="478231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Commissaire en douane agréé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4709160"/>
            <a:ext cx="3383280" cy="548640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66760" y="47823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5 000 m², stockage sous douane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257800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33095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1202E"/>
                </a:solidFill>
                <a:latin typeface="Montserrat"/>
              </a:rPr>
              <a:t>Miengnoli Group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525780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80360" y="533095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« Une capacité facturée à l’usage »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5257800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66760" y="533095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Charges fixes rendues variables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806440"/>
            <a:ext cx="2194560" cy="548640"/>
          </a:xfrm>
          <a:prstGeom prst="rect">
            <a:avLst/>
          </a:prstGeom>
          <a:solidFill>
            <a:srgbClr val="FDEEE7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87959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5B22"/>
                </a:solidFill>
                <a:latin typeface="Montserrat"/>
              </a:rPr>
              <a:t>Proline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5806440"/>
            <a:ext cx="5486400" cy="548640"/>
          </a:xfrm>
          <a:prstGeom prst="rect">
            <a:avLst/>
          </a:prstGeom>
          <a:solidFill>
            <a:srgbClr val="FDEEE7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80360" y="587959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« Votre chaîne d’approvisionnement, maîtrisée de bout en bout »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0" y="5806440"/>
            <a:ext cx="3383280" cy="548640"/>
          </a:xfrm>
          <a:prstGeom prst="rect">
            <a:avLst/>
          </a:prstGeom>
          <a:solidFill>
            <a:srgbClr val="FDEEE7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66760" y="587959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1202E"/>
                </a:solidFill>
                <a:latin typeface="Montserrat"/>
              </a:rPr>
              <a:t>Quatre parcs, moyens en propre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74320"/>
            <a:ext cx="1275907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5B22"/>
                </a:solidFill>
                <a:latin typeface="Montserrat"/>
              </a:rPr>
              <a:t>ZOOM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1202E"/>
                </a:solidFill>
                <a:latin typeface="Montserrat"/>
              </a:rPr>
              <a:t>Les grands : impossible de lutter sur la taille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Proline Logistics · Concurrents à Abidjan et positionnement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5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40680" cy="44805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40680" cy="9144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1202E"/>
                </a:solidFill>
                <a:latin typeface="Montserrat"/>
              </a:rPr>
              <a:t>AGL · Africa Global Logistics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484632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EE5B22"/>
                </a:solidFill>
                <a:latin typeface="Montserrat"/>
              </a:rPr>
              <a:t>■  </a:t>
            </a:r>
            <a:r>
              <a:rPr sz="1300" b="0">
                <a:solidFill>
                  <a:srgbClr val="3A5A72"/>
                </a:solidFill>
                <a:latin typeface="Montserrat"/>
              </a:rPr>
              <a:t>315 000 m² d’entreposage en Côte d’Ivoire, selon le Logistics Cluster.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EE5B22"/>
                </a:solidFill>
                <a:latin typeface="Montserrat"/>
              </a:rPr>
              <a:t>■  </a:t>
            </a:r>
            <a:r>
              <a:rPr sz="1300" b="0">
                <a:solidFill>
                  <a:srgbClr val="3A5A72"/>
                </a:solidFill>
                <a:latin typeface="Montserrat"/>
              </a:rPr>
              <a:t>L’Aérohub près de l’aéroport : plateforme à trois températures, chambre froide portée à 1 800 m² en 2023.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EE5B22"/>
                </a:solidFill>
                <a:latin typeface="Montserrat"/>
              </a:rPr>
              <a:t>■  </a:t>
            </a:r>
            <a:r>
              <a:rPr sz="1300" b="0">
                <a:solidFill>
                  <a:srgbClr val="3A5A72"/>
                </a:solidFill>
                <a:latin typeface="Montserrat"/>
              </a:rPr>
              <a:t>Logiciel d’entrepôt développé en interne, engagements de service écrits dans des contrats pluriannuels.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EE5B22"/>
                </a:solidFill>
                <a:latin typeface="Montserrat"/>
              </a:rPr>
              <a:t>■  </a:t>
            </a:r>
            <a:r>
              <a:rPr sz="1300" b="1">
                <a:solidFill>
                  <a:srgbClr val="3A5A72"/>
                </a:solidFill>
                <a:latin typeface="Montserrat"/>
              </a:rPr>
              <a:t>Ce qu’il vend : la sécurité d’un groupe international.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5440680" cy="44805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440680" cy="9144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1202E"/>
                </a:solidFill>
                <a:latin typeface="Montserrat"/>
              </a:rPr>
              <a:t>Ayiman Logistics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23160"/>
            <a:ext cx="484632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EE5B22"/>
                </a:solidFill>
                <a:latin typeface="Montserrat"/>
              </a:rPr>
              <a:t>■  </a:t>
            </a:r>
            <a:r>
              <a:rPr sz="1300" b="0">
                <a:solidFill>
                  <a:srgbClr val="3A5A72"/>
                </a:solidFill>
                <a:latin typeface="Montserrat"/>
              </a:rPr>
              <a:t>Partenaire d’AGL, spécialiste de l’énergie et des industries extractives.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EE5B22"/>
                </a:solidFill>
                <a:latin typeface="Montserrat"/>
              </a:rPr>
              <a:t>■  </a:t>
            </a:r>
            <a:r>
              <a:rPr sz="1300" b="0">
                <a:solidFill>
                  <a:srgbClr val="3A5A72"/>
                </a:solidFill>
                <a:latin typeface="Montserrat"/>
              </a:rPr>
              <a:t>25 000 m² d’entrepôts couverts et 68 000 m² de cour, bases à Abidjan, San Pedro, Bouaké et Ferkessédougou.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EE5B22"/>
                </a:solidFill>
                <a:latin typeface="Montserrat"/>
              </a:rPr>
              <a:t>■  </a:t>
            </a:r>
            <a:r>
              <a:rPr sz="1300" b="0">
                <a:solidFill>
                  <a:srgbClr val="3A5A72"/>
                </a:solidFill>
                <a:latin typeface="Montserrat"/>
              </a:rPr>
              <a:t>Certification TAPA pour la sûreté du fret, mise en avant.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EE5B22"/>
                </a:solidFill>
                <a:latin typeface="Montserrat"/>
              </a:rPr>
              <a:t>■  </a:t>
            </a:r>
            <a:r>
              <a:rPr sz="1300" b="1">
                <a:solidFill>
                  <a:srgbClr val="3A5A72"/>
                </a:solidFill>
                <a:latin typeface="Montserrat"/>
              </a:rPr>
              <a:t>Ce qu’il vend : la maîtrise d’un secteur précis.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74320"/>
            <a:ext cx="1275907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5B22"/>
                </a:solidFill>
                <a:latin typeface="Montserrat"/>
              </a:rPr>
              <a:t>ZOOM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1202E"/>
                </a:solidFill>
                <a:latin typeface="Montserrat"/>
              </a:rPr>
              <a:t>Les acteurs locaux : chacun sa niche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Proline Logistics · Concurrents à Abidjan et positionnement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6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91440" cy="82296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1848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202E"/>
                </a:solidFill>
                <a:latin typeface="Montserrat"/>
              </a:rPr>
              <a:t>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A5A72"/>
                </a:solidFill>
                <a:latin typeface="Montserrat"/>
              </a:rPr>
              <a:t>Transit et douane d’abord. 60 000 m² d’entrepôts, sous douane ou non, avec dépotage, empotage et palettisation.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50591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50591"/>
            <a:ext cx="91440" cy="82296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603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202E"/>
                </a:solidFill>
                <a:latin typeface="Montserrat"/>
              </a:rPr>
              <a:t>OTL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542032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A5A72"/>
                </a:solidFill>
                <a:latin typeface="Montserrat"/>
              </a:rPr>
              <a:t>Tourné vers l’export : deux entrepôts à Abidjan, deux à San Pedro, assurance et vidéosurveillance mises en avant.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92424"/>
            <a:ext cx="11064240" cy="822960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392424"/>
            <a:ext cx="91440" cy="82296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50215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202E"/>
                </a:solidFill>
                <a:latin typeface="Montserrat"/>
              </a:rPr>
              <a:t>CAP Logistics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483864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A5A72"/>
                </a:solidFill>
                <a:latin typeface="Montserrat"/>
              </a:rPr>
              <a:t>Transport routier d’abord, depuis 2003. Camions de 5 ans en moyenne, stockage sec et frigorifique près de l’aéroport.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34256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334256"/>
            <a:ext cx="91440" cy="82296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43984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202E"/>
                </a:solidFill>
                <a:latin typeface="Montserrat"/>
              </a:rPr>
              <a:t>LOGITRANS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425696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A5A72"/>
                </a:solidFill>
                <a:latin typeface="Montserrat"/>
              </a:rPr>
              <a:t>Commissaire en douane avec un entrepôt de 5 000 m² et un logiciel de gestion de stock. Petite capacité.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76088"/>
            <a:ext cx="11064240" cy="822960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276088"/>
            <a:ext cx="91440" cy="82296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85816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202E"/>
                </a:solidFill>
                <a:latin typeface="Montserrat"/>
              </a:rPr>
              <a:t>Miengnoli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367527"/>
            <a:ext cx="8412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A5A72"/>
                </a:solidFill>
                <a:latin typeface="Montserrat"/>
              </a:rPr>
              <a:t>Le seul à parler d’argent : « transformer un investissement lourd en charge variable », processus en cinq étapes.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74320"/>
            <a:ext cx="1275907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5B22"/>
                </a:solidFill>
                <a:latin typeface="Montserrat"/>
              </a:rPr>
              <a:t>COMPARAISON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1202E"/>
                </a:solidFill>
                <a:latin typeface="Montserrat"/>
              </a:rPr>
              <a:t>Ce que chacun affiche, critère par critère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Proline Logistics · Concurrents à Abidjan et positionnement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7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920240" cy="6858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0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3744" y="1563624"/>
            <a:ext cx="1033271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ontserrat"/>
              </a:rPr>
              <a:t>Transport intégré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1563624"/>
            <a:ext cx="1033271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ontserrat"/>
              </a:rPr>
              <a:t>Plus de 40 000 m²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1563624"/>
            <a:ext cx="1033271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ontserrat"/>
              </a:rPr>
              <a:t>Près du 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52744" y="1563624"/>
            <a:ext cx="1033271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ontserrat"/>
              </a:rPr>
              <a:t>Près de l’aéroport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5744" y="1563624"/>
            <a:ext cx="1033271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ontserrat"/>
              </a:rPr>
              <a:t>Froid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1563624"/>
            <a:ext cx="1033271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ontserrat"/>
              </a:rPr>
              <a:t>Sous douane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1563624"/>
            <a:ext cx="1033271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ontserrat"/>
              </a:rPr>
              <a:t>Clients cités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69880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4744" y="1563624"/>
            <a:ext cx="1033271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ontserrat"/>
              </a:rPr>
              <a:t>Visite proposée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194560"/>
            <a:ext cx="1920240" cy="512064"/>
          </a:xfrm>
          <a:prstGeom prst="rect">
            <a:avLst/>
          </a:prstGeom>
          <a:solidFill>
            <a:srgbClr val="FDEEE7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240279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5B22"/>
                </a:solidFill>
                <a:latin typeface="Montserrat"/>
              </a:rPr>
              <a:t>Proline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2194560"/>
            <a:ext cx="1143000" cy="512064"/>
          </a:xfrm>
          <a:prstGeom prst="rect">
            <a:avLst/>
          </a:prstGeom>
          <a:solidFill>
            <a:srgbClr val="FDEEE7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2240279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2194560"/>
            <a:ext cx="1143000" cy="512064"/>
          </a:xfrm>
          <a:prstGeom prst="rect">
            <a:avLst/>
          </a:prstGeom>
          <a:solidFill>
            <a:srgbClr val="FDEEE7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2240279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2194560"/>
            <a:ext cx="1143000" cy="512064"/>
          </a:xfrm>
          <a:prstGeom prst="rect">
            <a:avLst/>
          </a:prstGeom>
          <a:solidFill>
            <a:srgbClr val="FDEEE7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2240279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2194560"/>
            <a:ext cx="1143000" cy="512064"/>
          </a:xfrm>
          <a:prstGeom prst="rect">
            <a:avLst/>
          </a:prstGeom>
          <a:solidFill>
            <a:srgbClr val="FDEEE7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2240279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2194560"/>
            <a:ext cx="1143000" cy="512064"/>
          </a:xfrm>
          <a:prstGeom prst="rect">
            <a:avLst/>
          </a:prstGeom>
          <a:solidFill>
            <a:srgbClr val="FDEEE7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2240279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2194560"/>
            <a:ext cx="1143000" cy="512064"/>
          </a:xfrm>
          <a:prstGeom prst="rect">
            <a:avLst/>
          </a:prstGeom>
          <a:solidFill>
            <a:srgbClr val="FDEEE7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79" y="2240279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194560"/>
            <a:ext cx="1143000" cy="512064"/>
          </a:xfrm>
          <a:prstGeom prst="rect">
            <a:avLst/>
          </a:prstGeom>
          <a:solidFill>
            <a:srgbClr val="FDEEE7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2240279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69880" y="2194560"/>
            <a:ext cx="1143000" cy="512064"/>
          </a:xfrm>
          <a:prstGeom prst="rect">
            <a:avLst/>
          </a:prstGeom>
          <a:solidFill>
            <a:srgbClr val="FDEEE7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69880" y="2240279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2706624"/>
            <a:ext cx="192024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752344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1202E"/>
                </a:solidFill>
                <a:latin typeface="Montserrat"/>
              </a:rPr>
              <a:t>AGL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0" y="2706624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0" y="275234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11880" y="2706624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1880" y="275234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706624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0" y="275234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97880" y="2706624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7880" y="275234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40880" y="2706624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0" y="275234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83879" y="2706624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83879" y="275234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6880" y="2706624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0" y="275234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69880" y="2706624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69880" y="275234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3218688"/>
            <a:ext cx="1920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3264408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1202E"/>
                </a:solidFill>
                <a:latin typeface="Montserrat"/>
              </a:rPr>
              <a:t>Ayiman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68880" y="3218688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68880" y="3264408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11880" y="3218688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11880" y="3264408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54880" y="3218688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0" y="3264408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97880" y="3218688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97880" y="3264408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40880" y="3218688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40880" y="3264408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83879" y="3218688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83879" y="3264408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26880" y="3218688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0" y="3264408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469880" y="3218688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469880" y="3264408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3730752"/>
            <a:ext cx="192024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3776472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1202E"/>
                </a:solidFill>
                <a:latin typeface="Montserrat"/>
              </a:rPr>
              <a:t>LTA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68880" y="3730752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68880" y="3776472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11880" y="3730752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11880" y="3776472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754880" y="3730752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54880" y="3776472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97880" y="3730752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97880" y="3776472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040880" y="3730752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40880" y="3776472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183879" y="3730752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183879" y="3776472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326880" y="3730752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0" y="3776472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469880" y="3730752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469880" y="3776472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4242816"/>
            <a:ext cx="1920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85800" y="4288536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1202E"/>
                </a:solidFill>
                <a:latin typeface="Montserrat"/>
              </a:rPr>
              <a:t>OTL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468880" y="4242816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468880" y="4288536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11880" y="4242816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11880" y="4288536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754880" y="4242816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54880" y="4288536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897880" y="4242816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897880" y="4288536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040880" y="4242816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040880" y="4288536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183879" y="4242816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183879" y="4288536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326880" y="4242816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326880" y="4288536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469880" y="4242816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469880" y="4288536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48640" y="4754880"/>
            <a:ext cx="192024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85800" y="4800600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1202E"/>
                </a:solidFill>
                <a:latin typeface="Montserrat"/>
              </a:rPr>
              <a:t>CAP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68880" y="4754880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468880" y="480060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11880" y="4754880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611880" y="480060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54880" y="4754880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754880" y="480060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897880" y="4754880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897880" y="480060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040880" y="4754880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040880" y="480060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183879" y="4754880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183879" y="480060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326880" y="4754880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326880" y="480060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469880" y="4754880"/>
            <a:ext cx="1143000" cy="512064"/>
          </a:xfrm>
          <a:prstGeom prst="rect">
            <a:avLst/>
          </a:prstGeom>
          <a:solidFill>
            <a:srgbClr val="F6F8FA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69880" y="480060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48640" y="5266944"/>
            <a:ext cx="1920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85800" y="5312664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1202E"/>
                </a:solidFill>
                <a:latin typeface="Montserrat"/>
              </a:rPr>
              <a:t>LOGITRANS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468880" y="5266944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468880" y="531266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611880" y="5266944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611880" y="531266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754880" y="5266944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754880" y="531266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897880" y="5266944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897880" y="531266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040880" y="5266944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040880" y="531266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183879" y="5266944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183879" y="531266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5B22"/>
                </a:solidFill>
                <a:latin typeface="Montserrat"/>
              </a:rPr>
              <a:t>✓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326880" y="5266944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326880" y="531266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469880" y="5266944"/>
            <a:ext cx="11430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469880" y="531266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8E0E6"/>
                </a:solidFill>
                <a:latin typeface="Montserrat"/>
              </a:rPr>
              <a:t>–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8195"/>
                </a:solidFill>
                <a:latin typeface="Montserrat"/>
              </a:rPr>
              <a:t>✓ = affiché sur son site au 27 octobre 2026.  – = non affiché, ce qui ne veut pas dire que l’entreprise ne le fait pas.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74320"/>
            <a:ext cx="1275907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5B22"/>
                </a:solidFill>
                <a:latin typeface="Montserrat"/>
              </a:rPr>
              <a:t>LE DISCOURS DU MARCHÉ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1202E"/>
                </a:solidFill>
                <a:latin typeface="Montserrat"/>
              </a:rPr>
              <a:t>Les mots que tout le monde emploie, et ce qui manque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Proline Logistics · Concurrents à Abidjan et positionnement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8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40680" cy="443484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8195"/>
                </a:solidFill>
                <a:latin typeface="Montserrat"/>
              </a:rPr>
              <a:t>CE QUI EST PARTOUT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48463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6B8195"/>
                </a:solidFill>
                <a:latin typeface="Montserrat"/>
              </a:rPr>
              <a:t>« Sécurisé »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6B8195"/>
                </a:solidFill>
                <a:latin typeface="Montserrat"/>
              </a:rPr>
              <a:t>« Sur mesure »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6B8195"/>
                </a:solidFill>
                <a:latin typeface="Montserrat"/>
              </a:rPr>
              <a:t>« De bout en bout »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6B8195"/>
                </a:solidFill>
                <a:latin typeface="Montserrat"/>
              </a:rPr>
              <a:t>« Partenaire de confiance »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6B8195"/>
                </a:solidFill>
                <a:latin typeface="Montserrat"/>
              </a:rPr>
              <a:t>« Infrastructures modernes »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6B8195"/>
                </a:solidFill>
                <a:latin typeface="Montserrat"/>
              </a:rPr>
              <a:t>« Expertise locale et internationale 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440680" cy="4434840"/>
          </a:xfrm>
          <a:prstGeom prst="rect">
            <a:avLst/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91440" cy="443484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5B22"/>
                </a:solidFill>
                <a:latin typeface="Montserrat"/>
              </a:rPr>
              <a:t>CE QUE PRESQUE PERSONNE NE 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48463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50" b="1">
                <a:solidFill>
                  <a:srgbClr val="EE5B22"/>
                </a:solidFill>
                <a:latin typeface="Montserrat"/>
              </a:rPr>
              <a:t>→  </a:t>
            </a:r>
            <a:r>
              <a:rPr sz="1450" b="0">
                <a:solidFill>
                  <a:srgbClr val="11202E"/>
                </a:solidFill>
                <a:latin typeface="Montserrat"/>
              </a:rPr>
              <a:t>Combien de temps pour répondre à une demande</a:t>
            </a:r>
          </a:p>
          <a:p>
            <a:pPr algn="l">
              <a:spcAft>
                <a:spcPts val="1400"/>
              </a:spcAft>
            </a:pPr>
            <a:r>
              <a:rPr sz="1450" b="1">
                <a:solidFill>
                  <a:srgbClr val="EE5B22"/>
                </a:solidFill>
                <a:latin typeface="Montserrat"/>
              </a:rPr>
              <a:t>→  </a:t>
            </a:r>
            <a:r>
              <a:rPr sz="1450" b="0">
                <a:solidFill>
                  <a:srgbClr val="11202E"/>
                </a:solidFill>
                <a:latin typeface="Montserrat"/>
              </a:rPr>
              <a:t>Ce que le client reçoit chaque jour sur son stock</a:t>
            </a:r>
          </a:p>
          <a:p>
            <a:pPr algn="l">
              <a:spcAft>
                <a:spcPts val="1400"/>
              </a:spcAft>
            </a:pPr>
            <a:r>
              <a:rPr sz="1450" b="1">
                <a:solidFill>
                  <a:srgbClr val="EE5B22"/>
                </a:solidFill>
                <a:latin typeface="Montserrat"/>
              </a:rPr>
              <a:t>→  </a:t>
            </a:r>
            <a:r>
              <a:rPr sz="1450" b="0">
                <a:solidFill>
                  <a:srgbClr val="11202E"/>
                </a:solidFill>
                <a:latin typeface="Montserrat"/>
              </a:rPr>
              <a:t>Qu’on peut venir voir avant de signer</a:t>
            </a:r>
          </a:p>
          <a:p>
            <a:pPr algn="l">
              <a:spcAft>
                <a:spcPts val="1400"/>
              </a:spcAft>
            </a:pPr>
            <a:r>
              <a:rPr sz="1450" b="1">
                <a:solidFill>
                  <a:srgbClr val="EE5B22"/>
                </a:solidFill>
                <a:latin typeface="Montserrat"/>
              </a:rPr>
              <a:t>→  </a:t>
            </a:r>
            <a:r>
              <a:rPr sz="1450" b="0">
                <a:solidFill>
                  <a:srgbClr val="11202E"/>
                </a:solidFill>
                <a:latin typeface="Montserrat"/>
              </a:rPr>
              <a:t>Ce que coûte un mois de stockage, même en fourchette</a:t>
            </a:r>
          </a:p>
          <a:p>
            <a:pPr algn="l">
              <a:spcAft>
                <a:spcPts val="1400"/>
              </a:spcAft>
            </a:pPr>
            <a:r>
              <a:rPr sz="1450" b="1">
                <a:solidFill>
                  <a:srgbClr val="EE5B22"/>
                </a:solidFill>
                <a:latin typeface="Montserrat"/>
              </a:rPr>
              <a:t>→  </a:t>
            </a:r>
            <a:r>
              <a:rPr sz="1450" b="0">
                <a:solidFill>
                  <a:srgbClr val="11202E"/>
                </a:solidFill>
                <a:latin typeface="Montserrat"/>
              </a:rPr>
              <a:t>Ce qu’un client a gagné, chiffres à l’appui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74320"/>
            <a:ext cx="1275907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5B22"/>
                </a:solidFill>
                <a:latin typeface="Montserrat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1202E"/>
                </a:solidFill>
                <a:latin typeface="Montserrat"/>
              </a:rPr>
              <a:t>Où Proline peut se distinguer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Proline Logistics · Concurrents à Abidjan et positionnement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9 / 10</a:t>
            </a:r>
          </a:p>
        </p:txBody>
      </p:sp>
      <p:pic>
        <p:nvPicPr>
          <p:cNvPr id="8" name="Picture 7" descr="b_ca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63040"/>
            <a:ext cx="4023360" cy="457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508760"/>
            <a:ext cx="676656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91440" cy="13716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3351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202E"/>
                </a:solidFill>
                <a:latin typeface="Montserrat"/>
              </a:rPr>
              <a:t>1. Le quai et l’entrepôt, avec nos propres moyens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75688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5A72"/>
                </a:solidFill>
                <a:latin typeface="Montserrat"/>
              </a:rPr>
              <a:t>Vridi près du port, Yopougon en zone industrielle, l’AeroHub près de l’aéroport, et nos camions entre les trois. Peu d’acteurs réunissent les trois emplacements.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676656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91440" cy="13716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82112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202E"/>
                </a:solidFill>
                <a:latin typeface="Montserrat"/>
              </a:rPr>
              <a:t>2. La preuve plutôt que l’adjectif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84448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5A72"/>
                </a:solidFill>
                <a:latin typeface="Montserrat"/>
              </a:rPr>
              <a:t>Rapport de stock quotidien, inventaire rapproché, réponse sous 24 heures : montrer un rapport type, sans données client, et dire ce qu’on s’engage à tenir.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26279"/>
            <a:ext cx="676656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26279"/>
            <a:ext cx="91440" cy="13716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90871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202E"/>
                </a:solidFill>
                <a:latin typeface="Montserrat"/>
              </a:rPr>
              <a:t>3. La visite comme point d’entrée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93207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5A72"/>
                </a:solidFill>
                <a:latin typeface="Montserrat"/>
              </a:rPr>
              <a:t>Être le logisticien qu’on vient voir. Une visite d’une heure, préparée selon les volumes du visiteur, proposée partout.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74320"/>
            <a:ext cx="1275907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5B22"/>
                </a:solidFill>
                <a:latin typeface="Montserrat"/>
              </a:rPr>
              <a:t>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1202E"/>
                </a:solidFill>
                <a:latin typeface="Montserrat"/>
              </a:rPr>
              <a:t>Ce qu’il faut éviter, et la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Proline Logistics · Concurrents à Abidjan et positionnement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8195"/>
                </a:solidFill>
                <a:latin typeface="Montserrat"/>
              </a:rPr>
              <a:t>10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40680" cy="443484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1202E"/>
                </a:solidFill>
                <a:latin typeface="Montserrat"/>
              </a:rPr>
              <a:t>À ÉVITER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48463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900" b="0">
                <a:solidFill>
                  <a:srgbClr val="EE5B22"/>
                </a:solidFill>
                <a:latin typeface="Montserrat"/>
              </a:rPr>
              <a:t>■  </a:t>
            </a:r>
            <a:r>
              <a:rPr sz="1300" b="0">
                <a:solidFill>
                  <a:srgbClr val="3A5A72"/>
                </a:solidFill>
                <a:latin typeface="Montserrat"/>
              </a:rPr>
              <a:t>Se comparer à AGL sur la taille : nous perdons.</a:t>
            </a:r>
          </a:p>
          <a:p>
            <a:pPr algn="l">
              <a:spcAft>
                <a:spcPts val="1200"/>
              </a:spcAft>
            </a:pPr>
            <a:r>
              <a:rPr sz="900" b="0">
                <a:solidFill>
                  <a:srgbClr val="EE5B22"/>
                </a:solidFill>
                <a:latin typeface="Montserrat"/>
              </a:rPr>
              <a:t>■  </a:t>
            </a:r>
            <a:r>
              <a:rPr sz="1300" b="0">
                <a:solidFill>
                  <a:srgbClr val="3A5A72"/>
                </a:solidFill>
                <a:latin typeface="Montserrat"/>
              </a:rPr>
              <a:t>Parler de froid ou de douane tant que le site ne l’affiche pas.</a:t>
            </a:r>
          </a:p>
          <a:p>
            <a:pPr algn="l">
              <a:spcAft>
                <a:spcPts val="1200"/>
              </a:spcAft>
            </a:pPr>
            <a:r>
              <a:rPr sz="900" b="0">
                <a:solidFill>
                  <a:srgbClr val="EE5B22"/>
                </a:solidFill>
                <a:latin typeface="Montserrat"/>
              </a:rPr>
              <a:t>■  </a:t>
            </a:r>
            <a:r>
              <a:rPr sz="1300" b="0">
                <a:solidFill>
                  <a:srgbClr val="3A5A72"/>
                </a:solidFill>
                <a:latin typeface="Montserrat"/>
              </a:rPr>
              <a:t>Mettre en avant les certifications ISO avant de les avoir obtenues : dire « démarche engagée ».</a:t>
            </a:r>
          </a:p>
          <a:p>
            <a:pPr algn="l">
              <a:spcAft>
                <a:spcPts val="1200"/>
              </a:spcAft>
            </a:pPr>
            <a:r>
              <a:rPr sz="900" b="0">
                <a:solidFill>
                  <a:srgbClr val="EE5B22"/>
                </a:solidFill>
                <a:latin typeface="Montserrat"/>
              </a:rPr>
              <a:t>■  </a:t>
            </a:r>
            <a:r>
              <a:rPr sz="1300" b="0">
                <a:solidFill>
                  <a:srgbClr val="3A5A72"/>
                </a:solidFill>
                <a:latin typeface="Montserrat"/>
              </a:rPr>
              <a:t>Laisser les compteurs du site s’afficher à zéro : c’est la première chose qu’un acheteur voit.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440680" cy="443484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5B22"/>
                </a:solidFill>
                <a:latin typeface="Montserrat"/>
              </a:rPr>
              <a:t>LA SUITE PROPOSÉE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48463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EE5B22"/>
                </a:solidFill>
                <a:latin typeface="Montserrat"/>
              </a:rPr>
              <a:t>→  </a:t>
            </a:r>
            <a:r>
              <a:rPr sz="1300" b="0">
                <a:solidFill>
                  <a:srgbClr val="FFFFFF"/>
                </a:solidFill>
                <a:latin typeface="Montserrat"/>
              </a:rPr>
              <a:t>Mettre en ligne la nouvelle page Entreposage, centrée sur la visite.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EE5B22"/>
                </a:solidFill>
                <a:latin typeface="Montserrat"/>
              </a:rPr>
              <a:t>→  </a:t>
            </a:r>
            <a:r>
              <a:rPr sz="1300" b="0">
                <a:solidFill>
                  <a:srgbClr val="FFFFFF"/>
                </a:solidFill>
                <a:latin typeface="Montserrat"/>
              </a:rPr>
              <a:t>Créer un rapport de stock type, sans données client, à montrer en rendez-vous.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EE5B22"/>
                </a:solidFill>
                <a:latin typeface="Montserrat"/>
              </a:rPr>
              <a:t>→  </a:t>
            </a:r>
            <a:r>
              <a:rPr sz="1300" b="0">
                <a:solidFill>
                  <a:srgbClr val="FFFFFF"/>
                </a:solidFill>
                <a:latin typeface="Montserrat"/>
              </a:rPr>
              <a:t>Ajouter au plan 2027 un message unique : « Du quai à l’entrepôt, avec nos propres moyens ».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EE5B22"/>
                </a:solidFill>
                <a:latin typeface="Montserrat"/>
              </a:rPr>
              <a:t>→  </a:t>
            </a:r>
            <a:r>
              <a:rPr sz="1300" b="0">
                <a:solidFill>
                  <a:srgbClr val="FFFFFF"/>
                </a:solidFill>
                <a:latin typeface="Montserrat"/>
              </a:rPr>
              <a:t>Refaire cette étude en avril, avant le salon AFRILOG.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B8195"/>
                </a:solidFill>
                <a:latin typeface="Montserrat"/>
              </a:rPr>
              <a:t>Sources : </a:t>
            </a:r>
            <a:r>
              <a:rPr sz="900" b="0">
                <a:solidFill>
                  <a:srgbClr val="6B8195"/>
                </a:solidFill>
                <a:latin typeface="Montserrat"/>
              </a:rPr>
              <a:t>aglgroup.com · lca.logcluster.org · ayimanlogistics.ci · lta.ci · transit-otl.com · caplogistics.ci · scagroupe.ci · miengnoligroup.com · prolinelogistic.com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