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jpg"/><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jpg"/><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20000" cy="6858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0000" y="0"/>
            <a:ext cx="100000" cy="6858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1150000" y="650000"/>
            <a:ext cx="1262969" cy="1300000"/>
          </a:xfrm>
          <a:prstGeom prst="rect">
            <a:avLst/>
          </a:prstGeom>
        </p:spPr>
      </p:pic>
      <p:sp>
        <p:nvSpPr>
          <p:cNvPr id="6" name="TextBox 5"/>
          <p:cNvSpPr txBox="1"/>
          <p:nvPr/>
        </p:nvSpPr>
        <p:spPr>
          <a:xfrm>
            <a:off x="1150000" y="2250000"/>
            <a:ext cx="10300000" cy="1500000"/>
          </a:xfrm>
          <a:prstGeom prst="rect">
            <a:avLst/>
          </a:prstGeom>
          <a:noFill/>
        </p:spPr>
        <p:txBody>
          <a:bodyPr wrap="square">
            <a:spAutoFit/>
          </a:bodyPr>
          <a:lstStyle/>
          <a:p>
            <a:pPr>
              <a:spcAft>
                <a:spcPts val="500"/>
              </a:spcAft>
            </a:pPr>
            <a:r>
              <a:rPr sz="3400" b="1">
                <a:solidFill>
                  <a:srgbClr val="2B1B22"/>
                </a:solidFill>
                <a:latin typeface="Baloo 2"/>
              </a:rPr>
              <a:t>Audit de nos réseaux sociaux</a:t>
            </a:r>
          </a:p>
          <a:p>
            <a:pPr>
              <a:spcAft>
                <a:spcPts val="500"/>
              </a:spcAft>
            </a:pPr>
            <a:r>
              <a:rPr sz="3400" b="1">
                <a:solidFill>
                  <a:srgbClr val="2B1B22"/>
                </a:solidFill>
                <a:latin typeface="Baloo 2"/>
              </a:rPr>
              <a:t>et benchmark de trois concurrents ivoiriens</a:t>
            </a:r>
          </a:p>
        </p:txBody>
      </p:sp>
      <p:sp>
        <p:nvSpPr>
          <p:cNvPr id="7" name="TextBox 6"/>
          <p:cNvSpPr txBox="1"/>
          <p:nvPr/>
        </p:nvSpPr>
        <p:spPr>
          <a:xfrm>
            <a:off x="1150000" y="3950000"/>
            <a:ext cx="10300000" cy="1700000"/>
          </a:xfrm>
          <a:prstGeom prst="rect">
            <a:avLst/>
          </a:prstGeom>
          <a:noFill/>
        </p:spPr>
        <p:txBody>
          <a:bodyPr wrap="square">
            <a:spAutoFit/>
          </a:bodyPr>
          <a:lstStyle/>
          <a:p>
            <a:pPr>
              <a:spcAft>
                <a:spcPts val="500"/>
              </a:spcAft>
            </a:pPr>
            <a:r>
              <a:rPr sz="1500" b="0">
                <a:solidFill>
                  <a:srgbClr val="77707A"/>
                </a:solidFill>
                <a:latin typeface="Nunito"/>
              </a:rPr>
              <a:t>Afriwara (Pecto), Groupe Carré d'Or (Cléo), Confiserie Moderne d'Afrique (Chocolatine)</a:t>
            </a:r>
          </a:p>
          <a:p>
            <a:pPr>
              <a:spcAft>
                <a:spcPts val="500"/>
              </a:spcAft>
            </a:pPr>
            <a:r>
              <a:rPr sz="1500" b="0">
                <a:solidFill>
                  <a:srgbClr val="77707A"/>
                </a:solidFill>
                <a:latin typeface="Nunito"/>
              </a:rPr>
              <a:t>Relevé du 19 octobre 2026 : 150 publications Facebook et 49 publications Instagram analysées</a:t>
            </a:r>
          </a:p>
          <a:p>
            <a:pPr>
              <a:spcAft>
                <a:spcPts val="500"/>
              </a:spcAft>
            </a:pPr>
            <a:r>
              <a:rPr sz="1500" b="0">
                <a:solidFill>
                  <a:srgbClr val="77707A"/>
                </a:solidFill>
                <a:latin typeface="Nunito"/>
              </a:rPr>
              <a:t>Préparé pour la direction marketing, en vue de reprendre le marketing en interne</a:t>
            </a:r>
          </a:p>
        </p:txBody>
      </p:sp>
      <p:pic>
        <p:nvPicPr>
          <p:cNvPr id="8" name="Picture 7" descr="u_quiz.jpg"/>
          <p:cNvPicPr>
            <a:picLocks noChangeAspect="1"/>
          </p:cNvPicPr>
          <p:nvPr/>
        </p:nvPicPr>
        <p:blipFill>
          <a:blip r:embed="rId3"/>
          <a:stretch>
            <a:fillRect/>
          </a:stretch>
        </p:blipFill>
        <p:spPr>
          <a:xfrm>
            <a:off x="8900000" y="600000"/>
            <a:ext cx="1350000" cy="1350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CONTENU</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Sommaire</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2</a:t>
            </a:r>
          </a:p>
        </p:txBody>
      </p:sp>
      <p:sp>
        <p:nvSpPr>
          <p:cNvPr id="8" name="Oval 7"/>
          <p:cNvSpPr/>
          <p:nvPr/>
        </p:nvSpPr>
        <p:spPr>
          <a:xfrm>
            <a:off x="600000" y="1450000"/>
            <a:ext cx="700000" cy="700000"/>
          </a:xfrm>
          <a:prstGeom prst="ellipse">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0000" y="1540000"/>
            <a:ext cx="700000" cy="600000"/>
          </a:xfrm>
          <a:prstGeom prst="rect">
            <a:avLst/>
          </a:prstGeom>
          <a:noFill/>
        </p:spPr>
        <p:txBody>
          <a:bodyPr wrap="square">
            <a:spAutoFit/>
          </a:bodyPr>
          <a:lstStyle/>
          <a:p>
            <a:pPr algn="ctr">
              <a:spcAft>
                <a:spcPts val="500"/>
              </a:spcAft>
            </a:pPr>
            <a:r>
              <a:rPr sz="2400" b="1">
                <a:solidFill>
                  <a:srgbClr val="FFFFFF"/>
                </a:solidFill>
                <a:latin typeface="Baloo 2"/>
              </a:rPr>
              <a:t>1</a:t>
            </a:r>
          </a:p>
        </p:txBody>
      </p:sp>
      <p:sp>
        <p:nvSpPr>
          <p:cNvPr id="10" name="TextBox 9"/>
          <p:cNvSpPr txBox="1"/>
          <p:nvPr/>
        </p:nvSpPr>
        <p:spPr>
          <a:xfrm>
            <a:off x="1550000" y="1470000"/>
            <a:ext cx="8000000" cy="400000"/>
          </a:xfrm>
          <a:prstGeom prst="rect">
            <a:avLst/>
          </a:prstGeom>
          <a:noFill/>
        </p:spPr>
        <p:txBody>
          <a:bodyPr wrap="square">
            <a:spAutoFit/>
          </a:bodyPr>
          <a:lstStyle/>
          <a:p>
            <a:pPr>
              <a:spcAft>
                <a:spcPts val="500"/>
              </a:spcAft>
            </a:pPr>
            <a:r>
              <a:rPr sz="1800" b="1">
                <a:solidFill>
                  <a:srgbClr val="2B1B22"/>
                </a:solidFill>
                <a:latin typeface="Baloo 2"/>
              </a:rPr>
              <a:t>L'essentiel</a:t>
            </a:r>
          </a:p>
        </p:txBody>
      </p:sp>
      <p:sp>
        <p:nvSpPr>
          <p:cNvPr id="11" name="TextBox 10"/>
          <p:cNvSpPr txBox="1"/>
          <p:nvPr/>
        </p:nvSpPr>
        <p:spPr>
          <a:xfrm>
            <a:off x="1550000" y="1850000"/>
            <a:ext cx="8500000" cy="350000"/>
          </a:xfrm>
          <a:prstGeom prst="rect">
            <a:avLst/>
          </a:prstGeom>
          <a:noFill/>
        </p:spPr>
        <p:txBody>
          <a:bodyPr wrap="square">
            <a:spAutoFit/>
          </a:bodyPr>
          <a:lstStyle/>
          <a:p>
            <a:pPr>
              <a:spcAft>
                <a:spcPts val="500"/>
              </a:spcAft>
            </a:pPr>
            <a:r>
              <a:rPr sz="1300" b="0">
                <a:solidFill>
                  <a:srgbClr val="77707A"/>
                </a:solidFill>
                <a:latin typeface="Nunito"/>
              </a:rPr>
              <a:t>Le diagnostic et les trois décisions en une page</a:t>
            </a:r>
          </a:p>
        </p:txBody>
      </p:sp>
      <p:sp>
        <p:nvSpPr>
          <p:cNvPr id="12" name="TextBox 11"/>
          <p:cNvSpPr txBox="1"/>
          <p:nvPr/>
        </p:nvSpPr>
        <p:spPr>
          <a:xfrm>
            <a:off x="10000000" y="1600000"/>
            <a:ext cx="1500000" cy="400000"/>
          </a:xfrm>
          <a:prstGeom prst="rect">
            <a:avLst/>
          </a:prstGeom>
          <a:noFill/>
        </p:spPr>
        <p:txBody>
          <a:bodyPr wrap="square">
            <a:spAutoFit/>
          </a:bodyPr>
          <a:lstStyle/>
          <a:p>
            <a:pPr>
              <a:spcAft>
                <a:spcPts val="500"/>
              </a:spcAft>
            </a:pPr>
            <a:r>
              <a:rPr sz="1300" b="1">
                <a:solidFill>
                  <a:srgbClr val="E50046"/>
                </a:solidFill>
                <a:latin typeface="Nunito"/>
              </a:rPr>
              <a:t>p. 3</a:t>
            </a:r>
          </a:p>
        </p:txBody>
      </p:sp>
      <p:sp>
        <p:nvSpPr>
          <p:cNvPr id="13" name="Oval 12"/>
          <p:cNvSpPr/>
          <p:nvPr/>
        </p:nvSpPr>
        <p:spPr>
          <a:xfrm>
            <a:off x="600000" y="2350000"/>
            <a:ext cx="700000" cy="700000"/>
          </a:xfrm>
          <a:prstGeom prst="ellipse">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0000" y="2440000"/>
            <a:ext cx="700000" cy="600000"/>
          </a:xfrm>
          <a:prstGeom prst="rect">
            <a:avLst/>
          </a:prstGeom>
          <a:noFill/>
        </p:spPr>
        <p:txBody>
          <a:bodyPr wrap="square">
            <a:spAutoFit/>
          </a:bodyPr>
          <a:lstStyle/>
          <a:p>
            <a:pPr algn="ctr">
              <a:spcAft>
                <a:spcPts val="500"/>
              </a:spcAft>
            </a:pPr>
            <a:r>
              <a:rPr sz="2400" b="1">
                <a:solidFill>
                  <a:srgbClr val="2B1B22"/>
                </a:solidFill>
                <a:latin typeface="Baloo 2"/>
              </a:rPr>
              <a:t>2</a:t>
            </a:r>
          </a:p>
        </p:txBody>
      </p:sp>
      <p:sp>
        <p:nvSpPr>
          <p:cNvPr id="15" name="TextBox 14"/>
          <p:cNvSpPr txBox="1"/>
          <p:nvPr/>
        </p:nvSpPr>
        <p:spPr>
          <a:xfrm>
            <a:off x="1550000" y="2370000"/>
            <a:ext cx="8000000" cy="400000"/>
          </a:xfrm>
          <a:prstGeom prst="rect">
            <a:avLst/>
          </a:prstGeom>
          <a:noFill/>
        </p:spPr>
        <p:txBody>
          <a:bodyPr wrap="square">
            <a:spAutoFit/>
          </a:bodyPr>
          <a:lstStyle/>
          <a:p>
            <a:pPr>
              <a:spcAft>
                <a:spcPts val="500"/>
              </a:spcAft>
            </a:pPr>
            <a:r>
              <a:rPr sz="1800" b="1">
                <a:solidFill>
                  <a:srgbClr val="2B1B22"/>
                </a:solidFill>
                <a:latin typeface="Baloo 2"/>
              </a:rPr>
              <a:t>Où en sont nos réseaux</a:t>
            </a:r>
          </a:p>
        </p:txBody>
      </p:sp>
      <p:sp>
        <p:nvSpPr>
          <p:cNvPr id="16" name="TextBox 15"/>
          <p:cNvSpPr txBox="1"/>
          <p:nvPr/>
        </p:nvSpPr>
        <p:spPr>
          <a:xfrm>
            <a:off x="1550000" y="2750000"/>
            <a:ext cx="8500000" cy="350000"/>
          </a:xfrm>
          <a:prstGeom prst="rect">
            <a:avLst/>
          </a:prstGeom>
          <a:noFill/>
        </p:spPr>
        <p:txBody>
          <a:bodyPr wrap="square">
            <a:spAutoFit/>
          </a:bodyPr>
          <a:lstStyle/>
          <a:p>
            <a:pPr>
              <a:spcAft>
                <a:spcPts val="500"/>
              </a:spcAft>
            </a:pPr>
            <a:r>
              <a:rPr sz="1300" b="0">
                <a:solidFill>
                  <a:srgbClr val="77707A"/>
                </a:solidFill>
                <a:latin typeface="Nunito"/>
              </a:rPr>
              <a:t>Inventaire des comptes, page Unifood, ce qui marche et ce qui coince</a:t>
            </a:r>
          </a:p>
        </p:txBody>
      </p:sp>
      <p:sp>
        <p:nvSpPr>
          <p:cNvPr id="17" name="TextBox 16"/>
          <p:cNvSpPr txBox="1"/>
          <p:nvPr/>
        </p:nvSpPr>
        <p:spPr>
          <a:xfrm>
            <a:off x="10000000" y="2500000"/>
            <a:ext cx="1500000" cy="400000"/>
          </a:xfrm>
          <a:prstGeom prst="rect">
            <a:avLst/>
          </a:prstGeom>
          <a:noFill/>
        </p:spPr>
        <p:txBody>
          <a:bodyPr wrap="square">
            <a:spAutoFit/>
          </a:bodyPr>
          <a:lstStyle/>
          <a:p>
            <a:pPr>
              <a:spcAft>
                <a:spcPts val="500"/>
              </a:spcAft>
            </a:pPr>
            <a:r>
              <a:rPr sz="1300" b="1">
                <a:solidFill>
                  <a:srgbClr val="E50046"/>
                </a:solidFill>
                <a:latin typeface="Nunito"/>
              </a:rPr>
              <a:t>p. 4 à 8</a:t>
            </a:r>
          </a:p>
        </p:txBody>
      </p:sp>
      <p:sp>
        <p:nvSpPr>
          <p:cNvPr id="18" name="Oval 17"/>
          <p:cNvSpPr/>
          <p:nvPr/>
        </p:nvSpPr>
        <p:spPr>
          <a:xfrm>
            <a:off x="600000" y="3250000"/>
            <a:ext cx="700000" cy="700000"/>
          </a:xfrm>
          <a:prstGeom prst="ellipse">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0000" y="3340000"/>
            <a:ext cx="700000" cy="600000"/>
          </a:xfrm>
          <a:prstGeom prst="rect">
            <a:avLst/>
          </a:prstGeom>
          <a:noFill/>
        </p:spPr>
        <p:txBody>
          <a:bodyPr wrap="square">
            <a:spAutoFit/>
          </a:bodyPr>
          <a:lstStyle/>
          <a:p>
            <a:pPr algn="ctr">
              <a:spcAft>
                <a:spcPts val="500"/>
              </a:spcAft>
            </a:pPr>
            <a:r>
              <a:rPr sz="2400" b="1">
                <a:solidFill>
                  <a:srgbClr val="FFFFFF"/>
                </a:solidFill>
                <a:latin typeface="Baloo 2"/>
              </a:rPr>
              <a:t>3</a:t>
            </a:r>
          </a:p>
        </p:txBody>
      </p:sp>
      <p:sp>
        <p:nvSpPr>
          <p:cNvPr id="20" name="TextBox 19"/>
          <p:cNvSpPr txBox="1"/>
          <p:nvPr/>
        </p:nvSpPr>
        <p:spPr>
          <a:xfrm>
            <a:off x="1550000" y="3270000"/>
            <a:ext cx="8000000" cy="400000"/>
          </a:xfrm>
          <a:prstGeom prst="rect">
            <a:avLst/>
          </a:prstGeom>
          <a:noFill/>
        </p:spPr>
        <p:txBody>
          <a:bodyPr wrap="square">
            <a:spAutoFit/>
          </a:bodyPr>
          <a:lstStyle/>
          <a:p>
            <a:pPr>
              <a:spcAft>
                <a:spcPts val="500"/>
              </a:spcAft>
            </a:pPr>
            <a:r>
              <a:rPr sz="1800" b="1">
                <a:solidFill>
                  <a:srgbClr val="2B1B22"/>
                </a:solidFill>
                <a:latin typeface="Baloo 2"/>
              </a:rPr>
              <a:t>Benchmark de trois concurrents</a:t>
            </a:r>
          </a:p>
        </p:txBody>
      </p:sp>
      <p:sp>
        <p:nvSpPr>
          <p:cNvPr id="21" name="TextBox 20"/>
          <p:cNvSpPr txBox="1"/>
          <p:nvPr/>
        </p:nvSpPr>
        <p:spPr>
          <a:xfrm>
            <a:off x="1550000" y="3650000"/>
            <a:ext cx="8500000" cy="350000"/>
          </a:xfrm>
          <a:prstGeom prst="rect">
            <a:avLst/>
          </a:prstGeom>
          <a:noFill/>
        </p:spPr>
        <p:txBody>
          <a:bodyPr wrap="square">
            <a:spAutoFit/>
          </a:bodyPr>
          <a:lstStyle/>
          <a:p>
            <a:pPr>
              <a:spcAft>
                <a:spcPts val="500"/>
              </a:spcAft>
            </a:pPr>
            <a:r>
              <a:rPr sz="1300" b="0">
                <a:solidFill>
                  <a:srgbClr val="77707A"/>
                </a:solidFill>
                <a:latin typeface="Nunito"/>
              </a:rPr>
              <a:t>Afriwara, Carré d'Or et Chocolatine : chiffres, mécaniques, ce qu'on reprend</a:t>
            </a:r>
          </a:p>
        </p:txBody>
      </p:sp>
      <p:sp>
        <p:nvSpPr>
          <p:cNvPr id="22" name="TextBox 21"/>
          <p:cNvSpPr txBox="1"/>
          <p:nvPr/>
        </p:nvSpPr>
        <p:spPr>
          <a:xfrm>
            <a:off x="10000000" y="3400000"/>
            <a:ext cx="1500000" cy="400000"/>
          </a:xfrm>
          <a:prstGeom prst="rect">
            <a:avLst/>
          </a:prstGeom>
          <a:noFill/>
        </p:spPr>
        <p:txBody>
          <a:bodyPr wrap="square">
            <a:spAutoFit/>
          </a:bodyPr>
          <a:lstStyle/>
          <a:p>
            <a:pPr>
              <a:spcAft>
                <a:spcPts val="500"/>
              </a:spcAft>
            </a:pPr>
            <a:r>
              <a:rPr sz="1300" b="1">
                <a:solidFill>
                  <a:srgbClr val="E50046"/>
                </a:solidFill>
                <a:latin typeface="Nunito"/>
              </a:rPr>
              <a:t>p. 9 à 16</a:t>
            </a:r>
          </a:p>
        </p:txBody>
      </p:sp>
      <p:sp>
        <p:nvSpPr>
          <p:cNvPr id="23" name="Oval 22"/>
          <p:cNvSpPr/>
          <p:nvPr/>
        </p:nvSpPr>
        <p:spPr>
          <a:xfrm>
            <a:off x="600000" y="4150000"/>
            <a:ext cx="700000" cy="700000"/>
          </a:xfrm>
          <a:prstGeom prst="ellipse">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0000" y="4240000"/>
            <a:ext cx="700000" cy="600000"/>
          </a:xfrm>
          <a:prstGeom prst="rect">
            <a:avLst/>
          </a:prstGeom>
          <a:noFill/>
        </p:spPr>
        <p:txBody>
          <a:bodyPr wrap="square">
            <a:spAutoFit/>
          </a:bodyPr>
          <a:lstStyle/>
          <a:p>
            <a:pPr algn="ctr">
              <a:spcAft>
                <a:spcPts val="500"/>
              </a:spcAft>
            </a:pPr>
            <a:r>
              <a:rPr sz="2400" b="1">
                <a:solidFill>
                  <a:srgbClr val="2B1B22"/>
                </a:solidFill>
                <a:latin typeface="Baloo 2"/>
              </a:rPr>
              <a:t>4</a:t>
            </a:r>
          </a:p>
        </p:txBody>
      </p:sp>
      <p:sp>
        <p:nvSpPr>
          <p:cNvPr id="25" name="TextBox 24"/>
          <p:cNvSpPr txBox="1"/>
          <p:nvPr/>
        </p:nvSpPr>
        <p:spPr>
          <a:xfrm>
            <a:off x="1550000" y="4170000"/>
            <a:ext cx="8000000" cy="400000"/>
          </a:xfrm>
          <a:prstGeom prst="rect">
            <a:avLst/>
          </a:prstGeom>
          <a:noFill/>
        </p:spPr>
        <p:txBody>
          <a:bodyPr wrap="square">
            <a:spAutoFit/>
          </a:bodyPr>
          <a:lstStyle/>
          <a:p>
            <a:pPr>
              <a:spcAft>
                <a:spcPts val="500"/>
              </a:spcAft>
            </a:pPr>
            <a:r>
              <a:rPr sz="1800" b="1">
                <a:solidFill>
                  <a:srgbClr val="2B1B22"/>
                </a:solidFill>
                <a:latin typeface="Baloo 2"/>
              </a:rPr>
              <a:t>Recommandations et plan à 90 jours</a:t>
            </a:r>
          </a:p>
        </p:txBody>
      </p:sp>
      <p:sp>
        <p:nvSpPr>
          <p:cNvPr id="26" name="TextBox 25"/>
          <p:cNvSpPr txBox="1"/>
          <p:nvPr/>
        </p:nvSpPr>
        <p:spPr>
          <a:xfrm>
            <a:off x="1550000" y="4550000"/>
            <a:ext cx="8500000" cy="350000"/>
          </a:xfrm>
          <a:prstGeom prst="rect">
            <a:avLst/>
          </a:prstGeom>
          <a:noFill/>
        </p:spPr>
        <p:txBody>
          <a:bodyPr wrap="square">
            <a:spAutoFit/>
          </a:bodyPr>
          <a:lstStyle/>
          <a:p>
            <a:pPr>
              <a:spcAft>
                <a:spcPts val="500"/>
              </a:spcAft>
            </a:pPr>
            <a:r>
              <a:rPr sz="1300" b="0">
                <a:solidFill>
                  <a:srgbClr val="77707A"/>
                </a:solidFill>
                <a:latin typeface="Nunito"/>
              </a:rPr>
              <a:t>Six décisions, calendrier, organisation interne, indicateurs</a:t>
            </a:r>
          </a:p>
        </p:txBody>
      </p:sp>
      <p:sp>
        <p:nvSpPr>
          <p:cNvPr id="27" name="TextBox 26"/>
          <p:cNvSpPr txBox="1"/>
          <p:nvPr/>
        </p:nvSpPr>
        <p:spPr>
          <a:xfrm>
            <a:off x="10000000" y="4300000"/>
            <a:ext cx="1500000" cy="400000"/>
          </a:xfrm>
          <a:prstGeom prst="rect">
            <a:avLst/>
          </a:prstGeom>
          <a:noFill/>
        </p:spPr>
        <p:txBody>
          <a:bodyPr wrap="square">
            <a:spAutoFit/>
          </a:bodyPr>
          <a:lstStyle/>
          <a:p>
            <a:pPr>
              <a:spcAft>
                <a:spcPts val="500"/>
              </a:spcAft>
            </a:pPr>
            <a:r>
              <a:rPr sz="1300" b="1">
                <a:solidFill>
                  <a:srgbClr val="E50046"/>
                </a:solidFill>
                <a:latin typeface="Nunito"/>
              </a:rPr>
              <a:t>p. 17 à 21</a:t>
            </a:r>
          </a:p>
        </p:txBody>
      </p:sp>
      <p:sp>
        <p:nvSpPr>
          <p:cNvPr id="28" name="Oval 27"/>
          <p:cNvSpPr/>
          <p:nvPr/>
        </p:nvSpPr>
        <p:spPr>
          <a:xfrm>
            <a:off x="600000" y="5050000"/>
            <a:ext cx="700000" cy="700000"/>
          </a:xfrm>
          <a:prstGeom prst="ellipse">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0000" y="5140000"/>
            <a:ext cx="700000" cy="600000"/>
          </a:xfrm>
          <a:prstGeom prst="rect">
            <a:avLst/>
          </a:prstGeom>
          <a:noFill/>
        </p:spPr>
        <p:txBody>
          <a:bodyPr wrap="square">
            <a:spAutoFit/>
          </a:bodyPr>
          <a:lstStyle/>
          <a:p>
            <a:pPr algn="ctr">
              <a:spcAft>
                <a:spcPts val="500"/>
              </a:spcAft>
            </a:pPr>
            <a:r>
              <a:rPr sz="2400" b="1">
                <a:solidFill>
                  <a:srgbClr val="FFFFFF"/>
                </a:solidFill>
                <a:latin typeface="Baloo 2"/>
              </a:rPr>
              <a:t>5</a:t>
            </a:r>
          </a:p>
        </p:txBody>
      </p:sp>
      <p:sp>
        <p:nvSpPr>
          <p:cNvPr id="30" name="TextBox 29"/>
          <p:cNvSpPr txBox="1"/>
          <p:nvPr/>
        </p:nvSpPr>
        <p:spPr>
          <a:xfrm>
            <a:off x="1550000" y="5070000"/>
            <a:ext cx="8000000" cy="400000"/>
          </a:xfrm>
          <a:prstGeom prst="rect">
            <a:avLst/>
          </a:prstGeom>
          <a:noFill/>
        </p:spPr>
        <p:txBody>
          <a:bodyPr wrap="square">
            <a:spAutoFit/>
          </a:bodyPr>
          <a:lstStyle/>
          <a:p>
            <a:pPr>
              <a:spcAft>
                <a:spcPts val="500"/>
              </a:spcAft>
            </a:pPr>
            <a:r>
              <a:rPr sz="1800" b="1">
                <a:solidFill>
                  <a:srgbClr val="2B1B22"/>
                </a:solidFill>
                <a:latin typeface="Baloo 2"/>
              </a:rPr>
              <a:t>Méthode, sources et limites</a:t>
            </a:r>
          </a:p>
        </p:txBody>
      </p:sp>
      <p:sp>
        <p:nvSpPr>
          <p:cNvPr id="31" name="TextBox 30"/>
          <p:cNvSpPr txBox="1"/>
          <p:nvPr/>
        </p:nvSpPr>
        <p:spPr>
          <a:xfrm>
            <a:off x="1550000" y="5450000"/>
            <a:ext cx="8500000" cy="350000"/>
          </a:xfrm>
          <a:prstGeom prst="rect">
            <a:avLst/>
          </a:prstGeom>
          <a:noFill/>
        </p:spPr>
        <p:txBody>
          <a:bodyPr wrap="square">
            <a:spAutoFit/>
          </a:bodyPr>
          <a:lstStyle/>
          <a:p>
            <a:pPr>
              <a:spcAft>
                <a:spcPts val="500"/>
              </a:spcAft>
            </a:pPr>
            <a:r>
              <a:rPr sz="1300" b="0">
                <a:solidFill>
                  <a:srgbClr val="77707A"/>
                </a:solidFill>
                <a:latin typeface="Nunito"/>
              </a:rPr>
              <a:t>Ce que les données publiques disent, et ce qu'elles ne disent pas</a:t>
            </a:r>
          </a:p>
        </p:txBody>
      </p:sp>
      <p:sp>
        <p:nvSpPr>
          <p:cNvPr id="32" name="TextBox 31"/>
          <p:cNvSpPr txBox="1"/>
          <p:nvPr/>
        </p:nvSpPr>
        <p:spPr>
          <a:xfrm>
            <a:off x="10000000" y="5200000"/>
            <a:ext cx="1500000" cy="400000"/>
          </a:xfrm>
          <a:prstGeom prst="rect">
            <a:avLst/>
          </a:prstGeom>
          <a:noFill/>
        </p:spPr>
        <p:txBody>
          <a:bodyPr wrap="square">
            <a:spAutoFit/>
          </a:bodyPr>
          <a:lstStyle/>
          <a:p>
            <a:pPr>
              <a:spcAft>
                <a:spcPts val="500"/>
              </a:spcAft>
            </a:pPr>
            <a:r>
              <a:rPr sz="1300" b="1">
                <a:solidFill>
                  <a:srgbClr val="E50046"/>
                </a:solidFill>
                <a:latin typeface="Nunito"/>
              </a:rPr>
              <a:t>p.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1. SYNTHÈSE</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L'essentiel en une page</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3</a:t>
            </a:r>
          </a:p>
        </p:txBody>
      </p:sp>
      <p:sp>
        <p:nvSpPr>
          <p:cNvPr id="8" name="Rounded Rectangle 7"/>
          <p:cNvSpPr/>
          <p:nvPr/>
        </p:nvSpPr>
        <p:spPr>
          <a:xfrm>
            <a:off x="600000" y="1400000"/>
            <a:ext cx="5400000" cy="235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0000" y="1460000"/>
            <a:ext cx="80000" cy="223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000" y="1510000"/>
            <a:ext cx="5050000" cy="420000"/>
          </a:xfrm>
          <a:prstGeom prst="rect">
            <a:avLst/>
          </a:prstGeom>
          <a:noFill/>
        </p:spPr>
        <p:txBody>
          <a:bodyPr wrap="square">
            <a:spAutoFit/>
          </a:bodyPr>
          <a:lstStyle/>
          <a:p>
            <a:pPr>
              <a:spcAft>
                <a:spcPts val="500"/>
              </a:spcAft>
            </a:pPr>
            <a:r>
              <a:rPr sz="1500" b="1">
                <a:solidFill>
                  <a:srgbClr val="E50046"/>
                </a:solidFill>
                <a:latin typeface="Baloo 2"/>
              </a:rPr>
              <a:t>Ce qui marche</a:t>
            </a:r>
          </a:p>
        </p:txBody>
      </p:sp>
      <p:sp>
        <p:nvSpPr>
          <p:cNvPr id="11" name="TextBox 10"/>
          <p:cNvSpPr txBox="1"/>
          <p:nvPr/>
        </p:nvSpPr>
        <p:spPr>
          <a:xfrm>
            <a:off x="830000" y="1940000"/>
            <a:ext cx="5050000" cy="1730000"/>
          </a:xfrm>
          <a:prstGeom prst="rect">
            <a:avLst/>
          </a:prstGeom>
          <a:noFill/>
        </p:spPr>
        <p:txBody>
          <a:bodyPr wrap="square">
            <a:spAutoFit/>
          </a:bodyPr>
          <a:lstStyle/>
          <a:p>
            <a:pPr>
              <a:spcAft>
                <a:spcPts val="500"/>
              </a:spcAft>
            </a:pPr>
            <a:r>
              <a:rPr sz="1300" b="0">
                <a:solidFill>
                  <a:srgbClr val="2B1B22"/>
                </a:solidFill>
                <a:latin typeface="Nunito"/>
              </a:rPr>
              <a:t>Les jeux. Les trois quiz de la rentrée ont dépassé 1 700 interactions chacun, soit plus de 60 fois une publication ordinaire (27).</a:t>
            </a:r>
          </a:p>
          <a:p>
            <a:pPr>
              <a:spcAft>
                <a:spcPts val="500"/>
              </a:spcAft>
            </a:pPr>
            <a:r>
              <a:rPr sz="1300" b="0">
                <a:solidFill>
                  <a:srgbClr val="2B1B22"/>
                </a:solidFill>
                <a:latin typeface="Nunito"/>
              </a:rPr>
              <a:t>La page Unifood publie régulièrement : 2,5 fois par semaine depuis fin juillet.</a:t>
            </a:r>
          </a:p>
        </p:txBody>
      </p:sp>
      <p:sp>
        <p:nvSpPr>
          <p:cNvPr id="12" name="Rounded Rectangle 11"/>
          <p:cNvSpPr/>
          <p:nvPr/>
        </p:nvSpPr>
        <p:spPr>
          <a:xfrm>
            <a:off x="6200000" y="1400000"/>
            <a:ext cx="5400000" cy="235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0000" y="1460000"/>
            <a:ext cx="80000" cy="22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0000" y="1510000"/>
            <a:ext cx="5050000" cy="420000"/>
          </a:xfrm>
          <a:prstGeom prst="rect">
            <a:avLst/>
          </a:prstGeom>
          <a:noFill/>
        </p:spPr>
        <p:txBody>
          <a:bodyPr wrap="square">
            <a:spAutoFit/>
          </a:bodyPr>
          <a:lstStyle/>
          <a:p>
            <a:pPr>
              <a:spcAft>
                <a:spcPts val="500"/>
              </a:spcAft>
            </a:pPr>
            <a:r>
              <a:rPr sz="1500" b="1">
                <a:solidFill>
                  <a:srgbClr val="2B1B22"/>
                </a:solidFill>
                <a:latin typeface="Baloo 2"/>
              </a:rPr>
              <a:t>Ce qui coince</a:t>
            </a:r>
          </a:p>
        </p:txBody>
      </p:sp>
      <p:sp>
        <p:nvSpPr>
          <p:cNvPr id="15" name="TextBox 14"/>
          <p:cNvSpPr txBox="1"/>
          <p:nvPr/>
        </p:nvSpPr>
        <p:spPr>
          <a:xfrm>
            <a:off x="6430000" y="1940000"/>
            <a:ext cx="5050000" cy="1730000"/>
          </a:xfrm>
          <a:prstGeom prst="rect">
            <a:avLst/>
          </a:prstGeom>
          <a:noFill/>
        </p:spPr>
        <p:txBody>
          <a:bodyPr wrap="square">
            <a:spAutoFit/>
          </a:bodyPr>
          <a:lstStyle/>
          <a:p>
            <a:pPr>
              <a:spcAft>
                <a:spcPts val="500"/>
              </a:spcAft>
            </a:pPr>
            <a:r>
              <a:rPr sz="1300" b="0">
                <a:solidFill>
                  <a:srgbClr val="2B1B22"/>
                </a:solidFill>
                <a:latin typeface="Nunito"/>
              </a:rPr>
              <a:t>Nos marques sont absentes : Super Mint, Super Gnamakou, Coupe du Monde et Sossa ne sont citées dans aucune des 30 dernières publications.</a:t>
            </a:r>
          </a:p>
          <a:p>
            <a:pPr>
              <a:spcAft>
                <a:spcPts val="500"/>
              </a:spcAft>
            </a:pPr>
            <a:r>
              <a:rPr sz="1300" b="0">
                <a:solidFill>
                  <a:srgbClr val="2B1B22"/>
                </a:solidFill>
                <a:latin typeface="Nunito"/>
              </a:rPr>
              <a:t>Aucune vidéo, pas de TikTok, un Instagram arrêté depuis 2021 et une page Rio Pop en sommeil.</a:t>
            </a:r>
          </a:p>
        </p:txBody>
      </p:sp>
      <p:sp>
        <p:nvSpPr>
          <p:cNvPr id="16" name="Rounded Rectangle 15"/>
          <p:cNvSpPr/>
          <p:nvPr/>
        </p:nvSpPr>
        <p:spPr>
          <a:xfrm>
            <a:off x="600000" y="3950000"/>
            <a:ext cx="11000000" cy="215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0000" y="4010000"/>
            <a:ext cx="80000" cy="203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000" y="4060000"/>
            <a:ext cx="10650000" cy="420000"/>
          </a:xfrm>
          <a:prstGeom prst="rect">
            <a:avLst/>
          </a:prstGeom>
          <a:noFill/>
        </p:spPr>
        <p:txBody>
          <a:bodyPr wrap="square">
            <a:spAutoFit/>
          </a:bodyPr>
          <a:lstStyle/>
          <a:p>
            <a:pPr>
              <a:spcAft>
                <a:spcPts val="500"/>
              </a:spcAft>
            </a:pPr>
            <a:r>
              <a:rPr sz="1500" b="1">
                <a:solidFill>
                  <a:srgbClr val="E50046"/>
                </a:solidFill>
                <a:latin typeface="Baloo 2"/>
              </a:rPr>
              <a:t>Les trois décisions à prendre</a:t>
            </a:r>
          </a:p>
        </p:txBody>
      </p:sp>
      <p:sp>
        <p:nvSpPr>
          <p:cNvPr id="19" name="TextBox 18"/>
          <p:cNvSpPr txBox="1"/>
          <p:nvPr/>
        </p:nvSpPr>
        <p:spPr>
          <a:xfrm>
            <a:off x="830000" y="4490000"/>
            <a:ext cx="10650000" cy="1530000"/>
          </a:xfrm>
          <a:prstGeom prst="rect">
            <a:avLst/>
          </a:prstGeom>
          <a:noFill/>
        </p:spPr>
        <p:txBody>
          <a:bodyPr wrap="square">
            <a:spAutoFit/>
          </a:bodyPr>
          <a:lstStyle/>
          <a:p>
            <a:pPr>
              <a:spcAft>
                <a:spcPts val="500"/>
              </a:spcAft>
            </a:pPr>
            <a:r>
              <a:rPr sz="1300" b="0">
                <a:solidFill>
                  <a:srgbClr val="2B1B22"/>
                </a:solidFill>
                <a:latin typeface="Nunito"/>
              </a:rPr>
              <a:t>1. </a:t>
            </a:r>
            <a:r>
              <a:rPr sz="1300" b="1">
                <a:solidFill>
                  <a:srgbClr val="2B1B22"/>
                </a:solidFill>
                <a:latin typeface="Nunito"/>
              </a:rPr>
              <a:t>Une seule page Facebook</a:t>
            </a:r>
            <a:r>
              <a:rPr sz="1300" b="0">
                <a:solidFill>
                  <a:srgbClr val="2B1B22"/>
                </a:solidFill>
                <a:latin typeface="Nunito"/>
              </a:rPr>
              <a:t> qui fait vivre chaque marque à tour de rôle, avec le jeu comme rendez-vous hebdomadaire.</a:t>
            </a:r>
          </a:p>
          <a:p>
            <a:pPr>
              <a:spcAft>
                <a:spcPts val="500"/>
              </a:spcAft>
            </a:pPr>
            <a:r>
              <a:rPr sz="1300" b="0">
                <a:solidFill>
                  <a:srgbClr val="2B1B22"/>
                </a:solidFill>
                <a:latin typeface="Nunito"/>
              </a:rPr>
              <a:t>2. </a:t>
            </a:r>
            <a:r>
              <a:rPr sz="1300" b="1">
                <a:solidFill>
                  <a:srgbClr val="2B1B22"/>
                </a:solidFill>
                <a:latin typeface="Nunito"/>
              </a:rPr>
              <a:t>Passer à la vidéo courte</a:t>
            </a:r>
            <a:r>
              <a:rPr sz="1300" b="0">
                <a:solidFill>
                  <a:srgbClr val="2B1B22"/>
                </a:solidFill>
                <a:latin typeface="Nunito"/>
              </a:rPr>
              <a:t> et ouvrir TikTok, comme Chocolatine, avec un ton d'Abidjan.</a:t>
            </a:r>
          </a:p>
          <a:p>
            <a:pPr>
              <a:spcAft>
                <a:spcPts val="500"/>
              </a:spcAft>
            </a:pPr>
            <a:r>
              <a:rPr sz="1300" b="0">
                <a:solidFill>
                  <a:srgbClr val="2B1B22"/>
                </a:solidFill>
                <a:latin typeface="Nunito"/>
              </a:rPr>
              <a:t>3. </a:t>
            </a:r>
            <a:r>
              <a:rPr sz="1300" b="1">
                <a:solidFill>
                  <a:srgbClr val="2B1B22"/>
                </a:solidFill>
                <a:latin typeface="Nunito"/>
              </a:rPr>
              <a:t>S'accrocher aux temps forts</a:t>
            </a:r>
            <a:r>
              <a:rPr sz="1300" b="0">
                <a:solidFill>
                  <a:srgbClr val="2B1B22"/>
                </a:solidFill>
                <a:latin typeface="Nunito"/>
              </a:rPr>
              <a:t> (matchs des Éléphants, rentrée, fêtes), comme Carré d'Or, dont les pronostics font 380 à 520 commentaires.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58000"/>
            <a:ext cx="12192000" cy="30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000000"/>
            <a:ext cx="3000000" cy="1400000"/>
          </a:xfrm>
          <a:prstGeom prst="rect">
            <a:avLst/>
          </a:prstGeom>
          <a:noFill/>
        </p:spPr>
        <p:txBody>
          <a:bodyPr wrap="square">
            <a:spAutoFit/>
          </a:bodyPr>
          <a:lstStyle/>
          <a:p>
            <a:pPr>
              <a:spcAft>
                <a:spcPts val="500"/>
              </a:spcAft>
            </a:pPr>
            <a:r>
              <a:rPr sz="8000" b="1">
                <a:solidFill>
                  <a:srgbClr val="FFFFFF"/>
                </a:solidFill>
                <a:latin typeface="Baloo 2"/>
              </a:rPr>
              <a:t>2</a:t>
            </a:r>
          </a:p>
        </p:txBody>
      </p:sp>
      <p:sp>
        <p:nvSpPr>
          <p:cNvPr id="5" name="TextBox 4"/>
          <p:cNvSpPr txBox="1"/>
          <p:nvPr/>
        </p:nvSpPr>
        <p:spPr>
          <a:xfrm>
            <a:off x="900000" y="3500000"/>
            <a:ext cx="10000000" cy="900000"/>
          </a:xfrm>
          <a:prstGeom prst="rect">
            <a:avLst/>
          </a:prstGeom>
          <a:noFill/>
        </p:spPr>
        <p:txBody>
          <a:bodyPr wrap="square">
            <a:spAutoFit/>
          </a:bodyPr>
          <a:lstStyle/>
          <a:p>
            <a:pPr>
              <a:spcAft>
                <a:spcPts val="500"/>
              </a:spcAft>
            </a:pPr>
            <a:r>
              <a:rPr sz="3600" b="1">
                <a:solidFill>
                  <a:srgbClr val="FFFFFF"/>
                </a:solidFill>
                <a:latin typeface="Baloo 2"/>
              </a:rPr>
              <a:t>Où en sont nos réseaux</a:t>
            </a:r>
          </a:p>
        </p:txBody>
      </p:sp>
      <p:sp>
        <p:nvSpPr>
          <p:cNvPr id="6" name="TextBox 5"/>
          <p:cNvSpPr txBox="1"/>
          <p:nvPr/>
        </p:nvSpPr>
        <p:spPr>
          <a:xfrm>
            <a:off x="900000" y="4400000"/>
            <a:ext cx="10000000" cy="800000"/>
          </a:xfrm>
          <a:prstGeom prst="rect">
            <a:avLst/>
          </a:prstGeom>
          <a:noFill/>
        </p:spPr>
        <p:txBody>
          <a:bodyPr wrap="square">
            <a:spAutoFit/>
          </a:bodyPr>
          <a:lstStyle/>
          <a:p>
            <a:pPr>
              <a:spcAft>
                <a:spcPts val="500"/>
              </a:spcAft>
            </a:pPr>
            <a:r>
              <a:rPr sz="1600" b="0">
                <a:solidFill>
                  <a:srgbClr val="FFFFFF"/>
                </a:solidFill>
                <a:latin typeface="Nunito"/>
              </a:rPr>
              <a:t>Inventaire, page Unifood, ce qui marche, ce qui coince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2. NOS COMPTES</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Inventaire : une page active, le reste à l'arrêt</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5</a:t>
            </a:r>
          </a:p>
        </p:txBody>
      </p:sp>
      <p:graphicFrame>
        <p:nvGraphicFramePr>
          <p:cNvPr id="8" name="Table 7"/>
          <p:cNvGraphicFramePr>
            <a:graphicFrameLocks noGrp="1"/>
          </p:cNvGraphicFramePr>
          <p:nvPr/>
        </p:nvGraphicFramePr>
        <p:xfrm>
          <a:off x="600000" y="1450000"/>
          <a:ext cx="11300000" cy="3290000"/>
        </p:xfrm>
        <a:graphic>
          <a:graphicData uri="http://schemas.openxmlformats.org/drawingml/2006/table">
            <a:tbl>
              <a:tblPr firstRow="1" bandRow="1">
                <a:tableStyleId>{5C22544A-7EE6-4342-B048-85BDC9FD1C3A}</a:tableStyleId>
              </a:tblPr>
              <a:tblGrid>
                <a:gridCol w="3900000"/>
                <a:gridCol w="1300000"/>
                <a:gridCol w="1900000"/>
                <a:gridCol w="2300000"/>
                <a:gridCol w="1900000"/>
              </a:tblGrid>
              <a:tr h="470000">
                <a:tc>
                  <a:txBody>
                    <a:bodyPr/>
                    <a:lstStyle/>
                    <a:p>
                      <a:r>
                        <a:rPr sz="1200" b="1">
                          <a:solidFill>
                            <a:srgbClr val="FFFFFF"/>
                          </a:solidFill>
                          <a:latin typeface="Nunito"/>
                        </a:rPr>
                        <a:t>Compte</a:t>
                      </a:r>
                    </a:p>
                  </a:txBody>
                  <a:tcPr marL="70000" marR="70000" marT="35000" marB="35000">
                    <a:solidFill>
                      <a:srgbClr val="E50046"/>
                    </a:solidFill>
                  </a:tcPr>
                </a:tc>
                <a:tc>
                  <a:txBody>
                    <a:bodyPr/>
                    <a:lstStyle/>
                    <a:p>
                      <a:r>
                        <a:rPr sz="1200" b="1">
                          <a:solidFill>
                            <a:srgbClr val="FFFFFF"/>
                          </a:solidFill>
                          <a:latin typeface="Nunito"/>
                        </a:rPr>
                        <a:t>Abonnés</a:t>
                      </a:r>
                    </a:p>
                  </a:txBody>
                  <a:tcPr marL="70000" marR="70000" marT="35000" marB="35000">
                    <a:solidFill>
                      <a:srgbClr val="E50046"/>
                    </a:solidFill>
                  </a:tcPr>
                </a:tc>
                <a:tc>
                  <a:txBody>
                    <a:bodyPr/>
                    <a:lstStyle/>
                    <a:p>
                      <a:r>
                        <a:rPr sz="1200" b="1">
                          <a:solidFill>
                            <a:srgbClr val="FFFFFF"/>
                          </a:solidFill>
                          <a:latin typeface="Nunito"/>
                        </a:rPr>
                        <a:t>Dernière publication</a:t>
                      </a:r>
                    </a:p>
                  </a:txBody>
                  <a:tcPr marL="70000" marR="70000" marT="35000" marB="35000">
                    <a:solidFill>
                      <a:srgbClr val="E50046"/>
                    </a:solidFill>
                  </a:tcPr>
                </a:tc>
                <a:tc>
                  <a:txBody>
                    <a:bodyPr/>
                    <a:lstStyle/>
                    <a:p>
                      <a:r>
                        <a:rPr sz="1200" b="1">
                          <a:solidFill>
                            <a:srgbClr val="FFFFFF"/>
                          </a:solidFill>
                          <a:latin typeface="Nunito"/>
                        </a:rPr>
                        <a:t>Rythme relevé</a:t>
                      </a:r>
                    </a:p>
                  </a:txBody>
                  <a:tcPr marL="70000" marR="70000" marT="35000" marB="35000">
                    <a:solidFill>
                      <a:srgbClr val="E50046"/>
                    </a:solidFill>
                  </a:tcPr>
                </a:tc>
                <a:tc>
                  <a:txBody>
                    <a:bodyPr/>
                    <a:lstStyle/>
                    <a:p>
                      <a:r>
                        <a:rPr sz="1200" b="1">
                          <a:solidFill>
                            <a:srgbClr val="FFFFFF"/>
                          </a:solidFill>
                          <a:latin typeface="Nunito"/>
                        </a:rPr>
                        <a:t>État</a:t>
                      </a:r>
                    </a:p>
                  </a:txBody>
                  <a:tcPr marL="70000" marR="70000" marT="35000" marB="35000">
                    <a:solidFill>
                      <a:srgbClr val="E50046"/>
                    </a:solidFill>
                  </a:tcPr>
                </a:tc>
              </a:tr>
              <a:tr h="470000">
                <a:tc>
                  <a:txBody>
                    <a:bodyPr/>
                    <a:lstStyle/>
                    <a:p>
                      <a:r>
                        <a:rPr sz="1200" b="1">
                          <a:solidFill>
                            <a:srgbClr val="2B1B22"/>
                          </a:solidFill>
                          <a:latin typeface="Nunito"/>
                        </a:rPr>
                        <a:t>Facebook Unifood (Unifoodofficiel)</a:t>
                      </a:r>
                    </a:p>
                  </a:txBody>
                  <a:tcPr marL="70000" marR="70000" marT="35000" marB="35000">
                    <a:solidFill>
                      <a:srgbClr val="FFFFFF"/>
                    </a:solidFill>
                  </a:tcPr>
                </a:tc>
                <a:tc>
                  <a:txBody>
                    <a:bodyPr/>
                    <a:lstStyle/>
                    <a:p>
                      <a:r>
                        <a:rPr sz="1200" b="0">
                          <a:solidFill>
                            <a:srgbClr val="2B1B22"/>
                          </a:solidFill>
                          <a:latin typeface="Nunito"/>
                        </a:rPr>
                        <a:t>12 655</a:t>
                      </a:r>
                    </a:p>
                  </a:txBody>
                  <a:tcPr marL="70000" marR="70000" marT="35000" marB="35000">
                    <a:solidFill>
                      <a:srgbClr val="FFFFFF"/>
                    </a:solidFill>
                  </a:tcPr>
                </a:tc>
                <a:tc>
                  <a:txBody>
                    <a:bodyPr/>
                    <a:lstStyle/>
                    <a:p>
                      <a:r>
                        <a:rPr sz="1200" b="0">
                          <a:solidFill>
                            <a:srgbClr val="2B1B22"/>
                          </a:solidFill>
                          <a:latin typeface="Nunito"/>
                        </a:rPr>
                        <a:t>19 oct. 2026</a:t>
                      </a:r>
                    </a:p>
                  </a:txBody>
                  <a:tcPr marL="70000" marR="70000" marT="35000" marB="35000">
                    <a:solidFill>
                      <a:srgbClr val="FFFFFF"/>
                    </a:solidFill>
                  </a:tcPr>
                </a:tc>
                <a:tc>
                  <a:txBody>
                    <a:bodyPr/>
                    <a:lstStyle/>
                    <a:p>
                      <a:r>
                        <a:rPr sz="1200" b="0">
                          <a:solidFill>
                            <a:srgbClr val="2B1B22"/>
                          </a:solidFill>
                          <a:latin typeface="Nunito"/>
                        </a:rPr>
                        <a:t>2,5 par semaine</a:t>
                      </a:r>
                    </a:p>
                  </a:txBody>
                  <a:tcPr marL="70000" marR="70000" marT="35000" marB="35000">
                    <a:solidFill>
                      <a:srgbClr val="FFFFFF"/>
                    </a:solidFill>
                  </a:tcPr>
                </a:tc>
                <a:tc>
                  <a:txBody>
                    <a:bodyPr/>
                    <a:lstStyle/>
                    <a:p>
                      <a:r>
                        <a:rPr sz="1200" b="0">
                          <a:solidFill>
                            <a:srgbClr val="2B1B22"/>
                          </a:solidFill>
                          <a:latin typeface="Nunito"/>
                        </a:rPr>
                        <a:t>Actif</a:t>
                      </a:r>
                    </a:p>
                  </a:txBody>
                  <a:tcPr marL="70000" marR="70000" marT="35000" marB="35000">
                    <a:solidFill>
                      <a:srgbClr val="FFFFFF"/>
                    </a:solidFill>
                  </a:tcPr>
                </a:tc>
              </a:tr>
              <a:tr h="470000">
                <a:tc>
                  <a:txBody>
                    <a:bodyPr/>
                    <a:lstStyle/>
                    <a:p>
                      <a:r>
                        <a:rPr sz="1200" b="1">
                          <a:solidFill>
                            <a:srgbClr val="2B1B22"/>
                          </a:solidFill>
                          <a:latin typeface="Nunito"/>
                        </a:rPr>
                        <a:t>Facebook Rio Pop (RioPop225)</a:t>
                      </a:r>
                    </a:p>
                  </a:txBody>
                  <a:tcPr marL="70000" marR="70000" marT="35000" marB="35000">
                    <a:solidFill>
                      <a:srgbClr val="FDF0F4"/>
                    </a:solidFill>
                  </a:tcPr>
                </a:tc>
                <a:tc>
                  <a:txBody>
                    <a:bodyPr/>
                    <a:lstStyle/>
                    <a:p>
                      <a:r>
                        <a:rPr sz="1200" b="0">
                          <a:solidFill>
                            <a:srgbClr val="2B1B22"/>
                          </a:solidFill>
                          <a:latin typeface="Nunito"/>
                        </a:rPr>
                        <a:t>18 199</a:t>
                      </a:r>
                    </a:p>
                  </a:txBody>
                  <a:tcPr marL="70000" marR="70000" marT="35000" marB="35000">
                    <a:solidFill>
                      <a:srgbClr val="FDF0F4"/>
                    </a:solidFill>
                  </a:tcPr>
                </a:tc>
                <a:tc>
                  <a:txBody>
                    <a:bodyPr/>
                    <a:lstStyle/>
                    <a:p>
                      <a:r>
                        <a:rPr sz="1200" b="0">
                          <a:solidFill>
                            <a:srgbClr val="2B1B22"/>
                          </a:solidFill>
                          <a:latin typeface="Nunito"/>
                        </a:rPr>
                        <a:t>27 août 2026</a:t>
                      </a:r>
                    </a:p>
                  </a:txBody>
                  <a:tcPr marL="70000" marR="70000" marT="35000" marB="35000">
                    <a:solidFill>
                      <a:srgbClr val="FDF0F4"/>
                    </a:solidFill>
                  </a:tcPr>
                </a:tc>
                <a:tc>
                  <a:txBody>
                    <a:bodyPr/>
                    <a:lstStyle/>
                    <a:p>
                      <a:r>
                        <a:rPr sz="1200" b="0">
                          <a:solidFill>
                            <a:srgbClr val="2B1B22"/>
                          </a:solidFill>
                          <a:latin typeface="Nunito"/>
                        </a:rPr>
                        <a:t>30 publications en 20 mois</a:t>
                      </a:r>
                    </a:p>
                  </a:txBody>
                  <a:tcPr marL="70000" marR="70000" marT="35000" marB="35000">
                    <a:solidFill>
                      <a:srgbClr val="FDF0F4"/>
                    </a:solidFill>
                  </a:tcPr>
                </a:tc>
                <a:tc>
                  <a:txBody>
                    <a:bodyPr/>
                    <a:lstStyle/>
                    <a:p>
                      <a:r>
                        <a:rPr sz="1200" b="0">
                          <a:solidFill>
                            <a:srgbClr val="2B1B22"/>
                          </a:solidFill>
                          <a:latin typeface="Nunito"/>
                        </a:rPr>
                        <a:t>En sommeil</a:t>
                      </a:r>
                    </a:p>
                  </a:txBody>
                  <a:tcPr marL="70000" marR="70000" marT="35000" marB="35000">
                    <a:solidFill>
                      <a:srgbClr val="FDF0F4"/>
                    </a:solidFill>
                  </a:tcPr>
                </a:tc>
              </a:tr>
              <a:tr h="470000">
                <a:tc>
                  <a:txBody>
                    <a:bodyPr/>
                    <a:lstStyle/>
                    <a:p>
                      <a:r>
                        <a:rPr sz="1200" b="1">
                          <a:solidFill>
                            <a:srgbClr val="2B1B22"/>
                          </a:solidFill>
                          <a:latin typeface="Nunito"/>
                        </a:rPr>
                        <a:t>Instagram Rio Pop (@riopop_officiel)</a:t>
                      </a:r>
                    </a:p>
                  </a:txBody>
                  <a:tcPr marL="70000" marR="70000" marT="35000" marB="35000">
                    <a:solidFill>
                      <a:srgbClr val="FFFFFF"/>
                    </a:solidFill>
                  </a:tcPr>
                </a:tc>
                <a:tc>
                  <a:txBody>
                    <a:bodyPr/>
                    <a:lstStyle/>
                    <a:p>
                      <a:r>
                        <a:rPr sz="1200" b="0">
                          <a:solidFill>
                            <a:srgbClr val="2B1B22"/>
                          </a:solidFill>
                          <a:latin typeface="Nunito"/>
                        </a:rPr>
                        <a:t>881</a:t>
                      </a:r>
                    </a:p>
                  </a:txBody>
                  <a:tcPr marL="70000" marR="70000" marT="35000" marB="35000">
                    <a:solidFill>
                      <a:srgbClr val="FFFFFF"/>
                    </a:solidFill>
                  </a:tcPr>
                </a:tc>
                <a:tc>
                  <a:txBody>
                    <a:bodyPr/>
                    <a:lstStyle/>
                    <a:p>
                      <a:r>
                        <a:rPr sz="1200" b="0">
                          <a:solidFill>
                            <a:srgbClr val="2B1B22"/>
                          </a:solidFill>
                          <a:latin typeface="Nunito"/>
                        </a:rPr>
                        <a:t>9 sept. 2021</a:t>
                      </a:r>
                    </a:p>
                  </a:txBody>
                  <a:tcPr marL="70000" marR="70000" marT="35000" marB="35000">
                    <a:solidFill>
                      <a:srgbClr val="FFFFFF"/>
                    </a:solidFill>
                  </a:tcPr>
                </a:tc>
                <a:tc>
                  <a:txBody>
                    <a:bodyPr/>
                    <a:lstStyle/>
                    <a:p>
                      <a:r>
                        <a:rPr sz="1200" b="0">
                          <a:solidFill>
                            <a:srgbClr val="2B1B22"/>
                          </a:solidFill>
                          <a:latin typeface="Nunito"/>
                        </a:rPr>
                        <a:t>19 publications au total</a:t>
                      </a:r>
                    </a:p>
                  </a:txBody>
                  <a:tcPr marL="70000" marR="70000" marT="35000" marB="35000">
                    <a:solidFill>
                      <a:srgbClr val="FFFFFF"/>
                    </a:solidFill>
                  </a:tcPr>
                </a:tc>
                <a:tc>
                  <a:txBody>
                    <a:bodyPr/>
                    <a:lstStyle/>
                    <a:p>
                      <a:r>
                        <a:rPr sz="1200" b="0">
                          <a:solidFill>
                            <a:srgbClr val="2B1B22"/>
                          </a:solidFill>
                          <a:latin typeface="Nunito"/>
                        </a:rPr>
                        <a:t>Abandonné</a:t>
                      </a:r>
                    </a:p>
                  </a:txBody>
                  <a:tcPr marL="70000" marR="70000" marT="35000" marB="35000">
                    <a:solidFill>
                      <a:srgbClr val="FFFFFF"/>
                    </a:solidFill>
                  </a:tcPr>
                </a:tc>
              </a:tr>
              <a:tr h="470000">
                <a:tc>
                  <a:txBody>
                    <a:bodyPr/>
                    <a:lstStyle/>
                    <a:p>
                      <a:r>
                        <a:rPr sz="1200" b="1">
                          <a:solidFill>
                            <a:srgbClr val="2B1B22"/>
                          </a:solidFill>
                          <a:latin typeface="Nunito"/>
                        </a:rPr>
                        <a:t>Instagram @unifood_ci et @tomy_ci</a:t>
                      </a:r>
                    </a:p>
                  </a:txBody>
                  <a:tcPr marL="70000" marR="70000" marT="35000" marB="35000">
                    <a:solidFill>
                      <a:srgbClr val="FDF0F4"/>
                    </a:solidFill>
                  </a:tcPr>
                </a:tc>
                <a:tc>
                  <a:txBody>
                    <a:bodyPr/>
                    <a:lstStyle/>
                    <a:p>
                      <a:r>
                        <a:rPr sz="1200" b="0">
                          <a:solidFill>
                            <a:srgbClr val="2B1B22"/>
                          </a:solidFill>
                          <a:latin typeface="Nunito"/>
                        </a:rPr>
                        <a:t>65 et 19</a:t>
                      </a:r>
                    </a:p>
                  </a:txBody>
                  <a:tcPr marL="70000" marR="70000" marT="35000" marB="35000">
                    <a:solidFill>
                      <a:srgbClr val="FDF0F4"/>
                    </a:solidFill>
                  </a:tcPr>
                </a:tc>
                <a:tc>
                  <a:txBody>
                    <a:bodyPr/>
                    <a:lstStyle/>
                    <a:p>
                      <a:r>
                        <a:rPr sz="1200" b="0">
                          <a:solidFill>
                            <a:srgbClr val="2B1B22"/>
                          </a:solidFill>
                          <a:latin typeface="Nunito"/>
                        </a:rPr>
                        <a:t>aucune</a:t>
                      </a:r>
                    </a:p>
                  </a:txBody>
                  <a:tcPr marL="70000" marR="70000" marT="35000" marB="35000">
                    <a:solidFill>
                      <a:srgbClr val="FDF0F4"/>
                    </a:solidFill>
                  </a:tcPr>
                </a:tc>
                <a:tc>
                  <a:txBody>
                    <a:bodyPr/>
                    <a:lstStyle/>
                    <a:p>
                      <a:r>
                        <a:rPr sz="1200" b="0">
                          <a:solidFill>
                            <a:srgbClr val="2B1B22"/>
                          </a:solidFill>
                          <a:latin typeface="Nunito"/>
                        </a:rPr>
                        <a:t>0 publication</a:t>
                      </a:r>
                    </a:p>
                  </a:txBody>
                  <a:tcPr marL="70000" marR="70000" marT="35000" marB="35000">
                    <a:solidFill>
                      <a:srgbClr val="FDF0F4"/>
                    </a:solidFill>
                  </a:tcPr>
                </a:tc>
                <a:tc>
                  <a:txBody>
                    <a:bodyPr/>
                    <a:lstStyle/>
                    <a:p>
                      <a:r>
                        <a:rPr sz="1200" b="0">
                          <a:solidFill>
                            <a:srgbClr val="2B1B22"/>
                          </a:solidFill>
                          <a:latin typeface="Nunito"/>
                        </a:rPr>
                        <a:t>Non officiels ? à vérifier</a:t>
                      </a:r>
                    </a:p>
                  </a:txBody>
                  <a:tcPr marL="70000" marR="70000" marT="35000" marB="35000">
                    <a:solidFill>
                      <a:srgbClr val="FDF0F4"/>
                    </a:solidFill>
                  </a:tcPr>
                </a:tc>
              </a:tr>
              <a:tr h="470000">
                <a:tc>
                  <a:txBody>
                    <a:bodyPr/>
                    <a:lstStyle/>
                    <a:p>
                      <a:r>
                        <a:rPr sz="1200" b="1">
                          <a:solidFill>
                            <a:srgbClr val="2B1B22"/>
                          </a:solidFill>
                          <a:latin typeface="Nunito"/>
                        </a:rPr>
                        <a:t>TikTok, LinkedIn, YouTube</a:t>
                      </a:r>
                    </a:p>
                  </a:txBody>
                  <a:tcPr marL="70000" marR="70000" marT="35000" marB="35000">
                    <a:solidFill>
                      <a:srgbClr val="FFFFFF"/>
                    </a:solidFill>
                  </a:tcPr>
                </a:tc>
                <a:tc>
                  <a:txBody>
                    <a:bodyPr/>
                    <a:lstStyle/>
                    <a:p>
                      <a:r>
                        <a:rPr sz="1200" b="0">
                          <a:solidFill>
                            <a:srgbClr val="2B1B22"/>
                          </a:solidFill>
                          <a:latin typeface="Nunito"/>
                        </a:rPr>
                        <a:t/>
                      </a:r>
                    </a:p>
                  </a:txBody>
                  <a:tcPr marL="70000" marR="70000" marT="35000" marB="35000">
                    <a:solidFill>
                      <a:srgbClr val="FFFFFF"/>
                    </a:solidFill>
                  </a:tcPr>
                </a:tc>
                <a:tc>
                  <a:txBody>
                    <a:bodyPr/>
                    <a:lstStyle/>
                    <a:p>
                      <a:r>
                        <a:rPr sz="1200" b="0">
                          <a:solidFill>
                            <a:srgbClr val="2B1B22"/>
                          </a:solidFill>
                          <a:latin typeface="Nunito"/>
                        </a:rPr>
                        <a:t/>
                      </a:r>
                    </a:p>
                  </a:txBody>
                  <a:tcPr marL="70000" marR="70000" marT="35000" marB="35000">
                    <a:solidFill>
                      <a:srgbClr val="FFFFFF"/>
                    </a:solidFill>
                  </a:tcPr>
                </a:tc>
                <a:tc>
                  <a:txBody>
                    <a:bodyPr/>
                    <a:lstStyle/>
                    <a:p>
                      <a:r>
                        <a:rPr sz="1200" b="0">
                          <a:solidFill>
                            <a:srgbClr val="2B1B22"/>
                          </a:solidFill>
                          <a:latin typeface="Nunito"/>
                        </a:rPr>
                        <a:t/>
                      </a:r>
                    </a:p>
                  </a:txBody>
                  <a:tcPr marL="70000" marR="70000" marT="35000" marB="35000">
                    <a:solidFill>
                      <a:srgbClr val="FFFFFF"/>
                    </a:solidFill>
                  </a:tcPr>
                </a:tc>
                <a:tc>
                  <a:txBody>
                    <a:bodyPr/>
                    <a:lstStyle/>
                    <a:p>
                      <a:r>
                        <a:rPr sz="1200" b="0">
                          <a:solidFill>
                            <a:srgbClr val="2B1B22"/>
                          </a:solidFill>
                          <a:latin typeface="Nunito"/>
                        </a:rPr>
                        <a:t>Aucun compte trouvé</a:t>
                      </a:r>
                    </a:p>
                  </a:txBody>
                  <a:tcPr marL="70000" marR="70000" marT="35000" marB="35000">
                    <a:solidFill>
                      <a:srgbClr val="FFFFFF"/>
                    </a:solidFill>
                  </a:tcPr>
                </a:tc>
              </a:tr>
              <a:tr h="470000">
                <a:tc>
                  <a:txBody>
                    <a:bodyPr/>
                    <a:lstStyle/>
                    <a:p>
                      <a:r>
                        <a:rPr sz="1200" b="1">
                          <a:solidFill>
                            <a:srgbClr val="2B1B22"/>
                          </a:solidFill>
                          <a:latin typeface="Nunito"/>
                        </a:rPr>
                        <a:t>Pages Super Mint, Gnamakou, Coupe du Monde, Sossa</a:t>
                      </a:r>
                    </a:p>
                  </a:txBody>
                  <a:tcPr marL="70000" marR="70000" marT="35000" marB="35000">
                    <a:solidFill>
                      <a:srgbClr val="FDF0F4"/>
                    </a:solidFill>
                  </a:tcPr>
                </a:tc>
                <a:tc>
                  <a:txBody>
                    <a:bodyPr/>
                    <a:lstStyle/>
                    <a:p>
                      <a:r>
                        <a:rPr sz="1200" b="0">
                          <a:solidFill>
                            <a:srgbClr val="2B1B22"/>
                          </a:solidFill>
                          <a:latin typeface="Nunito"/>
                        </a:rPr>
                        <a:t/>
                      </a:r>
                    </a:p>
                  </a:txBody>
                  <a:tcPr marL="70000" marR="70000" marT="35000" marB="35000">
                    <a:solidFill>
                      <a:srgbClr val="FDF0F4"/>
                    </a:solidFill>
                  </a:tcPr>
                </a:tc>
                <a:tc>
                  <a:txBody>
                    <a:bodyPr/>
                    <a:lstStyle/>
                    <a:p>
                      <a:r>
                        <a:rPr sz="1200" b="0">
                          <a:solidFill>
                            <a:srgbClr val="2B1B22"/>
                          </a:solidFill>
                          <a:latin typeface="Nunito"/>
                        </a:rPr>
                        <a:t/>
                      </a:r>
                    </a:p>
                  </a:txBody>
                  <a:tcPr marL="70000" marR="70000" marT="35000" marB="35000">
                    <a:solidFill>
                      <a:srgbClr val="FDF0F4"/>
                    </a:solidFill>
                  </a:tcPr>
                </a:tc>
                <a:tc>
                  <a:txBody>
                    <a:bodyPr/>
                    <a:lstStyle/>
                    <a:p>
                      <a:r>
                        <a:rPr sz="1200" b="0">
                          <a:solidFill>
                            <a:srgbClr val="2B1B22"/>
                          </a:solidFill>
                          <a:latin typeface="Nunito"/>
                        </a:rPr>
                        <a:t/>
                      </a:r>
                    </a:p>
                  </a:txBody>
                  <a:tcPr marL="70000" marR="70000" marT="35000" marB="35000">
                    <a:solidFill>
                      <a:srgbClr val="FDF0F4"/>
                    </a:solidFill>
                  </a:tcPr>
                </a:tc>
                <a:tc>
                  <a:txBody>
                    <a:bodyPr/>
                    <a:lstStyle/>
                    <a:p>
                      <a:r>
                        <a:rPr sz="1200" b="0">
                          <a:solidFill>
                            <a:srgbClr val="2B1B22"/>
                          </a:solidFill>
                          <a:latin typeface="Nunito"/>
                        </a:rPr>
                        <a:t>Aucune page de marque</a:t>
                      </a:r>
                    </a:p>
                  </a:txBody>
                  <a:tcPr marL="70000" marR="70000" marT="35000" marB="35000">
                    <a:solidFill>
                      <a:srgbClr val="FDF0F4"/>
                    </a:solidFill>
                  </a:tcPr>
                </a:tc>
              </a:tr>
            </a:tbl>
          </a:graphicData>
        </a:graphic>
      </p:graphicFrame>
      <p:sp>
        <p:nvSpPr>
          <p:cNvPr id="9" name="TextBox 8"/>
          <p:cNvSpPr txBox="1"/>
          <p:nvPr/>
        </p:nvSpPr>
        <p:spPr>
          <a:xfrm>
            <a:off x="600000" y="4900000"/>
            <a:ext cx="11000000" cy="1100000"/>
          </a:xfrm>
          <a:prstGeom prst="rect">
            <a:avLst/>
          </a:prstGeom>
          <a:noFill/>
        </p:spPr>
        <p:txBody>
          <a:bodyPr wrap="square">
            <a:spAutoFit/>
          </a:bodyPr>
          <a:lstStyle/>
          <a:p>
            <a:pPr>
              <a:spcAft>
                <a:spcPts val="500"/>
              </a:spcAft>
            </a:pPr>
            <a:r>
              <a:rPr sz="1300" b="1">
                <a:solidFill>
                  <a:srgbClr val="2B1B22"/>
                </a:solidFill>
                <a:latin typeface="Nunito"/>
              </a:rPr>
              <a:t>Lecture.</a:t>
            </a:r>
            <a:r>
              <a:rPr sz="1300" b="0">
                <a:solidFill>
                  <a:srgbClr val="2B1B22"/>
                </a:solidFill>
                <a:latin typeface="Nunito"/>
              </a:rPr>
              <a:t> Toute la présence repose sur une page Facebook de 12 655 abonnés. La page Rio Pop a 18 199 abonnés, plus que la page Unifood, mais elle ne publie plus que quelques fois par an. Les quatre dernières publications de Rio Pop ont d'ailleurs été faites depuis la page Unifood.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2. FACEBOOK UNIFOOD</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La page Unifood : régulière, mais peu de réactions en temps normal</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6</a:t>
            </a:r>
          </a:p>
        </p:txBody>
      </p:sp>
      <p:pic>
        <p:nvPicPr>
          <p:cNvPr id="8" name="Picture 7" descr="c_dist.png"/>
          <p:cNvPicPr>
            <a:picLocks noChangeAspect="1"/>
          </p:cNvPicPr>
          <p:nvPr/>
        </p:nvPicPr>
        <p:blipFill>
          <a:blip r:embed="rId3"/>
          <a:stretch>
            <a:fillRect/>
          </a:stretch>
        </p:blipFill>
        <p:spPr>
          <a:xfrm>
            <a:off x="500000" y="1400000"/>
            <a:ext cx="6300000" cy="3340909"/>
          </a:xfrm>
          <a:prstGeom prst="rect">
            <a:avLst/>
          </a:prstGeom>
        </p:spPr>
      </p:pic>
      <p:sp>
        <p:nvSpPr>
          <p:cNvPr id="9" name="Rounded Rectangle 8"/>
          <p:cNvSpPr/>
          <p:nvPr/>
        </p:nvSpPr>
        <p:spPr>
          <a:xfrm>
            <a:off x="7050000" y="1400000"/>
            <a:ext cx="4550000" cy="46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50000" y="1460000"/>
            <a:ext cx="80000" cy="44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80000" y="1510000"/>
            <a:ext cx="4200000" cy="420000"/>
          </a:xfrm>
          <a:prstGeom prst="rect">
            <a:avLst/>
          </a:prstGeom>
          <a:noFill/>
        </p:spPr>
        <p:txBody>
          <a:bodyPr wrap="square">
            <a:spAutoFit/>
          </a:bodyPr>
          <a:lstStyle/>
          <a:p>
            <a:pPr>
              <a:spcAft>
                <a:spcPts val="500"/>
              </a:spcAft>
            </a:pPr>
            <a:r>
              <a:rPr sz="1500" b="1">
                <a:solidFill>
                  <a:srgbClr val="E50046"/>
                </a:solidFill>
                <a:latin typeface="Baloo 2"/>
              </a:rPr>
              <a:t>Les chiffres</a:t>
            </a:r>
          </a:p>
        </p:txBody>
      </p:sp>
      <p:sp>
        <p:nvSpPr>
          <p:cNvPr id="12" name="TextBox 11"/>
          <p:cNvSpPr txBox="1"/>
          <p:nvPr/>
        </p:nvSpPr>
        <p:spPr>
          <a:xfrm>
            <a:off x="7280000" y="1940000"/>
            <a:ext cx="4200000" cy="3980000"/>
          </a:xfrm>
          <a:prstGeom prst="rect">
            <a:avLst/>
          </a:prstGeom>
          <a:noFill/>
        </p:spPr>
        <p:txBody>
          <a:bodyPr wrap="square">
            <a:spAutoFit/>
          </a:bodyPr>
          <a:lstStyle/>
          <a:p>
            <a:pPr>
              <a:spcAft>
                <a:spcPts val="500"/>
              </a:spcAft>
            </a:pPr>
            <a:r>
              <a:rPr sz="1300" b="1">
                <a:solidFill>
                  <a:srgbClr val="2B1B22"/>
                </a:solidFill>
                <a:latin typeface="Nunito"/>
              </a:rPr>
              <a:t>12 655</a:t>
            </a:r>
            <a:r>
              <a:rPr sz="1300" b="0">
                <a:solidFill>
                  <a:srgbClr val="2B1B22"/>
                </a:solidFill>
                <a:latin typeface="Nunito"/>
              </a:rPr>
              <a:t> abonnés</a:t>
            </a:r>
          </a:p>
          <a:p>
            <a:pPr>
              <a:spcAft>
                <a:spcPts val="500"/>
              </a:spcAft>
            </a:pPr>
            <a:r>
              <a:rPr sz="1300" b="1">
                <a:solidFill>
                  <a:srgbClr val="2B1B22"/>
                </a:solidFill>
                <a:latin typeface="Nunito"/>
              </a:rPr>
              <a:t>2,5</a:t>
            </a:r>
            <a:r>
              <a:rPr sz="1300" b="0">
                <a:solidFill>
                  <a:srgbClr val="2B1B22"/>
                </a:solidFill>
                <a:latin typeface="Nunito"/>
              </a:rPr>
              <a:t> publications par semaine</a:t>
            </a:r>
          </a:p>
          <a:p>
            <a:pPr>
              <a:spcAft>
                <a:spcPts val="500"/>
              </a:spcAft>
            </a:pPr>
            <a:r>
              <a:rPr sz="1300" b="1">
                <a:solidFill>
                  <a:srgbClr val="2B1B22"/>
                </a:solidFill>
                <a:latin typeface="Nunito"/>
              </a:rPr>
              <a:t>27</a:t>
            </a:r>
            <a:r>
              <a:rPr sz="1300" b="0">
                <a:solidFill>
                  <a:srgbClr val="2B1B22"/>
                </a:solidFill>
                <a:latin typeface="Nunito"/>
              </a:rPr>
              <a:t> interactions médianes par publication, soit 0,21 % des abonnés</a:t>
            </a:r>
          </a:p>
          <a:p>
            <a:pPr>
              <a:spcAft>
                <a:spcPts val="500"/>
              </a:spcAft>
            </a:pPr>
            <a:r>
              <a:rPr sz="1300" b="1">
                <a:solidFill>
                  <a:srgbClr val="2B1B22"/>
                </a:solidFill>
                <a:latin typeface="Nunito"/>
              </a:rPr>
              <a:t>0</a:t>
            </a:r>
            <a:r>
              <a:rPr sz="1300" b="0">
                <a:solidFill>
                  <a:srgbClr val="2B1B22"/>
                </a:solidFill>
                <a:latin typeface="Nunito"/>
              </a:rPr>
              <a:t> vidéo sur 30 publications : uniquement des images fixes</a:t>
            </a:r>
          </a:p>
          <a:p>
            <a:pPr>
              <a:spcAft>
                <a:spcPts val="500"/>
              </a:spcAft>
            </a:pPr>
            <a:r>
              <a:rPr sz="1300" b="1">
                <a:solidFill>
                  <a:srgbClr val="2B1B22"/>
                </a:solidFill>
                <a:latin typeface="Nunito"/>
              </a:rPr>
              <a:t>19 sur 30</a:t>
            </a:r>
            <a:r>
              <a:rPr sz="1300" b="0">
                <a:solidFill>
                  <a:srgbClr val="2B1B22"/>
                </a:solidFill>
                <a:latin typeface="Nunito"/>
              </a:rPr>
              <a:t> publiées vers 10 h, surtout le lundi</a:t>
            </a:r>
          </a:p>
          <a:p>
            <a:pPr>
              <a:spcAft>
                <a:spcPts val="500"/>
              </a:spcAft>
            </a:pPr>
            <a:r>
              <a:rPr sz="1300" b="1">
                <a:solidFill>
                  <a:srgbClr val="2B1B22"/>
                </a:solidFill>
                <a:latin typeface="Nunito"/>
              </a:rPr>
              <a:t>0</a:t>
            </a:r>
            <a:r>
              <a:rPr sz="1300" b="0">
                <a:solidFill>
                  <a:srgbClr val="2B1B22"/>
                </a:solidFill>
                <a:latin typeface="Nunito"/>
              </a:rPr>
              <a:t> mot-dièse</a:t>
            </a:r>
          </a:p>
          <a:p>
            <a:pPr>
              <a:spcAft>
                <a:spcPts val="500"/>
              </a:spcAft>
            </a:pPr>
          </a:p>
          <a:p>
            <a:pPr>
              <a:spcAft>
                <a:spcPts val="500"/>
              </a:spcAft>
            </a:pPr>
            <a:r>
              <a:rPr sz="1300" b="0">
                <a:solidFill>
                  <a:srgbClr val="2B1B22"/>
                </a:solidFill>
                <a:latin typeface="Nunito"/>
              </a:rPr>
              <a:t>Les barres rouges : les trois quiz de la rentrée.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2. CE QUI MARCHE</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Ce qui marche : le jeu, et le jeu seulement</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7</a:t>
            </a:r>
          </a:p>
        </p:txBody>
      </p:sp>
      <p:pic>
        <p:nvPicPr>
          <p:cNvPr id="8" name="Picture 7" descr="u_quiz.jpg"/>
          <p:cNvPicPr>
            <a:picLocks noChangeAspect="1"/>
          </p:cNvPicPr>
          <p:nvPr/>
        </p:nvPicPr>
        <p:blipFill>
          <a:blip r:embed="rId3"/>
          <a:stretch>
            <a:fillRect/>
          </a:stretch>
        </p:blipFill>
        <p:spPr>
          <a:xfrm>
            <a:off x="600000" y="1450000"/>
            <a:ext cx="2600000" cy="2600000"/>
          </a:xfrm>
          <a:prstGeom prst="rect">
            <a:avLst/>
          </a:prstGeom>
        </p:spPr>
      </p:pic>
      <p:pic>
        <p:nvPicPr>
          <p:cNvPr id="9" name="Picture 8" descr="u_iceup.jpg"/>
          <p:cNvPicPr>
            <a:picLocks noChangeAspect="1"/>
          </p:cNvPicPr>
          <p:nvPr/>
        </p:nvPicPr>
        <p:blipFill>
          <a:blip r:embed="rId4"/>
          <a:stretch>
            <a:fillRect/>
          </a:stretch>
        </p:blipFill>
        <p:spPr>
          <a:xfrm>
            <a:off x="3350000" y="1450000"/>
            <a:ext cx="2080000" cy="2600000"/>
          </a:xfrm>
          <a:prstGeom prst="rect">
            <a:avLst/>
          </a:prstGeom>
        </p:spPr>
      </p:pic>
      <p:sp>
        <p:nvSpPr>
          <p:cNvPr id="10" name="TextBox 9"/>
          <p:cNvSpPr txBox="1"/>
          <p:nvPr/>
        </p:nvSpPr>
        <p:spPr>
          <a:xfrm>
            <a:off x="600000" y="4150000"/>
            <a:ext cx="4900000" cy="600000"/>
          </a:xfrm>
          <a:prstGeom prst="rect">
            <a:avLst/>
          </a:prstGeom>
          <a:noFill/>
        </p:spPr>
        <p:txBody>
          <a:bodyPr wrap="square">
            <a:spAutoFit/>
          </a:bodyPr>
          <a:lstStyle/>
          <a:p>
            <a:pPr>
              <a:spcAft>
                <a:spcPts val="500"/>
              </a:spcAft>
            </a:pPr>
            <a:r>
              <a:rPr sz="1100" b="0">
                <a:solidFill>
                  <a:srgbClr val="77707A"/>
                </a:solidFill>
                <a:latin typeface="Nunito"/>
              </a:rPr>
              <a:t>Quiz de la rentrée (1er oct.) et jeu concours Ice Up (28 sept.)</a:t>
            </a:r>
          </a:p>
        </p:txBody>
      </p:sp>
      <p:sp>
        <p:nvSpPr>
          <p:cNvPr id="11" name="Rounded Rectangle 10"/>
          <p:cNvSpPr/>
          <p:nvPr/>
        </p:nvSpPr>
        <p:spPr>
          <a:xfrm>
            <a:off x="5900000" y="1400000"/>
            <a:ext cx="5700000" cy="46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00000" y="1460000"/>
            <a:ext cx="80000" cy="44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30000" y="1510000"/>
            <a:ext cx="5350000" cy="420000"/>
          </a:xfrm>
          <a:prstGeom prst="rect">
            <a:avLst/>
          </a:prstGeom>
          <a:noFill/>
        </p:spPr>
        <p:txBody>
          <a:bodyPr wrap="square">
            <a:spAutoFit/>
          </a:bodyPr>
          <a:lstStyle/>
          <a:p>
            <a:pPr>
              <a:spcAft>
                <a:spcPts val="500"/>
              </a:spcAft>
            </a:pPr>
            <a:r>
              <a:rPr sz="1500" b="1">
                <a:solidFill>
                  <a:srgbClr val="E50046"/>
                </a:solidFill>
                <a:latin typeface="Baloo 2"/>
              </a:rPr>
              <a:t>Ce que montrent les chiffres</a:t>
            </a:r>
          </a:p>
        </p:txBody>
      </p:sp>
      <p:sp>
        <p:nvSpPr>
          <p:cNvPr id="14" name="TextBox 13"/>
          <p:cNvSpPr txBox="1"/>
          <p:nvPr/>
        </p:nvSpPr>
        <p:spPr>
          <a:xfrm>
            <a:off x="6130000" y="1940000"/>
            <a:ext cx="5350000" cy="3980000"/>
          </a:xfrm>
          <a:prstGeom prst="rect">
            <a:avLst/>
          </a:prstGeom>
          <a:noFill/>
        </p:spPr>
        <p:txBody>
          <a:bodyPr wrap="square">
            <a:spAutoFit/>
          </a:bodyPr>
          <a:lstStyle/>
          <a:p>
            <a:pPr>
              <a:spcAft>
                <a:spcPts val="500"/>
              </a:spcAft>
            </a:pPr>
            <a:r>
              <a:rPr sz="1300" b="0">
                <a:solidFill>
                  <a:srgbClr val="2B1B22"/>
                </a:solidFill>
                <a:latin typeface="Nunito"/>
              </a:rPr>
              <a:t>Dictée piégée (1er oct.) : 1 857 mentions J'aime, 97 commentaires, 101 partages.</a:t>
            </a:r>
          </a:p>
          <a:p>
            <a:pPr>
              <a:spcAft>
                <a:spcPts val="500"/>
              </a:spcAft>
            </a:pPr>
            <a:r>
              <a:rPr sz="1300" b="0">
                <a:solidFill>
                  <a:srgbClr val="2B1B22"/>
                </a:solidFill>
                <a:latin typeface="Nunito"/>
              </a:rPr>
              <a:t>Défi bilingue (8 oct.) : 1 722 J'aime. Quiz géographie (15 oct.) : 1 544 J'aime.</a:t>
            </a:r>
          </a:p>
          <a:p>
            <a:pPr>
              <a:spcAft>
                <a:spcPts val="500"/>
              </a:spcAft>
            </a:pPr>
            <a:r>
              <a:rPr sz="1300" b="0">
                <a:solidFill>
                  <a:srgbClr val="2B1B22"/>
                </a:solidFill>
                <a:latin typeface="Nunito"/>
              </a:rPr>
              <a:t>Les publications « Bravo aux participants » qui suivent : environ 40 interactions seulement.</a:t>
            </a:r>
          </a:p>
          <a:p>
            <a:pPr>
              <a:spcAft>
                <a:spcPts val="500"/>
              </a:spcAft>
            </a:pPr>
          </a:p>
          <a:p>
            <a:pPr>
              <a:spcAft>
                <a:spcPts val="500"/>
              </a:spcAft>
            </a:pPr>
            <a:r>
              <a:rPr sz="1300" b="1">
                <a:solidFill>
                  <a:srgbClr val="2B1B22"/>
                </a:solidFill>
                <a:latin typeface="Nunito"/>
              </a:rPr>
              <a:t>Hypothèse à vérifier dans Meta Business Suite :</a:t>
            </a:r>
            <a:r>
              <a:rPr sz="1300" b="0">
                <a:solidFill>
                  <a:srgbClr val="2B1B22"/>
                </a:solidFill>
                <a:latin typeface="Nunito"/>
              </a:rPr>
              <a:t> un écart de plus de 60 fois avec la médiane signale en général une publication sponsorisée. Si c'est le cas, c'est le meilleur investissement publicitaire de la page, à reconduire.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2. CE QUI COINCE</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Ce qui coince : nos marques ne sont pas sur nos réseaux</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8</a:t>
            </a:r>
          </a:p>
        </p:txBody>
      </p:sp>
      <p:graphicFrame>
        <p:nvGraphicFramePr>
          <p:cNvPr id="8" name="Table 7"/>
          <p:cNvGraphicFramePr>
            <a:graphicFrameLocks noGrp="1"/>
          </p:cNvGraphicFramePr>
          <p:nvPr/>
        </p:nvGraphicFramePr>
        <p:xfrm>
          <a:off x="600000" y="1450000"/>
          <a:ext cx="5500000" cy="3360000"/>
        </p:xfrm>
        <a:graphic>
          <a:graphicData uri="http://schemas.openxmlformats.org/drawingml/2006/table">
            <a:tbl>
              <a:tblPr firstRow="1" bandRow="1">
                <a:tableStyleId>{5C22544A-7EE6-4342-B048-85BDC9FD1C3A}</a:tableStyleId>
              </a:tblPr>
              <a:tblGrid>
                <a:gridCol w="2600000"/>
                <a:gridCol w="2900000"/>
              </a:tblGrid>
              <a:tr h="420000">
                <a:tc>
                  <a:txBody>
                    <a:bodyPr/>
                    <a:lstStyle/>
                    <a:p>
                      <a:r>
                        <a:rPr sz="1200" b="1">
                          <a:solidFill>
                            <a:srgbClr val="FFFFFF"/>
                          </a:solidFill>
                          <a:latin typeface="Nunito"/>
                        </a:rPr>
                        <a:t>Marque</a:t>
                      </a:r>
                    </a:p>
                  </a:txBody>
                  <a:tcPr marL="70000" marR="70000" marT="35000" marB="35000">
                    <a:solidFill>
                      <a:srgbClr val="E50046"/>
                    </a:solidFill>
                  </a:tcPr>
                </a:tc>
                <a:tc>
                  <a:txBody>
                    <a:bodyPr/>
                    <a:lstStyle/>
                    <a:p>
                      <a:r>
                        <a:rPr sz="1200" b="1">
                          <a:solidFill>
                            <a:srgbClr val="FFFFFF"/>
                          </a:solidFill>
                          <a:latin typeface="Nunito"/>
                        </a:rPr>
                        <a:t>Citée dans les 30 dernières publications</a:t>
                      </a:r>
                    </a:p>
                  </a:txBody>
                  <a:tcPr marL="70000" marR="70000" marT="35000" marB="35000">
                    <a:solidFill>
                      <a:srgbClr val="E50046"/>
                    </a:solidFill>
                  </a:tcPr>
                </a:tc>
              </a:tr>
              <a:tr h="420000">
                <a:tc>
                  <a:txBody>
                    <a:bodyPr/>
                    <a:lstStyle/>
                    <a:p>
                      <a:r>
                        <a:rPr sz="1200" b="1">
                          <a:solidFill>
                            <a:srgbClr val="2B1B22"/>
                          </a:solidFill>
                          <a:latin typeface="Nunito"/>
                        </a:rPr>
                        <a:t>Rio Pop</a:t>
                      </a:r>
                    </a:p>
                  </a:txBody>
                  <a:tcPr marL="70000" marR="70000" marT="35000" marB="35000">
                    <a:solidFill>
                      <a:srgbClr val="FFFFFF"/>
                    </a:solidFill>
                  </a:tcPr>
                </a:tc>
                <a:tc>
                  <a:txBody>
                    <a:bodyPr/>
                    <a:lstStyle/>
                    <a:p>
                      <a:r>
                        <a:rPr sz="1200" b="0">
                          <a:solidFill>
                            <a:srgbClr val="2B1B22"/>
                          </a:solidFill>
                          <a:latin typeface="Nunito"/>
                        </a:rPr>
                        <a:t>2 fois</a:t>
                      </a:r>
                    </a:p>
                  </a:txBody>
                  <a:tcPr marL="70000" marR="70000" marT="35000" marB="35000">
                    <a:solidFill>
                      <a:srgbClr val="FFFFFF"/>
                    </a:solidFill>
                  </a:tcPr>
                </a:tc>
              </a:tr>
              <a:tr h="420000">
                <a:tc>
                  <a:txBody>
                    <a:bodyPr/>
                    <a:lstStyle/>
                    <a:p>
                      <a:r>
                        <a:rPr sz="1200" b="1">
                          <a:solidFill>
                            <a:srgbClr val="2B1B22"/>
                          </a:solidFill>
                          <a:latin typeface="Nunito"/>
                        </a:rPr>
                        <a:t>Ice Up</a:t>
                      </a:r>
                    </a:p>
                  </a:txBody>
                  <a:tcPr marL="70000" marR="70000" marT="35000" marB="35000">
                    <a:solidFill>
                      <a:srgbClr val="FDF0F4"/>
                    </a:solidFill>
                  </a:tcPr>
                </a:tc>
                <a:tc>
                  <a:txBody>
                    <a:bodyPr/>
                    <a:lstStyle/>
                    <a:p>
                      <a:r>
                        <a:rPr sz="1200" b="0">
                          <a:solidFill>
                            <a:srgbClr val="2B1B22"/>
                          </a:solidFill>
                          <a:latin typeface="Nunito"/>
                        </a:rPr>
                        <a:t>2 fois</a:t>
                      </a:r>
                    </a:p>
                  </a:txBody>
                  <a:tcPr marL="70000" marR="70000" marT="35000" marB="35000">
                    <a:solidFill>
                      <a:srgbClr val="FDF0F4"/>
                    </a:solidFill>
                  </a:tcPr>
                </a:tc>
              </a:tr>
              <a:tr h="420000">
                <a:tc>
                  <a:txBody>
                    <a:bodyPr/>
                    <a:lstStyle/>
                    <a:p>
                      <a:r>
                        <a:rPr sz="1200" b="1">
                          <a:solidFill>
                            <a:srgbClr val="2B1B22"/>
                          </a:solidFill>
                          <a:latin typeface="Nunito"/>
                        </a:rPr>
                        <a:t>Cremino</a:t>
                      </a:r>
                    </a:p>
                  </a:txBody>
                  <a:tcPr marL="70000" marR="70000" marT="35000" marB="35000">
                    <a:solidFill>
                      <a:srgbClr val="FFFFFF"/>
                    </a:solidFill>
                  </a:tcPr>
                </a:tc>
                <a:tc>
                  <a:txBody>
                    <a:bodyPr/>
                    <a:lstStyle/>
                    <a:p>
                      <a:r>
                        <a:rPr sz="1200" b="0">
                          <a:solidFill>
                            <a:srgbClr val="2B1B22"/>
                          </a:solidFill>
                          <a:latin typeface="Nunito"/>
                        </a:rPr>
                        <a:t>2 fois</a:t>
                      </a:r>
                    </a:p>
                  </a:txBody>
                  <a:tcPr marL="70000" marR="70000" marT="35000" marB="35000">
                    <a:solidFill>
                      <a:srgbClr val="FFFFFF"/>
                    </a:solidFill>
                  </a:tcPr>
                </a:tc>
              </a:tr>
              <a:tr h="420000">
                <a:tc>
                  <a:txBody>
                    <a:bodyPr/>
                    <a:lstStyle/>
                    <a:p>
                      <a:r>
                        <a:rPr sz="1200" b="1">
                          <a:solidFill>
                            <a:srgbClr val="2B1B22"/>
                          </a:solidFill>
                          <a:latin typeface="Nunito"/>
                        </a:rPr>
                        <a:t>Super Mint</a:t>
                      </a:r>
                    </a:p>
                  </a:txBody>
                  <a:tcPr marL="70000" marR="70000" marT="35000" marB="35000">
                    <a:solidFill>
                      <a:srgbClr val="FDF0F4"/>
                    </a:solidFill>
                  </a:tcPr>
                </a:tc>
                <a:tc>
                  <a:txBody>
                    <a:bodyPr/>
                    <a:lstStyle/>
                    <a:p>
                      <a:r>
                        <a:rPr sz="1200" b="0">
                          <a:solidFill>
                            <a:srgbClr val="2B1B22"/>
                          </a:solidFill>
                          <a:latin typeface="Nunito"/>
                        </a:rPr>
                        <a:t>0</a:t>
                      </a:r>
                    </a:p>
                  </a:txBody>
                  <a:tcPr marL="70000" marR="70000" marT="35000" marB="35000">
                    <a:solidFill>
                      <a:srgbClr val="FDF0F4"/>
                    </a:solidFill>
                  </a:tcPr>
                </a:tc>
              </a:tr>
              <a:tr h="420000">
                <a:tc>
                  <a:txBody>
                    <a:bodyPr/>
                    <a:lstStyle/>
                    <a:p>
                      <a:r>
                        <a:rPr sz="1200" b="1">
                          <a:solidFill>
                            <a:srgbClr val="2B1B22"/>
                          </a:solidFill>
                          <a:latin typeface="Nunito"/>
                        </a:rPr>
                        <a:t>Super Gnamakou</a:t>
                      </a:r>
                    </a:p>
                  </a:txBody>
                  <a:tcPr marL="70000" marR="70000" marT="35000" marB="35000">
                    <a:solidFill>
                      <a:srgbClr val="FFFFFF"/>
                    </a:solidFill>
                  </a:tcPr>
                </a:tc>
                <a:tc>
                  <a:txBody>
                    <a:bodyPr/>
                    <a:lstStyle/>
                    <a:p>
                      <a:r>
                        <a:rPr sz="1200" b="0">
                          <a:solidFill>
                            <a:srgbClr val="2B1B22"/>
                          </a:solidFill>
                          <a:latin typeface="Nunito"/>
                        </a:rPr>
                        <a:t>0</a:t>
                      </a:r>
                    </a:p>
                  </a:txBody>
                  <a:tcPr marL="70000" marR="70000" marT="35000" marB="35000">
                    <a:solidFill>
                      <a:srgbClr val="FFFFFF"/>
                    </a:solidFill>
                  </a:tcPr>
                </a:tc>
              </a:tr>
              <a:tr h="420000">
                <a:tc>
                  <a:txBody>
                    <a:bodyPr/>
                    <a:lstStyle/>
                    <a:p>
                      <a:r>
                        <a:rPr sz="1200" b="1">
                          <a:solidFill>
                            <a:srgbClr val="2B1B22"/>
                          </a:solidFill>
                          <a:latin typeface="Nunito"/>
                        </a:rPr>
                        <a:t>Coupe du Monde</a:t>
                      </a:r>
                    </a:p>
                  </a:txBody>
                  <a:tcPr marL="70000" marR="70000" marT="35000" marB="35000">
                    <a:solidFill>
                      <a:srgbClr val="FDF0F4"/>
                    </a:solidFill>
                  </a:tcPr>
                </a:tc>
                <a:tc>
                  <a:txBody>
                    <a:bodyPr/>
                    <a:lstStyle/>
                    <a:p>
                      <a:r>
                        <a:rPr sz="1200" b="0">
                          <a:solidFill>
                            <a:srgbClr val="2B1B22"/>
                          </a:solidFill>
                          <a:latin typeface="Nunito"/>
                        </a:rPr>
                        <a:t>0</a:t>
                      </a:r>
                    </a:p>
                  </a:txBody>
                  <a:tcPr marL="70000" marR="70000" marT="35000" marB="35000">
                    <a:solidFill>
                      <a:srgbClr val="FDF0F4"/>
                    </a:solidFill>
                  </a:tcPr>
                </a:tc>
              </a:tr>
              <a:tr h="420000">
                <a:tc>
                  <a:txBody>
                    <a:bodyPr/>
                    <a:lstStyle/>
                    <a:p>
                      <a:r>
                        <a:rPr sz="1200" b="1">
                          <a:solidFill>
                            <a:srgbClr val="2B1B22"/>
                          </a:solidFill>
                          <a:latin typeface="Nunito"/>
                        </a:rPr>
                        <a:t>Sossa</a:t>
                      </a:r>
                    </a:p>
                  </a:txBody>
                  <a:tcPr marL="70000" marR="70000" marT="35000" marB="35000">
                    <a:solidFill>
                      <a:srgbClr val="FFFFFF"/>
                    </a:solidFill>
                  </a:tcPr>
                </a:tc>
                <a:tc>
                  <a:txBody>
                    <a:bodyPr/>
                    <a:lstStyle/>
                    <a:p>
                      <a:r>
                        <a:rPr sz="1200" b="0">
                          <a:solidFill>
                            <a:srgbClr val="2B1B22"/>
                          </a:solidFill>
                          <a:latin typeface="Nunito"/>
                        </a:rPr>
                        <a:t>0</a:t>
                      </a:r>
                    </a:p>
                  </a:txBody>
                  <a:tcPr marL="70000" marR="70000" marT="35000" marB="35000">
                    <a:solidFill>
                      <a:srgbClr val="FFFFFF"/>
                    </a:solidFill>
                  </a:tcPr>
                </a:tc>
              </a:tr>
            </a:tbl>
          </a:graphicData>
        </a:graphic>
      </p:graphicFrame>
      <p:sp>
        <p:nvSpPr>
          <p:cNvPr id="9" name="Rounded Rectangle 8"/>
          <p:cNvSpPr/>
          <p:nvPr/>
        </p:nvSpPr>
        <p:spPr>
          <a:xfrm>
            <a:off x="6300000" y="1400000"/>
            <a:ext cx="5300000" cy="46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0000" y="1460000"/>
            <a:ext cx="80000" cy="448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0000" y="1510000"/>
            <a:ext cx="4950000" cy="420000"/>
          </a:xfrm>
          <a:prstGeom prst="rect">
            <a:avLst/>
          </a:prstGeom>
          <a:noFill/>
        </p:spPr>
        <p:txBody>
          <a:bodyPr wrap="square">
            <a:spAutoFit/>
          </a:bodyPr>
          <a:lstStyle/>
          <a:p>
            <a:pPr>
              <a:spcAft>
                <a:spcPts val="500"/>
              </a:spcAft>
            </a:pPr>
            <a:r>
              <a:rPr sz="1500" b="1">
                <a:solidFill>
                  <a:srgbClr val="2B1B22"/>
                </a:solidFill>
                <a:latin typeface="Baloo 2"/>
              </a:rPr>
              <a:t>Quatre manques</a:t>
            </a:r>
          </a:p>
        </p:txBody>
      </p:sp>
      <p:sp>
        <p:nvSpPr>
          <p:cNvPr id="12" name="TextBox 11"/>
          <p:cNvSpPr txBox="1"/>
          <p:nvPr/>
        </p:nvSpPr>
        <p:spPr>
          <a:xfrm>
            <a:off x="6530000" y="1940000"/>
            <a:ext cx="4950000" cy="3980000"/>
          </a:xfrm>
          <a:prstGeom prst="rect">
            <a:avLst/>
          </a:prstGeom>
          <a:noFill/>
        </p:spPr>
        <p:txBody>
          <a:bodyPr wrap="square">
            <a:spAutoFit/>
          </a:bodyPr>
          <a:lstStyle/>
          <a:p>
            <a:pPr>
              <a:spcAft>
                <a:spcPts val="500"/>
              </a:spcAft>
            </a:pPr>
            <a:r>
              <a:rPr sz="1200" b="1">
                <a:solidFill>
                  <a:srgbClr val="2B1B22"/>
                </a:solidFill>
                <a:latin typeface="Nunito"/>
              </a:rPr>
              <a:t>Les marques.</a:t>
            </a:r>
            <a:r>
              <a:rPr sz="1200" b="0">
                <a:solidFill>
                  <a:srgbClr val="2B1B22"/>
                </a:solidFill>
                <a:latin typeface="Nunito"/>
              </a:rPr>
              <a:t> 12 publications sur 30 sont des scènes d'ambiance sans produit nommé : environ 20 interactions chacune.</a:t>
            </a:r>
          </a:p>
          <a:p>
            <a:pPr>
              <a:spcAft>
                <a:spcPts val="500"/>
              </a:spcAft>
            </a:pPr>
            <a:r>
              <a:rPr sz="1200" b="1">
                <a:solidFill>
                  <a:srgbClr val="2B1B22"/>
                </a:solidFill>
                <a:latin typeface="Nunito"/>
              </a:rPr>
              <a:t>La vidéo.</a:t>
            </a:r>
            <a:r>
              <a:rPr sz="1200" b="0">
                <a:solidFill>
                  <a:srgbClr val="2B1B22"/>
                </a:solidFill>
                <a:latin typeface="Nunito"/>
              </a:rPr>
              <a:t> Aucune. Carré d'Or et Chocolatine en publient une sur trois.</a:t>
            </a:r>
          </a:p>
          <a:p>
            <a:pPr>
              <a:spcAft>
                <a:spcPts val="500"/>
              </a:spcAft>
            </a:pPr>
            <a:r>
              <a:rPr sz="1200" b="1">
                <a:solidFill>
                  <a:srgbClr val="2B1B22"/>
                </a:solidFill>
                <a:latin typeface="Nunito"/>
              </a:rPr>
              <a:t>Le ton.</a:t>
            </a:r>
            <a:r>
              <a:rPr sz="1200" b="0">
                <a:solidFill>
                  <a:srgbClr val="2B1B22"/>
                </a:solidFill>
                <a:latin typeface="Nunito"/>
              </a:rPr>
              <a:t> Correct mais neutre : aucune expression d'Abidjan, aucun humour, aucun mot-dièse.</a:t>
            </a:r>
          </a:p>
          <a:p>
            <a:pPr>
              <a:spcAft>
                <a:spcPts val="500"/>
              </a:spcAft>
            </a:pPr>
            <a:r>
              <a:rPr sz="1200" b="1">
                <a:solidFill>
                  <a:srgbClr val="2B1B22"/>
                </a:solidFill>
                <a:latin typeface="Nunito"/>
              </a:rPr>
              <a:t>Les enfants.</a:t>
            </a:r>
            <a:r>
              <a:rPr sz="1200" b="0">
                <a:solidFill>
                  <a:srgbClr val="2B1B22"/>
                </a:solidFill>
                <a:latin typeface="Nunito"/>
              </a:rPr>
              <a:t> Plusieurs visuels montrent des enfants avec des bonbons et s'adressent aux « petits gourmands ». Mieux vaut parler aux parents et aux jeunes adultes.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58000"/>
            <a:ext cx="12192000" cy="30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000000"/>
            <a:ext cx="3000000" cy="1400000"/>
          </a:xfrm>
          <a:prstGeom prst="rect">
            <a:avLst/>
          </a:prstGeom>
          <a:noFill/>
        </p:spPr>
        <p:txBody>
          <a:bodyPr wrap="square">
            <a:spAutoFit/>
          </a:bodyPr>
          <a:lstStyle/>
          <a:p>
            <a:pPr>
              <a:spcAft>
                <a:spcPts val="500"/>
              </a:spcAft>
            </a:pPr>
            <a:r>
              <a:rPr sz="8000" b="1">
                <a:solidFill>
                  <a:srgbClr val="FFFFFF"/>
                </a:solidFill>
                <a:latin typeface="Baloo 2"/>
              </a:rPr>
              <a:t>3</a:t>
            </a:r>
          </a:p>
        </p:txBody>
      </p:sp>
      <p:sp>
        <p:nvSpPr>
          <p:cNvPr id="5" name="TextBox 4"/>
          <p:cNvSpPr txBox="1"/>
          <p:nvPr/>
        </p:nvSpPr>
        <p:spPr>
          <a:xfrm>
            <a:off x="900000" y="3500000"/>
            <a:ext cx="10000000" cy="900000"/>
          </a:xfrm>
          <a:prstGeom prst="rect">
            <a:avLst/>
          </a:prstGeom>
          <a:noFill/>
        </p:spPr>
        <p:txBody>
          <a:bodyPr wrap="square">
            <a:spAutoFit/>
          </a:bodyPr>
          <a:lstStyle/>
          <a:p>
            <a:pPr>
              <a:spcAft>
                <a:spcPts val="500"/>
              </a:spcAft>
            </a:pPr>
            <a:r>
              <a:rPr sz="3600" b="1">
                <a:solidFill>
                  <a:srgbClr val="FFFFFF"/>
                </a:solidFill>
                <a:latin typeface="Baloo 2"/>
              </a:rPr>
              <a:t>Benchmark de trois concurrents</a:t>
            </a:r>
          </a:p>
        </p:txBody>
      </p:sp>
      <p:sp>
        <p:nvSpPr>
          <p:cNvPr id="6" name="TextBox 5"/>
          <p:cNvSpPr txBox="1"/>
          <p:nvPr/>
        </p:nvSpPr>
        <p:spPr>
          <a:xfrm>
            <a:off x="900000" y="4400000"/>
            <a:ext cx="10000000" cy="800000"/>
          </a:xfrm>
          <a:prstGeom prst="rect">
            <a:avLst/>
          </a:prstGeom>
          <a:noFill/>
        </p:spPr>
        <p:txBody>
          <a:bodyPr wrap="square">
            <a:spAutoFit/>
          </a:bodyPr>
          <a:lstStyle/>
          <a:p>
            <a:pPr>
              <a:spcAft>
                <a:spcPts val="500"/>
              </a:spcAft>
            </a:pPr>
            <a:r>
              <a:rPr sz="1600" b="0">
                <a:solidFill>
                  <a:srgbClr val="FFFFFF"/>
                </a:solidFill>
                <a:latin typeface="Nunito"/>
              </a:rPr>
              <a:t>Afriwara (Pecto), Groupe Carré d'Or (Cléo), Confiserie Moderne d'Afrique (Chocolatine)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3. LE CHOIX</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Pourquoi ces trois concurrents</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10</a:t>
            </a:r>
          </a:p>
        </p:txBody>
      </p:sp>
      <p:sp>
        <p:nvSpPr>
          <p:cNvPr id="8" name="Rounded Rectangle 7"/>
          <p:cNvSpPr/>
          <p:nvPr/>
        </p:nvSpPr>
        <p:spPr>
          <a:xfrm>
            <a:off x="600000" y="1450000"/>
            <a:ext cx="3500000" cy="35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0000" y="1510000"/>
            <a:ext cx="80000" cy="33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000" y="1560000"/>
            <a:ext cx="3150000" cy="420000"/>
          </a:xfrm>
          <a:prstGeom prst="rect">
            <a:avLst/>
          </a:prstGeom>
          <a:noFill/>
        </p:spPr>
        <p:txBody>
          <a:bodyPr wrap="square">
            <a:spAutoFit/>
          </a:bodyPr>
          <a:lstStyle/>
          <a:p>
            <a:pPr>
              <a:spcAft>
                <a:spcPts val="500"/>
              </a:spcAft>
            </a:pPr>
            <a:r>
              <a:rPr sz="1500" b="1">
                <a:solidFill>
                  <a:srgbClr val="E50046"/>
                </a:solidFill>
                <a:latin typeface="Baloo 2"/>
              </a:rPr>
              <a:t>Afriwara (Pecto)</a:t>
            </a:r>
          </a:p>
        </p:txBody>
      </p:sp>
      <p:sp>
        <p:nvSpPr>
          <p:cNvPr id="11" name="TextBox 10"/>
          <p:cNvSpPr txBox="1"/>
          <p:nvPr/>
        </p:nvSpPr>
        <p:spPr>
          <a:xfrm>
            <a:off x="830000" y="1990000"/>
            <a:ext cx="3150000" cy="2880000"/>
          </a:xfrm>
          <a:prstGeom prst="rect">
            <a:avLst/>
          </a:prstGeom>
          <a:noFill/>
        </p:spPr>
        <p:txBody>
          <a:bodyPr wrap="square">
            <a:spAutoFit/>
          </a:bodyPr>
          <a:lstStyle/>
          <a:p>
            <a:pPr>
              <a:spcAft>
                <a:spcPts val="500"/>
              </a:spcAft>
            </a:pPr>
            <a:r>
              <a:rPr sz="1300" b="0">
                <a:solidFill>
                  <a:srgbClr val="2B1B22"/>
                </a:solidFill>
                <a:latin typeface="Nunito"/>
              </a:rPr>
              <a:t>Le concurrent direct sur le bonbon à la menthe et au gingembre : Pecto Maxx et Ginger Maxx face à Super Mint et Super Gnamakou.</a:t>
            </a:r>
          </a:p>
          <a:p>
            <a:pPr>
              <a:spcAft>
                <a:spcPts val="500"/>
              </a:spcAft>
            </a:pPr>
            <a:r>
              <a:rPr sz="1300" b="0">
                <a:solidFill>
                  <a:srgbClr val="2B1B22"/>
                </a:solidFill>
                <a:latin typeface="Nunito"/>
              </a:rPr>
              <a:t>SNCV à Vridi depuis 1973, Royal Sweet au Ghana.</a:t>
            </a:r>
          </a:p>
        </p:txBody>
      </p:sp>
      <p:sp>
        <p:nvSpPr>
          <p:cNvPr id="12" name="Rounded Rectangle 11"/>
          <p:cNvSpPr/>
          <p:nvPr/>
        </p:nvSpPr>
        <p:spPr>
          <a:xfrm>
            <a:off x="4300000" y="1450000"/>
            <a:ext cx="3500000" cy="35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0000" y="1510000"/>
            <a:ext cx="80000" cy="338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0000" y="1560000"/>
            <a:ext cx="3150000" cy="420000"/>
          </a:xfrm>
          <a:prstGeom prst="rect">
            <a:avLst/>
          </a:prstGeom>
          <a:noFill/>
        </p:spPr>
        <p:txBody>
          <a:bodyPr wrap="square">
            <a:spAutoFit/>
          </a:bodyPr>
          <a:lstStyle/>
          <a:p>
            <a:pPr>
              <a:spcAft>
                <a:spcPts val="500"/>
              </a:spcAft>
            </a:pPr>
            <a:r>
              <a:rPr sz="1500" b="1">
                <a:solidFill>
                  <a:srgbClr val="2B1B22"/>
                </a:solidFill>
                <a:latin typeface="Baloo 2"/>
              </a:rPr>
              <a:t>Carré d'Or (Cléo)</a:t>
            </a:r>
          </a:p>
        </p:txBody>
      </p:sp>
      <p:sp>
        <p:nvSpPr>
          <p:cNvPr id="15" name="TextBox 14"/>
          <p:cNvSpPr txBox="1"/>
          <p:nvPr/>
        </p:nvSpPr>
        <p:spPr>
          <a:xfrm>
            <a:off x="4530000" y="1990000"/>
            <a:ext cx="3150000" cy="2880000"/>
          </a:xfrm>
          <a:prstGeom prst="rect">
            <a:avLst/>
          </a:prstGeom>
          <a:noFill/>
        </p:spPr>
        <p:txBody>
          <a:bodyPr wrap="square">
            <a:spAutoFit/>
          </a:bodyPr>
          <a:lstStyle/>
          <a:p>
            <a:pPr>
              <a:spcAft>
                <a:spcPts val="500"/>
              </a:spcAft>
            </a:pPr>
            <a:r>
              <a:rPr sz="1300" b="0">
                <a:solidFill>
                  <a:srgbClr val="2B1B22"/>
                </a:solidFill>
                <a:latin typeface="Nunito"/>
              </a:rPr>
              <a:t>Groupe agroalimentaire ivoirien depuis 1998. Sa marque Cléo vend des biscuits et gaufrettes dans les mêmes rayons que Coupe du Monde.</a:t>
            </a:r>
          </a:p>
          <a:p>
            <a:pPr>
              <a:spcAft>
                <a:spcPts val="500"/>
              </a:spcAft>
            </a:pPr>
            <a:r>
              <a:rPr sz="1300" b="0">
                <a:solidFill>
                  <a:srgbClr val="2B1B22"/>
                </a:solidFill>
                <a:latin typeface="Nunito"/>
              </a:rPr>
              <a:t>La plus grosse audience : 211 616 abonnés.</a:t>
            </a:r>
          </a:p>
        </p:txBody>
      </p:sp>
      <p:sp>
        <p:nvSpPr>
          <p:cNvPr id="16" name="Rounded Rectangle 15"/>
          <p:cNvSpPr/>
          <p:nvPr/>
        </p:nvSpPr>
        <p:spPr>
          <a:xfrm>
            <a:off x="8000000" y="1450000"/>
            <a:ext cx="3500000" cy="35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0000" y="1510000"/>
            <a:ext cx="80000" cy="33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0000" y="1560000"/>
            <a:ext cx="3150000" cy="420000"/>
          </a:xfrm>
          <a:prstGeom prst="rect">
            <a:avLst/>
          </a:prstGeom>
          <a:noFill/>
        </p:spPr>
        <p:txBody>
          <a:bodyPr wrap="square">
            <a:spAutoFit/>
          </a:bodyPr>
          <a:lstStyle/>
          <a:p>
            <a:pPr>
              <a:spcAft>
                <a:spcPts val="500"/>
              </a:spcAft>
            </a:pPr>
            <a:r>
              <a:rPr sz="1500" b="1">
                <a:solidFill>
                  <a:srgbClr val="E50046"/>
                </a:solidFill>
                <a:latin typeface="Baloo 2"/>
              </a:rPr>
              <a:t>Chocolatine (CMA)</a:t>
            </a:r>
          </a:p>
        </p:txBody>
      </p:sp>
      <p:sp>
        <p:nvSpPr>
          <p:cNvPr id="19" name="TextBox 18"/>
          <p:cNvSpPr txBox="1"/>
          <p:nvPr/>
        </p:nvSpPr>
        <p:spPr>
          <a:xfrm>
            <a:off x="8230000" y="1990000"/>
            <a:ext cx="3150000" cy="2880000"/>
          </a:xfrm>
          <a:prstGeom prst="rect">
            <a:avLst/>
          </a:prstGeom>
          <a:noFill/>
        </p:spPr>
        <p:txBody>
          <a:bodyPr wrap="square">
            <a:spAutoFit/>
          </a:bodyPr>
          <a:lstStyle/>
          <a:p>
            <a:pPr>
              <a:spcAft>
                <a:spcPts val="500"/>
              </a:spcAft>
            </a:pPr>
            <a:r>
              <a:rPr sz="1300" b="0">
                <a:solidFill>
                  <a:srgbClr val="2B1B22"/>
                </a:solidFill>
                <a:latin typeface="Nunito"/>
              </a:rPr>
              <a:t>La Confiserie Moderne d'Afrique lance une pâte à tartiner ivoirienne : page ouverte en juillet 2025.</a:t>
            </a:r>
          </a:p>
          <a:p>
            <a:pPr>
              <a:spcAft>
                <a:spcPts val="500"/>
              </a:spcAft>
            </a:pPr>
            <a:r>
              <a:rPr sz="1300" b="0">
                <a:solidFill>
                  <a:srgbClr val="2B1B22"/>
                </a:solidFill>
                <a:latin typeface="Nunito"/>
              </a:rPr>
              <a:t>Nouvel entrant qui fait beaucoup avec peu : vidéo, humour, promotions en magasin.</a:t>
            </a:r>
          </a:p>
        </p:txBody>
      </p:sp>
      <p:sp>
        <p:nvSpPr>
          <p:cNvPr id="20" name="TextBox 19"/>
          <p:cNvSpPr txBox="1"/>
          <p:nvPr/>
        </p:nvSpPr>
        <p:spPr>
          <a:xfrm>
            <a:off x="600000" y="5150000"/>
            <a:ext cx="11000000" cy="800000"/>
          </a:xfrm>
          <a:prstGeom prst="rect">
            <a:avLst/>
          </a:prstGeom>
          <a:noFill/>
        </p:spPr>
        <p:txBody>
          <a:bodyPr wrap="square">
            <a:spAutoFit/>
          </a:bodyPr>
          <a:lstStyle/>
          <a:p>
            <a:pPr>
              <a:spcAft>
                <a:spcPts val="500"/>
              </a:spcAft>
            </a:pPr>
            <a:r>
              <a:rPr sz="1200" b="0">
                <a:solidFill>
                  <a:srgbClr val="77707A"/>
                </a:solidFill>
                <a:latin typeface="Nunito"/>
              </a:rPr>
              <a:t>Les pages de Chupa Chups ou Haribo, mondiales, ne se comparent pas à une page ivoirienne : elles sont écartées.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3. CHIFFRES COMPARÉS</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Taille et réactions : Carré d'Or loin devant</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11</a:t>
            </a:r>
          </a:p>
        </p:txBody>
      </p:sp>
      <p:pic>
        <p:nvPicPr>
          <p:cNvPr id="8" name="Picture 7" descr="c_f.png"/>
          <p:cNvPicPr>
            <a:picLocks noChangeAspect="1"/>
          </p:cNvPicPr>
          <p:nvPr/>
        </p:nvPicPr>
        <p:blipFill>
          <a:blip r:embed="rId3"/>
          <a:stretch>
            <a:fillRect/>
          </a:stretch>
        </p:blipFill>
        <p:spPr>
          <a:xfrm>
            <a:off x="500000" y="1400000"/>
            <a:ext cx="5500000" cy="3007812"/>
          </a:xfrm>
          <a:prstGeom prst="rect">
            <a:avLst/>
          </a:prstGeom>
        </p:spPr>
      </p:pic>
      <p:pic>
        <p:nvPicPr>
          <p:cNvPr id="9" name="Picture 8" descr="c_med.png"/>
          <p:cNvPicPr>
            <a:picLocks noChangeAspect="1"/>
          </p:cNvPicPr>
          <p:nvPr/>
        </p:nvPicPr>
        <p:blipFill>
          <a:blip r:embed="rId4"/>
          <a:stretch>
            <a:fillRect/>
          </a:stretch>
        </p:blipFill>
        <p:spPr>
          <a:xfrm>
            <a:off x="6200000" y="1400000"/>
            <a:ext cx="5500000" cy="3007812"/>
          </a:xfrm>
          <a:prstGeom prst="rect">
            <a:avLst/>
          </a:prstGeom>
        </p:spPr>
      </p:pic>
      <p:sp>
        <p:nvSpPr>
          <p:cNvPr id="10" name="TextBox 9"/>
          <p:cNvSpPr txBox="1"/>
          <p:nvPr/>
        </p:nvSpPr>
        <p:spPr>
          <a:xfrm>
            <a:off x="600000" y="4550000"/>
            <a:ext cx="11000000" cy="1500000"/>
          </a:xfrm>
          <a:prstGeom prst="rect">
            <a:avLst/>
          </a:prstGeom>
          <a:noFill/>
        </p:spPr>
        <p:txBody>
          <a:bodyPr wrap="square">
            <a:spAutoFit/>
          </a:bodyPr>
          <a:lstStyle/>
          <a:p>
            <a:pPr>
              <a:spcAft>
                <a:spcPts val="500"/>
              </a:spcAft>
            </a:pPr>
            <a:r>
              <a:rPr sz="1300" b="1">
                <a:solidFill>
                  <a:srgbClr val="2B1B22"/>
                </a:solidFill>
                <a:latin typeface="Nunito"/>
              </a:rPr>
              <a:t>Lecture.</a:t>
            </a:r>
            <a:r>
              <a:rPr sz="1300" b="0">
                <a:solidFill>
                  <a:srgbClr val="2B1B22"/>
                </a:solidFill>
                <a:latin typeface="Nunito"/>
              </a:rPr>
              <a:t> Carré d'Or a 17 fois plus d'abonnés que Unifood et obtient 56 interactions médianes, deux fois nos 27. Afriwara fait 52 interactions, mais ce chiffre date de la CAN 2024 : la page ne publie plus depuis juin 2025. Chocolatine, avec seulement 1 359 abonnés, en obtient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3. CHIFFRES COMPARÉS</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Rapporté à l'audience : Chocolatine fait le plus réagir</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12</a:t>
            </a:r>
          </a:p>
        </p:txBody>
      </p:sp>
      <p:pic>
        <p:nvPicPr>
          <p:cNvPr id="8" name="Picture 7" descr="c_rate.png"/>
          <p:cNvPicPr>
            <a:picLocks noChangeAspect="1"/>
          </p:cNvPicPr>
          <p:nvPr/>
        </p:nvPicPr>
        <p:blipFill>
          <a:blip r:embed="rId3"/>
          <a:stretch>
            <a:fillRect/>
          </a:stretch>
        </p:blipFill>
        <p:spPr>
          <a:xfrm>
            <a:off x="500000" y="1400000"/>
            <a:ext cx="5500000" cy="3007812"/>
          </a:xfrm>
          <a:prstGeom prst="rect">
            <a:avLst/>
          </a:prstGeom>
        </p:spPr>
      </p:pic>
      <p:pic>
        <p:nvPicPr>
          <p:cNvPr id="9" name="Picture 8" descr="c_wk.png"/>
          <p:cNvPicPr>
            <a:picLocks noChangeAspect="1"/>
          </p:cNvPicPr>
          <p:nvPr/>
        </p:nvPicPr>
        <p:blipFill>
          <a:blip r:embed="rId4"/>
          <a:stretch>
            <a:fillRect/>
          </a:stretch>
        </p:blipFill>
        <p:spPr>
          <a:xfrm>
            <a:off x="6200000" y="1400000"/>
            <a:ext cx="5500000" cy="3007812"/>
          </a:xfrm>
          <a:prstGeom prst="rect">
            <a:avLst/>
          </a:prstGeom>
        </p:spPr>
      </p:pic>
      <p:sp>
        <p:nvSpPr>
          <p:cNvPr id="10" name="TextBox 9"/>
          <p:cNvSpPr txBox="1"/>
          <p:nvPr/>
        </p:nvSpPr>
        <p:spPr>
          <a:xfrm>
            <a:off x="600000" y="4550000"/>
            <a:ext cx="11000000" cy="1500000"/>
          </a:xfrm>
          <a:prstGeom prst="rect">
            <a:avLst/>
          </a:prstGeom>
          <a:noFill/>
        </p:spPr>
        <p:txBody>
          <a:bodyPr wrap="square">
            <a:spAutoFit/>
          </a:bodyPr>
          <a:lstStyle/>
          <a:p>
            <a:pPr>
              <a:spcAft>
                <a:spcPts val="500"/>
              </a:spcAft>
            </a:pPr>
            <a:r>
              <a:rPr sz="1300" b="1">
                <a:solidFill>
                  <a:srgbClr val="2B1B22"/>
                </a:solidFill>
                <a:latin typeface="Nunito"/>
              </a:rPr>
              <a:t>Lecture.</a:t>
            </a:r>
            <a:r>
              <a:rPr sz="1300" b="0">
                <a:solidFill>
                  <a:srgbClr val="2B1B22"/>
                </a:solidFill>
                <a:latin typeface="Nunito"/>
              </a:rPr>
              <a:t> Chocolatine fait réagir 1,40 % de ses abonnés par publication : petite page, très vivante. Unifood est à 0,21 %, Carré d'Or à 0,03 %. Carré d'Or publie le plus (4,2 fois par semaine). Afriwara et Rio Pop sont presque à l'arrêt.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3. CONCURRENT 1</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Carré d'Or : le football comme rendez-vous</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13</a:t>
            </a:r>
          </a:p>
        </p:txBody>
      </p:sp>
      <p:pic>
        <p:nvPicPr>
          <p:cNvPr id="8" name="Picture 7" descr="cdo_prono.jpg"/>
          <p:cNvPicPr>
            <a:picLocks noChangeAspect="1"/>
          </p:cNvPicPr>
          <p:nvPr/>
        </p:nvPicPr>
        <p:blipFill>
          <a:blip r:embed="rId3"/>
          <a:stretch>
            <a:fillRect/>
          </a:stretch>
        </p:blipFill>
        <p:spPr>
          <a:xfrm>
            <a:off x="600000" y="1450000"/>
            <a:ext cx="2300000" cy="2300000"/>
          </a:xfrm>
          <a:prstGeom prst="rect">
            <a:avLst/>
          </a:prstGeom>
        </p:spPr>
      </p:pic>
      <p:pic>
        <p:nvPicPr>
          <p:cNvPr id="9" name="Picture 8" descr="cdo_cleo.jpg"/>
          <p:cNvPicPr>
            <a:picLocks noChangeAspect="1"/>
          </p:cNvPicPr>
          <p:nvPr/>
        </p:nvPicPr>
        <p:blipFill>
          <a:blip r:embed="rId4"/>
          <a:stretch>
            <a:fillRect/>
          </a:stretch>
        </p:blipFill>
        <p:spPr>
          <a:xfrm>
            <a:off x="3000000" y="1450000"/>
            <a:ext cx="2300000" cy="2300000"/>
          </a:xfrm>
          <a:prstGeom prst="rect">
            <a:avLst/>
          </a:prstGeom>
        </p:spPr>
      </p:pic>
      <p:sp>
        <p:nvSpPr>
          <p:cNvPr id="10" name="TextBox 9"/>
          <p:cNvSpPr txBox="1"/>
          <p:nvPr/>
        </p:nvSpPr>
        <p:spPr>
          <a:xfrm>
            <a:off x="600000" y="3850000"/>
            <a:ext cx="4800000" cy="500000"/>
          </a:xfrm>
          <a:prstGeom prst="rect">
            <a:avLst/>
          </a:prstGeom>
          <a:noFill/>
        </p:spPr>
        <p:txBody>
          <a:bodyPr wrap="square">
            <a:spAutoFit/>
          </a:bodyPr>
          <a:lstStyle/>
          <a:p>
            <a:pPr>
              <a:spcAft>
                <a:spcPts val="500"/>
              </a:spcAft>
            </a:pPr>
            <a:r>
              <a:rPr sz="1100" b="0">
                <a:solidFill>
                  <a:srgbClr val="77707A"/>
                </a:solidFill>
                <a:latin typeface="Nunito"/>
              </a:rPr>
              <a:t>Pronostic Côte d'Ivoire-Ghana (24 sept.) et rentrée Cléo (15 sept.)</a:t>
            </a:r>
          </a:p>
        </p:txBody>
      </p:sp>
      <p:sp>
        <p:nvSpPr>
          <p:cNvPr id="11" name="Rounded Rectangle 10"/>
          <p:cNvSpPr/>
          <p:nvPr/>
        </p:nvSpPr>
        <p:spPr>
          <a:xfrm>
            <a:off x="5800000" y="1400000"/>
            <a:ext cx="5800000" cy="46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00000" y="1460000"/>
            <a:ext cx="80000" cy="44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0000" y="1510000"/>
            <a:ext cx="5450000" cy="420000"/>
          </a:xfrm>
          <a:prstGeom prst="rect">
            <a:avLst/>
          </a:prstGeom>
          <a:noFill/>
        </p:spPr>
        <p:txBody>
          <a:bodyPr wrap="square">
            <a:spAutoFit/>
          </a:bodyPr>
          <a:lstStyle/>
          <a:p>
            <a:pPr>
              <a:spcAft>
                <a:spcPts val="500"/>
              </a:spcAft>
            </a:pPr>
            <a:r>
              <a:rPr sz="1500" b="1">
                <a:solidFill>
                  <a:srgbClr val="E50046"/>
                </a:solidFill>
                <a:latin typeface="Baloo 2"/>
              </a:rPr>
              <a:t>Ce qu'il fait</a:t>
            </a:r>
          </a:p>
        </p:txBody>
      </p:sp>
      <p:sp>
        <p:nvSpPr>
          <p:cNvPr id="14" name="TextBox 13"/>
          <p:cNvSpPr txBox="1"/>
          <p:nvPr/>
        </p:nvSpPr>
        <p:spPr>
          <a:xfrm>
            <a:off x="6030000" y="1940000"/>
            <a:ext cx="5450000" cy="3980000"/>
          </a:xfrm>
          <a:prstGeom prst="rect">
            <a:avLst/>
          </a:prstGeom>
          <a:noFill/>
        </p:spPr>
        <p:txBody>
          <a:bodyPr wrap="square">
            <a:spAutoFit/>
          </a:bodyPr>
          <a:lstStyle/>
          <a:p>
            <a:pPr>
              <a:spcAft>
                <a:spcPts val="500"/>
              </a:spcAft>
            </a:pPr>
            <a:r>
              <a:rPr sz="1200" b="1">
                <a:solidFill>
                  <a:srgbClr val="2B1B22"/>
                </a:solidFill>
                <a:latin typeface="Nunito"/>
              </a:rPr>
              <a:t>Pronostics avant chaque match des Éléphants :</a:t>
            </a:r>
            <a:r>
              <a:rPr sz="1200" b="0">
                <a:solidFill>
                  <a:srgbClr val="2B1B22"/>
                </a:solidFill>
                <a:latin typeface="Nunito"/>
              </a:rPr>
              <a:t> 380 à 517 commentaires par publication, le meilleur résultat relevé dans ce benchmark.</a:t>
            </a:r>
          </a:p>
          <a:p>
            <a:pPr>
              <a:spcAft>
                <a:spcPts val="500"/>
              </a:spcAft>
            </a:pPr>
            <a:r>
              <a:rPr sz="1200" b="1">
                <a:solidFill>
                  <a:srgbClr val="2B1B22"/>
                </a:solidFill>
                <a:latin typeface="Nunito"/>
              </a:rPr>
              <a:t>De la vidéo :</a:t>
            </a:r>
            <a:r>
              <a:rPr sz="1200" b="0">
                <a:solidFill>
                  <a:srgbClr val="2B1B22"/>
                </a:solidFill>
                <a:latin typeface="Nunito"/>
              </a:rPr>
              <a:t> 9 vidéos sur 30, des recettes et des conseils, jusqu'à 52 663 vues.</a:t>
            </a:r>
          </a:p>
          <a:p>
            <a:pPr>
              <a:spcAft>
                <a:spcPts val="500"/>
              </a:spcAft>
            </a:pPr>
            <a:r>
              <a:rPr sz="1200" b="1">
                <a:solidFill>
                  <a:srgbClr val="2B1B22"/>
                </a:solidFill>
                <a:latin typeface="Nunito"/>
              </a:rPr>
              <a:t>Un calendrier de temps forts :</a:t>
            </a:r>
            <a:r>
              <a:rPr sz="1200" b="0">
                <a:solidFill>
                  <a:srgbClr val="2B1B22"/>
                </a:solidFill>
                <a:latin typeface="Nunito"/>
              </a:rPr>
              <a:t> rentrée, Octobre rose, Journée de l'alimentation, Food Expo.</a:t>
            </a:r>
          </a:p>
          <a:p>
            <a:pPr>
              <a:spcAft>
                <a:spcPts val="500"/>
              </a:spcAft>
            </a:pPr>
            <a:r>
              <a:rPr sz="1200" b="1">
                <a:solidFill>
                  <a:srgbClr val="2B1B22"/>
                </a:solidFill>
                <a:latin typeface="Nunito"/>
              </a:rPr>
              <a:t>À reprendre :</a:t>
            </a:r>
            <a:r>
              <a:rPr sz="1200" b="0">
                <a:solidFill>
                  <a:srgbClr val="2B1B22"/>
                </a:solidFill>
                <a:latin typeface="Nunito"/>
              </a:rPr>
              <a:t> le pronostic avant les matchs des Éléphants, avec un paquet de bonbons à gagner.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3. CONCURRENT 2</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Chocolatine : petite page, ton d'Abidjan, vidéo et magasin</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14</a:t>
            </a:r>
          </a:p>
        </p:txBody>
      </p:sp>
      <p:pic>
        <p:nvPicPr>
          <p:cNvPr id="8" name="Picture 7" descr="choc_teams.jpg"/>
          <p:cNvPicPr>
            <a:picLocks noChangeAspect="1"/>
          </p:cNvPicPr>
          <p:nvPr/>
        </p:nvPicPr>
        <p:blipFill>
          <a:blip r:embed="rId3"/>
          <a:stretch>
            <a:fillRect/>
          </a:stretch>
        </p:blipFill>
        <p:spPr>
          <a:xfrm>
            <a:off x="600000" y="1450000"/>
            <a:ext cx="2300000" cy="2300000"/>
          </a:xfrm>
          <a:prstGeom prst="rect">
            <a:avLst/>
          </a:prstGeom>
        </p:spPr>
      </p:pic>
      <p:pic>
        <p:nvPicPr>
          <p:cNvPr id="9" name="Picture 8" descr="choc_crepe.jpg"/>
          <p:cNvPicPr>
            <a:picLocks noChangeAspect="1"/>
          </p:cNvPicPr>
          <p:nvPr/>
        </p:nvPicPr>
        <p:blipFill>
          <a:blip r:embed="rId4"/>
          <a:stretch>
            <a:fillRect/>
          </a:stretch>
        </p:blipFill>
        <p:spPr>
          <a:xfrm>
            <a:off x="3000000" y="1450000"/>
            <a:ext cx="1293750" cy="2300000"/>
          </a:xfrm>
          <a:prstGeom prst="rect">
            <a:avLst/>
          </a:prstGeom>
        </p:spPr>
      </p:pic>
      <p:sp>
        <p:nvSpPr>
          <p:cNvPr id="10" name="TextBox 9"/>
          <p:cNvSpPr txBox="1"/>
          <p:nvPr/>
        </p:nvSpPr>
        <p:spPr>
          <a:xfrm>
            <a:off x="600000" y="3850000"/>
            <a:ext cx="4800000" cy="500000"/>
          </a:xfrm>
          <a:prstGeom prst="rect">
            <a:avLst/>
          </a:prstGeom>
          <a:noFill/>
        </p:spPr>
        <p:txBody>
          <a:bodyPr wrap="square">
            <a:spAutoFit/>
          </a:bodyPr>
          <a:lstStyle/>
          <a:p>
            <a:pPr>
              <a:spcAft>
                <a:spcPts val="500"/>
              </a:spcAft>
            </a:pPr>
            <a:r>
              <a:rPr sz="1100" b="0">
                <a:solidFill>
                  <a:srgbClr val="77707A"/>
                </a:solidFill>
                <a:latin typeface="Nunito"/>
              </a:rPr>
              <a:t>« Team pâte ou team tablette » (24 sept.) et vidéo crêpe (7 juil.)</a:t>
            </a:r>
          </a:p>
        </p:txBody>
      </p:sp>
      <p:sp>
        <p:nvSpPr>
          <p:cNvPr id="11" name="Rounded Rectangle 10"/>
          <p:cNvSpPr/>
          <p:nvPr/>
        </p:nvSpPr>
        <p:spPr>
          <a:xfrm>
            <a:off x="5800000" y="1400000"/>
            <a:ext cx="5800000" cy="46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00000" y="1460000"/>
            <a:ext cx="80000" cy="448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0000" y="1510000"/>
            <a:ext cx="5450000" cy="420000"/>
          </a:xfrm>
          <a:prstGeom prst="rect">
            <a:avLst/>
          </a:prstGeom>
          <a:noFill/>
        </p:spPr>
        <p:txBody>
          <a:bodyPr wrap="square">
            <a:spAutoFit/>
          </a:bodyPr>
          <a:lstStyle/>
          <a:p>
            <a:pPr>
              <a:spcAft>
                <a:spcPts val="500"/>
              </a:spcAft>
            </a:pPr>
            <a:r>
              <a:rPr sz="1500" b="1">
                <a:solidFill>
                  <a:srgbClr val="2B1B22"/>
                </a:solidFill>
                <a:latin typeface="Baloo 2"/>
              </a:rPr>
              <a:t>Ce qu'il fait</a:t>
            </a:r>
          </a:p>
        </p:txBody>
      </p:sp>
      <p:sp>
        <p:nvSpPr>
          <p:cNvPr id="14" name="TextBox 13"/>
          <p:cNvSpPr txBox="1"/>
          <p:nvPr/>
        </p:nvSpPr>
        <p:spPr>
          <a:xfrm>
            <a:off x="6030000" y="1940000"/>
            <a:ext cx="5450000" cy="3980000"/>
          </a:xfrm>
          <a:prstGeom prst="rect">
            <a:avLst/>
          </a:prstGeom>
          <a:noFill/>
        </p:spPr>
        <p:txBody>
          <a:bodyPr wrap="square">
            <a:spAutoFit/>
          </a:bodyPr>
          <a:lstStyle/>
          <a:p>
            <a:pPr>
              <a:spcAft>
                <a:spcPts val="500"/>
              </a:spcAft>
            </a:pPr>
            <a:r>
              <a:rPr sz="1200" b="1">
                <a:solidFill>
                  <a:srgbClr val="2B1B22"/>
                </a:solidFill>
                <a:latin typeface="Nunito"/>
              </a:rPr>
              <a:t>Une publication sur deux en vidéo</a:t>
            </a:r>
            <a:r>
              <a:rPr sz="1200" b="0">
                <a:solidFill>
                  <a:srgbClr val="2B1B22"/>
                </a:solidFill>
                <a:latin typeface="Nunito"/>
              </a:rPr>
              <a:t> (14 sur 30) : micro-trottoirs, recettes, humour. La vidéo crêpe a fait 57 838 vues.</a:t>
            </a:r>
          </a:p>
          <a:p>
            <a:pPr>
              <a:spcAft>
                <a:spcPts val="500"/>
              </a:spcAft>
            </a:pPr>
            <a:r>
              <a:rPr sz="1200" b="1">
                <a:solidFill>
                  <a:srgbClr val="2B1B22"/>
                </a:solidFill>
                <a:latin typeface="Nunito"/>
              </a:rPr>
              <a:t>Un ton d'Abidjan assumé :</a:t>
            </a:r>
            <a:r>
              <a:rPr sz="1200" b="0">
                <a:solidFill>
                  <a:srgbClr val="2B1B22"/>
                </a:solidFill>
                <a:latin typeface="Nunito"/>
              </a:rPr>
              <a:t> « ça enjaille », « gbairai », « eh toi làààà ».</a:t>
            </a:r>
          </a:p>
          <a:p>
            <a:pPr>
              <a:spcAft>
                <a:spcPts val="500"/>
              </a:spcAft>
            </a:pPr>
            <a:r>
              <a:rPr sz="1200" b="1">
                <a:solidFill>
                  <a:srgbClr val="2B1B22"/>
                </a:solidFill>
                <a:latin typeface="Nunito"/>
              </a:rPr>
              <a:t>Des promotions en magasin relayées :</a:t>
            </a:r>
            <a:r>
              <a:rPr sz="1200" b="0">
                <a:solidFill>
                  <a:srgbClr val="2B1B22"/>
                </a:solidFill>
                <a:latin typeface="Nunito"/>
              </a:rPr>
              <a:t> Carrefour, Supeco, Coco Market, stand H23 au Food Expo.</a:t>
            </a:r>
          </a:p>
          <a:p>
            <a:pPr>
              <a:spcAft>
                <a:spcPts val="500"/>
              </a:spcAft>
            </a:pPr>
            <a:r>
              <a:rPr sz="1200" b="1">
                <a:solidFill>
                  <a:srgbClr val="2B1B22"/>
                </a:solidFill>
                <a:latin typeface="Nunito"/>
              </a:rPr>
              <a:t>À reprendre :</a:t>
            </a:r>
            <a:r>
              <a:rPr sz="1200" b="0">
                <a:solidFill>
                  <a:srgbClr val="2B1B22"/>
                </a:solidFill>
                <a:latin typeface="Nunito"/>
              </a:rPr>
              <a:t> le format « team A ou team B » et le relais des points de vente.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3. CONCURRENT 3</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Afriwara (Pecto) : une campagne CAN, puis le silence</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15</a:t>
            </a:r>
          </a:p>
        </p:txBody>
      </p:sp>
      <p:sp>
        <p:nvSpPr>
          <p:cNvPr id="8" name="Rounded Rectangle 7"/>
          <p:cNvSpPr/>
          <p:nvPr/>
        </p:nvSpPr>
        <p:spPr>
          <a:xfrm>
            <a:off x="600000" y="1400000"/>
            <a:ext cx="5400000" cy="46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0000" y="1460000"/>
            <a:ext cx="80000" cy="44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000" y="1510000"/>
            <a:ext cx="5050000" cy="420000"/>
          </a:xfrm>
          <a:prstGeom prst="rect">
            <a:avLst/>
          </a:prstGeom>
          <a:noFill/>
        </p:spPr>
        <p:txBody>
          <a:bodyPr wrap="square">
            <a:spAutoFit/>
          </a:bodyPr>
          <a:lstStyle/>
          <a:p>
            <a:pPr>
              <a:spcAft>
                <a:spcPts val="500"/>
              </a:spcAft>
            </a:pPr>
            <a:r>
              <a:rPr sz="1500" b="1">
                <a:solidFill>
                  <a:srgbClr val="E50046"/>
                </a:solidFill>
                <a:latin typeface="Baloo 2"/>
              </a:rPr>
              <a:t>Ce qu'il a fait</a:t>
            </a:r>
          </a:p>
        </p:txBody>
      </p:sp>
      <p:sp>
        <p:nvSpPr>
          <p:cNvPr id="11" name="TextBox 10"/>
          <p:cNvSpPr txBox="1"/>
          <p:nvPr/>
        </p:nvSpPr>
        <p:spPr>
          <a:xfrm>
            <a:off x="830000" y="1940000"/>
            <a:ext cx="5050000" cy="3980000"/>
          </a:xfrm>
          <a:prstGeom prst="rect">
            <a:avLst/>
          </a:prstGeom>
          <a:noFill/>
        </p:spPr>
        <p:txBody>
          <a:bodyPr wrap="square">
            <a:spAutoFit/>
          </a:bodyPr>
          <a:lstStyle/>
          <a:p>
            <a:pPr>
              <a:spcAft>
                <a:spcPts val="500"/>
              </a:spcAft>
            </a:pPr>
            <a:r>
              <a:rPr sz="1200" b="1">
                <a:solidFill>
                  <a:srgbClr val="2B1B22"/>
                </a:solidFill>
                <a:latin typeface="Nunito"/>
              </a:rPr>
              <a:t>CAN 2024 :</a:t>
            </a:r>
            <a:r>
              <a:rPr sz="1200" b="0">
                <a:solidFill>
                  <a:srgbClr val="2B1B22"/>
                </a:solidFill>
                <a:latin typeface="Nunito"/>
              </a:rPr>
              <a:t> une série « Pecto, le compagnon des fans de football » en janvier 2024, avec des publications jusqu'à 648 interactions.</a:t>
            </a:r>
          </a:p>
          <a:p>
            <a:pPr>
              <a:spcAft>
                <a:spcPts val="500"/>
              </a:spcAft>
            </a:pPr>
            <a:r>
              <a:rPr sz="1200" b="1">
                <a:solidFill>
                  <a:srgbClr val="2B1B22"/>
                </a:solidFill>
                <a:latin typeface="Nunito"/>
              </a:rPr>
              <a:t>Devinettes et « signale ta ville » :</a:t>
            </a:r>
            <a:r>
              <a:rPr sz="1200" b="0">
                <a:solidFill>
                  <a:srgbClr val="2B1B22"/>
                </a:solidFill>
                <a:latin typeface="Nunito"/>
              </a:rPr>
              <a:t> des questions courtes qui font commenter.</a:t>
            </a:r>
          </a:p>
          <a:p>
            <a:pPr>
              <a:spcAft>
                <a:spcPts val="500"/>
              </a:spcAft>
            </a:pPr>
            <a:r>
              <a:rPr sz="1200" b="1">
                <a:solidFill>
                  <a:srgbClr val="2B1B22"/>
                </a:solidFill>
                <a:latin typeface="Nunito"/>
              </a:rPr>
              <a:t>Food Expo 2025 :</a:t>
            </a:r>
            <a:r>
              <a:rPr sz="1200" b="0">
                <a:solidFill>
                  <a:srgbClr val="2B1B22"/>
                </a:solidFill>
                <a:latin typeface="Nunito"/>
              </a:rPr>
              <a:t> un stand, puis plus rien sur Facebook depuis le 27 juin 2025.</a:t>
            </a:r>
          </a:p>
          <a:p>
            <a:pPr>
              <a:spcAft>
                <a:spcPts val="500"/>
              </a:spcAft>
            </a:pPr>
            <a:r>
              <a:rPr sz="1200" b="0">
                <a:solidFill>
                  <a:srgbClr val="2B1B22"/>
                </a:solidFill>
                <a:latin typeface="Nunito"/>
              </a:rPr>
              <a:t>Instagram @afriwaraciv : 1 141 abonnés, dernière publication relevée en janvier 2024.</a:t>
            </a:r>
          </a:p>
        </p:txBody>
      </p:sp>
      <p:sp>
        <p:nvSpPr>
          <p:cNvPr id="12" name="Rounded Rectangle 11"/>
          <p:cNvSpPr/>
          <p:nvPr/>
        </p:nvSpPr>
        <p:spPr>
          <a:xfrm>
            <a:off x="6200000" y="1400000"/>
            <a:ext cx="5400000" cy="46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0000" y="1460000"/>
            <a:ext cx="80000" cy="448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0000" y="1510000"/>
            <a:ext cx="5050000" cy="420000"/>
          </a:xfrm>
          <a:prstGeom prst="rect">
            <a:avLst/>
          </a:prstGeom>
          <a:noFill/>
        </p:spPr>
        <p:txBody>
          <a:bodyPr wrap="square">
            <a:spAutoFit/>
          </a:bodyPr>
          <a:lstStyle/>
          <a:p>
            <a:pPr>
              <a:spcAft>
                <a:spcPts val="500"/>
              </a:spcAft>
            </a:pPr>
            <a:r>
              <a:rPr sz="1500" b="1">
                <a:solidFill>
                  <a:srgbClr val="2B1B22"/>
                </a:solidFill>
                <a:latin typeface="Baloo 2"/>
              </a:rPr>
              <a:t>Ce que ça veut dire pour nous</a:t>
            </a:r>
          </a:p>
        </p:txBody>
      </p:sp>
      <p:sp>
        <p:nvSpPr>
          <p:cNvPr id="15" name="TextBox 14"/>
          <p:cNvSpPr txBox="1"/>
          <p:nvPr/>
        </p:nvSpPr>
        <p:spPr>
          <a:xfrm>
            <a:off x="6430000" y="1940000"/>
            <a:ext cx="5050000" cy="3980000"/>
          </a:xfrm>
          <a:prstGeom prst="rect">
            <a:avLst/>
          </a:prstGeom>
          <a:noFill/>
        </p:spPr>
        <p:txBody>
          <a:bodyPr wrap="square">
            <a:spAutoFit/>
          </a:bodyPr>
          <a:lstStyle/>
          <a:p>
            <a:pPr>
              <a:spcAft>
                <a:spcPts val="500"/>
              </a:spcAft>
            </a:pPr>
            <a:r>
              <a:rPr sz="1300" b="0">
                <a:solidFill>
                  <a:srgbClr val="2B1B22"/>
                </a:solidFill>
                <a:latin typeface="Nunito"/>
              </a:rPr>
              <a:t>Notre concurrent le plus direct sur la menthe et le gingembre </a:t>
            </a:r>
            <a:r>
              <a:rPr sz="1300" b="1">
                <a:solidFill>
                  <a:srgbClr val="2B1B22"/>
                </a:solidFill>
                <a:latin typeface="Nunito"/>
              </a:rPr>
              <a:t>ne parle plus à personne sur les réseaux</a:t>
            </a:r>
            <a:r>
              <a:rPr sz="1300" b="0">
                <a:solidFill>
                  <a:srgbClr val="2B1B22"/>
                </a:solidFill>
                <a:latin typeface="Nunito"/>
              </a:rPr>
              <a:t>.</a:t>
            </a:r>
          </a:p>
          <a:p>
            <a:pPr>
              <a:spcAft>
                <a:spcPts val="500"/>
              </a:spcAft>
            </a:pPr>
          </a:p>
          <a:p>
            <a:pPr>
              <a:spcAft>
                <a:spcPts val="500"/>
              </a:spcAft>
            </a:pPr>
            <a:r>
              <a:rPr sz="1300" b="0">
                <a:solidFill>
                  <a:srgbClr val="2B1B22"/>
                </a:solidFill>
                <a:latin typeface="Nunito"/>
              </a:rPr>
              <a:t>Super Mint (« Ça glace fort ! ») et Super Gnamakou (« Ça chauffe grave ! ») ont des signatures prêtes à l'emploi. Les faire vivre maintenant, c'est occuper un terrain laissé libre.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3. SYNTHÈSE</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Le benchmark en un tableau</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16</a:t>
            </a:r>
          </a:p>
        </p:txBody>
      </p:sp>
      <p:graphicFrame>
        <p:nvGraphicFramePr>
          <p:cNvPr id="8" name="Table 7"/>
          <p:cNvGraphicFramePr>
            <a:graphicFrameLocks noGrp="1"/>
          </p:cNvGraphicFramePr>
          <p:nvPr/>
        </p:nvGraphicFramePr>
        <p:xfrm>
          <a:off x="600000" y="1450000"/>
          <a:ext cx="11000000" cy="4160000"/>
        </p:xfrm>
        <a:graphic>
          <a:graphicData uri="http://schemas.openxmlformats.org/drawingml/2006/table">
            <a:tbl>
              <a:tblPr firstRow="1" bandRow="1">
                <a:tableStyleId>{5C22544A-7EE6-4342-B048-85BDC9FD1C3A}</a:tableStyleId>
              </a:tblPr>
              <a:tblGrid>
                <a:gridCol w="2700000"/>
                <a:gridCol w="2100000"/>
                <a:gridCol w="2000000"/>
                <a:gridCol w="2100000"/>
                <a:gridCol w="2100000"/>
              </a:tblGrid>
              <a:tr h="520000">
                <a:tc>
                  <a:txBody>
                    <a:bodyPr/>
                    <a:lstStyle/>
                    <a:p>
                      <a:r>
                        <a:rPr sz="1200" b="1">
                          <a:solidFill>
                            <a:srgbClr val="FFFFFF"/>
                          </a:solidFill>
                          <a:latin typeface="Nunito"/>
                        </a:rPr>
                        <a:t/>
                      </a:r>
                    </a:p>
                  </a:txBody>
                  <a:tcPr marL="70000" marR="70000" marT="35000" marB="35000">
                    <a:solidFill>
                      <a:srgbClr val="E50046"/>
                    </a:solidFill>
                  </a:tcPr>
                </a:tc>
                <a:tc>
                  <a:txBody>
                    <a:bodyPr/>
                    <a:lstStyle/>
                    <a:p>
                      <a:r>
                        <a:rPr sz="1200" b="1">
                          <a:solidFill>
                            <a:srgbClr val="FFFFFF"/>
                          </a:solidFill>
                          <a:latin typeface="Nunito"/>
                        </a:rPr>
                        <a:t>Unifood</a:t>
                      </a:r>
                    </a:p>
                  </a:txBody>
                  <a:tcPr marL="70000" marR="70000" marT="35000" marB="35000">
                    <a:solidFill>
                      <a:srgbClr val="E50046"/>
                    </a:solidFill>
                  </a:tcPr>
                </a:tc>
                <a:tc>
                  <a:txBody>
                    <a:bodyPr/>
                    <a:lstStyle/>
                    <a:p>
                      <a:r>
                        <a:rPr sz="1200" b="1">
                          <a:solidFill>
                            <a:srgbClr val="FFFFFF"/>
                          </a:solidFill>
                          <a:latin typeface="Nunito"/>
                        </a:rPr>
                        <a:t>Afriwara</a:t>
                      </a:r>
                    </a:p>
                  </a:txBody>
                  <a:tcPr marL="70000" marR="70000" marT="35000" marB="35000">
                    <a:solidFill>
                      <a:srgbClr val="E50046"/>
                    </a:solidFill>
                  </a:tcPr>
                </a:tc>
                <a:tc>
                  <a:txBody>
                    <a:bodyPr/>
                    <a:lstStyle/>
                    <a:p>
                      <a:r>
                        <a:rPr sz="1200" b="1">
                          <a:solidFill>
                            <a:srgbClr val="FFFFFF"/>
                          </a:solidFill>
                          <a:latin typeface="Nunito"/>
                        </a:rPr>
                        <a:t>Carré d'Or</a:t>
                      </a:r>
                    </a:p>
                  </a:txBody>
                  <a:tcPr marL="70000" marR="70000" marT="35000" marB="35000">
                    <a:solidFill>
                      <a:srgbClr val="E50046"/>
                    </a:solidFill>
                  </a:tcPr>
                </a:tc>
                <a:tc>
                  <a:txBody>
                    <a:bodyPr/>
                    <a:lstStyle/>
                    <a:p>
                      <a:r>
                        <a:rPr sz="1200" b="1">
                          <a:solidFill>
                            <a:srgbClr val="FFFFFF"/>
                          </a:solidFill>
                          <a:latin typeface="Nunito"/>
                        </a:rPr>
                        <a:t>Chocolatine</a:t>
                      </a:r>
                    </a:p>
                  </a:txBody>
                  <a:tcPr marL="70000" marR="70000" marT="35000" marB="35000">
                    <a:solidFill>
                      <a:srgbClr val="E50046"/>
                    </a:solidFill>
                  </a:tcPr>
                </a:tc>
              </a:tr>
              <a:tr h="520000">
                <a:tc>
                  <a:txBody>
                    <a:bodyPr/>
                    <a:lstStyle/>
                    <a:p>
                      <a:r>
                        <a:rPr sz="1200" b="1">
                          <a:solidFill>
                            <a:srgbClr val="2B1B22"/>
                          </a:solidFill>
                          <a:latin typeface="Nunito"/>
                        </a:rPr>
                        <a:t>Abonnés Facebook</a:t>
                      </a:r>
                    </a:p>
                  </a:txBody>
                  <a:tcPr marL="70000" marR="70000" marT="35000" marB="35000">
                    <a:solidFill>
                      <a:srgbClr val="FFFFFF"/>
                    </a:solidFill>
                  </a:tcPr>
                </a:tc>
                <a:tc>
                  <a:txBody>
                    <a:bodyPr/>
                    <a:lstStyle/>
                    <a:p>
                      <a:r>
                        <a:rPr sz="1200" b="0">
                          <a:solidFill>
                            <a:srgbClr val="2B1B22"/>
                          </a:solidFill>
                          <a:latin typeface="Nunito"/>
                        </a:rPr>
                        <a:t>12 655</a:t>
                      </a:r>
                    </a:p>
                  </a:txBody>
                  <a:tcPr marL="70000" marR="70000" marT="35000" marB="35000">
                    <a:solidFill>
                      <a:srgbClr val="FFFFFF"/>
                    </a:solidFill>
                  </a:tcPr>
                </a:tc>
                <a:tc>
                  <a:txBody>
                    <a:bodyPr/>
                    <a:lstStyle/>
                    <a:p>
                      <a:r>
                        <a:rPr sz="1200" b="0">
                          <a:solidFill>
                            <a:srgbClr val="2B1B22"/>
                          </a:solidFill>
                          <a:latin typeface="Nunito"/>
                        </a:rPr>
                        <a:t>68 551</a:t>
                      </a:r>
                    </a:p>
                  </a:txBody>
                  <a:tcPr marL="70000" marR="70000" marT="35000" marB="35000">
                    <a:solidFill>
                      <a:srgbClr val="FFFFFF"/>
                    </a:solidFill>
                  </a:tcPr>
                </a:tc>
                <a:tc>
                  <a:txBody>
                    <a:bodyPr/>
                    <a:lstStyle/>
                    <a:p>
                      <a:r>
                        <a:rPr sz="1200" b="0">
                          <a:solidFill>
                            <a:srgbClr val="2B1B22"/>
                          </a:solidFill>
                          <a:latin typeface="Nunito"/>
                        </a:rPr>
                        <a:t>211 616</a:t>
                      </a:r>
                    </a:p>
                  </a:txBody>
                  <a:tcPr marL="70000" marR="70000" marT="35000" marB="35000">
                    <a:solidFill>
                      <a:srgbClr val="FFFFFF"/>
                    </a:solidFill>
                  </a:tcPr>
                </a:tc>
                <a:tc>
                  <a:txBody>
                    <a:bodyPr/>
                    <a:lstStyle/>
                    <a:p>
                      <a:r>
                        <a:rPr sz="1200" b="0">
                          <a:solidFill>
                            <a:srgbClr val="2B1B22"/>
                          </a:solidFill>
                          <a:latin typeface="Nunito"/>
                        </a:rPr>
                        <a:t>1 359</a:t>
                      </a:r>
                    </a:p>
                  </a:txBody>
                  <a:tcPr marL="70000" marR="70000" marT="35000" marB="35000">
                    <a:solidFill>
                      <a:srgbClr val="FFFFFF"/>
                    </a:solidFill>
                  </a:tcPr>
                </a:tc>
              </a:tr>
              <a:tr h="520000">
                <a:tc>
                  <a:txBody>
                    <a:bodyPr/>
                    <a:lstStyle/>
                    <a:p>
                      <a:r>
                        <a:rPr sz="1200" b="1">
                          <a:solidFill>
                            <a:srgbClr val="2B1B22"/>
                          </a:solidFill>
                          <a:latin typeface="Nunito"/>
                        </a:rPr>
                        <a:t>Publications par semaine</a:t>
                      </a:r>
                    </a:p>
                  </a:txBody>
                  <a:tcPr marL="70000" marR="70000" marT="35000" marB="35000">
                    <a:solidFill>
                      <a:srgbClr val="FDF0F4"/>
                    </a:solidFill>
                  </a:tcPr>
                </a:tc>
                <a:tc>
                  <a:txBody>
                    <a:bodyPr/>
                    <a:lstStyle/>
                    <a:p>
                      <a:r>
                        <a:rPr sz="1200" b="0">
                          <a:solidFill>
                            <a:srgbClr val="2B1B22"/>
                          </a:solidFill>
                          <a:latin typeface="Nunito"/>
                        </a:rPr>
                        <a:t>2,5</a:t>
                      </a:r>
                    </a:p>
                  </a:txBody>
                  <a:tcPr marL="70000" marR="70000" marT="35000" marB="35000">
                    <a:solidFill>
                      <a:srgbClr val="FDF0F4"/>
                    </a:solidFill>
                  </a:tcPr>
                </a:tc>
                <a:tc>
                  <a:txBody>
                    <a:bodyPr/>
                    <a:lstStyle/>
                    <a:p>
                      <a:r>
                        <a:rPr sz="1200" b="0">
                          <a:solidFill>
                            <a:srgbClr val="2B1B22"/>
                          </a:solidFill>
                          <a:latin typeface="Nunito"/>
                        </a:rPr>
                        <a:t>à l'arrêt</a:t>
                      </a:r>
                    </a:p>
                  </a:txBody>
                  <a:tcPr marL="70000" marR="70000" marT="35000" marB="35000">
                    <a:solidFill>
                      <a:srgbClr val="FDF0F4"/>
                    </a:solidFill>
                  </a:tcPr>
                </a:tc>
                <a:tc>
                  <a:txBody>
                    <a:bodyPr/>
                    <a:lstStyle/>
                    <a:p>
                      <a:r>
                        <a:rPr sz="1200" b="0">
                          <a:solidFill>
                            <a:srgbClr val="2B1B22"/>
                          </a:solidFill>
                          <a:latin typeface="Nunito"/>
                        </a:rPr>
                        <a:t>4,2</a:t>
                      </a:r>
                    </a:p>
                  </a:txBody>
                  <a:tcPr marL="70000" marR="70000" marT="35000" marB="35000">
                    <a:solidFill>
                      <a:srgbClr val="FDF0F4"/>
                    </a:solidFill>
                  </a:tcPr>
                </a:tc>
                <a:tc>
                  <a:txBody>
                    <a:bodyPr/>
                    <a:lstStyle/>
                    <a:p>
                      <a:r>
                        <a:rPr sz="1200" b="0">
                          <a:solidFill>
                            <a:srgbClr val="2B1B22"/>
                          </a:solidFill>
                          <a:latin typeface="Nunito"/>
                        </a:rPr>
                        <a:t>2,1</a:t>
                      </a:r>
                    </a:p>
                  </a:txBody>
                  <a:tcPr marL="70000" marR="70000" marT="35000" marB="35000">
                    <a:solidFill>
                      <a:srgbClr val="FDF0F4"/>
                    </a:solidFill>
                  </a:tcPr>
                </a:tc>
              </a:tr>
              <a:tr h="520000">
                <a:tc>
                  <a:txBody>
                    <a:bodyPr/>
                    <a:lstStyle/>
                    <a:p>
                      <a:r>
                        <a:rPr sz="1200" b="1">
                          <a:solidFill>
                            <a:srgbClr val="2B1B22"/>
                          </a:solidFill>
                          <a:latin typeface="Nunito"/>
                        </a:rPr>
                        <a:t>Interactions médianes</a:t>
                      </a:r>
                    </a:p>
                  </a:txBody>
                  <a:tcPr marL="70000" marR="70000" marT="35000" marB="35000">
                    <a:solidFill>
                      <a:srgbClr val="FFFFFF"/>
                    </a:solidFill>
                  </a:tcPr>
                </a:tc>
                <a:tc>
                  <a:txBody>
                    <a:bodyPr/>
                    <a:lstStyle/>
                    <a:p>
                      <a:r>
                        <a:rPr sz="1200" b="0">
                          <a:solidFill>
                            <a:srgbClr val="2B1B22"/>
                          </a:solidFill>
                          <a:latin typeface="Nunito"/>
                        </a:rPr>
                        <a:t>27</a:t>
                      </a:r>
                    </a:p>
                  </a:txBody>
                  <a:tcPr marL="70000" marR="70000" marT="35000" marB="35000">
                    <a:solidFill>
                      <a:srgbClr val="FFFFFF"/>
                    </a:solidFill>
                  </a:tcPr>
                </a:tc>
                <a:tc>
                  <a:txBody>
                    <a:bodyPr/>
                    <a:lstStyle/>
                    <a:p>
                      <a:r>
                        <a:rPr sz="1200" b="0">
                          <a:solidFill>
                            <a:srgbClr val="2B1B22"/>
                          </a:solidFill>
                          <a:latin typeface="Nunito"/>
                        </a:rPr>
                        <a:t>52 (en 2024)</a:t>
                      </a:r>
                    </a:p>
                  </a:txBody>
                  <a:tcPr marL="70000" marR="70000" marT="35000" marB="35000">
                    <a:solidFill>
                      <a:srgbClr val="FFFFFF"/>
                    </a:solidFill>
                  </a:tcPr>
                </a:tc>
                <a:tc>
                  <a:txBody>
                    <a:bodyPr/>
                    <a:lstStyle/>
                    <a:p>
                      <a:r>
                        <a:rPr sz="1200" b="0">
                          <a:solidFill>
                            <a:srgbClr val="2B1B22"/>
                          </a:solidFill>
                          <a:latin typeface="Nunito"/>
                        </a:rPr>
                        <a:t>56</a:t>
                      </a:r>
                    </a:p>
                  </a:txBody>
                  <a:tcPr marL="70000" marR="70000" marT="35000" marB="35000">
                    <a:solidFill>
                      <a:srgbClr val="FFFFFF"/>
                    </a:solidFill>
                  </a:tcPr>
                </a:tc>
                <a:tc>
                  <a:txBody>
                    <a:bodyPr/>
                    <a:lstStyle/>
                    <a:p>
                      <a:r>
                        <a:rPr sz="1200" b="0">
                          <a:solidFill>
                            <a:srgbClr val="2B1B22"/>
                          </a:solidFill>
                          <a:latin typeface="Nunito"/>
                        </a:rPr>
                        <a:t>19</a:t>
                      </a:r>
                    </a:p>
                  </a:txBody>
                  <a:tcPr marL="70000" marR="70000" marT="35000" marB="35000">
                    <a:solidFill>
                      <a:srgbClr val="FFFFFF"/>
                    </a:solidFill>
                  </a:tcPr>
                </a:tc>
              </a:tr>
              <a:tr h="520000">
                <a:tc>
                  <a:txBody>
                    <a:bodyPr/>
                    <a:lstStyle/>
                    <a:p>
                      <a:r>
                        <a:rPr sz="1200" b="1">
                          <a:solidFill>
                            <a:srgbClr val="2B1B22"/>
                          </a:solidFill>
                          <a:latin typeface="Nunito"/>
                        </a:rPr>
                        <a:t>Vidéos sur 30 publications</a:t>
                      </a:r>
                    </a:p>
                  </a:txBody>
                  <a:tcPr marL="70000" marR="70000" marT="35000" marB="35000">
                    <a:solidFill>
                      <a:srgbClr val="FDF0F4"/>
                    </a:solidFill>
                  </a:tcPr>
                </a:tc>
                <a:tc>
                  <a:txBody>
                    <a:bodyPr/>
                    <a:lstStyle/>
                    <a:p>
                      <a:r>
                        <a:rPr sz="1200" b="0">
                          <a:solidFill>
                            <a:srgbClr val="2B1B22"/>
                          </a:solidFill>
                          <a:latin typeface="Nunito"/>
                        </a:rPr>
                        <a:t>0</a:t>
                      </a:r>
                    </a:p>
                  </a:txBody>
                  <a:tcPr marL="70000" marR="70000" marT="35000" marB="35000">
                    <a:solidFill>
                      <a:srgbClr val="FDF0F4"/>
                    </a:solidFill>
                  </a:tcPr>
                </a:tc>
                <a:tc>
                  <a:txBody>
                    <a:bodyPr/>
                    <a:lstStyle/>
                    <a:p>
                      <a:r>
                        <a:rPr sz="1200" b="0">
                          <a:solidFill>
                            <a:srgbClr val="2B1B22"/>
                          </a:solidFill>
                          <a:latin typeface="Nunito"/>
                        </a:rPr>
                        <a:t>1</a:t>
                      </a:r>
                    </a:p>
                  </a:txBody>
                  <a:tcPr marL="70000" marR="70000" marT="35000" marB="35000">
                    <a:solidFill>
                      <a:srgbClr val="FDF0F4"/>
                    </a:solidFill>
                  </a:tcPr>
                </a:tc>
                <a:tc>
                  <a:txBody>
                    <a:bodyPr/>
                    <a:lstStyle/>
                    <a:p>
                      <a:r>
                        <a:rPr sz="1200" b="0">
                          <a:solidFill>
                            <a:srgbClr val="2B1B22"/>
                          </a:solidFill>
                          <a:latin typeface="Nunito"/>
                        </a:rPr>
                        <a:t>9</a:t>
                      </a:r>
                    </a:p>
                  </a:txBody>
                  <a:tcPr marL="70000" marR="70000" marT="35000" marB="35000">
                    <a:solidFill>
                      <a:srgbClr val="FDF0F4"/>
                    </a:solidFill>
                  </a:tcPr>
                </a:tc>
                <a:tc>
                  <a:txBody>
                    <a:bodyPr/>
                    <a:lstStyle/>
                    <a:p>
                      <a:r>
                        <a:rPr sz="1200" b="0">
                          <a:solidFill>
                            <a:srgbClr val="2B1B22"/>
                          </a:solidFill>
                          <a:latin typeface="Nunito"/>
                        </a:rPr>
                        <a:t>14</a:t>
                      </a:r>
                    </a:p>
                  </a:txBody>
                  <a:tcPr marL="70000" marR="70000" marT="35000" marB="35000">
                    <a:solidFill>
                      <a:srgbClr val="FDF0F4"/>
                    </a:solidFill>
                  </a:tcPr>
                </a:tc>
              </a:tr>
              <a:tr h="520000">
                <a:tc>
                  <a:txBody>
                    <a:bodyPr/>
                    <a:lstStyle/>
                    <a:p>
                      <a:r>
                        <a:rPr sz="1200" b="1">
                          <a:solidFill>
                            <a:srgbClr val="2B1B22"/>
                          </a:solidFill>
                          <a:latin typeface="Nunito"/>
                        </a:rPr>
                        <a:t>Mécanique phare</a:t>
                      </a:r>
                    </a:p>
                  </a:txBody>
                  <a:tcPr marL="70000" marR="70000" marT="35000" marB="35000">
                    <a:solidFill>
                      <a:srgbClr val="FFFFFF"/>
                    </a:solidFill>
                  </a:tcPr>
                </a:tc>
                <a:tc>
                  <a:txBody>
                    <a:bodyPr/>
                    <a:lstStyle/>
                    <a:p>
                      <a:r>
                        <a:rPr sz="1200" b="0">
                          <a:solidFill>
                            <a:srgbClr val="2B1B22"/>
                          </a:solidFill>
                          <a:latin typeface="Nunito"/>
                        </a:rPr>
                        <a:t>Quiz</a:t>
                      </a:r>
                    </a:p>
                  </a:txBody>
                  <a:tcPr marL="70000" marR="70000" marT="35000" marB="35000">
                    <a:solidFill>
                      <a:srgbClr val="FFFFFF"/>
                    </a:solidFill>
                  </a:tcPr>
                </a:tc>
                <a:tc>
                  <a:txBody>
                    <a:bodyPr/>
                    <a:lstStyle/>
                    <a:p>
                      <a:r>
                        <a:rPr sz="1200" b="0">
                          <a:solidFill>
                            <a:srgbClr val="2B1B22"/>
                          </a:solidFill>
                          <a:latin typeface="Nunito"/>
                        </a:rPr>
                        <a:t>Football (CAN)</a:t>
                      </a:r>
                    </a:p>
                  </a:txBody>
                  <a:tcPr marL="70000" marR="70000" marT="35000" marB="35000">
                    <a:solidFill>
                      <a:srgbClr val="FFFFFF"/>
                    </a:solidFill>
                  </a:tcPr>
                </a:tc>
                <a:tc>
                  <a:txBody>
                    <a:bodyPr/>
                    <a:lstStyle/>
                    <a:p>
                      <a:r>
                        <a:rPr sz="1200" b="0">
                          <a:solidFill>
                            <a:srgbClr val="2B1B22"/>
                          </a:solidFill>
                          <a:latin typeface="Nunito"/>
                        </a:rPr>
                        <a:t>Pronostics des matchs</a:t>
                      </a:r>
                    </a:p>
                  </a:txBody>
                  <a:tcPr marL="70000" marR="70000" marT="35000" marB="35000">
                    <a:solidFill>
                      <a:srgbClr val="FFFFFF"/>
                    </a:solidFill>
                  </a:tcPr>
                </a:tc>
                <a:tc>
                  <a:txBody>
                    <a:bodyPr/>
                    <a:lstStyle/>
                    <a:p>
                      <a:r>
                        <a:rPr sz="1200" b="0">
                          <a:solidFill>
                            <a:srgbClr val="2B1B22"/>
                          </a:solidFill>
                          <a:latin typeface="Nunito"/>
                        </a:rPr>
                        <a:t>Humour et vidéo</a:t>
                      </a:r>
                    </a:p>
                  </a:txBody>
                  <a:tcPr marL="70000" marR="70000" marT="35000" marB="35000">
                    <a:solidFill>
                      <a:srgbClr val="FFFFFF"/>
                    </a:solidFill>
                  </a:tcPr>
                </a:tc>
              </a:tr>
              <a:tr h="520000">
                <a:tc>
                  <a:txBody>
                    <a:bodyPr/>
                    <a:lstStyle/>
                    <a:p>
                      <a:r>
                        <a:rPr sz="1200" b="1">
                          <a:solidFill>
                            <a:srgbClr val="2B1B22"/>
                          </a:solidFill>
                          <a:latin typeface="Nunito"/>
                        </a:rPr>
                        <a:t>Marques mises en avant</a:t>
                      </a:r>
                    </a:p>
                  </a:txBody>
                  <a:tcPr marL="70000" marR="70000" marT="35000" marB="35000">
                    <a:solidFill>
                      <a:srgbClr val="FDF0F4"/>
                    </a:solidFill>
                  </a:tcPr>
                </a:tc>
                <a:tc>
                  <a:txBody>
                    <a:bodyPr/>
                    <a:lstStyle/>
                    <a:p>
                      <a:r>
                        <a:rPr sz="1200" b="0">
                          <a:solidFill>
                            <a:srgbClr val="2B1B22"/>
                          </a:solidFill>
                          <a:latin typeface="Nunito"/>
                        </a:rPr>
                        <a:t>Peu</a:t>
                      </a:r>
                    </a:p>
                  </a:txBody>
                  <a:tcPr marL="70000" marR="70000" marT="35000" marB="35000">
                    <a:solidFill>
                      <a:srgbClr val="FDF0F4"/>
                    </a:solidFill>
                  </a:tcPr>
                </a:tc>
                <a:tc>
                  <a:txBody>
                    <a:bodyPr/>
                    <a:lstStyle/>
                    <a:p>
                      <a:r>
                        <a:rPr sz="1200" b="0">
                          <a:solidFill>
                            <a:srgbClr val="2B1B22"/>
                          </a:solidFill>
                          <a:latin typeface="Nunito"/>
                        </a:rPr>
                        <a:t>Pecto</a:t>
                      </a:r>
                    </a:p>
                  </a:txBody>
                  <a:tcPr marL="70000" marR="70000" marT="35000" marB="35000">
                    <a:solidFill>
                      <a:srgbClr val="FDF0F4"/>
                    </a:solidFill>
                  </a:tcPr>
                </a:tc>
                <a:tc>
                  <a:txBody>
                    <a:bodyPr/>
                    <a:lstStyle/>
                    <a:p>
                      <a:r>
                        <a:rPr sz="1200" b="0">
                          <a:solidFill>
                            <a:srgbClr val="2B1B22"/>
                          </a:solidFill>
                          <a:latin typeface="Nunito"/>
                        </a:rPr>
                        <a:t>Une marque par jour</a:t>
                      </a:r>
                    </a:p>
                  </a:txBody>
                  <a:tcPr marL="70000" marR="70000" marT="35000" marB="35000">
                    <a:solidFill>
                      <a:srgbClr val="FDF0F4"/>
                    </a:solidFill>
                  </a:tcPr>
                </a:tc>
                <a:tc>
                  <a:txBody>
                    <a:bodyPr/>
                    <a:lstStyle/>
                    <a:p>
                      <a:r>
                        <a:rPr sz="1200" b="0">
                          <a:solidFill>
                            <a:srgbClr val="2B1B22"/>
                          </a:solidFill>
                          <a:latin typeface="Nunito"/>
                        </a:rPr>
                        <a:t>Un seul produit</a:t>
                      </a:r>
                    </a:p>
                  </a:txBody>
                  <a:tcPr marL="70000" marR="70000" marT="35000" marB="35000">
                    <a:solidFill>
                      <a:srgbClr val="FDF0F4"/>
                    </a:solidFill>
                  </a:tcPr>
                </a:tc>
              </a:tr>
              <a:tr h="520000">
                <a:tc>
                  <a:txBody>
                    <a:bodyPr/>
                    <a:lstStyle/>
                    <a:p>
                      <a:r>
                        <a:rPr sz="1200" b="1">
                          <a:solidFill>
                            <a:srgbClr val="2B1B22"/>
                          </a:solidFill>
                          <a:latin typeface="Nunito"/>
                        </a:rPr>
                        <a:t>À reprendre</a:t>
                      </a:r>
                    </a:p>
                  </a:txBody>
                  <a:tcPr marL="70000" marR="70000" marT="35000" marB="35000">
                    <a:solidFill>
                      <a:srgbClr val="FFFFFF"/>
                    </a:solidFill>
                  </a:tcPr>
                </a:tc>
                <a:tc>
                  <a:txBody>
                    <a:bodyPr/>
                    <a:lstStyle/>
                    <a:p>
                      <a:r>
                        <a:rPr sz="1200" b="0">
                          <a:solidFill>
                            <a:srgbClr val="2B1B22"/>
                          </a:solidFill>
                          <a:latin typeface="Nunito"/>
                        </a:rPr>
                        <a:t>Le quiz, en rendez-vous</a:t>
                      </a:r>
                    </a:p>
                  </a:txBody>
                  <a:tcPr marL="70000" marR="70000" marT="35000" marB="35000">
                    <a:solidFill>
                      <a:srgbClr val="FFFFFF"/>
                    </a:solidFill>
                  </a:tcPr>
                </a:tc>
                <a:tc>
                  <a:txBody>
                    <a:bodyPr/>
                    <a:lstStyle/>
                    <a:p>
                      <a:r>
                        <a:rPr sz="1200" b="0">
                          <a:solidFill>
                            <a:srgbClr val="2B1B22"/>
                          </a:solidFill>
                          <a:latin typeface="Nunito"/>
                        </a:rPr>
                        <a:t>Le football</a:t>
                      </a:r>
                    </a:p>
                  </a:txBody>
                  <a:tcPr marL="70000" marR="70000" marT="35000" marB="35000">
                    <a:solidFill>
                      <a:srgbClr val="FFFFFF"/>
                    </a:solidFill>
                  </a:tcPr>
                </a:tc>
                <a:tc>
                  <a:txBody>
                    <a:bodyPr/>
                    <a:lstStyle/>
                    <a:p>
                      <a:r>
                        <a:rPr sz="1200" b="0">
                          <a:solidFill>
                            <a:srgbClr val="2B1B22"/>
                          </a:solidFill>
                          <a:latin typeface="Nunito"/>
                        </a:rPr>
                        <a:t>Le calendrier des temps forts</a:t>
                      </a:r>
                    </a:p>
                  </a:txBody>
                  <a:tcPr marL="70000" marR="70000" marT="35000" marB="35000">
                    <a:solidFill>
                      <a:srgbClr val="FFFFFF"/>
                    </a:solidFill>
                  </a:tcPr>
                </a:tc>
                <a:tc>
                  <a:txBody>
                    <a:bodyPr/>
                    <a:lstStyle/>
                    <a:p>
                      <a:r>
                        <a:rPr sz="1200" b="0">
                          <a:solidFill>
                            <a:srgbClr val="2B1B22"/>
                          </a:solidFill>
                          <a:latin typeface="Nunito"/>
                        </a:rPr>
                        <a:t>Le ton et la vidéo</a:t>
                      </a:r>
                    </a:p>
                  </a:txBody>
                  <a:tcPr marL="70000" marR="70000" marT="35000" marB="35000">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58000"/>
            <a:ext cx="12192000" cy="30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000000"/>
            <a:ext cx="3000000" cy="1400000"/>
          </a:xfrm>
          <a:prstGeom prst="rect">
            <a:avLst/>
          </a:prstGeom>
          <a:noFill/>
        </p:spPr>
        <p:txBody>
          <a:bodyPr wrap="square">
            <a:spAutoFit/>
          </a:bodyPr>
          <a:lstStyle/>
          <a:p>
            <a:pPr>
              <a:spcAft>
                <a:spcPts val="500"/>
              </a:spcAft>
            </a:pPr>
            <a:r>
              <a:rPr sz="8000" b="1">
                <a:solidFill>
                  <a:srgbClr val="FFFFFF"/>
                </a:solidFill>
                <a:latin typeface="Baloo 2"/>
              </a:rPr>
              <a:t>4</a:t>
            </a:r>
          </a:p>
        </p:txBody>
      </p:sp>
      <p:sp>
        <p:nvSpPr>
          <p:cNvPr id="5" name="TextBox 4"/>
          <p:cNvSpPr txBox="1"/>
          <p:nvPr/>
        </p:nvSpPr>
        <p:spPr>
          <a:xfrm>
            <a:off x="900000" y="3500000"/>
            <a:ext cx="10000000" cy="900000"/>
          </a:xfrm>
          <a:prstGeom prst="rect">
            <a:avLst/>
          </a:prstGeom>
          <a:noFill/>
        </p:spPr>
        <p:txBody>
          <a:bodyPr wrap="square">
            <a:spAutoFit/>
          </a:bodyPr>
          <a:lstStyle/>
          <a:p>
            <a:pPr>
              <a:spcAft>
                <a:spcPts val="500"/>
              </a:spcAft>
            </a:pPr>
            <a:r>
              <a:rPr sz="3600" b="1">
                <a:solidFill>
                  <a:srgbClr val="FFFFFF"/>
                </a:solidFill>
                <a:latin typeface="Baloo 2"/>
              </a:rPr>
              <a:t>Recommandations et plan à 90 jours</a:t>
            </a:r>
          </a:p>
        </p:txBody>
      </p:sp>
      <p:sp>
        <p:nvSpPr>
          <p:cNvPr id="6" name="TextBox 5"/>
          <p:cNvSpPr txBox="1"/>
          <p:nvPr/>
        </p:nvSpPr>
        <p:spPr>
          <a:xfrm>
            <a:off x="900000" y="4400000"/>
            <a:ext cx="10000000" cy="800000"/>
          </a:xfrm>
          <a:prstGeom prst="rect">
            <a:avLst/>
          </a:prstGeom>
          <a:noFill/>
        </p:spPr>
        <p:txBody>
          <a:bodyPr wrap="square">
            <a:spAutoFit/>
          </a:bodyPr>
          <a:lstStyle/>
          <a:p>
            <a:pPr>
              <a:spcAft>
                <a:spcPts val="500"/>
              </a:spcAft>
            </a:pPr>
            <a:r>
              <a:rPr sz="1600" b="0">
                <a:solidFill>
                  <a:srgbClr val="FFFFFF"/>
                </a:solidFill>
                <a:latin typeface="Nunito"/>
              </a:rPr>
              <a:t>Six décisions, un calendrier, une organisation, des indicateurs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4. RECOMMANDATIONS</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Six décisions, par ordre de priorité</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18</a:t>
            </a:r>
          </a:p>
        </p:txBody>
      </p:sp>
      <p:sp>
        <p:nvSpPr>
          <p:cNvPr id="8" name="TextBox 7"/>
          <p:cNvSpPr txBox="1"/>
          <p:nvPr/>
        </p:nvSpPr>
        <p:spPr>
          <a:xfrm>
            <a:off x="600000" y="1400000"/>
            <a:ext cx="11000000" cy="4800000"/>
          </a:xfrm>
          <a:prstGeom prst="rect">
            <a:avLst/>
          </a:prstGeom>
          <a:noFill/>
        </p:spPr>
        <p:txBody>
          <a:bodyPr wrap="square">
            <a:spAutoFit/>
          </a:bodyPr>
          <a:lstStyle/>
          <a:p>
            <a:pPr>
              <a:spcAft>
                <a:spcPts val="700"/>
              </a:spcAft>
            </a:pPr>
            <a:r>
              <a:rPr sz="1300" b="1">
                <a:solidFill>
                  <a:srgbClr val="2B1B22"/>
                </a:solidFill>
                <a:latin typeface="Nunito"/>
              </a:rPr>
              <a:t>1. Une page, toutes les marques.</a:t>
            </a:r>
            <a:r>
              <a:rPr sz="1300" b="0">
                <a:solidFill>
                  <a:srgbClr val="2B1B22"/>
                </a:solidFill>
                <a:latin typeface="Nunito"/>
              </a:rPr>
              <a:t> Garder la page Unifood comme vitrine unique et y faire tourner chaque marque : Super Mint le lundi, Rio Pop le mercredi, Coupe du Monde le vendredi. Décider du sort de la page Rio Pop : la relancer ou la fusionner.</a:t>
            </a:r>
          </a:p>
          <a:p>
            <a:pPr>
              <a:spcAft>
                <a:spcPts val="700"/>
              </a:spcAft>
            </a:pPr>
            <a:r>
              <a:rPr sz="1300" b="1">
                <a:solidFill>
                  <a:srgbClr val="2B1B22"/>
                </a:solidFill>
                <a:latin typeface="Nunito"/>
              </a:rPr>
              <a:t>2. Le jeu, tous les mercredis.</a:t>
            </a:r>
            <a:r>
              <a:rPr sz="1300" b="0">
                <a:solidFill>
                  <a:srgbClr val="2B1B22"/>
                </a:solidFill>
                <a:latin typeface="Nunito"/>
              </a:rPr>
              <a:t> Quiz, intrus, « team A ou team B », pronostic : un rendez-vous fixe, avec un petit budget de diffusion sur le jeu seulement.</a:t>
            </a:r>
          </a:p>
          <a:p>
            <a:pPr>
              <a:spcAft>
                <a:spcPts val="700"/>
              </a:spcAft>
            </a:pPr>
            <a:r>
              <a:rPr sz="1300" b="1">
                <a:solidFill>
                  <a:srgbClr val="2B1B22"/>
                </a:solidFill>
                <a:latin typeface="Nunito"/>
              </a:rPr>
              <a:t>3. Deux vidéos courtes par semaine,</a:t>
            </a:r>
            <a:r>
              <a:rPr sz="1300" b="0">
                <a:solidFill>
                  <a:srgbClr val="2B1B22"/>
                </a:solidFill>
                <a:latin typeface="Nunito"/>
              </a:rPr>
              <a:t> tournées au téléphone : micro-trottoir, défi « ça glace fort » et « ça chauffe grave », dégustation.</a:t>
            </a:r>
          </a:p>
          <a:p>
            <a:pPr>
              <a:spcAft>
                <a:spcPts val="700"/>
              </a:spcAft>
            </a:pPr>
            <a:r>
              <a:rPr sz="1300" b="1">
                <a:solidFill>
                  <a:srgbClr val="2B1B22"/>
                </a:solidFill>
                <a:latin typeface="Nunito"/>
              </a:rPr>
              <a:t>4. Ouvrir TikTok, et relancer Instagram ou le fermer.</a:t>
            </a:r>
            <a:r>
              <a:rPr sz="1300" b="0">
                <a:solidFill>
                  <a:srgbClr val="2B1B22"/>
                </a:solidFill>
                <a:latin typeface="Nunito"/>
              </a:rPr>
              <a:t> Le compte @riopop_officiel est figé depuis 2021 : il faut le reprendre ou le supprimer.</a:t>
            </a:r>
          </a:p>
          <a:p>
            <a:pPr>
              <a:spcAft>
                <a:spcPts val="700"/>
              </a:spcAft>
            </a:pPr>
            <a:r>
              <a:rPr sz="1300" b="1">
                <a:solidFill>
                  <a:srgbClr val="2B1B22"/>
                </a:solidFill>
                <a:latin typeface="Nunito"/>
              </a:rPr>
              <a:t>5. Un calendrier des temps forts :</a:t>
            </a:r>
            <a:r>
              <a:rPr sz="1300" b="0">
                <a:solidFill>
                  <a:srgbClr val="2B1B22"/>
                </a:solidFill>
                <a:latin typeface="Nunito"/>
              </a:rPr>
              <a:t> matchs des Éléphants, Noël, rentrée de janvier, Saint-Valentin, Pâques, Tabaski.</a:t>
            </a:r>
          </a:p>
          <a:p>
            <a:pPr>
              <a:spcAft>
                <a:spcPts val="700"/>
              </a:spcAft>
            </a:pPr>
            <a:r>
              <a:rPr sz="1300" b="1">
                <a:solidFill>
                  <a:srgbClr val="2B1B22"/>
                </a:solidFill>
                <a:latin typeface="Nunito"/>
              </a:rPr>
              <a:t>6. Parler aux parents et aux jeunes, pas aux enfants.</a:t>
            </a:r>
            <a:r>
              <a:rPr sz="1300" b="0">
                <a:solidFill>
                  <a:srgbClr val="2B1B22"/>
                </a:solidFill>
                <a:latin typeface="Nunito"/>
              </a:rPr>
              <a:t> Revoir les visuels où un enfant tient un bonbon et les accroches « petits gourmands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4. CALENDRIER</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Plan à 90 jours</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19</a:t>
            </a:r>
          </a:p>
        </p:txBody>
      </p:sp>
      <p:sp>
        <p:nvSpPr>
          <p:cNvPr id="8" name="Rounded Rectangle 7"/>
          <p:cNvSpPr/>
          <p:nvPr/>
        </p:nvSpPr>
        <p:spPr>
          <a:xfrm>
            <a:off x="600000" y="1450000"/>
            <a:ext cx="3500000" cy="45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0000" y="1510000"/>
            <a:ext cx="80000" cy="43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000" y="1560000"/>
            <a:ext cx="3150000" cy="420000"/>
          </a:xfrm>
          <a:prstGeom prst="rect">
            <a:avLst/>
          </a:prstGeom>
          <a:noFill/>
        </p:spPr>
        <p:txBody>
          <a:bodyPr wrap="square">
            <a:spAutoFit/>
          </a:bodyPr>
          <a:lstStyle/>
          <a:p>
            <a:pPr>
              <a:spcAft>
                <a:spcPts val="500"/>
              </a:spcAft>
            </a:pPr>
            <a:r>
              <a:rPr sz="1500" b="1">
                <a:solidFill>
                  <a:srgbClr val="E50046"/>
                </a:solidFill>
                <a:latin typeface="Baloo 2"/>
              </a:rPr>
              <a:t>Novembre : remettre en ordre</a:t>
            </a:r>
          </a:p>
        </p:txBody>
      </p:sp>
      <p:sp>
        <p:nvSpPr>
          <p:cNvPr id="11" name="TextBox 10"/>
          <p:cNvSpPr txBox="1"/>
          <p:nvPr/>
        </p:nvSpPr>
        <p:spPr>
          <a:xfrm>
            <a:off x="830000" y="1990000"/>
            <a:ext cx="3150000" cy="3880000"/>
          </a:xfrm>
          <a:prstGeom prst="rect">
            <a:avLst/>
          </a:prstGeom>
          <a:noFill/>
        </p:spPr>
        <p:txBody>
          <a:bodyPr wrap="square">
            <a:spAutoFit/>
          </a:bodyPr>
          <a:lstStyle/>
          <a:p>
            <a:pPr>
              <a:spcAft>
                <a:spcPts val="500"/>
              </a:spcAft>
            </a:pPr>
            <a:r>
              <a:rPr sz="1200" b="0">
                <a:solidFill>
                  <a:srgbClr val="2B1B22"/>
                </a:solidFill>
                <a:latin typeface="Nunito"/>
              </a:rPr>
              <a:t>Récupérer les accès administrateur de toutes les pages et comptes.</a:t>
            </a:r>
          </a:p>
          <a:p>
            <a:pPr>
              <a:spcAft>
                <a:spcPts val="500"/>
              </a:spcAft>
            </a:pPr>
            <a:r>
              <a:rPr sz="1200" b="0">
                <a:solidFill>
                  <a:srgbClr val="2B1B22"/>
                </a:solidFill>
                <a:latin typeface="Nunito"/>
              </a:rPr>
              <a:t>Décider pour la page Rio Pop et l'Instagram.</a:t>
            </a:r>
          </a:p>
          <a:p>
            <a:pPr>
              <a:spcAft>
                <a:spcPts val="500"/>
              </a:spcAft>
            </a:pPr>
            <a:r>
              <a:rPr sz="1200" b="0">
                <a:solidFill>
                  <a:srgbClr val="2B1B22"/>
                </a:solidFill>
                <a:latin typeface="Nunito"/>
              </a:rPr>
              <a:t>Ouvrir TikTok Unifood.</a:t>
            </a:r>
          </a:p>
          <a:p>
            <a:pPr>
              <a:spcAft>
                <a:spcPts val="500"/>
              </a:spcAft>
            </a:pPr>
            <a:r>
              <a:rPr sz="1200" b="0">
                <a:solidFill>
                  <a:srgbClr val="2B1B22"/>
                </a:solidFill>
                <a:latin typeface="Nunito"/>
              </a:rPr>
              <a:t>Créer le calendrier éditorial et la charte de ton.</a:t>
            </a:r>
          </a:p>
          <a:p>
            <a:pPr>
              <a:spcAft>
                <a:spcPts val="500"/>
              </a:spcAft>
            </a:pPr>
            <a:r>
              <a:rPr sz="1200" b="0">
                <a:solidFill>
                  <a:srgbClr val="2B1B22"/>
                </a:solidFill>
                <a:latin typeface="Nunito"/>
              </a:rPr>
              <a:t>Premier pronostic pour un match des Éléphants.</a:t>
            </a:r>
          </a:p>
        </p:txBody>
      </p:sp>
      <p:sp>
        <p:nvSpPr>
          <p:cNvPr id="12" name="Rounded Rectangle 11"/>
          <p:cNvSpPr/>
          <p:nvPr/>
        </p:nvSpPr>
        <p:spPr>
          <a:xfrm>
            <a:off x="4300000" y="1450000"/>
            <a:ext cx="3500000" cy="45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0000" y="1510000"/>
            <a:ext cx="80000" cy="438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0000" y="1560000"/>
            <a:ext cx="3150000" cy="420000"/>
          </a:xfrm>
          <a:prstGeom prst="rect">
            <a:avLst/>
          </a:prstGeom>
          <a:noFill/>
        </p:spPr>
        <p:txBody>
          <a:bodyPr wrap="square">
            <a:spAutoFit/>
          </a:bodyPr>
          <a:lstStyle/>
          <a:p>
            <a:pPr>
              <a:spcAft>
                <a:spcPts val="500"/>
              </a:spcAft>
            </a:pPr>
            <a:r>
              <a:rPr sz="1500" b="1">
                <a:solidFill>
                  <a:srgbClr val="2B1B22"/>
                </a:solidFill>
                <a:latin typeface="Baloo 2"/>
              </a:rPr>
              <a:t>Décembre : produire</a:t>
            </a:r>
          </a:p>
        </p:txBody>
      </p:sp>
      <p:sp>
        <p:nvSpPr>
          <p:cNvPr id="15" name="TextBox 14"/>
          <p:cNvSpPr txBox="1"/>
          <p:nvPr/>
        </p:nvSpPr>
        <p:spPr>
          <a:xfrm>
            <a:off x="4530000" y="1990000"/>
            <a:ext cx="3150000" cy="3880000"/>
          </a:xfrm>
          <a:prstGeom prst="rect">
            <a:avLst/>
          </a:prstGeom>
          <a:noFill/>
        </p:spPr>
        <p:txBody>
          <a:bodyPr wrap="square">
            <a:spAutoFit/>
          </a:bodyPr>
          <a:lstStyle/>
          <a:p>
            <a:pPr>
              <a:spcAft>
                <a:spcPts val="500"/>
              </a:spcAft>
            </a:pPr>
            <a:r>
              <a:rPr sz="1200" b="0">
                <a:solidFill>
                  <a:srgbClr val="2B1B22"/>
                </a:solidFill>
                <a:latin typeface="Nunito"/>
              </a:rPr>
              <a:t>Jeu du mercredi chaque semaine.</a:t>
            </a:r>
          </a:p>
          <a:p>
            <a:pPr>
              <a:spcAft>
                <a:spcPts val="500"/>
              </a:spcAft>
            </a:pPr>
            <a:r>
              <a:rPr sz="1200" b="0">
                <a:solidFill>
                  <a:srgbClr val="2B1B22"/>
                </a:solidFill>
                <a:latin typeface="Nunito"/>
              </a:rPr>
              <a:t>Deux vidéos par semaine.</a:t>
            </a:r>
          </a:p>
          <a:p>
            <a:pPr>
              <a:spcAft>
                <a:spcPts val="500"/>
              </a:spcAft>
            </a:pPr>
            <a:r>
              <a:rPr sz="1200" b="0">
                <a:solidFill>
                  <a:srgbClr val="2B1B22"/>
                </a:solidFill>
                <a:latin typeface="Nunito"/>
              </a:rPr>
              <a:t>Campagne de Noël « le paquet qui se partage » sur Rio Pop et Cremino.</a:t>
            </a:r>
          </a:p>
          <a:p>
            <a:pPr>
              <a:spcAft>
                <a:spcPts val="500"/>
              </a:spcAft>
            </a:pPr>
            <a:r>
              <a:rPr sz="1200" b="0">
                <a:solidFill>
                  <a:srgbClr val="2B1B22"/>
                </a:solidFill>
                <a:latin typeface="Nunito"/>
              </a:rPr>
              <a:t>Premier test de diffusion payante sur les jeux, mesuré au coût par interaction.</a:t>
            </a:r>
          </a:p>
        </p:txBody>
      </p:sp>
      <p:sp>
        <p:nvSpPr>
          <p:cNvPr id="16" name="Rounded Rectangle 15"/>
          <p:cNvSpPr/>
          <p:nvPr/>
        </p:nvSpPr>
        <p:spPr>
          <a:xfrm>
            <a:off x="8000000" y="1450000"/>
            <a:ext cx="3500000" cy="4500000"/>
          </a:xfrm>
          <a:prstGeom prst="roundRect">
            <a:avLst/>
          </a:prstGeom>
          <a:solidFill>
            <a:srgbClr val="F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0000" y="1510000"/>
            <a:ext cx="80000" cy="43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0000" y="1560000"/>
            <a:ext cx="3150000" cy="420000"/>
          </a:xfrm>
          <a:prstGeom prst="rect">
            <a:avLst/>
          </a:prstGeom>
          <a:noFill/>
        </p:spPr>
        <p:txBody>
          <a:bodyPr wrap="square">
            <a:spAutoFit/>
          </a:bodyPr>
          <a:lstStyle/>
          <a:p>
            <a:pPr>
              <a:spcAft>
                <a:spcPts val="500"/>
              </a:spcAft>
            </a:pPr>
            <a:r>
              <a:rPr sz="1500" b="1">
                <a:solidFill>
                  <a:srgbClr val="E50046"/>
                </a:solidFill>
                <a:latin typeface="Baloo 2"/>
              </a:rPr>
              <a:t>Janvier : mesurer et ajuster</a:t>
            </a:r>
          </a:p>
        </p:txBody>
      </p:sp>
      <p:sp>
        <p:nvSpPr>
          <p:cNvPr id="19" name="TextBox 18"/>
          <p:cNvSpPr txBox="1"/>
          <p:nvPr/>
        </p:nvSpPr>
        <p:spPr>
          <a:xfrm>
            <a:off x="8230000" y="1990000"/>
            <a:ext cx="3150000" cy="3880000"/>
          </a:xfrm>
          <a:prstGeom prst="rect">
            <a:avLst/>
          </a:prstGeom>
          <a:noFill/>
        </p:spPr>
        <p:txBody>
          <a:bodyPr wrap="square">
            <a:spAutoFit/>
          </a:bodyPr>
          <a:lstStyle/>
          <a:p>
            <a:pPr>
              <a:spcAft>
                <a:spcPts val="500"/>
              </a:spcAft>
            </a:pPr>
            <a:r>
              <a:rPr sz="1200" b="0">
                <a:solidFill>
                  <a:srgbClr val="2B1B22"/>
                </a:solidFill>
                <a:latin typeface="Nunito"/>
              </a:rPr>
              <a:t>Bilan à 60 jours : quelles marques, quels formats, quels horaires marchent.</a:t>
            </a:r>
          </a:p>
          <a:p>
            <a:pPr>
              <a:spcAft>
                <a:spcPts val="500"/>
              </a:spcAft>
            </a:pPr>
            <a:r>
              <a:rPr sz="1200" b="0">
                <a:solidFill>
                  <a:srgbClr val="2B1B22"/>
                </a:solidFill>
                <a:latin typeface="Nunito"/>
              </a:rPr>
              <a:t>Rentrée de janvier et lancement presse du 4 janvier relayés en ligne.</a:t>
            </a:r>
          </a:p>
          <a:p>
            <a:pPr>
              <a:spcAft>
                <a:spcPts val="500"/>
              </a:spcAft>
            </a:pPr>
            <a:r>
              <a:rPr sz="1200" b="0">
                <a:solidFill>
                  <a:srgbClr val="2B1B22"/>
                </a:solidFill>
                <a:latin typeface="Nunito"/>
              </a:rPr>
              <a:t>Reconduire ce qui marche, arrêter le reste.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4. ORGANISATION</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Reprendre le marketing en interne : qui fait quoi</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20</a:t>
            </a:r>
          </a:p>
        </p:txBody>
      </p:sp>
      <p:graphicFrame>
        <p:nvGraphicFramePr>
          <p:cNvPr id="8" name="Table 7"/>
          <p:cNvGraphicFramePr>
            <a:graphicFrameLocks noGrp="1"/>
          </p:cNvGraphicFramePr>
          <p:nvPr/>
        </p:nvGraphicFramePr>
        <p:xfrm>
          <a:off x="600000" y="1450000"/>
          <a:ext cx="11000000" cy="2400000"/>
        </p:xfrm>
        <a:graphic>
          <a:graphicData uri="http://schemas.openxmlformats.org/drawingml/2006/table">
            <a:tbl>
              <a:tblPr firstRow="1" bandRow="1">
                <a:tableStyleId>{5C22544A-7EE6-4342-B048-85BDC9FD1C3A}</a:tableStyleId>
              </a:tblPr>
              <a:tblGrid>
                <a:gridCol w="2800000"/>
                <a:gridCol w="5900000"/>
                <a:gridCol w="2300000"/>
              </a:tblGrid>
              <a:tr h="480000">
                <a:tc>
                  <a:txBody>
                    <a:bodyPr/>
                    <a:lstStyle/>
                    <a:p>
                      <a:r>
                        <a:rPr sz="1200" b="1">
                          <a:solidFill>
                            <a:srgbClr val="FFFFFF"/>
                          </a:solidFill>
                          <a:latin typeface="Nunito"/>
                        </a:rPr>
                        <a:t>Rôle</a:t>
                      </a:r>
                    </a:p>
                  </a:txBody>
                  <a:tcPr marL="70000" marR="70000" marT="35000" marB="35000">
                    <a:solidFill>
                      <a:srgbClr val="E50046"/>
                    </a:solidFill>
                  </a:tcPr>
                </a:tc>
                <a:tc>
                  <a:txBody>
                    <a:bodyPr/>
                    <a:lstStyle/>
                    <a:p>
                      <a:r>
                        <a:rPr sz="1200" b="1">
                          <a:solidFill>
                            <a:srgbClr val="FFFFFF"/>
                          </a:solidFill>
                          <a:latin typeface="Nunito"/>
                        </a:rPr>
                        <a:t>Ce qu'il fait</a:t>
                      </a:r>
                    </a:p>
                  </a:txBody>
                  <a:tcPr marL="70000" marR="70000" marT="35000" marB="35000">
                    <a:solidFill>
                      <a:srgbClr val="E50046"/>
                    </a:solidFill>
                  </a:tcPr>
                </a:tc>
                <a:tc>
                  <a:txBody>
                    <a:bodyPr/>
                    <a:lstStyle/>
                    <a:p>
                      <a:r>
                        <a:rPr sz="1200" b="1">
                          <a:solidFill>
                            <a:srgbClr val="FFFFFF"/>
                          </a:solidFill>
                          <a:latin typeface="Nunito"/>
                        </a:rPr>
                        <a:t>Temps estimé</a:t>
                      </a:r>
                    </a:p>
                  </a:txBody>
                  <a:tcPr marL="70000" marR="70000" marT="35000" marB="35000">
                    <a:solidFill>
                      <a:srgbClr val="E50046"/>
                    </a:solidFill>
                  </a:tcPr>
                </a:tc>
              </a:tr>
              <a:tr h="480000">
                <a:tc>
                  <a:txBody>
                    <a:bodyPr/>
                    <a:lstStyle/>
                    <a:p>
                      <a:r>
                        <a:rPr sz="1200" b="1">
                          <a:solidFill>
                            <a:srgbClr val="2B1B22"/>
                          </a:solidFill>
                          <a:latin typeface="Nunito"/>
                        </a:rPr>
                        <a:t>Chargée marketing</a:t>
                      </a:r>
                    </a:p>
                  </a:txBody>
                  <a:tcPr marL="70000" marR="70000" marT="35000" marB="35000">
                    <a:solidFill>
                      <a:srgbClr val="FFFFFF"/>
                    </a:solidFill>
                  </a:tcPr>
                </a:tc>
                <a:tc>
                  <a:txBody>
                    <a:bodyPr/>
                    <a:lstStyle/>
                    <a:p>
                      <a:r>
                        <a:rPr sz="1200" b="0">
                          <a:solidFill>
                            <a:srgbClr val="2B1B22"/>
                          </a:solidFill>
                          <a:latin typeface="Nunito"/>
                        </a:rPr>
                        <a:t>Calendrier, validation, budget, lien avec les ventes</a:t>
                      </a:r>
                    </a:p>
                  </a:txBody>
                  <a:tcPr marL="70000" marR="70000" marT="35000" marB="35000">
                    <a:solidFill>
                      <a:srgbClr val="FFFFFF"/>
                    </a:solidFill>
                  </a:tcPr>
                </a:tc>
                <a:tc>
                  <a:txBody>
                    <a:bodyPr/>
                    <a:lstStyle/>
                    <a:p>
                      <a:r>
                        <a:rPr sz="1200" b="0">
                          <a:solidFill>
                            <a:srgbClr val="2B1B22"/>
                          </a:solidFill>
                          <a:latin typeface="Nunito"/>
                        </a:rPr>
                        <a:t>1 jour par semaine</a:t>
                      </a:r>
                    </a:p>
                  </a:txBody>
                  <a:tcPr marL="70000" marR="70000" marT="35000" marB="35000">
                    <a:solidFill>
                      <a:srgbClr val="FFFFFF"/>
                    </a:solidFill>
                  </a:tcPr>
                </a:tc>
              </a:tr>
              <a:tr h="480000">
                <a:tc>
                  <a:txBody>
                    <a:bodyPr/>
                    <a:lstStyle/>
                    <a:p>
                      <a:r>
                        <a:rPr sz="1200" b="1">
                          <a:solidFill>
                            <a:srgbClr val="2B1B22"/>
                          </a:solidFill>
                          <a:latin typeface="Nunito"/>
                        </a:rPr>
                        <a:t>Animateur des réseaux</a:t>
                      </a:r>
                    </a:p>
                  </a:txBody>
                  <a:tcPr marL="70000" marR="70000" marT="35000" marB="35000">
                    <a:solidFill>
                      <a:srgbClr val="FDF0F4"/>
                    </a:solidFill>
                  </a:tcPr>
                </a:tc>
                <a:tc>
                  <a:txBody>
                    <a:bodyPr/>
                    <a:lstStyle/>
                    <a:p>
                      <a:r>
                        <a:rPr sz="1200" b="0">
                          <a:solidFill>
                            <a:srgbClr val="2B1B22"/>
                          </a:solidFill>
                          <a:latin typeface="Nunito"/>
                        </a:rPr>
                        <a:t>Publications, réponses aux commentaires, jeux, tirages au sort</a:t>
                      </a:r>
                    </a:p>
                  </a:txBody>
                  <a:tcPr marL="70000" marR="70000" marT="35000" marB="35000">
                    <a:solidFill>
                      <a:srgbClr val="FDF0F4"/>
                    </a:solidFill>
                  </a:tcPr>
                </a:tc>
                <a:tc>
                  <a:txBody>
                    <a:bodyPr/>
                    <a:lstStyle/>
                    <a:p>
                      <a:r>
                        <a:rPr sz="1200" b="0">
                          <a:solidFill>
                            <a:srgbClr val="2B1B22"/>
                          </a:solidFill>
                          <a:latin typeface="Nunito"/>
                        </a:rPr>
                        <a:t>Temps plein</a:t>
                      </a:r>
                    </a:p>
                  </a:txBody>
                  <a:tcPr marL="70000" marR="70000" marT="35000" marB="35000">
                    <a:solidFill>
                      <a:srgbClr val="FDF0F4"/>
                    </a:solidFill>
                  </a:tcPr>
                </a:tc>
              </a:tr>
              <a:tr h="480000">
                <a:tc>
                  <a:txBody>
                    <a:bodyPr/>
                    <a:lstStyle/>
                    <a:p>
                      <a:r>
                        <a:rPr sz="1200" b="1">
                          <a:solidFill>
                            <a:srgbClr val="2B1B22"/>
                          </a:solidFill>
                          <a:latin typeface="Nunito"/>
                        </a:rPr>
                        <a:t>Créateur visuel et vidéo</a:t>
                      </a:r>
                    </a:p>
                  </a:txBody>
                  <a:tcPr marL="70000" marR="70000" marT="35000" marB="35000">
                    <a:solidFill>
                      <a:srgbClr val="FFFFFF"/>
                    </a:solidFill>
                  </a:tcPr>
                </a:tc>
                <a:tc>
                  <a:txBody>
                    <a:bodyPr/>
                    <a:lstStyle/>
                    <a:p>
                      <a:r>
                        <a:rPr sz="1200" b="0">
                          <a:solidFill>
                            <a:srgbClr val="2B1B22"/>
                          </a:solidFill>
                          <a:latin typeface="Nunito"/>
                        </a:rPr>
                        <a:t>Visuels, vidéos au téléphone, montage</a:t>
                      </a:r>
                    </a:p>
                  </a:txBody>
                  <a:tcPr marL="70000" marR="70000" marT="35000" marB="35000">
                    <a:solidFill>
                      <a:srgbClr val="FFFFFF"/>
                    </a:solidFill>
                  </a:tcPr>
                </a:tc>
                <a:tc>
                  <a:txBody>
                    <a:bodyPr/>
                    <a:lstStyle/>
                    <a:p>
                      <a:r>
                        <a:rPr sz="1200" b="0">
                          <a:solidFill>
                            <a:srgbClr val="2B1B22"/>
                          </a:solidFill>
                          <a:latin typeface="Nunito"/>
                        </a:rPr>
                        <a:t>2 à 3 jours par semaine</a:t>
                      </a:r>
                    </a:p>
                  </a:txBody>
                  <a:tcPr marL="70000" marR="70000" marT="35000" marB="35000">
                    <a:solidFill>
                      <a:srgbClr val="FFFFFF"/>
                    </a:solidFill>
                  </a:tcPr>
                </a:tc>
              </a:tr>
              <a:tr h="480000">
                <a:tc>
                  <a:txBody>
                    <a:bodyPr/>
                    <a:lstStyle/>
                    <a:p>
                      <a:r>
                        <a:rPr sz="1200" b="1">
                          <a:solidFill>
                            <a:srgbClr val="2B1B22"/>
                          </a:solidFill>
                          <a:latin typeface="Nunito"/>
                        </a:rPr>
                        <a:t>Direction</a:t>
                      </a:r>
                    </a:p>
                  </a:txBody>
                  <a:tcPr marL="70000" marR="70000" marT="35000" marB="35000">
                    <a:solidFill>
                      <a:srgbClr val="FDF0F4"/>
                    </a:solidFill>
                  </a:tcPr>
                </a:tc>
                <a:tc>
                  <a:txBody>
                    <a:bodyPr/>
                    <a:lstStyle/>
                    <a:p>
                      <a:r>
                        <a:rPr sz="1200" b="0">
                          <a:solidFill>
                            <a:srgbClr val="2B1B22"/>
                          </a:solidFill>
                          <a:latin typeface="Nunito"/>
                        </a:rPr>
                        <a:t>Validation des campagnes, des prix et des promotions</a:t>
                      </a:r>
                    </a:p>
                  </a:txBody>
                  <a:tcPr marL="70000" marR="70000" marT="35000" marB="35000">
                    <a:solidFill>
                      <a:srgbClr val="FDF0F4"/>
                    </a:solidFill>
                  </a:tcPr>
                </a:tc>
                <a:tc>
                  <a:txBody>
                    <a:bodyPr/>
                    <a:lstStyle/>
                    <a:p>
                      <a:r>
                        <a:rPr sz="1200" b="0">
                          <a:solidFill>
                            <a:srgbClr val="2B1B22"/>
                          </a:solidFill>
                          <a:latin typeface="Nunito"/>
                        </a:rPr>
                        <a:t>30 minutes par semaine</a:t>
                      </a:r>
                    </a:p>
                  </a:txBody>
                  <a:tcPr marL="70000" marR="70000" marT="35000" marB="35000">
                    <a:solidFill>
                      <a:srgbClr val="FDF0F4"/>
                    </a:solidFill>
                  </a:tcPr>
                </a:tc>
              </a:tr>
            </a:tbl>
          </a:graphicData>
        </a:graphic>
      </p:graphicFrame>
      <p:sp>
        <p:nvSpPr>
          <p:cNvPr id="9" name="TextBox 8"/>
          <p:cNvSpPr txBox="1"/>
          <p:nvPr/>
        </p:nvSpPr>
        <p:spPr>
          <a:xfrm>
            <a:off x="600000" y="4050000"/>
            <a:ext cx="11000000" cy="1900000"/>
          </a:xfrm>
          <a:prstGeom prst="rect">
            <a:avLst/>
          </a:prstGeom>
          <a:noFill/>
        </p:spPr>
        <p:txBody>
          <a:bodyPr wrap="square">
            <a:spAutoFit/>
          </a:bodyPr>
          <a:lstStyle/>
          <a:p>
            <a:pPr>
              <a:spcAft>
                <a:spcPts val="500"/>
              </a:spcAft>
            </a:pPr>
            <a:r>
              <a:rPr sz="1300" b="1">
                <a:solidFill>
                  <a:srgbClr val="2B1B22"/>
                </a:solidFill>
                <a:latin typeface="Nunito"/>
              </a:rPr>
              <a:t>Outils :</a:t>
            </a:r>
            <a:r>
              <a:rPr sz="1300" b="0">
                <a:solidFill>
                  <a:srgbClr val="2B1B22"/>
                </a:solidFill>
                <a:latin typeface="Nunito"/>
              </a:rPr>
              <a:t> Meta Business Suite (gratuit) pour programmer et mesurer Facebook et Instagram, Canva pour les visuels, un tableur pour le calendrier.</a:t>
            </a:r>
          </a:p>
          <a:p>
            <a:pPr>
              <a:spcAft>
                <a:spcPts val="500"/>
              </a:spcAft>
            </a:pPr>
            <a:r>
              <a:rPr sz="1300" b="1">
                <a:solidFill>
                  <a:srgbClr val="2B1B22"/>
                </a:solidFill>
                <a:latin typeface="Nunito"/>
              </a:rPr>
              <a:t>Rituel :</a:t>
            </a:r>
            <a:r>
              <a:rPr sz="1300" b="0">
                <a:solidFill>
                  <a:srgbClr val="2B1B22"/>
                </a:solidFill>
                <a:latin typeface="Nunito"/>
              </a:rPr>
              <a:t> un point de 30 minutes le lundi : chiffres de la semaine passée, publications de la semaine à venir.</a:t>
            </a:r>
          </a:p>
          <a:p>
            <a:pPr>
              <a:spcAft>
                <a:spcPts val="500"/>
              </a:spcAft>
            </a:pPr>
            <a:r>
              <a:rPr sz="1300" b="1">
                <a:solidFill>
                  <a:srgbClr val="2B1B22"/>
                </a:solidFill>
                <a:latin typeface="Nunito"/>
              </a:rPr>
              <a:t>Règle :</a:t>
            </a:r>
            <a:r>
              <a:rPr sz="1300" b="0">
                <a:solidFill>
                  <a:srgbClr val="2B1B22"/>
                </a:solidFill>
                <a:latin typeface="Nunito"/>
              </a:rPr>
              <a:t> aucune promotion, aucun prix et aucun gagnant annoncé sans validation de la direction.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4. MESURE</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Les indicateurs à suivre</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21</a:t>
            </a:r>
          </a:p>
        </p:txBody>
      </p:sp>
      <p:graphicFrame>
        <p:nvGraphicFramePr>
          <p:cNvPr id="8" name="Table 7"/>
          <p:cNvGraphicFramePr>
            <a:graphicFrameLocks noGrp="1"/>
          </p:cNvGraphicFramePr>
          <p:nvPr/>
        </p:nvGraphicFramePr>
        <p:xfrm>
          <a:off x="600000" y="1450000"/>
          <a:ext cx="11000000" cy="3290000"/>
        </p:xfrm>
        <a:graphic>
          <a:graphicData uri="http://schemas.openxmlformats.org/drawingml/2006/table">
            <a:tbl>
              <a:tblPr firstRow="1" bandRow="1">
                <a:tableStyleId>{5C22544A-7EE6-4342-B048-85BDC9FD1C3A}</a:tableStyleId>
              </a:tblPr>
              <a:tblGrid>
                <a:gridCol w="3800000"/>
                <a:gridCol w="2100000"/>
                <a:gridCol w="2600000"/>
                <a:gridCol w="2500000"/>
              </a:tblGrid>
              <a:tr h="470000">
                <a:tc>
                  <a:txBody>
                    <a:bodyPr/>
                    <a:lstStyle/>
                    <a:p>
                      <a:r>
                        <a:rPr sz="1200" b="1">
                          <a:solidFill>
                            <a:srgbClr val="FFFFFF"/>
                          </a:solidFill>
                          <a:latin typeface="Nunito"/>
                        </a:rPr>
                        <a:t>Indicateur</a:t>
                      </a:r>
                    </a:p>
                  </a:txBody>
                  <a:tcPr marL="70000" marR="70000" marT="35000" marB="35000">
                    <a:solidFill>
                      <a:srgbClr val="E50046"/>
                    </a:solidFill>
                  </a:tcPr>
                </a:tc>
                <a:tc>
                  <a:txBody>
                    <a:bodyPr/>
                    <a:lstStyle/>
                    <a:p>
                      <a:r>
                        <a:rPr sz="1200" b="1">
                          <a:solidFill>
                            <a:srgbClr val="FFFFFF"/>
                          </a:solidFill>
                          <a:latin typeface="Nunito"/>
                        </a:rPr>
                        <a:t>Aujourd'hui</a:t>
                      </a:r>
                    </a:p>
                  </a:txBody>
                  <a:tcPr marL="70000" marR="70000" marT="35000" marB="35000">
                    <a:solidFill>
                      <a:srgbClr val="E50046"/>
                    </a:solidFill>
                  </a:tcPr>
                </a:tc>
                <a:tc>
                  <a:txBody>
                    <a:bodyPr/>
                    <a:lstStyle/>
                    <a:p>
                      <a:r>
                        <a:rPr sz="1200" b="1">
                          <a:solidFill>
                            <a:srgbClr val="FFFFFF"/>
                          </a:solidFill>
                          <a:latin typeface="Nunito"/>
                        </a:rPr>
                        <a:t>Objectif à 90 jours</a:t>
                      </a:r>
                    </a:p>
                  </a:txBody>
                  <a:tcPr marL="70000" marR="70000" marT="35000" marB="35000">
                    <a:solidFill>
                      <a:srgbClr val="E50046"/>
                    </a:solidFill>
                  </a:tcPr>
                </a:tc>
                <a:tc>
                  <a:txBody>
                    <a:bodyPr/>
                    <a:lstStyle/>
                    <a:p>
                      <a:r>
                        <a:rPr sz="1200" b="1">
                          <a:solidFill>
                            <a:srgbClr val="FFFFFF"/>
                          </a:solidFill>
                          <a:latin typeface="Nunito"/>
                        </a:rPr>
                        <a:t>Où le lire</a:t>
                      </a:r>
                    </a:p>
                  </a:txBody>
                  <a:tcPr marL="70000" marR="70000" marT="35000" marB="35000">
                    <a:solidFill>
                      <a:srgbClr val="E50046"/>
                    </a:solidFill>
                  </a:tcPr>
                </a:tc>
              </a:tr>
              <a:tr h="470000">
                <a:tc>
                  <a:txBody>
                    <a:bodyPr/>
                    <a:lstStyle/>
                    <a:p>
                      <a:r>
                        <a:rPr sz="1200" b="1">
                          <a:solidFill>
                            <a:srgbClr val="2B1B22"/>
                          </a:solidFill>
                          <a:latin typeface="Nunito"/>
                        </a:rPr>
                        <a:t>Interactions médianes par publication</a:t>
                      </a:r>
                    </a:p>
                  </a:txBody>
                  <a:tcPr marL="70000" marR="70000" marT="35000" marB="35000">
                    <a:solidFill>
                      <a:srgbClr val="FFFFFF"/>
                    </a:solidFill>
                  </a:tcPr>
                </a:tc>
                <a:tc>
                  <a:txBody>
                    <a:bodyPr/>
                    <a:lstStyle/>
                    <a:p>
                      <a:r>
                        <a:rPr sz="1200" b="0">
                          <a:solidFill>
                            <a:srgbClr val="2B1B22"/>
                          </a:solidFill>
                          <a:latin typeface="Nunito"/>
                        </a:rPr>
                        <a:t>27</a:t>
                      </a:r>
                    </a:p>
                  </a:txBody>
                  <a:tcPr marL="70000" marR="70000" marT="35000" marB="35000">
                    <a:solidFill>
                      <a:srgbClr val="FFFFFF"/>
                    </a:solidFill>
                  </a:tcPr>
                </a:tc>
                <a:tc>
                  <a:txBody>
                    <a:bodyPr/>
                    <a:lstStyle/>
                    <a:p>
                      <a:r>
                        <a:rPr sz="1200" b="0">
                          <a:solidFill>
                            <a:srgbClr val="2B1B22"/>
                          </a:solidFill>
                          <a:latin typeface="Nunito"/>
                        </a:rPr>
                        <a:t>60</a:t>
                      </a:r>
                    </a:p>
                  </a:txBody>
                  <a:tcPr marL="70000" marR="70000" marT="35000" marB="35000">
                    <a:solidFill>
                      <a:srgbClr val="FFFFFF"/>
                    </a:solidFill>
                  </a:tcPr>
                </a:tc>
                <a:tc>
                  <a:txBody>
                    <a:bodyPr/>
                    <a:lstStyle/>
                    <a:p>
                      <a:r>
                        <a:rPr sz="1200" b="0">
                          <a:solidFill>
                            <a:srgbClr val="2B1B22"/>
                          </a:solidFill>
                          <a:latin typeface="Nunito"/>
                        </a:rPr>
                        <a:t>Meta Business Suite</a:t>
                      </a:r>
                    </a:p>
                  </a:txBody>
                  <a:tcPr marL="70000" marR="70000" marT="35000" marB="35000">
                    <a:solidFill>
                      <a:srgbClr val="FFFFFF"/>
                    </a:solidFill>
                  </a:tcPr>
                </a:tc>
              </a:tr>
              <a:tr h="470000">
                <a:tc>
                  <a:txBody>
                    <a:bodyPr/>
                    <a:lstStyle/>
                    <a:p>
                      <a:r>
                        <a:rPr sz="1200" b="1">
                          <a:solidFill>
                            <a:srgbClr val="2B1B22"/>
                          </a:solidFill>
                          <a:latin typeface="Nunito"/>
                        </a:rPr>
                        <a:t>Publications citant une marque</a:t>
                      </a:r>
                    </a:p>
                  </a:txBody>
                  <a:tcPr marL="70000" marR="70000" marT="35000" marB="35000">
                    <a:solidFill>
                      <a:srgbClr val="FDF0F4"/>
                    </a:solidFill>
                  </a:tcPr>
                </a:tc>
                <a:tc>
                  <a:txBody>
                    <a:bodyPr/>
                    <a:lstStyle/>
                    <a:p>
                      <a:r>
                        <a:rPr sz="1200" b="0">
                          <a:solidFill>
                            <a:srgbClr val="2B1B22"/>
                          </a:solidFill>
                          <a:latin typeface="Nunito"/>
                        </a:rPr>
                        <a:t>6 sur 30</a:t>
                      </a:r>
                    </a:p>
                  </a:txBody>
                  <a:tcPr marL="70000" marR="70000" marT="35000" marB="35000">
                    <a:solidFill>
                      <a:srgbClr val="FDF0F4"/>
                    </a:solidFill>
                  </a:tcPr>
                </a:tc>
                <a:tc>
                  <a:txBody>
                    <a:bodyPr/>
                    <a:lstStyle/>
                    <a:p>
                      <a:r>
                        <a:rPr sz="1200" b="0">
                          <a:solidFill>
                            <a:srgbClr val="2B1B22"/>
                          </a:solidFill>
                          <a:latin typeface="Nunito"/>
                        </a:rPr>
                        <a:t>24 sur 30</a:t>
                      </a:r>
                    </a:p>
                  </a:txBody>
                  <a:tcPr marL="70000" marR="70000" marT="35000" marB="35000">
                    <a:solidFill>
                      <a:srgbClr val="FDF0F4"/>
                    </a:solidFill>
                  </a:tcPr>
                </a:tc>
                <a:tc>
                  <a:txBody>
                    <a:bodyPr/>
                    <a:lstStyle/>
                    <a:p>
                      <a:r>
                        <a:rPr sz="1200" b="0">
                          <a:solidFill>
                            <a:srgbClr val="2B1B22"/>
                          </a:solidFill>
                          <a:latin typeface="Nunito"/>
                        </a:rPr>
                        <a:t>Calendrier éditorial</a:t>
                      </a:r>
                    </a:p>
                  </a:txBody>
                  <a:tcPr marL="70000" marR="70000" marT="35000" marB="35000">
                    <a:solidFill>
                      <a:srgbClr val="FDF0F4"/>
                    </a:solidFill>
                  </a:tcPr>
                </a:tc>
              </a:tr>
              <a:tr h="470000">
                <a:tc>
                  <a:txBody>
                    <a:bodyPr/>
                    <a:lstStyle/>
                    <a:p>
                      <a:r>
                        <a:rPr sz="1200" b="1">
                          <a:solidFill>
                            <a:srgbClr val="2B1B22"/>
                          </a:solidFill>
                          <a:latin typeface="Nunito"/>
                        </a:rPr>
                        <a:t>Vidéos par mois</a:t>
                      </a:r>
                    </a:p>
                  </a:txBody>
                  <a:tcPr marL="70000" marR="70000" marT="35000" marB="35000">
                    <a:solidFill>
                      <a:srgbClr val="FFFFFF"/>
                    </a:solidFill>
                  </a:tcPr>
                </a:tc>
                <a:tc>
                  <a:txBody>
                    <a:bodyPr/>
                    <a:lstStyle/>
                    <a:p>
                      <a:r>
                        <a:rPr sz="1200" b="0">
                          <a:solidFill>
                            <a:srgbClr val="2B1B22"/>
                          </a:solidFill>
                          <a:latin typeface="Nunito"/>
                        </a:rPr>
                        <a:t>0</a:t>
                      </a:r>
                    </a:p>
                  </a:txBody>
                  <a:tcPr marL="70000" marR="70000" marT="35000" marB="35000">
                    <a:solidFill>
                      <a:srgbClr val="FFFFFF"/>
                    </a:solidFill>
                  </a:tcPr>
                </a:tc>
                <a:tc>
                  <a:txBody>
                    <a:bodyPr/>
                    <a:lstStyle/>
                    <a:p>
                      <a:r>
                        <a:rPr sz="1200" b="0">
                          <a:solidFill>
                            <a:srgbClr val="2B1B22"/>
                          </a:solidFill>
                          <a:latin typeface="Nunito"/>
                        </a:rPr>
                        <a:t>8</a:t>
                      </a:r>
                    </a:p>
                  </a:txBody>
                  <a:tcPr marL="70000" marR="70000" marT="35000" marB="35000">
                    <a:solidFill>
                      <a:srgbClr val="FFFFFF"/>
                    </a:solidFill>
                  </a:tcPr>
                </a:tc>
                <a:tc>
                  <a:txBody>
                    <a:bodyPr/>
                    <a:lstStyle/>
                    <a:p>
                      <a:r>
                        <a:rPr sz="1200" b="0">
                          <a:solidFill>
                            <a:srgbClr val="2B1B22"/>
                          </a:solidFill>
                          <a:latin typeface="Nunito"/>
                        </a:rPr>
                        <a:t>Calendrier éditorial</a:t>
                      </a:r>
                    </a:p>
                  </a:txBody>
                  <a:tcPr marL="70000" marR="70000" marT="35000" marB="35000">
                    <a:solidFill>
                      <a:srgbClr val="FFFFFF"/>
                    </a:solidFill>
                  </a:tcPr>
                </a:tc>
              </a:tr>
              <a:tr h="470000">
                <a:tc>
                  <a:txBody>
                    <a:bodyPr/>
                    <a:lstStyle/>
                    <a:p>
                      <a:r>
                        <a:rPr sz="1200" b="1">
                          <a:solidFill>
                            <a:srgbClr val="2B1B22"/>
                          </a:solidFill>
                          <a:latin typeface="Nunito"/>
                        </a:rPr>
                        <a:t>Abonnés TikTok</a:t>
                      </a:r>
                    </a:p>
                  </a:txBody>
                  <a:tcPr marL="70000" marR="70000" marT="35000" marB="35000">
                    <a:solidFill>
                      <a:srgbClr val="FDF0F4"/>
                    </a:solidFill>
                  </a:tcPr>
                </a:tc>
                <a:tc>
                  <a:txBody>
                    <a:bodyPr/>
                    <a:lstStyle/>
                    <a:p>
                      <a:r>
                        <a:rPr sz="1200" b="0">
                          <a:solidFill>
                            <a:srgbClr val="2B1B22"/>
                          </a:solidFill>
                          <a:latin typeface="Nunito"/>
                        </a:rPr>
                        <a:t>pas de compte</a:t>
                      </a:r>
                    </a:p>
                  </a:txBody>
                  <a:tcPr marL="70000" marR="70000" marT="35000" marB="35000">
                    <a:solidFill>
                      <a:srgbClr val="FDF0F4"/>
                    </a:solidFill>
                  </a:tcPr>
                </a:tc>
                <a:tc>
                  <a:txBody>
                    <a:bodyPr/>
                    <a:lstStyle/>
                    <a:p>
                      <a:r>
                        <a:rPr sz="1200" b="0">
                          <a:solidFill>
                            <a:srgbClr val="2B1B22"/>
                          </a:solidFill>
                          <a:latin typeface="Nunito"/>
                        </a:rPr>
                        <a:t>2 000</a:t>
                      </a:r>
                    </a:p>
                  </a:txBody>
                  <a:tcPr marL="70000" marR="70000" marT="35000" marB="35000">
                    <a:solidFill>
                      <a:srgbClr val="FDF0F4"/>
                    </a:solidFill>
                  </a:tcPr>
                </a:tc>
                <a:tc>
                  <a:txBody>
                    <a:bodyPr/>
                    <a:lstStyle/>
                    <a:p>
                      <a:r>
                        <a:rPr sz="1200" b="0">
                          <a:solidFill>
                            <a:srgbClr val="2B1B22"/>
                          </a:solidFill>
                          <a:latin typeface="Nunito"/>
                        </a:rPr>
                        <a:t>TikTok</a:t>
                      </a:r>
                    </a:p>
                  </a:txBody>
                  <a:tcPr marL="70000" marR="70000" marT="35000" marB="35000">
                    <a:solidFill>
                      <a:srgbClr val="FDF0F4"/>
                    </a:solidFill>
                  </a:tcPr>
                </a:tc>
              </a:tr>
              <a:tr h="470000">
                <a:tc>
                  <a:txBody>
                    <a:bodyPr/>
                    <a:lstStyle/>
                    <a:p>
                      <a:r>
                        <a:rPr sz="1200" b="1">
                          <a:solidFill>
                            <a:srgbClr val="2B1B22"/>
                          </a:solidFill>
                          <a:latin typeface="Nunito"/>
                        </a:rPr>
                        <a:t>Commentaires médians</a:t>
                      </a:r>
                    </a:p>
                  </a:txBody>
                  <a:tcPr marL="70000" marR="70000" marT="35000" marB="35000">
                    <a:solidFill>
                      <a:srgbClr val="FFFFFF"/>
                    </a:solidFill>
                  </a:tcPr>
                </a:tc>
                <a:tc>
                  <a:txBody>
                    <a:bodyPr/>
                    <a:lstStyle/>
                    <a:p>
                      <a:r>
                        <a:rPr sz="1200" b="0">
                          <a:solidFill>
                            <a:srgbClr val="2B1B22"/>
                          </a:solidFill>
                          <a:latin typeface="Nunito"/>
                        </a:rPr>
                        <a:t>5</a:t>
                      </a:r>
                    </a:p>
                  </a:txBody>
                  <a:tcPr marL="70000" marR="70000" marT="35000" marB="35000">
                    <a:solidFill>
                      <a:srgbClr val="FFFFFF"/>
                    </a:solidFill>
                  </a:tcPr>
                </a:tc>
                <a:tc>
                  <a:txBody>
                    <a:bodyPr/>
                    <a:lstStyle/>
                    <a:p>
                      <a:r>
                        <a:rPr sz="1200" b="0">
                          <a:solidFill>
                            <a:srgbClr val="2B1B22"/>
                          </a:solidFill>
                          <a:latin typeface="Nunito"/>
                        </a:rPr>
                        <a:t>15</a:t>
                      </a:r>
                    </a:p>
                  </a:txBody>
                  <a:tcPr marL="70000" marR="70000" marT="35000" marB="35000">
                    <a:solidFill>
                      <a:srgbClr val="FFFFFF"/>
                    </a:solidFill>
                  </a:tcPr>
                </a:tc>
                <a:tc>
                  <a:txBody>
                    <a:bodyPr/>
                    <a:lstStyle/>
                    <a:p>
                      <a:r>
                        <a:rPr sz="1200" b="0">
                          <a:solidFill>
                            <a:srgbClr val="2B1B22"/>
                          </a:solidFill>
                          <a:latin typeface="Nunito"/>
                        </a:rPr>
                        <a:t>Meta Business Suite</a:t>
                      </a:r>
                    </a:p>
                  </a:txBody>
                  <a:tcPr marL="70000" marR="70000" marT="35000" marB="35000">
                    <a:solidFill>
                      <a:srgbClr val="FFFFFF"/>
                    </a:solidFill>
                  </a:tcPr>
                </a:tc>
              </a:tr>
              <a:tr h="470000">
                <a:tc>
                  <a:txBody>
                    <a:bodyPr/>
                    <a:lstStyle/>
                    <a:p>
                      <a:r>
                        <a:rPr sz="1200" b="1">
                          <a:solidFill>
                            <a:srgbClr val="2B1B22"/>
                          </a:solidFill>
                          <a:latin typeface="Nunito"/>
                        </a:rPr>
                        <a:t>Portée et coût par interaction</a:t>
                      </a:r>
                    </a:p>
                  </a:txBody>
                  <a:tcPr marL="70000" marR="70000" marT="35000" marB="35000">
                    <a:solidFill>
                      <a:srgbClr val="FDF0F4"/>
                    </a:solidFill>
                  </a:tcPr>
                </a:tc>
                <a:tc>
                  <a:txBody>
                    <a:bodyPr/>
                    <a:lstStyle/>
                    <a:p>
                      <a:r>
                        <a:rPr sz="1200" b="0">
                          <a:solidFill>
                            <a:srgbClr val="2B1B22"/>
                          </a:solidFill>
                          <a:latin typeface="Nunito"/>
                        </a:rPr>
                        <a:t>à relever</a:t>
                      </a:r>
                    </a:p>
                  </a:txBody>
                  <a:tcPr marL="70000" marR="70000" marT="35000" marB="35000">
                    <a:solidFill>
                      <a:srgbClr val="FDF0F4"/>
                    </a:solidFill>
                  </a:tcPr>
                </a:tc>
                <a:tc>
                  <a:txBody>
                    <a:bodyPr/>
                    <a:lstStyle/>
                    <a:p>
                      <a:r>
                        <a:rPr sz="1200" b="0">
                          <a:solidFill>
                            <a:srgbClr val="2B1B22"/>
                          </a:solidFill>
                          <a:latin typeface="Nunito"/>
                        </a:rPr>
                        <a:t>fixés après le premier mois</a:t>
                      </a:r>
                    </a:p>
                  </a:txBody>
                  <a:tcPr marL="70000" marR="70000" marT="35000" marB="35000">
                    <a:solidFill>
                      <a:srgbClr val="FDF0F4"/>
                    </a:solidFill>
                  </a:tcPr>
                </a:tc>
                <a:tc>
                  <a:txBody>
                    <a:bodyPr/>
                    <a:lstStyle/>
                    <a:p>
                      <a:r>
                        <a:rPr sz="1200" b="0">
                          <a:solidFill>
                            <a:srgbClr val="2B1B22"/>
                          </a:solidFill>
                          <a:latin typeface="Nunito"/>
                        </a:rPr>
                        <a:t>Meta Business Suite</a:t>
                      </a:r>
                    </a:p>
                  </a:txBody>
                  <a:tcPr marL="70000" marR="70000" marT="35000" marB="35000">
                    <a:solidFill>
                      <a:srgbClr val="FDF0F4"/>
                    </a:solidFill>
                  </a:tcPr>
                </a:tc>
              </a:tr>
            </a:tbl>
          </a:graphicData>
        </a:graphic>
      </p:graphicFrame>
      <p:sp>
        <p:nvSpPr>
          <p:cNvPr id="9" name="TextBox 8"/>
          <p:cNvSpPr txBox="1"/>
          <p:nvPr/>
        </p:nvSpPr>
        <p:spPr>
          <a:xfrm>
            <a:off x="600000" y="5000000"/>
            <a:ext cx="11000000" cy="900000"/>
          </a:xfrm>
          <a:prstGeom prst="rect">
            <a:avLst/>
          </a:prstGeom>
          <a:noFill/>
        </p:spPr>
        <p:txBody>
          <a:bodyPr wrap="square">
            <a:spAutoFit/>
          </a:bodyPr>
          <a:lstStyle/>
          <a:p>
            <a:pPr>
              <a:spcAft>
                <a:spcPts val="500"/>
              </a:spcAft>
            </a:pPr>
            <a:r>
              <a:rPr sz="1200" b="0">
                <a:solidFill>
                  <a:srgbClr val="77707A"/>
                </a:solidFill>
                <a:latin typeface="Nunito"/>
              </a:rPr>
              <a:t>Les objectifs sont des propositions de départ. Ils se recalent après le premier mois, une fois la portée réelle connue.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E50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0000"/>
            <a:ext cx="12192000" cy="30000"/>
          </a:xfrm>
          <a:prstGeom prst="rect">
            <a:avLst/>
          </a:prstGeom>
          <a:solidFill>
            <a:srgbClr val="FA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0000" y="270000"/>
            <a:ext cx="9000000" cy="380000"/>
          </a:xfrm>
          <a:prstGeom prst="rect">
            <a:avLst/>
          </a:prstGeom>
          <a:noFill/>
        </p:spPr>
        <p:txBody>
          <a:bodyPr wrap="square">
            <a:spAutoFit/>
          </a:bodyPr>
          <a:lstStyle/>
          <a:p>
            <a:pPr>
              <a:spcAft>
                <a:spcPts val="500"/>
              </a:spcAft>
            </a:pPr>
            <a:r>
              <a:rPr sz="1100" b="1">
                <a:solidFill>
                  <a:srgbClr val="E50046"/>
                </a:solidFill>
                <a:latin typeface="Nunito"/>
              </a:rPr>
              <a:t>5. À SAVOIR</a:t>
            </a:r>
          </a:p>
        </p:txBody>
      </p:sp>
      <p:sp>
        <p:nvSpPr>
          <p:cNvPr id="5" name="TextBox 4"/>
          <p:cNvSpPr txBox="1"/>
          <p:nvPr/>
        </p:nvSpPr>
        <p:spPr>
          <a:xfrm>
            <a:off x="600000" y="530000"/>
            <a:ext cx="9900000" cy="800000"/>
          </a:xfrm>
          <a:prstGeom prst="rect">
            <a:avLst/>
          </a:prstGeom>
          <a:noFill/>
        </p:spPr>
        <p:txBody>
          <a:bodyPr wrap="square">
            <a:spAutoFit/>
          </a:bodyPr>
          <a:lstStyle/>
          <a:p>
            <a:pPr>
              <a:spcAft>
                <a:spcPts val="500"/>
              </a:spcAft>
            </a:pPr>
            <a:r>
              <a:rPr sz="2500" b="1">
                <a:solidFill>
                  <a:srgbClr val="2B1B22"/>
                </a:solidFill>
                <a:latin typeface="Baloo 2"/>
              </a:rPr>
              <a:t>Méthode, sources et limites</a:t>
            </a:r>
          </a:p>
        </p:txBody>
      </p:sp>
      <p:pic>
        <p:nvPicPr>
          <p:cNvPr id="6" name="Picture 5" descr="logo.png"/>
          <p:cNvPicPr>
            <a:picLocks noChangeAspect="1"/>
          </p:cNvPicPr>
          <p:nvPr/>
        </p:nvPicPr>
        <p:blipFill>
          <a:blip r:embed="rId2"/>
          <a:stretch>
            <a:fillRect/>
          </a:stretch>
        </p:blipFill>
        <p:spPr>
          <a:xfrm>
            <a:off x="10942000" y="250000"/>
            <a:ext cx="796642" cy="820000"/>
          </a:xfrm>
          <a:prstGeom prst="rect">
            <a:avLst/>
          </a:prstGeom>
        </p:spPr>
      </p:pic>
      <p:sp>
        <p:nvSpPr>
          <p:cNvPr id="7" name="TextBox 6"/>
          <p:cNvSpPr txBox="1"/>
          <p:nvPr/>
        </p:nvSpPr>
        <p:spPr>
          <a:xfrm>
            <a:off x="600000" y="6438000"/>
            <a:ext cx="10000000" cy="300000"/>
          </a:xfrm>
          <a:prstGeom prst="rect">
            <a:avLst/>
          </a:prstGeom>
          <a:noFill/>
        </p:spPr>
        <p:txBody>
          <a:bodyPr wrap="square">
            <a:spAutoFit/>
          </a:bodyPr>
          <a:lstStyle/>
          <a:p>
            <a:pPr>
              <a:spcAft>
                <a:spcPts val="500"/>
              </a:spcAft>
            </a:pPr>
            <a:r>
              <a:rPr sz="900" b="0">
                <a:solidFill>
                  <a:srgbClr val="77707A"/>
                </a:solidFill>
                <a:latin typeface="Nunito"/>
              </a:rPr>
              <a:t>Unifood  |  Audit des réseaux sociaux et benchmark, octobre 2026  |  22</a:t>
            </a:r>
          </a:p>
        </p:txBody>
      </p:sp>
      <p:sp>
        <p:nvSpPr>
          <p:cNvPr id="8" name="TextBox 7"/>
          <p:cNvSpPr txBox="1"/>
          <p:nvPr/>
        </p:nvSpPr>
        <p:spPr>
          <a:xfrm>
            <a:off x="600000" y="1400000"/>
            <a:ext cx="11000000" cy="4900000"/>
          </a:xfrm>
          <a:prstGeom prst="rect">
            <a:avLst/>
          </a:prstGeom>
          <a:noFill/>
        </p:spPr>
        <p:txBody>
          <a:bodyPr wrap="square">
            <a:spAutoFit/>
          </a:bodyPr>
          <a:lstStyle/>
          <a:p>
            <a:pPr>
              <a:spcAft>
                <a:spcPts val="500"/>
              </a:spcAft>
            </a:pPr>
            <a:r>
              <a:rPr sz="1300" b="1">
                <a:solidFill>
                  <a:srgbClr val="2B1B22"/>
                </a:solidFill>
                <a:latin typeface="Nunito"/>
              </a:rPr>
              <a:t>Comptes analysés :</a:t>
            </a:r>
            <a:r>
              <a:rPr sz="1300" b="0">
                <a:solidFill>
                  <a:srgbClr val="2B1B22"/>
                </a:solidFill>
                <a:latin typeface="Nunito"/>
              </a:rPr>
              <a:t> Facebook Unifoodofficiel (lien publié sur unifood.info), RioPop225, afriwaraci, CarredOrGroupe, chocolatineofficiel ; Instagram @riopop_officiel et @afriwaraciv.</a:t>
            </a:r>
          </a:p>
          <a:p>
            <a:pPr>
              <a:spcAft>
                <a:spcPts val="500"/>
              </a:spcAft>
            </a:pPr>
            <a:r>
              <a:rPr sz="1300" b="1">
                <a:solidFill>
                  <a:srgbClr val="2B1B22"/>
                </a:solidFill>
                <a:latin typeface="Nunito"/>
              </a:rPr>
              <a:t>Échantillon :</a:t>
            </a:r>
            <a:r>
              <a:rPr sz="1300" b="0">
                <a:solidFill>
                  <a:srgbClr val="2B1B22"/>
                </a:solidFill>
                <a:latin typeface="Nunito"/>
              </a:rPr>
              <a:t> les 30 dernières publications Facebook de chaque page, relevées le 19 octobre 2026. Les périodes couvertes varient : 7 semaines pour Carré d'Or, 12 semaines pour Unifood, 20 mois pour Rio Pop et Afriwara.</a:t>
            </a:r>
          </a:p>
          <a:p>
            <a:pPr>
              <a:spcAft>
                <a:spcPts val="500"/>
              </a:spcAft>
            </a:pPr>
            <a:r>
              <a:rPr sz="1300" b="1">
                <a:solidFill>
                  <a:srgbClr val="2B1B22"/>
                </a:solidFill>
                <a:latin typeface="Nunito"/>
              </a:rPr>
              <a:t>Calculs :</a:t>
            </a:r>
            <a:r>
              <a:rPr sz="1300" b="0">
                <a:solidFill>
                  <a:srgbClr val="2B1B22"/>
                </a:solidFill>
                <a:latin typeface="Nunito"/>
              </a:rPr>
              <a:t> interactions = mentions J'aime + commentaires + partages. Toujours la médiane, jamais la moyenne : une seule publication sponsorisée fausse une moyenne.</a:t>
            </a:r>
          </a:p>
          <a:p>
            <a:pPr>
              <a:spcAft>
                <a:spcPts val="500"/>
              </a:spcAft>
            </a:pPr>
            <a:r>
              <a:rPr sz="1300" b="1">
                <a:solidFill>
                  <a:srgbClr val="2B1B22"/>
                </a:solidFill>
                <a:latin typeface="Nunito"/>
              </a:rPr>
              <a:t>Limites :</a:t>
            </a:r>
            <a:r>
              <a:rPr sz="1300" b="0">
                <a:solidFill>
                  <a:srgbClr val="2B1B22"/>
                </a:solidFill>
                <a:latin typeface="Nunito"/>
              </a:rPr>
              <a:t> seules les données publiques sont visibles. La portée, les clics, les messages et les dépenses publicitaires se lisent dans Meta Business Suite. Aucune des cinq pages ne diffusait de publicité le jour du relevé.</a:t>
            </a:r>
          </a:p>
          <a:p>
            <a:pPr>
              <a:spcAft>
                <a:spcPts val="500"/>
              </a:spcAft>
            </a:pPr>
            <a:r>
              <a:rPr sz="1300" b="1">
                <a:solidFill>
                  <a:srgbClr val="2B1B22"/>
                </a:solidFill>
                <a:latin typeface="Nunito"/>
              </a:rPr>
              <a:t>Sources :</a:t>
            </a:r>
            <a:r>
              <a:rPr sz="1300" b="0">
                <a:solidFill>
                  <a:srgbClr val="2B1B22"/>
                </a:solidFill>
                <a:latin typeface="Nunito"/>
              </a:rPr>
              <a:t> pages publiques, unifood.info, carredor.org, amethis.com (Afriwara), LinkedIn de la Confiserie Moderne d'Afrique.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