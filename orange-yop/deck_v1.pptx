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ue3d_facade_j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FF7900"/>
                </a:solidFill>
                <a:latin typeface="Arial"/>
              </a:rPr>
              <a:t>Boutique de quartier</a:t>
            </a:r>
          </a:p>
          <a:p>
            <a:pPr algn="l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Yopougon : la nouvelle façade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Enseigne, vitrine, présentoir de comptoir et vues en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BBBBBB"/>
                </a:solidFill>
                <a:latin typeface="Arial"/>
              </a:rPr>
              <a:t>Dossier de validation · direction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Ce que nous proposons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06040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>
                <a:solidFill>
                  <a:srgbClr val="FF790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Une enseigne lumineuse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2194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Caisson noir, logo Orange à gauche, lisible depuis le trottoir d'en face, de jour comme de nuit. Un drapeau perpendiculaire pour qui arrive par le côté.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00200"/>
            <a:ext cx="2606040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>
                <a:solidFill>
                  <a:srgbClr val="FF790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Une vitrine qui répond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29000"/>
            <a:ext cx="2194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À gauche, Orange Money (dépôt, retrait, transfert, paiement). À droite, ce qu'on trouve en boutique. Le haut reste dégagé pour voir l'intérieur.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2606040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>
                <a:solidFill>
                  <a:srgbClr val="FF7900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Un présentoir de comptoir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2194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Il pousse l'appli Max it au moment où le client attend, et range trois dépliants. 30 × 60 cm, posé à côté de la caisse.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600200"/>
            <a:ext cx="2606040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600200"/>
            <a:ext cx="2606040" cy="7315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>
                <a:solidFill>
                  <a:srgbClr val="FF7900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Des vues en 3D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429000"/>
            <a:ext cx="2194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Façade de jour, de nuit, de face, en approche dans la rue, et le comptoir : pour juger avant de payer le moindre devis.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Ce que nous demandons à la direction : valider le principe, pour lancer le relevé des cotes et les devis.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2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LE PARCOURS DU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Du trottoir à la caisse : ce que le passant se demande</a:t>
            </a:r>
          </a:p>
        </p:txBody>
      </p:sp>
      <p:pic>
        <p:nvPicPr>
          <p:cNvPr id="6" name="Picture 5" descr="photo-r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311614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508760"/>
            <a:ext cx="73152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>
                <a:solidFill>
                  <a:srgbClr val="FF7900"/>
                </a:solidFill>
                <a:latin typeface="Arial"/>
              </a:rPr>
              <a:t>À 30 MÈTRES</a:t>
            </a:r>
          </a:p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« C'est une boutique Orange ? »</a:t>
            </a:r>
          </a:p>
          <a:p>
            <a:pPr algn="l">
              <a:spcAft>
                <a:spcPts val="517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Enseigne lumineuse et drapeau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68296"/>
            <a:ext cx="73152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68296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>
                <a:solidFill>
                  <a:srgbClr val="FF7900"/>
                </a:solidFill>
                <a:latin typeface="Arial"/>
              </a:rPr>
              <a:t>DEVANT LA VITRINE</a:t>
            </a:r>
          </a:p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« Je peux faire mon Orange Money ici ? »</a:t>
            </a:r>
          </a:p>
          <a:p>
            <a:pPr algn="l">
              <a:spcAft>
                <a:spcPts val="517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Vitrophanie gauche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27832"/>
            <a:ext cx="73152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227832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>
                <a:solidFill>
                  <a:srgbClr val="FF7900"/>
                </a:solidFill>
                <a:latin typeface="Arial"/>
              </a:rPr>
              <a:t>SUR LE PAS DE PORTE</a:t>
            </a:r>
          </a:p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« C'est ouvert ? Jusqu'à quelle heure ? »</a:t>
            </a:r>
          </a:p>
          <a:p>
            <a:pPr algn="l">
              <a:spcAft>
                <a:spcPts val="517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Adhésif horaires sur la porte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87368"/>
            <a:ext cx="73152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087368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>
                <a:solidFill>
                  <a:srgbClr val="FF7900"/>
                </a:solidFill>
                <a:latin typeface="Arial"/>
              </a:rPr>
              <a:t>DEDANS</a:t>
            </a:r>
          </a:p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« Je paie où ? »</a:t>
            </a:r>
          </a:p>
          <a:p>
            <a:pPr algn="l">
              <a:spcAft>
                <a:spcPts val="517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Face du comptoir : Caisse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946904"/>
            <a:ext cx="73152" cy="73152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946904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1">
                <a:solidFill>
                  <a:srgbClr val="FF7900"/>
                </a:solidFill>
                <a:latin typeface="Arial"/>
              </a:rPr>
              <a:t>EN ATTENDANT</a:t>
            </a:r>
          </a:p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« Comment je gère mes pass moi-même ? »</a:t>
            </a:r>
          </a:p>
          <a:p>
            <a:pPr algn="l">
              <a:spcAft>
                <a:spcPts val="517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Présentoir Max it + dépliants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Rue commerçante, photo d'illustration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3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1 · ENSEIGNE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L'enseigne : se voir de loin, de jour comme de nuit</a:t>
            </a:r>
          </a:p>
        </p:txBody>
      </p:sp>
      <p:pic>
        <p:nvPicPr>
          <p:cNvPr id="6" name="Picture 5" descr="faces_a_pla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675120" cy="1514263"/>
          </a:xfrm>
          <a:prstGeom prst="rect">
            <a:avLst/>
          </a:prstGeom>
        </p:spPr>
      </p:pic>
      <p:pic>
        <p:nvPicPr>
          <p:cNvPr id="7" name="Picture 6" descr="faces_a_plat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2417197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3291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Le drapeau, double face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Perpendiculaire au mur : c'est lui qu'on voit en arrivant par le côté, quand la façade est encore de biais.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08760"/>
            <a:ext cx="32004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Fond noir, logo orange : </a:t>
            </a:r>
            <a:r>
              <a:rPr sz="1250">
                <a:solidFill>
                  <a:srgbClr val="595959"/>
                </a:solidFill>
                <a:latin typeface="Arial"/>
              </a:rPr>
              <a:t>le contraste le plus fort, celui que les passants connaissent déjà.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Deux lignes seulement : </a:t>
            </a:r>
            <a:r>
              <a:rPr sz="1250">
                <a:solidFill>
                  <a:srgbClr val="595959"/>
                </a:solidFill>
                <a:latin typeface="Arial"/>
              </a:rPr>
              <a:t>« Boutique Orange » et le quartier. Les services passent en petit, à droite.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Éclairage LED à faible consommation, </a:t>
            </a:r>
            <a:r>
              <a:rPr sz="1250">
                <a:solidFill>
                  <a:srgbClr val="595959"/>
                </a:solidFill>
                <a:latin typeface="Arial"/>
              </a:rPr>
              <a:t>à brancher sur l'onduleur de la boutique si elle en a un : une enseigne éteinte pendant une coupure ne sert à rien le soir.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Test avant commande : </a:t>
            </a:r>
            <a:r>
              <a:rPr sz="1250">
                <a:solidFill>
                  <a:srgbClr val="595959"/>
                </a:solidFill>
                <a:latin typeface="Arial"/>
              </a:rPr>
              <a:t>un gabarit imprimé posé sur la façade, regardé depuis le trottoir d'en 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1 · ENSEIGNE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De nuit, la boutique reste repérable</a:t>
            </a:r>
          </a:p>
        </p:txBody>
      </p:sp>
      <p:pic>
        <p:nvPicPr>
          <p:cNvPr id="6" name="Picture 5" descr="vue3d_facade_nui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257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554480"/>
            <a:ext cx="301752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Caisson et drapeau éclairés : les deux seuls éléments visibles dans une rue peu éclairée.</a:t>
            </a:r>
          </a:p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La lumière intérieure fait ressortir la vitrophanie : la vitrine sert d'affiche le soir.</a:t>
            </a:r>
          </a:p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Si la boutique ferme avant la nuit, l'éclairage peut se limiter à un programmateur : à décider selon les horaires réels.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2 · 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La vitrine : dire ce qu'on fait, laisser voir dedans</a:t>
            </a:r>
          </a:p>
        </p:txBody>
      </p:sp>
      <p:pic>
        <p:nvPicPr>
          <p:cNvPr id="6" name="Picture 5" descr="faces_a_pla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309360" cy="3337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508760"/>
            <a:ext cx="356616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Gauche, Orange Money : </a:t>
            </a:r>
            <a:r>
              <a:rPr sz="1250">
                <a:solidFill>
                  <a:srgbClr val="595959"/>
                </a:solidFill>
                <a:latin typeface="Arial"/>
              </a:rPr>
              <a:t>dépôt, retrait, transfert, paiement. C'est la première raison d'entrer.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Droite, la boutique : </a:t>
            </a:r>
            <a:r>
              <a:rPr sz="1250">
                <a:solidFill>
                  <a:srgbClr val="595959"/>
                </a:solidFill>
                <a:latin typeface="Arial"/>
              </a:rPr>
              <a:t>smartphones, pass Internet, fibre à la maison, assistance.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Porte : </a:t>
            </a:r>
            <a:r>
              <a:rPr sz="1250">
                <a:solidFill>
                  <a:srgbClr val="595959"/>
                </a:solidFill>
                <a:latin typeface="Arial"/>
              </a:rPr>
              <a:t>un adhésif horaires (à remplir) et une bande orange à hauteur des yeux, pour qu'on ne heurte pas la vitre.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Bas dépoli : </a:t>
            </a:r>
            <a:r>
              <a:rPr sz="1250">
                <a:solidFill>
                  <a:srgbClr val="595959"/>
                </a:solidFill>
                <a:latin typeface="Arial"/>
              </a:rPr>
              <a:t>il cache le dessous du comptoir et les cartons, et protège un peu du regard sans fermer la vitrine.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Aucun prix ni offre datée </a:t>
            </a:r>
            <a:r>
              <a:rPr sz="1250">
                <a:solidFill>
                  <a:srgbClr val="595959"/>
                </a:solidFill>
                <a:latin typeface="Arial"/>
              </a:rPr>
              <a:t>sur la vitre : ce qui change se met sur une affichette amovible à l'intérieur.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3 · PRÉSENTOIR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 présentoir de comptoir : faire passer le client sur Max it</a:t>
            </a:r>
          </a:p>
        </p:txBody>
      </p:sp>
      <p:pic>
        <p:nvPicPr>
          <p:cNvPr id="6" name="Picture 5" descr="vue3d_presentoir_zoom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792071" cy="4297680"/>
          </a:xfrm>
          <a:prstGeom prst="rect">
            <a:avLst/>
          </a:prstGeom>
        </p:spPr>
      </p:pic>
      <p:pic>
        <p:nvPicPr>
          <p:cNvPr id="7" name="Picture 6" descr="faces_a_plat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63040"/>
            <a:ext cx="234921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1508760"/>
            <a:ext cx="3749039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Le message : </a:t>
            </a:r>
            <a:r>
              <a:rPr sz="1250">
                <a:solidFill>
                  <a:srgbClr val="595959"/>
                </a:solidFill>
                <a:latin typeface="Arial"/>
              </a:rPr>
              <a:t>« Vos pass, votre solde, Orange Money : tout dans Max it. On vous l'installe en boutique. »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Le format : </a:t>
            </a:r>
            <a:r>
              <a:rPr sz="1250">
                <a:solidFill>
                  <a:srgbClr val="595959"/>
                </a:solidFill>
                <a:latin typeface="Arial"/>
              </a:rPr>
              <a:t>un dos de 30 × 60 cm, une base de 30 × 18 cm avec trois poches pour dépliants. Il tient à côté de la caisse sans gêner le paiement.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La matière : </a:t>
            </a:r>
            <a:r>
              <a:rPr sz="1250">
                <a:solidFill>
                  <a:srgbClr val="595959"/>
                </a:solidFill>
                <a:latin typeface="Arial"/>
              </a:rPr>
              <a:t>PVC expansé ou carton rigide pelliculé, qui se nettoie : il sera manipulé toute la journée.</a:t>
            </a:r>
          </a:p>
          <a:p>
            <a:pPr>
              <a:spcAft>
                <a:spcPts val="875"/>
              </a:spcAft>
            </a:pPr>
            <a:r>
              <a:rPr sz="850">
                <a:solidFill>
                  <a:srgbClr val="FF7900"/>
                </a:solidFill>
                <a:latin typeface="Arial"/>
              </a:rPr>
              <a:t>■  </a:t>
            </a:r>
            <a:r>
              <a:rPr b="1" sz="1250">
                <a:latin typeface="Arial"/>
              </a:rPr>
              <a:t>Le bas du dos est noir : </a:t>
            </a:r>
            <a:r>
              <a:rPr sz="1250">
                <a:solidFill>
                  <a:srgbClr val="595959"/>
                </a:solidFill>
                <a:latin typeface="Arial"/>
              </a:rPr>
              <a:t>il est caché par les dépliants, rien d'important n'y est écrit.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7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3 · PRÉSENTOIR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À l'intérieur : la caisse se repère tout de suite</a:t>
            </a:r>
          </a:p>
        </p:txBody>
      </p:sp>
      <p:pic>
        <p:nvPicPr>
          <p:cNvPr id="6" name="Picture 5" descr="vue3d_comptoir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949440" cy="41279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554480"/>
            <a:ext cx="301752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Face du comptoir : « Caisse » et « Paiement Orange Money accepté ».</a:t>
            </a:r>
          </a:p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Au mur, derrière : le logo et « Bienvenue », vus dès l'entrée.</a:t>
            </a:r>
          </a:p>
          <a:p>
            <a:pPr>
              <a:spcAft>
                <a:spcPts val="910"/>
              </a:spcAft>
            </a:pPr>
            <a:r>
              <a:rPr sz="900">
                <a:solidFill>
                  <a:srgbClr val="FF7900"/>
                </a:solidFill>
                <a:latin typeface="Arial"/>
              </a:rPr>
              <a:t>■  </a:t>
            </a:r>
            <a:r>
              <a:rPr sz="1300">
                <a:latin typeface="Arial"/>
              </a:rPr>
              <a:t>Le présentoir se place côté client, là où on attend son tour.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4 · VUES EN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La façade sous trois angles</a:t>
            </a:r>
          </a:p>
        </p:txBody>
      </p:sp>
      <p:pic>
        <p:nvPicPr>
          <p:cNvPr id="6" name="Picture 5" descr="vue3d_facade_face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291840" cy="2280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De face, depuis le trottoir d'en face</a:t>
            </a:r>
          </a:p>
        </p:txBody>
      </p:sp>
      <p:pic>
        <p:nvPicPr>
          <p:cNvPr id="8" name="Picture 7" descr="vue3d_facade_jour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554480"/>
            <a:ext cx="3291840" cy="22803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6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De trois quarts, en arrivant</a:t>
            </a:r>
          </a:p>
        </p:txBody>
      </p:sp>
      <p:pic>
        <p:nvPicPr>
          <p:cNvPr id="10" name="Picture 9" descr="vue3d_approche_rue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554480"/>
            <a:ext cx="3291840" cy="2280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En approche dans la 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Les proportions sont indicatives : largeur de façade, hauteur sous linteau et emplacement de la porte seront relevés sur place avant la commande. Les façades voisines sont neutres, pour juger la boutique seule.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9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POUR LES DEVIS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Les faces à plat, à remettre à l'imprimeur</a:t>
            </a:r>
          </a:p>
        </p:txBody>
      </p:sp>
      <p:pic>
        <p:nvPicPr>
          <p:cNvPr id="6" name="Picture 5" descr="faces_a_pl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870241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08760"/>
            <a:ext cx="4023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Huit éléments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Enseigne caisson, drapeau double face, vitrophanie gauche, porte, vitrophanie droite, dos, poches et côtés du présentoir.</a:t>
            </a:r>
          </a:p>
          <a:p>
            <a:pPr algn="l">
              <a:spcAft>
                <a:spcPts val="72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Les fichiers d'impression aux cotes réelles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se font une fois la façade mesurée : on les tire de ces faces, sans rien redessiner.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MATÉRIAUX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Tenir dans la durée : soleil, pluie, poussière, coupures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241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4937760"/>
              </a:tblGrid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Élément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Ce qu'il subit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Matière proposée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Enseigne caisson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Soleil direct, pluie, coupures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Caisson aluminium, face en plaque acrylique traitée anti-UV, LED basse consommation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Drapeau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Vent, chocs, pluie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Caisson double face sur potence fixée au mur, même face que l'enseigne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Vitrophanie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Soleil derrière la vitre, nettoyage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Adhésif imprimé pour vitrage, laminé anti-UV ; dépoli en film sablé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Présentoir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Manipulation toute la journée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PVC expansé ou carton rigide pelliculé, lavable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Face du comptoir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Coups de pied, frottements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Adhésif laminé résistant, ou panneau imprimé vissé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Les références exactes viennent des devis : chaque imprimeur a ses supports, on compare à qualité égale.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3200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FF7900"/>
                </a:solidFill>
                <a:latin typeface="Arial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Pour passer à la réalisation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36192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Valider le principe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Direction : enseigne, vitrine, présentoir et messages.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Faire valider par l'équipe de la marque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Logo, couleurs et mentions dans le respect des règles d'Orange pour ses points de vente.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36976"/>
            <a:ext cx="502920" cy="50292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18688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Relever la façade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Largeur, hauteur, porte, prise électrique : photos et cotes prises sur place.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59936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Demander l'autorisation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Enseigne et drapeau donnent sur la voie publique : se renseigner auprès des services techniques de la mairie de Yopougon, et prévenir le propriétaire du local.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19472"/>
            <a:ext cx="502920" cy="50292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01184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Comparer trois devis</a:t>
            </a:r>
          </a:p>
          <a:p>
            <a:pPr algn="l">
              <a:spcAft>
                <a:spcPts val="562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Avec les faces à plat de ce dossier, puis un gabarit posé sur la façade avant la commande.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9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Boutique de quartier · Yopougon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