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M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99060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4B628"/>
                </a:solidFill>
                <a:latin typeface="Montserrat"/>
              </a:rPr>
              <a:t>AUDIT DES RÉSEAUX ·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029200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D1D1B"/>
                </a:solidFill>
                <a:latin typeface="Montserrat"/>
              </a:rPr>
              <a:t>Facebook et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1D1D1B"/>
                </a:solidFill>
                <a:latin typeface="Montserrat"/>
              </a:rPr>
              <a:t>LinkedIn : quoi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1D1D1B"/>
                </a:solidFill>
                <a:latin typeface="Montserrat"/>
              </a:rPr>
              <a:t>corriger en premier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484632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ontserrat"/>
              </a:rPr>
              <a:t>Pages UMO Intérim, lues du point de vue de la Côte d’Ivoire. Relevé du 23 octobre 2026.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ontserrat"/>
              </a:rPr>
              <a:t>Pour Aïcha,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M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872" y="228600"/>
            <a:ext cx="64770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UMO Intérim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1D1B"/>
                </a:solidFill>
                <a:latin typeface="Montserrat"/>
              </a:rPr>
              <a:t>Les trois corrections, dans l’ordre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05840" cy="73152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0149840" cy="9144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95097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FFFFFF"/>
                </a:solidFill>
                <a:latin typeface="Montserrat"/>
              </a:rPr>
              <a:t>Les pages publient beaucoup et régulièrement. Mais </a:t>
            </a:r>
            <a:r>
              <a:rPr sz="1450" b="1">
                <a:solidFill>
                  <a:srgbClr val="FFFFFF"/>
                </a:solidFill>
                <a:latin typeface="Montserrat"/>
              </a:rPr>
              <a:t>57 posts Facebook sur 60 sont des offres d’emploi</a:t>
            </a:r>
            <a:r>
              <a:rPr sz="1450" b="0">
                <a:solidFill>
                  <a:srgbClr val="FFFFFF"/>
                </a:solidFill>
                <a:latin typeface="Montserrat"/>
              </a:rPr>
              <a:t> : elles parlent aux candidats, presque jamais aux entreprises qui vous confient leurs recrutements.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3200400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834640"/>
            <a:ext cx="28346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1D1B"/>
                </a:solidFill>
                <a:latin typeface="Montserrat"/>
              </a:rPr>
              <a:t>1. Parler aussi aux entreprises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520440"/>
            <a:ext cx="283464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83838"/>
                </a:solidFill>
                <a:latin typeface="Montserrat"/>
              </a:rPr>
              <a:t>Un post sur quatre pour les clients : métiers, cas, salons. Le SIREXE d’Abidjan (18-22 novembre) n’a eu que 9 réactions.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846320"/>
            <a:ext cx="283464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B07D00"/>
                </a:solidFill>
                <a:latin typeface="Montserrat"/>
              </a:rPr>
              <a:t>À suivre : rendez-vous et demandes de devis venus des réseaux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2697480"/>
            <a:ext cx="3200400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7" y="2834640"/>
            <a:ext cx="28346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1D1B"/>
                </a:solidFill>
                <a:latin typeface="Montserrat"/>
              </a:rPr>
              <a:t>2. Rendre la Côte d’Ivoire visible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7" y="3520440"/>
            <a:ext cx="283464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83838"/>
                </a:solidFill>
                <a:latin typeface="Montserrat"/>
              </a:rPr>
              <a:t>Sur Facebook, la page s’appelle « Umo interim | Dakar », avec adresse et téléphone du Sénégal. 15 posts sur 60 concernent la Côte d’Ivoire.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7" y="4846320"/>
            <a:ext cx="283464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B07D00"/>
                </a:solidFill>
                <a:latin typeface="Montserrat"/>
              </a:rPr>
              <a:t>À suivre : appels et e-mails reçus à Abidjan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697480"/>
            <a:ext cx="3200400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2834640"/>
            <a:ext cx="28346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1D1B"/>
                </a:solidFill>
                <a:latin typeface="Montserrat"/>
              </a:rPr>
              <a:t>3. Mieux répondre aux candidats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3520440"/>
            <a:ext cx="283464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83838"/>
                </a:solidFill>
                <a:latin typeface="Montserrat"/>
              </a:rPr>
              <a:t>Questions précises (« le poste est basé où ? », « le lien ne marche pas »), réponse identique copiée-collée.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4846320"/>
            <a:ext cx="283464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B07D00"/>
                </a:solidFill>
                <a:latin typeface="Montserrat"/>
              </a:rPr>
              <a:t>À suivre : part des questions avec une vraie réponse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M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872" y="228600"/>
            <a:ext cx="64770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UMO Intérim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1D1B"/>
                </a:solidFill>
                <a:latin typeface="Montserrat"/>
              </a:rPr>
              <a:t>1. Parler aussi aux entreprises clientes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05840" cy="73152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94183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ontserrat"/>
              </a:rPr>
              <a:t>Ce sont elles qui achètent le recrutement, la paie, le portage et la 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4B628"/>
                </a:solidFill>
                <a:latin typeface="Montserrat"/>
              </a:rPr>
              <a:t>57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ontserrat"/>
              </a:rPr>
              <a:t>posts Facebook qui sont
des offres d’emploi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874519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4B628"/>
                </a:solidFill>
                <a:latin typeface="Montserrat"/>
              </a:rPr>
              <a:t>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651760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ontserrat"/>
              </a:rPr>
              <a:t>réactions pour le portrait de Romaric Tokpa
(Abidjan), 3e meilleur post LinkedIn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874519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4B628"/>
                </a:solidFill>
                <a:latin typeface="Montserrat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651760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ontserrat"/>
              </a:rPr>
              <a:t>réactions pour l’annonce du SIREXE
à Abidjan sur Facebook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10149840" cy="1828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49039"/>
            <a:ext cx="960120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>
                <a:solidFill>
                  <a:srgbClr val="383838"/>
                </a:solidFill>
                <a:latin typeface="Montserrat"/>
              </a:rPr>
              <a:t>Ce qui manque :</a:t>
            </a:r>
            <a:r>
              <a:rPr sz="1250" b="0">
                <a:solidFill>
                  <a:srgbClr val="383838"/>
                </a:solidFill>
                <a:latin typeface="Montserrat"/>
              </a:rPr>
              <a:t> un dirigeant d’entreprise qui ouvre vos pages ne voit que des annonces. Rien ne lui dit ce qu’UMO peut faire pour lui ni comment vous joindre.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383838"/>
                </a:solidFill>
                <a:latin typeface="Montserrat"/>
              </a:rPr>
              <a:t>Ce qui marche déjà :</a:t>
            </a:r>
            <a:r>
              <a:rPr sz="1250" b="0">
                <a:solidFill>
                  <a:srgbClr val="383838"/>
                </a:solidFill>
                <a:latin typeface="Montserrat"/>
              </a:rPr>
              <a:t> les visages de l’équipe (Romaric) et les salons racontés en vidéo (SAMAO, 62 réactions). Ces formats restent rares : 3 posts sur 60.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383838"/>
                </a:solidFill>
                <a:latin typeface="Montserrat"/>
              </a:rPr>
              <a:t>Ce qu’on change :</a:t>
            </a:r>
            <a:r>
              <a:rPr sz="1250" b="0">
                <a:solidFill>
                  <a:srgbClr val="383838"/>
                </a:solidFill>
                <a:latin typeface="Montserrat"/>
              </a:rPr>
              <a:t> sur LinkedIn, un post sur quatre pour les entreprises, signé Abidjan, avec un appel à prendre rendez-vous.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M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872" y="228600"/>
            <a:ext cx="64770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UMO Intérim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1D1B"/>
                </a:solidFill>
                <a:latin typeface="Montserrat"/>
              </a:rPr>
              <a:t>2. Rendre la Côte d’Ivoire visible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05840" cy="73152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94183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ontserrat"/>
              </a:rPr>
              <a:t>Les deux pages sont celles du groupe ; Abidjan y est un pays parmi six.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937760" cy="36118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4535424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1D1B"/>
                </a:solidFill>
                <a:latin typeface="Montserrat"/>
              </a:rPr>
              <a:t>Ce que voit un visiteur ivoirien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96312"/>
            <a:ext cx="4535424" cy="2788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Page Facebook nommée </a:t>
            </a:r>
            <a:r>
              <a:rPr sz="1250" b="1">
                <a:solidFill>
                  <a:srgbClr val="383838"/>
                </a:solidFill>
                <a:latin typeface="Montserrat"/>
              </a:rPr>
              <a:t>« Umo interim | Dakar »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Adresse à Dakar, téléphone </a:t>
            </a:r>
            <a:r>
              <a:rPr sz="1250" b="1">
                <a:solidFill>
                  <a:srgbClr val="383838"/>
                </a:solidFill>
                <a:latin typeface="Montserrat"/>
              </a:rPr>
              <a:t>+221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383838"/>
                </a:solidFill>
                <a:latin typeface="Montserrat"/>
              </a:rPr>
              <a:t>4 avis</a:t>
            </a:r>
            <a:r>
              <a:rPr sz="1250" b="0">
                <a:solidFill>
                  <a:srgbClr val="383838"/>
                </a:solidFill>
                <a:latin typeface="Montserrat"/>
              </a:rPr>
              <a:t>, pas encore de note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Posts par pays sur 60 : Burkina 24, </a:t>
            </a:r>
            <a:r>
              <a:rPr sz="1250" b="1">
                <a:solidFill>
                  <a:srgbClr val="383838"/>
                </a:solidFill>
                <a:latin typeface="Montserrat"/>
              </a:rPr>
              <a:t>Côte d’Ivoire 15</a:t>
            </a:r>
            <a:r>
              <a:rPr sz="1250" b="0">
                <a:solidFill>
                  <a:srgbClr val="383838"/>
                </a:solidFill>
                <a:latin typeface="Montserrat"/>
              </a:rPr>
              <a:t>, Bénin 11, Togo 5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Posts ivoiriens : </a:t>
            </a:r>
            <a:r>
              <a:rPr sz="1250" b="1">
                <a:solidFill>
                  <a:srgbClr val="383838"/>
                </a:solidFill>
                <a:latin typeface="Montserrat"/>
              </a:rPr>
              <a:t>13</a:t>
            </a:r>
            <a:r>
              <a:rPr sz="1250" b="0">
                <a:solidFill>
                  <a:srgbClr val="383838"/>
                </a:solidFill>
                <a:latin typeface="Montserrat"/>
              </a:rPr>
              <a:t> réactions en médiane, contre 21 pour l’ensemble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783080"/>
            <a:ext cx="4937760" cy="3611880"/>
          </a:xfrm>
          <a:prstGeom prst="rect">
            <a:avLst/>
          </a:prstGeom>
          <a:solidFill>
            <a:srgbClr val="FDF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947672"/>
            <a:ext cx="4535424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1D1B"/>
                </a:solidFill>
                <a:latin typeface="Montserrat"/>
              </a:rPr>
              <a:t>Ce qu’on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496312"/>
            <a:ext cx="4535424" cy="2788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Chaque post ivoirien se termine par le contact d’Abidjan : </a:t>
            </a:r>
            <a:r>
              <a:rPr sz="1250" b="1">
                <a:solidFill>
                  <a:srgbClr val="383838"/>
                </a:solidFill>
                <a:latin typeface="Montserrat"/>
              </a:rPr>
              <a:t>27 21 38 97 63</a:t>
            </a:r>
            <a:r>
              <a:rPr sz="1250" b="0">
                <a:solidFill>
                  <a:srgbClr val="383838"/>
                </a:solidFill>
                <a:latin typeface="Montserrat"/>
              </a:rPr>
              <a:t>, contact.ci@umo-interim.com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Un mot-dièse unique et constant, par exemple </a:t>
            </a:r>
            <a:r>
              <a:rPr sz="1250" b="1">
                <a:solidFill>
                  <a:srgbClr val="383838"/>
                </a:solidFill>
                <a:latin typeface="Montserrat"/>
              </a:rPr>
              <a:t>#UMOCôtedIvoire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Demander au groupe une page LinkedIn vitrine Côte d’Ivoire, ou une rubrique dédiée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Inviter les entreprises clientes satisfaites à laisser un avis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M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872" y="228600"/>
            <a:ext cx="64770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UMO Intérim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1D1B"/>
                </a:solidFill>
                <a:latin typeface="Montserrat"/>
              </a:rPr>
              <a:t>3. Mieux répondre aux candidats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05840" cy="73152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94183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ontserrat"/>
              </a:rPr>
              <a:t>Peu de commentaires (125 sur 60 posts Facebook), mais des questions précises.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3152" cy="685800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D1D1B"/>
                </a:solidFill>
                <a:latin typeface="Montserrat"/>
              </a:rPr>
              <a:t>« S’il vous plaît, votre poste est basé où ?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120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6B6B"/>
                </a:solidFill>
                <a:latin typeface="Montserrat"/>
              </a:rPr>
              <a:t>Adido Ange Gabriel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73152" cy="685800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5120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D1D1B"/>
                </a:solidFill>
                <a:latin typeface="Montserrat"/>
              </a:rPr>
              <a:t>« Je suis intéressé, comment postuler ? J’essaie, ça ne marche pas !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20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6B6B"/>
                </a:solidFill>
                <a:latin typeface="Montserrat"/>
              </a:rPr>
              <a:t>Abiola Luc Ayedoun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66160"/>
            <a:ext cx="73152" cy="685800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5120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D1D1B"/>
                </a:solidFill>
                <a:latin typeface="Montserrat"/>
              </a:rPr>
              <a:t>« C’est un recrutement interne et externe ?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5120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6B6B"/>
                </a:solidFill>
                <a:latin typeface="Montserrat"/>
              </a:rPr>
              <a:t>Soumaïla Chaka Goïta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4389120" cy="242316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965960"/>
            <a:ext cx="3931920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>
                <a:solidFill>
                  <a:srgbClr val="FFFFFF"/>
                </a:solidFill>
                <a:latin typeface="Montserrat"/>
              </a:rPr>
              <a:t>La réponse donnée, 5 fois sur 5 :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Montserrat"/>
              </a:rPr>
              <a:t>« Bonjour. Merci pour votre intérêt. Pour en savoir plus merci de soumettre votre candidature via le lien indiqué… »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Montserrat"/>
              </a:rPr>
              <a:t>Elle ne répond ni au lieu, ni au lien qui ne marche pas.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17720"/>
            <a:ext cx="101498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83838"/>
                </a:solidFill>
                <a:latin typeface="Montserrat"/>
              </a:rPr>
              <a:t>Ce qu’on change :</a:t>
            </a:r>
            <a:r>
              <a:rPr sz="1300" b="0">
                <a:solidFill>
                  <a:srgbClr val="383838"/>
                </a:solidFill>
                <a:latin typeface="Montserrat"/>
              </a:rPr>
              <a:t> répondre à la question posée, en une phrase, et garder le renvoi au lien. Les candidats d’aujourd’hui sont les références de demain : un candidat bien traité parle d’UMO autour de lui.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M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872" y="228600"/>
            <a:ext cx="64770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UMO Intérim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1D1B"/>
                </a:solidFill>
                <a:latin typeface="Montserrat"/>
              </a:rPr>
              <a:t>Premier lot · deux posts LinkedIn pour les entreprises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05840" cy="73152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94183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ontserrat"/>
              </a:rPr>
              <a:t>Tirés uniquement de ce que vous publiez déjà. À valider avant publication.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937760" cy="342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4535424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1D1B"/>
                </a:solidFill>
                <a:latin typeface="Montserrat"/>
              </a:rPr>
              <a:t>SIREXE, à publier vers le 10 novembre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96312"/>
            <a:ext cx="4535424" cy="2606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« Mines, pétrole, énergie : vous recrutez pour vos sites en Côte d’Ivoire ?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Du 18 au 22 novembre, l’équipe d’UMO Côte d’Ivoire vous attend au SIREXE, au Parc des Expositions d’Abidjan.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Recrutement, placement de personnel, paie : parlons de vos besoins sur place.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📩 Rendez-vous : contact.ci@umo-interim.com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783080"/>
            <a:ext cx="4937760" cy="342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947672"/>
            <a:ext cx="4535424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1D1B"/>
                </a:solidFill>
                <a:latin typeface="Montserrat"/>
              </a:rPr>
              <a:t>Les métiers d’UMO, format carrousel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496312"/>
            <a:ext cx="4535424" cy="2606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« Que fait un chargé de recrutement chez UMO Côte d’Ivoire ?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Il fait le lien entre vos besoins et les bons profils : il identifie, évalue et sélectionne.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Découvrez en 5 images la façon dont nous recrutons pour vous. »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Suite de la série lancée avec le portrait de Romaric Tokpa.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49240"/>
            <a:ext cx="10149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ontserrat"/>
              </a:rPr>
              <a:t>Meilleur créneau observé sur LinkedIn : 8 h en semaine (25 réactions en médiane, 23 posts).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M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872" y="228600"/>
            <a:ext cx="64770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UMO Intérim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1D1B"/>
                </a:solidFill>
                <a:latin typeface="Montserrat"/>
              </a:rPr>
              <a:t>Premier lot · trois réponses types aux candidats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05840" cy="73152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94183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ontserrat"/>
              </a:rPr>
              <a:t>Une phrase qui répond, puis le renvoi habituel.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200400" cy="31546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2798064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D1D1B"/>
                </a:solidFill>
                <a:latin typeface="Montserrat"/>
              </a:rPr>
              <a:t>« Le poste est basé où ?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96312"/>
            <a:ext cx="2798064" cy="2331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« Bonjour [prénom], le poste est basé à [ville], comme indiqué dans l’annonce. Vous pouvez postuler directement ici : [lien du poste]. Bonne chance !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1783080"/>
            <a:ext cx="3200400" cy="31546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8807" y="1947672"/>
            <a:ext cx="2798064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D1D1B"/>
                </a:solidFill>
                <a:latin typeface="Montserrat"/>
              </a:rPr>
              <a:t>« Le lien ne marche pas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7" y="2496312"/>
            <a:ext cx="2798064" cy="2331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« Bonjour [prénom], merci de nous l’avoir signalé. Essayez ce lien : [lien du poste]. Si le problème continue, envoyez-nous un message privé et nous vous aidons.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783080"/>
            <a:ext cx="3200400" cy="31546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8" y="1947672"/>
            <a:ext cx="2798064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D1D1B"/>
                </a:solidFill>
                <a:latin typeface="Montserrat"/>
              </a:rPr>
              <a:t>« Mon dossier est déjà chez vous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2496312"/>
            <a:ext cx="2798064" cy="2331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383838"/>
                </a:solidFill>
                <a:latin typeface="Montserrat"/>
              </a:rPr>
              <a:t>« Bonjour [prénom], merci de votre fidélité. Pour être pris en compte sur ce poste, il faut postuler sur l’annonce elle-même : [lien du poste].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66360"/>
            <a:ext cx="101498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ontserrat"/>
              </a:rPr>
              <a:t>Aucune promesse d’embauche ni de délai dans une réponse publique. Les numéros de téléphone laissés en commentaire se traitent en message privé.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M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872" y="228600"/>
            <a:ext cx="64770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UMO Intérim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1D1B"/>
                </a:solidFill>
                <a:latin typeface="Montserrat"/>
              </a:rPr>
              <a:t>Relevé · la page Facebook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05840" cy="73152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94183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ontserrat"/>
              </a:rPr>
              <a:t>Page « Umo interim », relevée le 23 octobre 2026 : 60 posts du 14 septembre au 23 octobre.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B628"/>
                </a:solidFill>
                <a:latin typeface="Montserrat"/>
              </a:rPr>
              <a:t>21 135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ontserrat"/>
              </a:rPr>
              <a:t>abonnés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B628"/>
                </a:solidFill>
                <a:latin typeface="Montserrat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ontserrat"/>
              </a:rPr>
              <a:t>posts par semaine, jamais plus de 4 jours sans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B628"/>
                </a:solidFill>
                <a:latin typeface="Montserrat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ontserrat"/>
              </a:rPr>
              <a:t>réactions, commentaires et partages par post (médiane)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B628"/>
                </a:solidFill>
                <a:latin typeface="Montserrat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ontserrat"/>
              </a:rPr>
              <a:t>commentaire par post (médiane)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1D1B"/>
                </a:solidFill>
                <a:latin typeface="Montserrat"/>
              </a:rPr>
              <a:t>Les meilleurs posts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493776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83838"/>
                </a:solidFill>
                <a:latin typeface="Montserrat"/>
              </a:rPr>
              <a:t>108</a:t>
            </a:r>
            <a:r>
              <a:rPr sz="1250" b="0">
                <a:solidFill>
                  <a:srgbClr val="383838"/>
                </a:solidFill>
                <a:latin typeface="Montserrat"/>
              </a:rPr>
              <a:t> · manutentionnaires, Bénin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383838"/>
                </a:solidFill>
                <a:latin typeface="Montserrat"/>
              </a:rPr>
              <a:t>108</a:t>
            </a:r>
            <a:r>
              <a:rPr sz="1250" b="0">
                <a:solidFill>
                  <a:srgbClr val="383838"/>
                </a:solidFill>
                <a:latin typeface="Montserrat"/>
              </a:rPr>
              <a:t> · chauffeur-livreur, Bénin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383838"/>
                </a:solidFill>
                <a:latin typeface="Montserrat"/>
              </a:rPr>
              <a:t>90</a:t>
            </a:r>
            <a:r>
              <a:rPr sz="1250" b="0">
                <a:solidFill>
                  <a:srgbClr val="383838"/>
                </a:solidFill>
                <a:latin typeface="Montserrat"/>
              </a:rPr>
              <a:t> · conducteurs d’engins, Burkina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383838"/>
                </a:solidFill>
                <a:latin typeface="Montserrat"/>
              </a:rPr>
              <a:t>89</a:t>
            </a:r>
            <a:r>
              <a:rPr sz="1250" b="0">
                <a:solidFill>
                  <a:srgbClr val="383838"/>
                </a:solidFill>
                <a:latin typeface="Montserrat"/>
              </a:rPr>
              <a:t> · 100 conducteurs de tracteur portuaire, </a:t>
            </a:r>
            <a:r>
              <a:rPr sz="1250" b="1">
                <a:solidFill>
                  <a:srgbClr val="383838"/>
                </a:solidFill>
                <a:latin typeface="Montserrat"/>
              </a:rPr>
              <a:t>Côte d’Ivoire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1D1B"/>
                </a:solidFill>
                <a:latin typeface="Montserrat"/>
              </a:rPr>
              <a:t>Les moins bons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840480"/>
            <a:ext cx="493776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83838"/>
                </a:solidFill>
                <a:latin typeface="Montserrat"/>
              </a:rPr>
              <a:t>6</a:t>
            </a:r>
            <a:r>
              <a:rPr sz="1250" b="0">
                <a:solidFill>
                  <a:srgbClr val="383838"/>
                </a:solidFill>
                <a:latin typeface="Montserrat"/>
              </a:rPr>
              <a:t> · coopération à Lomé, Togo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383838"/>
                </a:solidFill>
                <a:latin typeface="Montserrat"/>
              </a:rPr>
              <a:t>7</a:t>
            </a:r>
            <a:r>
              <a:rPr sz="1250" b="0">
                <a:solidFill>
                  <a:srgbClr val="383838"/>
                </a:solidFill>
                <a:latin typeface="Montserrat"/>
              </a:rPr>
              <a:t> · chef d’atelier mécanique, Burkina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383838"/>
                </a:solidFill>
                <a:latin typeface="Montserrat"/>
              </a:rPr>
              <a:t>9</a:t>
            </a:r>
            <a:r>
              <a:rPr sz="1250" b="0">
                <a:solidFill>
                  <a:srgbClr val="383838"/>
                </a:solidFill>
                <a:latin typeface="Montserrat"/>
              </a:rPr>
              <a:t> · responsable commercial, </a:t>
            </a:r>
            <a:r>
              <a:rPr sz="1250" b="1">
                <a:solidFill>
                  <a:srgbClr val="383838"/>
                </a:solidFill>
                <a:latin typeface="Montserrat"/>
              </a:rPr>
              <a:t>Côte d’Ivoire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383838"/>
                </a:solidFill>
                <a:latin typeface="Montserrat"/>
              </a:rPr>
              <a:t>9</a:t>
            </a:r>
            <a:r>
              <a:rPr sz="1250" b="0">
                <a:solidFill>
                  <a:srgbClr val="383838"/>
                </a:solidFill>
                <a:latin typeface="Montserrat"/>
              </a:rPr>
              <a:t> · SIREXE, </a:t>
            </a:r>
            <a:r>
              <a:rPr sz="1250" b="1">
                <a:solidFill>
                  <a:srgbClr val="383838"/>
                </a:solidFill>
                <a:latin typeface="Montserrat"/>
              </a:rPr>
              <a:t>Abidjan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32120"/>
            <a:ext cx="10149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6B6B"/>
                </a:solidFill>
                <a:latin typeface="Montserrat"/>
              </a:rPr>
              <a:t>Constat : les postes ouvriers en nombre font réagir ; les postes cadres et les annonces d’entreprise beaucoup moins sur Facebook.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M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872" y="228600"/>
            <a:ext cx="64770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UMO Intérim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1D1B"/>
                </a:solidFill>
                <a:latin typeface="Montserrat"/>
              </a:rPr>
              <a:t>Relevé · la page LinkedIn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05840" cy="73152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94183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ontserrat"/>
              </a:rPr>
              <a:t>Page « Umo Interim », relevée le 23 octobre 2026 : 60 posts du 14 septembre au 23 octobre.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B628"/>
                </a:solidFill>
                <a:latin typeface="Montserrat"/>
              </a:rPr>
              <a:t>61 604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ontserrat"/>
              </a:rPr>
              <a:t>abonnés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B628"/>
                </a:solidFill>
                <a:latin typeface="Montserrat"/>
              </a:rPr>
              <a:t>54 /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ontserrat"/>
              </a:rPr>
              <a:t>posts identiques à ceux de Facebook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B628"/>
                </a:solidFill>
                <a:latin typeface="Montserrat"/>
              </a:rPr>
              <a:t>23,5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ontserrat"/>
              </a:rPr>
              <a:t>réactions, commentaires et partages par post (médiane)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B628"/>
                </a:solidFill>
                <a:latin typeface="Montserrat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ontserrat"/>
              </a:rPr>
              <a:t>en médiane pour les posts ivoiriens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1D1B"/>
                </a:solidFill>
                <a:latin typeface="Montserrat"/>
              </a:rPr>
              <a:t>Par format (médiane)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83838"/>
                </a:solidFill>
                <a:latin typeface="Montserrat"/>
              </a:rPr>
              <a:t>Vidéo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922776"/>
            <a:ext cx="2186722" cy="219456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32642" y="3886200"/>
            <a:ext cx="15544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ontserrat"/>
              </a:rPr>
              <a:t>62  (1 posts)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83838"/>
                </a:solidFill>
                <a:latin typeface="Montserrat"/>
              </a:rPr>
              <a:t>Document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4334256"/>
            <a:ext cx="1728216" cy="219456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4136" y="4297680"/>
            <a:ext cx="15544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ontserrat"/>
              </a:rPr>
              <a:t>49  (2 posts)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83838"/>
                </a:solidFill>
                <a:latin typeface="Montserrat"/>
              </a:rPr>
              <a:t>Album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745736"/>
            <a:ext cx="846473" cy="219456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2393" y="4709160"/>
            <a:ext cx="15544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ontserrat"/>
              </a:rPr>
              <a:t>24  (8 posts)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2064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83838"/>
                </a:solidFill>
                <a:latin typeface="Montserrat"/>
              </a:rPr>
              <a:t>Photo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5157216"/>
            <a:ext cx="775933" cy="219456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1853" y="5120640"/>
            <a:ext cx="15544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ontserrat"/>
              </a:rPr>
              <a:t>22  (49 posts)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3429000"/>
            <a:ext cx="4937760" cy="187451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3566160"/>
            <a:ext cx="4572000" cy="1691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83838"/>
                </a:solidFill>
                <a:latin typeface="Montserrat"/>
              </a:rPr>
              <a:t>Les meilleurs :</a:t>
            </a:r>
            <a:r>
              <a:rPr sz="1200" b="0">
                <a:solidFill>
                  <a:srgbClr val="383838"/>
                </a:solidFill>
                <a:latin typeface="Montserrat"/>
              </a:rPr>
              <a:t> stages Orange Digital Center, Burkina (117) ; superviseur HSE, Côte d’Ivoire (94) ; portrait de Romaric (70).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383838"/>
                </a:solidFill>
                <a:latin typeface="Montserrat"/>
              </a:rPr>
              <a:t>Vidéo et carrousel</a:t>
            </a:r>
            <a:r>
              <a:rPr sz="1200" b="0">
                <a:solidFill>
                  <a:srgbClr val="383838"/>
                </a:solidFill>
                <a:latin typeface="Montserrat"/>
              </a:rPr>
              <a:t> arrivent devant, mais sur 3 posts seulement : à tester avant d’en faire une règle.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M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872" y="228600"/>
            <a:ext cx="64770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UMO Intérim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ontserrat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D1D1B"/>
                </a:solidFill>
                <a:latin typeface="Montserrat"/>
              </a:rPr>
              <a:t>Méthode et limites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05840" cy="73152"/>
          </a:xfrm>
          <a:prstGeom prst="rect">
            <a:avLst/>
          </a:prstGeom>
          <a:solidFill>
            <a:srgbClr val="F4B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149840" cy="3840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383838"/>
                </a:solidFill>
                <a:latin typeface="Montserrat"/>
              </a:rPr>
              <a:t>Ce qui a été relevé :</a:t>
            </a:r>
            <a:r>
              <a:rPr sz="1350" b="0">
                <a:solidFill>
                  <a:srgbClr val="383838"/>
                </a:solidFill>
                <a:latin typeface="Montserrat"/>
              </a:rPr>
              <a:t> les 60 derniers posts de chaque page (14 septembre – 23 octobre 2026), avec réactions, commentaires et partages publics, et la fiche de chaque page.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383838"/>
                </a:solidFill>
                <a:latin typeface="Montserrat"/>
              </a:rPr>
              <a:t>Engagement d’un post :</a:t>
            </a:r>
            <a:r>
              <a:rPr sz="1350" b="0">
                <a:solidFill>
                  <a:srgbClr val="383838"/>
                </a:solidFill>
                <a:latin typeface="Montserrat"/>
              </a:rPr>
              <a:t> réactions + commentaires + partages. On compare des médianes, moins sensibles à un post exceptionnel.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383838"/>
                </a:solidFill>
                <a:latin typeface="Montserrat"/>
              </a:rPr>
              <a:t>Pays d’un post :</a:t>
            </a:r>
            <a:r>
              <a:rPr sz="1350" b="0">
                <a:solidFill>
                  <a:srgbClr val="383838"/>
                </a:solidFill>
                <a:latin typeface="Montserrat"/>
              </a:rPr>
              <a:t> lu dans son texte (« recrute en Côte d’Ivoire », Abidjan…).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383838"/>
                </a:solidFill>
                <a:latin typeface="Montserrat"/>
              </a:rPr>
              <a:t>Ce qui n’est pas visible sans accès administrateur :</a:t>
            </a:r>
            <a:r>
              <a:rPr sz="1350" b="0">
                <a:solidFill>
                  <a:srgbClr val="383838"/>
                </a:solidFill>
                <a:latin typeface="Montserrat"/>
              </a:rPr>
              <a:t> portée, clics vers les annonces, messages privés, profil des abonnés, demandes venues d’entreprises.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383838"/>
                </a:solidFill>
                <a:latin typeface="Montserrat"/>
              </a:rPr>
              <a:t>Hors de cet audit :</a:t>
            </a:r>
            <a:r>
              <a:rPr sz="1350" b="0">
                <a:solidFill>
                  <a:srgbClr val="383838"/>
                </a:solidFill>
                <a:latin typeface="Montserrat"/>
              </a:rPr>
              <a:t> la chaîne WhatsApp, Instagram et TikTok.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