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image" Target="../media/image34.png"/><Relationship Id="rId35" Type="http://schemas.openxmlformats.org/officeDocument/2006/relationships/image" Target="../media/image35.png"/><Relationship Id="rId36" Type="http://schemas.openxmlformats.org/officeDocument/2006/relationships/image" Target="../media/image36.png"/><Relationship Id="rId37" Type="http://schemas.openxmlformats.org/officeDocument/2006/relationships/image" Target="../media/image37.png"/><Relationship Id="rId38" Type="http://schemas.openxmlformats.org/officeDocument/2006/relationships/image" Target="../media/image38.png"/><Relationship Id="rId39" Type="http://schemas.openxmlformats.org/officeDocument/2006/relationships/image" Target="../media/image39.png"/><Relationship Id="rId40" Type="http://schemas.openxmlformats.org/officeDocument/2006/relationships/image" Target="../media/image40.png"/><Relationship Id="rId41" Type="http://schemas.openxmlformats.org/officeDocument/2006/relationships/image" Target="../media/image41.png"/><Relationship Id="rId42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648000"/>
            <a:ext cx="2203279" cy="576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0000" y="2340000"/>
            <a:ext cx="108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592000"/>
            <a:ext cx="10080000" cy="18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Funnel Display"/>
              </a:rPr>
              <a:t>Benchmark marque et identité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392000"/>
            <a:ext cx="936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8"/>
                </a:solidFill>
                <a:latin typeface="Work Sans"/>
              </a:rPr>
              <a:t>40 sociétés du CAC 40 et 20 grandes entreprises ivoiriennes : logos, couleurs, typographies, signatures, raisons d'être, ton et architecture de marque.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976000"/>
            <a:ext cx="1008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00AED4"/>
                </a:solidFill>
                <a:latin typeface="Space Grotesk"/>
              </a:rPr>
              <a:t>Relevé du 24 octobre 2026 · sources publiques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Sommaire</a:t>
            </a:r>
          </a:p>
        </p:txBody>
      </p:sp>
      <p:pic>
        <p:nvPicPr>
          <p:cNvPr id="4" name="Picture 3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7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584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1. Méthode et périmètre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890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Qui a été étudié, comment, et les limites du relevé.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610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520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2. Ce que font les grands groupes français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Logos, couleurs, signatures, raisons d'être,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546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3456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3. Ce que font les grandes entreprises ivoiriennes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762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Filiales de groupes, entreprises d'État, marques de grande consommation.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82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4392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4. Les écarts et ce qu'on en retient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4698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Huit enseignements, et la grille que nous appliquerons à nos marques.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Méthode et 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Ce qui a été relevé, où, et ce qui ne l'a pas été.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 périmètre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CAC 40 : 40 sociétés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Composition Euronext au 30 septembre 2026, inchangée depuis l'entrée d'Eiffage le 22 décembre 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Côte d'Ivoire : 20 entreprises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Mélange des plus gros chiffres d'affaires (SIR, PETROCI, CIE, SIFCA…) et des marques les plus présentes auprès du public (Orange, MTN, Moov Africa, Wave, Solibra, Uniwax…).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Ce qui a été relevé pour chaque marque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Logo et dernier changement, couleurs, typographie, signature, raison d'être ou mission, valeurs, ton, architecture de marque.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Sites officiels, design systems publiés, documents d'enregistrement universel, statuts, presse spécialisée. Les sources de chaque ligne sont dans le tableur, onglet « Sources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Ce qu'il faut savoir avant de lire les chiffres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67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584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Les couleurs sont mesurées, pas toujours publiées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890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Une seule charte de couleurs officielle trouvée (ENGIE). Les autres codes sont relevés dans le fichier du logo ou le code du site : fiables pour l'œil, pas pour l'imprimeur.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610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520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Une case vide veut dire « non publié », pas « inexistant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826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Typographies et valeurs sont souvent internes. Rien n'a été déduit ni complété de mémoire.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546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3456000"/>
            <a:ext cx="1062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32754"/>
                </a:solidFill>
                <a:latin typeface="Work Sans"/>
              </a:rPr>
              <a:t>Côté ivoirien, beaucoup moins de matière publique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3762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Sites plus légers, pas de design system en ligne, réseaux surtout sur Facebook, qui se lit mal sans compte.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Les grands groupes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Ce qui fait une identité de marque au niveau du CAC 40.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40 identités du CAC 40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83" y="1620000"/>
            <a:ext cx="574233" cy="46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4000" y="2178000"/>
            <a:ext cx="198000" cy="144000"/>
          </a:xfrm>
          <a:prstGeom prst="rect">
            <a:avLst/>
          </a:prstGeom>
          <a:solidFill>
            <a:srgbClr val="D9AE6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5999" y="2178000"/>
            <a:ext cx="198000" cy="144000"/>
          </a:xfrm>
          <a:prstGeom prst="rect">
            <a:avLst/>
          </a:prstGeom>
          <a:solidFill>
            <a:srgbClr val="FFD28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71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000" y="1751602"/>
            <a:ext cx="1107000" cy="20479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079000" y="2178000"/>
            <a:ext cx="198000" cy="144000"/>
          </a:xfrm>
          <a:prstGeom prst="rect">
            <a:avLst/>
          </a:prstGeom>
          <a:solidFill>
            <a:srgbClr val="00205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6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000" y="1747451"/>
            <a:ext cx="1107000" cy="21309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474000" y="2178000"/>
            <a:ext cx="198000" cy="144000"/>
          </a:xfrm>
          <a:prstGeom prst="rect">
            <a:avLst/>
          </a:prstGeom>
          <a:solidFill>
            <a:srgbClr val="DD1B2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25999" y="2178000"/>
            <a:ext cx="198000" cy="144000"/>
          </a:xfrm>
          <a:prstGeom prst="rect">
            <a:avLst/>
          </a:prstGeom>
          <a:solidFill>
            <a:srgbClr val="3C60A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61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000" y="1625681"/>
            <a:ext cx="1107000" cy="45663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869000" y="2178000"/>
            <a:ext cx="198000" cy="144000"/>
          </a:xfrm>
          <a:prstGeom prst="rect">
            <a:avLst/>
          </a:prstGeom>
          <a:solidFill>
            <a:srgbClr val="FF3612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999" y="2178000"/>
            <a:ext cx="198000" cy="144000"/>
          </a:xfrm>
          <a:prstGeom prst="rect">
            <a:avLst/>
          </a:prstGeom>
          <a:solidFill>
            <a:srgbClr val="4E4E48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6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500" y="1620000"/>
            <a:ext cx="468000" cy="468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264000" y="2178000"/>
            <a:ext cx="198000" cy="144000"/>
          </a:xfrm>
          <a:prstGeom prst="rect">
            <a:avLst/>
          </a:prstGeom>
          <a:solidFill>
            <a:srgbClr val="00008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5999" y="2178000"/>
            <a:ext cx="198000" cy="144000"/>
          </a:xfrm>
          <a:prstGeom prst="rect">
            <a:avLst/>
          </a:prstGeom>
          <a:solidFill>
            <a:srgbClr val="FF1721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67998" y="2178000"/>
            <a:ext cx="198000" cy="1440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51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9000" y="1660275"/>
            <a:ext cx="1107000" cy="3874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659000" y="2178000"/>
            <a:ext cx="198000" cy="144000"/>
          </a:xfrm>
          <a:prstGeom prst="rect">
            <a:avLst/>
          </a:prstGeom>
          <a:solidFill>
            <a:srgbClr val="008153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0999" y="2178000"/>
            <a:ext cx="198000" cy="144000"/>
          </a:xfrm>
          <a:prstGeom prst="rect">
            <a:avLst/>
          </a:prstGeom>
          <a:solidFill>
            <a:srgbClr val="B8B8B8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62998" y="2178000"/>
            <a:ext cx="198000" cy="144000"/>
          </a:xfrm>
          <a:prstGeom prst="rect">
            <a:avLst/>
          </a:prstGeom>
          <a:solidFill>
            <a:srgbClr val="292929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46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4773" y="1620000"/>
            <a:ext cx="945454" cy="4680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9054000" y="2178000"/>
            <a:ext cx="198000" cy="144000"/>
          </a:xfrm>
          <a:prstGeom prst="rect">
            <a:avLst/>
          </a:prstGeom>
          <a:solidFill>
            <a:srgbClr val="FF671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05999" y="2178000"/>
            <a:ext cx="198000" cy="144000"/>
          </a:xfrm>
          <a:prstGeom prst="rect">
            <a:avLst/>
          </a:prstGeom>
          <a:solidFill>
            <a:srgbClr val="1A171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41000" y="1548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3097" y="1620000"/>
            <a:ext cx="558805" cy="46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0449000" y="2178000"/>
            <a:ext cx="198000" cy="144000"/>
          </a:xfrm>
          <a:prstGeom prst="rect">
            <a:avLst/>
          </a:prstGeom>
          <a:solidFill>
            <a:srgbClr val="40424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700999" y="2178000"/>
            <a:ext cx="198000" cy="144000"/>
          </a:xfrm>
          <a:prstGeom prst="rect">
            <a:avLst/>
          </a:prstGeom>
          <a:solidFill>
            <a:srgbClr val="D6E1E9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952998" y="2178000"/>
            <a:ext cx="198000" cy="144000"/>
          </a:xfrm>
          <a:prstGeom prst="rect">
            <a:avLst/>
          </a:prstGeom>
          <a:solidFill>
            <a:srgbClr val="22272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76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000" y="2666846"/>
            <a:ext cx="1107000" cy="246307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84000" y="3114000"/>
            <a:ext cx="198000" cy="144000"/>
          </a:xfrm>
          <a:prstGeom prst="rect">
            <a:avLst/>
          </a:prstGeom>
          <a:solidFill>
            <a:srgbClr val="0070A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5999" y="3114000"/>
            <a:ext cx="198000" cy="144000"/>
          </a:xfrm>
          <a:prstGeom prst="rect">
            <a:avLst/>
          </a:prstGeom>
          <a:solidFill>
            <a:srgbClr val="12ABD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71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79000" y="2687602"/>
            <a:ext cx="1107000" cy="204795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2079000" y="3114000"/>
            <a:ext cx="198000" cy="144000"/>
          </a:xfrm>
          <a:prstGeom prst="rect">
            <a:avLst/>
          </a:prstGeom>
          <a:solidFill>
            <a:srgbClr val="014E9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0999" y="3114000"/>
            <a:ext cx="198000" cy="144000"/>
          </a:xfrm>
          <a:prstGeom prst="rect">
            <a:avLst/>
          </a:prstGeom>
          <a:solidFill>
            <a:srgbClr val="E50011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366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9594" y="2556000"/>
            <a:ext cx="675812" cy="46800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3474000" y="3114000"/>
            <a:ext cx="198000" cy="144000"/>
          </a:xfrm>
          <a:prstGeom prst="rect">
            <a:avLst/>
          </a:prstGeom>
          <a:solidFill>
            <a:srgbClr val="00664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25999" y="3114000"/>
            <a:ext cx="198000" cy="144000"/>
          </a:xfrm>
          <a:prstGeom prst="rect">
            <a:avLst/>
          </a:prstGeom>
          <a:solidFill>
            <a:srgbClr val="008A91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77998" y="3114000"/>
            <a:ext cx="198000" cy="144000"/>
          </a:xfrm>
          <a:prstGeom prst="rect">
            <a:avLst/>
          </a:prstGeom>
          <a:solidFill>
            <a:srgbClr val="E20613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761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1900" y="2556000"/>
            <a:ext cx="421200" cy="46800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4869000" y="3114000"/>
            <a:ext cx="198000" cy="144000"/>
          </a:xfrm>
          <a:prstGeom prst="rect">
            <a:avLst/>
          </a:prstGeom>
          <a:solidFill>
            <a:srgbClr val="005EB8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20999" y="3114000"/>
            <a:ext cx="198000" cy="144000"/>
          </a:xfrm>
          <a:prstGeom prst="rect">
            <a:avLst/>
          </a:prstGeom>
          <a:solidFill>
            <a:srgbClr val="01B4F2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372998" y="3114000"/>
            <a:ext cx="198000" cy="144000"/>
          </a:xfrm>
          <a:prstGeom prst="rect">
            <a:avLst/>
          </a:prstGeom>
          <a:solidFill>
            <a:srgbClr val="008AD1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56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4000" y="2622566"/>
            <a:ext cx="1107000" cy="334867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6264000" y="3114000"/>
            <a:ext cx="198000" cy="144000"/>
          </a:xfrm>
          <a:prstGeom prst="rect">
            <a:avLst/>
          </a:prstGeom>
          <a:solidFill>
            <a:srgbClr val="005386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51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59000" y="2684835"/>
            <a:ext cx="1107000" cy="21033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7659000" y="3114000"/>
            <a:ext cx="198000" cy="144000"/>
          </a:xfrm>
          <a:prstGeom prst="rect">
            <a:avLst/>
          </a:prstGeom>
          <a:solidFill>
            <a:srgbClr val="FF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910999" y="3114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946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54000" y="2589356"/>
            <a:ext cx="1107000" cy="401287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9054000" y="3114000"/>
            <a:ext cx="198000" cy="144000"/>
          </a:xfrm>
          <a:prstGeom prst="rect">
            <a:avLst/>
          </a:prstGeom>
          <a:solidFill>
            <a:srgbClr val="007BC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05999" y="3114000"/>
            <a:ext cx="198000" cy="1440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557998" y="3114000"/>
            <a:ext cx="198000" cy="144000"/>
          </a:xfrm>
          <a:prstGeom prst="rect">
            <a:avLst/>
          </a:prstGeom>
          <a:solidFill>
            <a:srgbClr val="00AA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41000" y="2484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49000" y="2729115"/>
            <a:ext cx="1107000" cy="121770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10449000" y="3114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76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000" y="3616684"/>
            <a:ext cx="1107000" cy="218632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684000" y="4050000"/>
            <a:ext cx="198000" cy="144000"/>
          </a:xfrm>
          <a:prstGeom prst="rect">
            <a:avLst/>
          </a:prstGeom>
          <a:solidFill>
            <a:srgbClr val="084897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5999" y="4050000"/>
            <a:ext cx="198000" cy="144000"/>
          </a:xfrm>
          <a:prstGeom prst="rect">
            <a:avLst/>
          </a:prstGeom>
          <a:solidFill>
            <a:srgbClr val="F5822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971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79000" y="3554415"/>
            <a:ext cx="1107000" cy="34317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2079000" y="4050000"/>
            <a:ext cx="198000" cy="144000"/>
          </a:xfrm>
          <a:prstGeom prst="rect">
            <a:avLst/>
          </a:prstGeom>
          <a:solidFill>
            <a:srgbClr val="008172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330999" y="4050000"/>
            <a:ext cx="198000" cy="144000"/>
          </a:xfrm>
          <a:prstGeom prst="rect">
            <a:avLst/>
          </a:prstGeom>
          <a:solidFill>
            <a:srgbClr val="3AC0BE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582998" y="4050000"/>
            <a:ext cx="198000" cy="144000"/>
          </a:xfrm>
          <a:prstGeom prst="rect">
            <a:avLst/>
          </a:prstGeom>
          <a:solidFill>
            <a:srgbClr val="7FBC3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366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55510" y="3492000"/>
            <a:ext cx="343980" cy="468000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3474000" y="4050000"/>
            <a:ext cx="198000" cy="144000"/>
          </a:xfrm>
          <a:prstGeom prst="rect">
            <a:avLst/>
          </a:prstGeom>
          <a:solidFill>
            <a:srgbClr val="F3712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725999" y="4050000"/>
            <a:ext cx="198000" cy="144000"/>
          </a:xfrm>
          <a:prstGeom prst="rect">
            <a:avLst/>
          </a:prstGeom>
          <a:solidFill>
            <a:srgbClr val="F9C1A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977998" y="4050000"/>
            <a:ext cx="198000" cy="144000"/>
          </a:xfrm>
          <a:prstGeom prst="rect">
            <a:avLst/>
          </a:prstGeom>
          <a:solidFill>
            <a:srgbClr val="FBDAC6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761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69000" y="3541961"/>
            <a:ext cx="1107000" cy="368077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4869000" y="4050000"/>
            <a:ext cx="198000" cy="144000"/>
          </a:xfrm>
          <a:prstGeom prst="rect">
            <a:avLst/>
          </a:prstGeom>
          <a:solidFill>
            <a:srgbClr val="58595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56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64000" y="3591776"/>
            <a:ext cx="1107000" cy="268447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6264000" y="4050000"/>
            <a:ext cx="198000" cy="144000"/>
          </a:xfrm>
          <a:prstGeom prst="rect">
            <a:avLst/>
          </a:prstGeom>
          <a:solidFill>
            <a:srgbClr val="ED1C2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51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2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59000" y="3624986"/>
            <a:ext cx="1107000" cy="202027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7659000" y="4050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46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2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54000" y="3594544"/>
            <a:ext cx="1107000" cy="262912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9054000" y="4050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341000" y="3420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2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595" y="3492000"/>
            <a:ext cx="1045810" cy="468000"/>
          </a:xfrm>
          <a:prstGeom prst="rect">
            <a:avLst/>
          </a:prstGeom>
        </p:spPr>
      </p:pic>
      <p:sp>
        <p:nvSpPr>
          <p:cNvPr id="104" name="Rectangle 103"/>
          <p:cNvSpPr/>
          <p:nvPr/>
        </p:nvSpPr>
        <p:spPr>
          <a:xfrm>
            <a:off x="10449000" y="4050000"/>
            <a:ext cx="198000" cy="144000"/>
          </a:xfrm>
          <a:prstGeom prst="rect">
            <a:avLst/>
          </a:prstGeom>
          <a:solidFill>
            <a:srgbClr val="27509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700999" y="4050000"/>
            <a:ext cx="198000" cy="1440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76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7" name="Picture 106" descr="2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3500" y="4428000"/>
            <a:ext cx="468000" cy="468000"/>
          </a:xfrm>
          <a:prstGeom prst="rect">
            <a:avLst/>
          </a:prstGeom>
        </p:spPr>
      </p:pic>
      <p:sp>
        <p:nvSpPr>
          <p:cNvPr id="108" name="Rectangle 107"/>
          <p:cNvSpPr/>
          <p:nvPr/>
        </p:nvSpPr>
        <p:spPr>
          <a:xfrm>
            <a:off x="684000" y="4986000"/>
            <a:ext cx="198000" cy="144000"/>
          </a:xfrm>
          <a:prstGeom prst="rect">
            <a:avLst/>
          </a:prstGeom>
          <a:solidFill>
            <a:srgbClr val="FF79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5999" y="4986000"/>
            <a:ext cx="198000" cy="1440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971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2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079000" y="4457205"/>
            <a:ext cx="1107000" cy="409590"/>
          </a:xfrm>
          <a:prstGeom prst="rect">
            <a:avLst/>
          </a:prstGeom>
        </p:spPr>
      </p:pic>
      <p:sp>
        <p:nvSpPr>
          <p:cNvPr id="112" name="Rectangle 111"/>
          <p:cNvSpPr/>
          <p:nvPr/>
        </p:nvSpPr>
        <p:spPr>
          <a:xfrm>
            <a:off x="2079000" y="4986000"/>
            <a:ext cx="198000" cy="144000"/>
          </a:xfrm>
          <a:prstGeom prst="rect">
            <a:avLst/>
          </a:prstGeom>
          <a:solidFill>
            <a:srgbClr val="123F7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330999" y="4986000"/>
            <a:ext cx="198000" cy="144000"/>
          </a:xfrm>
          <a:prstGeom prst="rect">
            <a:avLst/>
          </a:prstGeom>
          <a:solidFill>
            <a:srgbClr val="76A0C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366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26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74000" y="4430914"/>
            <a:ext cx="1107000" cy="462172"/>
          </a:xfrm>
          <a:prstGeom prst="rect">
            <a:avLst/>
          </a:prstGeom>
        </p:spPr>
      </p:pic>
      <p:sp>
        <p:nvSpPr>
          <p:cNvPr id="116" name="Rectangle 115"/>
          <p:cNvSpPr/>
          <p:nvPr/>
        </p:nvSpPr>
        <p:spPr>
          <a:xfrm>
            <a:off x="3474000" y="4986000"/>
            <a:ext cx="198000" cy="144000"/>
          </a:xfrm>
          <a:prstGeom prst="rect">
            <a:avLst/>
          </a:prstGeom>
          <a:solidFill>
            <a:srgbClr val="212129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725999" y="4986000"/>
            <a:ext cx="198000" cy="144000"/>
          </a:xfrm>
          <a:prstGeom prst="rect">
            <a:avLst/>
          </a:prstGeom>
          <a:solidFill>
            <a:srgbClr val="E7E7E7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761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2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905373" y="4428000"/>
            <a:ext cx="1034254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6156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28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64000" y="4545765"/>
            <a:ext cx="1107000" cy="232470"/>
          </a:xfrm>
          <a:prstGeom prst="rect">
            <a:avLst/>
          </a:prstGeom>
        </p:spPr>
      </p:pic>
      <p:sp>
        <p:nvSpPr>
          <p:cNvPr id="122" name="Rectangle 121"/>
          <p:cNvSpPr/>
          <p:nvPr/>
        </p:nvSpPr>
        <p:spPr>
          <a:xfrm>
            <a:off x="6264000" y="4986000"/>
            <a:ext cx="198000" cy="144000"/>
          </a:xfrm>
          <a:prstGeom prst="rect">
            <a:avLst/>
          </a:prstGeom>
          <a:solidFill>
            <a:srgbClr val="0056A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515999" y="4986000"/>
            <a:ext cx="198000" cy="144000"/>
          </a:xfrm>
          <a:prstGeom prst="rect">
            <a:avLst/>
          </a:prstGeom>
          <a:solidFill>
            <a:srgbClr val="84CFE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767998" y="4986000"/>
            <a:ext cx="198000" cy="144000"/>
          </a:xfrm>
          <a:prstGeom prst="rect">
            <a:avLst/>
          </a:prstGeom>
          <a:solidFill>
            <a:srgbClr val="4096CE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551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Picture 125" descr="29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59000" y="4429530"/>
            <a:ext cx="1107000" cy="46494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7659000" y="4986000"/>
            <a:ext cx="198000" cy="144000"/>
          </a:xfrm>
          <a:prstGeom prst="rect">
            <a:avLst/>
          </a:prstGeom>
          <a:solidFill>
            <a:srgbClr val="254A9A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910999" y="4986000"/>
            <a:ext cx="198000" cy="144000"/>
          </a:xfrm>
          <a:prstGeom prst="rect">
            <a:avLst/>
          </a:prstGeom>
          <a:solidFill>
            <a:srgbClr val="54B6AE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162998" y="4986000"/>
            <a:ext cx="198000" cy="144000"/>
          </a:xfrm>
          <a:prstGeom prst="rect">
            <a:avLst/>
          </a:prstGeom>
          <a:solidFill>
            <a:srgbClr val="F25C19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946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30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054000" y="4519474"/>
            <a:ext cx="1107000" cy="285052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9054000" y="4986000"/>
            <a:ext cx="198000" cy="144000"/>
          </a:xfrm>
          <a:prstGeom prst="rect">
            <a:avLst/>
          </a:prstGeom>
          <a:solidFill>
            <a:srgbClr val="7A00E6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305999" y="4986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341000" y="4356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31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449000" y="4498717"/>
            <a:ext cx="1107000" cy="326565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10449000" y="4986000"/>
            <a:ext cx="198000" cy="144000"/>
          </a:xfrm>
          <a:prstGeom prst="rect">
            <a:avLst/>
          </a:prstGeom>
          <a:solidFill>
            <a:srgbClr val="009E4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76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3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84000" y="5488684"/>
            <a:ext cx="1107000" cy="218632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684000" y="5922000"/>
            <a:ext cx="198000" cy="144000"/>
          </a:xfrm>
          <a:prstGeom prst="rect">
            <a:avLst/>
          </a:prstGeom>
          <a:solidFill>
            <a:srgbClr val="E60028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35999" y="5922000"/>
            <a:ext cx="198000" cy="144000"/>
          </a:xfrm>
          <a:prstGeom prst="rect">
            <a:avLst/>
          </a:prstGeom>
          <a:solidFill>
            <a:srgbClr val="FFFF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971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3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079000" y="5480381"/>
            <a:ext cx="1107000" cy="235237"/>
          </a:xfrm>
          <a:prstGeom prst="rect">
            <a:avLst/>
          </a:prstGeom>
        </p:spPr>
      </p:pic>
      <p:sp>
        <p:nvSpPr>
          <p:cNvPr id="143" name="Rectangle 142"/>
          <p:cNvSpPr/>
          <p:nvPr/>
        </p:nvSpPr>
        <p:spPr>
          <a:xfrm>
            <a:off x="2079000" y="5922000"/>
            <a:ext cx="198000" cy="144000"/>
          </a:xfrm>
          <a:prstGeom prst="rect">
            <a:avLst/>
          </a:prstGeom>
          <a:solidFill>
            <a:srgbClr val="243882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3366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3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694404" y="5364000"/>
            <a:ext cx="666192" cy="468000"/>
          </a:xfrm>
          <a:prstGeom prst="rect">
            <a:avLst/>
          </a:prstGeom>
        </p:spPr>
      </p:pic>
      <p:sp>
        <p:nvSpPr>
          <p:cNvPr id="146" name="Rectangle 145"/>
          <p:cNvSpPr/>
          <p:nvPr/>
        </p:nvSpPr>
        <p:spPr>
          <a:xfrm>
            <a:off x="3474000" y="5922000"/>
            <a:ext cx="198000" cy="144000"/>
          </a:xfrm>
          <a:prstGeom prst="rect">
            <a:avLst/>
          </a:prstGeom>
          <a:solidFill>
            <a:srgbClr val="03234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761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3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869000" y="5531580"/>
            <a:ext cx="1107000" cy="132840"/>
          </a:xfrm>
          <a:prstGeom prst="rect">
            <a:avLst/>
          </a:prstGeom>
        </p:spPr>
      </p:pic>
      <p:sp>
        <p:nvSpPr>
          <p:cNvPr id="149" name="Rectangle 148"/>
          <p:cNvSpPr/>
          <p:nvPr/>
        </p:nvSpPr>
        <p:spPr>
          <a:xfrm>
            <a:off x="4869000" y="5922000"/>
            <a:ext cx="198000" cy="144000"/>
          </a:xfrm>
          <a:prstGeom prst="rect">
            <a:avLst/>
          </a:prstGeom>
          <a:solidFill>
            <a:srgbClr val="2C2F73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120999" y="5922000"/>
            <a:ext cx="198000" cy="144000"/>
          </a:xfrm>
          <a:prstGeom prst="rect">
            <a:avLst/>
          </a:prstGeom>
          <a:solidFill>
            <a:srgbClr val="5EBFD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156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36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496952" y="5364000"/>
            <a:ext cx="641095" cy="468000"/>
          </a:xfrm>
          <a:prstGeom prst="rect">
            <a:avLst/>
          </a:prstGeom>
        </p:spPr>
      </p:pic>
      <p:sp>
        <p:nvSpPr>
          <p:cNvPr id="153" name="Rectangle 152"/>
          <p:cNvSpPr/>
          <p:nvPr/>
        </p:nvSpPr>
        <p:spPr>
          <a:xfrm>
            <a:off x="6264000" y="5922000"/>
            <a:ext cx="198000" cy="144000"/>
          </a:xfrm>
          <a:prstGeom prst="rect">
            <a:avLst/>
          </a:prstGeom>
          <a:solidFill>
            <a:srgbClr val="FC0103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515999" y="5922000"/>
            <a:ext cx="198000" cy="144000"/>
          </a:xfrm>
          <a:prstGeom prst="rect">
            <a:avLst/>
          </a:prstGeom>
          <a:solidFill>
            <a:srgbClr val="0186F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767998" y="5922000"/>
            <a:ext cx="198000" cy="144000"/>
          </a:xfrm>
          <a:prstGeom prst="rect">
            <a:avLst/>
          </a:prstGeom>
          <a:solidFill>
            <a:srgbClr val="3156F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551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37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659000" y="5456857"/>
            <a:ext cx="1107000" cy="282285"/>
          </a:xfrm>
          <a:prstGeom prst="rect">
            <a:avLst/>
          </a:prstGeom>
        </p:spPr>
      </p:pic>
      <p:sp>
        <p:nvSpPr>
          <p:cNvPr id="158" name="Rectangle 157"/>
          <p:cNvSpPr/>
          <p:nvPr/>
        </p:nvSpPr>
        <p:spPr>
          <a:xfrm>
            <a:off x="7659000" y="5922000"/>
            <a:ext cx="198000" cy="144000"/>
          </a:xfrm>
          <a:prstGeom prst="rect">
            <a:avLst/>
          </a:prstGeom>
          <a:solidFill>
            <a:srgbClr val="3B3836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910999" y="5922000"/>
            <a:ext cx="198000" cy="144000"/>
          </a:xfrm>
          <a:prstGeom prst="rect">
            <a:avLst/>
          </a:prstGeom>
          <a:solidFill>
            <a:srgbClr val="E1251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46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38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054000" y="5462392"/>
            <a:ext cx="1107000" cy="271215"/>
          </a:xfrm>
          <a:prstGeom prst="rect">
            <a:avLst/>
          </a:prstGeom>
        </p:spPr>
      </p:pic>
      <p:sp>
        <p:nvSpPr>
          <p:cNvPr id="162" name="Rectangle 161"/>
          <p:cNvSpPr/>
          <p:nvPr/>
        </p:nvSpPr>
        <p:spPr>
          <a:xfrm>
            <a:off x="9054000" y="5922000"/>
            <a:ext cx="198000" cy="144000"/>
          </a:xfrm>
          <a:prstGeom prst="rect">
            <a:avLst/>
          </a:prstGeom>
          <a:solidFill>
            <a:srgbClr val="ED1C2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9305999" y="5922000"/>
            <a:ext cx="198000" cy="144000"/>
          </a:xfrm>
          <a:prstGeom prst="rect">
            <a:avLst/>
          </a:prstGeom>
          <a:solidFill>
            <a:srgbClr val="666666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341000" y="5292000"/>
            <a:ext cx="1323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Picture 164" descr="39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449000" y="5454090"/>
            <a:ext cx="1107000" cy="287820"/>
          </a:xfrm>
          <a:prstGeom prst="rect">
            <a:avLst/>
          </a:prstGeom>
        </p:spPr>
      </p:pic>
      <p:sp>
        <p:nvSpPr>
          <p:cNvPr id="166" name="Rectangle 165"/>
          <p:cNvSpPr/>
          <p:nvPr/>
        </p:nvSpPr>
        <p:spPr>
          <a:xfrm>
            <a:off x="10449000" y="5922000"/>
            <a:ext cx="198000" cy="144000"/>
          </a:xfrm>
          <a:prstGeom prst="rect">
            <a:avLst/>
          </a:prstGeom>
          <a:solidFill>
            <a:srgbClr val="EB172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0700999" y="5922000"/>
            <a:ext cx="198000" cy="144000"/>
          </a:xfrm>
          <a:prstGeom prst="rect">
            <a:avLst/>
          </a:prstGeom>
          <a:solidFill>
            <a:srgbClr val="19458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40000" y="5976000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Pastilles : couleurs relevées sur le logo officiel ou dans la charte publiée (ENGIE), le 24/10/2026.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fondamentaux, en chiffres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27/40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raisons d'être publiées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Héritage de la loi Pacte (2019) : une phrase, souvent inscrite dans les statuts.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4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4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4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23/40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signatures corporate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4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Dont 12 en anglais : « Life Is On », « Know You Can », « Testing for Life »…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8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8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8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15/40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marques à dominante bleue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Le bleu reste la couleur de la confiance pour l'industrie, la finance et la tech.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2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2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2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6/40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2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typographies publiées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2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Seuls les groupes qui ont un design system en ligne les donnent (AXA, ENGIE, Airbus, Michelin, Orange, Publicis).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Couleur principale des 40 marques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84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Bleu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8000" y="1655280"/>
            <a:ext cx="6840000" cy="25344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04000" y="1584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980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Rouge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8000" y="2051280"/>
            <a:ext cx="3648000" cy="253440"/>
          </a:xfrm>
          <a:prstGeom prst="rect">
            <a:avLst/>
          </a:prstGeom>
          <a:solidFill>
            <a:srgbClr val="E1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2000" y="1980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376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Noir ou gris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8000" y="2447280"/>
            <a:ext cx="3192000" cy="253440"/>
          </a:xfrm>
          <a:prstGeom prst="rect">
            <a:avLst/>
          </a:prstGeom>
          <a:solidFill>
            <a:srgbClr val="2B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56000" y="2376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772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Orange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8000" y="2843280"/>
            <a:ext cx="1824000" cy="25344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8000" y="2772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168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Vert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8000" y="3239280"/>
            <a:ext cx="1368000" cy="253440"/>
          </a:xfrm>
          <a:prstGeom prst="rect">
            <a:avLst/>
          </a:prstGeom>
          <a:solidFill>
            <a:srgbClr val="009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2000" y="3168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" y="3564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Cyan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8000" y="3635280"/>
            <a:ext cx="456000" cy="25344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0000" y="3564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000" y="3960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Violet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8000" y="4031280"/>
            <a:ext cx="456000" cy="253440"/>
          </a:xfrm>
          <a:prstGeom prst="rect">
            <a:avLst/>
          </a:prstGeom>
          <a:solidFill>
            <a:srgbClr val="7A0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0000" y="3960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4356000"/>
            <a:ext cx="288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32754"/>
                </a:solidFill>
                <a:latin typeface="Work Sans"/>
              </a:rPr>
              <a:t>Non relevée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8000" y="4427280"/>
            <a:ext cx="456000" cy="253440"/>
          </a:xfrm>
          <a:prstGeom prst="rect">
            <a:avLst/>
          </a:prstGeom>
          <a:solidFill>
            <a:srgbClr val="8F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0000" y="4356000"/>
            <a:ext cx="1440000" cy="396000"/>
          </a:xfrm>
          <a:prstGeom prst="rect">
            <a:avLst/>
          </a:prstGeom>
          <a:noFill/>
        </p:spPr>
        <p:txBody>
          <a:bodyPr wrap="square" anchor="ctr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5940000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Couleur dominante du logo. Le noir est la couleur du luxe (LVMH, L'Oréal, Kering) et de la sobriété industrielle (EssilorLuxottica, Renault Group).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Logos : le symbole l'emporte, et les refontes se simplifient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Symbole + nom : 26 sur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Un pictogramme qui peut vivre seul sur les réseaux : l'oie d'Accor, les connecteurs de Vinci, l'emblème de Safran.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Nom seul : 12 sur 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Le choix du luxe et de la tech (LVMH, L'Oréal, Sanofi, Stellantis) : la typographie est la marque.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refontes récentes vont vers l'épure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Sanofi 2022 (nom en minuscules, deux points violets), Renault Group 2021, TotalEnergies 2021, AXA 2025 (même logo, usage assoupli de la barre rouge).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Un changement de nom porte un changement de récit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GDF Suez devient ENGIE (2015), Total devient TotalEnergies (2021), PPR devient Kering (2013).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Signatures : courtes, promesse plus que métier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Schneider Electric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Life Is On 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AXA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Know You Can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24696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24696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25596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Danone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28835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One Planet. One Health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24696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24696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25596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Capgemini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28835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Get the future you want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3912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" y="33912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4812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Carrefour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38051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On a tous droit au meilleur 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0000" y="33912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0000" y="33912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0000" y="34812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Crédit Agricole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0000" y="38051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Toute une banque pour vous 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43128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0000" y="43128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44028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BNP Paribas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47267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La banque d'un monde qui change 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0000" y="43128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0000" y="43128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0000" y="44028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Pernod Ricard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0000" y="47267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Créateurs de convivialité 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000" y="52344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0000" y="52344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0000" y="53244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Société Générale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56483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C'est vous l'avenir 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0000" y="5234400"/>
            <a:ext cx="5490000" cy="7416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0000" y="5234400"/>
            <a:ext cx="54000" cy="7416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0000" y="53244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Thales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0000" y="5648399"/>
            <a:ext cx="5202000" cy="2736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Construisons ensemble un avenir de confiance 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0000" y="6048000"/>
            <a:ext cx="1116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Trois à six mots. Les marques grand public parlent français, les groupes industriels et technologiques parlent anglais.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Raisons d'être : une phrase qui dit à quoi sert l'entreprise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135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1356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AXA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8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« Agir pour le progrès humain en protégeant ce qui compte 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135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1356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Danone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8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« Apporter la santé par l'alimentation au plus grand nombre 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084000"/>
            <a:ext cx="5490000" cy="135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084000"/>
            <a:ext cx="54000" cy="1356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174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Michelin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497999"/>
            <a:ext cx="5202000" cy="8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« Offrir à chacun une meilleure façon d'avancer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084000"/>
            <a:ext cx="5490000" cy="135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084000"/>
            <a:ext cx="54000" cy="1356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174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Crédit Agricole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3497999"/>
            <a:ext cx="5202000" cy="8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« Agir chaque jour dans l'intérêt de nos clients et de la société 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4620000"/>
            <a:ext cx="5490000" cy="135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" y="4620000"/>
            <a:ext cx="54000" cy="1356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4710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L'Oréal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5033999"/>
            <a:ext cx="5202000" cy="8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« Créer la beauté qui fait avancer le monde 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0000" y="4620000"/>
            <a:ext cx="5490000" cy="1356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0000" y="4620000"/>
            <a:ext cx="54000" cy="1356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0000" y="4710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32754"/>
                </a:solidFill>
                <a:latin typeface="Work Sans"/>
              </a:rPr>
              <a:t>Saint-Gobain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0000" y="5033999"/>
            <a:ext cx="5202000" cy="8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B2A35"/>
                </a:solidFill>
                <a:latin typeface="Work Sans"/>
              </a:rPr>
              <a:t>« Making the world a better home 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6048000"/>
            <a:ext cx="11160000" cy="32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Formule type : un verbe d'action, un bénéficiaire, un bénéfice pour la société.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Architecture de marque : trois modèles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548000"/>
          <a:ext cx="1116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3960000"/>
                <a:gridCol w="39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Modèle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Principe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Exemples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Monolithique (20)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Une seule marque partout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Airbus, Safran, Sanofi, AXA, Orange : chaque filiale prend le nom du groupe.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Maison de marques (11)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Le groupe s'efface derrière ses marques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LVMH (75 Maisons), Kering, L'Oréal, Pernod Ricard, Stellantis.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Mixte ou hybride (9)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Marque groupe + marques commerciales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BNP Paribas, Société Générale (SG, Boursorama), Vinci, Saint-Gobain.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0000" y="5903999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Tendance de fond : la marque unique gagne (Safran 2016, Sanofi 2022, filiales renommées chez Bureau Veritas).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CAC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Ton : ce que l'on entend sur les sites et les réseaux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Engagé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ENGIE, Danone, Veolia, Kering : transition écologique, santé, femmes.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Technique et rassurant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Airbus, Thales, Safran, Schneider : expertise, souveraineté, confiance.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Proche et grand public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Carrefour, Crédit Agricole, Orange : prix, proximité, quotidien.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Discret et patrimonial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Hermès, LVMH : savoir-faire, création, retenue.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Les grandes entreprises ivoiriennes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Filiales de groupes, entreprises d'État et marques de grande consommation.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20 identités ivoiriennes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1548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00" y="1620000"/>
            <a:ext cx="468000" cy="46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4000" y="2178000"/>
            <a:ext cx="198000" cy="144000"/>
          </a:xfrm>
          <a:prstGeom prst="rect">
            <a:avLst/>
          </a:prstGeom>
          <a:solidFill>
            <a:srgbClr val="FF79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5999" y="2178000"/>
            <a:ext cx="198000" cy="144000"/>
          </a:xfrm>
          <a:prstGeom prst="rect">
            <a:avLst/>
          </a:prstGeom>
          <a:solidFill>
            <a:srgbClr val="FFA657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87998" y="2178000"/>
            <a:ext cx="198000" cy="144000"/>
          </a:xfrm>
          <a:prstGeom prst="rect">
            <a:avLst/>
          </a:prstGeom>
          <a:solidFill>
            <a:srgbClr val="FFC796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8000" y="1548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00" y="1620000"/>
            <a:ext cx="936000" cy="46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916000" y="2178000"/>
            <a:ext cx="198000" cy="144000"/>
          </a:xfrm>
          <a:prstGeom prst="rect">
            <a:avLst/>
          </a:prstGeom>
          <a:solidFill>
            <a:srgbClr val="FFCB0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67999" y="2178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0000" y="1548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6000" y="1692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Moov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8000" y="2178000"/>
            <a:ext cx="198000" cy="144000"/>
          </a:xfrm>
          <a:prstGeom prst="rect">
            <a:avLst/>
          </a:prstGeom>
          <a:solidFill>
            <a:srgbClr val="005BA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9999" y="2178000"/>
            <a:ext cx="198000" cy="144000"/>
          </a:xfrm>
          <a:prstGeom prst="rect">
            <a:avLst/>
          </a:prstGeom>
          <a:solidFill>
            <a:srgbClr val="5EC073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72000" y="1548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129" y="1620000"/>
            <a:ext cx="1065742" cy="4680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7380000" y="2178000"/>
            <a:ext cx="198000" cy="144000"/>
          </a:xfrm>
          <a:prstGeom prst="rect">
            <a:avLst/>
          </a:prstGeom>
          <a:solidFill>
            <a:srgbClr val="1DC4F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31999" y="2178000"/>
            <a:ext cx="198000" cy="144000"/>
          </a:xfrm>
          <a:prstGeom prst="rect">
            <a:avLst/>
          </a:prstGeom>
          <a:solidFill>
            <a:srgbClr val="F679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83998" y="2178000"/>
            <a:ext cx="198000" cy="144000"/>
          </a:xfrm>
          <a:prstGeom prst="rect">
            <a:avLst/>
          </a:prstGeom>
          <a:solidFill>
            <a:srgbClr val="46B4C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4000" y="1548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40000" y="1692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Société Générale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2000" y="2178000"/>
            <a:ext cx="198000" cy="144000"/>
          </a:xfrm>
          <a:prstGeom prst="rect">
            <a:avLst/>
          </a:prstGeom>
          <a:solidFill>
            <a:srgbClr val="E9041E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63999" y="2178000"/>
            <a:ext cx="198000" cy="144000"/>
          </a:xfrm>
          <a:prstGeom prst="rect">
            <a:avLst/>
          </a:prstGeom>
          <a:solidFill>
            <a:srgbClr val="0000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6000" y="2484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000" y="2556000"/>
            <a:ext cx="1170000" cy="4680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84000" y="3114000"/>
            <a:ext cx="198000" cy="144000"/>
          </a:xfrm>
          <a:prstGeom prst="rect">
            <a:avLst/>
          </a:prstGeom>
          <a:solidFill>
            <a:srgbClr val="1C2B5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5999" y="3114000"/>
            <a:ext cx="198000" cy="144000"/>
          </a:xfrm>
          <a:prstGeom prst="rect">
            <a:avLst/>
          </a:prstGeom>
          <a:solidFill>
            <a:srgbClr val="E2AF2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87998" y="3114000"/>
            <a:ext cx="198000" cy="144000"/>
          </a:xfrm>
          <a:prstGeom prst="rect">
            <a:avLst/>
          </a:prstGeom>
          <a:solidFill>
            <a:srgbClr val="D8DAD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08000" y="2484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44000" y="2628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Ecobank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40000" y="2484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4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5840" y="2556000"/>
            <a:ext cx="1828320" cy="468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5148000" y="3114000"/>
            <a:ext cx="198000" cy="144000"/>
          </a:xfrm>
          <a:prstGeom prst="rect">
            <a:avLst/>
          </a:prstGeom>
          <a:solidFill>
            <a:srgbClr val="E6790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99999" y="3114000"/>
            <a:ext cx="198000" cy="144000"/>
          </a:xfrm>
          <a:prstGeom prst="rect">
            <a:avLst/>
          </a:prstGeom>
          <a:solidFill>
            <a:srgbClr val="491D0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72000" y="2484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08000" y="2628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CIE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04000" y="2484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4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9628" y="2556000"/>
            <a:ext cx="1708744" cy="467999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9612000" y="3114000"/>
            <a:ext cx="198000" cy="144000"/>
          </a:xfrm>
          <a:prstGeom prst="rect">
            <a:avLst/>
          </a:prstGeom>
          <a:solidFill>
            <a:srgbClr val="A5DDB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63999" y="3114000"/>
            <a:ext cx="198000" cy="144000"/>
          </a:xfrm>
          <a:prstGeom prst="rect">
            <a:avLst/>
          </a:prstGeom>
          <a:solidFill>
            <a:srgbClr val="00A45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15998" y="3114000"/>
            <a:ext cx="198000" cy="144000"/>
          </a:xfrm>
          <a:prstGeom prst="rect">
            <a:avLst/>
          </a:prstGeom>
          <a:solidFill>
            <a:srgbClr val="CAEBC9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6000" y="3420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1602" y="3492000"/>
            <a:ext cx="428795" cy="46800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84000" y="4050000"/>
            <a:ext cx="198000" cy="144000"/>
          </a:xfrm>
          <a:prstGeom prst="rect">
            <a:avLst/>
          </a:prstGeom>
          <a:solidFill>
            <a:srgbClr val="F7D6A3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5999" y="4050000"/>
            <a:ext cx="198000" cy="144000"/>
          </a:xfrm>
          <a:prstGeom prst="rect">
            <a:avLst/>
          </a:prstGeom>
          <a:solidFill>
            <a:srgbClr val="02983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87998" y="4050000"/>
            <a:ext cx="198000" cy="144000"/>
          </a:xfrm>
          <a:prstGeom prst="rect">
            <a:avLst/>
          </a:prstGeom>
          <a:solidFill>
            <a:srgbClr val="EF801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808000" y="3420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13600" y="3492000"/>
            <a:ext cx="748800" cy="468000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2916000" y="4050000"/>
            <a:ext cx="198000" cy="144000"/>
          </a:xfrm>
          <a:prstGeom prst="rect">
            <a:avLst/>
          </a:prstGeom>
          <a:solidFill>
            <a:srgbClr val="04A64B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7999" y="4050000"/>
            <a:ext cx="198000" cy="144000"/>
          </a:xfrm>
          <a:prstGeom prst="rect">
            <a:avLst/>
          </a:prstGeom>
          <a:solidFill>
            <a:srgbClr val="F0912E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19998" y="4050000"/>
            <a:ext cx="198000" cy="144000"/>
          </a:xfrm>
          <a:prstGeom prst="rect">
            <a:avLst/>
          </a:prstGeom>
          <a:solidFill>
            <a:srgbClr val="36B76F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40000" y="3420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5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8342" y="3492000"/>
            <a:ext cx="1003315" cy="4680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5148000" y="4050000"/>
            <a:ext cx="198000" cy="144000"/>
          </a:xfrm>
          <a:prstGeom prst="rect">
            <a:avLst/>
          </a:prstGeom>
          <a:solidFill>
            <a:srgbClr val="A2968A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99999" y="4050000"/>
            <a:ext cx="198000" cy="144000"/>
          </a:xfrm>
          <a:prstGeom prst="rect">
            <a:avLst/>
          </a:prstGeom>
          <a:solidFill>
            <a:srgbClr val="EAB21E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72000" y="3420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02400" y="3492000"/>
            <a:ext cx="499200" cy="46800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7380000" y="4050000"/>
            <a:ext cx="198000" cy="144000"/>
          </a:xfrm>
          <a:prstGeom prst="rect">
            <a:avLst/>
          </a:prstGeom>
          <a:solidFill>
            <a:srgbClr val="40B83D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31999" y="4050000"/>
            <a:ext cx="198000" cy="144000"/>
          </a:xfrm>
          <a:prstGeom prst="rect">
            <a:avLst/>
          </a:prstGeom>
          <a:solidFill>
            <a:srgbClr val="757575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04000" y="3420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40000" y="3564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Solibra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6000" y="4356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5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000" y="4527374"/>
            <a:ext cx="1943999" cy="269252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684000" y="4986000"/>
            <a:ext cx="198000" cy="144000"/>
          </a:xfrm>
          <a:prstGeom prst="rect">
            <a:avLst/>
          </a:prstGeom>
          <a:solidFill>
            <a:srgbClr val="05462A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35999" y="4986000"/>
            <a:ext cx="198000" cy="144000"/>
          </a:xfrm>
          <a:prstGeom prst="rect">
            <a:avLst/>
          </a:prstGeom>
          <a:solidFill>
            <a:srgbClr val="E77930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7998" y="4986000"/>
            <a:ext cx="198000" cy="144000"/>
          </a:xfrm>
          <a:prstGeom prst="rect">
            <a:avLst/>
          </a:prstGeom>
          <a:solidFill>
            <a:srgbClr val="9BC63A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08000" y="4356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44000" y="4500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Port Autonome d'Abidjan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40000" y="4356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76000" y="4500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Prosuma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72000" y="4356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5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58020" y="4428000"/>
            <a:ext cx="787959" cy="46800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7380000" y="4986000"/>
            <a:ext cx="198000" cy="144000"/>
          </a:xfrm>
          <a:prstGeom prst="rect">
            <a:avLst/>
          </a:prstGeom>
          <a:solidFill>
            <a:srgbClr val="E1B854"/>
          </a:solidFill>
          <a:ln>
            <a:solidFill>
              <a:srgbClr val="E4E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504000" y="4356000"/>
            <a:ext cx="2160000" cy="86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540000" y="4500000"/>
            <a:ext cx="2088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32754"/>
                </a:solidFill>
                <a:latin typeface="Work Sans"/>
              </a:rPr>
              <a:t>Sania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0000" y="5976000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Pastilles : couleurs mesurées sur le logo ou dans le code du site officiel le 24/10/2026. Nom écrit : logo non récupérable en ligne.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fondamentaux, en chiffres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10/20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filiales de groupes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Elles reprennent l'identité du groupe : Orange, MTN, Moov Africa, Société Générale, Ecobank, Banque Atlantique…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4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4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4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7/20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4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missions ou visions publiées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4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Wave, NSIA, MTN, PETROCI, Solibra, Ecobank, Prosuma.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8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8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8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4/20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signatures relevées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« Orange est là », « Voir Grand » (Moov Africa), Uniwax, Dinor (Sania).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72000" y="1800000"/>
            <a:ext cx="2628000" cy="3420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72000" y="1800000"/>
            <a:ext cx="2628000" cy="72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2000" y="2160000"/>
            <a:ext cx="2268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07ABB"/>
                </a:solidFill>
                <a:latin typeface="Funnel Display"/>
              </a:rPr>
              <a:t>0/20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2000" y="3311999"/>
            <a:ext cx="2268000" cy="72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typographies publiées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2000" y="4031999"/>
            <a:ext cx="2268000" cy="115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Aucun design system en ligne parmi les entreprises relevées.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couleurs : celles du drapeau pour les entreprises liées à l'État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Orange et vert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PETROCI, SIR, Air Côte d'Ivoire, SODECI : les couleurs nationales signent l'appartenance au pays.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couleurs du groupe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Orange (orange), MTN (jaune #FFCB05), Moov Africa (bleu), Société Générale (rouge et noir) : aucune adaptation locale.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Les marques nées ici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Wave (bleu ciel et pingouin, une identité de produit plus que de banque), Uniwax (or #E1B854), NSIA (bleu nuit et or).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Ce qui manque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Pas de codes publiés : chaque prestataire mesure les couleurs à l'œil, d'où des écarts d'un support à l'autre.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Signatures et récits : l'ancrage local fait la différence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Orange est là » : la version française d'« Orange is here », adaptée au pays.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Moov Africa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Voir Grand » : nouvelle signature dévoilée le 16 juillet 2026 pour les 20 ans de la marque.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Wave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Faire de l'Afrique le premier continent cashless » : la mission tient lieu de signature, le prix de 1 % fait le reste.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3852000"/>
            <a:ext cx="5490000" cy="2124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3852000"/>
            <a:ext cx="54000" cy="2124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754"/>
                </a:solidFill>
                <a:latin typeface="Work Sans"/>
              </a:rPr>
              <a:t>Uniwax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4265999"/>
            <a:ext cx="5202000" cy="165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B2A35"/>
                </a:solidFill>
                <a:latin typeface="Work Sans"/>
              </a:rPr>
              <a:t>« Avec Uniwax votre style vous appartient » : la culture du pagne au cœur du récit.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CÔTE D'IVOIRE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Architecture de marque en Côte d'Ivoire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548000"/>
          <a:ext cx="1116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3960000"/>
                <a:gridCol w="39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Modèle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Principe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Exemples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Filiale d'un groupe (10)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Identité du groupe, récit local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Orange, MTN, Moov Africa, Société Générale, Ecobank, CIE et SODECI (groupe Eranove).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Maison de marques (5)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Les produits portent la marque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Solibra (Bock, Youki), Sania (Dinor), SIFCA, Prosuma, PETROCI.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Monolithique (4)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Une seule marque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Air Côte d'Ivoire, SIR, Port Autonome d'Abidjan, Uniwax.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Endossée (1)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Nom du groupe + métier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NSIA Banque, NSIA Assurances.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7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21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00AED4"/>
                </a:solidFill>
                <a:latin typeface="Funnel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060000"/>
            <a:ext cx="10080000" cy="90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Funnel Display"/>
              </a:rPr>
              <a:t>Les écarts et ce qu'on en retient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068000"/>
            <a:ext cx="9360000" cy="108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9D6E8"/>
                </a:solidFill>
                <a:latin typeface="Work Sans"/>
              </a:rPr>
              <a:t>Ce que le benchmark change dans notre manière de bâtir une marque.</a:t>
            </a:r>
          </a:p>
        </p:txBody>
      </p:sp>
      <p:pic>
        <p:nvPicPr>
          <p:cNvPr id="5" name="Picture 4" descr="logo_blanc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6120000"/>
            <a:ext cx="1377049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Les écarts qui comptent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548000"/>
          <a:ext cx="11160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0000"/>
                <a:gridCol w="3960000"/>
                <a:gridCol w="39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/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CAC 40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Work Sans"/>
                        </a:rPr>
                        <a:t>Côte d'Ivoire</a:t>
                      </a:r>
                    </a:p>
                  </a:txBody>
                  <a:tcPr marL="90000" marR="90000" marT="43200" marB="43200">
                    <a:solidFill>
                      <a:srgbClr val="232754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Raison d'être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27 sur 40, souvent statutaire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7 sur 20, sous forme de mission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Signature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23 sur 40, 12 en anglais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4 sur 20, en français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Typographie publiée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6 sur 40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0 sur 20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Design system en ligne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AXA, ENGIE, Airbus, Michelin, Orange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Aucun relevé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Couleur dominante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Bleu (15 sur 40)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Orange et vert du drapeau pour les entreprises d'État</a:t>
                      </a:r>
                    </a:p>
                  </a:txBody>
                  <a:tcPr marL="90000" marR="90000" marT="43200" marB="43200">
                    <a:solidFill>
                      <a:srgbClr val="F7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32754"/>
                          </a:solidFill>
                          <a:latin typeface="Work Sans"/>
                        </a:rPr>
                        <a:t>Évolution récente de l'identité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Refontes surtout entre 2015 et 2025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B2A35"/>
                          </a:solidFill>
                          <a:latin typeface="Work Sans"/>
                        </a:rPr>
                        <a:t>Moov Africa (signature, 2026), PETROCI (logo « 50 ans », 2025)</a:t>
                      </a:r>
                    </a:p>
                  </a:txBody>
                  <a:tcPr marL="90000" marR="90000" marT="43200" marB="43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Huit enseignements pour nos marques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48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548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1. Écrire la raison d'être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961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Une phrase : un verbe, un bénéficiaire, un bénéfice. Un manque en Côte d'Ivoire, donc un avantage.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0000" y="1548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0000" y="1548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0000" y="1638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2. Une signature de 3 à 6 mots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0000" y="1961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 français pour le grand public ivoirien, avec une promesse plutôt qu'un métier.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2700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0000" y="2700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000" y="2790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3. Un symbole qui vit seul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3113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Pour l'icône des réseaux et de l'application, comme l'oie d'Accor ou le pingouin de Wave.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0000" y="2700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0000" y="2700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0000" y="2790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4. Publier ses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0000" y="3113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Couleurs en hexadécimal, CMJN, polices : c'est ce qui manque le plus aux marques ivoiriennes.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" y="3852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0000" y="3852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5. Sortir du bleu par défaut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4265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Le bleu est saturé au CAC 40 et dans la fintech ; l'orange, le vert ou l'or distinguent.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0000" y="3852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0000" y="3852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0000" y="3942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6. Un ton nommé en trois mots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0000" y="4265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Engagé, proche, technique : le choisir, puis l'appliquer partout.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0000" y="5004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0000" y="5004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000" y="5094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7. Ancrer localement une marque de groupe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" y="5417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Une signature et des récits ivoiriens, comme « Orange est là » ou « Voir Grand ».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0000" y="5004000"/>
            <a:ext cx="5490000" cy="972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0000" y="5004000"/>
            <a:ext cx="54000" cy="972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0000" y="5094000"/>
            <a:ext cx="5202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32754"/>
                </a:solidFill>
                <a:latin typeface="Work Sans"/>
              </a:rPr>
              <a:t>8. Profiter des anniversaires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0000" y="5417999"/>
            <a:ext cx="5202000" cy="504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B2A35"/>
                </a:solidFill>
                <a:latin typeface="Work Sans"/>
              </a:rPr>
              <a:t>Moov Africa (20 ans, nouvelle signature) et PETROCI (50 ans, logo anniversaire) en ont fait un temps fort de marque.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5999" cy="6858000"/>
          </a:xfrm>
          <a:prstGeom prst="rect">
            <a:avLst/>
          </a:prstGeom>
          <a:solidFill>
            <a:srgbClr val="007A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324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007ABB"/>
                </a:solidFill>
                <a:latin typeface="Space Grotesk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540000"/>
            <a:ext cx="9720000" cy="792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32754"/>
                </a:solidFill>
                <a:latin typeface="Funnel Display"/>
              </a:rPr>
              <a:t>Notre grille de contrôle, tirée du benchmark</a:t>
            </a:r>
          </a:p>
        </p:txBody>
      </p:sp>
      <p:pic>
        <p:nvPicPr>
          <p:cNvPr id="5" name="Picture 4" descr="logo_mstudio_couleur_fond_cl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000" y="288000"/>
            <a:ext cx="1314783" cy="43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0000" y="6372000"/>
            <a:ext cx="11160000" cy="10800"/>
          </a:xfrm>
          <a:prstGeom prst="rect">
            <a:avLst/>
          </a:prstGeom>
          <a:solidFill>
            <a:srgbClr val="E4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426000"/>
            <a:ext cx="900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Work Sans"/>
              </a:rPr>
              <a:t>Mstudio · Benchmark marque et identité · CAC 40 et Côte d'Ivoire · octobre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40000" y="6426000"/>
            <a:ext cx="1260000" cy="288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8F8F9A"/>
                </a:solidFill>
                <a:latin typeface="Space Grotesk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67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584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Raison d'être en une phrase, publiée sur le site.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2358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000" y="2268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Signature de 3 à 6 mots, en français si la cible est ivoirienne.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042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2952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Logo avec un symbole utilisable seul, en couleur et en blanc.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3726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3636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Couleurs en HEX, RVB et CMJN ; polices nommées et téléchargeables.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410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4320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Ton décrit en trois mots, avec des exemples de phrases à dire et à ne pas dire.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5094000"/>
            <a:ext cx="90000" cy="90000"/>
          </a:xfrm>
          <a:prstGeom prst="rect">
            <a:avLst/>
          </a:prstGeom>
          <a:solidFill>
            <a:srgbClr val="00A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5004000"/>
            <a:ext cx="10620000" cy="576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A35"/>
                </a:solidFill>
                <a:latin typeface="Work Sans"/>
              </a:rPr>
              <a:t>Architecture de marque choisie et écrite avant la deuxième offre.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5903999"/>
            <a:ext cx="11160000" cy="360000"/>
          </a:xfrm>
          <a:prstGeom prst="rect">
            <a:avLst/>
          </a:prstGeom>
          <a:noFill/>
        </p:spPr>
        <p:txBody>
          <a:bodyPr wrap="square" anchor="t" lIns="36000" rIns="360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F8F9A"/>
                </a:solidFill>
                <a:latin typeface="Work Sans"/>
              </a:rPr>
              <a:t>Cette grille sert de contrôle à chaque nouvelle plateforme ou charte de marque produite pour Mstudio et ses startups.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