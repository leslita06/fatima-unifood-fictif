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648000"/>
            <a:ext cx="2203279" cy="57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0000" y="2340000"/>
            <a:ext cx="108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592000"/>
            <a:ext cx="10080000" cy="18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Funnel Display"/>
              </a:rPr>
              <a:t>Benchmark presse et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936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8"/>
                </a:solidFill>
                <a:latin typeface="Work Sans"/>
              </a:rPr>
              <a:t>Comment les 40 sociétés du CAC 40, 20 grandes entreprises ivoiriennes et le gouvernement ivoirien parlent aux médias, gèrent leurs crises et portent leur image publique.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976000"/>
            <a:ext cx="1008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ED4"/>
                </a:solidFill>
                <a:latin typeface="Space Grotesk"/>
              </a:rPr>
              <a:t>Relevé du 24 octobre 2026 · sources publiques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Sommaire</a:t>
            </a:r>
          </a:p>
        </p:txBody>
      </p:sp>
      <p:pic>
        <p:nvPicPr>
          <p:cNvPr id="4" name="Picture 3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7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584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1. Méthode et périmètre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890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65 entités, ce qui a été relevé et les limites.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610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520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2. Le standard CAC 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Espaces presse, porte-parole, réseaux, médias de marque, crises.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546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3456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3. Les grandes entreprises ivoiriennes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762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Une parole qui passe par la presse et Facebook.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82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4392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4. La communication du gouvernement ivoirien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698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Présidence, porte-parole, CICG, marque pays.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5418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5328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5. Ce qu'on en retient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5634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 écarts et la grille presse que nous appliquerons.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Méthode et 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65 entités relevées sur sources publiques le 24 octobre 2026.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Ce qui a été relevé pour chaque entité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L'espace presse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Adresse, contenu (communiqués, kit média, photothèque), contacts nommés ou génériques.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 porte-parole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Le dirigeant le plus visible publiquement et sa présence sur LinkedIn.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réseaux et les médias propres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Abonnés lus le jour du relevé, magazines, podcasts, sites éditoriaux.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crises et la réputation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Une crise d'image 2024-2026 et la réponse donnée ; classements de marque.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6048000"/>
            <a:ext cx="1116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Les abonnés LinkedIn viennent souvent des extraits de recherche des pages, pas des pages elles-mêmes : ordres de grandeur. Facebook se lit mal sans compte, d'où des cases vides côté ivoirien.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Le standard 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Ce qu'un grand groupe met à disposition des journalistes.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L'équipement presse du CAC 40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39/40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espaces presse en ligne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Seul Hermès n'a pas d'espace presse groupe identifié : un choix de discrétion cohérent avec sa marque.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4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4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4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13+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avec des attachés de presse nommés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4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Accor, Orange, Safran (20 contacts), LVMH, Sanofi, Crédit Agricole…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8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8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8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4/40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communiqués certifiés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Bouygues, L'Oréal, Société Générale et TotalEnergies authentifient leurs communiqués (Wiztrust), contre les faux.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2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2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2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11/40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2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médias de marque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2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Magazines et podcasts : LVMH, Kering, Schneider, Orange Hello Future, Bureau Veritas…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Ce qu'on trouve dans un espace presse de référence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communiqués, datés et filtrables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Par thème, pays ou filiale (Safran, Stellantis, Pernod Ricard), en PDF téléchargeable.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Des contacts directs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nom, une adresse, un téléphone, parfois « 24 h sur 24 » (Michelin, Legrand).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La matière visuelle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Médiathèque, logos et règles d'usage (ENGIE, Vinci, Publicis, Renault Brandhub).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porte-parole et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Page d'experts mobilisables (Schneider Electric), abonnement aux alertes (Safran, Stellantis).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LinkedIn, le premier canal corporate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L'Oréal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8000" y="1648800"/>
            <a:ext cx="6840000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4000" y="158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7 113 765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94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Schneider Electric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8000" y="2008800"/>
            <a:ext cx="5589962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962" y="194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5 813 696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30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TotalEnergies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8000" y="2368800"/>
            <a:ext cx="5263806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7806" y="230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5 474 486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66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Sanofi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8000" y="2728800"/>
            <a:ext cx="4873735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7735" y="266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5 068 802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02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Danone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8000" y="3088800"/>
            <a:ext cx="3951266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5266" y="302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4 109 412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38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LVMH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8000" y="3448800"/>
            <a:ext cx="2853781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7781" y="338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2 968 002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374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Stellantis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8000" y="3808800"/>
            <a:ext cx="2553880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7880" y="374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2 656 097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410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Capgemini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8000" y="4168800"/>
            <a:ext cx="2451165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5165" y="410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2 549 271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446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Accor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8000" y="4528800"/>
            <a:ext cx="2309411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3411" y="446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2 401 844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482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Thales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8000" y="4888800"/>
            <a:ext cx="2063350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7350" y="482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2 145 934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518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Hermès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8000" y="5248800"/>
            <a:ext cx="1966907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0907" y="518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2 045 631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554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Bureau Veritas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8000" y="5608800"/>
            <a:ext cx="1723624" cy="2304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87624" y="5544000"/>
            <a:ext cx="1440000" cy="360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1 792 611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5940000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Abonnés des pages entreprise LinkedIn relevés le 24/10/2026 (extraits de recherche ou agrégateur, ordres de grandeur). 12 premiers sur 27 chiffres trouvés.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 dirigeant, visage de la marque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 PDG ou DG porte la parole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Dans les 40 groupes, le dirigeant est la figure publique : Bernard Arnault (LVMH), Patrick Pouyanné (TotalEnergies), Christel Heydemann (Orange).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changements de dirigeant font l'actualité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Sanofi (Belén Garijo, mai 2026), Kering (Luca de Meo, 2025), Renault Group (François Provost) : un nouveau récit accompagne chaque arrivée.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 dirigeant s'excuse en personne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Antonio Filosa (Stellantis) présente des excuses aux clients du moteur 1.2 PureTech.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Un mot de trop coûte 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Avril 2025 : les propos d'Olivier Andriès (Safran) sur les villes écologistes font polémique avant que l'usine de Rennes soit confirmée.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Crises 2024-2026 : quatre manières de répondre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Démentir point par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Eurofins face à Muddy Waters (2024) : plusieurs démentis publics détaillés en quelques jours.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Réparer et indemniser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Orange après la panne nationale du 21/10/2026 : dédommagement annoncé dès le lendemain.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Agir vite sur la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Airbus rappelle environ 6 000 A320 (novembre 2025) ; Capgemini vend sa filiale mise en cause (2026).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Contre-attaquer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LVMH dénonce « une campagne de presse manifestement coordonnée » (décembre 2025) ; TotalEnergies publie une « mise au point » après sa condamnation pour greenwashing (octobre 2025).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6048000"/>
            <a:ext cx="1116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28 crises documentées sur 40 groupes. Détail et sources dans le tableur, onglet « Presse et image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Les grandes entreprises ivoiriennes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Une parole qui passe par la presse, Facebook et les dirigeants.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L'équipement presse en Côte d'Ivoire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espaces presse en ligne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MTN (salle de presse), Société Générale (site institutionnel), Ecobank (salle de presse du groupe).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4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4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4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attaché de presse nommé en ligne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4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Les communiqués passent par l'AIP, Fraternité Matin, Abidjan.net, Koaci, Linfodrome.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8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8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8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11/20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crises documentées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Surtout la qualité de service : télécoms, électricité, eau.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2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2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2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3/20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2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médias de marque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2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Rapport annuel intégré d'Orange, rapport RSE de SIFCA, bourses médias de MTN.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Facebook, le premier canal grand public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Moov Africa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8000" y="1655280"/>
            <a:ext cx="6840000" cy="2534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4000" y="1584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2 865 066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980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MTN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8000" y="2051280"/>
            <a:ext cx="1918846" cy="2534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2846" y="1980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803 746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376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Wave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8000" y="2447280"/>
            <a:ext cx="1175982" cy="2534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9982" y="2376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492 583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772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NSIA Banque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8000" y="2843280"/>
            <a:ext cx="399167" cy="2534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3167" y="2772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167 199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168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Banque Atlantique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8000" y="3239280"/>
            <a:ext cx="84654" cy="2534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8654" y="3168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35 459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5940000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Abonnés lus sur les pages Facebook officielles le 24/10/2026. Orange affiche 31,8 millions mais la page semble rattachée au groupe mondial : chiffre écarté. Les autres pages ne se lisent pas sans compte.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Crises 2024-2026 : la qualité de service au premier plan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Amendes du régulateur (ARTCI)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Orange CI 7 milliards FCFA, MTN 3,27 milliards, Moov Africa 2,89 milliards pour la qualité de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Électricité et 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CIE : communiqué du 28 février 2026 sur les délestages ; SODECI : coupures à Cocody en septembre 2026, communiqués relayés par la presse.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Concurrence ouverte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Wave porte plainte devant le régulateur contre les opérateurs : la crise devient un argument de marque.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Réputation en ligne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Novembre 2025 : un youtubeur étranger accuse Air Côte d'Ivoire ; la polémique se joue sur les réseaux, pas dans la presse.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Récits dominants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360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331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leader proche de ses clients à chaque instant (« Orange est là »).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1548000"/>
            <a:ext cx="360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0" y="1638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MTN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1961999"/>
            <a:ext cx="331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Le premier opérateur par abonnés, qui a « grandi avec la Côte d'Ivoire » (20 ans).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0000" y="1548000"/>
            <a:ext cx="360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0" y="1638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Moov Africa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1961999"/>
            <a:ext cx="331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L'ancien outsider qui croit en la jeunesse et « voit grand 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3852000"/>
            <a:ext cx="360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3942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4265999"/>
            <a:ext cx="331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Les utilisateurs sont venus pour le prix, mais ils sont restés pour la qualité du service.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0" y="3852000"/>
            <a:ext cx="360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0000" y="3942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0000" y="4265999"/>
            <a:ext cx="331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Le service public qui s'excuse, explique et investit.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0000" y="3852000"/>
            <a:ext cx="360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0000" y="3942000"/>
            <a:ext cx="331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Air Côte d'Ivoire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4265999"/>
            <a:ext cx="331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Démocratiser le voyage confortable en Afrique de l'Ouest 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La communication du gouvernement ivoirien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Présidence, porte-parole, CICG et marque pays.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GOUVERNEMENT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Qui parle au nom de l'État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548000"/>
          <a:ext cx="1116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3960000"/>
                <a:gridCol w="39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Entité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Ce qu'elle publie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Qui porte la parole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Présidence de la République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presidence.ci : communiqués de la Présidence, nominations, comptes rendus.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Alassane Ouattara ; la secrétaire générale Masséré Touré-Koné lit les décrets.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Gouvernement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gouv.ci : actualités par thème, Gouv'Photo, comptes rendus du Conseil des ministres.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Robert Beugré Mambé, Premier ministre, reconduit le 21 janvier 2026.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Ministère de la Communication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communication.gouv.ci : actualités, chiffres de la presse.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Amadou Coulibaly, ministre de la Communication et porte-parole du gouvernement.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CICG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cicg.gouv.ci : agenda, tribunes, points de presse, numéro Allo 101.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Les ministres invités aux tribunes.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Marque pays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« Sublime Côte d'Ivoire », portée par le ministère du Tourisme.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Siandou Fofana, ministre du Tourisme et des Loisirs.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GOUVERNEMENT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rendez-vous et les canaux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 compte rendu du Conseil des ministres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Lu par le porte-parole du gouvernement, c'est le rendez-vous d'information le plus repris par la presse.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tribunes du CICG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ministre vient expliquer sa politique devant les journalistes : le format « conférence de presse » de l'État.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Des comptes sur tous les réseaux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Facebook, X, Instagram, TikTok et YouTube pour gouv.ci ; X, Facebook, TikTok et YouTube pour le ministère de la Communication.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Une identité d'État sans charte publiée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Armoiries, couleurs orange, blanc et vert, devise « Union – Discipline – Travail ». Une charte graphique unique a été validée en Conseil des ministres le 19 avril 2023, sans document publié.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GOUVERNEMENT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L'image internationale du pays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Soft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Côte d'Ivoire 94e mondiale au Brand Finance Global Soft Power Index 2025 (34,1 sur 100).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Marque touristique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Sublime Côte d'Ivoire » ; objectif de 10 millions de visiteurs par an sur 2026-2030 (ministère du Tourisme).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Partenariats sportifs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Partenariat avec l'Olympique de Marseille (juillet 2026) pour promouvoir la destination.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 tourisme pèse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8,7 % du PIB en 2025 et plus de 6,7 millions de visiteurs selon le ministère (Agence Ecofin, septembre 2026).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Ce qu'on en retient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Les écarts et la grille presse que nous appliquerons.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écarts qui comptent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548000"/>
          <a:ext cx="1116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3960000"/>
                <a:gridCol w="39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/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CAC 40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Côte d'Ivoire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Espace presse en ligne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39 sur 40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3 sur 20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Contact presse nommé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Au moins 13 sur 40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Aucun relevé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Canal corporate principal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LinkedIn (jusqu'à 7,1 M d'abonnés)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Facebook (jusqu'à 2,9 M) et presse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Média de marque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11 sur 40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3 sur 20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Communiqués certifiés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4 sur 40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Aucun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Nature des crises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Justice, emploi, produits, gouvernance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Qualité de service, régulateur, réseaux sociaux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Huit enseignements pour nos marques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1. Ouvrir un espace presse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Une page suffit : communiqués datés, kit média, photos, un contact. 3 entreprises ivoiriennes sur 20 en ont 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2. Nommer un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 nom, un e-mail, un téléphone : les journalistes appellent ceux qu'ils peuvent joindre.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2700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2700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2790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3. Écrire pour l'AIP et la presse locale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113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La reprise d'un communiqué passe par l'AIP, Fraternité Matin, Abidjan.net : leur format est le nôtre.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2700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2700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2790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4. Facebook pour le public, LinkedIn pour les décideurs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3113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Les deux comptes ont des rôles différents ; les investisseurs regardent LinkedIn.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852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" y="3852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5. Préparer la crise de qualité de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4265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 message d'attente prêt à publier, comme la CIE ou Orange, avant la panne.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0000" y="3852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0000" y="3852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6. Faire parler le dirigeant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0000" y="4265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Au CAC 40, le dirigeant est le visage de la marque, y compris pour s'excuser.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5004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0000" y="5004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5094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7. Viser les tribunes publiques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5417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 événement du CICG ou d'un ministère est une vitrine pour une startup lauréate ou partenaire.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0000" y="5004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0000" y="5004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0000" y="5094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8. Avoir un média propre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0000" y="5417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Une lettre, un podcast, une rubrique : 11 groupes du CAC 40 le font, très peu en Côte d'Ivoire.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Notre grille presse, tirée du benchmark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presse et image · CAC 40, Côte d'Ivoire et gouvernement ivoirien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67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584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Une page presse en ligne avec communiqués, kit média, photos et un contact nommé.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268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Une biographie et une photo du dirigeant prêtes à envoyer.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042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952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Un fichier de médias : AIP, quotidiens, sites d'information, radios, podcasts.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726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3636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Un message d'attente de crise prêt pour les trois scénarios les plus probables.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10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4320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Une page LinkedIn pour les décideurs, une page Facebook pour le public.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509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5004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Un rendez-vous éditorial régulier : lettre, podcast ou rubrique.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903999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Cette grille sert de contrôle pour chaque startup de Mstudio avant sa première prise de parole publique.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