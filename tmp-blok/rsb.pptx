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image" Target="../media/image1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822960"/>
            <a:ext cx="4616544" cy="5394960"/>
          </a:xfrm>
          <a:prstGeom prst="rect">
            <a:avLst/>
          </a:prstGeom>
        </p:spPr>
      </p:pic>
      <p:pic>
        <p:nvPicPr>
          <p:cNvPr id="4" name="Picture 3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011680" cy="7177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874519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7665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F4A00"/>
                </a:solidFill>
                <a:latin typeface="Space Grotesk"/>
              </a:rPr>
              <a:t>AUDIT RÉSEAUX SOCIAUX, SITE WEB ET 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76656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pace Grotesk"/>
              </a:rPr>
              <a:t>Ce qui marche, ce qui bloque, ce qu’on fait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6583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C9D3E8"/>
                </a:solidFill>
                <a:latin typeface="Space Grotesk"/>
              </a:rPr>
              <a:t>LinkedIn · Facebook · blok.africa · parcours de demande de cotation · vitesse · blog · relations publiques et événementiel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65836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Relevés effectués le 30 octobre 2026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C9D3E8"/>
                </a:solidFill>
                <a:latin typeface="Space Grotesk"/>
              </a:rPr>
              <a:t>BLOK TECHNOLOGY · Abidjan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Sommaire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972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4A00"/>
                </a:solidFill>
                <a:latin typeface="Space Grotes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64592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Space Grotesk"/>
              </a:rPr>
              <a:t>L’essentiel et la méthode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121408"/>
            <a:ext cx="3840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B7080"/>
                </a:solidFill>
                <a:latin typeface="Space Grotesk"/>
              </a:rPr>
              <a:t>Ce qu’il faut retenir, comment on a mesuré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3716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1600200"/>
            <a:ext cx="10972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4A00"/>
                </a:solidFill>
                <a:latin typeface="Space Grotes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64592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Space Grotesk"/>
              </a:rPr>
              <a:t>Réseaux sociaux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121408"/>
            <a:ext cx="3840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B7080"/>
                </a:solidFill>
                <a:latin typeface="Space Grotesk"/>
              </a:rPr>
              <a:t>LinkedIn et Facebook : ce qui marche, ce qui ne marche pas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10972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4A00"/>
                </a:solidFill>
                <a:latin typeface="Space Grotes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24612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Space Grotesk"/>
              </a:rPr>
              <a:t>Site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721608"/>
            <a:ext cx="3840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B7080"/>
                </a:solidFill>
                <a:latin typeface="Space Grotesk"/>
              </a:rPr>
              <a:t>Message, parcours jusqu’au devis, blocages, vitesse, affichage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29718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200400"/>
            <a:ext cx="10972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4A00"/>
                </a:solidFill>
                <a:latin typeface="Space Grotesk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4612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Space Grotesk"/>
              </a:rPr>
              <a:t>Blog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721608"/>
            <a:ext cx="3840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B7080"/>
                </a:solidFill>
                <a:latin typeface="Space Grotesk"/>
              </a:rPr>
              <a:t>Sujets, régularité, référencement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10972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4A00"/>
                </a:solidFill>
                <a:latin typeface="Space Grotesk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84632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Space Grotesk"/>
              </a:rPr>
              <a:t>Relations publiques et événementiel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321808"/>
            <a:ext cx="3840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B7080"/>
                </a:solidFill>
                <a:latin typeface="Space Grotesk"/>
              </a:rPr>
              <a:t>Acquis et propositions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457200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79" y="4800600"/>
            <a:ext cx="10972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>
                <a:solidFill>
                  <a:srgbClr val="FF4A00"/>
                </a:solidFill>
                <a:latin typeface="Space Grotesk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84632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002060"/>
                </a:solidFill>
                <a:latin typeface="Space Grotesk"/>
              </a:rPr>
              <a:t>Recommandations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321808"/>
            <a:ext cx="384048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B7080"/>
                </a:solidFill>
                <a:latin typeface="Space Grotesk"/>
              </a:rPr>
              <a:t>Effort, indicateur à suivre, plan à 90 jours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L’essentiel et la 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qu’il faut retenir en une page, et comment chaque chiffre a été obtenu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L’essentiel en une page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4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280160"/>
            <a:ext cx="1060704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Space Grotesk"/>
              </a:rPr>
              <a:t>BLOK a une </a:t>
            </a:r>
            <a:r>
              <a:rPr sz="1350" b="1">
                <a:solidFill>
                  <a:srgbClr val="FFFFFF"/>
                </a:solidFill>
                <a:latin typeface="Space Grotesk"/>
              </a:rPr>
              <a:t>bonne base</a:t>
            </a:r>
            <a:r>
              <a:rPr sz="1350" b="0">
                <a:solidFill>
                  <a:srgbClr val="FFFFFF"/>
                </a:solidFill>
                <a:latin typeface="Space Grotesk"/>
              </a:rPr>
              <a:t> : une page LinkedIn vivante, un bouton de devis en haut de l’accueil, un blog bien écrit. Mais </a:t>
            </a:r>
            <a:r>
              <a:rPr sz="1350" b="1">
                <a:solidFill>
                  <a:srgbClr val="FFFFFF"/>
                </a:solidFill>
                <a:latin typeface="Space Grotesk"/>
              </a:rPr>
              <a:t>trois freins</a:t>
            </a:r>
            <a:r>
              <a:rPr sz="1350" b="0">
                <a:solidFill>
                  <a:srgbClr val="FFFFFF"/>
                </a:solidFill>
                <a:latin typeface="Space Grotesk"/>
              </a:rPr>
              <a:t> empêchent ces atouts de produire des demandes de cotation : un site lent sur téléphone, des prix cachés, et des contenus qui ne renvoient jamais vers le devis.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249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marche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3246120" cy="301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LinkedIn : 1 694 abonnés, 9 posts en 4 semaines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posts « terrain et équipe » font 44 à 52 réactions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 devis par fichier (PDF, photo, Excel) est visible dès l’accueil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Deux articles de blog sourcés (ANStat, Gouvernement)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37744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79" y="260604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27249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ne marche pas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154680"/>
            <a:ext cx="3246120" cy="301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Les posts « conseil produit » plafonnent à 8-10 réactions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: 20 abonnés, rien publié depuis le 16 septembre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Accueil sur téléphone : 33 à 40 s avant l’affichage complet (test en 4G lente)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Prix cachés sur chaque produit, sans connexion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Blog : 2 articles en 4 mois, 3 rubriques sur 5 vides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2377440"/>
            <a:ext cx="36118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260604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72491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proposons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3154680"/>
            <a:ext cx="3246120" cy="301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Alléger les images du site (−5,6 Mo sur l’accueil)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lien « Envoyez votre liste » dans chaque post et article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Afficher des prix « à partir de » sur les produits courants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articles par mois sur ce que les acheteurs cherchent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baromètre mensuel des prix pour la presse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Notre bulletin : où en est chaque canal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relevés du 30/10/2026 ; vitesse mesurée avec l’outil d’audit de Google (Lighthouse), 2 passages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5 / 39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1110996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6172200"/>
                <a:gridCol w="128016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Canal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État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Exemple qui le montre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Priorité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● Actif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9 posts propres en 4 semaines ; 27 réactions en moyenne pour 1 694 abonnés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Facebook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● À l’arrêt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20 abonnés ; dernier post le 16 sept., 1 réaction ; page « Fermé en ce moment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Message du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● Flou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 promesses différentes : site, LinkedIn, couverture Facebook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Parcours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● Freins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Il faut un fichier pour commencer ; aucun délai de réponse annoncé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Vitesse téléphone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● Critique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Note 36-37/100 ; page de 8,9 Mo ; une image seule pèse 1,2 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4A00"/>
                          </a:solidFill>
                          <a:latin typeface="Space Grotesk"/>
                        </a:rPr>
                        <a:t>Haute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Blog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● Démarrage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articles (6 juillet, 22 sept.) ; 81 et 26 vues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Presse et événements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● Sous-exploité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Adhésion GIBTP : 42 réactions, 6 commentaires ; aucune page presse sur le site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Moyenne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Méthode : d’où viennent les chiffres</a:t>
            </a:r>
          </a:p>
        </p:txBody>
      </p:sp>
      <p:pic>
        <p:nvPicPr>
          <p:cNvPr id="5" name="Picture 4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aucune donnée interne (statistiques, ventes) n’a été fournie : tout est mesuré depuis l’extérieur, comme le verrait un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6 /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36118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avons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3246120" cy="40233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Lu les 10 dernières publications de la page LinkedIn et la page Facebook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Parcouru le site comme un acheteur, sur ordinateur (1440 px) et sur téléphone (390 px)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Déposé un fichier de test jusqu’au formulaire de devis,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sans l’envoyer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Mesuré la vitesse de l’accueil 2 fois (téléphone et ordinateur)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Lu le plan du site et le code reçu par les moteurs de recherche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Lu les 2 articles du blog et testé leurs rubriques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118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55448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733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Comment lire les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03120"/>
            <a:ext cx="3246120" cy="40233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Vitesse : note de 0 à 100 donnée par l’outil de Google ; au-dessus de 90 = bon, en dessous de 50 = mauvais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Test téléphone : réseau 4G lente simulé, comme sur un chantier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Réactions : « J’aime » et autres réactions visibles publiquement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Effort :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Faible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= moins de 2 jours ;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Moyen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= 1 à 2 semaines ;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Fort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= plus d’un mois ou un prestataire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6118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55448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733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n’avons pas vu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103120"/>
            <a:ext cx="3246120" cy="40233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Statistiques internes LinkedIn et Facebook (portée, clics)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Statistiques du site et de Google (visites, recherches)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Nombre réel de demandes de devis reçues et transformées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Ce qui se passe après « Démarrer l’analyse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→ Avec ces accès, nous pourrons chiffrer chaque recommandation en devis gagnés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Réseaux sociaux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LinkedIn et Facebook : ce qui marche, ce qui ne marche pas, preuves à l’appui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53162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5316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RÉSEAUX SOCIAUX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Deux pages, deux situations très différentes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linkedin.com/company/blokafrica et facebook.com/profile.php?id=61590236986609, consultés le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8 / 39</a:t>
            </a:r>
          </a:p>
        </p:txBody>
      </p:sp>
      <p:pic>
        <p:nvPicPr>
          <p:cNvPr id="11" name="Picture 10" descr="c_li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035040" cy="3160166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4577486"/>
            <a:ext cx="6035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Page LinkedIn : 1 694 abonnés, 20 employés affichés</a:t>
            </a:r>
          </a:p>
        </p:txBody>
      </p:sp>
      <p:pic>
        <p:nvPicPr>
          <p:cNvPr id="13" name="Picture 12" descr="c_f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71600"/>
            <a:ext cx="3572423" cy="4206240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903720" y="5623559"/>
            <a:ext cx="3572423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Page Facebook : 20 abonnés, dernier post le 16 septembre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60350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28032"/>
            <a:ext cx="576072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LinkedIn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: 9 publications propres en 4 semaines, soit 2 par semaine.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Facebook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: 1 réaction sur le dernier post ; « Pas encore évalué (0 avis) 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Incohérence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: LinkedIn annonce « +10 00 références » (faute de frappe), Facebook « +10000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53162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5316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RÉSEAUX SOCIAUX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LinkedIn : les 10 dernières publications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LinkedIn BLOK TECHNOLOGY, relevé public du 30/10/2026 (âge des posts à cette date)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9 / 39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25880"/>
          <a:ext cx="11109960" cy="4928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943600"/>
                <a:gridCol w="1600200"/>
                <a:gridCol w="1051560"/>
                <a:gridCol w="1051560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Publié il y a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Sujet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Réactions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Commentaires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3 semaines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Visite de la centrale à béton de PFO Africa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Terrain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4A00"/>
                          </a:solidFill>
                          <a:latin typeface="Space Grotesk"/>
                        </a:rPr>
                        <a:t>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3 semaines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Lancement des valeurs de BLOK (4 mots, 4 intervenants)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Équipe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4A00"/>
                          </a:solidFill>
                          <a:latin typeface="Space Grotesk"/>
                        </a:rPr>
                        <a:t>49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4 jours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Moment de prévention du cancer du sein (Octobre rose)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Équipe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4A00"/>
                          </a:solidFill>
                          <a:latin typeface="Space Grotesk"/>
                        </a:rPr>
                        <a:t>44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4 semaines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Republication : « Le GIBTP accueille 4 nouveaux adhérents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Réseau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42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 semaine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BLOK recrute un(e) chargé(e) de marketing digital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Recrutement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2 semaines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Salut, c’est Gilo » : la mascotte de la marque Logis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Produit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3 jours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Portrait collaborateur : Abdul Saliou Bambara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Équipe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2 semaines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Un devis, plusieurs appels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Conseil / offre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 semaine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Peut-on anticiper les besoins d’un chantier grâce aux données ?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Conseil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1 jour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Un casque ne protège pas de tout » (équipements de protection)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Conseil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06781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306781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RÉSEAUX SOCIAUX · CE QUI MARCHE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qui marche : les gens et le terrain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LinkedIn BLOK TECHNOLOGY,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10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les 3 posts les plus réactifs montrent des personnes réelles, pas un produit. Ils font 5 fois plus que les posts « conseil ».</a:t>
            </a:r>
          </a:p>
        </p:txBody>
      </p:sp>
      <p:pic>
        <p:nvPicPr>
          <p:cNvPr id="14" name="Picture 13" descr="v_terrain.jpg"/>
          <p:cNvPicPr>
            <a:picLocks noChangeAspect="1"/>
          </p:cNvPicPr>
          <p:nvPr/>
        </p:nvPicPr>
        <p:blipFill>
          <a:blip r:embed="rId3"/>
          <a:srcRect t="21926" b="21926"/>
          <a:stretch>
            <a:fillRect/>
          </a:stretch>
        </p:blipFill>
        <p:spPr>
          <a:xfrm>
            <a:off x="548640" y="2057400"/>
            <a:ext cx="2377440" cy="2377440"/>
          </a:xfrm>
          <a:prstGeom prst="rect">
            <a:avLst/>
          </a:prstGeom>
          <a:ln>
            <a:solidFill>
              <a:srgbClr val="E4E8F0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640080" y="2148840"/>
            <a:ext cx="1042416" cy="256032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10424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52 réactions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Visite PFO Africa</a:t>
            </a:r>
          </a:p>
        </p:txBody>
      </p:sp>
      <p:pic>
        <p:nvPicPr>
          <p:cNvPr id="18" name="Picture 17" descr="v_valeurs.jpg"/>
          <p:cNvPicPr>
            <a:picLocks noChangeAspect="1"/>
          </p:cNvPicPr>
          <p:nvPr/>
        </p:nvPicPr>
        <p:blipFill>
          <a:blip r:embed="rId4"/>
          <a:srcRect l="26642" r="26642"/>
          <a:stretch>
            <a:fillRect/>
          </a:stretch>
        </p:blipFill>
        <p:spPr>
          <a:xfrm>
            <a:off x="3063240" y="2057400"/>
            <a:ext cx="2377440" cy="2377440"/>
          </a:xfrm>
          <a:prstGeom prst="rect">
            <a:avLst/>
          </a:prstGeom>
          <a:ln>
            <a:solidFill>
              <a:srgbClr val="E4E8F0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3154680" y="2148840"/>
            <a:ext cx="1042416" cy="256032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2148840"/>
            <a:ext cx="10424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49 réactions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4805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Lancement des valeurs</a:t>
            </a:r>
          </a:p>
        </p:txBody>
      </p:sp>
      <p:pic>
        <p:nvPicPr>
          <p:cNvPr id="22" name="Picture 21" descr="v_rose.jpg"/>
          <p:cNvPicPr>
            <a:picLocks noChangeAspect="1"/>
          </p:cNvPicPr>
          <p:nvPr/>
        </p:nvPicPr>
        <p:blipFill>
          <a:blip r:embed="rId5"/>
          <a:srcRect t="121" b="121"/>
          <a:stretch>
            <a:fillRect/>
          </a:stretch>
        </p:blipFill>
        <p:spPr>
          <a:xfrm>
            <a:off x="5577840" y="2057400"/>
            <a:ext cx="2377440" cy="2377440"/>
          </a:xfrm>
          <a:prstGeom prst="rect">
            <a:avLst/>
          </a:prstGeom>
          <a:ln>
            <a:solidFill>
              <a:srgbClr val="E4E8F0"/>
            </a:solidFill>
          </a:ln>
        </p:spPr>
      </p:pic>
      <p:sp>
        <p:nvSpPr>
          <p:cNvPr id="23" name="Rounded Rectangle 22"/>
          <p:cNvSpPr/>
          <p:nvPr/>
        </p:nvSpPr>
        <p:spPr>
          <a:xfrm>
            <a:off x="5669279" y="2148840"/>
            <a:ext cx="1042416" cy="256032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79" y="2148840"/>
            <a:ext cx="10424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44 réactions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4805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Octobre rose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057400"/>
            <a:ext cx="34747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228600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59" y="2404872"/>
            <a:ext cx="31089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Pourquoi ça marche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2834640"/>
            <a:ext cx="3108960" cy="33375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Des visages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: l’équipe, les intervenants, un partenaire reconnu (PFO Africa)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Des noms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: PFO Africa, le GIBTP ou un intervenant cité élargissent la portée à leur propre réseau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Du vrai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: photos prises sur place, pas d’image de banque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Mais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: ces posts parlent de BLOK, pas du client. Aucun ne dit comment demander un devis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7498079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Exemple précis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le post PFO Africa (52 réactions) montre l’équipe sur la centrale à béton mobilisée pour les échangeurs de Feh Kessé et d’Abobo. C’est le meilleur score des 10 derniers posts.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B7080"/>
                </a:solidFill>
                <a:latin typeface="Space Grotesk"/>
              </a:rPr>
              <a:t>Il se termine par « Merci aux équipes pour leur accueil », sans aucune invitation à envoyer sa liste de matériaux.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73989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373989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RÉSEAUX SOCIAUX · CE QUI NE MARCHE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qui ne marche pas : les conseils sans visage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LinkedIn BLOK TECHNOLOGY,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11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les posts utiles sur le métier (protection, données, devis) sont les moins vus : 8 à 10 réactions.</a:t>
            </a:r>
          </a:p>
        </p:txBody>
      </p:sp>
      <p:pic>
        <p:nvPicPr>
          <p:cNvPr id="14" name="Picture 13" descr="v_epi.jpg"/>
          <p:cNvPicPr>
            <a:picLocks noChangeAspect="1"/>
          </p:cNvPicPr>
          <p:nvPr/>
        </p:nvPicPr>
        <p:blipFill>
          <a:blip r:embed="rId3"/>
          <a:srcRect t="121" b="121"/>
          <a:stretch>
            <a:fillRect/>
          </a:stretch>
        </p:blipFill>
        <p:spPr>
          <a:xfrm>
            <a:off x="548640" y="2057400"/>
            <a:ext cx="2377440" cy="2377440"/>
          </a:xfrm>
          <a:prstGeom prst="rect">
            <a:avLst/>
          </a:prstGeom>
          <a:ln>
            <a:solidFill>
              <a:srgbClr val="E4E8F0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640080" y="2148840"/>
            <a:ext cx="964692" cy="256032"/>
          </a:xfrm>
          <a:prstGeom prst="roundRect">
            <a:avLst>
              <a:gd name="adj" fmla="val 8000"/>
            </a:avLst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9646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8 réactions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Protection sur chantier</a:t>
            </a:r>
          </a:p>
        </p:txBody>
      </p:sp>
      <p:pic>
        <p:nvPicPr>
          <p:cNvPr id="18" name="Picture 17" descr="v_data.jpg"/>
          <p:cNvPicPr>
            <a:picLocks noChangeAspect="1"/>
          </p:cNvPicPr>
          <p:nvPr/>
        </p:nvPicPr>
        <p:blipFill>
          <a:blip r:embed="rId4"/>
          <a:srcRect t="121" b="121"/>
          <a:stretch>
            <a:fillRect/>
          </a:stretch>
        </p:blipFill>
        <p:spPr>
          <a:xfrm>
            <a:off x="3063240" y="2057400"/>
            <a:ext cx="2377440" cy="2377440"/>
          </a:xfrm>
          <a:prstGeom prst="rect">
            <a:avLst/>
          </a:prstGeom>
          <a:ln>
            <a:solidFill>
              <a:srgbClr val="E4E8F0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3154680" y="2148840"/>
            <a:ext cx="964692" cy="256032"/>
          </a:xfrm>
          <a:prstGeom prst="roundRect">
            <a:avLst>
              <a:gd name="adj" fmla="val 8000"/>
            </a:avLst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2148840"/>
            <a:ext cx="9646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9 réactions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480560"/>
            <a:ext cx="2377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Anticiper avec les données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2057400"/>
            <a:ext cx="5989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0" y="2194560"/>
            <a:ext cx="64008" cy="10515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2148840"/>
            <a:ext cx="5715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Pas de personne, pas d’histoire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560320"/>
            <a:ext cx="571500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 post « Un casque ne protège pas de tout » (8 réactions) montre un casque et des gants posés sur une table.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rien n’arrête le défilement ; aucun client ni technicien BLOK ne prend la parole.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3474720"/>
            <a:ext cx="5989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0" y="3611879"/>
            <a:ext cx="64008" cy="10515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566160"/>
            <a:ext cx="5715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Un lien vers le site, jamais vers le devis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977639"/>
            <a:ext cx="571500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 post « Un devis, plusieurs appels » (10 réactions) décrit le problème du devis… et renvoie vers les numéros de téléphone.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le lecteur convaincu ne sait pas quoi faire en un clic.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4892040"/>
            <a:ext cx="5989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5029200"/>
            <a:ext cx="64008" cy="10972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4983479"/>
            <a:ext cx="5715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Titres en « faux gras 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394959"/>
            <a:ext cx="571500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les titres sont écrits avec des caractères spéciaux (𝐔𝐧 𝐜𝐚𝐬𝐪𝐮𝐞…).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la recherche LinkedIn et les lecteurs d’écran ne les lisent pas comme des mots ; le texte devient introuvable.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92040"/>
            <a:ext cx="4937760" cy="1371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À noter :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la mascotte Gilo (marque Logis) fait 17 réactions : mieux que les conseils, mais 3 fois moins que les posts d’équipe. Un personnage dessiné attire moins qu’un vrai visage.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73989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373989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RÉSEAUX SOCIAUX · CE QUI NE MARCHE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Facebook : une page ouverte, mais à l’arrêt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page Facebook Blok Technology, consultée le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12 / 39</a:t>
            </a:r>
          </a:p>
        </p:txBody>
      </p:sp>
      <p:pic>
        <p:nvPicPr>
          <p:cNvPr id="11" name="Picture 10" descr="c_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4116053" cy="4846320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4937760" y="1325880"/>
            <a:ext cx="6720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463039"/>
            <a:ext cx="64008" cy="822959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17320"/>
            <a:ext cx="6446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Aucune régularité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6446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dernier post le 16 septembre (44 jours avant ce relevé), 1 réaction.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une page muette donne l’impression d’une entreprise fermée.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2514600"/>
            <a:ext cx="6720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60" y="2651760"/>
            <a:ext cx="64008" cy="822959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606040"/>
            <a:ext cx="6446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Une fiche qui fait fuir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017520"/>
            <a:ext cx="6446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la page affiche « Fermé en ce moment » et « Pas encore évalué (0 avis) 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un quincaillier qui vérifie BLOK avant de commander doute.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3703320"/>
            <a:ext cx="67208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3840480"/>
            <a:ext cx="64008" cy="96012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794759"/>
            <a:ext cx="6446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Trois numéros différents selon l’endroit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206240"/>
            <a:ext cx="64465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Facebook : 07 01 36 94 75 ; bouton WhatsApp du site : 07 98 03 89 22 ; posts LinkedIn : 07 01 59 88 02 et 07 19 00 39 17.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le client ne sait pas lequel appeler ; les demandes ne sont pas comptées au même endroit.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5029200"/>
            <a:ext cx="67208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60" y="5166360"/>
            <a:ext cx="64008" cy="91440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5120640"/>
            <a:ext cx="6446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Le bon canal pour les artisans, inutilisé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532120"/>
            <a:ext cx="64465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aucune publication tournée vers les quincailliers et artisans, qui vivent sur Facebook et WhatsApp.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BLOK ne parle qu’aux grands comptes de LinkedIn.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587752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587752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RÉSEAUX SOCIAUX · SYNTHÈSE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Réseaux sociaux : ce qu’on en retient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13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733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Garder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3246120" cy="4069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rythme LinkedIn de 2 posts par semaine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posts terrain avec partenaires nommés (PFO, GIBTP)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portraits d’équipe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32588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79" y="155448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6733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Changer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103120"/>
            <a:ext cx="3246120" cy="4069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Chaque post conseil porté par une personne (photo ou vidéo de 30 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Un appel à l’action unique : « Envoyez votre liste » + lien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Titres en texte normal, pas en caractères spéciaux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Un seul numéro commercial partout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32588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55448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1673352"/>
            <a:ext cx="3246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Lancer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103120"/>
            <a:ext cx="3246120" cy="4069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Témoignages clients : aucun dans les 10 derniers posts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Facebook pour les artisans : 3 posts par semaine, prix et arrivages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Une série « Le prix du mois » (lié au baromètre des prix)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Site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Clarté du message, parcours d’un professionnel jusqu’à la demande de cotation, blocages, vitesse et affichage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Clarté du message : ce qu’on comprend en 5 secondes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blok.africa, accueil sur ordinateur,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15 / 39</a:t>
            </a:r>
          </a:p>
        </p:txBody>
      </p:sp>
      <p:pic>
        <p:nvPicPr>
          <p:cNvPr id="11" name="Picture 10" descr="c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309360" cy="3940482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5312082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Accueil sur ordinateur (1440 px)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325880"/>
            <a:ext cx="4572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0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673352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est clair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103120"/>
            <a:ext cx="420624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On achète des matériaux de construction à Abidjan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 bouton « Charger ma demande de cotation » est visible sans défiler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291840"/>
            <a:ext cx="45720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3429000"/>
            <a:ext cx="64008" cy="118872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3383280"/>
            <a:ext cx="4297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Une offre rétrécie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794760"/>
            <a:ext cx="4297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 sous-titre cite « WC, interrupteurs, PVC, goulottes… 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un acheteur de ciment ou de fer à béton ne se reconnaît pas.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846320"/>
            <a:ext cx="45720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86600" y="4983480"/>
            <a:ext cx="64008" cy="114300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937759"/>
            <a:ext cx="42976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Trois promesses pour une marque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5349240"/>
            <a:ext cx="42976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site : « Achetez vos matériaux » ; LinkedIn : « Plateforme IA de procurement » ; Facebook : « Construire l’Afrique de demain 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on ne retient rien.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 message, détail par détail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 (code de la page et affichage),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16 / 39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25880"/>
          <a:ext cx="1110996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291840"/>
                <a:gridCol w="2926080"/>
                <a:gridCol w="3291840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Élément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Ce qu’on lit aujourd’hui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Problème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Ce que nous proposons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Titre principal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Achetez vos matériaux de construction et équipements à Abidjan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Correct, mais ne dit pas pourquoi BLOK plutôt qu’un autre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Envoyez votre liste, recevez votre devis et la livraison sur chantier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Sous-titre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WC, interrupteurs, PVC, goulottes…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Réduit l’offre aux petits articles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Ciment, fer, plomberie, électricité : +10 000 références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Bouton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On trouve vos produits pour vous ! Charger ma demande de cotation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2 phrases pour 1 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Envoyer ma liste » + « Réponse sous 24 h » ⟶ délai à valider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Nom de l’onglet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BLOK Technologie » sur toutes les pages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Technologie » au lieu de « Technology » ; identique partout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Un titre par page : « Ciment à Abidjan | BLOK Technology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Preuves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Défilé de 25 marques (3M, Bosch, Bostik…)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Aucun client, aucun chiffre, aucun avis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Logos clients, nombre de chantiers livrés, 1 témoignage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915667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915667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Parcours d’un professionnel jusqu’à la demande de cotation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parcours testé le 30/10/2026 sur ordinateur et téléphone, avec un fichier test ; formulaire non envoyé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17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764792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48840"/>
            <a:ext cx="187451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Arrivée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06040"/>
            <a:ext cx="1874519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42323"/>
                </a:solidFill>
                <a:latin typeface="Space Grotesk"/>
              </a:rPr>
              <a:t>Accueil. Sur téléphone, une fenêtre « Télécharger l’application » couvre l’écran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51760" y="2331720"/>
            <a:ext cx="137160" cy="274320"/>
          </a:xfrm>
          <a:prstGeom prst="rightArrow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88920" y="137160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71800" y="1554480"/>
            <a:ext cx="502920" cy="5029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15544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764792"/>
            <a:ext cx="1097280" cy="73152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2148840"/>
            <a:ext cx="187451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Clic sur le bouton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606040"/>
            <a:ext cx="1874519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42323"/>
                </a:solidFill>
                <a:latin typeface="Space Grotesk"/>
              </a:rPr>
              <a:t>« Charger ma demande de cotation » ouvre directement l’explorateur de fichiers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92040" y="2331720"/>
            <a:ext cx="137160" cy="274320"/>
          </a:xfrm>
          <a:prstGeom prst="rightArrow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137160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0" y="1554480"/>
            <a:ext cx="502920" cy="5029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15544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1764792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2148840"/>
            <a:ext cx="187451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Choix d’un fichier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606040"/>
            <a:ext cx="1874519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42323"/>
                </a:solidFill>
                <a:latin typeface="Space Grotesk"/>
              </a:rPr>
              <a:t>PDF, photo ou Excel, 20 Mo maximum. Sans fichier : rien ne se passe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32320" y="2331720"/>
            <a:ext cx="137160" cy="274320"/>
          </a:xfrm>
          <a:prstGeom prst="rightArrow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69480" y="137160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52360" y="1554480"/>
            <a:ext cx="502920" cy="5029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15544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1764792"/>
            <a:ext cx="1097280" cy="73152"/>
          </a:xfrm>
          <a:prstGeom prst="rect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2148840"/>
            <a:ext cx="187451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Formulaire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2606040"/>
            <a:ext cx="1874519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42323"/>
                </a:solidFill>
                <a:latin typeface="Space Grotesk"/>
              </a:rPr>
              <a:t>Nom, entreprise (facultatif), e-mail, WhatsApp. Newsletter déjà cochée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372600" y="2331720"/>
            <a:ext cx="137160" cy="274320"/>
          </a:xfrm>
          <a:prstGeom prst="rightArrow">
            <a:avLst/>
          </a:prstGeom>
          <a:solidFill>
            <a:srgbClr val="FF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09760" y="1371600"/>
            <a:ext cx="21031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692640" y="1554480"/>
            <a:ext cx="502920" cy="50292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1554480"/>
            <a:ext cx="50292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pace Grotesk"/>
              </a:rP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1764792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46920" y="2148840"/>
            <a:ext cx="187451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« Démarrer l’analyse 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606040"/>
            <a:ext cx="1874519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242323"/>
                </a:solidFill>
                <a:latin typeface="Space Grotesk"/>
              </a:rPr>
              <a:t>Aucun délai annoncé, aucune indication de la suite</a:t>
            </a:r>
          </a:p>
        </p:txBody>
      </p:sp>
      <p:pic>
        <p:nvPicPr>
          <p:cNvPr id="45" name="Picture 44" descr="c_c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49039"/>
            <a:ext cx="3879878" cy="2423160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4572000" y="3749039"/>
            <a:ext cx="7086600" cy="2468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242323"/>
                </a:solidFill>
                <a:latin typeface="Space Grotesk"/>
              </a:rPr>
              <a:t>Le bon point :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3 clics suffisent, et on peut envoyer une simple photo de sa liste. C’est adapté au terrain.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242323"/>
                </a:solidFill>
                <a:latin typeface="Space Grotesk"/>
              </a:rPr>
              <a:t>Le point faible :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 celui qui n’a pas de fichier sous la main (il a sa liste en tête, ou au téléphone avec son chef de chantier) n’a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aucun moyen de taper sa demande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. Le formulaire de la page Contact ne parle pas de devis.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0">
                <a:solidFill>
                  <a:srgbClr val="6B7080"/>
                </a:solidFill>
                <a:latin typeface="Space Grotesk"/>
              </a:rPr>
              <a:t>Repères : jaune = frottement léger ; orange = frein constaté.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915667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915667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BLOCAGES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qui bloque la demande de cotation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blok.africa, ordinateur et téléphone,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18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463039"/>
            <a:ext cx="64008" cy="128016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1732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Pas de fichier, pas de devis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28800"/>
            <a:ext cx="52120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 bouton ouvre l’explorateur de fichiers ; aucune case pour écrire « 20 sacs de ciment CPJ 42,5, livraison Bingerville 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les demandes urgentes partent sur WhatsApp ou chez le concurrent.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63039"/>
            <a:ext cx="64008" cy="128016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1732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Prix cachés partout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28800"/>
            <a:ext cx="52120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chaque produit affiche « Veuillez vous connecter ou vous inscrire pour voir les prix » (ex. : Pantinox SR9 20 kg, Grillage 1 doigt 15 kg).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l’acheteur qui compare ne peut pas comparer ; il quitte le site.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9008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127248"/>
            <a:ext cx="64008" cy="128016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81528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Aucun délai ni suite annoncés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93008"/>
            <a:ext cx="52120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après « Démarrer l’analyse », rien n’indique quand et par quel canal arrivera le devis.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le client relance ou envoie sa liste ailleurs « au cas où 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99008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127248"/>
            <a:ext cx="64008" cy="12801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081528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Newsletter cochée d’office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93008"/>
            <a:ext cx="52120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la case « J’accepte de recevoir la newsletter BLOK » est déjà cochée dans le formulaire de devis.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consentement non explicite : à faire valider par le juridique.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54296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91456"/>
            <a:ext cx="64008" cy="12801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45736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Fenêtres qui gênent sur téléphone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57216"/>
            <a:ext cx="52120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à l’arrivée, la fenêtre « Télécharger l’application » couvre l’écran ; la bulle de l’assistant « Yann » reste en bas à droite.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un geste de plus avant de voir le bouton devis.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654296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791456"/>
            <a:ext cx="64008" cy="12801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745736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Bouton mal libellé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157216"/>
            <a:ext cx="52120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« Demarrer l’analyse » (sans accent) : on ne sait pas qu’on envoie une demande de devis.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hésitation au moment décisif.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01168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AFFICHAGE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Affichage sur téléphone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 sur un écran de téléphone de 390 px de large,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19 / 39</a:t>
            </a:r>
          </a:p>
        </p:txBody>
      </p:sp>
      <p:pic>
        <p:nvPicPr>
          <p:cNvPr id="11" name="Picture 10" descr="c_m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2184273" cy="4480560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585216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1. À l’arrivée : la fenêtre « Télécharger l’application » couvre la moitié basse</a:t>
            </a:r>
          </a:p>
        </p:txBody>
      </p:sp>
      <p:pic>
        <p:nvPicPr>
          <p:cNvPr id="13" name="Picture 12" descr="c_mco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325880"/>
            <a:ext cx="2184273" cy="4480560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2880360" y="585216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2. Le formulaire de devis : lisible, champs bien espacés</a:t>
            </a:r>
          </a:p>
        </p:txBody>
      </p:sp>
      <p:pic>
        <p:nvPicPr>
          <p:cNvPr id="15" name="Picture 14" descr="c_mca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79" y="1325880"/>
            <a:ext cx="2184273" cy="4480560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212079" y="5852160"/>
            <a:ext cx="21031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3. Catégorie Gros œuvre : un produit par écran, prix cachés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25880"/>
            <a:ext cx="40233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1673352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va bien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2103120"/>
            <a:ext cx="3657600" cy="1234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 site s’adapte à l’écran : rien ne déborde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Le formulaire de devis est confortable au doigt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Bouton WhatsApp et panier toujours visibles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566160"/>
            <a:ext cx="402336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379476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19" y="3913632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gêne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4343400"/>
            <a:ext cx="365760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La fenêtre « appli » arrive avant le contenu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Une seule fiche produit visible par écran : on fait défiler longtemps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Noms de produits en majuscules, longs et techniques (« GRIFFE 10/12 »)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•  Bulle de l’assistant au-dessus du contenu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01168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01168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AFFICHAGE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Affichage sur ordinateur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 sur écran 1440 px,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20 / 39</a:t>
            </a:r>
          </a:p>
        </p:txBody>
      </p:sp>
      <p:pic>
        <p:nvPicPr>
          <p:cNvPr id="11" name="Picture 10" descr="c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669280" cy="3540723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4912323"/>
            <a:ext cx="56692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Accueil : bouton devis visible, à droite du titre</a:t>
            </a:r>
          </a:p>
        </p:txBody>
      </p:sp>
      <p:pic>
        <p:nvPicPr>
          <p:cNvPr id="13" name="Picture 12" descr="c_blog_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325880"/>
            <a:ext cx="5303520" cy="2979614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355080" y="4351214"/>
            <a:ext cx="5303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Blog : en-tête soigné, aux couleurs de la marque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07492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va bien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59"/>
            <a:ext cx="51206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Charte respectée : bleu marine, orange, bonne lisibilité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Menu simple : Catégories, À propos, Blog, FAQ, Contact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84632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507492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19379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gêne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623559"/>
            <a:ext cx="51206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Moitié de l’écran vide sous le titre à l’ouverture : les images arrivent tard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Bouton « Rechercher » pâle, peu contrasté (signalé aussi par l’outil de Google)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81965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81965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VITESSE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Vitesse : le téléphone est le vrai problème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outil d’audit de Google (Lighthouse 12), accueil blok.africa, 2 passages le 30/10/2026 ; téléphone = réseau 4G lente simulé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21 / 39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1463040"/>
            <a:ext cx="1371600" cy="1371600"/>
          </a:xfrm>
          <a:prstGeom prst="ellipse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37360"/>
            <a:ext cx="1371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67712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Space Grotesk"/>
              </a:rPr>
              <a:t>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0360"/>
            <a:ext cx="1920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Téléphone
(2e passage : 37)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1463040"/>
            <a:ext cx="1371600" cy="1371600"/>
          </a:xfrm>
          <a:prstGeom prst="ellipse">
            <a:avLst/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737360"/>
            <a:ext cx="1371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67712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Space Grotesk"/>
              </a:rPr>
              <a:t>/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880360"/>
            <a:ext cx="1920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Ordinateur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1463040"/>
            <a:ext cx="1371600" cy="1371600"/>
          </a:xfrm>
          <a:prstGeom prst="ellipse">
            <a:avLst/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737360"/>
            <a:ext cx="1371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pace Grotesk"/>
              </a:rPr>
              <a:t>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267712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Space Grotesk"/>
              </a:rPr>
              <a:t>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880360"/>
            <a:ext cx="19202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Lisibilité par Google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766560" y="1463040"/>
          <a:ext cx="4892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051560"/>
                <a:gridCol w="1005840"/>
                <a:gridCol w="10515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Mesure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Téléphone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Ordinateur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pace Grotesk"/>
                        </a:rPr>
                        <a:t>Repère « bon »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Premier texte affiché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5,9 à 6,1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2,2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moins de 1,8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Plus grand élément affiché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4A00"/>
                          </a:solidFill>
                          <a:latin typeface="Space Grotesk"/>
                        </a:rPr>
                        <a:t>33 à 40 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7,9 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moins de 2,5 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Page utilisable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33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moins de 3,8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42323"/>
                          </a:solidFill>
                          <a:latin typeface="Space Grotesk"/>
                        </a:rPr>
                        <a:t>Poids total de la page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8,9 Mo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9,1 Mo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42323"/>
                          </a:solidFill>
                          <a:latin typeface="Space Grotesk"/>
                        </a:rPr>
                        <a:t>moins de 1,6 Mo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48640" y="3977639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64008" cy="201168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6907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Des images trop lourdes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59"/>
            <a:ext cx="521208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une seule image de l’accueil pèse 1,2 Mo ; l’avatar de l’assistant « Yann » 689 Ko. L’outil estime à </a:t>
            </a:r>
            <a:r>
              <a:rPr sz="1100" b="1">
                <a:solidFill>
                  <a:srgbClr val="242323"/>
                </a:solidFill>
                <a:latin typeface="Space Grotesk"/>
              </a:rPr>
              <a:t>5,6 Mo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 le gain possible en compressant et redimensionnant les images.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100" b="0">
                <a:solidFill>
                  <a:srgbClr val="6B7080"/>
                </a:solidFill>
                <a:latin typeface="Space Grotesk"/>
              </a:rPr>
              <a:t>sur un téléphone au chantier, l’acheteur attend ou abandonne avant de voir le bouton devis.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977639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114800"/>
            <a:ext cx="64008" cy="2011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06907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Du code qui bloque l’affichage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480559"/>
            <a:ext cx="5212080" cy="1737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100" b="0">
                <a:solidFill>
                  <a:srgbClr val="242323"/>
                </a:solidFill>
                <a:latin typeface="Space Grotesk"/>
              </a:rPr>
              <a:t>les polices (18 variantes de la police Work Sans chargées) et des scripts retardent le premier affichage de 2,5 s ; 532 Ko de code chargés pour rien sur l’accueil.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100" b="0">
                <a:solidFill>
                  <a:srgbClr val="6B7080"/>
                </a:solidFill>
                <a:latin typeface="Space Grotesk"/>
              </a:rPr>
              <a:t>l’écran reste blanc les premières secondes.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39572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39572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SITE WEB · RÉFÉRENCEMENT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Référencement du site : ce que voit Google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code reçu par un robot d’indexation, plan du site blok.africa/sitemap.xml, recherche « site:blok.africa »,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22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le site est construit pour s’afficher dans le navigateur ; avant cela, Google reçoit une page presque vide.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116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64008" cy="105156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0312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Toutes les pages se ressemblent au premier passage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14600"/>
            <a:ext cx="52120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l’accueil, un article et la catégorie Gros œuvre envoient le même code : titre « BLOK Technologie », 0 grand titre, 2 mots de texte.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Google doit revenir exécuter la page : indexation plus lente et moins sûre.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0116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148840"/>
            <a:ext cx="64008" cy="105156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Des titres de résultats vides de sens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14600"/>
            <a:ext cx="52120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dans Google, les fiches produits s’affichent sous le titre « Product - Blok » (ex. : Access Mat Blanc 30 kg).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personne ne clique sur « Product - Blok 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7472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11879"/>
            <a:ext cx="64008" cy="10515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6616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Des pages marque qui desservent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77639"/>
            <a:ext cx="52120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la page AGFA indique « Le lien direct avec le BTP doit être vérifié » ; la page AJAX : « Aucun produit lié à cette marque 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textes visibles de tous et indexés : image d’un catalogue pas fini.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47472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611879"/>
            <a:ext cx="64008" cy="10515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56616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Les fiches produits absentes du plan du 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977639"/>
            <a:ext cx="52120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le plan du site liste 284 pages de catégories et 2 articles, mais aucune fiche produit.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les 10 000 références ne sont pas signalées à Google.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377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64008" cy="10515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029200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Partage sans image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40680"/>
            <a:ext cx="521208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aucune image d’aperçu n’est déclarée pour les partages.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un lien BLOK envoyé sur WhatsApp ou LinkedIn s’affiche sans visuel.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9377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516636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28523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Le bon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715000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Les articles du blog ont un vrai titre et une description propres, une fois la page affichée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Blog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Sujets traités, régularité, référencement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47548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7548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BLOG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 blog aujourd’hui : un bel écrin, deux articles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blok.africa/blog et plan du site du blog, 30/10/2026 ; vues affichées sur chaque 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24 / 39</a:t>
            </a:r>
          </a:p>
        </p:txBody>
      </p:sp>
      <p:pic>
        <p:nvPicPr>
          <p:cNvPr id="11" name="Picture 10" descr="c_blog_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852160" cy="4266757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1325880"/>
          <a:ext cx="5074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914400"/>
                <a:gridCol w="731520"/>
                <a:gridCol w="502920"/>
                <a:gridCol w="59436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Article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Publié le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Longueur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Vues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Réactions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Les 7 erreurs qui font exploser le budget d’un chantier en Côte d’Ivoire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6 juillet 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1 043 mots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La Construction Tech peut-elle contribuer à répondre au manque de logements en Afrique ?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22 sept. 2026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1 285 mots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26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583680" y="3657600"/>
            <a:ext cx="50749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3794760"/>
            <a:ext cx="64008" cy="96012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749039"/>
            <a:ext cx="4800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Régularité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160520"/>
            <a:ext cx="480060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2 articles en 4 mois ; rien depuis le 22 septembre (38 jours).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la newsletter promise n’a rien à envoyer.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983480"/>
            <a:ext cx="50749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5120640"/>
            <a:ext cx="64008" cy="1005839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5074920"/>
            <a:ext cx="48006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Rubriques vides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486400"/>
            <a:ext cx="4800600" cy="73151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« Achats &amp; Approvisionnement », « Marché &amp; Tendances BTP » et « Matériaux &amp; Produits » affichent « Aucun article ».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le visiteur qui clique tombe sur une page vide.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33959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33959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BLOG · SUJETS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Les sujets traités : de la qualité, mais pas le bon lecteur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articles du blog BLOK, lus le 30/10/2026 ; test de recherche Google le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25 / 39</a:t>
            </a:r>
          </a:p>
        </p:txBody>
      </p:sp>
      <p:pic>
        <p:nvPicPr>
          <p:cNvPr id="11" name="Picture 10" descr="c_art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657600" cy="2284337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48640" y="3655937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« Les 7 erreurs… » : 81 vues</a:t>
            </a:r>
          </a:p>
        </p:txBody>
      </p:sp>
      <p:pic>
        <p:nvPicPr>
          <p:cNvPr id="13" name="Picture 12" descr="c_art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86200"/>
            <a:ext cx="3657600" cy="2284337"/>
          </a:xfrm>
          <a:prstGeom prst="rect">
            <a:avLst/>
          </a:prstGeom>
          <a:ln w="15875">
            <a:solidFill>
              <a:srgbClr val="E4E8F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8640" y="6216257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« La Construction Tech… » : 26 vues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325880"/>
            <a:ext cx="35204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673352"/>
            <a:ext cx="3154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qui est bien fait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03120"/>
            <a:ext cx="3154680" cy="4069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050" b="1">
                <a:solidFill>
                  <a:srgbClr val="242323"/>
                </a:solidFill>
                <a:latin typeface="Space Grotesk"/>
              </a:rPr>
              <a:t>Sourcé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 : ANStat (+25 % sur un an pour les matériaux du BTP en juin 2025), Gouvernement (déficit de 800 000 logements)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050" b="1">
                <a:solidFill>
                  <a:srgbClr val="242323"/>
                </a:solidFill>
                <a:latin typeface="Space Grotesk"/>
              </a:rPr>
              <a:t>Ancré localement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 : Abidjan, Côte d’Ivoire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050" b="1">
                <a:solidFill>
                  <a:srgbClr val="242323"/>
                </a:solidFill>
                <a:latin typeface="Space Grotesk"/>
              </a:rPr>
              <a:t>Structuré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 : 7 sous-titres clairs dans « Les 7 erreurs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</a:t>
            </a:r>
            <a:r>
              <a:rPr sz="1050" b="1">
                <a:solidFill>
                  <a:srgbClr val="242323"/>
                </a:solidFill>
                <a:latin typeface="Space Grotesk"/>
              </a:rPr>
              <a:t>Une invitation finale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 vers blok.africa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463039"/>
            <a:ext cx="64008" cy="13258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41732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Sujet trop large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46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« La Construction Tech et le logement en Afrique » parle aux investisseurs, pas au conducteur de travaux.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26 vues.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17520"/>
            <a:ext cx="3520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154679"/>
            <a:ext cx="64008" cy="1325880"/>
          </a:xfrm>
          <a:prstGeom prst="rect">
            <a:avLst/>
          </a:prstGeom>
          <a:solidFill>
            <a:srgbClr val="D6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10896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Invisible sur Google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20439"/>
            <a:ext cx="324612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en tapant le titre exact « les erreurs qui font exploser le budget d’un chantier en Côte d’Ivoire », BLOK n’est pas dans les 8 premiers.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des sites français prennent la place.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7091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846320"/>
            <a:ext cx="64008" cy="128016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80060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Fin d’article vers l’accueil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212080"/>
            <a:ext cx="32461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00" b="0">
                <a:solidFill>
                  <a:srgbClr val="242323"/>
                </a:solidFill>
                <a:latin typeface="Space Grotesk"/>
              </a:rPr>
              <a:t>le lien final renvoie vers www.blok.africa, pas vers le devis ni une catégorie.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00" b="0">
                <a:solidFill>
                  <a:srgbClr val="6B7080"/>
                </a:solidFill>
                <a:latin typeface="Space Grotesk"/>
              </a:rPr>
              <a:t>le lecteur repart de zéro.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203704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20370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BLOG · 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Ce que le blog devrait traiter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pistes à valider avec un outil de mesure des recherches (volumes non mesurés à ce jour)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26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98448"/>
            <a:ext cx="11109960" cy="566928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298448"/>
            <a:ext cx="91440" cy="566928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298448"/>
            <a:ext cx="107899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En clair : </a:t>
            </a:r>
            <a:r>
              <a:rPr sz="1250" b="0">
                <a:solidFill>
                  <a:srgbClr val="002060"/>
                </a:solidFill>
                <a:latin typeface="Space Grotesk"/>
              </a:rPr>
              <a:t>écrire sur ce que l’acheteur tape dans Google au moment d’acheter : un prix, une quantité, un comparatif.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011680"/>
          <a:ext cx="111099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92040"/>
                <a:gridCol w="2331720"/>
                <a:gridCol w="2057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Famille de sujet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Exemple de titre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Pour qui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pace Grotesk"/>
                        </a:rPr>
                        <a:t>Renvoie vers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Prix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Prix du ciment à Abidjan : ce qui change ce mois-ci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Acheteurs, artisans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Catégorie Gros œuvre +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Quantités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Combien de sacs de ciment pour une dalle de 100 m² ?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Artisans, particuliers exigeants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Envoyer ma liste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Comparatif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Fer à béton : HA8, HA10, HA12, lequel choisir ?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Conducteurs de travaux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Catégorie concernée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Méthode d’achat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Comment comparer 3 devis de matériaux sans se tromper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Acheteurs d’entreprise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Envoyer ma liste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Réglementation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Équipements de protection obligatoires sur un chantier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Responsables sécurité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Catégorie Protection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42323"/>
                          </a:solidFill>
                          <a:latin typeface="Space Grotesk"/>
                        </a:rPr>
                        <a:t>Cas client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« Comment [client] a livré son chantier sans rupture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Grands comptes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42323"/>
                          </a:solidFill>
                          <a:latin typeface="Space Grotesk"/>
                        </a:rPr>
                        <a:t>Prendre rendez-vous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002060"/>
                </a:solidFill>
                <a:latin typeface="Space Grotesk"/>
              </a:rPr>
              <a:t>Rythme proposé :</a:t>
            </a:r>
            <a:r>
              <a:rPr sz="1150" b="0">
                <a:solidFill>
                  <a:srgbClr val="002060"/>
                </a:solidFill>
                <a:latin typeface="Space Grotesk"/>
              </a:rPr>
              <a:t> 2 articles par mois, chacun repris en 1 post LinkedIn, 1 post Facebook et 1 envoi de newsletter.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Relations publiques et événementiel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Ce que BLOK a déjà obtenu, et comment en faire des demandes de cotation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915667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915667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RELATIONS PUBLIQUES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Les acquis : une marque déjà repérée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We Are Tech Africa, VivaTech (fiche partenaire 2025), page LinkedIn du GIBTP, Dealroom ; consultés le 30/10/2026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28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267004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73352"/>
            <a:ext cx="230428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Presse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304288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We Are Tech Africa : « En Côte d’Ivoire, Blok simplifie la commande de matériaux de construction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1325880"/>
            <a:ext cx="267004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84448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1673352"/>
            <a:ext cx="230428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Salon international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103120"/>
            <a:ext cx="2304288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Fiche BLOK TECHNOLOGY sur la plateforme de VivaTech 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1325880"/>
            <a:ext cx="267004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1655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673352"/>
            <a:ext cx="230428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Réseau professionnel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103120"/>
            <a:ext cx="2304288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Adhésion au GIBTP annoncée par le groupement : 42 réactions et 6 commentaires sur la republication BLOK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1325880"/>
            <a:ext cx="267004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3" y="1554480"/>
            <a:ext cx="45720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3" y="1673352"/>
            <a:ext cx="2304288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Annuaires investisseurs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2103120"/>
            <a:ext cx="2304288" cy="1508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•  Fiche Dealroom : fondateurs, année de création, application iOS et Android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023360"/>
            <a:ext cx="64008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7763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Presse tech, pas presse BTP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521208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les articles trouvés viennent de médias start-up ; aucun dans la presse économique ou BTP ivoirienne.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les acheteurs ne lisent pas ces médias.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8620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023360"/>
            <a:ext cx="64008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97763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Aucune page presse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89120"/>
            <a:ext cx="521208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 site n’a ni page « Presse », ni kit (logo, photos, chiffres clés).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un journaliste pressé passe à un autre sujet.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257800"/>
            <a:ext cx="64008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1207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Des événements sans suite commerciale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23559"/>
            <a:ext cx="521208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le lancement des valeurs (49 réactions) a réuni 4 intervenants, sans invitation de clients.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la visibilité ne produit pas de contacts.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5120640"/>
            <a:ext cx="5486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5257800"/>
            <a:ext cx="64008" cy="868680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212079"/>
            <a:ext cx="521208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Fiches publiques incohérentes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623559"/>
            <a:ext cx="521208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242323"/>
                </a:solidFill>
                <a:latin typeface="Space Grotesk"/>
              </a:rPr>
              <a:t>Exemple : </a:t>
            </a:r>
            <a:r>
              <a:rPr sz="1050" b="0">
                <a:solidFill>
                  <a:srgbClr val="242323"/>
                </a:solidFill>
                <a:latin typeface="Space Grotesk"/>
              </a:rPr>
              <a:t>année de création : 2023 (We Are Tech, Dealroom), 2024 (LinkedIn).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6B7080"/>
                </a:solidFill>
                <a:latin typeface="Space Grotesk"/>
              </a:rPr>
              <a:t>Effet : </a:t>
            </a:r>
            <a:r>
              <a:rPr sz="1050" b="0">
                <a:solidFill>
                  <a:srgbClr val="6B7080"/>
                </a:solidFill>
                <a:latin typeface="Space Grotesk"/>
              </a:rPr>
              <a:t>un journaliste qui vérifie trouve deux versions.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335584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335584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RELATIONS PUBLIQUES · PROPOSITIONS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Relations publiques : nos propositions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29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99032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Le baromètre BLOK des prix des matériaux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Chaque mois, les prix constatés sur la plateforme pour 10 produits (ciment, fer, sable, gravier, tôle…), commentés en 1 page. Envoyé aux rédactions, repris sur LinkedIn, le blog et Facebook.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90472"/>
            <a:ext cx="1042416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490472"/>
            <a:ext cx="10424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moyen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78308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Reprises presse par mois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13432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386584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Une page presse et un 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359152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Logo, photos d’équipe et de chantier, chiffres clés validés, contact presse unique, communiqués archivés.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478024"/>
            <a:ext cx="1120140" cy="256032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478024"/>
            <a:ext cx="112014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faible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70632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Demandes de journalistes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00984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374136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Tribunes des fondateurs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346704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1 tribune par trimestre dans la presse économique ivoirienne : prix des matériaux, délais de chantier, achat local.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465576"/>
            <a:ext cx="1042416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465576"/>
            <a:ext cx="10424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moyen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758184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Tribunes publiées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88536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361688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Liste de 20 journalistes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334256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Économie, immobilier, BTP et tech en Côte d’Ivoire : nom, média, sujets suivis, dernier article.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4453128"/>
            <a:ext cx="1120140" cy="256032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4453128"/>
            <a:ext cx="112014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faible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745736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Taux de réponse aux envois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76088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49240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Un chiffre unique pour tout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321808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Une fiche « chiffres officiels » (année de création, références, fournisseurs, numéro commercial) validée par la direction.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5440680"/>
            <a:ext cx="1120140" cy="256032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5440680"/>
            <a:ext cx="112014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faible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5733288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Incohérences relevées = 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683764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68376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ÉVÉNEMENTIEL · PROPOSITIONS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Événementiel : nos propositions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calendrier des salons 2027 : sites des organisateurs relevés le 30/10/2026, dates à reconfirmer à l’inscription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30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99032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La matinale acheteurs BLOK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371600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Chaque trimestre, 20 acheteurs et conducteurs de travaux, avec le GIBTP. 1 h : le baromètre des prix commenté, 1 témoignage client, petit-déjeuner.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90472"/>
            <a:ext cx="1042416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490472"/>
            <a:ext cx="10424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moyen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783080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Devis demandés dans les 30 jours suivants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13432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386584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La visite de chantier filmée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359152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Le format qui marche le mieux sur LinkedIn (PFO : 52 réactions), mais chez un client livré par BLOK : 1 par mois, vidéo de 60 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478024"/>
            <a:ext cx="1120140" cy="256032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2478024"/>
            <a:ext cx="112014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faible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70632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Réactions et messages reçus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300984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374136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La tournée des quincailleries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346704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2 communes par mois (Yopougon, Abobo…) : présentation de l’appli, affiche avec QR code « Envoyez votre liste ».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465576"/>
            <a:ext cx="1042416" cy="256032"/>
          </a:xfrm>
          <a:prstGeom prst="roundRect">
            <a:avLst>
              <a:gd name="adj" fmla="val 8000"/>
            </a:avLst>
          </a:prstGeom>
          <a:solidFill>
            <a:srgbClr val="F6C6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465576"/>
            <a:ext cx="1042416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moyen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758184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Comptes créés par commune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88536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361688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ARCHIBAT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334256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14-18 octobre 2027, Parc des Expositions d’Abidjan : stand partagé ou atelier « baromètre en direct 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4453128"/>
            <a:ext cx="964692" cy="256032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4453128"/>
            <a:ext cx="9646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fort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745736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Contacts qualifiés, devis à 60 jours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276088"/>
            <a:ext cx="111099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49240"/>
            <a:ext cx="31089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2060"/>
                </a:solidFill>
                <a:latin typeface="Space Grotesk"/>
              </a:rPr>
              <a:t>Un dispositif de collecte à chaque événement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321808"/>
            <a:ext cx="5120640" cy="8229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242323"/>
                </a:solidFill>
                <a:latin typeface="Space Grotesk"/>
              </a:rPr>
              <a:t>QR code vers le devis, fiche contact en 4 champs, relance sous 48 h, bilan coût par contact.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5440680"/>
            <a:ext cx="1120140" cy="256032"/>
          </a:xfrm>
          <a:prstGeom prst="roundRect">
            <a:avLst>
              <a:gd name="adj" fmla="val 8000"/>
            </a:avLst>
          </a:prstGeom>
          <a:solidFill>
            <a:srgbClr val="2E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9720" y="5440680"/>
            <a:ext cx="1120140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Space Grotesk"/>
              </a:rPr>
              <a:t>Effort faible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5733288"/>
            <a:ext cx="23774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B7080"/>
                </a:solidFill>
                <a:latin typeface="Space Grotesk"/>
              </a:rPr>
              <a:t>Contacts relancés sous 48 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097280"/>
            <a:ext cx="399057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7200" b="1">
                <a:solidFill>
                  <a:srgbClr val="FF4A00"/>
                </a:solidFill>
                <a:latin typeface="Space Grotesk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Space Grotesk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67665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C9D3E8"/>
                </a:solidFill>
                <a:latin typeface="Space Grotesk"/>
              </a:rPr>
              <a:t>Pour chacune : le constat qui la justifie, l’effort et l’indicateur à suivre</a:t>
            </a:r>
          </a:p>
        </p:txBody>
      </p:sp>
      <p:pic>
        <p:nvPicPr>
          <p:cNvPr id="7" name="Picture 6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"/>
            <a:ext cx="1371600" cy="48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53162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5316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Site web : 7 recommandations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Effort : Faible = moins de 2 jours ; Moyen = 1 à 2 semaines ; Fort = plus d’un mois ou prestataire. Cibles à confirmer une fois les statistiques internes ouvertes.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32 / 39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25880"/>
          <a:ext cx="111099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017520"/>
                <a:gridCol w="2926080"/>
                <a:gridCol w="822960"/>
                <a:gridCol w="2148840"/>
                <a:gridCol w="18288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Recommandation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Constat d’appui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Effort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Indicateur à suivre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Cible à 90 jours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Compresser et redimensionner les images de l’accueil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Accueil de 8,9 Mo ; 5,6 Mo de gain possible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Note de vitesse téléphone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 36 à 60 et plus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Ajouter « Écrire ma liste » à côté de « Charger un fichier »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Sans fichier, impossible de demander un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Demandes de devis par semaine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+30 % ⟶ à caler sur le réel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Annoncer le délai et la suite après l’envoi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Rien n’est dit après « Démarrer l’analyse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Relances clients « où en est mon devis ?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en baisse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Afficher des prix « à partir de » sur 50 produits courants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Prix cachés sur chaque fiche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Clics fiche produit ⟶ devis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à mesurer puis +20 %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Décocher la newsletter par défaut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Case précochée dans le formulaire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Inscrits newsletter consentants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100 % cochés par l’utilisateur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Retarder la fenêtre « appli » sur téléphone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Elle couvre l’écran dès l’arrivée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Taux de départ immédiat (téléphone)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en baisse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Livrer à Google des pages déjà remplies + vrais titres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« Product - Blok » dans les résultats ; même titre partout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Fort</a:t>
                      </a:r>
                    </a:p>
                  </a:txBody>
                  <a:tcPr marL="73152" marR="73152" marT="27432" marB="27432" anchor="ctr">
                    <a:solidFill>
                      <a:srgbClr val="FF4A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Pages indexées ; clics depuis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fiches produits indexées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53162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5316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Réseaux sociaux et blog : 7 recommandations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Effort : Faible = moins de 2 jours ; Moyen = 1 à 2 semaines ; Fort = plus d’un mois ou prestataire. Cibles à confirmer une fois les statistiques internes ouvertes.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33 / 39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25880"/>
          <a:ext cx="111099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017520"/>
                <a:gridCol w="2926080"/>
                <a:gridCol w="822960"/>
                <a:gridCol w="2148840"/>
                <a:gridCol w="18288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Recommandation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Constat d’appui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Effort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Indicateur à suivre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Cible à 90 jours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 lien « Envoyez votre liste » dans chaque post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 post « Un devis, plusieurs appels » renvoie vers des numéros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Clics vers le devis depuis 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suivis dès le 1er mois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Faire porter les conseils par une personne (photo, vidéo 30 s)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Conseils : 8-10 réactions ; équipe : 44-52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Réactions moyennes par post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 27 à 40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1 témoignage client par mois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0 client dans les 10 derniers posts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Témoignages publiés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Relancer Facebook pour les artisans (3 posts / semaine)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20 abonnés ; muet depuis le 16 sept.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Abonnés et messages WhatsApp reçus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300 abonnés ⟶ hypothèse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Un seul numéro commercial partout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4 numéros différents relevés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Nombre de numéros publiés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2 articles par mois sur prix, quantités, comparatifs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2 articles en 4 mois ; 3 rubriques vides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Vues par article ; positions Google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6 articles ; 500 vues /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Fin d’article vers le devis ou la catégorie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Les 2 articles renvoient vers l’accueil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Clics article ⟶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suivis dès le 1er mois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153162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15316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RECOMMANDATIONS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Relations publiques et événementiel : 5 recommandations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Effort : Faible = moins de 2 jours ; Moyen = 1 à 2 semaines ; Fort = plus d’un mois ou prestataire. Cibles à confirmer une fois les statistiques internes ouvertes.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34 / 39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25880"/>
          <a:ext cx="1110996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017520"/>
                <a:gridCol w="2926080"/>
                <a:gridCol w="822960"/>
                <a:gridCol w="2148840"/>
                <a:gridCol w="18288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Recommandation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Constat d’appui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Effort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Indicateur à suivre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Cible à 90 jours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Baromètre mensuel des prix des matériaux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Aucun article dans la presse économique ou 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Reprises presse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par trimestre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Page presse et kit sur le site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Aucune page presse ; années de création divergentes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Demandes de journalistes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2 par trimestre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Matinale acheteurs trimestrielle avec le GIBTP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Adhésion GIBTP : post le plus commenté (6)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Moyen</a:t>
                      </a:r>
                    </a:p>
                  </a:txBody>
                  <a:tcPr marL="73152" marR="73152" marT="27432" marB="27432" anchor="ctr">
                    <a:solidFill>
                      <a:srgbClr val="F6C6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Devis à 30 jours des participants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5 devis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Visite de chantier client filmée chaque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Post terrain PFO : meilleur score (52)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Réactions ; messages reçus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3 vidéos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242323"/>
                          </a:solidFill>
                          <a:latin typeface="Space Grotesk"/>
                        </a:rPr>
                        <a:t>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Dispositif de collecte et relance 48 h à chaque événement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Lancement des valeurs sans invités clients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pace Grotesk"/>
                        </a:rPr>
                        <a:t>Faible</a:t>
                      </a:r>
                    </a:p>
                  </a:txBody>
                  <a:tcPr marL="73152" marR="73152" marT="27432" marB="27432" anchor="ctr">
                    <a:solidFill>
                      <a:srgbClr val="2EA0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Contacts relancés sous 48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42323"/>
                          </a:solidFill>
                          <a:latin typeface="Space Grotesk"/>
                        </a:rPr>
                        <a:t>100 %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683764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68376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RECOMMANDATIONS · PRIORITÉS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Par où commencer : impact et effort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positionnement à dire d’expert ; les numéros renvoient aux 3 pages précédentes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35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69494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60020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E3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1600200"/>
            <a:ext cx="3154680" cy="2148840"/>
          </a:xfrm>
          <a:prstGeom prst="roundRect">
            <a:avLst>
              <a:gd name="adj" fmla="val 8000"/>
            </a:avLst>
          </a:prstGeom>
          <a:solidFill>
            <a:srgbClr val="FF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3200400" cy="2148840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3840480"/>
            <a:ext cx="3154680" cy="2148840"/>
          </a:xfrm>
          <a:prstGeom prst="roundRect">
            <a:avLst>
              <a:gd name="adj" fmla="val 8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64592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2EA06B"/>
                </a:solidFill>
                <a:latin typeface="Space Grotesk"/>
              </a:rPr>
              <a:t>À FAIRE TOUT DE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4592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FF4A00"/>
                </a:solidFill>
                <a:latin typeface="Space Grotesk"/>
              </a:rPr>
              <a:t>À LANCER CE TRIMESTRE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002060"/>
                </a:solidFill>
                <a:latin typeface="Space Grotesk"/>
              </a:rPr>
              <a:t>GESTES RAPIDES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88620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À PLANIFIER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011680"/>
            <a:ext cx="301752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 · Images allégées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3 · Délai annoncé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8 · Lien devis dans les posts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12 · Un seul numéro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14 · Fin d’article vers le devis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2011680"/>
            <a:ext cx="29260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2 · « Écrire ma liste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4 · Prix « à partir de 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9 · Conseils incarnés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13 · 2 articles / mois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15 · Baromètre des prix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01752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5 · Newsletter décochée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6 · Fenêtre appli retardée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16 · Page presse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18 · Chantier filmé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19 · Collecte 48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4251960"/>
            <a:ext cx="292608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7 · Pages remplies pour Google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10 · Témoignages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11 · Facebook artisans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242323"/>
                </a:solidFill>
                <a:latin typeface="Space Grotesk"/>
              </a:rPr>
              <a:t>17 · Matinale GIBTP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2743200"/>
            <a:ext cx="54864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98932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080"/>
                </a:solidFill>
                <a:latin typeface="Space Grotesk"/>
              </a:rPr>
              <a:t>EFFORT 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1325880"/>
            <a:ext cx="3977639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155448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1673352"/>
            <a:ext cx="361187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Notre conseil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103120"/>
            <a:ext cx="3611879" cy="4069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Commencer par la colonne verte : </a:t>
            </a:r>
            <a:r>
              <a:rPr sz="1150" b="1">
                <a:solidFill>
                  <a:srgbClr val="242323"/>
                </a:solidFill>
                <a:latin typeface="Space Grotesk"/>
              </a:rPr>
              <a:t>5 gestes, moins de 2 jours chacun</a:t>
            </a:r>
            <a:r>
              <a:rPr sz="1150" b="0">
                <a:solidFill>
                  <a:srgbClr val="242323"/>
                </a:solidFill>
                <a:latin typeface="Space Grotesk"/>
              </a:rPr>
              <a:t>, qui touchent directement la demande de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Lancer en parallèle le baromètre des prix : il nourrit à la fois la presse, LinkedIn, Facebook, le blog et les matinales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Ne lancer aucune publicité payante avant que le site s’affiche en moins de 5 s sur téléphone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779776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779776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RECOMMANDATIONS · CALENDRIER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Plan d’action à 90 jours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36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25880"/>
            <a:ext cx="32918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J+30</a:t>
            </a:r>
            <a:r>
              <a:rPr sz="1700" b="0">
                <a:solidFill>
                  <a:srgbClr val="FFFFFF"/>
                </a:solidFill>
                <a:latin typeface="Space Grotesk"/>
              </a:rPr>
              <a:t>  ·  Réparer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3291840" cy="3200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Images allégées (1)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Délai annoncé, newsletter décochée, fenêtre appli retardée (3, 5, 6)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Un seul numéro, fiche « chiffres officiels » (12)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Lien devis dans chaque post (8, 14)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 presse (16)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7784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32918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Résultat : note vitesse téléphone ≥ 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32588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325880"/>
            <a:ext cx="32918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J+60</a:t>
            </a:r>
            <a:r>
              <a:rPr sz="1700" b="0">
                <a:solidFill>
                  <a:srgbClr val="FFFFFF"/>
                </a:solidFill>
                <a:latin typeface="Space Grotesk"/>
              </a:rPr>
              <a:t>  ·  Faire venir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210312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2240280"/>
            <a:ext cx="3291840" cy="3200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« Écrire ma liste » en ligne (2)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Prix « à partir de » sur 50 produits (4)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 n° 1 envoyé à 20 journalistes (15)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4 articles de blog publiés (13)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Facebook relancé, 1er chantier filmé (11, 18)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79" y="557784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5577840"/>
            <a:ext cx="32918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Résultat : 1er comptage des devis par canal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32588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1325880"/>
            <a:ext cx="32918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pace Grotesk"/>
              </a:rPr>
              <a:t>J+90</a:t>
            </a:r>
            <a:r>
              <a:rPr sz="1700" b="0">
                <a:solidFill>
                  <a:srgbClr val="FFFFFF"/>
                </a:solidFill>
                <a:latin typeface="Space Grotesk"/>
              </a:rPr>
              <a:t>  ·  Prouver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210312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2240280"/>
            <a:ext cx="3291840" cy="3200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1re matinale acheteurs avec le GIBTP (17)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2 témoignages clients (10)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Pages remplies pour Google : lancement (7)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Baromètres n° 2 et 3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42323"/>
                </a:solidFill>
                <a:latin typeface="Space Grotesk"/>
              </a:rPr>
              <a:t>•  Bilan chiffré à la direction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557784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5577840"/>
            <a:ext cx="3291840" cy="6858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02060"/>
                </a:solidFill>
                <a:latin typeface="Space Grotesk"/>
              </a:rPr>
              <a:t>Résultat : coût et source de chaque devis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2395728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2395728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RECOMMANDATIONS · MESURE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Tableau de bord : 8 indicateurs à suivre chaque mois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Source : point de départ = relevé public du 30/10/2026 ; « à mesurer » = donnée interne non fournie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37 / 39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25880"/>
          <a:ext cx="11109960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2011680"/>
                <a:gridCol w="214884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Indicateur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Où le lire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Aujourd’hui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pace Grotesk"/>
                        </a:rPr>
                        <a:t>Cible à 90 jours</a:t>
                      </a:r>
                    </a:p>
                  </a:txBody>
                  <a:tcPr marL="73152" marR="73152" marT="27432" marB="27432" anchor="ctr">
                    <a:solidFill>
                      <a:srgbClr val="00206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Demandes de devis reçues (par canal)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Outil de devis + champ « comment nous avez-vous connus ? 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à mesurer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chiffrées par canal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Note de vitesse sur téléphone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Outil d’audit de Google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36-37 / 100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60 et plus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Réactions moyennes par post LinkedIn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Statistiques de la page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Clics vers le devis depuis les réseaux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Liens suivis (paramètres de campagne)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non suivis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suivis chaque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Abonnés Facebook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Page Facebook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300 (hypothèse)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Articles de blog publiés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Blog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2 en 4 mois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6 de plus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Reprises presse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Veille presse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0 relevé en presse BTP / éco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3 par trimestre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42323"/>
                          </a:solidFill>
                          <a:latin typeface="Space Grotesk"/>
                        </a:rPr>
                        <a:t>Contacts d’événements relancés sous 48 h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Fichier contacts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aucun dispositif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42323"/>
                          </a:solidFill>
                          <a:latin typeface="Space Grotesk"/>
                        </a:rPr>
                        <a:t>100 %</a:t>
                      </a:r>
                    </a:p>
                  </a:txBody>
                  <a:tcPr marL="73152" marR="73152" marT="27432" marB="27432" anchor="ctr"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47472"/>
            <a:ext cx="571500" cy="310896"/>
          </a:xfrm>
          <a:prstGeom prst="roundRect">
            <a:avLst>
              <a:gd name="adj" fmla="val 8000"/>
            </a:avLst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5715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pace Grotesk"/>
              </a:rPr>
              <a:t>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96926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02060"/>
                </a:solidFill>
                <a:latin typeface="Space Grotesk"/>
              </a:rPr>
              <a:t>Pour aller plus loin</a:t>
            </a:r>
          </a:p>
        </p:txBody>
      </p:sp>
      <p:pic>
        <p:nvPicPr>
          <p:cNvPr id="7" name="Picture 6" descr="logo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143000" cy="4740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6400800"/>
            <a:ext cx="11109960" cy="10972"/>
          </a:xfrm>
          <a:prstGeom prst="rect">
            <a:avLst/>
          </a:prstGeom>
          <a:solidFill>
            <a:srgbClr val="E4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6B7080"/>
                </a:solidFill>
                <a:latin typeface="Space Grotesk"/>
              </a:rPr>
              <a:t>BLOK Technology · Audit marketing et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446520"/>
            <a:ext cx="19659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900">
                <a:solidFill>
                  <a:srgbClr val="6B7080"/>
                </a:solidFill>
                <a:latin typeface="Space Grotesk"/>
              </a:rPr>
              <a:t>38 / 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3258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57200" cy="548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733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qu’il nous faut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5120640" cy="4069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Accès en lecture aux statistiques du site et à Google Search Console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Statistiques de la page LinkedIn (portée, clics, abonnés gagnés)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nombre de devis reçus par mois depuis 3 mois, et combien sont devenus des commandes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Ce que reçoit le client après « Démarrer l’analyse » (e-mail, WhatsApp, délai réel)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La liste des 50 produits les plus demandés, pour les prix « à partir de » et le baromètre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457200" cy="54864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73352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02060"/>
                </a:solidFill>
                <a:latin typeface="Space Grotesk"/>
              </a:rPr>
              <a:t>Ce que nous pouvons livrer ensuite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5120640" cy="4069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Les textes du nouvel accueil et du bouton devis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calendrier éditorial LinkedIn, Facebook et blog sur 3 mois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modèle du baromètre mensuel des prix et la liste des 20 journalistes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déroulé et l’invitation de la 1re matinale acheteurs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42323"/>
                </a:solidFill>
                <a:latin typeface="Space Grotesk"/>
              </a:rPr>
              <a:t>•  Le tableau de bord mensuel, prêt à remplir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tif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822960"/>
            <a:ext cx="4616544" cy="5394960"/>
          </a:xfrm>
          <a:prstGeom prst="rect">
            <a:avLst/>
          </a:prstGeom>
        </p:spPr>
      </p:pic>
      <p:pic>
        <p:nvPicPr>
          <p:cNvPr id="4" name="Picture 3" descr="logo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2011680" cy="7177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2148840"/>
            <a:ext cx="1097280" cy="73152"/>
          </a:xfrm>
          <a:prstGeom prst="rect">
            <a:avLst/>
          </a:prstGeom>
          <a:solidFill>
            <a:srgbClr val="FF4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65836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pace Grotesk"/>
              </a:rPr>
              <a:t>Réparer, faire venir, prouver.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40080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C9D3E8"/>
                </a:solidFill>
                <a:latin typeface="Space Grotesk"/>
              </a:rPr>
              <a:t>Chaque post, chaque article et chaque événement doit finir au même endroit : la demande de cotation.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64008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FF4A00"/>
                </a:solidFill>
                <a:latin typeface="Space Grotesk"/>
              </a:rPr>
              <a:t>blok.africa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