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x_12491632_s.jpg"/>
          <p:cNvPicPr>
            <a:picLocks noChangeAspect="1"/>
          </p:cNvPicPr>
          <p:nvPr/>
        </p:nvPicPr>
        <p:blipFill>
          <a:blip r:embed="rId2"/>
          <a:srcRect l="23598" r="23598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0"/>
            <a:ext cx="109728" cy="685800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2103120" cy="7504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011680"/>
            <a:ext cx="5852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4A00"/>
                </a:solidFill>
                <a:latin typeface="Space Grotesk"/>
              </a:rPr>
              <a:t>AUDIT MARKETING ET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585216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pace Grotesk"/>
              </a:rPr>
              <a:t>Diagnostic de l’écosystème marketing et feuille de route à 90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57607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C9D3E8"/>
                </a:solidFill>
                <a:latin typeface="Space Grotesk"/>
              </a:rPr>
              <a:t>Site et référencement · Google Ads · LinkedIn · Facebook · Relations publiques et événementiel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5760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C9D3E8"/>
                </a:solidFill>
                <a:latin typeface="Space Grotesk"/>
              </a:rPr>
              <a:t>Présentation à la direction · relevé public du 30 octobre 2026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C9D3E8"/>
                </a:solidFill>
                <a:latin typeface="Space Grotesk"/>
              </a:rPr>
              <a:t>Chargé de marketing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Sommaire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4592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Synthèse et méthode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1168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Ce qui a été vérifié, ce qui reste à ouvrir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64592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Site et référencement naturel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blok.africa, contenus, visibilité Google, conversion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70048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34640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852928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Google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218688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Acquisition payante, structure de lancement, mesure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70048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852928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218688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Page entreprise, fondateurs, ligne éditoriale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77056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41648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05993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Facebook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42569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Page, contenus, publicité vers WhatsApp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877056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41648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05993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Relations publiques et événementiel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42569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Acquis, salons 2027, partenariats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84064"/>
            <a:ext cx="5440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248656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26694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Feuille de route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63270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Priorités, 90 jours, budget, tableau de bord, décisions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Synthèse : une crédibilité réelle, une machine d’acquisition à construire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relevé public du 30/10/2026 (site, Google, bibliothèques publicitaires Google et Meta, LinkedIn, Facebook, presse)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6675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4A00"/>
                </a:solidFill>
                <a:latin typeface="Space Grotesk"/>
              </a:rPr>
              <a:t>Cinq constats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6675120" cy="4480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242323"/>
                </a:solidFill>
                <a:latin typeface="Space Grotesk"/>
              </a:rPr>
              <a:t>Hors de son nom, BLOK n’apparaît pas sur Google.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 Sur 5 recherches d’achat testées (« achat matériaux de construction abidjan »…), blok.africa n’est dans aucun des premiers résultats.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242323"/>
                </a:solidFill>
                <a:latin typeface="Space Grotesk"/>
              </a:rPr>
              <a:t>Aucune publicité en ligne.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 0 annonce Google et 0 annonce Meta trouvées pour BLOK ; aucune balise de conversion publicitaire sur le site.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242323"/>
                </a:solidFill>
                <a:latin typeface="Space Grotesk"/>
              </a:rPr>
              <a:t>LinkedIn porte la marque, Facebook est à l’arrêt.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 1 687 abonnés LinkedIn et 2,2 publications par semaine ; 20 abonnés Facebook, dernière publication le 16 septembre.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242323"/>
                </a:solidFill>
                <a:latin typeface="Space Grotesk"/>
              </a:rPr>
              <a:t>Les preuves existent mais restent cachées.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 GIBTP, panel au SIA 2026, AfricArena, Ivoire Tech : peu de clients montrés, aucun chiffre d’usage raconté.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242323"/>
                </a:solidFill>
                <a:latin typeface="Space Grotesk"/>
              </a:rPr>
              <a:t>Le parcours de conversion se perd.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 Deux numéros et deux e-mails différents selon le canal, prix visibles seulement après connexion, articles sans appel à l’action.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17320"/>
            <a:ext cx="4114800" cy="48006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4A00"/>
                </a:solidFill>
                <a:latin typeface="Space Grotesk"/>
              </a:rPr>
              <a:t>Trois priorités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57400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1. Mesurer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04872"/>
            <a:ext cx="36576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D5DDEE"/>
                </a:solidFill>
                <a:latin typeface="Space Grotesk"/>
              </a:rPr>
              <a:t>Brancher le suivi des demandes de devis, des clics WhatsApp et des inscriptions avant tout euro dépensé.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429000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2. Capter la demande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776472"/>
            <a:ext cx="36576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D5DDEE"/>
                </a:solidFill>
                <a:latin typeface="Space Grotesk"/>
              </a:rPr>
              <a:t>Pages d’atterrissage par famille de produits + campagne Google Recherche test sur Abidjan.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800600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3. Prouver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148072"/>
            <a:ext cx="36576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D5DDEE"/>
                </a:solidFill>
                <a:latin typeface="Space Grotesk"/>
              </a:rPr>
              <a:t>Un baromètre mensuel des prix des matériaux et des cas clients, déclinés sur LinkedIn, Facebook, presse et salons.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Méthode : ce qui a été vérifié, et ce qui ne l’a pas été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Chaque constat de ce document porte l’une de ces trois marques 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3876" y="17830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080"/>
                </a:solidFill>
                <a:latin typeface="Space Grotesk"/>
              </a:rPr>
              <a:t>relevé le 30/10/2026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45635" y="1783080"/>
            <a:ext cx="809244" cy="256032"/>
          </a:xfrm>
          <a:prstGeom prst="roundRect">
            <a:avLst>
              <a:gd name="adj" fmla="val 8000"/>
            </a:avLst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45635" y="1783080"/>
            <a:ext cx="809244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HYPOTHÈSE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17830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080"/>
                </a:solidFill>
                <a:latin typeface="Space Grotesk"/>
              </a:rPr>
              <a:t>à confirmer avec les données internes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783080"/>
            <a:ext cx="1197864" cy="256032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783080"/>
            <a:ext cx="1197864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RECOMMANDATION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78308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080"/>
                </a:solidFill>
                <a:latin typeface="Space Grotesk"/>
              </a:rPr>
              <a:t>action proposée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286000"/>
            <a:ext cx="54864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25146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6334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Sources consultées (accès public)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63240"/>
            <a:ext cx="5120640" cy="30632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Site blok.africa : 7 pages analysées, plan du site (294 adresses)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Google Côte d’Ivoire : 6 recherches + recherche « site:blok.africa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Centre de transparence des annonces Google et bibliothèque publicitaire Meta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 Facebook Blok Technology et fiche Google Play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Audit de la page LinkedIn BLOK du 25/10/2026 (40 publications, juillet-octobre 2026)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Presse et écosystème : We Are Tech, allAfrica, GIBTP, AfricArena, programmes des salons 2027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286000"/>
            <a:ext cx="54864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51460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334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Non accessibles à ce jour : à ouvrir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063240"/>
            <a:ext cx="5120640" cy="30632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Google Analytics (balise présente sur le site, chiffres non consultés)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Google Search Console : impressions, clics, pages indexées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Compte Google Ads et Meta Business (historique éventuel de campagnes)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Statistiques administrateur LinkedIn et Facebook (portée, visiteurs)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Données commerciales : demandes de devis, commandes, panier moyen, coût d’acquisition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Sans ces données, les objectifs chiffrés de ce document sont des cibles proposées, à recaler au premier mois.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BLOK aujourd’hui : ce que la marque dit d’elle-même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blok.africa/about, LinkedIn BLOK, page Facebook, Google Play, We Are Tech (avril et décembre 2025), GIBTP (2/10/2026)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5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+100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fournisseurs vérifiés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page À propos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4173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50876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+11 000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10312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produits au catalogue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42316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page À propos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4173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50876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1 000+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0312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téléchargements Android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42316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Google Play, note 4,1 sur 8 avis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14173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3" y="150876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1 687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3" y="210312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abonnés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3" y="242316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relevé du 25/10/2026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01752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24612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64991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Positionnement relevé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794759"/>
            <a:ext cx="512064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Plateforme d’approvisionnement en matériaux propulsée par l’IA, pour les pros du BTP (LinkedIn, GIBTP)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Fondée par Yohann Behi (directeur général) et Waly K. N’Diaye (directeur des opérations), Ivoire Trade Center, Cocody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Livraison sur le Grand Abidjan ; stock local livré en 24 à 72 h (FAQ)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Paiement mobile (Wave, MoMo), virement, paiement à terme pour clients vérifiés (FAQ)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01752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24612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364991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Incohérences à corriger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94759"/>
            <a:ext cx="512064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Catalogue : « +11 000 » (site), « +10 000 » (Facebook), « +10 00 » (LinkedIn, coquille)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Commande : « moins de 5 minutes » et « &lt; 6 min » sur la même page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Contact : WhatsApp 07 98 03 89 22 sur le site, 07 01 36 94 75 sur Facebook ; info@ et sales@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L’application est publiée sous le nom « Mstudio.vc », pas « BLOK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Accueil : « WC, interrupteurs, PVC » face à « procurement IA » ailleurs : deux promesses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Tableau de maturité des cinq axes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appréciation sur le relevé public du 30/10/2026 ; à revoir une fois les statistiques internes ouvertes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6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1099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3108960"/>
                <a:gridCol w="3337560"/>
                <a:gridCol w="10972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Axe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Niveau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qui marche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Le principal frein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Priorité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Site et référencement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structurer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Titres et descriptions travaillés, plan du site, blog lancé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Invisible hors de son nom ; 2 articles ; produits absents du plan du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Ads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Absent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Balise Google Analytics installée via Tag Manager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Aucune campagne, aucune mesure de conversion, pas de page d’atterrissage dédiée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Actif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Rythme tenu (2,2 posts/semaine), sujets institutionnels qui prennent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Peu de preuves clients, pas de vidéo, fondateurs peu relayés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Facebook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l’arrêt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créée, coordonnées et catégorie remplies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20 abonnés, 1 réaction sur le dernier post, aucun avis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Relations publiques et événements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Point fort sous-exploité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GIBTP, SIA 2026, AfricArena, Ivoire Tech, We Are Tech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Aucun dispositif pour transformer la visibilité en prospects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875788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87578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1 · SITE ET RÉFÉRENCEMENT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 site convertit mal ce que Google lui envoie, et Google lui envoie peu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relevé de blok.africa et de Google Côte d’Ivoire le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7 / 25</a:t>
            </a:r>
          </a:p>
        </p:txBody>
      </p:sp>
      <p:pic>
        <p:nvPicPr>
          <p:cNvPr id="11" name="Picture 10" descr="cap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120640" cy="34535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12064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Accueil de blok.africa, 30/10/2026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0020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60020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65960"/>
            <a:ext cx="5669280" cy="4389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Serveur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chaque adresse renvoie d’abord la même page vide (2 mots, titre « BLOK Technologie ») ; le contenu n’arrive qu’après le chargement du script.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Dans Google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des fiches marques et catégories s’affichent avec le titre générique « BLOK Technologie », et la page « Mes Favoris » est indexée.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Plan du site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8 pages fixes, 2 articles, 284 catégories,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aucune fiche produit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sur les 11 000 annoncées.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Recherches d’achat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absent des premiers résultats sur « achat matériaux de construction abidjan », « fournisseur matériaux BTP abidjan », « quincaillerie en ligne abidjan », « marketplace BTP côte d’ivoire », « devis matériaux construction abidjan ». 1er sur « BLOK Technology ».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Blog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2 articles (6 juillet et 22 septembre 2026), 0 partage affiché ; l’article sur le budget de chantier ne renvoie vers aucun produit ni vers la demande de devis.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Conversion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le bouton « Charger ma demande de cotation » est bien placé ; mais les prix sont masqués sans compte et aucune preuve client n’apparaît sur l’accueil.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875788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87578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1 · SITE ET RÉFÉRENCEMENT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Forces, faiblesses et opportunités du site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relevé du 30/10/2026 ; résultats Google de la même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8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Forces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324612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Titres et descriptions rédigés par page (accueil, FAQ, contact, blog)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Demande de cotation par fichier (PDF, photo, Excel) : un vrai usage terrain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FAQ riche : paiement, délais, retours, fournisseurs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Catalogue de 12 familles et pages marques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169164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105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Faiblesses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40280"/>
            <a:ext cx="324612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Pages servies vides avant script : indexation fragile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Pas d’adresse de référence par page ni de données structurées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Fiches produit hors plan du site, pages marques sans description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Blog à l’arrêt depuis 5 semaines, sans lien vers l’offre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58 images sans texte alternatif sur la page contact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6304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69164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8105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Opportunités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40280"/>
            <a:ext cx="324612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recherches « prix », « devis » et « bordereau » sont tenues par des PDF anonymes (Scribd) : BLOK a les vrais prix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Peu de concurrents structurés sur la requête « quincaillerie en ligne abidjan » (Jachete, Jumia, Kalizio)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Pages locales par commune du Grand Abidjan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Assistant de chat déjà en place : à relier au devis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875788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87578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1 · SITE ET RÉFÉRENCEMENT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Plan d’action référencement et conversion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cibles proposées : à recaler sur la Search Console au premier mois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9 / 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11109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320"/>
                <a:gridCol w="1188720"/>
                <a:gridCol w="1645920"/>
                <a:gridCol w="1051560"/>
                <a:gridCol w="1234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Coût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Délai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Porteur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Ouvrir la Search Console et y déclarer le plan du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Semaine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Marketing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Servir des pages déjà remplies (pré-rendu) pour l’accueil, les catégories et les fiches produit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Temps de développement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Mois 1-2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Équipe technique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Ajouter les fiches produit au plan du site ; retirer Favoris, Panier, Paramètres de l’index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Mois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Équipe technique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12 pages d’atterrissage par famille (ciment, fer, plomberie…) avec texte, prix « à partir de »,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Mois 1-3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Marketing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Baromètre mensuel des prix des matériaux à Abidjan (page publique, mise à jour chaque mois)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Mois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Marketing + achats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2 articles par mois, chacun relié à une famille de produits et au bouton de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Continu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Marketing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Preuves sur l’accueil : logos clients autorisés, chiffres à jour, avis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Mois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Marketing + ventes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21808"/>
            <a:ext cx="106984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Indicateurs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impressions et clics Google hors marque · pages indexées / pages utiles · nombre de requêtes d’achat en première page · demandes de devis issues du référencement · taux de conversion visiteur → demande de devis.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Cibles proposées à 90 jours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10 requêtes d’achat en première page ; base de clics hors marque mesurée puis +50 %.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81965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8196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2 · GOOGLE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Google Ads : rien n’est lancé, et rien ne serait mesuré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Centre de transparence des annonces Google (domaine blok.africa, toutes régions) ; code de la balise Tag Manager GTM-KHP4RL2H,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10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0574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762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Situation actuelle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06040"/>
            <a:ext cx="5120640" cy="3520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200" b="1">
                <a:solidFill>
                  <a:srgbClr val="242323"/>
                </a:solidFill>
                <a:latin typeface="Space Grotesk"/>
              </a:rPr>
              <a:t>0 annonce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 diffusée vers blok.africa, sur toutes les périodes affichées par Google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site charge Google Analytics 4 par Tag Manager ; </a:t>
            </a:r>
            <a:r>
              <a:rPr sz="1200" b="1">
                <a:solidFill>
                  <a:srgbClr val="242323"/>
                </a:solidFill>
                <a:latin typeface="Space Grotesk"/>
              </a:rPr>
              <a:t>aucune balise de conversion Google Ads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Aucun annonceur concurrent sur les recherches d’achat testées : la place est libre aujourd’hui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Pas de page d’atterrissage dédiée : l’accueil mélange catalogue, promotion et devis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Prix visibles seulement après inscription : une étape de plus pour un clic payé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63040"/>
            <a:ext cx="1197864" cy="256032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463040"/>
            <a:ext cx="1197864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RECOMMANDATION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8288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0574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1762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Avant de dépenser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06040"/>
            <a:ext cx="5120640" cy="3520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Définir 4 conversions : demande de devis envoyée, clic WhatsApp, inscription, commande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Relier Google Ads à Google Analytics et importer ces conversions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Créer une page d’atterrissage « Envoyez votre liste de matériaux, recevez votre devis », formulaire court + WhatsApp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Tracer les appels et WhatsApp avec un numéro unique par source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Fixer avec la direction un coût maximal acceptable par demande de devis, à partir du panier moyen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81965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8196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2 · GOOGLE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Structure de lancement proposée : un test de 8 semaines sur Abidjan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volumes de recherche et coûts par clic à lire dans le planificateur de mots-clés avant lancement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11 / 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11109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00200"/>
                <a:gridCol w="4206240"/>
                <a:gridCol w="2103120"/>
                <a:gridCol w="10058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Campagne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Objectif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Exemples de mots-clés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Ciblage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Part du budget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Recherche · Intention d’achat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Demandes de devis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prix fer à béton abidjan », « fournisseur ciment abidjan », « quincaillerie en ligne abidjan », « devis matériaux construction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Grand Abidjan, ordinateur + mobile, horaires de bureau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60 %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Recherche · Familles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Demandes par famille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carrelage », « étanchéité toiture », « tuyau PVC » +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Grand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25 %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Recherche · Marque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Protéger le nom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blok africa », « blok technology », « application blok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Côte d’Ivoire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5 %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Reciblage (mois 2)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Faire revenir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Visiteurs ayant ouvert une famille sans demander de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Audience du site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10 %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484632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07492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9379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Mots-clés à exclure dès le départ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59"/>
            <a:ext cx="51206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emploi, recrutement, formation, cours, pdf, gratuit, blockchain, « Block » (homonymes)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84632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956048"/>
            <a:ext cx="51206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Indicateurs :</a:t>
            </a:r>
            <a:r>
              <a:rPr sz="1150" b="0">
                <a:solidFill>
                  <a:srgbClr val="FFFFFF"/>
                </a:solidFill>
                <a:latin typeface="Space Grotesk"/>
              </a:rPr>
              <a:t> coût par demande de devis · taux de conversion de la page · part des devis transformés en commande · retour sur dépense (marge des commandes / dépense).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Décision à 8 semaines : continuer, réorienter ou arrêter.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627632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62763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3 · 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LinkedIn : la marque publie beaucoup, les preuves manquent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audit de la page LinkedIn BLOK, relevé public du 25/10/2026 (35 publications propres et 5 partages, juillet-octobre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12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1 687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abonnés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41732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46304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2,2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05740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publications / semaine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41732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46304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05740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réactions médianes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141732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3" y="146304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3" y="205740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vidéo publiée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9748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9748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01752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24612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64991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montrent les 40 publications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794759"/>
            <a:ext cx="512064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Rythme régulier : jamais plus de 7 jours sans publier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Formats : 28 photos ou affiches, 7 carrousels ; aucune vidéo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seul témoignage client (SOTASERV) ; aucun chiffre d’usage ni avant-après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L’annonce de l’adhésion au GIBTP (21/09) : 65 réactions, soit 5 fois la médiane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21 posts sur 35 en lettres « grasses » spéciales, illisibles par la recherche ; 7 mots-dièse en médiane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01752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24612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364991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94759"/>
            <a:ext cx="5120640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sujets institutionnels et terrain (GIBTP, salon) prennent ; les carrousels sur l’IA, non (10 réactions en médiane)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fondateurs font 10 à 20 fois plus de réactions que la page, mais sont peu relayés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 public cible (directeurs travaux, acheteurs, promoteurs) n’est pas interpellé par son problème : délais, prix, ruptures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Aucun appel à l’action vers le devis ou l’application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627632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62763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3 · 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Nouvelle ligne éditoriale LinkedIn : montrer le chantier, pas la technologie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cibles à recaler sur les statistiques administrateur de la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13 / 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111099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00200"/>
                <a:gridCol w="2286000"/>
                <a:gridCol w="4206240"/>
                <a:gridCol w="10058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Rendez-vous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Jour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Format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Contenu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But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Le chantier livré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Mardi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Photo réelle ou vidéo 30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Une livraison : quoi, où, en combien de temps, avec l’accord du client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Preuve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Le baromètre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1er jeudi du mois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Carrousel + infolettre LinkedIn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Évolution des prix du ciment, du fer, du PVC à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Expertise, presse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La parole du client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Jeudi (2 par mois)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Vidéo face caméra 45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Un chef de chantier ou un quincaillier raconte son problème et la solution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Confiance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Coulisses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Vendredi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Photo d’équipe ou de l’entrepôt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Sourcing, contrôle qualité, fournisseurs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Proximité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Voix des fondateurs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2 fois par semaine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Texte personnel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Yohann Behi et Waly K. N’Diaye : décryptage du marché, leçons terrain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Portée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493776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16636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28523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Règles d’écriture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Texte normal (plus de lettres spéciales), 3 à 5 mots-dièse ciblés, une question concrète, un lien de devis en commentaire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93776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029200"/>
            <a:ext cx="512064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pace Grotesk"/>
              </a:rPr>
              <a:t>Indicateurs :</a:t>
            </a:r>
            <a:r>
              <a:rPr sz="1100" b="0">
                <a:solidFill>
                  <a:srgbClr val="FFFFFF"/>
                </a:solidFill>
                <a:latin typeface="Space Grotesk"/>
              </a:rPr>
              <a:t> taux d’engagement, visiteurs de la page, clics vers le devis, demandes reçues par LinkedIn.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pace Grotesk"/>
              </a:rPr>
              <a:t>Cibles proposées à 90 jours :</a:t>
            </a:r>
            <a:r>
              <a:rPr sz="1100" b="0">
                <a:solidFill>
                  <a:srgbClr val="FFFFFF"/>
                </a:solidFill>
                <a:latin typeface="Space Grotesk"/>
              </a:rPr>
              <a:t> médiane de 13 à 25 réactions ; 2 000 abonnés ; 1 cas client par mois.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627632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62763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4 ·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Facebook : une page créée, puis laissée en sommeil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page facebook.com/profile.php?id=61590236986609 et bibliothèque publicitaire Meta (Côte d’Ivoire, « Blok Technology »),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14 / 25</a:t>
            </a:r>
          </a:p>
        </p:txBody>
      </p:sp>
      <p:pic>
        <p:nvPicPr>
          <p:cNvPr id="11" name="Picture 10" descr="cap_f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3577046" cy="4846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17720" y="141732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1732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783080"/>
            <a:ext cx="7040880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20 abonnés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, 0 abonnement ; aucune note ni avis (« Not yet rated »)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Dernière publication visible :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16 septembre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, 1 réaction ; même texte en lettres « grasses » que LinkedIn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Adresse de page non personnalisée (profile.php?id=…) : difficile à citer sur un flyer ou un camion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 texte de la couverture est coupé à l’affichage sur ordinateur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Numéro de téléphone différent de celui du site ; e-mail sales@ au lieu d’info@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Aucune publicité Meta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 trouvée pour Blok Technology en Côte d’Ivoire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434840"/>
            <a:ext cx="809244" cy="256032"/>
          </a:xfrm>
          <a:prstGeom prst="roundRect">
            <a:avLst>
              <a:gd name="adj" fmla="val 8000"/>
            </a:avLst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434840"/>
            <a:ext cx="809244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HYPOTHÈSE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754880"/>
            <a:ext cx="70408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828032"/>
            <a:ext cx="667512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Les quincailliers, artisans et petits entrepreneurs que BLOK cible sur le terrain sont plus présents sur Facebook et WhatsApp que sur LinkedIn. Facebook devrait donc servir à vendre aux petits comptes, LinkedIn aux grands comptes. À confirmer par les données de commande (type de client par canal d’arrivée).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627632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62763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4 ·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Facebook : en faire le canal des petits comptes, relié à WhatsApp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budget publicitaire à arbitrer (voir page budget)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15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Remettre la page en état (semaine 1-2)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324612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Adresse personnalisée, couverture refaite au format Facebook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seul numéro WhatsApp et un seul e-mail partout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Bouton « Envoyer un message WhatsApp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Avis activés ; demander un avis aux clients livrés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Lier la page au compte WhatsApp Business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169164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105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Contenus (3 par semaine)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40280"/>
            <a:ext cx="324612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« Le prix du jour » : 3 produits du quotidien, prix livrés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Vidéo verticale d’une livraison sur chantier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quincaillier client raconte (en français courant)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Tutoriel court : préparer sa liste de matériaux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Ton plus direct que LinkedIn, photos réelles d’Abidjan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6304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69164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8105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Publicité test (mois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40280"/>
            <a:ext cx="324612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Annonces « clic vers WhatsApp » ciblées Grand Abidjan, centres d’intérêt BTP et quincaillerie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Reciblage des visiteurs du site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Message unique : « Envoyez votre liste, recevez votre devis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Indicateurs :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 coût par conversation WhatsApp, devis envoyés, commandes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Cible proposée :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 500 abonnés à 90 jours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4219955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219955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5 · RELATIONS PUBLIQUES ET ÉVÉNEMENTIEL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Relations publiques : BLOK a déjà des titres que d’autres achètent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We Are Tech (15/04/2025, 15/12/2025), allAfrica (16/04/2025), LinkedIn BLOK et GIBTP (09-10/2026), blok.africa/about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16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43200"/>
            <a:ext cx="10607040" cy="457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17319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Janv.-avr.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Sélection Ivoire Tech Champions et immersion Silicon Valley (forum AGGF)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Avril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Articles We Are Tech et allAfrica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Déc.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AfricArena Cape Town ; portrait de Yohann Behi dans We Are Tech</a:t>
            </a:r>
          </a:p>
        </p:txBody>
      </p:sp>
      <p:sp>
        <p:nvSpPr>
          <p:cNvPr id="23" name="Oval 22"/>
          <p:cNvSpPr/>
          <p:nvPr/>
        </p:nvSpPr>
        <p:spPr>
          <a:xfrm>
            <a:off x="8138160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Mai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Africa Forward Nairobi (selon le site de BLOK)</a:t>
            </a:r>
          </a:p>
        </p:txBody>
      </p:sp>
      <p:sp>
        <p:nvSpPr>
          <p:cNvPr id="26" name="Oval 25"/>
          <p:cNvSpPr/>
          <p:nvPr/>
        </p:nvSpPr>
        <p:spPr>
          <a:xfrm>
            <a:off x="10378440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Sept.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Adhésion au GIBTP ; panel du CEO au Salon des Infrastructures d’Abidjan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5720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908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manque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5120640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Aucune salle de presse sur le site (communiqués, logos, photos, contact presse)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Presse tech surtout ; presque rien dans la presse BTP et économique ivoirienne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Les événements ne produisent ni liste de prospects ni suite commerciale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34340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57200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6908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Point de vigilance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120640"/>
            <a:ext cx="5120640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La distinction AfricArena n’est sourcée que par le site de BLOK : garder le justificatif avant de la citer en presse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Les levées de fonds citées par des bases tierces ne sont pas à reprendre sans validation de la direction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4219955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219955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5 · RELATIONS PUBLIQUES ET ÉVÉNEMENTIEL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Calendrier 2027 des salons et rendez-vous à arbitrer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sites et communiqués des organisateurs : ATLM Expo, Ordre des architectes et Axes Marketing, GIBTP, CCI France Côte d’Ivoire, S2IA (relevés le 30/10/2026)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17 / 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11109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514600"/>
                <a:gridCol w="2148840"/>
                <a:gridCol w="3108960"/>
                <a:gridCol w="100584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Rendez-vous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Dates et lieu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Public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Format proposé pour BLOK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Priorité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Roadshow et Press Days INTERMAT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20-21 janv. 2027, Paris (salon 21-24 avril)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Industrie internationale, Village des start-up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Candidature au Village des start-up si budget voyage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Basse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Côte d’Ivoire Build Expo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10-12 juin 2027, Parc des Expositions d’Abidjan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Fabricants, entrepreneurs, acheteurs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Visite organisée + rendez-vous fournisseurs ; stand partagé à étudier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Salon international de l’industrie (S2IA)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17-23 sept. 2027, Parc des Expositions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Industriels, institutions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Veille, rendez-vous ciblés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Basse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ARCHIBAT 2027 (20 ans)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14-18 oct. 2027, Parc des Expositions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Architectes, promoteurs, entrepreneurs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4A00"/>
                          </a:solidFill>
                          <a:latin typeface="Space Grotesk"/>
                        </a:rPr>
                        <a:t>Stand + atelier à l’AGORA</a:t>
                      </a:r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 : le baromètre des prix en direct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Réunions et commissions du GIBTP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Toute l’année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Entreprises membres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Petit-déjeuner acheteurs BLOK une fois par trimestre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440680"/>
            <a:ext cx="111099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04688"/>
            <a:ext cx="1069848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242323"/>
                </a:solidFill>
                <a:latin typeface="Space Grotesk"/>
              </a:rPr>
              <a:t>Repère de coût vérifié :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 au SIA 2026, le GIBTP proposait six formules de partenariat de 5 à 40 millions de FCFA. Les stands des salons 2027 sont à chiffrer sur devis des organisateurs avant toute décision.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4219955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219955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5 · RELATIONS PUBLIQUES ET ÉVÉNEMENTIEL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Dispositif relations publiques et événements clients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chaque prise de parole publique et chaque communiqué passent par la validation de la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18 /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Relations presse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324612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Salle de presse sur le site : chiffres validés, logos, photos, contact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Baromètre des prix envoyé chaque mois aux rubriques économie (Fraternité Matin, Abidjan.net, AIP, Sika Finance)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Tribunes des fondateurs sur la digitalisation du BTP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1 communiqué par jalon réel (nouveau partenaire, cap de commandes)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169164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105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Événements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40280"/>
            <a:ext cx="324612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« Les matinales BLOK » : petit-déjeuner trimestriel avec 15 acheteurs, avec le GIBTP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Tournée des quincailleries par commune avec kit (affiche, autocollant, QR code WhatsApp)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Démonstration de la demande de devis par photo, sur place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Chaque contact entre dans le CRM le jour même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6304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69164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8105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Partenariats à approcher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40280"/>
            <a:ext cx="324612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Organisations : GIBTP (déjà membre), Ordre des architectes, chambres de commerce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Fabricants et marques du catalogue : contenus et promotions co-signés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Écoles d’ingénieurs et d’architecture : concours, stages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Indicateurs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retombées presse, contacts qualifiés par événement, devis issus des événements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Cinq problèmes transverses à régler avant d’accélérer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relevé du 30/10/2026 : site, page Facebook, LinkedIn, Google Play, code Tag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19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1828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Mesure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417320"/>
            <a:ext cx="45720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Seul Google Analytics est installé : ni Google Ads, ni Meta, ni LinkedIn ne peuvent mesurer un devis.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417320"/>
            <a:ext cx="4114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→ Plan de marquage : devis, WhatsApp, inscription, commande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95728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95728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95728"/>
            <a:ext cx="1828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Coordonnées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395728"/>
            <a:ext cx="45720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Deux numéros, deux e-mails selon le canal.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395728"/>
            <a:ext cx="4114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→ Un numéro WhatsApp commercial, une adresse, partout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74136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74136"/>
            <a:ext cx="1828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Chiffres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374136"/>
            <a:ext cx="45720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10 000 / 11 000 produits ; 5 / 6 minutes ; « +10 00 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374136"/>
            <a:ext cx="4114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→ Une fiche de chiffres validés par la direction, revue chaque trimestre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52544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52544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52544"/>
            <a:ext cx="1828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352544"/>
            <a:ext cx="45720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Accueil « WC, interrupteurs » ; réseaux « procurement IA ».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352544"/>
            <a:ext cx="4114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→ Une promesse : « Envoyez votre liste, BLOK trouve, chiffre et livre 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30952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330952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30952"/>
            <a:ext cx="1828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330952"/>
            <a:ext cx="45720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Éditeur affiché « Mstudio.vc » ; dernière mise à jour le 1er déc. 2025 ; 8 avis.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330952"/>
            <a:ext cx="41148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→ Renommer l’éditeur, relancer la collecte d’avis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Priorisation : impact, coût, facilité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appréciation ; coût : nul = temps interne seulement, faible &lt; 500 000 FCFA, moyen &lt; 3 M FCFA, élevé au-delà (estimations à confirmer)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20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109960" cy="4933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120640"/>
                <a:gridCol w="1234440"/>
                <a:gridCol w="1051560"/>
                <a:gridCol w="914400"/>
                <a:gridCol w="1143000"/>
                <a:gridCol w="1234440"/>
              </a:tblGrid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Axe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Coût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Facilité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Quand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Plan de marquage et conversions (devis, WhatsApp, inscription, commande)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Tous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S1-S2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Unifier coordonnées, chiffres et promesse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Tous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S1-S2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Search Console + nettoyage de l’index + produits au plan du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S2-S4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Page d’atterrissage « Envoyez votre liste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Site, Ads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S3-S5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Campagne Google Recherche test (8 semaines)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Ads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S6-S13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Nouvelle ligne éditoriale LinkedIn + relais fondateurs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S2 →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Baromètre mensuel des prix (site, LinkedIn, presse)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Site, RP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M2 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Remise en état Facebook + WhatsApp Business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Facebook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S2-S3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Pré-rendu des pages pour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Difficile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M1-M3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Matinale acheteurs avec le GIBTP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RP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M3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Publicité Facebook « clic vers WhatsApp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Facebook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M2-M3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Décision ARCHIBAT 2027 (stand + atelier)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RP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Élevé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Décision M3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Feuille de route à 90 jours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S = semaine à compter de la validation par la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21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Semaines 1 à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4708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pace Grotesk"/>
              </a:rPr>
              <a:t>Réparer et mesurer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3291840" cy="3657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Plan de marquage et conversions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Coordonnées et chiffres unifiés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Search Console, plan du site, index nettoyé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 Facebook remise en état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Ligne éditoriale LinkedIn lancée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Brief pré-rendu à l’équipe technique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41732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46304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Semaines 5 à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84708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pace Grotesk"/>
              </a:rPr>
              <a:t>Capter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3774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2514600"/>
            <a:ext cx="3291840" cy="3657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 « Envoyez votre liste » en ligne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Campagne Google Recherche lancée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3 premières pages de familles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1er baromètre des prix (site, LinkedIn, presse)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cas clients filmés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Tournée quincailleries : 2 communes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41732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146304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Semaines 9 à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184708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pace Grotesk"/>
              </a:rPr>
              <a:t>Prouver et décider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3774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2514600"/>
            <a:ext cx="3291840" cy="3657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Bilan Google Ads à 8 semaines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Test publicité Facebook vers WhatsApp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Matinale acheteurs avec le GIBTP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2e et 3e baromètres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Bilan à la direction : coût par devis, canaux gagnants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Décision salons 2027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Tableau de bord mensuel proposé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base vérifiée au 25-30/10/2026 ; « à mesurer » = la donnée existe dans un outil non ouvert ; cibles proposées à valider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22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109960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2514600"/>
                <a:gridCol w="201168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Indicateur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Base de départ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Cible à 90 jours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Outil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Demandes de devis (tous canaux)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Base + 50 %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Google Analytics + CRM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Coût par demande de devis payée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Pas de campagne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Plafond fixé par la direction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Google Ads, Meta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Requêtes d’achat en première page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0 sur 5 testées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Search Console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Clics Google hors marque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Base + 50 %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Search Console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Abonnés 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1 687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Réactions médianes par post LinkedIn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Abonnés Facebook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Meta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Conversations WhatsApp entrantes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Base + 100 %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WhatsApp Business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Avis Google Play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8 (note 4,1)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Google Play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Retombées presse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Aucun dispositif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3 par trimestre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Revue de presse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Trois niveaux d’investissement pour les 90 jours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estimations de travail, hors salaires, à affiner sur devis ; seul le repère SIA 2026 (5 à 40 M FCFA) est sourcé (GIBTP)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23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6118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81328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Basique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Réparer et mesurer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3200400" cy="3657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Tout le volet « réparer » en interne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LinkedIn et Facebook organiques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 des prix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Google Ads : non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Ordre de grandeur : temps interne seulement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417320"/>
            <a:ext cx="36118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79" y="141732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481328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Médium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1920240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Recommandé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514600"/>
            <a:ext cx="3200400" cy="3657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Basique +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Google Recherche test 8 semaines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Facebook vers WhatsApp 4 semaines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vidéos clients tournées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Matinale acheteurs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Enveloppe médias à fixer par la direction après lecture des coûts par clic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417320"/>
            <a:ext cx="36118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19" y="141732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1481328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1920240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Accélérer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514600"/>
            <a:ext cx="3200400" cy="3657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Médium +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Pré-rendu du site par prestataire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12 pages de familles rédigées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Stand et atelier ARCHIBAT 2027 (à réserver)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Relations presse externalisées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Sur devis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Ce que nous demandons à la direction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Décisions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512064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Valider la promesse unique et la fiche de chiffres officiels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Choisir le niveau d’investissement (basique, médium, premium)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Fixer le coût maximal acceptable par demande de devis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Autoriser la publication d’un baromètre public des prix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Désigner les clients prêts à témoigner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1051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Accès à ouvrir cette semaine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40280"/>
            <a:ext cx="5120640" cy="3886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Google Analytics et Tag Manager (lecture puis édition)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Search Console (à créer si elle n’existe pas)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Compte Google Ads et Meta Business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Administration des pages LinkedIn et Facebook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Export des demandes de devis et commandes des 6 derniers mois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x_13758314_s.jpg"/>
          <p:cNvPicPr>
            <a:picLocks noChangeAspect="1"/>
          </p:cNvPicPr>
          <p:nvPr/>
        </p:nvPicPr>
        <p:blipFill>
          <a:blip r:embed="rId2"/>
          <a:srcRect l="26889" r="26889"/>
          <a:stretch>
            <a:fillRect/>
          </a:stretch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822960"/>
            <a:ext cx="2011680" cy="717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2194560"/>
            <a:ext cx="603504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Mesurer, capter, prouver.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3200400"/>
            <a:ext cx="594360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D5DDEE"/>
                </a:solidFill>
                <a:latin typeface="Space Grotesk"/>
              </a:rPr>
              <a:t>Dans 90 jours, BLOK doit savoir combien lui coûte une demande de devis, quel canal la lui apporte, et pouvoir le montrer.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5760720"/>
            <a:ext cx="5943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4A00"/>
                </a:solidFill>
                <a:latin typeface="Space Grotesk"/>
              </a:rPr>
              <a:t>blok.africa · info@blok.africa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