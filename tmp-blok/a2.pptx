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822960"/>
            <a:ext cx="4616544" cy="53949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22960" y="1874519"/>
            <a:ext cx="1097280" cy="73152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2011680" cy="7177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67665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4A00"/>
                </a:solidFill>
                <a:latin typeface="Space Grotesk"/>
              </a:rPr>
              <a:t>RAPPORT D’AUDIT MARKETING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6766560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Space Grotesk"/>
              </a:rPr>
              <a:t>Diagnostic, stratégie et plan d’action à 90 jours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65836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C9D3E8"/>
                </a:solidFill>
                <a:latin typeface="Space Grotesk"/>
              </a:rPr>
              <a:t>Site et référencement · Google Ads · LinkedIn · Meta · Relations publiques et événementiel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65836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C9D3E8"/>
                </a:solidFill>
                <a:latin typeface="Space Grotesk"/>
              </a:rPr>
              <a:t>Présentation à la direction · relevé public du 30 octobre 2026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C9D3E8"/>
                </a:solidFill>
                <a:latin typeface="Space Grotesk"/>
              </a:rPr>
              <a:t>Direction marketing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Sommaire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36192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554480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Synthèse et méthode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920240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Constats clés, sources, limites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71600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36192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554480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Rapport d’audit par axe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Site, Google Ads, LinkedIn, Meta, relations publiques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587752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52344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770632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Analyse 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136392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Forces, faiblesses, opportunités, menaces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587752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752344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770632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Recommandations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136392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Stratégiques, puis opérationnelles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03904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968496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986784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Référencement et acquisition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352544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Optimisations SEO, Google Ads, Meta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803904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968496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986784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Calendrier éditorial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352544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LinkedIn et Meta, novembre 2026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020056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184648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5202936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Plan d’action 30, 60, 90 jours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5568696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Actions priorisées, porteurs, livrables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5020056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184648"/>
            <a:ext cx="822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202936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Space Grotesk"/>
              </a:rPr>
              <a:t>Tableau de bord des KPI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568696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Indicateurs, base, cibles, budget, décisions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Synthèse et 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Ce qui a été vérifié, ce qu’il faut retenir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 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Synthèse : une crédibilité réelle, une machine d’acquisition à construire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relevé public du 30/10/2026 (site, Google, bibliothèques publicitaires Google et Meta, LinkedIn, Facebook, presse)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4 /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751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FF4A00"/>
                </a:solidFill>
                <a:latin typeface="Space Grotesk"/>
              </a:rPr>
              <a:t>Cinq constats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6675120" cy="4572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242323"/>
                </a:solidFill>
                <a:latin typeface="Space Grotesk"/>
              </a:rPr>
              <a:t>Hors de son nom, BLOK n’apparaît pas sur Google.</a:t>
            </a:r>
            <a:r>
              <a:rPr sz="1250" b="0">
                <a:solidFill>
                  <a:srgbClr val="242323"/>
                </a:solidFill>
                <a:latin typeface="Space Grotesk"/>
              </a:rPr>
              <a:t> Absent des premiers résultats sur 5 recherches d’achat testées.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242323"/>
                </a:solidFill>
                <a:latin typeface="Space Grotesk"/>
              </a:rPr>
              <a:t>Aucune publicité en ligne.</a:t>
            </a:r>
            <a:r>
              <a:rPr sz="1250" b="0">
                <a:solidFill>
                  <a:srgbClr val="242323"/>
                </a:solidFill>
                <a:latin typeface="Space Grotesk"/>
              </a:rPr>
              <a:t> 0 annonce Google, 0 annonce Meta ; aucune mesure de conversion publicitaire sur le site.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242323"/>
                </a:solidFill>
                <a:latin typeface="Space Grotesk"/>
              </a:rPr>
              <a:t>LinkedIn porte la marque, Facebook est à l’arrêt.</a:t>
            </a:r>
            <a:r>
              <a:rPr sz="1250" b="0">
                <a:solidFill>
                  <a:srgbClr val="242323"/>
                </a:solidFill>
                <a:latin typeface="Space Grotesk"/>
              </a:rPr>
              <a:t> 1 687 abonnés et 2,2 posts par semaine d’un côté ; 20 abonnés et un dernier post le 16 septembre de l’autre.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242323"/>
                </a:solidFill>
                <a:latin typeface="Space Grotesk"/>
              </a:rPr>
              <a:t>Les preuves existent mais restent cachées.</a:t>
            </a:r>
            <a:r>
              <a:rPr sz="1250" b="0">
                <a:solidFill>
                  <a:srgbClr val="242323"/>
                </a:solidFill>
                <a:latin typeface="Space Grotesk"/>
              </a:rPr>
              <a:t> GIBTP, panel au salon SIA 2026, AfricArena, Ivoire Tech ; un seul témoignage client publié.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1">
                <a:solidFill>
                  <a:srgbClr val="242323"/>
                </a:solidFill>
                <a:latin typeface="Space Grotesk"/>
              </a:rPr>
              <a:t>Le parcours se perd.</a:t>
            </a:r>
            <a:r>
              <a:rPr sz="1250" b="0">
                <a:solidFill>
                  <a:srgbClr val="242323"/>
                </a:solidFill>
                <a:latin typeface="Space Grotesk"/>
              </a:rPr>
              <a:t> Deux numéros, deux e-mails, deux chiffres de catalogue ; prix visibles seulement après connexion.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371600"/>
            <a:ext cx="4114800" cy="48463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FF4A00"/>
                </a:solidFill>
                <a:latin typeface="Space Grotesk"/>
              </a:rPr>
              <a:t>Le cap à 90 jours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011680"/>
            <a:ext cx="3657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pace Grotesk"/>
              </a:rPr>
              <a:t>Mesurer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377440"/>
            <a:ext cx="36576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D5DDEE"/>
                </a:solidFill>
                <a:latin typeface="Space Grotesk"/>
              </a:rPr>
              <a:t>Savoir combien coûte une demande de devis, et d’où elle vient.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383280"/>
            <a:ext cx="3657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pace Grotesk"/>
              </a:rPr>
              <a:t>Capter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749040"/>
            <a:ext cx="36576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D5DDEE"/>
                </a:solidFill>
                <a:latin typeface="Space Grotesk"/>
              </a:rPr>
              <a:t>Être présent quand un acheteur cherche du ciment ou du fer à Abidjan.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754880"/>
            <a:ext cx="3657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pace Grotesk"/>
              </a:rPr>
              <a:t>Prouver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120640"/>
            <a:ext cx="36576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D5DDEE"/>
                </a:solidFill>
                <a:latin typeface="Space Grotesk"/>
              </a:rPr>
              <a:t>Montrer des chantiers livrés, des clients et des prix réels.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Méthode : ce qui a été vérifié, et ce qui ne l’a pas été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5 /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Chaque constat porte l’une de ces trois marques 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653796" cy="256032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65379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VÉRIFIÉ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3876" y="173736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080"/>
                </a:solidFill>
                <a:latin typeface="Space Grotesk"/>
              </a:rPr>
              <a:t>relevé le 30/10/2026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45635" y="1737360"/>
            <a:ext cx="809244" cy="256032"/>
          </a:xfrm>
          <a:prstGeom prst="roundRect">
            <a:avLst>
              <a:gd name="adj" fmla="val 8000"/>
            </a:avLst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45635" y="1737360"/>
            <a:ext cx="809244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HYPOTHÈSE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19" y="173736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080"/>
                </a:solidFill>
                <a:latin typeface="Space Grotesk"/>
              </a:rPr>
              <a:t>à confirmer avec les données internes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737360"/>
            <a:ext cx="1197864" cy="256032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737360"/>
            <a:ext cx="1197864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RECOMMANDATION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384" y="173736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6B7080"/>
                </a:solidFill>
                <a:latin typeface="Space Grotesk"/>
              </a:rPr>
              <a:t>action proposée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240280"/>
            <a:ext cx="54864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246888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8775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Sources consultées (accès public)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17520"/>
            <a:ext cx="5120640" cy="31089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Site blok.africa : 7 pages analysées, plan du site (294 adresses)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Google Côte d’Ivoire : 6 recherches + recherche des pages indexées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Centre de transparence des annonces Google, bibliothèque publicitaire Meta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Page Facebook Blok Technology, fiche Google Play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Audit de la page LinkedIn BLOK du 25/10/2026 (40 publications)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Presse et écosystème : We Are Tech, allAfrica, GIBTP, organisateurs de salons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240280"/>
            <a:ext cx="54864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468880"/>
            <a:ext cx="457200" cy="54864"/>
          </a:xfrm>
          <a:prstGeom prst="rect">
            <a:avLst/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58775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Non accessibles : à ouvrir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017520"/>
            <a:ext cx="5120640" cy="31089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Google Analytics (installé, chiffres non consultés)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Google Search Console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Comptes Google Ads et Meta Business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Statistiques administrateur LinkedIn et Facebook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Demandes de devis, commandes, panier moyen, coût d’acquisition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Les cibles chiffrées sont donc proposées, à recaler au premier mois.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BLOK aujourd’hui : ce que la marque dit d’elle-même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blok.africa/about et /aide, LinkedIn BLOK, page Facebook, Google Play, We Are Tech, GIBTP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6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+100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fournisseurs vérifiés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6B7080"/>
                </a:solidFill>
                <a:latin typeface="Space Grotesk"/>
              </a:rPr>
              <a:t>page À propos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3716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+11 000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05740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produits au catalogue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37744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6B7080"/>
                </a:solidFill>
                <a:latin typeface="Space Grotesk"/>
              </a:rPr>
              <a:t>page À propos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13716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46304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1 000+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05740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téléchargements Android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37744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6B7080"/>
                </a:solidFill>
                <a:latin typeface="Space Grotesk"/>
              </a:rPr>
              <a:t>Google Play, 4,1 sur 8 avis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3" y="13716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3143" y="146304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1 687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3" y="205740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abonnés LinkedIn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3" y="237744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6B7080"/>
                </a:solidFill>
                <a:latin typeface="Space Grotesk"/>
              </a:rPr>
              <a:t>relevé du 25/10/2026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971800"/>
            <a:ext cx="54864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20040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3192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Positionnement relevé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749039"/>
            <a:ext cx="5120640" cy="23774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Plateforme d’approvisionnement en matériaux propulsée par l’IA, pour les professionnels du BTP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Fondateurs : Yohann Behi (directeur général), Waly K. N’Diaye (directeur des opérations)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Livraison sur le Grand Abidjan ; stock local en 24 à 72 h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Paiement Wave, MoMo, virement ; paiement à terme pour clients vérifiés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2971800"/>
            <a:ext cx="54864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20040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3192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Incohérences à corriger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749039"/>
            <a:ext cx="5120640" cy="23774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Catalogue : « +11 000 » (site), « +10 000 » (Facebook), « +10 00 » (LinkedIn)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Commande : « moins de 5 minutes » et « &lt; 6 min » sur la même page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WhatsApp 07 98 03 89 22 (site) contre 07 01 36 94 75 (Facebook)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Application publiée sous le nom « Mstudio.vc 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Accueil « WC, interrupteurs, PVC » contre « procurement IA » ailleurs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Rapport d’audit par axe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Situation, constats vérifiés, niveau de maturité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7 /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Tableau de maturité des cinq axes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appréciation sur le relevé public du 30/10/2026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8 / 36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1099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463040"/>
                <a:gridCol w="3108960"/>
                <a:gridCol w="3337560"/>
                <a:gridCol w="109728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Axe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Niveau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Ce qui marche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Le principal frein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Priorité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Site et référencement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À structurer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Titres et descriptions travaillés, plan du site, blog lancé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Invisible hors de son nom ; 2 articles ; fiches produit absentes du plan du site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Google Ads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Absent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Google Analytics installé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Aucune campagne, aucune mesure de conversion, pas de page d’atterrissage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LinkedIn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Actif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Rythme tenu, sujets institutionnels qui prennent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Peu de preuves clients, pas de vidéo, fondateurs peu relayés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Meta (Facebook)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À l’arrêt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Page créée, coordonnées remplies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20 abonnés, 1 réaction au dernier post, aucun avis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Relations publiques et événements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Atout sous-exploité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GIBTP, SIA 2026, AfricArena, Ivoire Tech, presse tech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Aucun dispositif pour transformer la visibilité en prospects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875788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875788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AXE 1 · SITE ET RÉFÉRENCEMENT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Site et référencement : Google voit peu, le site convertit peu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relevé de blok.africa et de Google Côte d’Ivoire le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9 / 36</a:t>
            </a:r>
          </a:p>
        </p:txBody>
      </p:sp>
      <p:pic>
        <p:nvPicPr>
          <p:cNvPr id="11" name="Picture 10" descr="cap_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120640" cy="34535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120640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6B7080"/>
                </a:solidFill>
                <a:latin typeface="Space Grotesk"/>
              </a:rPr>
              <a:t>Accueil de blok.africa, 30/10/2026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00200"/>
            <a:ext cx="653796" cy="256032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600200"/>
            <a:ext cx="65379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VÉRIFIÉ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965960"/>
            <a:ext cx="5669280" cy="4389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Pages servies vides :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chaque adresse renvoie d’abord la même page de 2 mots (« BLOK Technologie ») ; le contenu n’arrive qu’après le chargement du script.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Dans Google :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des fiches marques et catégories portent le titre générique « BLOK Technologie » ; la page « Mes Favoris » est indexée.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Plan du site :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8 pages fixes, 2 articles, 284 catégories, </a:t>
            </a:r>
            <a:r>
              <a:rPr sz="1100" b="1">
                <a:solidFill>
                  <a:srgbClr val="242323"/>
                </a:solidFill>
                <a:latin typeface="Space Grotesk"/>
              </a:rPr>
              <a:t>aucune fiche produit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Recherches d’achat :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absent des premiers résultats sur 5 requêtes testées ; 1er sur « BLOK Technology ».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Blog :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2 articles (6/07 et 22/09/2026), sans lien vers l’offre.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Conversion :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bon bouton « Charger ma demande de cotation » ; prix masqués sans compte ; aucune preuve client sur l’accueil.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819656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819656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AXE 2 · GOOGLE 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Google Ads : rien n’est lancé, et rien ne serait mesuré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Centre de transparence des annonces Google (domaine blok.africa) ; code Tag Manager du site,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10 / 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653796" cy="256032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0"/>
            <a:ext cx="65379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VÉRIFIÉ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2880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05740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762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Situation actuelle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06040"/>
            <a:ext cx="5120640" cy="35204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200" b="1">
                <a:solidFill>
                  <a:srgbClr val="242323"/>
                </a:solidFill>
                <a:latin typeface="Space Grotesk"/>
              </a:rPr>
              <a:t>0 annonce</a:t>
            </a:r>
            <a:r>
              <a:rPr sz="1200" b="0">
                <a:solidFill>
                  <a:srgbClr val="242323"/>
                </a:solidFill>
                <a:latin typeface="Space Grotesk"/>
              </a:rPr>
              <a:t> diffusée vers blok.africa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Google Analytics 4 installé ; </a:t>
            </a:r>
            <a:r>
              <a:rPr sz="1200" b="1">
                <a:solidFill>
                  <a:srgbClr val="242323"/>
                </a:solidFill>
                <a:latin typeface="Space Grotesk"/>
              </a:rPr>
              <a:t>aucune balise de conversion Google Ads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Aucun annonceur concurrent repéré sur les recherches d’achat testées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Pas de page d’atterrissage dédiée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Prix visibles seulement après inscription : une étape de plus pour un clic payé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463040"/>
            <a:ext cx="809244" cy="256032"/>
          </a:xfrm>
          <a:prstGeom prst="roundRect">
            <a:avLst>
              <a:gd name="adj" fmla="val 8000"/>
            </a:avLst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463040"/>
            <a:ext cx="809244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HYPOTHÈSE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82880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05740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1762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Lecture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606040"/>
            <a:ext cx="5120640" cy="35204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La place est libre aujourd’hui : le coût par clic devrait être modéré, à vérifier dans le planificateur de mots-clés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Lancer sans mesure reviendrait à payer sans savoir ce que ça rapporte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 parcours commence souvent par WhatsApp : il faut tracer ces clics comme des conversions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 retour sur dépense dépend de la marge par commande, inconnue à ce stade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627632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627632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AXE 3 · 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LinkedIn : la marque publie beaucoup, les preuves manquent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audit de la page LinkedIn BLOK, relevé public du 25/10/2026 (35 publications propres + 5 partages, juillet-octobre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11 / 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716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1732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1 687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1168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abonnés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3716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41732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2,2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01168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publications / semaine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13716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41732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01168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réactions médianes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13716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3" y="1417320"/>
            <a:ext cx="2377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FF4A00"/>
                </a:solidFill>
                <a:latin typeface="Space Grotesk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3" y="201168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Space Grotesk"/>
              </a:rPr>
              <a:t>vidéo publiée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697480"/>
            <a:ext cx="54864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292608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04495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montrent les 40 publications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474720"/>
            <a:ext cx="5120640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Jamais plus de 7 jours sans publier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28 photos ou affiches, 7 carrousels, aucune vidéo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 seul témoignage client (SOTASERV)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Adhésion au GIBTP : 65 réactions, 5 fois la médiane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21 posts sur 35 en lettres « grasses » spéciales, illisibles par la recherche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697480"/>
            <a:ext cx="54864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292608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04495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Lecture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474720"/>
            <a:ext cx="5120640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Les sujets institutionnels et terrain prennent ; les carrousels sur l’IA, non (10 réactions en médiane)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Les fondateurs font 10 à 20 fois plus de réactions que la page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Les acheteurs ne sont pas interpellés par leur problème : délais, prix, ruptures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Aucun appel à l’action vers le devis ou l’application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243584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24358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AXE 4 · META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Meta : une page Facebook créée, puis laissée en sommeil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page Facebook Blok Technology et bibliothèque publicitaire Meta (Côte d’Ivoire),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12 / 36</a:t>
            </a:r>
          </a:p>
        </p:txBody>
      </p:sp>
      <p:pic>
        <p:nvPicPr>
          <p:cNvPr id="11" name="Picture 10" descr="cap_f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610791" cy="48920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617720" y="1371600"/>
            <a:ext cx="653796" cy="256032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371600"/>
            <a:ext cx="65379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VÉRIFIÉ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7040880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150" b="1">
                <a:solidFill>
                  <a:srgbClr val="242323"/>
                </a:solidFill>
                <a:latin typeface="Space Grotesk"/>
              </a:rPr>
              <a:t>20 abonnés</a:t>
            </a:r>
            <a:r>
              <a:rPr sz="1150" b="0">
                <a:solidFill>
                  <a:srgbClr val="242323"/>
                </a:solidFill>
                <a:latin typeface="Space Grotesk"/>
              </a:rPr>
              <a:t>, aucune note ni avis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Dernier post : </a:t>
            </a:r>
            <a:r>
              <a:rPr sz="1150" b="1">
                <a:solidFill>
                  <a:srgbClr val="242323"/>
                </a:solidFill>
                <a:latin typeface="Space Grotesk"/>
              </a:rPr>
              <a:t>16 septembre</a:t>
            </a:r>
            <a:r>
              <a:rPr sz="1150" b="0">
                <a:solidFill>
                  <a:srgbClr val="242323"/>
                </a:solidFill>
                <a:latin typeface="Space Grotesk"/>
              </a:rPr>
              <a:t>, 1 réaction ; texte en lettres « grasses » repris de LinkedIn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Adresse non personnalisée (profile.php?id=…), impossible à citer sur un flyer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Texte de la couverture coupé à l’affichage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Numéro et e-mail différents de ceux du site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150" b="1">
                <a:solidFill>
                  <a:srgbClr val="242323"/>
                </a:solidFill>
                <a:latin typeface="Space Grotesk"/>
              </a:rPr>
              <a:t>Aucune publicité Meta</a:t>
            </a:r>
            <a:r>
              <a:rPr sz="1150" b="0">
                <a:solidFill>
                  <a:srgbClr val="242323"/>
                </a:solidFill>
                <a:latin typeface="Space Grotesk"/>
              </a:rPr>
              <a:t> ; aucun compte Instagram relié au site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434840"/>
            <a:ext cx="809244" cy="256032"/>
          </a:xfrm>
          <a:prstGeom prst="roundRect">
            <a:avLst>
              <a:gd name="adj" fmla="val 8000"/>
            </a:avLst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434840"/>
            <a:ext cx="809244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HYPOTHÈSE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754880"/>
            <a:ext cx="70408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4828032"/>
            <a:ext cx="6675120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Quincailliers, artisans et petits entrepreneurs sont plus présents sur Facebook et WhatsApp que sur LinkedIn : Facebook devrait servir les petits comptes, LinkedIn les grands. À confirmer par le type de client par canal d’arrivée.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4219955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219955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AXE 5 · RELATIONS PUBLIQUES ET ÉVÉNEMENTIEL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Relations publiques : des titres que d’autres achètent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We Are Tech (15/04 et 15/12/2025), allAfrica (16/04/2025), LinkedIn BLOK et GIBTP (09-10/2026), blok.africa/about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13 / 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71600"/>
            <a:ext cx="653796" cy="256032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71600"/>
            <a:ext cx="65379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VÉRIFIÉ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743200"/>
            <a:ext cx="10607040" cy="457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17319" y="2606040"/>
            <a:ext cx="320040" cy="320040"/>
          </a:xfrm>
          <a:prstGeom prst="ellipse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288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Janv.-avr.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63240"/>
            <a:ext cx="20574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Sélection Ivoire Tech et immersion Silicon Valley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0" y="2606040"/>
            <a:ext cx="320040" cy="320040"/>
          </a:xfrm>
          <a:prstGeom prst="ellipse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18288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Avril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063240"/>
            <a:ext cx="20574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Articles We Are Tech et allAfrica</a:t>
            </a:r>
          </a:p>
        </p:txBody>
      </p:sp>
      <p:sp>
        <p:nvSpPr>
          <p:cNvPr id="20" name="Oval 19"/>
          <p:cNvSpPr/>
          <p:nvPr/>
        </p:nvSpPr>
        <p:spPr>
          <a:xfrm>
            <a:off x="5897880" y="2606040"/>
            <a:ext cx="320040" cy="320040"/>
          </a:xfrm>
          <a:prstGeom prst="ellipse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18288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Déc.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063240"/>
            <a:ext cx="20574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AfricArena Cape Town ; portrait de Yohann Behi</a:t>
            </a:r>
          </a:p>
        </p:txBody>
      </p:sp>
      <p:sp>
        <p:nvSpPr>
          <p:cNvPr id="23" name="Oval 22"/>
          <p:cNvSpPr/>
          <p:nvPr/>
        </p:nvSpPr>
        <p:spPr>
          <a:xfrm>
            <a:off x="8138160" y="2606040"/>
            <a:ext cx="320040" cy="320040"/>
          </a:xfrm>
          <a:prstGeom prst="ellipse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18288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Mai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063240"/>
            <a:ext cx="20574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Africa Forward Nairobi (selon le site BLOK)</a:t>
            </a:r>
          </a:p>
        </p:txBody>
      </p:sp>
      <p:sp>
        <p:nvSpPr>
          <p:cNvPr id="26" name="Oval 25"/>
          <p:cNvSpPr/>
          <p:nvPr/>
        </p:nvSpPr>
        <p:spPr>
          <a:xfrm>
            <a:off x="10378440" y="2606040"/>
            <a:ext cx="320040" cy="320040"/>
          </a:xfrm>
          <a:prstGeom prst="ellipse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182880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Sept.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063240"/>
            <a:ext cx="20574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Adhésion au GIBTP ; panel du CEO au salon SIA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343400"/>
            <a:ext cx="54864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57200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6908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qui manque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20640"/>
            <a:ext cx="5120640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Aucune salle de presse sur le site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Presque rien dans la presse BTP et économique ivoirienne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Les événements ne produisent ni liste de prospects ni suite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343400"/>
            <a:ext cx="548640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4572000"/>
            <a:ext cx="457200" cy="54864"/>
          </a:xfrm>
          <a:prstGeom prst="rect">
            <a:avLst/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6908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Vigilance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120640"/>
            <a:ext cx="5120640" cy="10058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AfricArena n’est sourcé que par le site BLOK : garder le justificatif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Ne reprendre aucune levée de fonds citée par des bases tierces sans 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Analyse SWOT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Ce que BLOK maîtrise, et ce que le marché lui impose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14 / 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Analyse SWOT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forces et faiblesses : relevé du 30/10/2026 ; opportunités et menaces : appréciation à confirmer avec les données internes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15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109728" cy="233172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0876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FORCES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74519"/>
            <a:ext cx="5029200" cy="1783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Crédibilité : GIBTP, salon SIA, Ivoire Tech, AfricArena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Offre complète : +100 fournisseurs, +11 000 produits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Devis par photo, PDF ou Excel : usage terrain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Paiement mobile et paiement à terme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LinkedIn régulier, fondateurs influents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7160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FF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109728" cy="233172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FAIBLESSES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5029200" cy="1783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Invisible sur Google hors de son nom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Aucune mesure des conversions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Facebook à l’arrêt, aucune publicité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Un seul témoignage client publié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Chiffres, numéros et promesse incohérents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109728" cy="23317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7764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OPPORTUNITÉS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43400"/>
            <a:ext cx="5029200" cy="1783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Recherches « prix » et « devis » tenues par des PDF anonymes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Aucun concurrent en publicité sur ces requêtes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Baromètre des prix : un sujet que la presse reprend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ARCHIBAT 2027 (20e édition) et réseau GIBTP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WhatsApp, canal naturel des artisans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4048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FDF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840480"/>
            <a:ext cx="109728" cy="2331720"/>
          </a:xfrm>
          <a:prstGeom prst="rect">
            <a:avLst/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977640"/>
            <a:ext cx="50292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MENACES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43400"/>
            <a:ext cx="5029200" cy="1783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Quincailleries et plateformes déjà visibles (Jachete, Jumia, Kalizio)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Habitude du fournisseur appelé au téléphone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Prix visibles après connexion : fuite vers la concurrence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Un discours IA sans preuve peut paraître hors-sol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Variations des prix des matériaux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Ce que la SWOT impose : quatre choix stratégiques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croisement forces-opportunités, faiblesses-menaces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16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44068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645920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>
                <a:solidFill>
                  <a:srgbClr val="FF4A00"/>
                </a:solidFill>
                <a:latin typeface="Space Grotes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91640"/>
            <a:ext cx="4206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Forces × opportunités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48840"/>
            <a:ext cx="4206240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Transformer la crédibilité en contenu de preuve : baromètre des prix, cas clients, prise de parole à ARCHIBAT.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44068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20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>
                <a:solidFill>
                  <a:srgbClr val="FF4A00"/>
                </a:solidFill>
                <a:latin typeface="Space Grotes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691640"/>
            <a:ext cx="4206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Forces × menaces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148840"/>
            <a:ext cx="4206240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Rendre le devis par photo et le paiement mobile visibles partout : c’est ce qui distingue BLOK du coup de téléphone.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544068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069080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>
                <a:solidFill>
                  <a:srgbClr val="FF4A00"/>
                </a:solidFill>
                <a:latin typeface="Space Grotesk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114800"/>
            <a:ext cx="4206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Faiblesses × opportunités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572000"/>
            <a:ext cx="4206240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Occuper la recherche Google pendant que la place est libre : pages par famille et campagne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40480"/>
            <a:ext cx="544068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069080"/>
            <a:ext cx="914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>
                <a:solidFill>
                  <a:srgbClr val="FF4A00"/>
                </a:solidFill>
                <a:latin typeface="Space Grotesk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114800"/>
            <a:ext cx="4206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Faiblesses × menaces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572000"/>
            <a:ext cx="4206240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Unifier la marque et afficher des prix « à partir de » pour ne plus perdre l’acheteur à la connexion.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Recommandations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Stratégiques pour la direction, opérationnelles pour l’équipe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17 / 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Recommandations stratégiques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18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91440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310896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Une promesse unique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371600"/>
            <a:ext cx="7498079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« Envoyez votre liste, BLOK trouve, chiffre et livre. » Partout : site, réseaux, application, salons.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50008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50008"/>
            <a:ext cx="91440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350008"/>
            <a:ext cx="310896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Deux cibles, deux canaux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350008"/>
            <a:ext cx="7498079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Grands comptes (entreprises, promoteurs) : LinkedIn, salons, rendez-vous. Petits comptes (quincailliers, artisans) : Facebook, WhatsApp, terrain.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28416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328416"/>
            <a:ext cx="91440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328416"/>
            <a:ext cx="310896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Le devis comme conversion maîtresse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328416"/>
            <a:ext cx="7498079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Chaque action se juge au nombre de demandes de devis et à leur coût, puis aux commandes.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06824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306824"/>
            <a:ext cx="91440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306824"/>
            <a:ext cx="310896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La preuve avant la technologie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306824"/>
            <a:ext cx="7498079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Montrer des chantiers livrés, des clients et des prix réels ; l’IA devient un argument, pas le message.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85232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285232"/>
            <a:ext cx="91440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285232"/>
            <a:ext cx="310896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Un actif éditorial propriétaire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5285232"/>
            <a:ext cx="7498079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Le baromètre mensuel des prix des matériaux à Abidjan : référencement, presse, LinkedIn et salons en même temps.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Recommandations opérationnelles, axe par axe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19 / 36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109960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949440"/>
                <a:gridCol w="214884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Axe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À faire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Porteur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Mesure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Marquer 4 conversions (devis, clic WhatsApp, inscription, commande) ; un numéro WhatsApp par source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Marketing + technique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Site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Search Console ; pages pré-remplies pour Google ; fiches produit au plan du site ; prix « à partir de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Technique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Contenus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 articles par mois reliés à une famille ; baromètre mensuel ; preuves sur l’accueil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Marketing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Google Ads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Page d’atterrissage dédiée ; campagne Recherche 8 semaines sur Abidjan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Marketing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LinkedIn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 posts page + 2 posts fondateurs par semaine ; 1 cas client par mois ; texte sans lettres spéciales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Marketing + fondateurs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Meta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Page remise en état ; 3 posts par semaine ; publicité « clic vers WhatsApp » au mois 2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Marketing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Relations publiques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Salle de presse ; baromètre envoyé aux rédactions ; matinale acheteurs avec le GIBTP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Marketing + direction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Application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Éditeur renommé « BLOK » ; collecte d’avis après chaque livraison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Technique + ventes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Référencement et 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Optimisations SEO, Google Ads et Meta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20 /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Optimisations SEO : technique, contenus, local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cibles proposées : à recaler sur la Search Console au premier mois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21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6118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Technique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3246120" cy="39776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Ouvrir la Search Console et déclarer le plan du site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Pré-rendu : pages livrées déjà remplies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Fiches produit dans le plan du site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Retirer Favoris, Panier, Paramètres de l’index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Une adresse de référence par page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Textes alternatifs des images (58 manquants sur Contact)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6118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71907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Contenus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48840"/>
            <a:ext cx="3246120" cy="39776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12 pages de familles : ciment, fer, plomberie, électricité…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Chacune : texte utile, prix « à partir de », bouton devis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Baromètre mensuel des prix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2 articles par mois reliés à l’offre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Titres de pages marques réécrits (« Ajax : outillage à Abidjan, livré »)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6118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600200"/>
            <a:ext cx="457200" cy="54864"/>
          </a:xfrm>
          <a:prstGeom prst="rect">
            <a:avLst/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71907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48840"/>
            <a:ext cx="3246120" cy="39776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Fiche d’établissement Google à créer (aucune trouvée au nom de BLOK)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Pages par commune du Grand Abidjan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Inscription aux annuaires BTP (Goafrica, Batirici)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Avis clients sollicités après livraison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Mots-clés cibles et pages à créer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requêtes testées sur Google Côte d’Ivoire le 30/10/2026 ; volumes à lire dans le planificateur de mots-clés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22 / 36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109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886200"/>
                <a:gridCol w="365760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Requête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Ce que Google montre aujourd’hui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Page BLOK à créer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achat matériaux de construction abidjan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Kalizio, Technimatpro, Quincaillerie.ci, annuaires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Accueil réécrit + page « Commander ses matériaux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fournisseur matériaux BTP abidjan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SODRA, SDMC, annuaires, Batirici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Page « Fournisseurs vérifiés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quincaillerie en ligne abidjan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Jachete, Nafiassou, Jumia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Page « Quincaillerie en ligne livrée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marketplace BTP côte d’ivoire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Petites annonces (Batirici, Wagnin)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Page « La plateforme BTP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devis matériaux construction abidjan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PDF Scribd, SODRA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Page d’atterrissage « Envoyez votre liste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prix ciment / fer à béton abidjan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PDF et publications anciennes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Baromètre mensuel des prix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Acquisition payante : un test Google de 8 semaines, puis Meta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proposition ; enveloppe à fixer par la direction après lecture des coûts par clic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23 / 36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10996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5166360"/>
                <a:gridCol w="118872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Campagne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Objectif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Exemples de mots-clés ou ciblage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Part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Google · Intention d’achat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Demandes de devis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« prix fer à béton abidjan », « fournisseur ciment abidjan », « devis matériaux construction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60 %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Google · Familles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Devis par famille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« carrelage », « étanchéité toiture », « tuyau PVC » + abidjan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25 %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Google · Marque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Protéger le nom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« blok africa », « blok technology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5 %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Google · Reciblage (mois 2)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Faire revenir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Visiteurs sans demande de devis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10 %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Meta · Clic vers WhatsApp (mois 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Conversations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Grand Abidjan, intérêts BTP et quincaillerie, visiteurs du site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Enveloppe à part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21208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5440680"/>
            <a:ext cx="457200" cy="54864"/>
          </a:xfrm>
          <a:prstGeom prst="rect">
            <a:avLst/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5955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À exclure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89320"/>
            <a:ext cx="5120640" cy="18287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emploi, formation, pdf, gratuit, blockchain, « Block 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521208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5285232"/>
            <a:ext cx="512064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pace Grotesk"/>
              </a:rPr>
              <a:t>Décision à 8 semaines :</a:t>
            </a:r>
            <a:r>
              <a:rPr sz="1200" b="0">
                <a:solidFill>
                  <a:srgbClr val="FFFFFF"/>
                </a:solidFill>
                <a:latin typeface="Space Grotesk"/>
              </a:rPr>
              <a:t> continuer, réorienter ou arrêter, sur le coût par demande de devis.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Calendrier éditorial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LinkedIn et Meta, novembre 2026 : 8 posts LinkedIn, 12 posts Facebook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24 / 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Ligne éditoriale : qui on vise, sur quel canal, avec quoi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proposition ; textes complets dans le tableur joint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25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457200" cy="548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LinkedIn · grands comptes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5120640" cy="39776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Cible : directeurs travaux, acheteurs, promoteurs, bureaux d’études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Mardi et jeudi, 8 h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Piliers : preuve (chantiers, clients), expertise (baromètre), offre (paiement à terme), coulisses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+ 2 posts par semaine des fondateurs, relayés par la page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Texte normal, 3 à 5 mots-dièse, lien du devis en commentaire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716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0020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190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Facebook · petits comptes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48840"/>
            <a:ext cx="5120640" cy="39776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Cible : quincailliers, artisans, petits entrepreneurs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Lundi, mercredi, vendredi, 12 h 30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Piliers : le prix du jour, livraisons filmées, astuces, témoignages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Toujours un bouton WhatsApp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Mêmes visuels en 4:5 pour Instagram si un compte est ouvert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Calendrier LinkedIn · novembre 2026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proposition ; faits, photos et chiffres marqués « à fournir » à réunir avant publication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26 / 36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25880"/>
          <a:ext cx="111099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234440"/>
                <a:gridCol w="1463040"/>
                <a:gridCol w="3520440"/>
                <a:gridCol w="2377440"/>
                <a:gridCol w="13716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Date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Rubrique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Format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Sujet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Accroche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Appel à l’action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Mar. 3 nov.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Pédagogie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Carrousel 6 pages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Commander ses matériaux à Abidjan : les 5 étapes qui font perdre du temps sur un chantier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Liste, appels, relances, devis, livraison : où partent vos journées 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Envoyer sa liste à BLOK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Jeu. 5 nov.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Coulisses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Photo réelle + texte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Comment un fournisseur entre chez BLOK : stock, normes, fiabilité logistique, vérification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Plus de 100 fournisseurs, et autant de vérifications.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Devenir fournisseur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Mar. 10 nov.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Chantier livré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Photo réelle (accord client)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Une livraison racontée : quoi, où, en combien de temps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Mardi, 8 h, Yopougon : la commande est partie à… (faits à fournir)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Demander un devis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Jeu. 12 nov.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Démonstration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Vidéo écran 30 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La demande de cotation en 3 étapes : photo de la liste, chiffrage, validation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Votre liste sur papier suffit.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Lien vers la page devis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Mar. 17 nov.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Baromètre n°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Carrousel + infolettre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Prix du ciment, du fer et du PVC à Abidjan ce mois-ci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Ce que coûte vraiment un chantier en novembre.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S’abonner au baromètre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Jeu. 19 nov.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Parole client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Vidéo face caméra 45 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Un acheteur ou un chef de chantier raconte son problème et la solution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« Avant, je passais ma matinée au téléphone. » (verbatim à recueillir)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Demander un devis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Mar. 24 nov.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Offre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+ texte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Paiement à terme pour les clients vérifiés : conditions et démarche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Ne bloquez plus votre trésorerie sur le stock.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Prendre rendez-vous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Jeu. 26 nov.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Bilan du mois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Carrousel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 mois en chiffres validés par la direction + appel à témoignages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Novembre chez BLOK, en 4 chiffres.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Nous écrire sur WhatsApp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Calendrier Facebook · novembre 2026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proposition ; prix du jour issus des données BLOK, validés avant chaque publication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27 / 36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25880"/>
          <a:ext cx="11109960" cy="511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234440"/>
                <a:gridCol w="1463040"/>
                <a:gridCol w="3520440"/>
                <a:gridCol w="2377440"/>
                <a:gridCol w="137160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Date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Rubrique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Format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Sujet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Accroche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Appel à l’action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Lun. 2 nov.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Retour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4:5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BLOK, c’est quoi ? Vos matériaux de construction livrés sur le Grand Abidjan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Vous construisez, on s’occupe des matériaux.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Mer. 4 nov.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 prix du jour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4:5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3 produits du quotidien et leur prix livré (données BLOK)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 prix du jour, livré sur chantier.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Ven. 6 nov.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Livraison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Vidéo verticale 20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Une livraison filmée de l’entrepôt au chantier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De notre camion à votre chantier.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Lun. 9 nov.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Astuce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Carrousel 4:5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Bien préparer sa liste de matériaux : quantités, références, marge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5 oublis qui coûtent cher.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Envoyer sa liste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Mer. 11 nov.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 prix du jour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4:5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3 nouveaux produits, prix livrés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 prix du jour, livré sur chantier.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Ven. 13 nov.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Paiement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4:5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Payer sa commande : Wave, MoMo, virement, paiement en ligne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Payez comme vous voulez.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Lun. 16 nov.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texte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Ciment, fer, PVC : qu’est-ce qui manque le plus souvent sur vos chantiers 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Dites-le en commentaire.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Commenter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Mer. 18 nov.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 prix du jour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4:5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3 nouveaux produits, prix livrés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 prix du jour, livré sur chantier.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Ven. 20 nov.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Témoignage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Vidéo verticale 30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Un quincaillier ou artisan client raconte (client à désigner)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« Je commande le soir, je suis livré… » (verbatim à recueillir)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Lun. 23 nov.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Blog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Lien + visuel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Les 7 erreurs qui font exploser le budget d’un chantier en Côte d’Ivoire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L’erreur n° 3 est la plus fréquente.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Lire l’article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Mer. 25 nov.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 prix du jour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4:5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3 nouveaux produits, prix livrés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 prix du jour, livré sur chantier.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Ven. 27 nov.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Délais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Visuel 4:5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Stock local livré en 24 à 72 h sur le Grand Abidjan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Commandé lundi, sur chantier mercredi.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WhatsApp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Plan d’action 30, 60, 90 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Mesurer, capter, prouver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28 / 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Priorisation : impact, coût, facilité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coût : nul = temps interne, faible &lt; 500 000 FCFA, moyen &lt; 3 M FCFA, élevé au-delà (estimations à confirmer)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29 / 36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25880"/>
          <a:ext cx="11109960" cy="4933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035040"/>
                <a:gridCol w="1188720"/>
                <a:gridCol w="1005840"/>
                <a:gridCol w="1188720"/>
                <a:gridCol w="1234440"/>
              </a:tblGrid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Action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Coût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Facilité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Horizon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Marquage des conversions (devis, WhatsApp, inscription, commande)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Nul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30 j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Coordonnées, chiffres et promesse unifiés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Nul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30 j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Search Console, index nettoyé, produits au plan du site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30 j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Page Facebook remise en état + WhatsApp Business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Nul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30 j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Calendrier LinkedIn et Facebook de novembre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Nul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30 j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Page d’atterrissage « Envoyez votre liste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60 j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Campagne Google Recherche 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60 j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Baromètre des prix n° 1 + envoi presse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60 j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Pré-rendu des pages pour Google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Très 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Difficile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90 j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Publicité Facebook vers WhatsApp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Facile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90 j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Matinale acheteurs avec le GIBTP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90 j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Décision ARCHIBAT 2027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Élevé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90 j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Plan d’action à 30, 60 et 90 jours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J = jours à compter de la validation par la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30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pace Grotesk"/>
              </a:rPr>
              <a:t>J+30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pace Grotesk"/>
              </a:rPr>
              <a:t>Réparer et mesurer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3172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3291840" cy="3108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Conversions marquées et vérifiées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 numéro, une adresse, une promesse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Search Console ouverte, index nettoyé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Facebook remis en état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Calendrier de novembre publié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Brief pré-rendu à l’équipe technique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4A00"/>
                </a:solidFill>
                <a:latin typeface="Space Grotesk"/>
              </a:rPr>
              <a:t>Livrable : tableau de bord à zéro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37160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1417320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pace Grotesk"/>
              </a:rPr>
              <a:t>J+60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182880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pace Grotesk"/>
              </a:rPr>
              <a:t>Capter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233172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2468880"/>
            <a:ext cx="3291840" cy="3108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Page « Envoyez votre liste » en ligne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Campagne Google lancée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3 premières pages de familles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Baromètre n° 1 publié et envoyé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2 cas clients filmés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Tournée quincailleries : 2 communes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5715000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4A00"/>
                </a:solidFill>
                <a:latin typeface="Space Grotesk"/>
              </a:rPr>
              <a:t>Livrable : premier coût par devis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137160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1417320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pace Grotesk"/>
              </a:rPr>
              <a:t>J+90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182880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pace Grotesk"/>
              </a:rPr>
              <a:t>Prouver et décider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233172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2468880"/>
            <a:ext cx="3291840" cy="3108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Bilan Google à 8 semaines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Test publicité Facebook vers WhatsApp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Matinale acheteurs avec le GIBTP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Baromètres n° 2 et 3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Pré-rendu en production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Décision salons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5715000"/>
            <a:ext cx="3291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FF4A00"/>
                </a:solidFill>
                <a:latin typeface="Space Grotesk"/>
              </a:rPr>
              <a:t>Livrable : bilan à la direction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Salons et rendez-vous 2027 à arbitrer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sites et communiqués des organisateurs relevés le 30/10/2026 ; repère GIBTP : partenariats SIA 2026 de 5 à 40 M FCFA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31 / 36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10996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566160"/>
                <a:gridCol w="3794760"/>
                <a:gridCol w="100584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Rendez-vous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Dates et lieu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Format proposé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Priorité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Côte d’Ivoire Build Expo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10-12 juin 2027, Parc des Expositions d’Abidjan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Visite + rendez-vous fournisseurs ; stand partagé à étudier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S2IA (industrie)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17-23 sept. 2027, Parc des Expositions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Veille, rendez-vous ciblés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Basse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ARCHIBAT 2027 (20 ans)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14-18 oct. 2027, Parc des Expositions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Stand + atelier</a:t>
                      </a:r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 : le baromètre des prix en direct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INTERMAT (Paris)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21-24 avril 2027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Village des start-up si budget voyage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Basse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Réunions du GIBTP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Toute l’année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Matinale acheteurs BLOK chaque trimestre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Tableau de bord des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Ce qu’on suit chaque mois, et ce qu’on décide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32 / 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Tableau de bord mensuel des KPI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base vérifiée au 25-30/10/2026 ; « à mesurer » = donnée dans un outil non ouvert ; cibles proposées à valider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33 / 36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25880"/>
          <a:ext cx="11109960" cy="472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023360"/>
                <a:gridCol w="1737360"/>
                <a:gridCol w="2194560"/>
                <a:gridCol w="169164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Étape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Indicateur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Base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Cible J+90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Outil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Visibilité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Requêtes d’achat en première page Google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0 sur 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Search Console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Visibilité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Clics Google hors marque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À mesurer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Base + 50 %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Search Console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Visibilité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Abonnés LinkedIn / Facebook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1 687 / 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2 000 / 500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LinkedIn, Meta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Engagement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Réactions médianes par post LinkedIn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LinkedIn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Engagement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Retombées presse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Aucun dispositif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3 par trimestre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Revue de presse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Conversion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Demandes de devis (tous canaux)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À mesurer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Base + 50 %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Analytics + CRM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Conversion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Conversations WhatsApp entrantes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À mesurer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Base ×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WhatsApp Business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Conversion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Coût par demande de devis payée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Pas de campagne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Plafond fixé par la direction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Google Ads, Meta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Revenu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Devis transformés en commande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À mesurer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À fixer au J+30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Fidélité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Avis Google Play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8 (4,1)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Google Play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Trois niveaux d’investissement pour les 90 jours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estimations hors salaires, à affiner sur devis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34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6118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35608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Basique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3200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Space Grotesk"/>
              </a:rPr>
              <a:t>Réparer et mesurer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3200400" cy="3657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Volet « réparer » en interne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LinkedIn et Facebook organiques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Baromètre des prix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Pas de publicité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Temps interne seulement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371600"/>
            <a:ext cx="36118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79" y="13716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1435608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Médium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1874519"/>
            <a:ext cx="3200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Space Grotesk"/>
              </a:rPr>
              <a:t>Recommandé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468880"/>
            <a:ext cx="3200400" cy="3657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Basique +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Google Recherche 8 semaines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Facebook vers WhatsApp 4 semaines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2 vidéos clients tournées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Matinale acheteurs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Enveloppe médias fixée après lecture des coûts par clic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371600"/>
            <a:ext cx="36118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19" y="13716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1435608"/>
            <a:ext cx="3200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1874519"/>
            <a:ext cx="3200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Space Grotesk"/>
              </a:rPr>
              <a:t>Accélérer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468880"/>
            <a:ext cx="3200400" cy="3657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Médium +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Pré-rendu par prestataire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12 pages de familles rédigées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Stand ARCHIBAT 2027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Relations presse externalisées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Sur devis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Ce que nous demandons à la direction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076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35 /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Décisions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5120640" cy="39776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Valider la promesse unique et la fiche de chiffres officiels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Choisir le niveau d’investissement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Fixer le coût maximal acceptable par demande de devis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Autoriser un baromètre public des prix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Désigner les clients prêts à témoigner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Valider le calendrier de novembre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716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0020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1907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Accès à ouvrir cette semaine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48840"/>
            <a:ext cx="5120640" cy="39776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Google Analytics et Tag Manager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Search Console (à créer si absente)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Comptes Google Ads et Meta Business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Administration des pages LinkedIn et Facebook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42323"/>
                </a:solidFill>
                <a:latin typeface="Space Grotesk"/>
              </a:rPr>
              <a:t>•  Export des devis et commandes des 6 derniers mois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822960"/>
            <a:ext cx="4616544" cy="5394960"/>
          </a:xfrm>
          <a:prstGeom prst="rect">
            <a:avLst/>
          </a:prstGeom>
        </p:spPr>
      </p:pic>
      <p:pic>
        <p:nvPicPr>
          <p:cNvPr id="4" name="Picture 3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2011680" cy="71778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2148840"/>
            <a:ext cx="1097280" cy="73152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65836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Space Grotesk"/>
              </a:rPr>
              <a:t>Mesurer, capter, prouver.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6400800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C9D3E8"/>
                </a:solidFill>
                <a:latin typeface="Space Grotesk"/>
              </a:rPr>
              <a:t>Dans 90 jours, BLOK doit savoir combien lui coûte une demande de devis, quel canal la lui apporte, et pouvoir le montrer.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64008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4A00"/>
                </a:solidFill>
                <a:latin typeface="Space Grotesk"/>
              </a:rPr>
              <a:t>blok.africa · info@blok.africa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