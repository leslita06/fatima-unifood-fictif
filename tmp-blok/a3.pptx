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822960"/>
            <a:ext cx="4616544" cy="5394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" y="1874519"/>
            <a:ext cx="1097280" cy="73152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011680" cy="717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6766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4A00"/>
                </a:solidFill>
                <a:latin typeface="Space Grotesk"/>
              </a:rPr>
              <a:t>RAPPORT D’AUDIT MARKETING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676656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Space Grotesk"/>
              </a:rPr>
              <a:t>Diagnostic, stratégie et plan d’action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65836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C9D3E8"/>
                </a:solidFill>
                <a:latin typeface="Space Grotesk"/>
              </a:rPr>
              <a:t>Site et référencement · Google Ads · LinkedIn · Meta · Relations publiques et événementiel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65836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C9D3E8"/>
                </a:solidFill>
                <a:latin typeface="Space Grotesk"/>
              </a:rPr>
              <a:t>Présentation à la direction générale · novembre 2026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C9D3E8"/>
                </a:solidFill>
                <a:latin typeface="Space Grotesk"/>
              </a:rPr>
              <a:t>Guy Paterne GOLY, Chargé Marketing Digital &amp; Growth, BLOK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L’essentiel en une page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11109960" cy="9601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0704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pace Grotesk"/>
              </a:rPr>
              <a:t>BLOK est connu et crédible dans l’écosystème, mais </a:t>
            </a:r>
            <a:r>
              <a:rPr sz="1500" b="1">
                <a:solidFill>
                  <a:srgbClr val="FFFFFF"/>
                </a:solidFill>
                <a:latin typeface="Space Grotesk"/>
              </a:rPr>
              <a:t>un acheteur qui cherche du ciment ou du fer à Abidjan ne le trouve pas</a:t>
            </a:r>
            <a:r>
              <a:rPr sz="1500" b="0">
                <a:solidFill>
                  <a:srgbClr val="FFFFFF"/>
                </a:solidFill>
                <a:latin typeface="Space Grotesk"/>
              </a:rPr>
              <a:t>, et quand il le trouve, </a:t>
            </a:r>
            <a:r>
              <a:rPr sz="1500" b="1">
                <a:solidFill>
                  <a:srgbClr val="FFFFFF"/>
                </a:solidFill>
                <a:latin typeface="Space Grotesk"/>
              </a:rPr>
              <a:t>on ne sait pas mesurer ce que cela rapporte</a:t>
            </a:r>
            <a:r>
              <a:rPr sz="1500" b="0">
                <a:solidFill>
                  <a:srgbClr val="FFFFFF"/>
                </a:solidFill>
                <a:latin typeface="Space Grotesk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65176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063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va bien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3246120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Une vraie crédibilité : GIBTP, salon SIA, Ivoire Tech, presse tech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Une page LinkedIn suivie (1 687 abonnés), alimentée 2 fois par semaine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Une offre forte : devis à partir d’une simple photo de la liste, paiement mobile, paiement à terme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4231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79" y="265176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77063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bloque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200400"/>
            <a:ext cx="3246120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Sur Google, BLOK n’apparaît que si l’on tape son nom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Aucune publicité en ligne, et aucun moyen de compter les devis venus d’internet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Facebook à l’arrêt (20 abonnés) ; deux numéros et deux chiffres de catalogue différents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24231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265176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77063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proposons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3200400"/>
            <a:ext cx="3246120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30 jours : remettre de l’ordre et installer le comptage des devis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60 jours : être trouvé sur Google (pages + publicité test de 8 semaines)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90 jours : montrer des preuves clients, faire le bilan chiffré et décider la suite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109960" cy="640080"/>
          </a:xfrm>
          <a:prstGeom prst="roundRect">
            <a:avLst>
              <a:gd name="adj" fmla="val 8000"/>
            </a:avLst>
          </a:prstGeom>
          <a:solidFill>
            <a:srgbClr val="FF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7899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242323"/>
                </a:solidFill>
                <a:latin typeface="Space Grotesk"/>
              </a:rPr>
              <a:t>Budget recommandé : environ 1,8 M FCFA sur 90 jours</a:t>
            </a:r>
            <a:r>
              <a:rPr sz="1200" b="0">
                <a:solidFill>
                  <a:srgbClr val="242323"/>
                </a:solidFill>
                <a:latin typeface="Space Grotesk"/>
              </a:rPr>
              <a:t>, hors salaires (détail page 33). </a:t>
            </a:r>
            <a:r>
              <a:rPr sz="1200" b="1">
                <a:solidFill>
                  <a:srgbClr val="242323"/>
                </a:solidFill>
                <a:latin typeface="Space Grotesk"/>
              </a:rPr>
              <a:t>Résultat attendu à 90 jours :</a:t>
            </a:r>
            <a:r>
              <a:rPr sz="1200" b="0">
                <a:solidFill>
                  <a:srgbClr val="242323"/>
                </a:solidFill>
                <a:latin typeface="Space Grotesk"/>
              </a:rPr>
              <a:t> savoir combien coûte une demande de devis et quel canal l’apporte.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Ce que nous demandons à la direction aujourd’hui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six décisions suffisent pour démarrer lundi. Pour chacune, nous avons une recommandation.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57400"/>
          <a:ext cx="1110996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206240"/>
                <a:gridCol w="361188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Décision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Notre recommandation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Pourquoi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1. Le niveau d’investissement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Médium, environ 1,8 M FCFA sur 90 jours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Assez pour tester la publicité, assez peu pour arrêter sans perte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2. Le coût maximal accepté pour une demande de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fixer avec les ventes, à partir de la marge moyenne d’une commande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C’est la règle qui dira si la publicité continue ou s’arrête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3. Une seule promesse et des chiffres officiels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Envoyez votre liste, BLOK trouve, chiffre et livre.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Aujourd’hui le site, Facebook et LinkedIn ne disent pas la même chose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4. Publier des prix « à partir de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Oui, sur les produits courants, revus chaque mois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L’acheteur qui ne voit pas de prix part chez un concurrent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5. Deux ou trois clients prêts à témoigner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Un grand compte et un quincaillier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Un client qui parle convainc plus que dix posts sur l’IA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6. Ouvrir les accès cette semaine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Google Analytics, comptes publicitaires, administration LinkedIn et Facebook, export des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Sans eux, les chiffres « à mesurer » restent inconnus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Sommaire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4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55448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Où en est BLOK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2024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Méthode, chiffres clés, bilan des cinq canaux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55448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Les cinq canaux, un par 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Site, publicité Google, LinkedIn, Facebook, presse et salons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587752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52344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70632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Ce que nous en retenons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136392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Forces, faiblesses, opportunités, menaces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587752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52344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770632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Ce que nous proposons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136392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Orientations, actions, Google, publicité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03904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68496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98678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Réseaux sociaux : décembre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35254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Ligne éditoriale et calendriers LinkedIn et Facebook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803904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68496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98678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Plan d’action à 90 jours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35254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Étapes, priorités, salons 2027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20056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184648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20293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Budget et suivi des résultats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56869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Trois niveaux de budget, indicateurs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5020056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184648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20293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Vos questions, nos réponses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56869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Questions fréquentes et mots techniques expliqués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Où en est BLOK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Ce que nous avons regardé, et le bilan en une page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5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Comment nous avons travaillé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6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tout ce qui est affirmé ici a été vu de nos yeux le 30 octobre 2026 ; ce que nous n’avons pas pu voir est dit clairement.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54864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048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avons examiné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5120640" cy="3291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site blok.africa, page par page, comme le voit un client et comme le voit Google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6 recherches sur Google Côte d’Ivoire, comme les ferait un acheteur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Les registres publics de publicités de Google et de Facebook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Les 40 dernières publications LinkedIn de BLOK (juillet à octobre 2026)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La page Facebook, l’application sur Google Play, les articles de presse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057400"/>
            <a:ext cx="54864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2860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4048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n’avons pas pu voir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34640"/>
            <a:ext cx="5120640" cy="3291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Les statistiques de visites du site (outil installé, accès non ouvert)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Les statistiques internes de LinkedIn et Facebook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nombre de demandes de devis, de commandes et leur montant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200" b="1">
                <a:solidFill>
                  <a:srgbClr val="242323"/>
                </a:solidFill>
                <a:latin typeface="Space Grotesk"/>
              </a:rPr>
              <a:t>Conséquence :</a:t>
            </a:r>
            <a:r>
              <a:rPr sz="1200" b="0">
                <a:solidFill>
                  <a:srgbClr val="242323"/>
                </a:solidFill>
                <a:latin typeface="Space Grotesk"/>
              </a:rPr>
              <a:t> certains chiffres du tableau de bord sont notés « à mesurer » ; ils seront remplis dans le premier mois, dès l’ouverture des accès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BLOK aujourd’hui, en quatre chiffres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blok.africa (pages À propos et Aide), LinkedIn BLOK, page Facebook, Google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7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+100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fournisseurs vérifiés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site BLOK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41732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+11 000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01168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produits au catalogue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33172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site BLOK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41732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1 000+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01168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téléchargements Android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33172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note 4,1 sur 8 avis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3" y="141732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1 687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3" y="201168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abonnés 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3" y="233172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relevé du 25/10/2026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880360"/>
            <a:ext cx="54864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10896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22783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BLOK propose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5120640" cy="2468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Une plateforme pour acheter ses matériaux de construction en ligne, pensée pour les professionnels du BTP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Livraison sur le Grand Abidjan, en 24 à 72 h pour le stock local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Devis à partir d’une photo, d’un PDF ou d’un fichier Excel de la liste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Paiement par Wave, MoMo ou virement ; paiement à terme pour les clients vérifiés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880360"/>
            <a:ext cx="54864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10896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22783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sème le doute chez un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657600"/>
            <a:ext cx="5120640" cy="2468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Trois chiffres de catalogue : « +11 000 », « +10 000 » et « +10 00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Deux numéros WhatsApp différents entre le site et Facebook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L’application est publiée au nom de « Mstudio.vc », pas de BLOK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L’accueil parle de « WC et interrupteurs », LinkedIn d’« achats pilotés par l’IA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À corriger en premier : c’est gratuit et rapide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 bilan des cinq canaux en un tableau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appréciation sur le relevé du 30/10/2026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8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trois canaux sont à traiter en priorité : le site et Google, la publicité, et la presse et les salons.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57400"/>
          <a:ext cx="11109960" cy="405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91640"/>
                <a:gridCol w="3200400"/>
                <a:gridCol w="3291840"/>
                <a:gridCol w="1005840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Canal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État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qui marche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qui freine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Priorité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Site et 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● À structurer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Site propre, blog lancé, bouton « demande de devis » clair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Introuvable sur Google sans taper « BLOK » ; produits invisibles pour 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Publicité Google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63B2F"/>
                          </a:solidFill>
                          <a:latin typeface="Space Grotesk"/>
                        </a:rPr>
                        <a:t>● Absente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L’outil de statistiques du site est installé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Aucune publicité, aucun comptage des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LinkedIn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06B"/>
                          </a:solidFill>
                          <a:latin typeface="Space Grotesk"/>
                        </a:rPr>
                        <a:t>● Actif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Rythme tenu, bons résultats sur les sujets terrain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Peu de clients montrés, pas de vidéo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Facebook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63B2F"/>
                          </a:solidFill>
                          <a:latin typeface="Space Grotesk"/>
                        </a:rPr>
                        <a:t>● À l’arrêt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créée, coordonnées remplies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20 abonnés, plus rien depuis le 16 septembre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Presse et salons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● Sous-exploité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GIBTP, SIA 2026, Ivoire Tech, AfricArena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La visibilité ne produit pas de contacts clients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Les cinq canaux, un par 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Pour chacun : ce que nous avons vu, ce que cela coûte à BLOK, ce que nous proposons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9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395728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395728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CANAL 1 · SITE ET 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 site : les clients le trouvent bien, Google beaucoup moins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blok.africa et Google Côte d’Ivoire,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10 / 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quand un acheteur tape « fournisseur ciment Abidjan », il tombe sur des concurrents, jamais sur BLOK.</a:t>
            </a:r>
          </a:p>
        </p:txBody>
      </p:sp>
      <p:pic>
        <p:nvPicPr>
          <p:cNvPr id="14" name="Picture 13" descr="cap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3657600" cy="24668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572000"/>
            <a:ext cx="3657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Accueil de blok.africa, 30/10/2026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05740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28600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404872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avons constaté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834640"/>
            <a:ext cx="3291840" cy="3291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Sur 5 recherches d’achat testées, BLOK n’apparaît dans aucune première page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Google reçoit des pages presque vides : le contenu ne s’affiche qu’une fois la page chargée par le navigateur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Aucune des fiches produits n’est signalée à Google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Les prix ne sont visibles qu’après création d’un compte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Le blog compte 2 articles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057400"/>
            <a:ext cx="35661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228600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2404872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proposons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834640"/>
            <a:ext cx="3200400" cy="3291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Faire livrer à Google des pages déjà remplies (travail de l’équipe technique)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Signaler toutes les fiches produits à Google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Créer 12 pages par famille : ciment, fer, plomberie…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Afficher des prix « à partir de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Montrer des clients sur l’accueil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587752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58775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CANAL 2 · PUBLICITÉ 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La publicité Google : rien n’est lancé, et c’est une chance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registre public des annonces Google (domaine blok.africa),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11 / 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aucun concurrent ne fait de publicité sur ces recherches : la place est libre, mais il faut d’abord pouvoir compter les devis.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1168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2402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5915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avons constaté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3246120" cy="3337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Aucune annonce diffusée pour BLOK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Aucun concurrent repéré en publicité sur les recherches testées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 site ne sait pas compter les demandes de devis ni les clics vers WhatsApp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Pas de page dédiée pour accueillir un visiteur venu d’une annonce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201168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79" y="224028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235915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cela coûte à BLOK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788920"/>
            <a:ext cx="3246120" cy="3337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Des acheteurs prêts à commander passent chez la concurrence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Si l’on lance de la publicité aujourd’hui, on paiera sans savoir combien de devis elle rapporte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La marge par commande n’est pas connue du marketing : impossible de fixer un budget rentable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01168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19" y="224028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235915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proposons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2788920"/>
            <a:ext cx="3246120" cy="3337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D’abord installer le comptage : devis, clic WhatsApp, inscription, commande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Créer une page « Envoyez votre liste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Puis un test de 8 semaines sur Abidjan, avec un budget plafonné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Décision à 8 semaines : continuer, ajuster ou arrêter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81965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8196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CANAL 3 · 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LinkedIn : la marque publie régulièrement, mais montre peu ses clients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page LinkedIn BLOK, 40 publications de juillet à octobre 2026, relevé du 25/10/2026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12 / 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9844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4A00"/>
                </a:solidFill>
                <a:latin typeface="Space Grotesk"/>
              </a:rPr>
              <a:t>1 687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abonnés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29844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325880"/>
            <a:ext cx="2377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4A00"/>
                </a:solidFill>
                <a:latin typeface="Space Grotesk"/>
              </a:rPr>
              <a:t>2,2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1810512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publications par semaine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29844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325880"/>
            <a:ext cx="2377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4A00"/>
                </a:solidFill>
                <a:latin typeface="Space Grotesk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810512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réactions par post (médiane)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129844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3" y="1325880"/>
            <a:ext cx="2377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4A00"/>
                </a:solidFill>
                <a:latin typeface="Space Grotesk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3" y="1810512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vidéo publiée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3774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260604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7249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avons constaté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154680"/>
            <a:ext cx="3246120" cy="2971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Jamais plus de 7 jours sans publier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seul témoignage client en 4 mois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L’adhésion au GIBTP a fait 5 fois plus de réactions que la moyenne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dirigeants font 10 à 20 fois plus de réactions que la page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23774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79" y="260604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27249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cela coûte à BLOK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3154680"/>
            <a:ext cx="3246120" cy="2971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posts parlent d’intelligence artificielle, pas des soucis des acheteurs : délais, prix, ruptures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Aucun post n’invite à demander un devis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lettres « en gras » spéciales ne sont pas lues par la recherche LinkedIn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23774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260604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27249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proposons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3154680"/>
            <a:ext cx="3246120" cy="2971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client montré chaque mois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posts par semaine pour la page, 2 pour les dirigeants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Des vidéos courtes de chantier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lien vers le devis à chaque post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81965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8196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CANAL 4 ·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Facebook : une page créée, puis laissée en sommeil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page Facebook Blok Technology et registre public des publicités Meta,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13 / 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c’est là que sont les quincailliers et les artisans : la page doit être relancée pour eux, avec WhatsApp au bout.</a:t>
            </a:r>
          </a:p>
        </p:txBody>
      </p:sp>
      <p:pic>
        <p:nvPicPr>
          <p:cNvPr id="14" name="Picture 13" descr="cap_f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3138351" cy="42519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886200" y="2011680"/>
            <a:ext cx="38404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22402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359152"/>
            <a:ext cx="34747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avons constaté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788920"/>
            <a:ext cx="3474720" cy="3337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20 abonnés, aucun avis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Dernier post le 16 septembre, 1 réaction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Adresse de page impossible à écrire sur un flyer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Numéro et e-mail différents de ceux du site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Aucune publicité, aucun compte Instagram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011680"/>
            <a:ext cx="38404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24028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359152"/>
            <a:ext cx="34747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proposons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788920"/>
            <a:ext cx="3474720" cy="3337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Remettre la page en état : nom d’adresse, couverture, coordonnées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3 posts par semaine : prix du jour, livraisons filmées, astuces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bouton WhatsApp sur chaque post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Au 2e mois, une petite publicité qui ouvre une conversation WhatsApp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971800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9718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CANAL 5 · PRESSE ET ÉVÉNEMENTS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Presse et salons : BLOK a de beaux titres, mais n’en tire pas de clients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We Are Tech, allAfrica, LinkedIn BLOK, GIBTP, blok.africa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14 / 38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40280"/>
            <a:ext cx="10607040" cy="457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17319" y="210312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17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Début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60320"/>
            <a:ext cx="20574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Sélection Ivoire Tech et séjour Silicon Valley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210312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417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Avril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560320"/>
            <a:ext cx="20574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Articles We Are Tech et allAfrica</a:t>
            </a:r>
          </a:p>
        </p:txBody>
      </p:sp>
      <p:sp>
        <p:nvSpPr>
          <p:cNvPr id="18" name="Oval 17"/>
          <p:cNvSpPr/>
          <p:nvPr/>
        </p:nvSpPr>
        <p:spPr>
          <a:xfrm>
            <a:off x="5897880" y="210312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17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Déc.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560320"/>
            <a:ext cx="20574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AfricArena au Cap ; portrait de Yohann Behi</a:t>
            </a:r>
          </a:p>
        </p:txBody>
      </p:sp>
      <p:sp>
        <p:nvSpPr>
          <p:cNvPr id="21" name="Oval 20"/>
          <p:cNvSpPr/>
          <p:nvPr/>
        </p:nvSpPr>
        <p:spPr>
          <a:xfrm>
            <a:off x="8138160" y="210312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1417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Mai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560320"/>
            <a:ext cx="20574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Africa Forward à Nairobi</a:t>
            </a:r>
          </a:p>
        </p:txBody>
      </p:sp>
      <p:sp>
        <p:nvSpPr>
          <p:cNvPr id="24" name="Oval 23"/>
          <p:cNvSpPr/>
          <p:nvPr/>
        </p:nvSpPr>
        <p:spPr>
          <a:xfrm>
            <a:off x="10378440" y="210312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417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Sept.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560320"/>
            <a:ext cx="20574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Adhésion au GIBTP ; le DG au salon SIA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1188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84048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5935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manque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5120640" cy="1737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Une page presse sur le site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Des articles dans la presse BTP et économique ivoirienne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dispositif pour repartir de chaque salon avec une liste de contacts et une relance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61188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84048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95935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proposons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389120"/>
            <a:ext cx="5120640" cy="1737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« baromètre des prix des matériaux » chaque mois, envoyé aux rédactions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Une matinale acheteurs avec le GIBTP chaque trimestre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ARCHIBAT 2027 : stand et atelier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Ce que nous en retenons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Ce que BLOK maîtrise, et ce que le marché lui impose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15 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Forces, faiblesses, opportunités, menaces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forces et faiblesses : constatées le 30/10/2026 ; opportunités et menaces : notre lecture du marché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16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109728" cy="233172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FORCES · ce que BLOK a déjà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5029200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Crédibilité : GIBTP, salon SIA, Ivoire Tech, AfricArena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Offre large : +100 fournisseurs, +11 000 produits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Devis à partir d’une photo : pensé pour le terrain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Paiement mobile et paiement à terme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Dirigeants écoutés sur LinkedIn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F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109728" cy="233172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FAIBLESSES · ce qui freine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5029200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Introuvable sur Google sans taper « BLOK »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Impossible de compter les devis venus d’internet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Facebook à l’arrêt, aucune publicité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Un seul témoignage client publié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Chiffres et numéros incohérents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109728" cy="23317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7764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OPPORTUNITÉS · ce que le marché offre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5029200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Les recherches « prix » et « devis » ne sont tenues par personne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Aucun concurrent en publicité sur ces recherches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Un baromètre des prix intéresserait la presse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ARCHIBAT 2027 et le réseau GIBTP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WhatsApp, déjà utilisé par les artisans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DF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840480"/>
            <a:ext cx="109728" cy="2331720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4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MENACES · ce qui peut nous coûter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43400"/>
            <a:ext cx="5029200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Quincailleries et sites déjà visibles (Jachete, Jumia, Kalizio)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L’habitude d’appeler son fournisseur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Prix cachés : l’acheteur va voir ailleurs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Parler d’IA sans preuve peut sembler loin du chantier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Prix des matériaux qui varient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Quatre choix qui en découlent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17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45920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4A00"/>
                </a:solidFill>
                <a:latin typeface="Space Grotes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91640"/>
            <a:ext cx="4206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Faire de la crédibilité une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48840"/>
            <a:ext cx="420624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Baromètre des prix, histoires de clients, prise de parole à ARCHIBAT : on montre au lieu de dire.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4A00"/>
                </a:solidFill>
                <a:latin typeface="Space Grotes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691640"/>
            <a:ext cx="4206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Montrer ce qui bat le coup de 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148840"/>
            <a:ext cx="420624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Le devis par photo et le paiement mobile doivent se voir partout : c’est ce que le fournisseur habituel n’offre pas.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069080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4A00"/>
                </a:solidFill>
                <a:latin typeface="Space Grotes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14800"/>
            <a:ext cx="4206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Prendre Google pendant que c’est libre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420624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Pages par famille de produits et publicité test : la place ne restera pas vide longtemps.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69080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4A00"/>
                </a:solidFill>
                <a:latin typeface="Space Grotesk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114800"/>
            <a:ext cx="4206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Ne plus perdre l’acheteur en 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572000"/>
            <a:ext cx="420624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Une seule promesse, un seul numéro, des prix « à partir de » visibles sans compte.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Ce que nous proposons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Cinq orientations, puis les actions concrètes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18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Cinq orientations pour la direction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19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310896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Une seule promesse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371600"/>
            <a:ext cx="7498079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« Envoyez votre liste, BLOK trouve, chiffre et livre. » La même phrase sur le site, les réseaux, l’application et les salons.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50008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50008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50008"/>
            <a:ext cx="310896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Deux clients, deux canaux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350008"/>
            <a:ext cx="7498079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Grandes entreprises et promoteurs : LinkedIn, salons, rendez-vous. Quincailliers et artisans : Facebook, WhatsApp, terrain.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28416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28416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28416"/>
            <a:ext cx="310896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La demande de devis comme juge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328416"/>
            <a:ext cx="7498079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Chaque action se juge au nombre de devis qu’elle apporte et à leur coût, puis aux commandes.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06824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06824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06824"/>
            <a:ext cx="310896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Les preuves avant la technologie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306824"/>
            <a:ext cx="7498079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Des chantiers livrés, des clients, des prix réels. L’IA devient un argument, plus le message principal.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85232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285232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85232"/>
            <a:ext cx="310896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Un rendez-vous mensuel à nous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285232"/>
            <a:ext cx="7498079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Le baromètre des prix des matériaux à Abidjan : il sert Google, la presse, LinkedIn et les salons en même temps.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Qui fait quoi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20 / 38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109960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903720"/>
                <a:gridCol w="219456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Chantier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qu’il faut faire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Qui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Comptage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Compter 4 actions sur le site : devis, clic WhatsApp, inscription, commande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 + équipe technique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Pages livrées remplies à Google ; produits signalés à Google ; prix « à partir de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Équipe technique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Contenus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 articles par mois liés à une famille de produits ; baromètre mensuel ; clients sur l’accueil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Publicité Google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« Envoyez votre liste » ; test de 8 semaines sur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LinkedIn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 posts de la page + 2 posts des dirigeants par semaine ; 1 client par mois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 + dirigeants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Facebook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remise en état ; 3 posts par semaine ; publicité vers WhatsApp au 2e mois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Presse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presse ; baromètre envoyé aux rédactions ; matinale acheteurs avec le GIBTP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 + direction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Application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Publiée au nom de BLOK ; avis demandé après chaque livraison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Équipe technique + ventes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Être trouvé sur Google : trois chantiers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objectifs à recaler au premier mois, une fois l’outil gratuit de Google (Search Console) ouvert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21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Google ne peut pas recommander des pages qu’il ne voit pas : on lui montre le catalogue, puis on écrit les pages que les acheteurs cherchent.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0487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1. Que Google voie le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3246120" cy="3291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Ouvrir l’outil gratuit de suivi de Google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Faire livrer des pages déjà remplies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Signaler toutes les fiches produits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Retirer de Google les pages inutiles (panier, favoris)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0574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22860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40487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2. Écrire ce que l’on cherche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34640"/>
            <a:ext cx="3246120" cy="3291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12 pages par famille : ciment, fer, plomberie, électricité…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Chacune avec un prix « à partir de » et un bouton devis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 baromètre mensuel des prix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articles par mois liés à l’offre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0574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228600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40487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3. Exister à Abidjan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34640"/>
            <a:ext cx="3246120" cy="3291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Créer la fiche BLOK sur Google Maps (aucune trouvée)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Une page par commune du Grand Abidjan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S’inscrire aux annuaires du BTP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Demander un avis après chaque livraison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Les recherches que nous voulons gagner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recherches faites sur Google Côte d’Ivoire le 30/10/2026 ; volumes à lire dans l’outil de Google au premier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22 / 38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109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886200"/>
                <a:gridCol w="36576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que tape l’acheteur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Qui apparaît aujourd’hui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La page BLOK à créer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achat matériaux de construction 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Kalizio, Technimatpro, Quincaillerie.ci, annuaires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Accueil réécrit + « Commander ses matériaux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fournisseur matériaux BTP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SODRA, SDMC, annuaires, Batirici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Nos fournisseurs vérifiés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quincaillerie en ligne 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Jachete, Nafiassou, Jumia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Quincaillerie en ligne livrée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marketplace BTP côte d’ivoire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Petites annonces (Batirici, Wagnin)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La plateforme BTP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devis matériaux construction 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Documents PDF, SODRA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Envoyez votre liste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prix ciment / fer à béton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Documents PDF et publications anciennes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Le baromètre mensuel des prix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La publicité : un test de 8 semaines, avec une règle d’arrêt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proposition ; montants détaillés page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23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on ne paie que lorsqu’un acheteur clique, le budget est plafonné, et on arrête si une demande de devis coûte plus que le maximum fixé.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57400"/>
          <a:ext cx="11109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4983480"/>
                <a:gridCol w="12801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Campagne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qu’on cherche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Exemples de recherches ou de public visé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Part du budget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· intention d’achat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Des demandes de devis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prix fer à béton abidjan », « fournisseur ciment abidjan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60 %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· familles de produits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Des devis par famille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carrelage », « étanchéité toiture », « tuyau PVC » +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25 %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· nom BLOK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Protéger le nom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blok africa », « blok technology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5 %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· rappel (2e mois)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Faire revenir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Visiteurs du site partis sans demander de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10 %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Facebook vers WhatsApp (2e mois)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Des conversations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Grand Abidjan, intéressés par le BTP et la quincaillerie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Budget à part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623560"/>
            <a:ext cx="11109960" cy="6400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107899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pace Grotesk"/>
              </a:rPr>
              <a:t>À 8 semaines, la direction décide :</a:t>
            </a:r>
            <a:r>
              <a:rPr sz="1250" b="0">
                <a:solidFill>
                  <a:srgbClr val="FFFFFF"/>
                </a:solidFill>
                <a:latin typeface="Space Grotesk"/>
              </a:rPr>
              <a:t> continuer, ajuster ou arrêter, au vu du coût réel d’une demande de devis.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Réseaux sociaux : décembre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8 posts LinkedIn et 12 posts Facebook, prêts à produire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24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Qui on vise, sur quel réseau, avec quoi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textes complets dans le calendrier joint ; rien n’est publié sans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25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LinkedIn · les grandes entreprises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5120640" cy="39776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Pour : directeurs travaux, acheteurs, promoteurs, bureaux d’études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Quand : mardi et jeudi, 8 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Quoi : chantiers livrés, baromètre des prix, paiement à terme, coulisses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En plus : 2 posts par semaine des dirigeants, relayés par la page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Toujours un lien vers la demande de devis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190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Facebook · les quincailliers et artisans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5120640" cy="39776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Pour : quincailliers, artisans, petits entrepreneurs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Quand : lundi, mercredi, vendredi, 12 h 30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Quoi : le prix du jour, des livraisons filmées, des astuces, des témoignages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Toujours un bouton WhatsApp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Les mêmes visuels serviront à Instagram si un compte est ouvert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Calendrier LinkedIn · décembre 2026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photos, témoignages et chiffres à réunir avec les ventes avant publication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26 / 38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25880"/>
          <a:ext cx="111099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34440"/>
                <a:gridCol w="1463040"/>
                <a:gridCol w="3474720"/>
                <a:gridCol w="2377440"/>
                <a:gridCol w="13716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Date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Rubrique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Format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Sujet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Accroche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Pour agir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Mar. 1er déc.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Pédagogie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Carrousel 6 pages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Commander ses matériaux à Abidjan : les 5 étapes qui font perdre du temps sur un chantier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Liste, appels, relances, devis, livraison : où partent vos journées 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Envoyer sa liste à BLOK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Jeu. 3 déc.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Coulisses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Photo réelle + texte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Comment un fournisseur entre chez BLOK : stock, normes, fiabilité, vérification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Plus de 100 fournisseurs, et autant de vérifications.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Devenir fournisseur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Mar. 8 déc.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Chantier livré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Photo réelle (accord client)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Une livraison racontée : quoi, où, en combien de temps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Mardi, 8 h, Yopougon : la commande est partie…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Demander un devis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Jeu. 10 déc.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Démonstration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Vidéo écran 30 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La demande de devis en 3 étapes : photo de la liste, chiffrage, validation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Votre liste sur papier suffit.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Lien vers la page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Mar. 15 déc.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Baromètre n°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Carrousel + lettre d’information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Prix du ciment, du fer et du PVC à Abidjan ce mois-ci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Ce que coûte vraiment un chantier en décembre.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S’abonner au baromètre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Jeu. 17 déc.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Parole client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Vidéo face caméra 45 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Un acheteur ou un chef de chantier raconte son problème et la solution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« Avant, je passais ma matinée au téléphone.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Demander un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Mar. 22 déc.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Offre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+ texte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Paiement à terme pour les clients vérifiés : conditions et démarche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Ne bloquez plus votre trésorerie sur le stock.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Prendre rendez-vous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Mar. 29 déc.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Bilan 2026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Carrousel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L’année 2026 de BLOK en chiffres validés par la direction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2026 chez BLOK, en 4 chiffres.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Nous écrire sur 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Calendrier Facebook · décembre 2026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prix du jour fournis par les achats et validés avant chaque publication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27 / 38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25880"/>
          <a:ext cx="1110996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34440"/>
                <a:gridCol w="1463040"/>
                <a:gridCol w="3474720"/>
                <a:gridCol w="2377440"/>
                <a:gridCol w="137160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Date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Rubrique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Format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Sujet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Accroche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Pour agir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Mer. 2 déc.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Présentation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BLOK, c’est quoi ? Vos matériaux de construction livrés sur le Grand 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Vous construisez, on s’occupe des matériaux.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Ven. 4 déc.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 produits du quotidien et leur prix livré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jour, livré sur chantier.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Lun. 7 déc.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Livraison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Vidéo verticale 20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Une livraison filmée, de l’entrepôt au chantier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 notre camion à votre chantier.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Mer. 9 déc.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Astuce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Carrousel 4:5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Bien préparer sa liste de matériaux : quantités, références, marge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5 oublis qui coûtent cher.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Envoyer sa liste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Ven. 11 déc.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 nouveaux produits, prix livrés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jour, livré sur chantier.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Lun. 14 déc.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Paiement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Payer sa commande : Wave, MoMo, virement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Payez comme vous voulez.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Mer. 16 déc.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texte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Ciment, fer, PVC : qu’est-ce qui manque le plus souvent sur vos chantiers 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Dites-le en commentaire.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Commenter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Ven. 18 déc.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 nouveaux produits, prix livrés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jour, livré sur chantier.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Lun. 21 déc.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Témoignage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Vidéo verticale 30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Un quincaillier ou un artisan client raconte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« Je commande le soir, je suis livré…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Mer. 23 déc.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Article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Lien + visuel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Les erreurs qui font exploser le budget d’un chantier en Côte d’Ivoire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L’erreur la plus fréquente n’est pas celle qu’on croit.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Lire l’article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Lun. 28 déc.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Délais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Stock local livré en 24 à 72 h sur le Grand 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Commandé lundi, sur chantier mercredi.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Mer. 30 déc.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Vœux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Merci aux clients et fournisseurs de 2026 ; rendez-vous en janvier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Bonne année à tous ceux qui construisent.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Plan d’action à 90 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Remettre de l’ordre, être trouvé, prouver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28 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 plan en trois étapes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J = jours à compter de la validation par la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29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pace Grotesk"/>
              </a:rPr>
              <a:t>J+30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pace Grotesk"/>
              </a:rPr>
              <a:t>Remettre de l’ordre et compter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3172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329184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Comptage des devis installé et vérifié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numéro, une adresse, une promesse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Outil gratuit de Google ouvert, pages inutiles retirées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Facebook remis en état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Calendrier de décembre publié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Demande écrite à l’équipe technique pour les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Résultat : on sait enfin compter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37160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41732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pace Grotesk"/>
              </a:rPr>
              <a:t>J+60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182880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pace Grotesk"/>
              </a:rPr>
              <a:t>Être trouvé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233172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2468880"/>
            <a:ext cx="329184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 « Envoyez votre liste » en ligne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Publicité Google lancée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3 premières pages par famille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Baromètre n° 1 publié et envoyé à la presse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témoignages clients filmés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Tournée des quincailleries dans 2 communes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56692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Résultat : premier coût par devis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37160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141732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pace Grotesk"/>
              </a:rPr>
              <a:t>J+90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182880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pace Grotesk"/>
              </a:rPr>
              <a:t>Prouver et décider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233172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468880"/>
            <a:ext cx="329184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Bilan de la publicité Google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Test Facebook vers WhatsApp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Matinale acheteurs avec le GIBTP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Baromètres n° 2 et 3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Pages remplies pour Google en ligne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Choix des salons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56692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Résultat : bilan chiffré à la direction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Les douze actions, par ordre de priorité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coût : aucun = temps interne ; faible = moins de 500 000 FCFA ; moyen = moins de 3 M FCFA ; élevé = au-delà (estimations)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30 / 38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25880"/>
          <a:ext cx="11109960" cy="4933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035040"/>
                <a:gridCol w="1234440"/>
                <a:gridCol w="1005840"/>
                <a:gridCol w="1188720"/>
                <a:gridCol w="1188720"/>
              </a:tblGrid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Effet attendu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Coût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Difficulté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Quand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Compter les devis, clics WhatsApp, inscriptions, commandes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Aucun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Un seul numéro, des chiffres et une promesse identiques partout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Aucun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Ouvrir l’outil de Google, signaler les produits, retirer les pages inutiles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Relancer Facebook + WhatsApp Business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Aucun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Publier le calendrier LinkedIn et Facebook de décembre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Aucun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Page « Envoyez votre liste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60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Publicité Google test de 8 semaines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60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Baromètre des prix n° 1 + envoi à la presse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60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Pages livrées remplies à 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Difficile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90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Publicité Facebook vers 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90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Matinale acheteurs avec le GIBTP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90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Décision sur ARCHIBAT 2027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Élevé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90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Salons et rendez-vous 2027 à arbitrer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sites et communiqués des organisateurs, relevés le 30/10/2026 ; repère : partenariats GIBTP au SIA 2026 de 5 à 40 M FCFA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31 / 38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1099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566160"/>
                <a:gridCol w="3794760"/>
                <a:gridCol w="10058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Rendez-vous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Dates et lieu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que nous proposons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Priorité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Côte d’Ivoire Build Expo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10-12 juin 2027, Parc des Expositions d’Abidjan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Visite et rendez-vous fournisseurs ; stand partagé à étudier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S2IA (industrie)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17-23 sept. 2027, Parc des Expositions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Visite et rendez-vous ciblés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Basse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ARCHIBAT 2027 (20 ans)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14-18 oct. 2027, Parc des Expositions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Stand + atelier</a:t>
                      </a:r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 : le baromètre des prix en direct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INTERMAT (Paris)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21-24 avril 2027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Espace start-up si budget voyage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Basse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Réunions du GIBTP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Toute l’année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Matinale acheteurs BLOK chaque trimestre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Budget et suivi des résultats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Combien, et comment on saura que ça marche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32 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Trois niveaux de budget pour 90 jours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ordres de grandeur proposés, hors salaires, à confirmer sur devis ; le budget publicitaire peut être arrêté à tout moment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33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35608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Basique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pace Grotesk"/>
              </a:rPr>
              <a:t>Remettre de l’ordre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002060"/>
                </a:solidFill>
                <a:latin typeface="Space Grotesk"/>
              </a:rPr>
              <a:t>0 FCFA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0040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Tout le travail « remettre de l’ordre » en interne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LinkedIn et Facebook sans publicité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Baromètre des prix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Limite :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 pas de nouveaux clients venus de Google à court terme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37160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4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79" y="1371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435608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Médium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1874519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pace Grotesk"/>
              </a:rPr>
              <a:t>Recommandé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42316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FF4A00"/>
                </a:solidFill>
                <a:latin typeface="Space Grotesk"/>
              </a:rPr>
              <a:t>≈ 1,8 M FCFA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063240"/>
            <a:ext cx="320040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Basique, plus 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Publicité Google 8 semaines : 800 000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Facebook vers WhatsApp 4 semaines : 200 000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vidéos de clients : 300 000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Matinale acheteurs GIBTP : 500 000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37160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19" y="1371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435608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1874519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pace Grotesk"/>
              </a:rPr>
              <a:t>Accélérer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42316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5BC0BE"/>
                </a:solidFill>
                <a:latin typeface="Space Grotesk"/>
              </a:rPr>
              <a:t>Sur devis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3063240"/>
            <a:ext cx="320040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Médium, plus 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Pages remplies pour Google par un prestataire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12 pages par famille rédigées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Stand ARCHIBAT 2027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Relations presse confiées à une agence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Comment on saura que ça marche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point de départ constaté du 25 au 30/10/2026 ; « à mesurer » = chiffre disponible dès l’ouverture des accès ; objectifs à valider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34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un tableau de bord d’une page chaque mois ; le chiffre qui compte le plus est le nombre de demandes de devis, et ce qu’elles coûtent.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57400"/>
          <a:ext cx="11109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166360"/>
                <a:gridCol w="192024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qu’on regarde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Indicateur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Aujourd’hui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Objectif à 90 jours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Être vu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Recherches d’achat où BLOK est en première page 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0 sur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Être vu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Abonnés LinkedIn / Facebook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1 687 / 20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2 000 / 500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Intéresser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Réactions par post LinkedIn (médiane)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Intéresser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Articles de presse obtenus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Aucun suivi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3 par trimestre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Vendre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Demandes de devis, tous canaux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mesurer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+50 %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Vendre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Conversations WhatsApp entrantes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mesurer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Doublées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Vendre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Coût d’une demande de devis venue de la publicité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Pas de publicité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Sous le maximum fixé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Fidéliser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Avis sur l’application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8 (note 4,1)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Vos questions, nos réponses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Ce que l’on nous demande le plus souvent, et les mots techniques expliqués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35 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Les questions que vous vous posez peut-être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36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25880"/>
            <a:ext cx="91440" cy="15544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435607"/>
            <a:ext cx="5029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Space Grotesk"/>
              </a:rPr>
              <a:t>Pourquoi ne pas lancer la publicité tout de suite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874519"/>
            <a:ext cx="50292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Parce qu’aujourd’hui, on ne saurait pas combien de devis elle rapporte. Deux à trois semaines de réglage d’abord, puis on 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91440" cy="15544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35607"/>
            <a:ext cx="5029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Space Grotesk"/>
              </a:rPr>
              <a:t>Combien ça coûte, au total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19"/>
            <a:ext cx="50292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Rien en Basique. Environ 1,8 M FCFA sur 90 jours en Médium, hors salaires. La publicité peut être coupée à tout moment.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90088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90088"/>
            <a:ext cx="91440" cy="15544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099816"/>
            <a:ext cx="5029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Space Grotesk"/>
              </a:rPr>
              <a:t>Quand verra-t-on des résultats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538728"/>
            <a:ext cx="50292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À 30 jours, on sait compter. À 60 jours, on connaît le coût d’un devis. À 90 jours, bilan chiffré et décision.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990088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990088"/>
            <a:ext cx="91440" cy="15544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099816"/>
            <a:ext cx="5029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Space Grotesk"/>
              </a:rPr>
              <a:t>Qui fait le travail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538728"/>
            <a:ext cx="50292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Le marketing pilote. L’équipe technique pour le site, les dirigeants pour 2 posts LinkedIn par semaine, les ventes pour les témoignages.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654296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54296"/>
            <a:ext cx="91440" cy="15544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764024"/>
            <a:ext cx="5029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Space Grotesk"/>
              </a:rPr>
              <a:t>Pourquoi Facebook, si LinkedIn marche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202936"/>
            <a:ext cx="50292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Ce ne sont pas les mêmes clients : les quincailliers et artisans sont sur Facebook et WhatsApp, pas sur LinkedIn.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654296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654296"/>
            <a:ext cx="91440" cy="15544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764024"/>
            <a:ext cx="5029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Space Grotesk"/>
              </a:rPr>
              <a:t>Afficher nos prix, n’est-ce pas risqué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02936"/>
            <a:ext cx="50292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On affiche des prix « à partir de » sur les produits courants, revus chaque mois. Sans prix, l’acheteur part chez le concurrent qui en montre.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Les mots techniques, en clair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37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111099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356616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Référencement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325880"/>
            <a:ext cx="70866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Tout ce qui fait qu’un site apparaît, sans payer, dans les résultats de Google.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29967"/>
            <a:ext cx="111099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7"/>
            <a:ext cx="356616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Outil de suivi de Google (Search Console)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29967"/>
            <a:ext cx="70866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Service gratuit de Google qui montre sur quelles recherches le site apparaît, et combien de clics il reçoit.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34056"/>
            <a:ext cx="111099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34056"/>
            <a:ext cx="356616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Comptage des conversions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34056"/>
            <a:ext cx="70866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Le site note chaque action utile d’un visiteur : demande de devis, clic WhatsApp, commande. C’est ce qui permet de savoir ce que rapporte chaque canal.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38144"/>
            <a:ext cx="111099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38144"/>
            <a:ext cx="356616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Page d’atterrissage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38144"/>
            <a:ext cx="70866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La page où arrive un visiteur qui a cliqué sur une annonce. Elle ne parle que d’une chose : envoyer sa liste.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42232"/>
            <a:ext cx="111099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42232"/>
            <a:ext cx="356616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Coût par demande de devis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42232"/>
            <a:ext cx="70866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Budget publicitaire dépensé, divisé par le nombre de demandes de devis obtenues.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111099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46320"/>
            <a:ext cx="356616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Pages livrées remplies (pré-rendu)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846320"/>
            <a:ext cx="70866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Le site envoie à Google une page déjà écrite, au lieu d’une page vide qui se remplit ensuite. Sans cela, Google lit mal le catalogue.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50408"/>
            <a:ext cx="111099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50408"/>
            <a:ext cx="356616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Baromètre des prix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550408"/>
            <a:ext cx="70866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Une publication mensuelle des prix des principaux matériaux à Abidjan, faite à partir des données BLOK.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822960"/>
            <a:ext cx="4616544" cy="5394960"/>
          </a:xfrm>
          <a:prstGeom prst="rect">
            <a:avLst/>
          </a:prstGeom>
        </p:spPr>
      </p:pic>
      <p:pic>
        <p:nvPicPr>
          <p:cNvPr id="4" name="Picture 3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2011680" cy="7177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2148840"/>
            <a:ext cx="1097280" cy="73152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65836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pace Grotesk"/>
              </a:rPr>
              <a:t>Remettre de l’ordre, être trouvé, prouver.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640080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C9D3E8"/>
                </a:solidFill>
                <a:latin typeface="Space Grotesk"/>
              </a:rPr>
              <a:t>Dans 90 jours, BLOK saura combien lui coûte une demande de devis, quel canal la lui apporte, et pourra le montrer.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6400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4A00"/>
                </a:solidFill>
                <a:latin typeface="Space Grotesk"/>
              </a:rPr>
              <a:t>blok.africa · info@blok.africa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