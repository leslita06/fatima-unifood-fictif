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dPt>
            <c:idx val="0"/>
            <c:spPr>
              <a:solidFill>
                <a:srgbClr val="E50046"/>
              </a:solidFill>
            </c:spPr>
          </c:dPt>
          <c:dPt>
            <c:idx val="1"/>
            <c:spPr>
              <a:solidFill>
                <a:srgbClr val="FAB900"/>
              </a:solidFill>
            </c:spPr>
          </c:dPt>
          <c:dPt>
            <c:idx val="2"/>
            <c:spPr>
              <a:solidFill>
                <a:srgbClr val="2B1B22"/>
              </a:solidFill>
            </c:spPr>
          </c:dPt>
          <c:dPt>
            <c:idx val="3"/>
            <c:spPr>
              <a:solidFill>
                <a:srgbClr val="5B6168"/>
              </a:solidFill>
            </c:spPr>
          </c:dPt>
          <c:dPt>
            <c:idx val="4"/>
            <c:spPr>
              <a:solidFill>
                <a:srgbClr val="F8BFD1"/>
              </a:solidFill>
            </c:spPr>
          </c:dPt>
          <c:cat>
            <c:strRef>
              <c:f>Sheet1!$A$2:$A$6</c:f>
              <c:strCache>
                <c:ptCount val="5"/>
                <c:pt idx="0">
                  <c:v>Achat d'espace</c:v>
                </c:pt>
                <c:pt idx="1">
                  <c:v>Production</c:v>
                </c:pt>
                <c:pt idx="2">
                  <c:v>Animation</c:v>
                </c:pt>
                <c:pt idx="3">
                  <c:v>Temps interne</c:v>
                </c:pt>
                <c:pt idx="4">
                  <c:v>Imprévu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27.0</c:v>
                </c:pt>
                <c:pt idx="1">
                  <c:v>3.0</c:v>
                </c:pt>
                <c:pt idx="2">
                  <c:v>6.0</c:v>
                </c:pt>
                <c:pt idx="3">
                  <c:v>0.0</c:v>
                </c:pt>
                <c:pt idx="4">
                  <c:v>2.0</c:v>
                </c:pt>
              </c:numCache>
            </c:numRef>
          </c:val>
        </c:ser>
        <c:dLbls>
          <c:numFmt formatCode="0.00&quot; M&quot;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F2328"/>
          </a:solidFill>
          <a:latin typeface="Nunit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1154858" cy="1188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2514600"/>
            <a:ext cx="1280160" cy="109728"/>
          </a:xfrm>
          <a:prstGeom prst="rect">
            <a:avLst/>
          </a:prstGeom>
          <a:solidFill>
            <a:srgbClr val="FA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515600" cy="2788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>
                <a:solidFill>
                  <a:srgbClr val="E50046"/>
                </a:solidFill>
                <a:latin typeface="Baloo 2"/>
              </a:rPr>
              <a:t>Rio Pop, rien n'te stop ! Fêtes 2026 : plan de campagne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79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2328"/>
                </a:solidFill>
                <a:latin typeface="Nunito"/>
              </a:rPr>
              <a:t>Du 02/11/2026 au 31/12/2026, version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19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5B6168"/>
                </a:solidFill>
                <a:latin typeface="Nunito"/>
              </a:rPr>
              <a:t>Mariam Koné (FICTIF), directrice marketing groupe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5B6168"/>
                </a:solidFill>
                <a:latin typeface="Nunito"/>
              </a:rPr>
              <a:t>Document de travail FICTIF, réservé à la direction marketing.</a:t>
            </a:r>
          </a:p>
        </p:txBody>
      </p:sp>
      <p:sp>
        <p:nvSpPr>
          <p:cNvPr id="9" name="Pagination"/>
          <p:cNvSpPr txBox="1"/>
          <p:nvPr/>
        </p:nvSpPr>
        <p:spPr>
          <a:xfrm>
            <a:off x="10728655" y="6291072"/>
            <a:ext cx="1097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>
                <a:solidFill>
                  <a:srgbClr val="5B6168"/>
                </a:solidFill>
                <a:latin typeface="Nunito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436" y="320040"/>
            <a:ext cx="550779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177876" cy="1499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E50046"/>
                </a:solidFill>
                <a:latin typeface="Baloo 2"/>
              </a:rPr>
              <a:t>45 920 sachets Rio Pop vendus, contre 41 000 l'an dernier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39696"/>
            <a:ext cx="3515258" cy="2743200"/>
          </a:xfrm>
          <a:prstGeom prst="rect">
            <a:avLst/>
          </a:prstGeom>
          <a:solidFill>
            <a:srgbClr val="FD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39696"/>
            <a:ext cx="3515258" cy="109728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05456"/>
            <a:ext cx="305805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Nunito"/>
              </a:rPr>
              <a:t>Objectif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91256"/>
            <a:ext cx="3058058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E50046"/>
                </a:solidFill>
                <a:latin typeface="Baloo 2"/>
              </a:rPr>
              <a:t>45 920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51376"/>
            <a:ext cx="3058058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unito"/>
              </a:rPr>
              <a:t>sachets Rio Pop vendus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139696"/>
            <a:ext cx="3515258" cy="2743200"/>
          </a:xfrm>
          <a:prstGeom prst="rect">
            <a:avLst/>
          </a:prstGeom>
          <a:solidFill>
            <a:srgbClr val="FD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2139696"/>
            <a:ext cx="3515258" cy="109728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2505456"/>
            <a:ext cx="305805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Nunito"/>
              </a:rPr>
              <a:t>Seuil de succès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3191256"/>
            <a:ext cx="3058058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E50046"/>
                </a:solidFill>
                <a:latin typeface="Baloo 2"/>
              </a:rPr>
              <a:t>43 500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4151376"/>
            <a:ext cx="3058058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unito"/>
              </a:rPr>
              <a:t>convenu avant le lancement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2139696"/>
            <a:ext cx="3515258" cy="2743200"/>
          </a:xfrm>
          <a:prstGeom prst="rect">
            <a:avLst/>
          </a:prstGeom>
          <a:solidFill>
            <a:srgbClr val="FD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2139696"/>
            <a:ext cx="3515258" cy="109728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2505456"/>
            <a:ext cx="305805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Nunito"/>
              </a:rPr>
              <a:t>Budget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3191256"/>
            <a:ext cx="3058058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E50046"/>
                </a:solidFill>
                <a:latin typeface="Baloo 2"/>
              </a:rPr>
              <a:t>38,00 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4151376"/>
            <a:ext cx="3058058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unito"/>
              </a:rPr>
              <a:t>FCFA, temps interne compris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02936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E50046"/>
                </a:solidFill>
                <a:latin typeface="Baloo 2"/>
              </a:rPr>
              <a:t>« Pour les fêtes, Rio Pop met de la couleur dans le partage. »</a:t>
            </a:r>
          </a:p>
        </p:txBody>
      </p:sp>
      <p:sp>
        <p:nvSpPr>
          <p:cNvPr id="21" name="Pagination"/>
          <p:cNvSpPr txBox="1"/>
          <p:nvPr/>
        </p:nvSpPr>
        <p:spPr>
          <a:xfrm>
            <a:off x="10728655" y="6291072"/>
            <a:ext cx="1097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>
                <a:solidFill>
                  <a:srgbClr val="5B6168"/>
                </a:solidFill>
                <a:latin typeface="Nunito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436" y="320040"/>
            <a:ext cx="550779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177876" cy="1499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E50046"/>
                </a:solidFill>
                <a:latin typeface="Baloo 2"/>
              </a:rPr>
              <a:t>Cinq canaux, un rôle et une mesure chacun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02536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3291840"/>
                <a:gridCol w="329184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unito"/>
                        </a:rPr>
                        <a:t>Canal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unito"/>
                        </a:rPr>
                        <a:t>Rôle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unito"/>
                        </a:rPr>
                        <a:t>Ce qu'on mesure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unito"/>
                        </a:rPr>
                        <a:t>Comment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28"/>
                          </a:solidFill>
                          <a:latin typeface="Nunito"/>
                        </a:rPr>
                        <a:t>Facebook et 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faire connaître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portée utile chez les 25-45 ans et messages reçus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Meta Business Suite, ciblage 18 ans et 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Nunito"/>
                        </a:rPr>
                        <a:t>TikTok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Nunito"/>
                        </a:rPr>
                        <a:t>faire connaître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Nunito"/>
                        </a:rPr>
                        <a:t>vues et abonnés du nouveau compte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Nunito"/>
                        </a:rPr>
                        <a:t>statistiques TikTok du compte créé, ciblage publicitaire 18 ans et plus pour le boost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28"/>
                          </a:solidFill>
                          <a:latin typeface="Nunito"/>
                        </a:rPr>
                        <a:t>Radio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faire venir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sachets commandés avec le mot de code cité à l'antenne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mot de code RIEN N'TE STOP noté par les demi-grossistes partenaires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Nunito"/>
                        </a:rPr>
                        <a:t>Affichage points de vente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Nunito"/>
                        </a:rPr>
                        <a:t>faire acheter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Nunito"/>
                        </a:rPr>
                        <a:t>ventes des boutiques équipées contre boutiques non équipées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Nunito"/>
                        </a:rPr>
                        <a:t>liste des boutiques équipées et relevé des commandes par Hervé Gnagne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28"/>
                          </a:solidFill>
                          <a:latin typeface="Nunito"/>
                        </a:rPr>
                        <a:t>Animation terrain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faire acheter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sachets vendus les jours d'animation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8"/>
                          </a:solidFill>
                          <a:latin typeface="Nunito"/>
                        </a:rPr>
                        <a:t>feuille de suivi par animation et comptage des ventes du stand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gination"/>
          <p:cNvSpPr txBox="1"/>
          <p:nvPr/>
        </p:nvSpPr>
        <p:spPr>
          <a:xfrm>
            <a:off x="10728655" y="6291072"/>
            <a:ext cx="1097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>
                <a:solidFill>
                  <a:srgbClr val="5B6168"/>
                </a:solidFill>
                <a:latin typeface="Nunito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436" y="320040"/>
            <a:ext cx="550779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177876" cy="1499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E50046"/>
                </a:solidFill>
                <a:latin typeface="Baloo 2"/>
              </a:rPr>
              <a:t>38,00 M FCFA, dont 71 % en achat d'espace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002536"/>
          <a:ext cx="11064240" cy="36667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9601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5B6168"/>
                </a:solidFill>
                <a:latin typeface="Nunito"/>
              </a:rPr>
              <a:t>Budget prévu par poste, en millions de FCFA. Sources : devis et décisions cités dans le plan.</a:t>
            </a:r>
          </a:p>
        </p:txBody>
      </p:sp>
      <p:sp>
        <p:nvSpPr>
          <p:cNvPr id="7" name="Pagination"/>
          <p:cNvSpPr txBox="1"/>
          <p:nvPr/>
        </p:nvSpPr>
        <p:spPr>
          <a:xfrm>
            <a:off x="10728655" y="6291072"/>
            <a:ext cx="1097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>
                <a:solidFill>
                  <a:srgbClr val="5B6168"/>
                </a:solidFill>
                <a:latin typeface="Nunito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436" y="320040"/>
            <a:ext cx="550779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177876" cy="84124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E50046"/>
                </a:solidFill>
                <a:latin typeface="Baloo 2"/>
              </a:rPr>
              <a:t>Six semaines, quatre temps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44168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3657600"/>
                <a:gridCol w="2286000"/>
              </a:tblGrid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unito"/>
                        </a:rPr>
                        <a:t>Temps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unito"/>
                        </a:rPr>
                        <a:t>Dates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unito"/>
                        </a:rPr>
                        <a:t>Canaux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unito"/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E500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2328"/>
                          </a:solidFill>
                          <a:latin typeface="Nunito"/>
                        </a:rPr>
                        <a:t>Mise en place trade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328"/>
                          </a:solidFill>
                          <a:latin typeface="Nunito"/>
                        </a:rPr>
                        <a:t>02/11 au 15/11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328"/>
                          </a:solidFill>
                          <a:latin typeface="Nunito"/>
                        </a:rPr>
                        <a:t>Affichage points de vente, Animation terrain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328"/>
                          </a:solidFill>
                          <a:latin typeface="Nunito"/>
                        </a:rPr>
                        <a:t>Hervé Gnagne (FICTIF)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unito"/>
                        </a:rPr>
                        <a:t>Lancement grand public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unito"/>
                        </a:rPr>
                        <a:t>09/11 au 30/11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unito"/>
                        </a:rPr>
                        <a:t>Radio, Facebook et Instagram, TikTok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unito"/>
                        </a:rPr>
                        <a:t>Mariam Koné (FICTIF)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2328"/>
                          </a:solidFill>
                          <a:latin typeface="Nunito"/>
                        </a:rPr>
                        <a:t>Temps fort marchés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328"/>
                          </a:solidFill>
                          <a:latin typeface="Nunito"/>
                        </a:rPr>
                        <a:t>28/11 au 20/12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328"/>
                          </a:solidFill>
                          <a:latin typeface="Nunito"/>
                        </a:rPr>
                        <a:t>Animation terrain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328"/>
                          </a:solidFill>
                          <a:latin typeface="Nunito"/>
                        </a:rPr>
                        <a:t>Hervé Gnagne (FICTIF)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unito"/>
                        </a:rPr>
                        <a:t>Relance des fêtes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unito"/>
                        </a:rPr>
                        <a:t>14/12 au 31/12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unito"/>
                        </a:rPr>
                        <a:t>Facebook et Instagram, Radio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unito"/>
                        </a:rPr>
                        <a:t>Prisca Yao (FICTIF)</a:t>
                      </a:r>
                    </a:p>
                  </a:txBody>
                  <a:tcPr anchor="ctr">
                    <a:solidFill>
                      <a:srgbClr val="FDEBF0"/>
                    </a:solidFill>
                  </a:tcPr>
                </a:tc>
              </a:tr>
            </a:tbl>
          </a:graphicData>
        </a:graphic>
      </p:graphicFrame>
      <p:sp>
        <p:nvSpPr>
          <p:cNvPr id="6" name="Pagination"/>
          <p:cNvSpPr txBox="1"/>
          <p:nvPr/>
        </p:nvSpPr>
        <p:spPr>
          <a:xfrm>
            <a:off x="10728655" y="6291072"/>
            <a:ext cx="1097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>
                <a:solidFill>
                  <a:srgbClr val="5B6168"/>
                </a:solidFill>
                <a:latin typeface="Nunito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436" y="320040"/>
            <a:ext cx="550779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177876" cy="1499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E50046"/>
                </a:solidFill>
                <a:latin typeface="Baloo 2"/>
              </a:rPr>
              <a:t>Une validation pour engager les dépenses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76856"/>
            <a:ext cx="11064240" cy="2194560"/>
          </a:xfrm>
          <a:prstGeom prst="rect">
            <a:avLst/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76856"/>
            <a:ext cx="128016" cy="2194560"/>
          </a:xfrm>
          <a:prstGeom prst="rect">
            <a:avLst/>
          </a:prstGeom>
          <a:solidFill>
            <a:srgbClr val="FA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51176"/>
            <a:ext cx="10424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2328"/>
                </a:solidFill>
                <a:latin typeface="Nunito"/>
              </a:rPr>
              <a:t>Valider le plan et le budget de 38 000 000 FCFA.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85616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5B6168"/>
                </a:solidFill>
                <a:latin typeface="Nunito"/>
              </a:rPr>
              <a:t>Seuils d'arrêt et de renforcement revus au point du 30/11/2026.</a:t>
            </a:r>
          </a:p>
        </p:txBody>
      </p:sp>
      <p:sp>
        <p:nvSpPr>
          <p:cNvPr id="9" name="Pagination"/>
          <p:cNvSpPr txBox="1"/>
          <p:nvPr/>
        </p:nvSpPr>
        <p:spPr>
          <a:xfrm>
            <a:off x="10728655" y="6291072"/>
            <a:ext cx="1097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>
                <a:solidFill>
                  <a:srgbClr val="5B6168"/>
                </a:solidFill>
                <a:latin typeface="Nunito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