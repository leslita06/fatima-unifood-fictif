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754"/>
        </a:solidFill>
        <a:effectLst/>
      </p:bgPr>
    </p:bg>
    <p:spTree>
      <p:nvGrpSpPr>
        <p:cNvPr id="1" name=""/>
        <p:cNvGrpSpPr/>
        <p:nvPr/>
      </p:nvGrpSpPr>
      <p:grpSpPr/>
      <p:pic>
        <p:nvPicPr>
          <p:cNvPr id="2" name="Picture 1" descr="logo_blanc_small.png"/>
          <p:cNvPicPr>
            <a:picLocks noChangeAspect="1"/>
          </p:cNvPicPr>
          <p:nvPr/>
        </p:nvPicPr>
        <p:blipFill>
          <a:blip r:embed="rId2"/>
          <a:stretch>
            <a:fillRect/>
          </a:stretch>
        </p:blipFill>
        <p:spPr>
          <a:xfrm>
            <a:off x="720000" y="648000"/>
            <a:ext cx="2203279" cy="576000"/>
          </a:xfrm>
          <a:prstGeom prst="rect">
            <a:avLst/>
          </a:prstGeom>
        </p:spPr>
      </p:pic>
      <p:sp>
        <p:nvSpPr>
          <p:cNvPr id="3" name="Rectangle 2"/>
          <p:cNvSpPr/>
          <p:nvPr/>
        </p:nvSpPr>
        <p:spPr>
          <a:xfrm>
            <a:off x="720000" y="2340000"/>
            <a:ext cx="108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592000"/>
            <a:ext cx="10080000" cy="1800000"/>
          </a:xfrm>
          <a:prstGeom prst="rect">
            <a:avLst/>
          </a:prstGeom>
          <a:noFill/>
        </p:spPr>
        <p:txBody>
          <a:bodyPr wrap="square" anchor="t" lIns="36000" rIns="36000">
            <a:spAutoFit/>
          </a:bodyPr>
          <a:lstStyle/>
          <a:p>
            <a:pPr algn="l">
              <a:spcAft>
                <a:spcPts val="600"/>
              </a:spcAft>
            </a:pPr>
            <a:r>
              <a:rPr sz="4000" b="1">
                <a:solidFill>
                  <a:srgbClr val="FFFFFF"/>
                </a:solidFill>
                <a:latin typeface="Funnel Display"/>
              </a:rPr>
              <a:t>Audit des pages LinkedIn
Danaya et BLOK</a:t>
            </a:r>
          </a:p>
        </p:txBody>
      </p:sp>
      <p:sp>
        <p:nvSpPr>
          <p:cNvPr id="5" name="TextBox 4"/>
          <p:cNvSpPr txBox="1"/>
          <p:nvPr/>
        </p:nvSpPr>
        <p:spPr>
          <a:xfrm>
            <a:off x="720000" y="4392000"/>
            <a:ext cx="9360000" cy="900000"/>
          </a:xfrm>
          <a:prstGeom prst="rect">
            <a:avLst/>
          </a:prstGeom>
          <a:noFill/>
        </p:spPr>
        <p:txBody>
          <a:bodyPr wrap="square" anchor="t" lIns="36000" rIns="36000">
            <a:spAutoFit/>
          </a:bodyPr>
          <a:lstStyle/>
          <a:p>
            <a:pPr algn="l">
              <a:spcAft>
                <a:spcPts val="600"/>
              </a:spcAft>
            </a:pPr>
            <a:r>
              <a:rPr sz="1600" b="0">
                <a:solidFill>
                  <a:srgbClr val="C9D6E8"/>
                </a:solidFill>
                <a:latin typeface="Work Sans"/>
              </a:rPr>
              <a:t>Présence, contenus, régularité, visuels, ton, réactions et cohérence de marque : ce que font bien les deux startups, et ce qui leur manque.</a:t>
            </a:r>
          </a:p>
        </p:txBody>
      </p:sp>
      <p:sp>
        <p:nvSpPr>
          <p:cNvPr id="6" name="TextBox 5"/>
          <p:cNvSpPr txBox="1"/>
          <p:nvPr/>
        </p:nvSpPr>
        <p:spPr>
          <a:xfrm>
            <a:off x="720000" y="5976000"/>
            <a:ext cx="10080000" cy="360000"/>
          </a:xfrm>
          <a:prstGeom prst="rect">
            <a:avLst/>
          </a:prstGeom>
          <a:noFill/>
        </p:spPr>
        <p:txBody>
          <a:bodyPr wrap="square" anchor="t" lIns="36000" rIns="36000">
            <a:spAutoFit/>
          </a:bodyPr>
          <a:lstStyle/>
          <a:p>
            <a:pPr algn="l">
              <a:spcAft>
                <a:spcPts val="600"/>
              </a:spcAft>
            </a:pPr>
            <a:r>
              <a:rPr sz="1100" b="0">
                <a:solidFill>
                  <a:srgbClr val="00AED4"/>
                </a:solidFill>
                <a:latin typeface="Space Grotesk"/>
              </a:rPr>
              <a:t>Relevé du 25 octobre 2026 · 63 publications analysées · pages publiques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SYNTHÈSE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L'essentiel : BLOK publie et soigne, Danaya a décroché</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2 / 19</a:t>
            </a:r>
          </a:p>
        </p:txBody>
      </p:sp>
      <p:sp>
        <p:nvSpPr>
          <p:cNvPr id="9" name="Rectangle 8"/>
          <p:cNvSpPr/>
          <p:nvPr/>
        </p:nvSpPr>
        <p:spPr>
          <a:xfrm>
            <a:off x="540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27 contre 3</a:t>
            </a:r>
          </a:p>
        </p:txBody>
      </p:sp>
      <p:sp>
        <p:nvSpPr>
          <p:cNvPr id="12" name="TextBox 11"/>
          <p:cNvSpPr txBox="1"/>
          <p:nvPr/>
        </p:nvSpPr>
        <p:spPr>
          <a:xfrm>
            <a:off x="720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publications en 90 jours</a:t>
            </a:r>
          </a:p>
        </p:txBody>
      </p:sp>
      <p:sp>
        <p:nvSpPr>
          <p:cNvPr id="13" name="TextBox 12"/>
          <p:cNvSpPr txBox="1"/>
          <p:nvPr/>
        </p:nvSpPr>
        <p:spPr>
          <a:xfrm>
            <a:off x="720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BLOK publie deux fois par semaine sans trou depuis juillet. Danaya n'a publié que 3 fois depuis fin juillet, après deux mois de silence.</a:t>
            </a:r>
          </a:p>
        </p:txBody>
      </p:sp>
      <p:sp>
        <p:nvSpPr>
          <p:cNvPr id="14" name="Rectangle 13"/>
          <p:cNvSpPr/>
          <p:nvPr/>
        </p:nvSpPr>
        <p:spPr>
          <a:xfrm>
            <a:off x="3384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4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4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13 et 11,5</a:t>
            </a:r>
          </a:p>
        </p:txBody>
      </p:sp>
      <p:sp>
        <p:nvSpPr>
          <p:cNvPr id="17" name="TextBox 16"/>
          <p:cNvSpPr txBox="1"/>
          <p:nvPr/>
        </p:nvSpPr>
        <p:spPr>
          <a:xfrm>
            <a:off x="3564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réactions médianes par publication</a:t>
            </a:r>
          </a:p>
        </p:txBody>
      </p:sp>
      <p:sp>
        <p:nvSpPr>
          <p:cNvPr id="18" name="TextBox 17"/>
          <p:cNvSpPr txBox="1"/>
          <p:nvPr/>
        </p:nvSpPr>
        <p:spPr>
          <a:xfrm>
            <a:off x="3564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Pour environ 1 700 abonnés chacune : un peu moins de 1 % de réaction. Les commentaires sont rares : 18 en 35 publications chez BLOK, 9 en 20 chez Danaya.</a:t>
            </a:r>
          </a:p>
        </p:txBody>
      </p:sp>
      <p:sp>
        <p:nvSpPr>
          <p:cNvPr id="19" name="Rectangle 18"/>
          <p:cNvSpPr/>
          <p:nvPr/>
        </p:nvSpPr>
        <p:spPr>
          <a:xfrm>
            <a:off x="6228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8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8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×10</a:t>
            </a:r>
          </a:p>
        </p:txBody>
      </p:sp>
      <p:sp>
        <p:nvSpPr>
          <p:cNvPr id="22" name="TextBox 21"/>
          <p:cNvSpPr txBox="1"/>
          <p:nvPr/>
        </p:nvSpPr>
        <p:spPr>
          <a:xfrm>
            <a:off x="6408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l'effet fondateur</a:t>
            </a:r>
          </a:p>
        </p:txBody>
      </p:sp>
      <p:sp>
        <p:nvSpPr>
          <p:cNvPr id="23" name="TextBox 22"/>
          <p:cNvSpPr txBox="1"/>
          <p:nvPr/>
        </p:nvSpPr>
        <p:spPr>
          <a:xfrm>
            <a:off x="6408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Les publications des fondateurs de BLOK reprises sur la page font 135 à 249 réactions, contre 13 en médiane pour une publication de la page.</a:t>
            </a:r>
          </a:p>
        </p:txBody>
      </p:sp>
      <p:sp>
        <p:nvSpPr>
          <p:cNvPr id="24" name="Rectangle 23"/>
          <p:cNvSpPr/>
          <p:nvPr/>
        </p:nvSpPr>
        <p:spPr>
          <a:xfrm>
            <a:off x="9072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2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2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Les gens</a:t>
            </a:r>
          </a:p>
        </p:txBody>
      </p:sp>
      <p:sp>
        <p:nvSpPr>
          <p:cNvPr id="27" name="TextBox 26"/>
          <p:cNvSpPr txBox="1"/>
          <p:nvPr/>
        </p:nvSpPr>
        <p:spPr>
          <a:xfrm>
            <a:off x="9252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ce qui fait réagir</a:t>
            </a:r>
          </a:p>
        </p:txBody>
      </p:sp>
      <p:sp>
        <p:nvSpPr>
          <p:cNvPr id="28" name="TextBox 27"/>
          <p:cNvSpPr txBox="1"/>
          <p:nvPr/>
        </p:nvSpPr>
        <p:spPr>
          <a:xfrm>
            <a:off x="9252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Portraits d'équipe, événements, partenaires : 2 à 4 fois plus de réactions que les conseils et la pédagogie produit.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CHIFFRES CLÉS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Les deux pages côte à côte</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3 / 19</a:t>
            </a:r>
          </a:p>
        </p:txBody>
      </p:sp>
      <p:graphicFrame>
        <p:nvGraphicFramePr>
          <p:cNvPr id="9" name="Table 8"/>
          <p:cNvGraphicFramePr>
            <a:graphicFrameLocks noGrp="1"/>
          </p:cNvGraphicFramePr>
          <p:nvPr/>
        </p:nvGraphicFramePr>
        <p:xfrm>
          <a:off x="540000" y="1548000"/>
          <a:ext cx="11160000" cy="3456000"/>
        </p:xfrm>
        <a:graphic>
          <a:graphicData uri="http://schemas.openxmlformats.org/drawingml/2006/table">
            <a:tbl>
              <a:tblPr firstRow="1" bandRow="1">
                <a:tableStyleId>{5C22544A-7EE6-4342-B048-85BDC9FD1C3A}</a:tableStyleId>
              </a:tblPr>
              <a:tblGrid>
                <a:gridCol w="3240000"/>
                <a:gridCol w="3960000"/>
                <a:gridCol w="3960000"/>
              </a:tblGrid>
              <a:tr h="432000">
                <a:tc>
                  <a:txBody>
                    <a:bodyPr wrap="square"/>
                    <a:lstStyle/>
                    <a:p>
                      <a:r>
                        <a:rPr sz="1200" b="1">
                          <a:solidFill>
                            <a:srgbClr val="FFFFFF"/>
                          </a:solidFill>
                          <a:latin typeface="Work Sans"/>
                        </a:rPr>
                        <a:t/>
                      </a:r>
                    </a:p>
                  </a:txBody>
                  <a:tcPr marL="90000" marR="90000" marT="43200" marB="43200">
                    <a:solidFill>
                      <a:srgbClr val="232754"/>
                    </a:solidFill>
                  </a:tcPr>
                </a:tc>
                <a:tc>
                  <a:txBody>
                    <a:bodyPr wrap="square"/>
                    <a:lstStyle/>
                    <a:p>
                      <a:r>
                        <a:rPr sz="1200" b="1">
                          <a:solidFill>
                            <a:srgbClr val="FFFFFF"/>
                          </a:solidFill>
                          <a:latin typeface="Work Sans"/>
                        </a:rPr>
                        <a:t>Danaya</a:t>
                      </a:r>
                    </a:p>
                  </a:txBody>
                  <a:tcPr marL="90000" marR="90000" marT="43200" marB="43200">
                    <a:solidFill>
                      <a:srgbClr val="232754"/>
                    </a:solidFill>
                  </a:tcPr>
                </a:tc>
                <a:tc>
                  <a:txBody>
                    <a:bodyPr wrap="square"/>
                    <a:lstStyle/>
                    <a:p>
                      <a:r>
                        <a:rPr sz="1200" b="1">
                          <a:solidFill>
                            <a:srgbClr val="FFFFFF"/>
                          </a:solidFill>
                          <a:latin typeface="Work Sans"/>
                        </a:rPr>
                        <a:t>BLOK</a:t>
                      </a:r>
                    </a:p>
                  </a:txBody>
                  <a:tcPr marL="90000" marR="90000" marT="43200" marB="43200">
                    <a:solidFill>
                      <a:srgbClr val="232754"/>
                    </a:solidFill>
                  </a:tcPr>
                </a:tc>
              </a:tr>
              <a:tr h="432000">
                <a:tc>
                  <a:txBody>
                    <a:bodyPr wrap="square"/>
                    <a:lstStyle/>
                    <a:p>
                      <a:r>
                        <a:rPr sz="1200" b="1">
                          <a:solidFill>
                            <a:srgbClr val="232754"/>
                          </a:solidFill>
                          <a:latin typeface="Work Sans"/>
                        </a:rPr>
                        <a:t>Abonnés</a:t>
                      </a:r>
                    </a:p>
                  </a:txBody>
                  <a:tcPr marL="90000" marR="90000" marT="43200" marB="43200">
                    <a:solidFill>
                      <a:srgbClr val="F7F8FA"/>
                    </a:solidFill>
                  </a:tcPr>
                </a:tc>
                <a:tc>
                  <a:txBody>
                    <a:bodyPr wrap="square"/>
                    <a:lstStyle/>
                    <a:p>
                      <a:r>
                        <a:rPr sz="1200" b="0">
                          <a:solidFill>
                            <a:srgbClr val="2B2A35"/>
                          </a:solidFill>
                          <a:latin typeface="Work Sans"/>
                        </a:rPr>
                        <a:t>1 800</a:t>
                      </a:r>
                    </a:p>
                  </a:txBody>
                  <a:tcPr marL="90000" marR="90000" marT="43200" marB="43200">
                    <a:solidFill>
                      <a:srgbClr val="F7F8FA"/>
                    </a:solidFill>
                  </a:tcPr>
                </a:tc>
                <a:tc>
                  <a:txBody>
                    <a:bodyPr wrap="square"/>
                    <a:lstStyle/>
                    <a:p>
                      <a:r>
                        <a:rPr sz="1200" b="0">
                          <a:solidFill>
                            <a:srgbClr val="2B2A35"/>
                          </a:solidFill>
                          <a:latin typeface="Work Sans"/>
                        </a:rPr>
                        <a:t>1 687</a:t>
                      </a:r>
                    </a:p>
                  </a:txBody>
                  <a:tcPr marL="90000" marR="90000" marT="43200" marB="43200">
                    <a:solidFill>
                      <a:srgbClr val="F7F8FA"/>
                    </a:solidFill>
                  </a:tcPr>
                </a:tc>
              </a:tr>
              <a:tr h="432000">
                <a:tc>
                  <a:txBody>
                    <a:bodyPr wrap="square"/>
                    <a:lstStyle/>
                    <a:p>
                      <a:r>
                        <a:rPr sz="1200" b="1">
                          <a:solidFill>
                            <a:srgbClr val="232754"/>
                          </a:solidFill>
                          <a:latin typeface="Work Sans"/>
                        </a:rPr>
                        <a:t>Salariés rattachés à la page</a:t>
                      </a:r>
                    </a:p>
                  </a:txBody>
                  <a:tcPr marL="90000" marR="90000" marT="43200" marB="43200">
                    <a:solidFill>
                      <a:srgbClr val="FFFFFF"/>
                    </a:solidFill>
                  </a:tcPr>
                </a:tc>
                <a:tc>
                  <a:txBody>
                    <a:bodyPr wrap="square"/>
                    <a:lstStyle/>
                    <a:p>
                      <a:r>
                        <a:rPr sz="1200" b="0">
                          <a:solidFill>
                            <a:srgbClr val="2B2A35"/>
                          </a:solidFill>
                          <a:latin typeface="Work Sans"/>
                        </a:rPr>
                        <a:t>19 (la page affiche « 2 à 10 salariés »)</a:t>
                      </a:r>
                    </a:p>
                  </a:txBody>
                  <a:tcPr marL="90000" marR="90000" marT="43200" marB="43200">
                    <a:solidFill>
                      <a:srgbClr val="FFFFFF"/>
                    </a:solidFill>
                  </a:tcPr>
                </a:tc>
                <a:tc>
                  <a:txBody>
                    <a:bodyPr wrap="square"/>
                    <a:lstStyle/>
                    <a:p>
                      <a:r>
                        <a:rPr sz="1200" b="0">
                          <a:solidFill>
                            <a:srgbClr val="2B2A35"/>
                          </a:solidFill>
                          <a:latin typeface="Work Sans"/>
                        </a:rPr>
                        <a:t>20 (la page affiche « 11 à 50 »)</a:t>
                      </a:r>
                    </a:p>
                  </a:txBody>
                  <a:tcPr marL="90000" marR="90000" marT="43200" marB="43200">
                    <a:solidFill>
                      <a:srgbClr val="FFFFFF"/>
                    </a:solidFill>
                  </a:tcPr>
                </a:tc>
              </a:tr>
              <a:tr h="432000">
                <a:tc>
                  <a:txBody>
                    <a:bodyPr wrap="square"/>
                    <a:lstStyle/>
                    <a:p>
                      <a:r>
                        <a:rPr sz="1200" b="1">
                          <a:solidFill>
                            <a:srgbClr val="232754"/>
                          </a:solidFill>
                          <a:latin typeface="Work Sans"/>
                        </a:rPr>
                        <a:t>Publications relevées</a:t>
                      </a:r>
                    </a:p>
                  </a:txBody>
                  <a:tcPr marL="90000" marR="90000" marT="43200" marB="43200">
                    <a:solidFill>
                      <a:srgbClr val="F7F8FA"/>
                    </a:solidFill>
                  </a:tcPr>
                </a:tc>
                <a:tc>
                  <a:txBody>
                    <a:bodyPr wrap="square"/>
                    <a:lstStyle/>
                    <a:p>
                      <a:r>
                        <a:rPr sz="1200" b="0">
                          <a:solidFill>
                            <a:srgbClr val="2B2A35"/>
                          </a:solidFill>
                          <a:latin typeface="Work Sans"/>
                        </a:rPr>
                        <a:t>20 propres + 3 partages, d'octobre 2025 à octobre 2026</a:t>
                      </a:r>
                    </a:p>
                  </a:txBody>
                  <a:tcPr marL="90000" marR="90000" marT="43200" marB="43200">
                    <a:solidFill>
                      <a:srgbClr val="F7F8FA"/>
                    </a:solidFill>
                  </a:tcPr>
                </a:tc>
                <a:tc>
                  <a:txBody>
                    <a:bodyPr wrap="square"/>
                    <a:lstStyle/>
                    <a:p>
                      <a:r>
                        <a:rPr sz="1200" b="0">
                          <a:solidFill>
                            <a:srgbClr val="2B2A35"/>
                          </a:solidFill>
                          <a:latin typeface="Work Sans"/>
                        </a:rPr>
                        <a:t>35 propres + 5 partages, de juillet à octobre 2026</a:t>
                      </a:r>
                    </a:p>
                  </a:txBody>
                  <a:tcPr marL="90000" marR="90000" marT="43200" marB="43200">
                    <a:solidFill>
                      <a:srgbClr val="F7F8FA"/>
                    </a:solidFill>
                  </a:tcPr>
                </a:tc>
              </a:tr>
              <a:tr h="432000">
                <a:tc>
                  <a:txBody>
                    <a:bodyPr wrap="square"/>
                    <a:lstStyle/>
                    <a:p>
                      <a:r>
                        <a:rPr sz="1200" b="1">
                          <a:solidFill>
                            <a:srgbClr val="232754"/>
                          </a:solidFill>
                          <a:latin typeface="Work Sans"/>
                        </a:rPr>
                        <a:t>Rythme</a:t>
                      </a:r>
                    </a:p>
                  </a:txBody>
                  <a:tcPr marL="90000" marR="90000" marT="43200" marB="43200">
                    <a:solidFill>
                      <a:srgbClr val="FFFFFF"/>
                    </a:solidFill>
                  </a:tcPr>
                </a:tc>
                <a:tc>
                  <a:txBody>
                    <a:bodyPr wrap="square"/>
                    <a:lstStyle/>
                    <a:p>
                      <a:r>
                        <a:rPr sz="1200" b="0">
                          <a:solidFill>
                            <a:srgbClr val="2B2A35"/>
                          </a:solidFill>
                          <a:latin typeface="Work Sans"/>
                        </a:rPr>
                        <a:t>1,7 par mois sur un an ; 5 silences de 4 à 10 semaines</a:t>
                      </a:r>
                    </a:p>
                  </a:txBody>
                  <a:tcPr marL="90000" marR="90000" marT="43200" marB="43200">
                    <a:solidFill>
                      <a:srgbClr val="FFFFFF"/>
                    </a:solidFill>
                  </a:tcPr>
                </a:tc>
                <a:tc>
                  <a:txBody>
                    <a:bodyPr wrap="square"/>
                    <a:lstStyle/>
                    <a:p>
                      <a:r>
                        <a:rPr sz="1200" b="0">
                          <a:solidFill>
                            <a:srgbClr val="2B2A35"/>
                          </a:solidFill>
                          <a:latin typeface="Work Sans"/>
                        </a:rPr>
                        <a:t>2,2 par semaine ; jamais plus de 7 jours sans publier</a:t>
                      </a:r>
                    </a:p>
                  </a:txBody>
                  <a:tcPr marL="90000" marR="90000" marT="43200" marB="43200">
                    <a:solidFill>
                      <a:srgbClr val="FFFFFF"/>
                    </a:solidFill>
                  </a:tcPr>
                </a:tc>
              </a:tr>
              <a:tr h="432000">
                <a:tc>
                  <a:txBody>
                    <a:bodyPr wrap="square"/>
                    <a:lstStyle/>
                    <a:p>
                      <a:r>
                        <a:rPr sz="1200" b="1">
                          <a:solidFill>
                            <a:srgbClr val="232754"/>
                          </a:solidFill>
                          <a:latin typeface="Work Sans"/>
                        </a:rPr>
                        <a:t>Formats</a:t>
                      </a:r>
                    </a:p>
                  </a:txBody>
                  <a:tcPr marL="90000" marR="90000" marT="43200" marB="43200">
                    <a:solidFill>
                      <a:srgbClr val="F7F8FA"/>
                    </a:solidFill>
                  </a:tcPr>
                </a:tc>
                <a:tc>
                  <a:txBody>
                    <a:bodyPr wrap="square"/>
                    <a:lstStyle/>
                    <a:p>
                      <a:r>
                        <a:rPr sz="1200" b="0">
                          <a:solidFill>
                            <a:srgbClr val="2B2A35"/>
                          </a:solidFill>
                          <a:latin typeface="Work Sans"/>
                        </a:rPr>
                        <a:t>10 photos ou affiches, 7 carrousels, 1 texte seul, 1 article, 1 partage commenté</a:t>
                      </a:r>
                    </a:p>
                  </a:txBody>
                  <a:tcPr marL="90000" marR="90000" marT="43200" marB="43200">
                    <a:solidFill>
                      <a:srgbClr val="F7F8FA"/>
                    </a:solidFill>
                  </a:tcPr>
                </a:tc>
                <a:tc>
                  <a:txBody>
                    <a:bodyPr wrap="square"/>
                    <a:lstStyle/>
                    <a:p>
                      <a:r>
                        <a:rPr sz="1200" b="0">
                          <a:solidFill>
                            <a:srgbClr val="2B2A35"/>
                          </a:solidFill>
                          <a:latin typeface="Work Sans"/>
                        </a:rPr>
                        <a:t>28 photos ou affiches, 7 carrousels ; aucune vidéo</a:t>
                      </a:r>
                    </a:p>
                  </a:txBody>
                  <a:tcPr marL="90000" marR="90000" marT="43200" marB="43200">
                    <a:solidFill>
                      <a:srgbClr val="F7F8FA"/>
                    </a:solidFill>
                  </a:tcPr>
                </a:tc>
              </a:tr>
              <a:tr h="432000">
                <a:tc>
                  <a:txBody>
                    <a:bodyPr wrap="square"/>
                    <a:lstStyle/>
                    <a:p>
                      <a:r>
                        <a:rPr sz="1200" b="1">
                          <a:solidFill>
                            <a:srgbClr val="232754"/>
                          </a:solidFill>
                          <a:latin typeface="Work Sans"/>
                        </a:rPr>
                        <a:t>Réactions médianes</a:t>
                      </a:r>
                    </a:p>
                  </a:txBody>
                  <a:tcPr marL="90000" marR="90000" marT="43200" marB="43200">
                    <a:solidFill>
                      <a:srgbClr val="FFFFFF"/>
                    </a:solidFill>
                  </a:tcPr>
                </a:tc>
                <a:tc>
                  <a:txBody>
                    <a:bodyPr wrap="square"/>
                    <a:lstStyle/>
                    <a:p>
                      <a:r>
                        <a:rPr sz="1200" b="0">
                          <a:solidFill>
                            <a:srgbClr val="2B2A35"/>
                          </a:solidFill>
                          <a:latin typeface="Work Sans"/>
                        </a:rPr>
                        <a:t>11,5 (photos et affiches 19,5 ; carrousels 7)</a:t>
                      </a:r>
                    </a:p>
                  </a:txBody>
                  <a:tcPr marL="90000" marR="90000" marT="43200" marB="43200">
                    <a:solidFill>
                      <a:srgbClr val="FFFFFF"/>
                    </a:solidFill>
                  </a:tcPr>
                </a:tc>
                <a:tc>
                  <a:txBody>
                    <a:bodyPr wrap="square"/>
                    <a:lstStyle/>
                    <a:p>
                      <a:r>
                        <a:rPr sz="1200" b="0">
                          <a:solidFill>
                            <a:srgbClr val="2B2A35"/>
                          </a:solidFill>
                          <a:latin typeface="Work Sans"/>
                        </a:rPr>
                        <a:t>13 (photos et affiches 19 ; carrousels 10)</a:t>
                      </a:r>
                    </a:p>
                  </a:txBody>
                  <a:tcPr marL="90000" marR="90000" marT="43200" marB="43200">
                    <a:solidFill>
                      <a:srgbClr val="FFFFFF"/>
                    </a:solidFill>
                  </a:tcPr>
                </a:tc>
              </a:tr>
              <a:tr h="432000">
                <a:tc>
                  <a:txBody>
                    <a:bodyPr wrap="square"/>
                    <a:lstStyle/>
                    <a:p>
                      <a:r>
                        <a:rPr sz="1200" b="1">
                          <a:solidFill>
                            <a:srgbClr val="232754"/>
                          </a:solidFill>
                          <a:latin typeface="Work Sans"/>
                        </a:rPr>
                        <a:t>Page certifiée</a:t>
                      </a:r>
                    </a:p>
                  </a:txBody>
                  <a:tcPr marL="90000" marR="90000" marT="43200" marB="43200">
                    <a:solidFill>
                      <a:srgbClr val="F7F8FA"/>
                    </a:solidFill>
                  </a:tcPr>
                </a:tc>
                <a:tc>
                  <a:txBody>
                    <a:bodyPr wrap="square"/>
                    <a:lstStyle/>
                    <a:p>
                      <a:r>
                        <a:rPr sz="1200" b="0">
                          <a:solidFill>
                            <a:srgbClr val="2B2A35"/>
                          </a:solidFill>
                          <a:latin typeface="Work Sans"/>
                        </a:rPr>
                        <a:t>Non</a:t>
                      </a:r>
                    </a:p>
                  </a:txBody>
                  <a:tcPr marL="90000" marR="90000" marT="43200" marB="43200">
                    <a:solidFill>
                      <a:srgbClr val="F7F8FA"/>
                    </a:solidFill>
                  </a:tcPr>
                </a:tc>
                <a:tc>
                  <a:txBody>
                    <a:bodyPr wrap="square"/>
                    <a:lstStyle/>
                    <a:p>
                      <a:r>
                        <a:rPr sz="1200" b="0">
                          <a:solidFill>
                            <a:srgbClr val="2B2A35"/>
                          </a:solidFill>
                          <a:latin typeface="Work Sans"/>
                        </a:rPr>
                        <a:t>Non</a:t>
                      </a:r>
                    </a:p>
                  </a:txBody>
                  <a:tcPr marL="90000" marR="90000" marT="43200" marB="43200">
                    <a:solidFill>
                      <a:srgbClr val="F7F8FA"/>
                    </a:solidFill>
                  </a:tcPr>
                </a:tc>
              </a:tr>
            </a:tbl>
          </a:graphicData>
        </a:graphic>
      </p:graphicFrame>
      <p:sp>
        <p:nvSpPr>
          <p:cNvPr id="10" name="TextBox 9"/>
          <p:cNvSpPr txBox="1"/>
          <p:nvPr/>
        </p:nvSpPr>
        <p:spPr>
          <a:xfrm>
            <a:off x="540000" y="5903999"/>
            <a:ext cx="11160000" cy="360000"/>
          </a:xfrm>
          <a:prstGeom prst="rect">
            <a:avLst/>
          </a:prstGeom>
          <a:noFill/>
        </p:spPr>
        <p:txBody>
          <a:bodyPr wrap="square" anchor="t" lIns="36000" rIns="36000">
            <a:spAutoFit/>
          </a:bodyPr>
          <a:lstStyle/>
          <a:p>
            <a:pPr algn="l">
              <a:spcAft>
                <a:spcPts val="600"/>
              </a:spcAft>
            </a:pPr>
            <a:r>
              <a:rPr sz="1000" b="0">
                <a:solidFill>
                  <a:srgbClr val="8F8F9A"/>
                </a:solidFill>
                <a:latin typeface="Work Sans"/>
              </a:rPr>
              <a:t>Réactions = j'aime + commentaires + partages, en médiane. Abonnés et salariés lus sur les pages le 25/10/2026.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32754"/>
        </a:solidFill>
        <a:effectLst/>
      </p:bgPr>
    </p:bg>
    <p:spTree>
      <p:nvGrpSpPr>
        <p:cNvPr id="1" name=""/>
        <p:cNvGrpSpPr/>
        <p:nvPr/>
      </p:nvGrpSpPr>
      <p:grpSpPr/>
      <p:sp>
        <p:nvSpPr>
          <p:cNvPr id="2" name="TextBox 1"/>
          <p:cNvSpPr txBox="1"/>
          <p:nvPr/>
        </p:nvSpPr>
        <p:spPr>
          <a:xfrm>
            <a:off x="720000" y="1800000"/>
            <a:ext cx="2160000" cy="1080000"/>
          </a:xfrm>
          <a:prstGeom prst="rect">
            <a:avLst/>
          </a:prstGeom>
          <a:noFill/>
        </p:spPr>
        <p:txBody>
          <a:bodyPr wrap="square" anchor="t" lIns="36000" rIns="36000">
            <a:spAutoFit/>
          </a:bodyPr>
          <a:lstStyle/>
          <a:p>
            <a:pPr algn="l">
              <a:spcAft>
                <a:spcPts val="600"/>
              </a:spcAft>
            </a:pPr>
            <a:r>
              <a:rPr sz="6000" b="1">
                <a:solidFill>
                  <a:srgbClr val="00AED4"/>
                </a:solidFill>
                <a:latin typeface="Funnel Display"/>
              </a:rPr>
              <a:t>01</a:t>
            </a:r>
          </a:p>
        </p:txBody>
      </p:sp>
      <p:sp>
        <p:nvSpPr>
          <p:cNvPr id="3" name="TextBox 2"/>
          <p:cNvSpPr txBox="1"/>
          <p:nvPr/>
        </p:nvSpPr>
        <p:spPr>
          <a:xfrm>
            <a:off x="720000" y="3060000"/>
            <a:ext cx="10080000" cy="900000"/>
          </a:xfrm>
          <a:prstGeom prst="rect">
            <a:avLst/>
          </a:prstGeom>
          <a:noFill/>
        </p:spPr>
        <p:txBody>
          <a:bodyPr wrap="square" anchor="t" lIns="36000" rIns="36000">
            <a:spAutoFit/>
          </a:bodyPr>
          <a:lstStyle/>
          <a:p>
            <a:pPr algn="l">
              <a:spcAft>
                <a:spcPts val="600"/>
              </a:spcAft>
            </a:pPr>
            <a:r>
              <a:rPr sz="3400" b="1">
                <a:solidFill>
                  <a:srgbClr val="FFFFFF"/>
                </a:solidFill>
                <a:latin typeface="Funnel Display"/>
              </a:rPr>
              <a:t>Danaya</a:t>
            </a:r>
          </a:p>
        </p:txBody>
      </p:sp>
      <p:sp>
        <p:nvSpPr>
          <p:cNvPr id="4" name="TextBox 3"/>
          <p:cNvSpPr txBox="1"/>
          <p:nvPr/>
        </p:nvSpPr>
        <p:spPr>
          <a:xfrm>
            <a:off x="720000" y="4068000"/>
            <a:ext cx="9360000" cy="1080000"/>
          </a:xfrm>
          <a:prstGeom prst="rect">
            <a:avLst/>
          </a:prstGeom>
          <a:noFill/>
        </p:spPr>
        <p:txBody>
          <a:bodyPr wrap="square" anchor="t" lIns="36000" rIns="36000">
            <a:spAutoFit/>
          </a:bodyPr>
          <a:lstStyle/>
          <a:p>
            <a:pPr algn="l">
              <a:spcAft>
                <a:spcPts val="600"/>
              </a:spcAft>
            </a:pPr>
            <a:r>
              <a:rPr sz="1500" b="0">
                <a:solidFill>
                  <a:srgbClr val="C9D6E8"/>
                </a:solidFill>
                <a:latin typeface="Work Sans"/>
              </a:rPr>
              <a:t>Une marque nette, une expertise réelle, mais une page qui ne parle plus qu'aux événements.</a:t>
            </a:r>
          </a:p>
        </p:txBody>
      </p:sp>
      <p:pic>
        <p:nvPicPr>
          <p:cNvPr id="5" name="Picture 4" descr="logo_blanc_small.png"/>
          <p:cNvPicPr>
            <a:picLocks noChangeAspect="1"/>
          </p:cNvPicPr>
          <p:nvPr/>
        </p:nvPicPr>
        <p:blipFill>
          <a:blip r:embed="rId2"/>
          <a:stretch>
            <a:fillRect/>
          </a:stretch>
        </p:blipFill>
        <p:spPr>
          <a:xfrm>
            <a:off x="10440000" y="6120000"/>
            <a:ext cx="1377049" cy="360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PRÉSENCE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Une vitrine propre et cohérente avec la marque</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5 / 19</a:t>
            </a:r>
          </a:p>
        </p:txBody>
      </p:sp>
      <p:pic>
        <p:nvPicPr>
          <p:cNvPr id="9" name="Picture 8" descr="danay_logo_s.png"/>
          <p:cNvPicPr>
            <a:picLocks noChangeAspect="1"/>
          </p:cNvPicPr>
          <p:nvPr/>
        </p:nvPicPr>
        <p:blipFill>
          <a:blip r:embed="rId3"/>
          <a:stretch>
            <a:fillRect/>
          </a:stretch>
        </p:blipFill>
        <p:spPr>
          <a:xfrm>
            <a:off x="540000" y="1548000"/>
            <a:ext cx="1152000" cy="1152000"/>
          </a:xfrm>
          <a:prstGeom prst="rect">
            <a:avLst/>
          </a:prstGeom>
        </p:spPr>
      </p:pic>
      <p:pic>
        <p:nvPicPr>
          <p:cNvPr id="10" name="Picture 9" descr="danay_backgroundCover_s.jpg"/>
          <p:cNvPicPr>
            <a:picLocks noChangeAspect="1"/>
          </p:cNvPicPr>
          <p:nvPr/>
        </p:nvPicPr>
        <p:blipFill>
          <a:blip r:embed="rId4"/>
          <a:stretch>
            <a:fillRect/>
          </a:stretch>
        </p:blipFill>
        <p:spPr>
          <a:xfrm>
            <a:off x="1908000" y="1548000"/>
            <a:ext cx="9720000" cy="1645457"/>
          </a:xfrm>
          <a:prstGeom prst="rect">
            <a:avLst/>
          </a:prstGeom>
        </p:spPr>
      </p:pic>
      <p:sp>
        <p:nvSpPr>
          <p:cNvPr id="11" name="TextBox 10"/>
          <p:cNvSpPr txBox="1"/>
          <p:nvPr/>
        </p:nvSpPr>
        <p:spPr>
          <a:xfrm>
            <a:off x="540000" y="3409457"/>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Accroche</a:t>
            </a:r>
          </a:p>
        </p:txBody>
      </p:sp>
      <p:sp>
        <p:nvSpPr>
          <p:cNvPr id="12" name="TextBox 11"/>
          <p:cNvSpPr txBox="1"/>
          <p:nvPr/>
        </p:nvSpPr>
        <p:spPr>
          <a:xfrm>
            <a:off x="3060000" y="3409457"/>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Spécialiste de la conformité à destination de la Côte d'Ivoire et des pays de la BCEAO. »</a:t>
            </a:r>
          </a:p>
        </p:txBody>
      </p:sp>
      <p:sp>
        <p:nvSpPr>
          <p:cNvPr id="13" name="TextBox 12"/>
          <p:cNvSpPr txBox="1"/>
          <p:nvPr/>
        </p:nvSpPr>
        <p:spPr>
          <a:xfrm>
            <a:off x="540000" y="3823456"/>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Présentation</a:t>
            </a:r>
          </a:p>
        </p:txBody>
      </p:sp>
      <p:sp>
        <p:nvSpPr>
          <p:cNvPr id="14" name="TextBox 13"/>
          <p:cNvSpPr txBox="1"/>
          <p:nvPr/>
        </p:nvSpPr>
        <p:spPr>
          <a:xfrm>
            <a:off x="3060000" y="3823456"/>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Claire et complète : à qui elle s'adresse, ce qu'elle vérifie (KYC, KYB, LCB-FT), comment (logiciel en ligne, API, mobile).</a:t>
            </a:r>
          </a:p>
        </p:txBody>
      </p:sp>
      <p:sp>
        <p:nvSpPr>
          <p:cNvPr id="15" name="TextBox 14"/>
          <p:cNvSpPr txBox="1"/>
          <p:nvPr/>
        </p:nvSpPr>
        <p:spPr>
          <a:xfrm>
            <a:off x="540000" y="4237455"/>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Bannière</a:t>
            </a:r>
          </a:p>
        </p:txBody>
      </p:sp>
      <p:sp>
        <p:nvSpPr>
          <p:cNvPr id="16" name="TextBox 15"/>
          <p:cNvSpPr txBox="1"/>
          <p:nvPr/>
        </p:nvSpPr>
        <p:spPr>
          <a:xfrm>
            <a:off x="3060000" y="4237455"/>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Bleu nuit et orange du logo, promesse « Conformité simple, sécurité renforcée », une cliente qui sourit avec son document validé.</a:t>
            </a:r>
          </a:p>
        </p:txBody>
      </p:sp>
      <p:sp>
        <p:nvSpPr>
          <p:cNvPr id="17" name="TextBox 16"/>
          <p:cNvSpPr txBox="1"/>
          <p:nvPr/>
        </p:nvSpPr>
        <p:spPr>
          <a:xfrm>
            <a:off x="540000" y="4651454"/>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À corriger</a:t>
            </a:r>
          </a:p>
        </p:txBody>
      </p:sp>
      <p:sp>
        <p:nvSpPr>
          <p:cNvPr id="18" name="TextBox 17"/>
          <p:cNvSpPr txBox="1"/>
          <p:nvPr/>
        </p:nvSpPr>
        <p:spPr>
          <a:xfrm>
            <a:off x="3060000" y="4651454"/>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Taille affichée « 2 à 10 salariés » pour 19 profils rattachés ; « reulatory » mal écrit dans les spécialités ; page non certifiée.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FORCES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que Danaya fait bien</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6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sujet d'expert, bien choisi</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KYC ou KYB, fraude documentaire, erreurs de conformité, taux d'inclusion de la BCEAO : la page parle des vrais problèmes de ses clients, avec des chiffres de la région.</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événements qui crédibilisent</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GITEX Africa (lauréat du concours de pitch), rencontre des responsables conformité à Lomé, IMPACT IA, masterclass avec Jèko : ce sont ses meilleures publications (19 réactions en médiane, jusqu'à 47).</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Une série tenue au printemps</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Sept mardis de suite, du 14 avril au 26 mai, un carrousel pédagogique au gabarit Danaya : le bon réflexe, à reprendre.</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ton juste</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Professionnel, accessible, en français, sans jargon inutile. Les accroches posent une question au décideur (« Votre concurrent vérifie un client en 90 secondes… et vous ?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ÉCARTS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qui manque à Danaya</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7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La régularité</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3 publications depuis fin juillet, 5 silences de 4 à 10 semaines dans l'année. Pour un acheteur de conformité, une page muette inquiète.</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visuels à elle</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Les 7 carrousels au gabarit Danaya font 7 réactions en médiane, contre 19,5 pour les photos et affiches. Couverture froide : photo de banque d'images, un titre, aucune promesse chiffrée. Ailleurs, les visuels sont ceux des organisateurs.</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preuves</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Aucun client nommé, aucun chiffre d'usage, aucun témoignage de banque ou de fintech. La collaboration avec Jèko est le seul cas concret, et, partagée sans visuel propre, elle n'a fait que 5 réactions.</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visages et des échanges</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Aucun portrait d'équipe, aucune prise de parole du dirigeant reprise sur la page. 9 commentaires en 20 publications : les questions posées restent sans réponse.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VISUELS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Des visuels hétérogènes, souvent empruntés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8 / 19</a:t>
            </a:r>
          </a:p>
        </p:txBody>
      </p:sp>
      <p:pic>
        <p:nvPicPr>
          <p:cNvPr id="9" name="Picture 8" descr="planche3_danay.jpg"/>
          <p:cNvPicPr>
            <a:picLocks noChangeAspect="1"/>
          </p:cNvPicPr>
          <p:nvPr/>
        </p:nvPicPr>
        <p:blipFill>
          <a:blip r:embed="rId3"/>
          <a:stretch>
            <a:fillRect/>
          </a:stretch>
        </p:blipFill>
        <p:spPr>
          <a:xfrm>
            <a:off x="1924932" y="1548000"/>
            <a:ext cx="8390136" cy="4176000"/>
          </a:xfrm>
          <a:prstGeom prst="rect">
            <a:avLst/>
          </a:prstGeom>
        </p:spPr>
      </p:pic>
      <p:sp>
        <p:nvSpPr>
          <p:cNvPr id="10" name="TextBox 9"/>
          <p:cNvSpPr txBox="1"/>
          <p:nvPr/>
        </p:nvSpPr>
        <p:spPr>
          <a:xfrm>
            <a:off x="540000" y="5796000"/>
            <a:ext cx="11160000" cy="540000"/>
          </a:xfrm>
          <a:prstGeom prst="rect">
            <a:avLst/>
          </a:prstGeom>
          <a:noFill/>
        </p:spPr>
        <p:txBody>
          <a:bodyPr wrap="square" anchor="t" lIns="36000" rIns="36000">
            <a:spAutoFit/>
          </a:bodyPr>
          <a:lstStyle/>
          <a:p>
            <a:pPr algn="l">
              <a:spcAft>
                <a:spcPts val="600"/>
              </a:spcAft>
            </a:pPr>
            <a:r>
              <a:rPr sz="1100" b="0">
                <a:solidFill>
                  <a:srgbClr val="8F8F9A"/>
                </a:solidFill>
                <a:latin typeface="Work Sans"/>
              </a:rPr>
              <a:t>Les 17 visuels publiés depuis octobre 2025, dans l'ordre (carrousels marqués en bleu). Les carrousels et les affiches de la rencontre des assureurs portent la charte Danaya ; le reste vient des organisateurs ou de photos d'événement.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754"/>
        </a:solidFill>
        <a:effectLst/>
      </p:bgPr>
    </p:bg>
    <p:spTree>
      <p:nvGrpSpPr>
        <p:cNvPr id="1" name=""/>
        <p:cNvGrpSpPr/>
        <p:nvPr/>
      </p:nvGrpSpPr>
      <p:grpSpPr/>
      <p:sp>
        <p:nvSpPr>
          <p:cNvPr id="2" name="TextBox 1"/>
          <p:cNvSpPr txBox="1"/>
          <p:nvPr/>
        </p:nvSpPr>
        <p:spPr>
          <a:xfrm>
            <a:off x="720000" y="1800000"/>
            <a:ext cx="2160000" cy="1080000"/>
          </a:xfrm>
          <a:prstGeom prst="rect">
            <a:avLst/>
          </a:prstGeom>
          <a:noFill/>
        </p:spPr>
        <p:txBody>
          <a:bodyPr wrap="square" anchor="t" lIns="36000" rIns="36000">
            <a:spAutoFit/>
          </a:bodyPr>
          <a:lstStyle/>
          <a:p>
            <a:pPr algn="l">
              <a:spcAft>
                <a:spcPts val="600"/>
              </a:spcAft>
            </a:pPr>
            <a:r>
              <a:rPr sz="6000" b="1">
                <a:solidFill>
                  <a:srgbClr val="00AED4"/>
                </a:solidFill>
                <a:latin typeface="Funnel Display"/>
              </a:rPr>
              <a:t>02</a:t>
            </a:r>
          </a:p>
        </p:txBody>
      </p:sp>
      <p:sp>
        <p:nvSpPr>
          <p:cNvPr id="3" name="TextBox 2"/>
          <p:cNvSpPr txBox="1"/>
          <p:nvPr/>
        </p:nvSpPr>
        <p:spPr>
          <a:xfrm>
            <a:off x="720000" y="3060000"/>
            <a:ext cx="10080000" cy="900000"/>
          </a:xfrm>
          <a:prstGeom prst="rect">
            <a:avLst/>
          </a:prstGeom>
          <a:noFill/>
        </p:spPr>
        <p:txBody>
          <a:bodyPr wrap="square" anchor="t" lIns="36000" rIns="36000">
            <a:spAutoFit/>
          </a:bodyPr>
          <a:lstStyle/>
          <a:p>
            <a:pPr algn="l">
              <a:spcAft>
                <a:spcPts val="600"/>
              </a:spcAft>
            </a:pPr>
            <a:r>
              <a:rPr sz="3400" b="1">
                <a:solidFill>
                  <a:srgbClr val="FFFFFF"/>
                </a:solidFill>
                <a:latin typeface="Funnel Display"/>
              </a:rPr>
              <a:t>BLOK</a:t>
            </a:r>
          </a:p>
        </p:txBody>
      </p:sp>
      <p:sp>
        <p:nvSpPr>
          <p:cNvPr id="4" name="TextBox 3"/>
          <p:cNvSpPr txBox="1"/>
          <p:nvPr/>
        </p:nvSpPr>
        <p:spPr>
          <a:xfrm>
            <a:off x="720000" y="4068000"/>
            <a:ext cx="9360000" cy="1080000"/>
          </a:xfrm>
          <a:prstGeom prst="rect">
            <a:avLst/>
          </a:prstGeom>
          <a:noFill/>
        </p:spPr>
        <p:txBody>
          <a:bodyPr wrap="square" anchor="t" lIns="36000" rIns="36000">
            <a:spAutoFit/>
          </a:bodyPr>
          <a:lstStyle/>
          <a:p>
            <a:pPr algn="l">
              <a:spcAft>
                <a:spcPts val="600"/>
              </a:spcAft>
            </a:pPr>
            <a:r>
              <a:rPr sz="1500" b="0">
                <a:solidFill>
                  <a:srgbClr val="C9D6E8"/>
                </a:solidFill>
                <a:latin typeface="Work Sans"/>
              </a:rPr>
              <a:t>Une vraie machine éditoriale, un gabarit reconnaissable, mais une page qui parle plus d'elle que de ses clients.</a:t>
            </a:r>
          </a:p>
        </p:txBody>
      </p:sp>
      <p:pic>
        <p:nvPicPr>
          <p:cNvPr id="5" name="Picture 4" descr="logo_blanc_small.png"/>
          <p:cNvPicPr>
            <a:picLocks noChangeAspect="1"/>
          </p:cNvPicPr>
          <p:nvPr/>
        </p:nvPicPr>
        <p:blipFill>
          <a:blip r:embed="rId2"/>
          <a:stretch>
            <a:fillRect/>
          </a:stretch>
        </p:blipFill>
        <p:spPr>
          <a:xfrm>
            <a:off x="10440000" y="6120000"/>
            <a:ext cx="1377049" cy="36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PRÉSENCE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Une vitrine complète, deux messages qui se contredisent</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10 / 19</a:t>
            </a:r>
          </a:p>
        </p:txBody>
      </p:sp>
      <p:pic>
        <p:nvPicPr>
          <p:cNvPr id="9" name="Picture 8" descr="bloka_logo_s.png"/>
          <p:cNvPicPr>
            <a:picLocks noChangeAspect="1"/>
          </p:cNvPicPr>
          <p:nvPr/>
        </p:nvPicPr>
        <p:blipFill>
          <a:blip r:embed="rId3"/>
          <a:stretch>
            <a:fillRect/>
          </a:stretch>
        </p:blipFill>
        <p:spPr>
          <a:xfrm>
            <a:off x="540000" y="1548000"/>
            <a:ext cx="1152000" cy="1152000"/>
          </a:xfrm>
          <a:prstGeom prst="rect">
            <a:avLst/>
          </a:prstGeom>
        </p:spPr>
      </p:pic>
      <p:pic>
        <p:nvPicPr>
          <p:cNvPr id="10" name="Picture 9" descr="bloka_backgroundCover_s.jpg"/>
          <p:cNvPicPr>
            <a:picLocks noChangeAspect="1"/>
          </p:cNvPicPr>
          <p:nvPr/>
        </p:nvPicPr>
        <p:blipFill>
          <a:blip r:embed="rId4"/>
          <a:stretch>
            <a:fillRect/>
          </a:stretch>
        </p:blipFill>
        <p:spPr>
          <a:xfrm>
            <a:off x="1908000" y="1548000"/>
            <a:ext cx="9720000" cy="1645457"/>
          </a:xfrm>
          <a:prstGeom prst="rect">
            <a:avLst/>
          </a:prstGeom>
        </p:spPr>
      </p:pic>
      <p:sp>
        <p:nvSpPr>
          <p:cNvPr id="11" name="TextBox 10"/>
          <p:cNvSpPr txBox="1"/>
          <p:nvPr/>
        </p:nvSpPr>
        <p:spPr>
          <a:xfrm>
            <a:off x="540000" y="3409457"/>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Accroche</a:t>
            </a:r>
          </a:p>
        </p:txBody>
      </p:sp>
      <p:sp>
        <p:nvSpPr>
          <p:cNvPr id="12" name="TextBox 11"/>
          <p:cNvSpPr txBox="1"/>
          <p:nvPr/>
        </p:nvSpPr>
        <p:spPr>
          <a:xfrm>
            <a:off x="3060000" y="3409457"/>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Plateforme IA de procurement BTP en Afrique | Sourcing matériaux rapide et fiable | +10 00 références ».</a:t>
            </a:r>
          </a:p>
        </p:txBody>
      </p:sp>
      <p:sp>
        <p:nvSpPr>
          <p:cNvPr id="13" name="TextBox 12"/>
          <p:cNvSpPr txBox="1"/>
          <p:nvPr/>
        </p:nvSpPr>
        <p:spPr>
          <a:xfrm>
            <a:off x="540000" y="3823456"/>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Présentation</a:t>
            </a:r>
          </a:p>
        </p:txBody>
      </p:sp>
      <p:sp>
        <p:nvSpPr>
          <p:cNvPr id="14" name="TextBox 13"/>
          <p:cNvSpPr txBox="1"/>
          <p:nvPr/>
        </p:nvSpPr>
        <p:spPr>
          <a:xfrm>
            <a:off x="3060000" y="3823456"/>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Précise sur les clients (entrepreneurs, promoteurs, entreprises du BTP) et les familles de produits.</a:t>
            </a:r>
          </a:p>
        </p:txBody>
      </p:sp>
      <p:sp>
        <p:nvSpPr>
          <p:cNvPr id="15" name="TextBox 14"/>
          <p:cNvSpPr txBox="1"/>
          <p:nvPr/>
        </p:nvSpPr>
        <p:spPr>
          <a:xfrm>
            <a:off x="540000" y="4237455"/>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Bannière</a:t>
            </a:r>
          </a:p>
        </p:txBody>
      </p:sp>
      <p:sp>
        <p:nvSpPr>
          <p:cNvPr id="16" name="TextBox 15"/>
          <p:cNvSpPr txBox="1"/>
          <p:nvPr/>
        </p:nvSpPr>
        <p:spPr>
          <a:xfrm>
            <a:off x="3060000" y="4237455"/>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Commandez vos matériaux de construction, simplement. » en jaune et orange : ni l'IA, ni le bleu nuit des publications.</a:t>
            </a:r>
          </a:p>
        </p:txBody>
      </p:sp>
      <p:sp>
        <p:nvSpPr>
          <p:cNvPr id="17" name="TextBox 16"/>
          <p:cNvSpPr txBox="1"/>
          <p:nvPr/>
        </p:nvSpPr>
        <p:spPr>
          <a:xfrm>
            <a:off x="540000" y="4651454"/>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À corriger</a:t>
            </a:r>
          </a:p>
        </p:txBody>
      </p:sp>
      <p:sp>
        <p:nvSpPr>
          <p:cNvPr id="18" name="TextBox 17"/>
          <p:cNvSpPr txBox="1"/>
          <p:nvPr/>
        </p:nvSpPr>
        <p:spPr>
          <a:xfrm>
            <a:off x="3060000" y="4651454"/>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+10 00 références » (faute dans l'accroche et la présentation) ; « Plomberie » en double, « Echaffaudages », « Profitability » en anglais ; nom « BLOK TECHNOLOGY » sur la page, « BLOK » sur la bannière.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FORCES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que BLOK fait bien</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11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Une régularité de média</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35 publications en 110 jours, surtout le mardi et le jeudi, sans aucun trou de plus d'une semaine.</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gabarit qu'on reconnaît</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Bleu nuit, orange, logo sur presque chaque visuel, cartouche « TEAM BLOK » pour les portraits : en défilant, on sait que c'est BLOK.</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Les gens au premier plan</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Portraits de collaborateurs, valeurs choisies en équipe, visites de chantier, entrée au GIBTP : ce sont les meilleures publications (45 réactions en médiane pour les portraits, jusqu'à 134).</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sujets de terrain</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Ruptures de stock, camion qui n'arrive pas, bois, étanchéité : la page parle la langue du chef de chantier, et finit souvent par une question.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ÉCARTS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qui manque à BLOK</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12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clients</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Une seule publication donne la parole à un client (SOTASERV). Aucun chiffre d'usage, aucune commande racontée, aucun avant-après.</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discours IA qui ne prend pas</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Sept publications sur l'IA, dont six carrousels publiés du 7 au 15 septembre : 10 réactions en médiane. Le sujet est dit, jamais montré (pas de démonstration de Yann, pas de vidéo).</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Les fondateurs en relais</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Yohann Behi et Waly K. N'Diaye font 10 à 20 fois plus de réactions que la page : leurs publications ne sont reprises qu'à la marge.</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texte plus sobre</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21 publications sur 35 écrivent les titres en lettres « grasses » spéciales, illisibles pour les lecteurs d'écran et la recherche ; 7 mots-dièse en médiane, souvent génériques ; 18 commentaires en tout malgré une question en fin de texte.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VISUELS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Une ligne visuelle forte et cohérente</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13 / 19</a:t>
            </a:r>
          </a:p>
        </p:txBody>
      </p:sp>
      <p:pic>
        <p:nvPicPr>
          <p:cNvPr id="9" name="Picture 8" descr="planche3_bloka.jpg"/>
          <p:cNvPicPr>
            <a:picLocks noChangeAspect="1"/>
          </p:cNvPicPr>
          <p:nvPr/>
        </p:nvPicPr>
        <p:blipFill>
          <a:blip r:embed="rId3"/>
          <a:stretch>
            <a:fillRect/>
          </a:stretch>
        </p:blipFill>
        <p:spPr>
          <a:xfrm>
            <a:off x="3191906" y="1548000"/>
            <a:ext cx="5856187" cy="4176000"/>
          </a:xfrm>
          <a:prstGeom prst="rect">
            <a:avLst/>
          </a:prstGeom>
        </p:spPr>
      </p:pic>
      <p:sp>
        <p:nvSpPr>
          <p:cNvPr id="10" name="TextBox 9"/>
          <p:cNvSpPr txBox="1"/>
          <p:nvPr/>
        </p:nvSpPr>
        <p:spPr>
          <a:xfrm>
            <a:off x="540000" y="5796000"/>
            <a:ext cx="11160000" cy="540000"/>
          </a:xfrm>
          <a:prstGeom prst="rect">
            <a:avLst/>
          </a:prstGeom>
          <a:noFill/>
        </p:spPr>
        <p:txBody>
          <a:bodyPr wrap="square" anchor="t" lIns="36000" rIns="36000">
            <a:spAutoFit/>
          </a:bodyPr>
          <a:lstStyle/>
          <a:p>
            <a:pPr algn="l">
              <a:spcAft>
                <a:spcPts val="600"/>
              </a:spcAft>
            </a:pPr>
            <a:r>
              <a:rPr sz="1100" b="0">
                <a:solidFill>
                  <a:srgbClr val="8F8F9A"/>
                </a:solidFill>
                <a:latin typeface="Work Sans"/>
              </a:rPr>
              <a:t>Les 35 visuels publiés depuis juillet 2026, dans l'ordre (carrousels marqués en bleu). Le bleu nuit et l'orange reviennent partout ; les visuels de conseil mêlent photos de chantier et images très « banque d'images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COMPARAISON</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qui fait réagir : les gens et les événements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14 / 19</a:t>
            </a:r>
          </a:p>
        </p:txBody>
      </p:sp>
      <p:sp>
        <p:nvSpPr>
          <p:cNvPr id="9" name="TextBox 8"/>
          <p:cNvSpPr txBox="1"/>
          <p:nvPr/>
        </p:nvSpPr>
        <p:spPr>
          <a:xfrm>
            <a:off x="540000" y="1584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équipe et culture</a:t>
            </a:r>
          </a:p>
        </p:txBody>
      </p:sp>
      <p:sp>
        <p:nvSpPr>
          <p:cNvPr id="10" name="Rectangle 9"/>
          <p:cNvSpPr/>
          <p:nvPr/>
        </p:nvSpPr>
        <p:spPr>
          <a:xfrm>
            <a:off x="3528000" y="1655280"/>
            <a:ext cx="6840000" cy="25344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04000" y="1584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45 réactions</a:t>
            </a:r>
          </a:p>
        </p:txBody>
      </p:sp>
      <p:sp>
        <p:nvSpPr>
          <p:cNvPr id="12" name="TextBox 11"/>
          <p:cNvSpPr txBox="1"/>
          <p:nvPr/>
        </p:nvSpPr>
        <p:spPr>
          <a:xfrm>
            <a:off x="540000" y="1980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actualité et partenaires</a:t>
            </a:r>
          </a:p>
        </p:txBody>
      </p:sp>
      <p:sp>
        <p:nvSpPr>
          <p:cNvPr id="13" name="Rectangle 12"/>
          <p:cNvSpPr/>
          <p:nvPr/>
        </p:nvSpPr>
        <p:spPr>
          <a:xfrm>
            <a:off x="3528000" y="2051280"/>
            <a:ext cx="4104000" cy="25344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68000" y="1980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27 réactions</a:t>
            </a:r>
          </a:p>
        </p:txBody>
      </p:sp>
      <p:sp>
        <p:nvSpPr>
          <p:cNvPr id="15" name="TextBox 14"/>
          <p:cNvSpPr txBox="1"/>
          <p:nvPr/>
        </p:nvSpPr>
        <p:spPr>
          <a:xfrm>
            <a:off x="540000" y="2376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IA et données</a:t>
            </a:r>
          </a:p>
        </p:txBody>
      </p:sp>
      <p:sp>
        <p:nvSpPr>
          <p:cNvPr id="16" name="Rectangle 15"/>
          <p:cNvSpPr/>
          <p:nvPr/>
        </p:nvSpPr>
        <p:spPr>
          <a:xfrm>
            <a:off x="3528000" y="2447280"/>
            <a:ext cx="1520000" cy="25344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4000" y="2376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10 réactions</a:t>
            </a:r>
          </a:p>
        </p:txBody>
      </p:sp>
      <p:sp>
        <p:nvSpPr>
          <p:cNvPr id="18" name="TextBox 17"/>
          <p:cNvSpPr txBox="1"/>
          <p:nvPr/>
        </p:nvSpPr>
        <p:spPr>
          <a:xfrm>
            <a:off x="540000" y="2772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conseils chantier</a:t>
            </a:r>
          </a:p>
        </p:txBody>
      </p:sp>
      <p:sp>
        <p:nvSpPr>
          <p:cNvPr id="19" name="Rectangle 18"/>
          <p:cNvSpPr/>
          <p:nvPr/>
        </p:nvSpPr>
        <p:spPr>
          <a:xfrm>
            <a:off x="3528000" y="2843280"/>
            <a:ext cx="1520000" cy="25344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4000" y="2772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10 réactions</a:t>
            </a:r>
          </a:p>
        </p:txBody>
      </p:sp>
      <p:sp>
        <p:nvSpPr>
          <p:cNvPr id="21" name="TextBox 20"/>
          <p:cNvSpPr txBox="1"/>
          <p:nvPr/>
        </p:nvSpPr>
        <p:spPr>
          <a:xfrm>
            <a:off x="540000" y="3168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Danaya · événements</a:t>
            </a:r>
          </a:p>
        </p:txBody>
      </p:sp>
      <p:sp>
        <p:nvSpPr>
          <p:cNvPr id="22" name="Rectangle 21"/>
          <p:cNvSpPr/>
          <p:nvPr/>
        </p:nvSpPr>
        <p:spPr>
          <a:xfrm>
            <a:off x="3528000" y="3239280"/>
            <a:ext cx="2888000" cy="25344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2000" y="3168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19 réactions</a:t>
            </a:r>
          </a:p>
        </p:txBody>
      </p:sp>
      <p:sp>
        <p:nvSpPr>
          <p:cNvPr id="24" name="TextBox 23"/>
          <p:cNvSpPr txBox="1"/>
          <p:nvPr/>
        </p:nvSpPr>
        <p:spPr>
          <a:xfrm>
            <a:off x="540000" y="3564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Danaya · pédagogie conformité</a:t>
            </a:r>
          </a:p>
        </p:txBody>
      </p:sp>
      <p:sp>
        <p:nvSpPr>
          <p:cNvPr id="25" name="Rectangle 24"/>
          <p:cNvSpPr/>
          <p:nvPr/>
        </p:nvSpPr>
        <p:spPr>
          <a:xfrm>
            <a:off x="3528000" y="3635280"/>
            <a:ext cx="1064000" cy="25344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8000" y="3564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7 réactions</a:t>
            </a:r>
          </a:p>
        </p:txBody>
      </p:sp>
      <p:sp>
        <p:nvSpPr>
          <p:cNvPr id="27" name="TextBox 26"/>
          <p:cNvSpPr txBox="1"/>
          <p:nvPr/>
        </p:nvSpPr>
        <p:spPr>
          <a:xfrm>
            <a:off x="540000" y="5940000"/>
            <a:ext cx="11160000" cy="360000"/>
          </a:xfrm>
          <a:prstGeom prst="rect">
            <a:avLst/>
          </a:prstGeom>
          <a:noFill/>
        </p:spPr>
        <p:txBody>
          <a:bodyPr wrap="square" anchor="t" lIns="36000" rIns="36000">
            <a:spAutoFit/>
          </a:bodyPr>
          <a:lstStyle/>
          <a:p>
            <a:pPr algn="l">
              <a:spcAft>
                <a:spcPts val="600"/>
              </a:spcAft>
            </a:pPr>
            <a:r>
              <a:rPr sz="1000" b="0">
                <a:solidFill>
                  <a:srgbClr val="8F8F9A"/>
                </a:solidFill>
                <a:latin typeface="Work Sans"/>
              </a:rPr>
              <a:t>Réactions médianes par type de sujet, publications propres de chaque page. BLOK : 11 / 5 / 7 / 12 publications ; Danaya : 10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COMPARAISON</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Les notes par critère (estimation)</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15 / 19</a:t>
            </a:r>
          </a:p>
        </p:txBody>
      </p:sp>
      <p:graphicFrame>
        <p:nvGraphicFramePr>
          <p:cNvPr id="9" name="Table 8"/>
          <p:cNvGraphicFramePr>
            <a:graphicFrameLocks noGrp="1"/>
          </p:cNvGraphicFramePr>
          <p:nvPr/>
        </p:nvGraphicFramePr>
        <p:xfrm>
          <a:off x="540000" y="1548000"/>
          <a:ext cx="11160000" cy="3024000"/>
        </p:xfrm>
        <a:graphic>
          <a:graphicData uri="http://schemas.openxmlformats.org/drawingml/2006/table">
            <a:tbl>
              <a:tblPr firstRow="1" bandRow="1">
                <a:tableStyleId>{5C22544A-7EE6-4342-B048-85BDC9FD1C3A}</a:tableStyleId>
              </a:tblPr>
              <a:tblGrid>
                <a:gridCol w="3240000"/>
                <a:gridCol w="3960000"/>
                <a:gridCol w="3960000"/>
              </a:tblGrid>
              <a:tr h="432000">
                <a:tc>
                  <a:txBody>
                    <a:bodyPr wrap="square"/>
                    <a:lstStyle/>
                    <a:p>
                      <a:r>
                        <a:rPr sz="1200" b="1">
                          <a:solidFill>
                            <a:srgbClr val="FFFFFF"/>
                          </a:solidFill>
                          <a:latin typeface="Work Sans"/>
                        </a:rPr>
                        <a:t/>
                      </a:r>
                    </a:p>
                  </a:txBody>
                  <a:tcPr marL="90000" marR="90000" marT="43200" marB="43200">
                    <a:solidFill>
                      <a:srgbClr val="232754"/>
                    </a:solidFill>
                  </a:tcPr>
                </a:tc>
                <a:tc>
                  <a:txBody>
                    <a:bodyPr wrap="square"/>
                    <a:lstStyle/>
                    <a:p>
                      <a:r>
                        <a:rPr sz="1200" b="1">
                          <a:solidFill>
                            <a:srgbClr val="FFFFFF"/>
                          </a:solidFill>
                          <a:latin typeface="Work Sans"/>
                        </a:rPr>
                        <a:t>Danaya</a:t>
                      </a:r>
                    </a:p>
                  </a:txBody>
                  <a:tcPr marL="90000" marR="90000" marT="43200" marB="43200">
                    <a:solidFill>
                      <a:srgbClr val="232754"/>
                    </a:solidFill>
                  </a:tcPr>
                </a:tc>
                <a:tc>
                  <a:txBody>
                    <a:bodyPr wrap="square"/>
                    <a:lstStyle/>
                    <a:p>
                      <a:r>
                        <a:rPr sz="1200" b="1">
                          <a:solidFill>
                            <a:srgbClr val="FFFFFF"/>
                          </a:solidFill>
                          <a:latin typeface="Work Sans"/>
                        </a:rPr>
                        <a:t>BLOK</a:t>
                      </a:r>
                    </a:p>
                  </a:txBody>
                  <a:tcPr marL="90000" marR="90000" marT="43200" marB="43200">
                    <a:solidFill>
                      <a:srgbClr val="232754"/>
                    </a:solidFill>
                  </a:tcPr>
                </a:tc>
              </a:tr>
              <a:tr h="432000">
                <a:tc>
                  <a:txBody>
                    <a:bodyPr wrap="square"/>
                    <a:lstStyle/>
                    <a:p>
                      <a:r>
                        <a:rPr sz="1200" b="1">
                          <a:solidFill>
                            <a:srgbClr val="232754"/>
                          </a:solidFill>
                          <a:latin typeface="Work Sans"/>
                        </a:rPr>
                        <a:t>Présence et vitrine</a:t>
                      </a:r>
                    </a:p>
                  </a:txBody>
                  <a:tcPr marL="90000" marR="90000" marT="43200" marB="43200">
                    <a:solidFill>
                      <a:srgbClr val="F7F8FA"/>
                    </a:solidFill>
                  </a:tcPr>
                </a:tc>
                <a:tc>
                  <a:txBody>
                    <a:bodyPr wrap="square"/>
                    <a:lstStyle/>
                    <a:p>
                      <a:r>
                        <a:rPr sz="1200" b="0">
                          <a:solidFill>
                            <a:srgbClr val="2B2A35"/>
                          </a:solidFill>
                          <a:latin typeface="Work Sans"/>
                        </a:rPr>
                        <a:t>Bonne : 7/10</a:t>
                      </a:r>
                    </a:p>
                  </a:txBody>
                  <a:tcPr marL="90000" marR="90000" marT="43200" marB="43200">
                    <a:solidFill>
                      <a:srgbClr val="F7F8FA"/>
                    </a:solidFill>
                  </a:tcPr>
                </a:tc>
                <a:tc>
                  <a:txBody>
                    <a:bodyPr wrap="square"/>
                    <a:lstStyle/>
                    <a:p>
                      <a:r>
                        <a:rPr sz="1200" b="0">
                          <a:solidFill>
                            <a:srgbClr val="2B2A35"/>
                          </a:solidFill>
                          <a:latin typeface="Work Sans"/>
                        </a:rPr>
                        <a:t>Bonne, à corriger : 6/10</a:t>
                      </a:r>
                    </a:p>
                  </a:txBody>
                  <a:tcPr marL="90000" marR="90000" marT="43200" marB="43200">
                    <a:solidFill>
                      <a:srgbClr val="F7F8FA"/>
                    </a:solidFill>
                  </a:tcPr>
                </a:tc>
              </a:tr>
              <a:tr h="432000">
                <a:tc>
                  <a:txBody>
                    <a:bodyPr wrap="square"/>
                    <a:lstStyle/>
                    <a:p>
                      <a:r>
                        <a:rPr sz="1200" b="1">
                          <a:solidFill>
                            <a:srgbClr val="232754"/>
                          </a:solidFill>
                          <a:latin typeface="Work Sans"/>
                        </a:rPr>
                        <a:t>Régularité</a:t>
                      </a:r>
                    </a:p>
                  </a:txBody>
                  <a:tcPr marL="90000" marR="90000" marT="43200" marB="43200">
                    <a:solidFill>
                      <a:srgbClr val="FFFFFF"/>
                    </a:solidFill>
                  </a:tcPr>
                </a:tc>
                <a:tc>
                  <a:txBody>
                    <a:bodyPr wrap="square"/>
                    <a:lstStyle/>
                    <a:p>
                      <a:r>
                        <a:rPr sz="1200" b="0">
                          <a:solidFill>
                            <a:srgbClr val="2B2A35"/>
                          </a:solidFill>
                          <a:latin typeface="Work Sans"/>
                        </a:rPr>
                        <a:t>Faible : 3/10</a:t>
                      </a:r>
                    </a:p>
                  </a:txBody>
                  <a:tcPr marL="90000" marR="90000" marT="43200" marB="43200">
                    <a:solidFill>
                      <a:srgbClr val="FFFFFF"/>
                    </a:solidFill>
                  </a:tcPr>
                </a:tc>
                <a:tc>
                  <a:txBody>
                    <a:bodyPr wrap="square"/>
                    <a:lstStyle/>
                    <a:p>
                      <a:r>
                        <a:rPr sz="1200" b="0">
                          <a:solidFill>
                            <a:srgbClr val="2B2A35"/>
                          </a:solidFill>
                          <a:latin typeface="Work Sans"/>
                        </a:rPr>
                        <a:t>Très bonne : 9/10</a:t>
                      </a:r>
                    </a:p>
                  </a:txBody>
                  <a:tcPr marL="90000" marR="90000" marT="43200" marB="43200">
                    <a:solidFill>
                      <a:srgbClr val="FFFFFF"/>
                    </a:solidFill>
                  </a:tcPr>
                </a:tc>
              </a:tr>
              <a:tr h="432000">
                <a:tc>
                  <a:txBody>
                    <a:bodyPr wrap="square"/>
                    <a:lstStyle/>
                    <a:p>
                      <a:r>
                        <a:rPr sz="1200" b="1">
                          <a:solidFill>
                            <a:srgbClr val="232754"/>
                          </a:solidFill>
                          <a:latin typeface="Work Sans"/>
                        </a:rPr>
                        <a:t>Visuels</a:t>
                      </a:r>
                    </a:p>
                  </a:txBody>
                  <a:tcPr marL="90000" marR="90000" marT="43200" marB="43200">
                    <a:solidFill>
                      <a:srgbClr val="F7F8FA"/>
                    </a:solidFill>
                  </a:tcPr>
                </a:tc>
                <a:tc>
                  <a:txBody>
                    <a:bodyPr wrap="square"/>
                    <a:lstStyle/>
                    <a:p>
                      <a:r>
                        <a:rPr sz="1200" b="0">
                          <a:solidFill>
                            <a:srgbClr val="2B2A35"/>
                          </a:solidFill>
                          <a:latin typeface="Work Sans"/>
                        </a:rPr>
                        <a:t>Moyens : 5/10</a:t>
                      </a:r>
                    </a:p>
                  </a:txBody>
                  <a:tcPr marL="90000" marR="90000" marT="43200" marB="43200">
                    <a:solidFill>
                      <a:srgbClr val="F7F8FA"/>
                    </a:solidFill>
                  </a:tcPr>
                </a:tc>
                <a:tc>
                  <a:txBody>
                    <a:bodyPr wrap="square"/>
                    <a:lstStyle/>
                    <a:p>
                      <a:r>
                        <a:rPr sz="1200" b="0">
                          <a:solidFill>
                            <a:srgbClr val="2B2A35"/>
                          </a:solidFill>
                          <a:latin typeface="Work Sans"/>
                        </a:rPr>
                        <a:t>Bons : 8/10</a:t>
                      </a:r>
                    </a:p>
                  </a:txBody>
                  <a:tcPr marL="90000" marR="90000" marT="43200" marB="43200">
                    <a:solidFill>
                      <a:srgbClr val="F7F8FA"/>
                    </a:solidFill>
                  </a:tcPr>
                </a:tc>
              </a:tr>
              <a:tr h="432000">
                <a:tc>
                  <a:txBody>
                    <a:bodyPr wrap="square"/>
                    <a:lstStyle/>
                    <a:p>
                      <a:r>
                        <a:rPr sz="1200" b="1">
                          <a:solidFill>
                            <a:srgbClr val="232754"/>
                          </a:solidFill>
                          <a:latin typeface="Work Sans"/>
                        </a:rPr>
                        <a:t>Ton</a:t>
                      </a:r>
                    </a:p>
                  </a:txBody>
                  <a:tcPr marL="90000" marR="90000" marT="43200" marB="43200">
                    <a:solidFill>
                      <a:srgbClr val="FFFFFF"/>
                    </a:solidFill>
                  </a:tcPr>
                </a:tc>
                <a:tc>
                  <a:txBody>
                    <a:bodyPr wrap="square"/>
                    <a:lstStyle/>
                    <a:p>
                      <a:r>
                        <a:rPr sz="1200" b="0">
                          <a:solidFill>
                            <a:srgbClr val="2B2A35"/>
                          </a:solidFill>
                          <a:latin typeface="Work Sans"/>
                        </a:rPr>
                        <a:t>Juste et expert : 7/10</a:t>
                      </a:r>
                    </a:p>
                  </a:txBody>
                  <a:tcPr marL="90000" marR="90000" marT="43200" marB="43200">
                    <a:solidFill>
                      <a:srgbClr val="FFFFFF"/>
                    </a:solidFill>
                  </a:tcPr>
                </a:tc>
                <a:tc>
                  <a:txBody>
                    <a:bodyPr wrap="square"/>
                    <a:lstStyle/>
                    <a:p>
                      <a:r>
                        <a:rPr sz="1200" b="0">
                          <a:solidFill>
                            <a:srgbClr val="2B2A35"/>
                          </a:solidFill>
                          <a:latin typeface="Work Sans"/>
                        </a:rPr>
                        <a:t>Clair, un peu chargé : 6/10</a:t>
                      </a:r>
                    </a:p>
                  </a:txBody>
                  <a:tcPr marL="90000" marR="90000" marT="43200" marB="43200">
                    <a:solidFill>
                      <a:srgbClr val="FFFFFF"/>
                    </a:solidFill>
                  </a:tcPr>
                </a:tc>
              </a:tr>
              <a:tr h="432000">
                <a:tc>
                  <a:txBody>
                    <a:bodyPr wrap="square"/>
                    <a:lstStyle/>
                    <a:p>
                      <a:r>
                        <a:rPr sz="1200" b="1">
                          <a:solidFill>
                            <a:srgbClr val="232754"/>
                          </a:solidFill>
                          <a:latin typeface="Work Sans"/>
                        </a:rPr>
                        <a:t>Réactions et échanges</a:t>
                      </a:r>
                    </a:p>
                  </a:txBody>
                  <a:tcPr marL="90000" marR="90000" marT="43200" marB="43200">
                    <a:solidFill>
                      <a:srgbClr val="F7F8FA"/>
                    </a:solidFill>
                  </a:tcPr>
                </a:tc>
                <a:tc>
                  <a:txBody>
                    <a:bodyPr wrap="square"/>
                    <a:lstStyle/>
                    <a:p>
                      <a:r>
                        <a:rPr sz="1200" b="0">
                          <a:solidFill>
                            <a:srgbClr val="2B2A35"/>
                          </a:solidFill>
                          <a:latin typeface="Work Sans"/>
                        </a:rPr>
                        <a:t>Faibles : 3/10</a:t>
                      </a:r>
                    </a:p>
                  </a:txBody>
                  <a:tcPr marL="90000" marR="90000" marT="43200" marB="43200">
                    <a:solidFill>
                      <a:srgbClr val="F7F8FA"/>
                    </a:solidFill>
                  </a:tcPr>
                </a:tc>
                <a:tc>
                  <a:txBody>
                    <a:bodyPr wrap="square"/>
                    <a:lstStyle/>
                    <a:p>
                      <a:r>
                        <a:rPr sz="1200" b="0">
                          <a:solidFill>
                            <a:srgbClr val="2B2A35"/>
                          </a:solidFill>
                          <a:latin typeface="Work Sans"/>
                        </a:rPr>
                        <a:t>Moyennes : 5/10</a:t>
                      </a:r>
                    </a:p>
                  </a:txBody>
                  <a:tcPr marL="90000" marR="90000" marT="43200" marB="43200">
                    <a:solidFill>
                      <a:srgbClr val="F7F8FA"/>
                    </a:solidFill>
                  </a:tcPr>
                </a:tc>
              </a:tr>
              <a:tr h="432000">
                <a:tc>
                  <a:txBody>
                    <a:bodyPr wrap="square"/>
                    <a:lstStyle/>
                    <a:p>
                      <a:r>
                        <a:rPr sz="1200" b="1">
                          <a:solidFill>
                            <a:srgbClr val="232754"/>
                          </a:solidFill>
                          <a:latin typeface="Work Sans"/>
                        </a:rPr>
                        <a:t>Cohérence de marque</a:t>
                      </a:r>
                    </a:p>
                  </a:txBody>
                  <a:tcPr marL="90000" marR="90000" marT="43200" marB="43200">
                    <a:solidFill>
                      <a:srgbClr val="FFFFFF"/>
                    </a:solidFill>
                  </a:tcPr>
                </a:tc>
                <a:tc>
                  <a:txBody>
                    <a:bodyPr wrap="square"/>
                    <a:lstStyle/>
                    <a:p>
                      <a:r>
                        <a:rPr sz="1200" b="0">
                          <a:solidFill>
                            <a:srgbClr val="2B2A35"/>
                          </a:solidFill>
                          <a:latin typeface="Work Sans"/>
                        </a:rPr>
                        <a:t>Bonne sur la vitrine et les carrousels, absente ailleurs : 6/10</a:t>
                      </a:r>
                    </a:p>
                  </a:txBody>
                  <a:tcPr marL="90000" marR="90000" marT="43200" marB="43200">
                    <a:solidFill>
                      <a:srgbClr val="FFFFFF"/>
                    </a:solidFill>
                  </a:tcPr>
                </a:tc>
                <a:tc>
                  <a:txBody>
                    <a:bodyPr wrap="square"/>
                    <a:lstStyle/>
                    <a:p>
                      <a:r>
                        <a:rPr sz="1200" b="0">
                          <a:solidFill>
                            <a:srgbClr val="2B2A35"/>
                          </a:solidFill>
                          <a:latin typeface="Work Sans"/>
                        </a:rPr>
                        <a:t>Forte : 8/10</a:t>
                      </a:r>
                    </a:p>
                  </a:txBody>
                  <a:tcPr marL="90000" marR="90000" marT="43200" marB="43200">
                    <a:solidFill>
                      <a:srgbClr val="FFFFFF"/>
                    </a:solidFill>
                  </a:tcPr>
                </a:tc>
              </a:tr>
            </a:tbl>
          </a:graphicData>
        </a:graphic>
      </p:graphicFrame>
      <p:sp>
        <p:nvSpPr>
          <p:cNvPr id="10" name="TextBox 9"/>
          <p:cNvSpPr txBox="1"/>
          <p:nvPr/>
        </p:nvSpPr>
        <p:spPr>
          <a:xfrm>
            <a:off x="540000" y="5903999"/>
            <a:ext cx="11160000" cy="360000"/>
          </a:xfrm>
          <a:prstGeom prst="rect">
            <a:avLst/>
          </a:prstGeom>
          <a:noFill/>
        </p:spPr>
        <p:txBody>
          <a:bodyPr wrap="square" anchor="t" lIns="36000" rIns="36000">
            <a:spAutoFit/>
          </a:bodyPr>
          <a:lstStyle/>
          <a:p>
            <a:pPr algn="l">
              <a:spcAft>
                <a:spcPts val="600"/>
              </a:spcAft>
            </a:pPr>
            <a:r>
              <a:rPr sz="1000" b="0">
                <a:solidFill>
                  <a:srgbClr val="8F8F9A"/>
                </a:solidFill>
                <a:latin typeface="Work Sans"/>
              </a:rPr>
              <a:t>Notes données à partir des seules pages publiques : pas d'accès aux statistiques internes (portée, vues, clics).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RECOMMANDATIONS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Danaya : cinq actions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16 / 19</a:t>
            </a:r>
          </a:p>
        </p:txBody>
      </p:sp>
      <p:sp>
        <p:nvSpPr>
          <p:cNvPr id="9" name="Rectangle 8"/>
          <p:cNvSpPr/>
          <p:nvPr/>
        </p:nvSpPr>
        <p:spPr>
          <a:xfrm>
            <a:off x="54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1. Reprendre un rythme tenable</a:t>
            </a:r>
          </a:p>
        </p:txBody>
      </p:sp>
      <p:sp>
        <p:nvSpPr>
          <p:cNvPr id="12" name="TextBox 11"/>
          <p:cNvSpPr txBox="1"/>
          <p:nvPr/>
        </p:nvSpPr>
        <p:spPr>
          <a:xfrm>
            <a:off x="72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 rendez-vous chaque mardi, comme au printemps, et un deuxième le jeudi dès que possible.</a:t>
            </a:r>
          </a:p>
        </p:txBody>
      </p:sp>
      <p:sp>
        <p:nvSpPr>
          <p:cNvPr id="13" name="Rectangle 12"/>
          <p:cNvSpPr/>
          <p:nvPr/>
        </p:nvSpPr>
        <p:spPr>
          <a:xfrm>
            <a:off x="432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2. Réveiller le gabarit</a:t>
            </a:r>
          </a:p>
        </p:txBody>
      </p:sp>
      <p:sp>
        <p:nvSpPr>
          <p:cNvPr id="16" name="TextBox 15"/>
          <p:cNvSpPr txBox="1"/>
          <p:nvPr/>
        </p:nvSpPr>
        <p:spPr>
          <a:xfrm>
            <a:off x="450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Carrousels : une promesse chiffrée en couverture, de vraies photos de l'équipe ou des clients, trois modèles (chiffre clé, conseil, événement).</a:t>
            </a:r>
          </a:p>
        </p:txBody>
      </p:sp>
      <p:sp>
        <p:nvSpPr>
          <p:cNvPr id="17" name="Rectangle 16"/>
          <p:cNvSpPr/>
          <p:nvPr/>
        </p:nvSpPr>
        <p:spPr>
          <a:xfrm>
            <a:off x="810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3. Raconter Jèko</a:t>
            </a:r>
          </a:p>
        </p:txBody>
      </p:sp>
      <p:sp>
        <p:nvSpPr>
          <p:cNvPr id="20" name="TextBox 19"/>
          <p:cNvSpPr txBox="1"/>
          <p:nvPr/>
        </p:nvSpPr>
        <p:spPr>
          <a:xfrm>
            <a:off x="828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 cas client complet : le problème, la mise en place, le résultat chiffré, la parole de l'équipe Jèko.</a:t>
            </a:r>
          </a:p>
        </p:txBody>
      </p:sp>
      <p:sp>
        <p:nvSpPr>
          <p:cNvPr id="21" name="Rectangle 20"/>
          <p:cNvSpPr/>
          <p:nvPr/>
        </p:nvSpPr>
        <p:spPr>
          <a:xfrm>
            <a:off x="54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4. Faire parler les dirigeants</a:t>
            </a:r>
          </a:p>
        </p:txBody>
      </p:sp>
      <p:sp>
        <p:nvSpPr>
          <p:cNvPr id="24" name="TextBox 23"/>
          <p:cNvSpPr txBox="1"/>
          <p:nvPr/>
        </p:nvSpPr>
        <p:spPr>
          <a:xfrm>
            <a:off x="72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Le dirigeant et le CTO publient, la page reprend ; un portrait d'équipe par mois.</a:t>
            </a:r>
          </a:p>
        </p:txBody>
      </p:sp>
      <p:sp>
        <p:nvSpPr>
          <p:cNvPr id="25" name="Rectangle 24"/>
          <p:cNvSpPr/>
          <p:nvPr/>
        </p:nvSpPr>
        <p:spPr>
          <a:xfrm>
            <a:off x="432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2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5. Corriger la vitrine</a:t>
            </a:r>
          </a:p>
        </p:txBody>
      </p:sp>
      <p:sp>
        <p:nvSpPr>
          <p:cNvPr id="28" name="TextBox 27"/>
          <p:cNvSpPr txBox="1"/>
          <p:nvPr/>
        </p:nvSpPr>
        <p:spPr>
          <a:xfrm>
            <a:off x="450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Taille de l'entreprise, faute dans les spécialités, demande de certification de la page.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RECOMMANDATIONS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BLOK : cinq actions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17 / 19</a:t>
            </a:r>
          </a:p>
        </p:txBody>
      </p:sp>
      <p:sp>
        <p:nvSpPr>
          <p:cNvPr id="9" name="Rectangle 8"/>
          <p:cNvSpPr/>
          <p:nvPr/>
        </p:nvSpPr>
        <p:spPr>
          <a:xfrm>
            <a:off x="54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1. Mettre les clients en scène</a:t>
            </a:r>
          </a:p>
        </p:txBody>
      </p:sp>
      <p:sp>
        <p:nvSpPr>
          <p:cNvPr id="12" name="TextBox 11"/>
          <p:cNvSpPr txBox="1"/>
          <p:nvPr/>
        </p:nvSpPr>
        <p:spPr>
          <a:xfrm>
            <a:off x="72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 client par mois : un chef de chantier, sa commande, le délai gagné, en photo réelle.</a:t>
            </a:r>
          </a:p>
        </p:txBody>
      </p:sp>
      <p:sp>
        <p:nvSpPr>
          <p:cNvPr id="13" name="Rectangle 12"/>
          <p:cNvSpPr/>
          <p:nvPr/>
        </p:nvSpPr>
        <p:spPr>
          <a:xfrm>
            <a:off x="432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2. Montrer l'IA au lieu de l'expliquer</a:t>
            </a:r>
          </a:p>
        </p:txBody>
      </p:sp>
      <p:sp>
        <p:nvSpPr>
          <p:cNvPr id="16" name="TextBox 15"/>
          <p:cNvSpPr txBox="1"/>
          <p:nvPr/>
        </p:nvSpPr>
        <p:spPr>
          <a:xfrm>
            <a:off x="450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Une courte vidéo d'écran de Yann qui transforme une demande en devis : un format, une preuve.</a:t>
            </a:r>
          </a:p>
        </p:txBody>
      </p:sp>
      <p:sp>
        <p:nvSpPr>
          <p:cNvPr id="17" name="Rectangle 16"/>
          <p:cNvSpPr/>
          <p:nvPr/>
        </p:nvSpPr>
        <p:spPr>
          <a:xfrm>
            <a:off x="810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3. Relayer les fondateurs</a:t>
            </a:r>
          </a:p>
        </p:txBody>
      </p:sp>
      <p:sp>
        <p:nvSpPr>
          <p:cNvPr id="20" name="TextBox 19"/>
          <p:cNvSpPr txBox="1"/>
          <p:nvPr/>
        </p:nvSpPr>
        <p:spPr>
          <a:xfrm>
            <a:off x="828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Reprendre chaque publication de Yohann et Waly dans la journée, avec un mot de la page.</a:t>
            </a:r>
          </a:p>
        </p:txBody>
      </p:sp>
      <p:sp>
        <p:nvSpPr>
          <p:cNvPr id="21" name="Rectangle 20"/>
          <p:cNvSpPr/>
          <p:nvPr/>
        </p:nvSpPr>
        <p:spPr>
          <a:xfrm>
            <a:off x="54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4. Alléger l'écriture</a:t>
            </a:r>
          </a:p>
        </p:txBody>
      </p:sp>
      <p:sp>
        <p:nvSpPr>
          <p:cNvPr id="24" name="TextBox 23"/>
          <p:cNvSpPr txBox="1"/>
          <p:nvPr/>
        </p:nvSpPr>
        <p:spPr>
          <a:xfrm>
            <a:off x="72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Texte normal au lieu des lettres spéciales, 3 à 5 mots-dièse précis, une question et une réponse à chaque commentaire.</a:t>
            </a:r>
          </a:p>
        </p:txBody>
      </p:sp>
      <p:sp>
        <p:nvSpPr>
          <p:cNvPr id="25" name="Rectangle 24"/>
          <p:cNvSpPr/>
          <p:nvPr/>
        </p:nvSpPr>
        <p:spPr>
          <a:xfrm>
            <a:off x="432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2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5. Aligner la vitrine</a:t>
            </a:r>
          </a:p>
        </p:txBody>
      </p:sp>
      <p:sp>
        <p:nvSpPr>
          <p:cNvPr id="28" name="TextBox 27"/>
          <p:cNvSpPr txBox="1"/>
          <p:nvPr/>
        </p:nvSpPr>
        <p:spPr>
          <a:xfrm>
            <a:off x="450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Corriger « +10 00 », un seul nom (BLOK), une bannière bleu nuit qui dit « plateforme IA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PLAN D'ACTION</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Plan sur 30 jours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18 / 19</a:t>
            </a:r>
          </a:p>
        </p:txBody>
      </p:sp>
      <p:graphicFrame>
        <p:nvGraphicFramePr>
          <p:cNvPr id="9" name="Table 8"/>
          <p:cNvGraphicFramePr>
            <a:graphicFrameLocks noGrp="1"/>
          </p:cNvGraphicFramePr>
          <p:nvPr/>
        </p:nvGraphicFramePr>
        <p:xfrm>
          <a:off x="540000" y="1548000"/>
          <a:ext cx="11160000" cy="2592000"/>
        </p:xfrm>
        <a:graphic>
          <a:graphicData uri="http://schemas.openxmlformats.org/drawingml/2006/table">
            <a:tbl>
              <a:tblPr firstRow="1" bandRow="1">
                <a:tableStyleId>{5C22544A-7EE6-4342-B048-85BDC9FD1C3A}</a:tableStyleId>
              </a:tblPr>
              <a:tblGrid>
                <a:gridCol w="3240000"/>
                <a:gridCol w="3960000"/>
                <a:gridCol w="3960000"/>
              </a:tblGrid>
              <a:tr h="432000">
                <a:tc>
                  <a:txBody>
                    <a:bodyPr wrap="square"/>
                    <a:lstStyle/>
                    <a:p>
                      <a:r>
                        <a:rPr sz="1200" b="1">
                          <a:solidFill>
                            <a:srgbClr val="FFFFFF"/>
                          </a:solidFill>
                          <a:latin typeface="Work Sans"/>
                        </a:rPr>
                        <a:t/>
                      </a:r>
                    </a:p>
                  </a:txBody>
                  <a:tcPr marL="90000" marR="90000" marT="43200" marB="43200">
                    <a:solidFill>
                      <a:srgbClr val="232754"/>
                    </a:solidFill>
                  </a:tcPr>
                </a:tc>
                <a:tc>
                  <a:txBody>
                    <a:bodyPr wrap="square"/>
                    <a:lstStyle/>
                    <a:p>
                      <a:r>
                        <a:rPr sz="1200" b="1">
                          <a:solidFill>
                            <a:srgbClr val="FFFFFF"/>
                          </a:solidFill>
                          <a:latin typeface="Work Sans"/>
                        </a:rPr>
                        <a:t>Danaya</a:t>
                      </a:r>
                    </a:p>
                  </a:txBody>
                  <a:tcPr marL="90000" marR="90000" marT="43200" marB="43200">
                    <a:solidFill>
                      <a:srgbClr val="232754"/>
                    </a:solidFill>
                  </a:tcPr>
                </a:tc>
                <a:tc>
                  <a:txBody>
                    <a:bodyPr wrap="square"/>
                    <a:lstStyle/>
                    <a:p>
                      <a:r>
                        <a:rPr sz="1200" b="1">
                          <a:solidFill>
                            <a:srgbClr val="FFFFFF"/>
                          </a:solidFill>
                          <a:latin typeface="Work Sans"/>
                        </a:rPr>
                        <a:t>BLOK</a:t>
                      </a:r>
                    </a:p>
                  </a:txBody>
                  <a:tcPr marL="90000" marR="90000" marT="43200" marB="43200">
                    <a:solidFill>
                      <a:srgbClr val="232754"/>
                    </a:solidFill>
                  </a:tcPr>
                </a:tc>
              </a:tr>
              <a:tr h="432000">
                <a:tc>
                  <a:txBody>
                    <a:bodyPr wrap="square"/>
                    <a:lstStyle/>
                    <a:p>
                      <a:r>
                        <a:rPr sz="1200" b="1">
                          <a:solidFill>
                            <a:srgbClr val="232754"/>
                          </a:solidFill>
                          <a:latin typeface="Work Sans"/>
                        </a:rPr>
                        <a:t>Semaine 1</a:t>
                      </a:r>
                    </a:p>
                  </a:txBody>
                  <a:tcPr marL="90000" marR="90000" marT="43200" marB="43200">
                    <a:solidFill>
                      <a:srgbClr val="F7F8FA"/>
                    </a:solidFill>
                  </a:tcPr>
                </a:tc>
                <a:tc>
                  <a:txBody>
                    <a:bodyPr wrap="square"/>
                    <a:lstStyle/>
                    <a:p>
                      <a:r>
                        <a:rPr sz="1200" b="0">
                          <a:solidFill>
                            <a:srgbClr val="2B2A35"/>
                          </a:solidFill>
                          <a:latin typeface="Work Sans"/>
                        </a:rPr>
                        <a:t>Corriger la vitrine ; créer les 3 gabarits</a:t>
                      </a:r>
                    </a:p>
                  </a:txBody>
                  <a:tcPr marL="90000" marR="90000" marT="43200" marB="43200">
                    <a:solidFill>
                      <a:srgbClr val="F7F8FA"/>
                    </a:solidFill>
                  </a:tcPr>
                </a:tc>
                <a:tc>
                  <a:txBody>
                    <a:bodyPr wrap="square"/>
                    <a:lstStyle/>
                    <a:p>
                      <a:r>
                        <a:rPr sz="1200" b="0">
                          <a:solidFill>
                            <a:srgbClr val="2B2A35"/>
                          </a:solidFill>
                          <a:latin typeface="Work Sans"/>
                        </a:rPr>
                        <a:t>Corriger accroche, spécialités et bannière</a:t>
                      </a:r>
                    </a:p>
                  </a:txBody>
                  <a:tcPr marL="90000" marR="90000" marT="43200" marB="43200">
                    <a:solidFill>
                      <a:srgbClr val="F7F8FA"/>
                    </a:solidFill>
                  </a:tcPr>
                </a:tc>
              </a:tr>
              <a:tr h="432000">
                <a:tc>
                  <a:txBody>
                    <a:bodyPr wrap="square"/>
                    <a:lstStyle/>
                    <a:p>
                      <a:r>
                        <a:rPr sz="1200" b="1">
                          <a:solidFill>
                            <a:srgbClr val="232754"/>
                          </a:solidFill>
                          <a:latin typeface="Work Sans"/>
                        </a:rPr>
                        <a:t>Semaine 2</a:t>
                      </a:r>
                    </a:p>
                  </a:txBody>
                  <a:tcPr marL="90000" marR="90000" marT="43200" marB="43200">
                    <a:solidFill>
                      <a:srgbClr val="FFFFFF"/>
                    </a:solidFill>
                  </a:tcPr>
                </a:tc>
                <a:tc>
                  <a:txBody>
                    <a:bodyPr wrap="square"/>
                    <a:lstStyle/>
                    <a:p>
                      <a:r>
                        <a:rPr sz="1200" b="0">
                          <a:solidFill>
                            <a:srgbClr val="2B2A35"/>
                          </a:solidFill>
                          <a:latin typeface="Work Sans"/>
                        </a:rPr>
                        <a:t>Publier le cas Jèko ; reprendre le mardi</a:t>
                      </a:r>
                    </a:p>
                  </a:txBody>
                  <a:tcPr marL="90000" marR="90000" marT="43200" marB="43200">
                    <a:solidFill>
                      <a:srgbClr val="FFFFFF"/>
                    </a:solidFill>
                  </a:tcPr>
                </a:tc>
                <a:tc>
                  <a:txBody>
                    <a:bodyPr wrap="square"/>
                    <a:lstStyle/>
                    <a:p>
                      <a:r>
                        <a:rPr sz="1200" b="0">
                          <a:solidFill>
                            <a:srgbClr val="2B2A35"/>
                          </a:solidFill>
                          <a:latin typeface="Work Sans"/>
                        </a:rPr>
                        <a:t>Publier un premier cas client avec photos</a:t>
                      </a:r>
                    </a:p>
                  </a:txBody>
                  <a:tcPr marL="90000" marR="90000" marT="43200" marB="43200">
                    <a:solidFill>
                      <a:srgbClr val="FFFFFF"/>
                    </a:solidFill>
                  </a:tcPr>
                </a:tc>
              </a:tr>
              <a:tr h="432000">
                <a:tc>
                  <a:txBody>
                    <a:bodyPr wrap="square"/>
                    <a:lstStyle/>
                    <a:p>
                      <a:r>
                        <a:rPr sz="1200" b="1">
                          <a:solidFill>
                            <a:srgbClr val="232754"/>
                          </a:solidFill>
                          <a:latin typeface="Work Sans"/>
                        </a:rPr>
                        <a:t>Semaine 3</a:t>
                      </a:r>
                    </a:p>
                  </a:txBody>
                  <a:tcPr marL="90000" marR="90000" marT="43200" marB="43200">
                    <a:solidFill>
                      <a:srgbClr val="F7F8FA"/>
                    </a:solidFill>
                  </a:tcPr>
                </a:tc>
                <a:tc>
                  <a:txBody>
                    <a:bodyPr wrap="square"/>
                    <a:lstStyle/>
                    <a:p>
                      <a:r>
                        <a:rPr sz="1200" b="0">
                          <a:solidFill>
                            <a:srgbClr val="2B2A35"/>
                          </a:solidFill>
                          <a:latin typeface="Work Sans"/>
                        </a:rPr>
                        <a:t>Un portrait d'équipe ; une publication du dirigeant reprise</a:t>
                      </a:r>
                    </a:p>
                  </a:txBody>
                  <a:tcPr marL="90000" marR="90000" marT="43200" marB="43200">
                    <a:solidFill>
                      <a:srgbClr val="F7F8FA"/>
                    </a:solidFill>
                  </a:tcPr>
                </a:tc>
                <a:tc>
                  <a:txBody>
                    <a:bodyPr wrap="square"/>
                    <a:lstStyle/>
                    <a:p>
                      <a:r>
                        <a:rPr sz="1200" b="0">
                          <a:solidFill>
                            <a:srgbClr val="2B2A35"/>
                          </a:solidFill>
                          <a:latin typeface="Work Sans"/>
                        </a:rPr>
                        <a:t>Vidéo d'écran de Yann ; répondre à tous les commentaires</a:t>
                      </a:r>
                    </a:p>
                  </a:txBody>
                  <a:tcPr marL="90000" marR="90000" marT="43200" marB="43200">
                    <a:solidFill>
                      <a:srgbClr val="F7F8FA"/>
                    </a:solidFill>
                  </a:tcPr>
                </a:tc>
              </a:tr>
              <a:tr h="432000">
                <a:tc>
                  <a:txBody>
                    <a:bodyPr wrap="square"/>
                    <a:lstStyle/>
                    <a:p>
                      <a:r>
                        <a:rPr sz="1200" b="1">
                          <a:solidFill>
                            <a:srgbClr val="232754"/>
                          </a:solidFill>
                          <a:latin typeface="Work Sans"/>
                        </a:rPr>
                        <a:t>Semaine 4</a:t>
                      </a:r>
                    </a:p>
                  </a:txBody>
                  <a:tcPr marL="90000" marR="90000" marT="43200" marB="43200">
                    <a:solidFill>
                      <a:srgbClr val="FFFFFF"/>
                    </a:solidFill>
                  </a:tcPr>
                </a:tc>
                <a:tc>
                  <a:txBody>
                    <a:bodyPr wrap="square"/>
                    <a:lstStyle/>
                    <a:p>
                      <a:r>
                        <a:rPr sz="1200" b="0">
                          <a:solidFill>
                            <a:srgbClr val="2B2A35"/>
                          </a:solidFill>
                          <a:latin typeface="Work Sans"/>
                        </a:rPr>
                        <a:t>Bilan : rythme tenu, réactions médianes, commentaires</a:t>
                      </a:r>
                    </a:p>
                  </a:txBody>
                  <a:tcPr marL="90000" marR="90000" marT="43200" marB="43200">
                    <a:solidFill>
                      <a:srgbClr val="FFFFFF"/>
                    </a:solidFill>
                  </a:tcPr>
                </a:tc>
                <a:tc>
                  <a:txBody>
                    <a:bodyPr wrap="square"/>
                    <a:lstStyle/>
                    <a:p>
                      <a:r>
                        <a:rPr sz="1200" b="0">
                          <a:solidFill>
                            <a:srgbClr val="2B2A35"/>
                          </a:solidFill>
                          <a:latin typeface="Work Sans"/>
                        </a:rPr>
                        <a:t>Bilan : réactions médianes des publications IA et clients</a:t>
                      </a:r>
                    </a:p>
                  </a:txBody>
                  <a:tcPr marL="90000" marR="90000" marT="43200" marB="43200">
                    <a:solidFill>
                      <a:srgbClr val="FFFFFF"/>
                    </a:solidFill>
                  </a:tcPr>
                </a:tc>
              </a:tr>
              <a:tr h="432000">
                <a:tc>
                  <a:txBody>
                    <a:bodyPr wrap="square"/>
                    <a:lstStyle/>
                    <a:p>
                      <a:r>
                        <a:rPr sz="1200" b="1">
                          <a:solidFill>
                            <a:srgbClr val="232754"/>
                          </a:solidFill>
                          <a:latin typeface="Work Sans"/>
                        </a:rPr>
                        <a:t>Objectif à 30 jours</a:t>
                      </a:r>
                    </a:p>
                  </a:txBody>
                  <a:tcPr marL="90000" marR="90000" marT="43200" marB="43200">
                    <a:solidFill>
                      <a:srgbClr val="F7F8FA"/>
                    </a:solidFill>
                  </a:tcPr>
                </a:tc>
                <a:tc>
                  <a:txBody>
                    <a:bodyPr wrap="square"/>
                    <a:lstStyle/>
                    <a:p>
                      <a:r>
                        <a:rPr sz="1200" b="0">
                          <a:solidFill>
                            <a:srgbClr val="2B2A35"/>
                          </a:solidFill>
                          <a:latin typeface="Work Sans"/>
                        </a:rPr>
                        <a:t>8 publications, 15 réactions médianes</a:t>
                      </a:r>
                    </a:p>
                  </a:txBody>
                  <a:tcPr marL="90000" marR="90000" marT="43200" marB="43200">
                    <a:solidFill>
                      <a:srgbClr val="F7F8FA"/>
                    </a:solidFill>
                  </a:tcPr>
                </a:tc>
                <a:tc>
                  <a:txBody>
                    <a:bodyPr wrap="square"/>
                    <a:lstStyle/>
                    <a:p>
                      <a:r>
                        <a:rPr sz="1200" b="0">
                          <a:solidFill>
                            <a:srgbClr val="2B2A35"/>
                          </a:solidFill>
                          <a:latin typeface="Work Sans"/>
                        </a:rPr>
                        <a:t>Garder le rythme, 20 réactions médianes</a:t>
                      </a:r>
                    </a:p>
                  </a:txBody>
                  <a:tcPr marL="90000" marR="90000" marT="43200" marB="43200">
                    <a:solidFill>
                      <a:srgbClr val="F7F8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MÉTHODE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Méthode et limites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19 / 19</a:t>
            </a:r>
          </a:p>
        </p:txBody>
      </p:sp>
      <p:sp>
        <p:nvSpPr>
          <p:cNvPr id="9" name="Rectangle 8"/>
          <p:cNvSpPr/>
          <p:nvPr/>
        </p:nvSpPr>
        <p:spPr>
          <a:xfrm>
            <a:off x="540000" y="1674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000" y="1584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Ce qui a été relevé</a:t>
            </a:r>
          </a:p>
        </p:txBody>
      </p:sp>
      <p:sp>
        <p:nvSpPr>
          <p:cNvPr id="11" name="TextBox 10"/>
          <p:cNvSpPr txBox="1"/>
          <p:nvPr/>
        </p:nvSpPr>
        <p:spPr>
          <a:xfrm>
            <a:off x="792000" y="1890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Les fiches publiques des deux pages (accroche, présentation, bannière, logo, abonnés, salariés) et leurs dernières publications : 23 pour Danaya, d'octobre 2025 à octobre 2026, et 40 pour BLOK, de juillet à octobre 2026, avec j'aime, commentaires, partages, format et images.</a:t>
            </a:r>
          </a:p>
        </p:txBody>
      </p:sp>
      <p:sp>
        <p:nvSpPr>
          <p:cNvPr id="12" name="Rectangle 11"/>
          <p:cNvSpPr/>
          <p:nvPr/>
        </p:nvSpPr>
        <p:spPr>
          <a:xfrm>
            <a:off x="540000" y="2610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000" y="2520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Comment c'est calculé</a:t>
            </a:r>
          </a:p>
        </p:txBody>
      </p:sp>
      <p:sp>
        <p:nvSpPr>
          <p:cNvPr id="14" name="TextBox 13"/>
          <p:cNvSpPr txBox="1"/>
          <p:nvPr/>
        </p:nvSpPr>
        <p:spPr>
          <a:xfrm>
            <a:off x="792000" y="2826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Médianes plutôt que moyennes, pour qu'une publication exceptionnelle ne fausse pas le résultat. Les partages d'autres comptes (Mstudio, organisateurs, fondateurs) sont mis à part.</a:t>
            </a:r>
          </a:p>
        </p:txBody>
      </p:sp>
      <p:sp>
        <p:nvSpPr>
          <p:cNvPr id="15" name="Rectangle 14"/>
          <p:cNvSpPr/>
          <p:nvPr/>
        </p:nvSpPr>
        <p:spPr>
          <a:xfrm>
            <a:off x="540000" y="3546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000" y="3456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Ce qui n'est pas visible</a:t>
            </a:r>
          </a:p>
        </p:txBody>
      </p:sp>
      <p:sp>
        <p:nvSpPr>
          <p:cNvPr id="17" name="TextBox 16"/>
          <p:cNvSpPr txBox="1"/>
          <p:nvPr/>
        </p:nvSpPr>
        <p:spPr>
          <a:xfrm>
            <a:off x="792000" y="3762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Vues, portée, clics vers le site, abonnés gagnés et visiteurs de la page : il faut un accès administrateur à chaque page pour les lire.</a:t>
            </a:r>
          </a:p>
        </p:txBody>
      </p:sp>
      <p:sp>
        <p:nvSpPr>
          <p:cNvPr id="18" name="Rectangle 17"/>
          <p:cNvSpPr/>
          <p:nvPr/>
        </p:nvSpPr>
        <p:spPr>
          <a:xfrm>
            <a:off x="540000" y="4482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000" y="4392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Les notes</a:t>
            </a:r>
          </a:p>
        </p:txBody>
      </p:sp>
      <p:sp>
        <p:nvSpPr>
          <p:cNvPr id="20" name="TextBox 19"/>
          <p:cNvSpPr txBox="1"/>
          <p:nvPr/>
        </p:nvSpPr>
        <p:spPr>
          <a:xfrm>
            <a:off x="792000" y="4698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Ce sont des estimations fondées sur les pages publiques, à revoir avec les statistiques internes.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