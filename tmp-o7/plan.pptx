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8000"/>
            <a:ext cx="6100000" cy="14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5E4E"/>
                </a:solidFill>
                <a:latin typeface="Montserrat"/>
              </a:rPr>
              <a:t>ORIGIN7  |  BOISSONS LAGUNE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500000"/>
            <a:ext cx="53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E5E4E"/>
                </a:solidFill>
                <a:latin typeface="Montserrat"/>
              </a:rPr>
              <a:t>Plan de communication du lancement de « Gingembre Pétillant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6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La première boisson au gingembre pétillante, fabriquée à Abidjan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600000"/>
            <a:ext cx="53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Soirée de lancement : jeudi 10 décembre 2026, 18 h 30 à 21 h 30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Terrasse sur la lagune, Cocody, Abidjan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Version du 19 octobre 2026, à valider par le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L'essentiel 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650000"/>
            <a:ext cx="2600000" cy="11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Une soirée de lancement sur la lagune pour présenter Gingembre Pétillant : présentation, dégustation, rencontre avec les distributeurs, prises de parole.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000" y="1650000"/>
            <a:ext cx="2600000" cy="11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Montserrat"/>
              </a:rPr>
              <a:t>Pour 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180 invités : 30 journalistes, 50 distributeurs et gérants de points de vente, 25 créateurs de contenu, 75 partenaires et prescripteurs.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0" y="1650000"/>
            <a:ext cx="2600000" cy="11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B3123A"/>
                </a:solidFill>
                <a:latin typeface="Montserrat"/>
              </a:rPr>
              <a:t>Pourquoi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Faire connaître la boisson avant les fêtes, obtenir les premières commandes de la distribution et donner envie de goûter.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0" y="1650000"/>
            <a:ext cx="2600000" cy="11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20 000 000 F CFA de communication, hors lieu, traiteur et technique de la soirée, sur 9 semaines.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Quatre objectifs, chacun mesuré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3</a:t>
            </a:r>
          </a:p>
        </p:txBody>
      </p:sp>
      <p:pic>
        <p:nvPicPr>
          <p:cNvPr id="6" name="Picture 5" descr="_c_press.png_39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000" y="1500000"/>
            <a:ext cx="3900000" cy="4400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00000" y="1600000"/>
            <a:ext cx="420000" cy="42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6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15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Être repris par la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19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20 retombées (articles, sujets radio et télé) entre le 10 et le 24 décembre</a:t>
            </a:r>
          </a:p>
        </p:txBody>
      </p:sp>
      <p:sp>
        <p:nvSpPr>
          <p:cNvPr id="11" name="Oval 10"/>
          <p:cNvSpPr/>
          <p:nvPr/>
        </p:nvSpPr>
        <p:spPr>
          <a:xfrm>
            <a:off x="600000" y="2700000"/>
            <a:ext cx="420000" cy="4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27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6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Remplir la salle avec les bons invités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30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70 % de présents parmi les invités confirmés</a:t>
            </a:r>
          </a:p>
        </p:txBody>
      </p:sp>
      <p:sp>
        <p:nvSpPr>
          <p:cNvPr id="15" name="Oval 14"/>
          <p:cNvSpPr/>
          <p:nvPr/>
        </p:nvSpPr>
        <p:spPr>
          <a:xfrm>
            <a:off x="600000" y="3800000"/>
            <a:ext cx="420000" cy="42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" y="38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37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Signer la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41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30 points de vente ou distributeurs qui passent commande avant le 31 décembre</a:t>
            </a:r>
          </a:p>
        </p:txBody>
      </p:sp>
      <p:sp>
        <p:nvSpPr>
          <p:cNvPr id="19" name="Oval 18"/>
          <p:cNvSpPr/>
          <p:nvPr/>
        </p:nvSpPr>
        <p:spPr>
          <a:xfrm>
            <a:off x="600000" y="4900000"/>
            <a:ext cx="420000" cy="42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49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48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Faire parler en ligne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000" y="52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1 000 000 de vues cumulées sur Facebook, Instagram et TikTok avec le mot-dièse #GingembrePétillant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MESSAGES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Ce qu'on veut que tout le monde retienne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4</a:t>
            </a:r>
          </a:p>
        </p:txBody>
      </p:sp>
      <p:pic>
        <p:nvPicPr>
          <p:cNvPr id="6" name="Picture 5" descr="_c_tasting.png_46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6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00000" y="1500000"/>
            <a:ext cx="6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Le goût d'ici, en version pétillante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Le gingembre que tout le monde connaît, en bouteille fraîche et pétillante, prêt à boire.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Fabriqué à Abidjan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Produit dans une usine ivoirienne, avec du gingembre acheté à des coopératives locales.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La boisson des fêtes 2026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Pensée pour se partager : en famille, au maquis, au bureau.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Disponible dès le 11 décembre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En supermarchés, stations-service et chez les distributeurs partenaires.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CIBLES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publics et ce qu'on leur 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4200000"/>
                <a:gridCol w="3800000"/>
              </a:tblGrid>
              <a:tr h="700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Public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Ce qui l'intéresse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Ce qu'on lui donne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Presse et médias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Une nouveauté ivoirienne, une entreprise qui fabrique ici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Communiqué, dossier de presse, interviews, photos HD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Distributeurs et points de vente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 produit qui va tourner pendant les fêtes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Conditions de lancement, PLV, commande sur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Créateurs de contenu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Une soirée à filmer, un goût à faire découvrir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Accès à l'espace dégustation, kit de produits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Partenaires et prescripteurs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 projet local qui crée de la valeur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Prise de parole, visite des stands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Grand public (relais)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La boisson des fêtes, disponible demain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Vidéos, jeu concours, points de vente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DÉROULÉ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plan en trois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6</a:t>
            </a:r>
          </a:p>
        </p:txBody>
      </p:sp>
      <p:pic>
        <p:nvPicPr>
          <p:cNvPr id="6" name="Picture 5" descr="_c_team.png_3500000_17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3500000" cy="17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9 novembre au 9 décembre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Liste des invités, invitations le 16 novembre, relance le 1er décembre. Teasing sur les réseaux à partir du 30 novembre : « Quelque chose pique à Abidjan… »</a:t>
            </a:r>
          </a:p>
        </p:txBody>
      </p:sp>
      <p:pic>
        <p:nvPicPr>
          <p:cNvPr id="11" name="Picture 10" descr="_c_launch.png_3500000_17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500000"/>
            <a:ext cx="3500000" cy="170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Montserrat"/>
              </a:rPr>
              <a:t>PENDANT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jeudi 10 décembre, 18 h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Accueil, présentation, révélation de la bouteille, dégustation, espace distributeurs, interviews. Communiqué diffusé à 19 h 30, stories en direct.</a:t>
            </a:r>
          </a:p>
        </p:txBody>
      </p:sp>
      <p:pic>
        <p:nvPicPr>
          <p:cNvPr id="16" name="Picture 15" descr="_c_social.png_3500000_17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500000"/>
            <a:ext cx="3500000" cy="170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B3123A"/>
                </a:solidFill>
                <a:latin typeface="Montserrat"/>
              </a:rPr>
              <a:t>APRÈS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11 au 31 décembre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Envoi des photos à la presse, vidéo récap, publicité sur les réseaux, jeu concours, suivi des commandes, bilan le 8 janvier.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DATES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rétroplanning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500000"/>
            <a:ext cx="11000000" cy="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9 nov.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Plan, lieu et budget validés par le client</a:t>
            </a:r>
          </a:p>
        </p:txBody>
      </p:sp>
      <p:sp>
        <p:nvSpPr>
          <p:cNvPr id="10" name="Oval 9"/>
          <p:cNvSpPr/>
          <p:nvPr/>
        </p:nvSpPr>
        <p:spPr>
          <a:xfrm>
            <a:off x="23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16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Invitations envoyées</a:t>
            </a:r>
          </a:p>
        </p:txBody>
      </p:sp>
      <p:sp>
        <p:nvSpPr>
          <p:cNvPr id="13" name="Oval 12"/>
          <p:cNvSpPr/>
          <p:nvPr/>
        </p:nvSpPr>
        <p:spPr>
          <a:xfrm>
            <a:off x="356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27 nov.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Dossier de presse et PLV validés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30 nov.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Début du teasing sur les réseaux</a:t>
            </a:r>
          </a:p>
        </p:txBody>
      </p:sp>
      <p:sp>
        <p:nvSpPr>
          <p:cNvPr id="19" name="Oval 18"/>
          <p:cNvSpPr/>
          <p:nvPr/>
        </p:nvSpPr>
        <p:spPr>
          <a:xfrm>
            <a:off x="604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mar. 1er déc.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Relance des invités</a:t>
            </a:r>
          </a:p>
        </p:txBody>
      </p:sp>
      <p:sp>
        <p:nvSpPr>
          <p:cNvPr id="22" name="Oval 21"/>
          <p:cNvSpPr/>
          <p:nvPr/>
        </p:nvSpPr>
        <p:spPr>
          <a:xfrm>
            <a:off x="72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7 déc.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Liste des présents arrêtée</a:t>
            </a:r>
          </a:p>
        </p:txBody>
      </p:sp>
      <p:sp>
        <p:nvSpPr>
          <p:cNvPr id="25" name="Oval 24"/>
          <p:cNvSpPr/>
          <p:nvPr/>
        </p:nvSpPr>
        <p:spPr>
          <a:xfrm>
            <a:off x="85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mer. 9 déc.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Répétition générale sur le lieu</a:t>
            </a:r>
          </a:p>
        </p:txBody>
      </p:sp>
      <p:sp>
        <p:nvSpPr>
          <p:cNvPr id="28" name="Oval 27"/>
          <p:cNvSpPr/>
          <p:nvPr/>
        </p:nvSpPr>
        <p:spPr>
          <a:xfrm>
            <a:off x="9760000" y="3420000"/>
            <a:ext cx="210000" cy="21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jeu. 10 déc.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Soirée de lancement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110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8 janv.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Bilan et revue de presse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JEUDI 10 DÉCEMBRE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programme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8</a:t>
            </a:r>
          </a:p>
        </p:txBody>
      </p:sp>
      <p:pic>
        <p:nvPicPr>
          <p:cNvPr id="6" name="Picture 5" descr="_c_tasting.png_46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500000"/>
            <a:ext cx="46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50000"/>
            <a:ext cx="62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18 h 30, accueil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Cocktail sans alcool au gingembre, photocall, remise des kits presse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15, ouverture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Mot de bienvenue du directeur général de Boissons Lagune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30, révélation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Film de lancement, présentation de la bouteille, communiqué diffusé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50, dégustation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Bar à gingembre et accords avec des bouchées locales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espace distributeurs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Conditions de lancement, commandes sur place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interviews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Créneaux de 10 minutes pour la presse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21 h 30,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canaux et les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9</a:t>
            </a:r>
          </a:p>
        </p:txBody>
      </p:sp>
      <p:pic>
        <p:nvPicPr>
          <p:cNvPr id="6" name="Picture 5" descr="_c_social.png_42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200000" cy="44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00000" y="150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0000" y="150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Presse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000" y="192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Invitation, communiqué, dossier de presse, photos HD, relances téléphoniques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0000" y="2620000"/>
            <a:ext cx="120000" cy="95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0000" y="262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28C28"/>
                </a:solidFill>
                <a:latin typeface="Montserrat"/>
              </a:rPr>
              <a:t>Réseaux sociaux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000" y="304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Teasing du 30 novembre au 9 décembre, direct le 10, vidéo récap le 11, publicité du 11 au 31 décembre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0000" y="3740000"/>
            <a:ext cx="120000" cy="95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0000" y="374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B3123A"/>
                </a:solidFill>
                <a:latin typeface="Montserrat"/>
              </a:rPr>
              <a:t>Créateurs de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0000" y="416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25 invités, dont 5 sous contrat pour une vidéo chacun, mention « partenariat » obligatoire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0000" y="486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0000" y="486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000" y="52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Invitation personnalisée, fiche produit, conditions de lancement, PLV livrée avant le 15 décembre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budget de communication : 20 000 000 F 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7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1900000"/>
                <a:gridCol w="1100000"/>
              </a:tblGrid>
              <a:tr h="525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Poste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Montant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Part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Publicité sur les réseaux (Meta, TikTok)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6 000 000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30 %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Créateurs de contenu (5 contrats)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3 500 000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Film de lancement et photos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15 %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Relations presse (dossier, kits, relances)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PLV et matériel de la distribution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2 500 000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12 %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Jeu concours (lots et règlement)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Réserve (10 %)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0000" y="1550000"/>
            <a:ext cx="3100000" cy="4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0000" y="1700000"/>
            <a:ext cx="275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Hors budget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Le lieu, le traiteur, la sonorisation, la lumière et la décoration de la soirée relèvent du budget événementiel, chiffré séparément.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Réserve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Débloquée le 15 décembre sur le canal qui apporte le plus de commandes ou de vues.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Qui fait quoi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73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4200000"/>
              </a:tblGrid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générale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Valide le plan, prend la parole, accorde les interviews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Invite les distributeurs, fixe les conditions de lancement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cheffe de projet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Pilote le plan, le budget et le rétroplanning, point hebdomadaire avec le client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relations presse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des médias, invitations, relances, accueil presse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digital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Teasing, direct, publicité, créateurs de contenu, bilan des réseaux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Film, photos, PLV, décor et photocall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_retail.png_3400000_4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1550000"/>
            <a:ext cx="34000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PRÉVENTION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risques, et ce qu'on prévoit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12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61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000" y="155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Agendas pris par les fêtes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155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Date fixée au 10 décembre, avant les départs ; invitations un mois avant ; relance personnelle le 1er décembre.</a:t>
            </a:r>
          </a:p>
        </p:txBody>
      </p:sp>
      <p:sp>
        <p:nvSpPr>
          <p:cNvPr id="9" name="Oval 8"/>
          <p:cNvSpPr/>
          <p:nvPr/>
        </p:nvSpPr>
        <p:spPr>
          <a:xfrm>
            <a:off x="600000" y="247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241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Pluie ou vent sur la terrasse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241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Tente réservée en option, ou repli dans une salle couverte du même lieu.</a:t>
            </a:r>
          </a:p>
        </p:txBody>
      </p:sp>
      <p:sp>
        <p:nvSpPr>
          <p:cNvPr id="12" name="Oval 11"/>
          <p:cNvSpPr/>
          <p:nvPr/>
        </p:nvSpPr>
        <p:spPr>
          <a:xfrm>
            <a:off x="600000" y="333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00" y="327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Rupture de stock après le lancement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0000" y="327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Stock confirmé par l'usine avant le 1er décembre ; publicité arrêtée si un point de vente manque de produit.</a:t>
            </a:r>
          </a:p>
        </p:txBody>
      </p:sp>
      <p:sp>
        <p:nvSpPr>
          <p:cNvPr id="15" name="Oval 14"/>
          <p:cNvSpPr/>
          <p:nvPr/>
        </p:nvSpPr>
        <p:spPr>
          <a:xfrm>
            <a:off x="600000" y="419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00" y="413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Allégation santé sur le gingembre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0000" y="413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promesse santé dans les textes ni chez les créateurs : on parle du goût et de la fraîcheur.</a:t>
            </a:r>
          </a:p>
        </p:txBody>
      </p:sp>
      <p:sp>
        <p:nvSpPr>
          <p:cNvPr id="18" name="Oval 17"/>
          <p:cNvSpPr/>
          <p:nvPr/>
        </p:nvSpPr>
        <p:spPr>
          <a:xfrm>
            <a:off x="600000" y="505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00" y="499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Retard technique pendant la révélation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000" y="499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Répétition le 9 décembre, film sur deux supports, maître de cérémonie prévenu.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AVANT LE 9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décisions à prendre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6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1. Valider la date du jeudi 10 décembre et le lieu.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2. Valider le budget de 20 000 000 F CFA et sa répartition.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3. Désigner le porte-parole de Boissons Lagune.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4. Fixer les conditions de lancement pour les distributeurs.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5. Confirmer le stock disponible au 11 décembre.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1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Rien n'est envoyé, réservé ni payé sans accord écrit du client.</a:t>
            </a:r>
          </a:p>
        </p:txBody>
      </p:sp>
      <p:pic>
        <p:nvPicPr>
          <p:cNvPr id="8" name="Picture 7" descr="_c_team.png_3700000_3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600000"/>
            <a:ext cx="3700000" cy="3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