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4E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c_launch.png_6092000_6858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0000" y="0"/>
            <a:ext cx="60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18000"/>
            <a:ext cx="6100000" cy="1400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0000" y="700000"/>
            <a:ext cx="5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E5E4E"/>
                </a:solidFill>
                <a:latin typeface="Montserrat"/>
              </a:rPr>
              <a:t>ORIGIN7  |  BOISSONS LAGUNE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400000"/>
            <a:ext cx="53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3200" b="1">
                <a:solidFill>
                  <a:srgbClr val="0E5E4E"/>
                </a:solidFill>
                <a:latin typeface="Montserrat"/>
              </a:rPr>
              <a:t>Plan de communication du lancement de « Gingembre Pétillant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3500000"/>
            <a:ext cx="53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1">
                <a:solidFill>
                  <a:srgbClr val="22302C"/>
                </a:solidFill>
                <a:latin typeface="Montserrat"/>
              </a:rPr>
              <a:t>La première boisson au gingembre pétillante, fabriquée à Abidjan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4500000"/>
            <a:ext cx="53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6B7570"/>
                </a:solidFill>
                <a:latin typeface="Montserrat"/>
              </a:rPr>
              <a:t>Soirée de lancement : jeudi 10 décembre 2026, 18 h 30 à 21 h 30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6B7570"/>
                </a:solidFill>
                <a:latin typeface="Montserrat"/>
              </a:rPr>
              <a:t>Terrasse sur la lagune, Cocody, Abidjan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6B7570"/>
                </a:solidFill>
                <a:latin typeface="Montserrat"/>
              </a:rPr>
              <a:t>Campagne du 9 novembre 2026 au 8 janvier 2027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6B7570"/>
                </a:solidFill>
                <a:latin typeface="Montserrat"/>
              </a:rPr>
              <a:t>Version 3 du 19 octobre 2026, à valider par le client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PLAN DE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22302C"/>
                </a:solidFill>
                <a:latin typeface="Montserrat"/>
              </a:rPr>
              <a:t>Sommaire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 de Gingembre Pétillant  |  2</a:t>
            </a:r>
          </a:p>
        </p:txBody>
      </p:sp>
      <p:sp>
        <p:nvSpPr>
          <p:cNvPr id="6" name="Oval 5"/>
          <p:cNvSpPr/>
          <p:nvPr/>
        </p:nvSpPr>
        <p:spPr>
          <a:xfrm>
            <a:off x="600000" y="1450000"/>
            <a:ext cx="900000" cy="900000"/>
          </a:xfrm>
          <a:prstGeom prst="ellipse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000" y="1650000"/>
            <a:ext cx="9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50000" y="1500000"/>
            <a:ext cx="6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2302C"/>
                </a:solidFill>
                <a:latin typeface="Montserrat"/>
              </a:rPr>
              <a:t>Le contexte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0000" y="195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6B7570"/>
                </a:solidFill>
                <a:latin typeface="Montserrat"/>
              </a:rPr>
              <a:t>Le produit, la situation de départ, l'enjeu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0000" y="1600000"/>
            <a:ext cx="15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0E5E4E"/>
                </a:solidFill>
                <a:latin typeface="Montserrat"/>
              </a:rPr>
              <a:t>p. 4 à 7</a:t>
            </a:r>
          </a:p>
        </p:txBody>
      </p:sp>
      <p:sp>
        <p:nvSpPr>
          <p:cNvPr id="11" name="Oval 10"/>
          <p:cNvSpPr/>
          <p:nvPr/>
        </p:nvSpPr>
        <p:spPr>
          <a:xfrm>
            <a:off x="600000" y="2530000"/>
            <a:ext cx="900000" cy="9000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0000" y="2730000"/>
            <a:ext cx="9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50000" y="2580000"/>
            <a:ext cx="6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2302C"/>
                </a:solidFill>
                <a:latin typeface="Montserrat"/>
              </a:rPr>
              <a:t>La stratégie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50000" y="303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6B7570"/>
                </a:solidFill>
                <a:latin typeface="Montserrat"/>
              </a:rPr>
              <a:t>Objectifs, cibles, positionnement, messages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0000" y="2680000"/>
            <a:ext cx="15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F28C28"/>
                </a:solidFill>
                <a:latin typeface="Montserrat"/>
              </a:rPr>
              <a:t>p. 8 à 12</a:t>
            </a:r>
          </a:p>
        </p:txBody>
      </p:sp>
      <p:sp>
        <p:nvSpPr>
          <p:cNvPr id="16" name="Oval 15"/>
          <p:cNvSpPr/>
          <p:nvPr/>
        </p:nvSpPr>
        <p:spPr>
          <a:xfrm>
            <a:off x="600000" y="3610000"/>
            <a:ext cx="900000" cy="900000"/>
          </a:xfrm>
          <a:prstGeom prst="ellipse">
            <a:avLst/>
          </a:prstGeom>
          <a:solidFill>
            <a:srgbClr val="B3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0000" y="3810000"/>
            <a:ext cx="9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50000" y="3660000"/>
            <a:ext cx="6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2302C"/>
                </a:solidFill>
                <a:latin typeface="Montserrat"/>
              </a:rPr>
              <a:t>Le dispositif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50000" y="411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6B7570"/>
                </a:solidFill>
                <a:latin typeface="Montserrat"/>
              </a:rPr>
              <a:t>Presse, réseaux, créateurs, distribution, soirée, rétroplanning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0000" y="3760000"/>
            <a:ext cx="15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B3123A"/>
                </a:solidFill>
                <a:latin typeface="Montserrat"/>
              </a:rPr>
              <a:t>p. 13 à 21</a:t>
            </a:r>
          </a:p>
        </p:txBody>
      </p:sp>
      <p:sp>
        <p:nvSpPr>
          <p:cNvPr id="21" name="Oval 20"/>
          <p:cNvSpPr/>
          <p:nvPr/>
        </p:nvSpPr>
        <p:spPr>
          <a:xfrm>
            <a:off x="600000" y="4690000"/>
            <a:ext cx="900000" cy="900000"/>
          </a:xfrm>
          <a:prstGeom prst="ellipse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0000" y="4890000"/>
            <a:ext cx="9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50000" y="4740000"/>
            <a:ext cx="6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2302C"/>
                </a:solidFill>
                <a:latin typeface="Montserrat"/>
              </a:rPr>
              <a:t>Le pilotage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50000" y="519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6B7570"/>
                </a:solidFill>
                <a:latin typeface="Montserrat"/>
              </a:rPr>
              <a:t>Budget, tableau de bord, rôles, risques, suite, décisions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0000" y="4840000"/>
            <a:ext cx="15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0E5E4E"/>
                </a:solidFill>
                <a:latin typeface="Montserrat"/>
              </a:rPr>
              <a:t>p. 22 à 28</a:t>
            </a:r>
          </a:p>
        </p:txBody>
      </p:sp>
      <p:pic>
        <p:nvPicPr>
          <p:cNvPr id="26" name="Picture 25" descr="_c_launch.png_2200000_4300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00" y="1450000"/>
            <a:ext cx="2200000" cy="4300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750000" y="5800000"/>
            <a:ext cx="7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6B7570"/>
                </a:solidFill>
                <a:latin typeface="Montserrat"/>
              </a:rPr>
              <a:t>Synthèse en page 3.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SYNTHÈSE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22302C"/>
                </a:solidFill>
                <a:latin typeface="Montserrat"/>
              </a:rPr>
              <a:t>L'essentiel en une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 de Gingembre Pétillant  | 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0000" y="1500000"/>
            <a:ext cx="2600000" cy="3200000"/>
          </a:xfrm>
          <a:prstGeom prst="roundRect">
            <a:avLst/>
          </a:prstGeom>
          <a:solidFill>
            <a:srgbClr val="FB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0000" y="1500000"/>
            <a:ext cx="2600000" cy="10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0000" y="1700000"/>
            <a:ext cx="226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>
                <a:solidFill>
                  <a:srgbClr val="0E5E4E"/>
                </a:solidFill>
                <a:latin typeface="Montserrat"/>
              </a:rPr>
              <a:t>Quoi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000" y="2250000"/>
            <a:ext cx="2260000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Une soirée de lancement sur la lagune, suivie de trois semaines de campagne pour installer Gingembre Pétillant pendant les fêtes.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0000" y="1500000"/>
            <a:ext cx="2600000" cy="3200000"/>
          </a:xfrm>
          <a:prstGeom prst="roundRect">
            <a:avLst/>
          </a:prstGeom>
          <a:solidFill>
            <a:srgbClr val="FB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0000" y="1500000"/>
            <a:ext cx="2600000" cy="1000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0000" y="1700000"/>
            <a:ext cx="226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>
                <a:solidFill>
                  <a:srgbClr val="F28C28"/>
                </a:solidFill>
                <a:latin typeface="Montserrat"/>
              </a:rPr>
              <a:t>Pour qui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0000" y="2250000"/>
            <a:ext cx="2260000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180 invités : 30 journalistes, 50 distributeurs et gérants de points de vente, 25 créateurs de contenu, 75 partenaires et prescripteurs.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0000" y="1500000"/>
            <a:ext cx="2600000" cy="3200000"/>
          </a:xfrm>
          <a:prstGeom prst="roundRect">
            <a:avLst/>
          </a:prstGeom>
          <a:solidFill>
            <a:srgbClr val="FB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0000" y="1500000"/>
            <a:ext cx="2600000" cy="100000"/>
          </a:xfrm>
          <a:prstGeom prst="rect">
            <a:avLst/>
          </a:prstGeom>
          <a:solidFill>
            <a:srgbClr val="B3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0000" y="1700000"/>
            <a:ext cx="226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>
                <a:solidFill>
                  <a:srgbClr val="B3123A"/>
                </a:solidFill>
                <a:latin typeface="Montserrat"/>
              </a:rPr>
              <a:t>Pourquoi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000" y="2250000"/>
            <a:ext cx="2260000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Faire connaître la boisson avant les fêtes, obtenir les premières commandes de la distribution et faire goûter le grand public.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0000" y="1500000"/>
            <a:ext cx="2600000" cy="3200000"/>
          </a:xfrm>
          <a:prstGeom prst="roundRect">
            <a:avLst/>
          </a:prstGeom>
          <a:solidFill>
            <a:srgbClr val="FB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00000" y="1500000"/>
            <a:ext cx="2600000" cy="10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70000" y="1700000"/>
            <a:ext cx="226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>
                <a:solidFill>
                  <a:srgbClr val="0E5E4E"/>
                </a:solidFill>
                <a:latin typeface="Montserrat"/>
              </a:rPr>
              <a:t>Combien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0000" y="2250000"/>
            <a:ext cx="2260000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20 000 000 F CFA de communication sur 9 semaines, hors lieu, traiteur et technique de la soirée. Réserve de 10 %.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0000" y="4900000"/>
            <a:ext cx="11000000" cy="900000"/>
          </a:xfrm>
          <a:prstGeom prst="round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000" y="5000000"/>
            <a:ext cx="1060000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Montserrat"/>
              </a:rPr>
              <a:t>L'idée : « Ça pique, c'est d'ici. »</a:t>
            </a:r>
            <a:r>
              <a:rPr sz="1400" b="0">
                <a:solidFill>
                  <a:srgbClr val="FFFFFF"/>
                </a:solidFill>
                <a:latin typeface="Montserrat"/>
              </a:rPr>
              <a:t> Le goût du gingembre que tout le monde connaît, en version fraîche et pétillante, révélé en une soirée puis partagé pendant les fêtes.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5E4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c_team.png_5492000_6858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000" y="0"/>
            <a:ext cx="54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0000" y="2000000"/>
            <a:ext cx="5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F28C28"/>
                </a:solidFill>
                <a:latin typeface="Montserrat"/>
              </a:rPr>
              <a:t>PARTIE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2600000"/>
            <a:ext cx="58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3600" b="1">
                <a:solidFill>
                  <a:srgbClr val="FFFFFF"/>
                </a:solidFill>
                <a:latin typeface="Montserrat"/>
              </a:rPr>
              <a:t>Le contexte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3900000"/>
            <a:ext cx="58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0">
                <a:solidFill>
                  <a:srgbClr val="FFFFFF"/>
                </a:solidFill>
                <a:latin typeface="Montserrat"/>
              </a:rPr>
              <a:t>Le produit, la situation de départ et ce qui se joue en décembre.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PARTIE 1 | LE 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22302C"/>
                </a:solidFill>
                <a:latin typeface="Montserrat"/>
              </a:rPr>
              <a:t>Le produit en bref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 de Gingembre Pétillant  |  5</a:t>
            </a:r>
          </a:p>
        </p:txBody>
      </p:sp>
      <p:pic>
        <p:nvPicPr>
          <p:cNvPr id="6" name="Picture 5" descr="_c_tasting.png_4300000_4500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0000" y="1450000"/>
            <a:ext cx="4300000" cy="45000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0000" y="1450000"/>
          <a:ext cx="6400000" cy="2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000"/>
                <a:gridCol w="4700000"/>
              </a:tblGrid>
              <a:tr h="30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Élément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Ce qu'il faut savoir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Produit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Boisson gazeuse au gingembre, sans alcool, peu sucrée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Formats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Bouteille verre 33 cl et bouteille plastique 50 cl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Prix public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400 F (33 cl) et 500 F (50 cl)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Fabrication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Usine de Boissons Lagune à Abidjan, gingembre acheté à des coopératives locales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Distribution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Supermarchés, stations-service, maquis et boutiques via les distributeurs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Disponibilité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En rayon à partir du vendredi 11 décembre 2026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PARTIE 1 | LE 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22302C"/>
                </a:solidFill>
                <a:latin typeface="Montserrat"/>
              </a:rPr>
              <a:t>La situation de départ, et ce qui se joue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 de Gingembre Pétillant  | 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0000" y="1450000"/>
            <a:ext cx="5400000" cy="2100000"/>
          </a:xfrm>
          <a:prstGeom prst="roundRect">
            <a:avLst/>
          </a:prstGeom>
          <a:solidFill>
            <a:srgbClr val="FB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0000" y="1450000"/>
            <a:ext cx="120000" cy="210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1570000"/>
            <a:ext cx="49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1">
                <a:solidFill>
                  <a:srgbClr val="0E5E4E"/>
                </a:solidFill>
                <a:latin typeface="Montserrat"/>
              </a:rPr>
              <a:t>Forces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2050000"/>
            <a:ext cx="4900000" cy="1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Un goût déjà familier (le gingembre maison)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Fabriqué localement, prix accessible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Deux formats : à emporter et à partager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0000" y="1450000"/>
            <a:ext cx="5400000" cy="2100000"/>
          </a:xfrm>
          <a:prstGeom prst="roundRect">
            <a:avLst/>
          </a:prstGeom>
          <a:solidFill>
            <a:srgbClr val="FB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0000" y="1450000"/>
            <a:ext cx="120000" cy="2100000"/>
          </a:xfrm>
          <a:prstGeom prst="rect">
            <a:avLst/>
          </a:prstGeom>
          <a:solidFill>
            <a:srgbClr val="B3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0000" y="1570000"/>
            <a:ext cx="49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1">
                <a:solidFill>
                  <a:srgbClr val="B3123A"/>
                </a:solidFill>
                <a:latin typeface="Montserrat"/>
              </a:rPr>
              <a:t>Faiblesses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0000" y="2050000"/>
            <a:ext cx="4900000" cy="1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Marque nouvelle, inconnue du public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Aucune présence en rayon avant le 11 décembre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Pas encore de communauté en ligne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0000" y="3700000"/>
            <a:ext cx="5400000" cy="2100000"/>
          </a:xfrm>
          <a:prstGeom prst="roundRect">
            <a:avLst/>
          </a:prstGeom>
          <a:solidFill>
            <a:srgbClr val="FB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0000" y="3700000"/>
            <a:ext cx="120000" cy="21000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000" y="3820000"/>
            <a:ext cx="49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1">
                <a:solidFill>
                  <a:srgbClr val="F28C28"/>
                </a:solidFill>
                <a:latin typeface="Montserrat"/>
              </a:rPr>
              <a:t>Opportunités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000" y="4300000"/>
            <a:ext cx="4900000" cy="1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Les fêtes : la période où l'on achète le plus de boissons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Intérêt fort pour le « fabriqué en Côte d'Ivoire »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Créateurs de contenu food et lifestyle très suivis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0000" y="3700000"/>
            <a:ext cx="5400000" cy="2100000"/>
          </a:xfrm>
          <a:prstGeom prst="roundRect">
            <a:avLst/>
          </a:prstGeom>
          <a:solidFill>
            <a:srgbClr val="FB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0000" y="3700000"/>
            <a:ext cx="120000" cy="2100000"/>
          </a:xfrm>
          <a:prstGeom prst="rect">
            <a:avLst/>
          </a:prstGeom>
          <a:solidFill>
            <a:srgbClr val="22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00000" y="3820000"/>
            <a:ext cx="49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1">
                <a:solidFill>
                  <a:srgbClr val="22302C"/>
                </a:solidFill>
                <a:latin typeface="Montserrat"/>
              </a:rPr>
              <a:t>Menaces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0000" y="4300000"/>
            <a:ext cx="4900000" cy="1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Agendas saturés en décembre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Concurrence des sodas installés et du gingembre artisanal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Risque de rupture si le succès dépasse le stock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PARTIE 1 | LE 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22302C"/>
                </a:solidFill>
                <a:latin typeface="Montserrat"/>
              </a:rPr>
              <a:t>L'enjeu : réussir les trois premières semaines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 de Gingembre Pétillant  |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1450000"/>
            <a:ext cx="6500000" cy="4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22302C"/>
                </a:solidFill>
                <a:latin typeface="Montserrat"/>
              </a:rPr>
              <a:t>Une boisson se joue en rayon, pas seulement en soirée.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22302C"/>
                </a:solidFill>
                <a:latin typeface="Montserrat"/>
              </a:rPr>
              <a:t>La soirée crée l'événement ; ce sont les trois semaines qui suivent qui décident si la bouteille tourne.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22302C"/>
                </a:solidFill>
                <a:latin typeface="Montserrat"/>
              </a:rPr>
              <a:t>Trois conditions pour réussir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22302C"/>
                </a:solidFill>
                <a:latin typeface="Montserrat"/>
              </a:rPr>
              <a:t>1. Que la distribution commande dès le soir du lancement, pour être en rayon le 11.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22302C"/>
                </a:solidFill>
                <a:latin typeface="Montserrat"/>
              </a:rPr>
              <a:t>2. Que la presse et les créateurs en parlent la même semaine, pour que le public cherche le produit.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22302C"/>
                </a:solidFill>
                <a:latin typeface="Montserrat"/>
              </a:rPr>
              <a:t>3. Que le public goûte : sans dégustation, une nouveauté reste sur l'étagère.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22302C"/>
                </a:solidFill>
                <a:latin typeface="Montserrat"/>
              </a:rPr>
              <a:t>Ce que ce plan fait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22302C"/>
                </a:solidFill>
                <a:latin typeface="Montserrat"/>
              </a:rPr>
              <a:t>Il relie ces trois conditions : chaque action avant la soirée prépare une commande, un article ou une dégustation après.</a:t>
            </a:r>
          </a:p>
        </p:txBody>
      </p:sp>
      <p:pic>
        <p:nvPicPr>
          <p:cNvPr id="7" name="Picture 6" descr="_c_retail.png_4100000_4400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1450000"/>
            <a:ext cx="4100000" cy="44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5E4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c_press.png_5492000_6858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000" y="0"/>
            <a:ext cx="54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0000" y="2000000"/>
            <a:ext cx="5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F28C28"/>
                </a:solidFill>
                <a:latin typeface="Montserrat"/>
              </a:rPr>
              <a:t>PARTIE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2600000"/>
            <a:ext cx="58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3600" b="1">
                <a:solidFill>
                  <a:srgbClr val="FFFFFF"/>
                </a:solidFill>
                <a:latin typeface="Montserrat"/>
              </a:rPr>
              <a:t>La stratégie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3900000"/>
            <a:ext cx="58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0">
                <a:solidFill>
                  <a:srgbClr val="FFFFFF"/>
                </a:solidFill>
                <a:latin typeface="Montserrat"/>
              </a:rPr>
              <a:t>Objectifs, cibles, positionnement et messages.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PARTIE 2 | LA STRATÉGIE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22302C"/>
                </a:solidFill>
                <a:latin typeface="Montserrat"/>
              </a:rPr>
              <a:t>Quatre objectifs, chacun mesuré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 de Gingembre Pétillant  |  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500000"/>
          <a:ext cx="11000000" cy="31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0000"/>
                <a:gridCol w="2900000"/>
                <a:gridCol w="1500000"/>
                <a:gridCol w="2000000"/>
                <a:gridCol w="1600000"/>
              </a:tblGrid>
              <a:tr h="52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Objectif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Indicateur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Cible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Où on le lit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Échéance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Être repris par la presse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Articles, sujets radio et télé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20 retombées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Revue de presse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24 décembre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Remplir la salle avec les bons invités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Présents sur confirmés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70 %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Liste d'émargement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10 décembre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Signer la distribution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Points de vente qui commandent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30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Bons de commande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31 décembre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Faire parler en ligne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Vues cumulées #GingembrePétillant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1 000 000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Meta, TikTok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31 décembre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Faire goûter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Échantillons servis (soirée et magasins)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5 000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Fiches des animatrices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31 décembre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5000000"/>
            <a:ext cx="11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6B7570"/>
                </a:solidFill>
                <a:latin typeface="Montserrat"/>
              </a:rPr>
              <a:t>Chaque objectif a un responsable et un point de contrôle chaque lundi à partir du 30 novembre (voir le tableau de bord, partie 4).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PARTIE 2 | LA STRATÉGIE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22302C"/>
                </a:solidFill>
                <a:latin typeface="Montserrat"/>
              </a:rPr>
              <a:t>Les cibles, en trois portraits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 de Gingembre Pétillant  |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0000" y="1450000"/>
            <a:ext cx="3500000" cy="4450000"/>
          </a:xfrm>
          <a:prstGeom prst="roundRect">
            <a:avLst/>
          </a:prstGeom>
          <a:solidFill>
            <a:srgbClr val="FB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0000" y="1450000"/>
            <a:ext cx="3500000" cy="10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0000" y="1650000"/>
            <a:ext cx="315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E5E4E"/>
                </a:solidFill>
                <a:latin typeface="Montserrat"/>
              </a:rPr>
              <a:t>Aïcha, 27 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000" y="2050000"/>
            <a:ext cx="315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6B7570"/>
                </a:solidFill>
                <a:latin typeface="Montserrat"/>
              </a:rPr>
              <a:t>LE GRAND PUBLIC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0000" y="2500000"/>
            <a:ext cx="3150000" cy="3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22302C"/>
                </a:solidFill>
                <a:latin typeface="Montserrat"/>
              </a:rPr>
              <a:t>Salariée à Cocody, active sur Instagram et TikTok. Achète ses boissons au supermarché et en station. Cherche une boisson « d'ici » à servir à ses invités pendant les fêtes.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22302C"/>
                </a:solidFill>
                <a:latin typeface="Montserrat"/>
              </a:rPr>
              <a:t>Ce qui la convainc :</a:t>
            </a:r>
            <a:r>
              <a:rPr sz="1200" b="0">
                <a:solidFill>
                  <a:srgbClr val="22302C"/>
                </a:solidFill>
                <a:latin typeface="Montserrat"/>
              </a:rPr>
              <a:t> le goût, une vidéo d'une créatrice qu'elle suit, le prix à 500 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0000" y="1450000"/>
            <a:ext cx="3500000" cy="4450000"/>
          </a:xfrm>
          <a:prstGeom prst="roundRect">
            <a:avLst/>
          </a:prstGeom>
          <a:solidFill>
            <a:srgbClr val="FB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00000" y="1450000"/>
            <a:ext cx="3500000" cy="1000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0000" y="1650000"/>
            <a:ext cx="315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F28C28"/>
                </a:solidFill>
                <a:latin typeface="Montserrat"/>
              </a:rPr>
              <a:t>M. Koné, 45 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0000" y="2050000"/>
            <a:ext cx="315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6B7570"/>
                </a:solidFill>
                <a:latin typeface="Montserrat"/>
              </a:rPr>
              <a:t>LA DISTRIBUTION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0000" y="2500000"/>
            <a:ext cx="3150000" cy="3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22302C"/>
                </a:solidFill>
                <a:latin typeface="Montserrat"/>
              </a:rPr>
              <a:t>Distributeur à Adjamé, fournit 120 boutiques et maquis. Ne prend une nouveauté que s'il est sûr qu'elle tourne.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22302C"/>
                </a:solidFill>
                <a:latin typeface="Montserrat"/>
              </a:rPr>
              <a:t>Ce qui le convainc :</a:t>
            </a:r>
            <a:r>
              <a:rPr sz="1200" b="0">
                <a:solidFill>
                  <a:srgbClr val="22302C"/>
                </a:solidFill>
                <a:latin typeface="Montserrat"/>
              </a:rPr>
              <a:t> la marge, une offre de lancement, la publicité qui fera venir les clients chez ses revendeurs.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0000" y="1450000"/>
            <a:ext cx="3500000" cy="4450000"/>
          </a:xfrm>
          <a:prstGeom prst="roundRect">
            <a:avLst/>
          </a:prstGeom>
          <a:solidFill>
            <a:srgbClr val="FB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0000" y="1450000"/>
            <a:ext cx="3500000" cy="100000"/>
          </a:xfrm>
          <a:prstGeom prst="rect">
            <a:avLst/>
          </a:prstGeom>
          <a:solidFill>
            <a:srgbClr val="B3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0000" y="1650000"/>
            <a:ext cx="315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B3123A"/>
                </a:solidFill>
                <a:latin typeface="Montserrat"/>
              </a:rPr>
              <a:t>Awa, journaliste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0000" y="2050000"/>
            <a:ext cx="315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6B7570"/>
                </a:solidFill>
                <a:latin typeface="Montserrat"/>
              </a:rPr>
              <a:t>LA PRESSE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0000" y="2500000"/>
            <a:ext cx="3150000" cy="3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22302C"/>
                </a:solidFill>
                <a:latin typeface="Montserrat"/>
              </a:rPr>
              <a:t>Rubrique économie d'un quotidien et d'un site d'information. Cherche des sujets sur l'industrie locale et l'emploi.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22302C"/>
                </a:solidFill>
                <a:latin typeface="Montserrat"/>
              </a:rPr>
              <a:t>Ce qui la convainc :</a:t>
            </a:r>
            <a:r>
              <a:rPr sz="1200" b="0">
                <a:solidFill>
                  <a:srgbClr val="22302C"/>
                </a:solidFill>
                <a:latin typeface="Montserrat"/>
              </a:rPr>
              <a:t> des chiffres d'usine, un dirigeant disponible, des photos prêtes à publier.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PARTIE 2 | LA STRATÉGIE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22302C"/>
                </a:solidFill>
                <a:latin typeface="Montserrat"/>
              </a:rPr>
              <a:t>Le positionnement et l'idée créative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 de Gingembre Pétillant  |  11</a:t>
            </a:r>
          </a:p>
        </p:txBody>
      </p:sp>
      <p:pic>
        <p:nvPicPr>
          <p:cNvPr id="6" name="Picture 5" descr="_c_social.png_4000000_4450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0000" y="1450000"/>
            <a:ext cx="4000000" cy="445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0000" y="1450000"/>
            <a:ext cx="6700000" cy="4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22302C"/>
                </a:solidFill>
                <a:latin typeface="Montserrat"/>
              </a:rPr>
              <a:t>Promesse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22302C"/>
                </a:solidFill>
                <a:latin typeface="Montserrat"/>
              </a:rPr>
              <a:t>Le goût du gingembre d'ici, frais et pétillant, prêt à partager.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22302C"/>
                </a:solidFill>
                <a:latin typeface="Montserrat"/>
              </a:rPr>
              <a:t>Preuves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22302C"/>
                </a:solidFill>
                <a:latin typeface="Montserrat"/>
              </a:rPr>
              <a:t>Fabriqué à Abidjan ; gingembre de coopératives ivoiriennes ; peu sucré ; deux formats.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22302C"/>
                </a:solidFill>
                <a:latin typeface="Montserrat"/>
              </a:rPr>
              <a:t>Idée créative : « Ça pique, c'est d'ici. »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22302C"/>
                </a:solidFill>
                <a:latin typeface="Montserrat"/>
              </a:rPr>
              <a:t>Le piquant du gingembre devient un jeu : la grimace de la première gorgée, filmée et partagée. C'est le fil des vidéos, de la soirée et du jeu concours.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22302C"/>
                </a:solidFill>
                <a:latin typeface="Montserrat"/>
              </a:rPr>
              <a:t>Ton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22302C"/>
                </a:solidFill>
                <a:latin typeface="Montserrat"/>
              </a:rPr>
              <a:t>Chaleureux, fier, un peu taquin. Français courant, expressions d'Abidjan dans les vidéos.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22302C"/>
                </a:solidFill>
                <a:latin typeface="Montserrat"/>
              </a:rPr>
              <a:t>Mot-dièse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22302C"/>
                </a:solidFill>
                <a:latin typeface="Montserrat"/>
              </a:rPr>
              <a:t>#GingembrePétillant, et #ÇaPiqueCestDici pour le défi vidéo.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PARTIE 2 | LA STRATÉGIE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22302C"/>
                </a:solidFill>
                <a:latin typeface="Montserrat"/>
              </a:rPr>
              <a:t>Les messages par public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 de Gingembre Pétillant  |  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500000"/>
          <a:ext cx="11000000" cy="3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00"/>
                <a:gridCol w="3500000"/>
                <a:gridCol w="3100000"/>
                <a:gridCol w="2400000"/>
              </a:tblGrid>
              <a:tr h="56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Public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Message principal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Preuve apportée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Support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Presse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Une usine ivoirienne lance une boisson d'ici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Chiffres d'usine, emplois, coopératives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Communiqué, dossier, interview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Distributeurs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Un produit qui va tourner pendant les fêtes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Plan média, offre de lancement, PLV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Fiche commerciale, rencontre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Créateurs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Un goût à faire découvrir, un défi à lancer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Dégustation, kit produit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Brief, invitation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Partenaires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Un projet local qui crée de la valeur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Coopératives, emplois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Prise de parole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Grand public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Ça pique, c'est d'ici, dès 400 F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Vidéos, dégustations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Réseaux, rayon, jeu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5E4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c_launch.png_5492000_6858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000" y="0"/>
            <a:ext cx="54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0000" y="2000000"/>
            <a:ext cx="5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F28C28"/>
                </a:solidFill>
                <a:latin typeface="Montserrat"/>
              </a:rPr>
              <a:t>PARTIE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2600000"/>
            <a:ext cx="58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3600" b="1">
                <a:solidFill>
                  <a:srgbClr val="FFFFFF"/>
                </a:solidFill>
                <a:latin typeface="Montserrat"/>
              </a:rPr>
              <a:t>Le dispositif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3900000"/>
            <a:ext cx="58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0">
                <a:solidFill>
                  <a:srgbClr val="FFFFFF"/>
                </a:solidFill>
                <a:latin typeface="Montserrat"/>
              </a:rPr>
              <a:t>Presse, réseaux, créateurs, distribution et la soirée elle-même.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PARTIE 3 | LE DISPOSITIF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22302C"/>
                </a:solidFill>
                <a:latin typeface="Montserrat"/>
              </a:rPr>
              <a:t>Le plan en trois temps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 de Gingembre Pétillant  |  14</a:t>
            </a:r>
          </a:p>
        </p:txBody>
      </p:sp>
      <p:pic>
        <p:nvPicPr>
          <p:cNvPr id="6" name="Picture 5" descr="_c_team.png_3500000_1700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1450000"/>
            <a:ext cx="3500000" cy="170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0000" y="3150000"/>
            <a:ext cx="3500000" cy="2800000"/>
          </a:xfrm>
          <a:prstGeom prst="rect">
            <a:avLst/>
          </a:prstGeom>
          <a:solidFill>
            <a:srgbClr val="FB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0000" y="325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>
                <a:solidFill>
                  <a:srgbClr val="0E5E4E"/>
                </a:solidFill>
                <a:latin typeface="Montserrat"/>
              </a:rPr>
              <a:t>AVANT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0000" y="3680000"/>
            <a:ext cx="3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6B7570"/>
                </a:solidFill>
                <a:latin typeface="Montserrat"/>
              </a:rPr>
              <a:t>du 9 novembre au 9 décembre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0000" y="4080000"/>
            <a:ext cx="32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22302C"/>
                </a:solidFill>
                <a:latin typeface="Montserrat"/>
              </a:rPr>
              <a:t>Invitations le 16 novembre, relance le 1er décembre. Rencontres avec les distributeurs clés. Teasing sur les réseaux à partir du 30 novembre.</a:t>
            </a:r>
          </a:p>
        </p:txBody>
      </p:sp>
      <p:pic>
        <p:nvPicPr>
          <p:cNvPr id="11" name="Picture 10" descr="_c_launch.png_3500000_17000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0000" y="1450000"/>
            <a:ext cx="3500000" cy="1700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300000" y="3150000"/>
            <a:ext cx="3500000" cy="2800000"/>
          </a:xfrm>
          <a:prstGeom prst="rect">
            <a:avLst/>
          </a:prstGeom>
          <a:solidFill>
            <a:srgbClr val="FB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0000" y="325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>
                <a:solidFill>
                  <a:srgbClr val="F28C28"/>
                </a:solidFill>
                <a:latin typeface="Montserrat"/>
              </a:rPr>
              <a:t>PENDANT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0000" y="3680000"/>
            <a:ext cx="3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6B7570"/>
                </a:solidFill>
                <a:latin typeface="Montserrat"/>
              </a:rPr>
              <a:t>jeudi 10 décembre, 18 h 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0000" y="4080000"/>
            <a:ext cx="32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22302C"/>
                </a:solidFill>
                <a:latin typeface="Montserrat"/>
              </a:rPr>
              <a:t>Révélation de la bouteille, dégustation, espace distributeurs, interviews. Communiqué à 19 h 30, stories en direct.</a:t>
            </a:r>
          </a:p>
        </p:txBody>
      </p:sp>
      <p:pic>
        <p:nvPicPr>
          <p:cNvPr id="16" name="Picture 15" descr="_c_retail.png_3500000_170000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0000" y="1450000"/>
            <a:ext cx="3500000" cy="17000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8000000" y="3150000"/>
            <a:ext cx="3500000" cy="2800000"/>
          </a:xfrm>
          <a:prstGeom prst="rect">
            <a:avLst/>
          </a:prstGeom>
          <a:solidFill>
            <a:srgbClr val="FB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0000" y="325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>
                <a:solidFill>
                  <a:srgbClr val="B3123A"/>
                </a:solidFill>
                <a:latin typeface="Montserrat"/>
              </a:rPr>
              <a:t>APRÈS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0000" y="3680000"/>
            <a:ext cx="3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6B7570"/>
                </a:solidFill>
                <a:latin typeface="Montserrat"/>
              </a:rPr>
              <a:t>du 11 décembre au 8 janvier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0000" y="4080000"/>
            <a:ext cx="32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22302C"/>
                </a:solidFill>
                <a:latin typeface="Montserrat"/>
              </a:rPr>
              <a:t>Publicité, défi vidéo, dégustations en magasin, suivi des commandes, revue de presse, bilan le 8 janvier.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PARTIE 3 | LE DISPOSITIF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22302C"/>
                </a:solidFill>
                <a:latin typeface="Montserrat"/>
              </a:rPr>
              <a:t>Le plan presse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 de Gingembre Pétillant  |  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450000"/>
          <a:ext cx="11000000" cy="4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000"/>
                <a:gridCol w="2600000"/>
                <a:gridCol w="6800000"/>
              </a:tblGrid>
              <a:tr h="50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Quand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Action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Détail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5E4E"/>
                          </a:solidFill>
                          <a:latin typeface="Montserrat"/>
                        </a:rPr>
                        <a:t>16 nov.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Invitation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30 journalistes : quotidiens, sites d'information, radios, télévisions, rubriques économie et lifestyle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5E4E"/>
                          </a:solidFill>
                          <a:latin typeface="Montserrat"/>
                        </a:rPr>
                        <a:t>1er déc.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Relance personnelle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Appel de chaque journaliste, confirmation de présence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5E4E"/>
                          </a:solidFill>
                          <a:latin typeface="Montserrat"/>
                        </a:rPr>
                        <a:t>8 déc.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Interview en avant-première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Un média économique reçoit le directeur général à l'usine, publication le 10 au soir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5E4E"/>
                          </a:solidFill>
                          <a:latin typeface="Montserrat"/>
                        </a:rPr>
                        <a:t>10 déc.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Soirée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Kit presse (dossier, clé photos, produits), 6 créneaux d'interview de 10 minutes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5E4E"/>
                          </a:solidFill>
                          <a:latin typeface="Montserrat"/>
                        </a:rPr>
                        <a:t>10 déc., 19 h 30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Communiqué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Envoyé à toute la liste, présents et absents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5E4E"/>
                          </a:solidFill>
                          <a:latin typeface="Montserrat"/>
                        </a:rPr>
                        <a:t>11 déc.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Photos et vidéo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Envoi des photos HD et de la vidéo de la soirée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5E4E"/>
                          </a:solidFill>
                          <a:latin typeface="Montserrat"/>
                        </a:rPr>
                        <a:t>24 déc.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Revue de presse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Relevé des retombées, relance de ceux qui n'ont pas publié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5600000"/>
            <a:ext cx="11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B3123A"/>
                </a:solidFill>
                <a:latin typeface="Montserrat"/>
              </a:rPr>
              <a:t>Règle : aucun article n'est payé. La presse vient pour l'information, le dirigeant et les images.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PARTIE 3 | LE DISPOSITIF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22302C"/>
                </a:solidFill>
                <a:latin typeface="Montserrat"/>
              </a:rPr>
              <a:t>Le plan réseaux sociaux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 de Gingembre Pétillant  |  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450000"/>
          <a:ext cx="110000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000"/>
                <a:gridCol w="1900000"/>
                <a:gridCol w="4700000"/>
                <a:gridCol w="2800000"/>
              </a:tblGrid>
              <a:tr h="62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Phase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Dates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Ce qu'on publie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Publicité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Teasing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30 nov. au 9 déc.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Gros plans sur le gingembre, la grimace, « Quelque chose pique à Abidjan », compte à rebours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0,5 M : notoriété, Abidjan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Révélation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10 et 11 déc.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Direct de la soirée, révélation de la bouteille, vidéo récap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0,5 M : vidéo récap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Défi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12 au 24 déc.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#ÇaPiqueCestDici : 5 créateurs lancent le défi, le public reprend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3,0 M : vidéos des créateurs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Où l'acheter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11 au 31 déc.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Carrousels des points de vente, jeu concours, idées de fêtes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2,0 M : ciblage autour des magasins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000" y="4700000"/>
            <a:ext cx="110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22302C"/>
                </a:solidFill>
                <a:latin typeface="Montserrat"/>
              </a:rPr>
              <a:t>Comptes :</a:t>
            </a:r>
            <a:r>
              <a:rPr sz="1300" b="0">
                <a:solidFill>
                  <a:srgbClr val="22302C"/>
                </a:solidFill>
                <a:latin typeface="Montserrat"/>
              </a:rPr>
              <a:t> Facebook, Instagram et TikTok de Gingembre Pétillant, ouverts avant le 23 novembre.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22302C"/>
                </a:solidFill>
                <a:latin typeface="Montserrat"/>
              </a:rPr>
              <a:t>Rythme :</a:t>
            </a:r>
            <a:r>
              <a:rPr sz="1300" b="0">
                <a:solidFill>
                  <a:srgbClr val="22302C"/>
                </a:solidFill>
                <a:latin typeface="Montserrat"/>
              </a:rPr>
              <a:t> 1 publication par jour et 3 stories par jour du 30 novembre au 31 décembre.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22302C"/>
                </a:solidFill>
                <a:latin typeface="Montserrat"/>
              </a:rPr>
              <a:t>Modération :</a:t>
            </a:r>
            <a:r>
              <a:rPr sz="1300" b="0">
                <a:solidFill>
                  <a:srgbClr val="22302C"/>
                </a:solidFill>
                <a:latin typeface="Montserrat"/>
              </a:rPr>
              <a:t> réponse aux messages et commentaires sous 2 heures pendant la soirée, sous 24 heures ensuite.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PARTIE 3 | LE DISPOSITIF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22302C"/>
                </a:solidFill>
                <a:latin typeface="Montserrat"/>
              </a:rPr>
              <a:t>Le plan créateurs de contenu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 de Gingembre Pétillant  |  17</a:t>
            </a:r>
          </a:p>
        </p:txBody>
      </p:sp>
      <p:pic>
        <p:nvPicPr>
          <p:cNvPr id="6" name="Picture 5" descr="_c_social.png_3700000_4450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0000" y="1450000"/>
            <a:ext cx="3700000" cy="44500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0000" y="1450000"/>
          <a:ext cx="7000000" cy="2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/>
                <a:gridCol w="1000000"/>
                <a:gridCol w="3300000"/>
              </a:tblGrid>
              <a:tr h="52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Profil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Nombre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Ce qu'on lui demande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Créatrice reconnue (lifestyle)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1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Présence à la soirée, 1 vidéo, lancement du défi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Créateurs food et humour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4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1 vidéo chacun du défi, stories pendant la soirée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Invités sans contrat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20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Découverte libre, kit produit offert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0000" y="3700000"/>
            <a:ext cx="70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22302C"/>
                </a:solidFill>
                <a:latin typeface="Montserrat"/>
              </a:rPr>
              <a:t>Règles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Mention « partenariat » visible sur chaque publication payée.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Aucune promesse santé sur le gingembre : on parle du goût.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Vidéos validées par Origin7 avant publication, sous 24 heures.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22302C"/>
                </a:solidFill>
                <a:latin typeface="Montserrat"/>
              </a:rPr>
              <a:t>Sélection :</a:t>
            </a:r>
            <a:r>
              <a:rPr sz="1300" b="0">
                <a:solidFill>
                  <a:srgbClr val="22302C"/>
                </a:solidFill>
                <a:latin typeface="Montserrat"/>
              </a:rPr>
              <a:t> audience majoritairement à Abidjan, taux d'engagement vérifié sur les 10 dernières publications.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PARTIE 3 | LE DISPOSITIF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22302C"/>
                </a:solidFill>
                <a:latin typeface="Montserrat"/>
              </a:rPr>
              <a:t>Le plan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 de Gingembre Pétillant  |  18</a:t>
            </a:r>
          </a:p>
        </p:txBody>
      </p:sp>
      <p:pic>
        <p:nvPicPr>
          <p:cNvPr id="6" name="Picture 5" descr="_c_retail.png_4000000_4450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1450000"/>
            <a:ext cx="4000000" cy="445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900000" y="1450000"/>
            <a:ext cx="6700000" cy="4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22302C"/>
                </a:solidFill>
                <a:latin typeface="Montserrat"/>
              </a:rPr>
              <a:t>Avant la soirée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Rencontre des 10 distributeurs principaux par la direction commerciale, du 16 au 27 novembre. Fiche commerciale : prix, marge, plan média, PLV.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22302C"/>
                </a:solidFill>
                <a:latin typeface="Montserrat"/>
              </a:rPr>
              <a:t>Le soir du lancement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Espace distributeurs à part, avec l'offre de lancement et la prise de commande sur place.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22302C"/>
                </a:solidFill>
                <a:latin typeface="Montserrat"/>
              </a:rPr>
              <a:t>Offre de lancement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Valable jusqu'au 31 décembre, définie par la direction commerciale (par exemple un carton offert pour dix commandés).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22302C"/>
                </a:solidFill>
                <a:latin typeface="Montserrat"/>
              </a:rPr>
              <a:t>Au point de vente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Présentoirs et stop-rayons livrés avant le 15 décembre ; 20 jours de dégustation en magasin entre le 12 et le 31 décembre.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22302C"/>
                </a:solidFill>
                <a:latin typeface="Montserrat"/>
              </a:rPr>
              <a:t>Suivi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Point des commandes chaque lundi, publicité ajustée selon les magasins approvisionnés.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PARTIE 3 | LE DISPOSITIF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22302C"/>
                </a:solidFill>
                <a:latin typeface="Montserrat"/>
              </a:rPr>
              <a:t>L'expérience de la soirée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 de Gingembre Pétillant  |  19</a:t>
            </a:r>
          </a:p>
        </p:txBody>
      </p:sp>
      <p:sp>
        <p:nvSpPr>
          <p:cNvPr id="6" name="Oval 5"/>
          <p:cNvSpPr/>
          <p:nvPr/>
        </p:nvSpPr>
        <p:spPr>
          <a:xfrm>
            <a:off x="600000" y="1600000"/>
            <a:ext cx="1700000" cy="1700000"/>
          </a:xfrm>
          <a:prstGeom prst="ellipse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000" y="2200000"/>
            <a:ext cx="1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8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0000" y="3450000"/>
            <a:ext cx="1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22302C"/>
                </a:solidFill>
                <a:latin typeface="Montserrat"/>
              </a:rPr>
              <a:t>Arrivée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0000" y="3900000"/>
            <a:ext cx="18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6B7570"/>
                </a:solidFill>
                <a:latin typeface="Montserrat"/>
              </a:rPr>
              <a:t>Accueil, badge, cocktail sans alcool au gingembre</a:t>
            </a:r>
          </a:p>
        </p:txBody>
      </p:sp>
      <p:sp>
        <p:nvSpPr>
          <p:cNvPr id="10" name="Oval 9"/>
          <p:cNvSpPr/>
          <p:nvPr/>
        </p:nvSpPr>
        <p:spPr>
          <a:xfrm>
            <a:off x="2450000" y="1600000"/>
            <a:ext cx="1700000" cy="17000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50000" y="2200000"/>
            <a:ext cx="1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8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00000" y="3450000"/>
            <a:ext cx="1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22302C"/>
                </a:solidFill>
                <a:latin typeface="Montserrat"/>
              </a:rPr>
              <a:t>Photocall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00000" y="3900000"/>
            <a:ext cx="18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6B7570"/>
                </a:solidFill>
                <a:latin typeface="Montserrat"/>
              </a:rPr>
              <a:t>Mur « Ça pique, c'est d'ici », photo de la grimace</a:t>
            </a:r>
          </a:p>
        </p:txBody>
      </p:sp>
      <p:sp>
        <p:nvSpPr>
          <p:cNvPr id="14" name="Oval 13"/>
          <p:cNvSpPr/>
          <p:nvPr/>
        </p:nvSpPr>
        <p:spPr>
          <a:xfrm>
            <a:off x="4300000" y="1600000"/>
            <a:ext cx="1700000" cy="1700000"/>
          </a:xfrm>
          <a:prstGeom prst="ellipse">
            <a:avLst/>
          </a:prstGeom>
          <a:solidFill>
            <a:srgbClr val="B3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00000" y="2200000"/>
            <a:ext cx="1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8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0000" y="3450000"/>
            <a:ext cx="1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22302C"/>
                </a:solidFill>
                <a:latin typeface="Montserrat"/>
              </a:rPr>
              <a:t>Révélation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0000" y="3900000"/>
            <a:ext cx="18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6B7570"/>
                </a:solidFill>
                <a:latin typeface="Montserrat"/>
              </a:rPr>
              <a:t>Film, bouteille dévoilée sur scène</a:t>
            </a:r>
          </a:p>
        </p:txBody>
      </p:sp>
      <p:sp>
        <p:nvSpPr>
          <p:cNvPr id="18" name="Oval 17"/>
          <p:cNvSpPr/>
          <p:nvPr/>
        </p:nvSpPr>
        <p:spPr>
          <a:xfrm>
            <a:off x="6150000" y="1600000"/>
            <a:ext cx="1700000" cy="1700000"/>
          </a:xfrm>
          <a:prstGeom prst="ellipse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0000" y="2200000"/>
            <a:ext cx="1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8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0000" y="3450000"/>
            <a:ext cx="1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22302C"/>
                </a:solidFill>
                <a:latin typeface="Montserrat"/>
              </a:rPr>
              <a:t>Bar à gingembre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00000" y="3900000"/>
            <a:ext cx="18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6B7570"/>
                </a:solidFill>
                <a:latin typeface="Montserrat"/>
              </a:rPr>
              <a:t>Dégustation, accords avec bouchées locales</a:t>
            </a:r>
          </a:p>
        </p:txBody>
      </p:sp>
      <p:sp>
        <p:nvSpPr>
          <p:cNvPr id="22" name="Oval 21"/>
          <p:cNvSpPr/>
          <p:nvPr/>
        </p:nvSpPr>
        <p:spPr>
          <a:xfrm>
            <a:off x="8000000" y="1600000"/>
            <a:ext cx="1700000" cy="17000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0000" y="2200000"/>
            <a:ext cx="1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8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0000" y="3450000"/>
            <a:ext cx="1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22302C"/>
                </a:solidFill>
                <a:latin typeface="Montserrat"/>
              </a:rPr>
              <a:t>Espace pro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0000" y="3900000"/>
            <a:ext cx="18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6B7570"/>
                </a:solidFill>
                <a:latin typeface="Montserrat"/>
              </a:rPr>
              <a:t>Distributeurs, offre de lancement, commandes</a:t>
            </a:r>
          </a:p>
        </p:txBody>
      </p:sp>
      <p:sp>
        <p:nvSpPr>
          <p:cNvPr id="26" name="Oval 25"/>
          <p:cNvSpPr/>
          <p:nvPr/>
        </p:nvSpPr>
        <p:spPr>
          <a:xfrm>
            <a:off x="9850000" y="1600000"/>
            <a:ext cx="1700000" cy="1700000"/>
          </a:xfrm>
          <a:prstGeom prst="ellipse">
            <a:avLst/>
          </a:prstGeom>
          <a:solidFill>
            <a:srgbClr val="B3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50000" y="2200000"/>
            <a:ext cx="1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800" b="1">
                <a:solidFill>
                  <a:srgbClr val="FFFFFF"/>
                </a:solidFill>
                <a:latin typeface="Montserrat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00000" y="3450000"/>
            <a:ext cx="1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22302C"/>
                </a:solidFill>
                <a:latin typeface="Montserrat"/>
              </a:rPr>
              <a:t>Départ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00000" y="3900000"/>
            <a:ext cx="18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6B7570"/>
                </a:solidFill>
                <a:latin typeface="Montserrat"/>
              </a:rPr>
              <a:t>Kit avec deux bouteilles et invitation au défi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000" y="5300000"/>
            <a:ext cx="1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22302C"/>
                </a:solidFill>
                <a:latin typeface="Montserrat"/>
              </a:rPr>
              <a:t>Scénographie :</a:t>
            </a:r>
            <a:r>
              <a:rPr sz="1300" b="0">
                <a:solidFill>
                  <a:srgbClr val="22302C"/>
                </a:solidFill>
                <a:latin typeface="Montserrat"/>
              </a:rPr>
              <a:t> vert, orange et rouge du produit ; lumière chaude ; bouteilles sur glace visibles depuis toute la terrasse.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PARTIE 3 | JEUDI 10 DÉCEMBRE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22302C"/>
                </a:solidFill>
                <a:latin typeface="Montserrat"/>
              </a:rPr>
              <a:t>Le programme de la soirée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 de Gingembre Pétillant  |  20</a:t>
            </a:r>
          </a:p>
        </p:txBody>
      </p:sp>
      <p:pic>
        <p:nvPicPr>
          <p:cNvPr id="6" name="Picture 5" descr="_c_tasting.png_4600000_4450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000" y="1450000"/>
            <a:ext cx="4600000" cy="445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0000" y="1400000"/>
            <a:ext cx="62000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22302C"/>
                </a:solidFill>
                <a:latin typeface="Montserrat"/>
              </a:rPr>
              <a:t>18 h 30, accueil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Cocktail au gingembre, photocall, remise des kits presse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22302C"/>
                </a:solidFill>
                <a:latin typeface="Montserrat"/>
              </a:rPr>
              <a:t>19 h 15, ouverture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Mot de bienvenue du directeur général de Boissons Lagune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22302C"/>
                </a:solidFill>
                <a:latin typeface="Montserrat"/>
              </a:rPr>
              <a:t>19 h 30, révélation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Film de lancement, bouteille dévoilée, communiqué diffusé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22302C"/>
                </a:solidFill>
                <a:latin typeface="Montserrat"/>
              </a:rPr>
              <a:t>19 h 50, dégustation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Bar à gingembre et bouchées locales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22302C"/>
                </a:solidFill>
                <a:latin typeface="Montserrat"/>
              </a:rPr>
              <a:t>20 h 15, espace distributeurs et interviews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Offre de lancement, commandes ; créneaux presse de 10 minutes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22302C"/>
                </a:solidFill>
                <a:latin typeface="Montserrat"/>
              </a:rPr>
              <a:t>21 h 30, fin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Remise du kit de départ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PARTIE 3 | DATES CLÉS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22302C"/>
                </a:solidFill>
                <a:latin typeface="Montserrat"/>
              </a:rPr>
              <a:t>Le rétroplanning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 de Gingembre Pétillant  |  21</a:t>
            </a:r>
          </a:p>
        </p:txBody>
      </p:sp>
      <p:sp>
        <p:nvSpPr>
          <p:cNvPr id="6" name="Rectangle 5"/>
          <p:cNvSpPr/>
          <p:nvPr/>
        </p:nvSpPr>
        <p:spPr>
          <a:xfrm>
            <a:off x="600000" y="3500000"/>
            <a:ext cx="11000000" cy="5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0000" y="3420000"/>
            <a:ext cx="210000" cy="2100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0000" y="180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E5E4E"/>
                </a:solidFill>
                <a:latin typeface="Montserrat"/>
              </a:rPr>
              <a:t>lun. 9 nov.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00" y="2200000"/>
            <a:ext cx="1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22302C"/>
                </a:solidFill>
                <a:latin typeface="Montserrat"/>
              </a:rPr>
              <a:t>Plan, lieu et budget validés</a:t>
            </a:r>
          </a:p>
        </p:txBody>
      </p:sp>
      <p:sp>
        <p:nvSpPr>
          <p:cNvPr id="10" name="Oval 9"/>
          <p:cNvSpPr/>
          <p:nvPr/>
        </p:nvSpPr>
        <p:spPr>
          <a:xfrm>
            <a:off x="2320000" y="3420000"/>
            <a:ext cx="210000" cy="2100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40000" y="380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E5E4E"/>
                </a:solidFill>
                <a:latin typeface="Montserrat"/>
              </a:rPr>
              <a:t>lun. 16 nov.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0000" y="4200000"/>
            <a:ext cx="1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22302C"/>
                </a:solidFill>
                <a:latin typeface="Montserrat"/>
              </a:rPr>
              <a:t>Invitations envoyées</a:t>
            </a:r>
          </a:p>
        </p:txBody>
      </p:sp>
      <p:sp>
        <p:nvSpPr>
          <p:cNvPr id="13" name="Oval 12"/>
          <p:cNvSpPr/>
          <p:nvPr/>
        </p:nvSpPr>
        <p:spPr>
          <a:xfrm>
            <a:off x="3560000" y="3420000"/>
            <a:ext cx="210000" cy="2100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80000" y="180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E5E4E"/>
                </a:solidFill>
                <a:latin typeface="Montserrat"/>
              </a:rPr>
              <a:t>ven. 27 nov.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0000" y="2200000"/>
            <a:ext cx="1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22302C"/>
                </a:solidFill>
                <a:latin typeface="Montserrat"/>
              </a:rPr>
              <a:t>Dossier de presse et PLV validés</a:t>
            </a:r>
          </a:p>
        </p:txBody>
      </p:sp>
      <p:sp>
        <p:nvSpPr>
          <p:cNvPr id="16" name="Oval 15"/>
          <p:cNvSpPr/>
          <p:nvPr/>
        </p:nvSpPr>
        <p:spPr>
          <a:xfrm>
            <a:off x="4800000" y="3420000"/>
            <a:ext cx="210000" cy="2100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0000" y="380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E5E4E"/>
                </a:solidFill>
                <a:latin typeface="Montserrat"/>
              </a:rPr>
              <a:t>lun. 30 nov.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0000" y="4200000"/>
            <a:ext cx="1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22302C"/>
                </a:solidFill>
                <a:latin typeface="Montserrat"/>
              </a:rPr>
              <a:t>Début du teasing</a:t>
            </a:r>
          </a:p>
        </p:txBody>
      </p:sp>
      <p:sp>
        <p:nvSpPr>
          <p:cNvPr id="19" name="Oval 18"/>
          <p:cNvSpPr/>
          <p:nvPr/>
        </p:nvSpPr>
        <p:spPr>
          <a:xfrm>
            <a:off x="6040000" y="3420000"/>
            <a:ext cx="210000" cy="2100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60000" y="180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E5E4E"/>
                </a:solidFill>
                <a:latin typeface="Montserrat"/>
              </a:rPr>
              <a:t>mar. 1er déc.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60000" y="2200000"/>
            <a:ext cx="1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22302C"/>
                </a:solidFill>
                <a:latin typeface="Montserrat"/>
              </a:rPr>
              <a:t>Relance des invités</a:t>
            </a:r>
          </a:p>
        </p:txBody>
      </p:sp>
      <p:sp>
        <p:nvSpPr>
          <p:cNvPr id="22" name="Oval 21"/>
          <p:cNvSpPr/>
          <p:nvPr/>
        </p:nvSpPr>
        <p:spPr>
          <a:xfrm>
            <a:off x="7280000" y="3420000"/>
            <a:ext cx="210000" cy="2100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0000" y="380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E5E4E"/>
                </a:solidFill>
                <a:latin typeface="Montserrat"/>
              </a:rPr>
              <a:t>mar. 8 déc.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00000" y="4200000"/>
            <a:ext cx="1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22302C"/>
                </a:solidFill>
                <a:latin typeface="Montserrat"/>
              </a:rPr>
              <a:t>Interview en avant-première</a:t>
            </a:r>
          </a:p>
        </p:txBody>
      </p:sp>
      <p:sp>
        <p:nvSpPr>
          <p:cNvPr id="25" name="Oval 24"/>
          <p:cNvSpPr/>
          <p:nvPr/>
        </p:nvSpPr>
        <p:spPr>
          <a:xfrm>
            <a:off x="8520000" y="3420000"/>
            <a:ext cx="210000" cy="2100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0000" y="180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E5E4E"/>
                </a:solidFill>
                <a:latin typeface="Montserrat"/>
              </a:rPr>
              <a:t>mer. 9 déc.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0000" y="2200000"/>
            <a:ext cx="1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22302C"/>
                </a:solidFill>
                <a:latin typeface="Montserrat"/>
              </a:rPr>
              <a:t>Répétition générale</a:t>
            </a:r>
          </a:p>
        </p:txBody>
      </p:sp>
      <p:sp>
        <p:nvSpPr>
          <p:cNvPr id="28" name="Oval 27"/>
          <p:cNvSpPr/>
          <p:nvPr/>
        </p:nvSpPr>
        <p:spPr>
          <a:xfrm>
            <a:off x="9760000" y="3420000"/>
            <a:ext cx="210000" cy="210000"/>
          </a:xfrm>
          <a:prstGeom prst="ellipse">
            <a:avLst/>
          </a:prstGeom>
          <a:solidFill>
            <a:srgbClr val="B3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80000" y="380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E5E4E"/>
                </a:solidFill>
                <a:latin typeface="Montserrat"/>
              </a:rPr>
              <a:t>jeu. 10 déc.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0000" y="4200000"/>
            <a:ext cx="1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22302C"/>
                </a:solidFill>
                <a:latin typeface="Montserrat"/>
              </a:rPr>
              <a:t>Soirée de lancement</a:t>
            </a:r>
          </a:p>
        </p:txBody>
      </p:sp>
      <p:sp>
        <p:nvSpPr>
          <p:cNvPr id="31" name="Oval 30"/>
          <p:cNvSpPr/>
          <p:nvPr/>
        </p:nvSpPr>
        <p:spPr>
          <a:xfrm>
            <a:off x="11000000" y="3420000"/>
            <a:ext cx="210000" cy="2100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20000" y="180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E5E4E"/>
                </a:solidFill>
                <a:latin typeface="Montserrat"/>
              </a:rPr>
              <a:t>ven. 8 janv.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20000" y="2200000"/>
            <a:ext cx="1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22302C"/>
                </a:solidFill>
                <a:latin typeface="Montserrat"/>
              </a:rPr>
              <a:t>Bilan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5E4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c_team.png_5492000_6858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000" y="0"/>
            <a:ext cx="54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0000" y="2000000"/>
            <a:ext cx="5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F28C28"/>
                </a:solidFill>
                <a:latin typeface="Montserrat"/>
              </a:rPr>
              <a:t>PARTIE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2600000"/>
            <a:ext cx="58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3600" b="1">
                <a:solidFill>
                  <a:srgbClr val="FFFFFF"/>
                </a:solidFill>
                <a:latin typeface="Montserrat"/>
              </a:rPr>
              <a:t>Le pilotage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3900000"/>
            <a:ext cx="58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0">
                <a:solidFill>
                  <a:srgbClr val="FFFFFF"/>
                </a:solidFill>
                <a:latin typeface="Montserrat"/>
              </a:rPr>
              <a:t>Budget, tableau de bord, rôles, risques et décisions.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PARTIE 4 | LE PILOTAGE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22302C"/>
                </a:solidFill>
                <a:latin typeface="Montserrat"/>
              </a:rPr>
              <a:t>Le budget détaillé : 20 000 000 F CFA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 de Gingembre Pétillant  |  23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400000"/>
          <a:ext cx="7400000" cy="46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0000"/>
                <a:gridCol w="3500000"/>
                <a:gridCol w="1600000"/>
              </a:tblGrid>
              <a:tr h="29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ontserrat"/>
                        </a:rPr>
                        <a:t>Poste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ontserrat"/>
                        </a:rPr>
                        <a:t>Ligne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ontserrat"/>
                        </a:rPr>
                        <a:t>Montant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E5E4E"/>
                          </a:solidFill>
                          <a:latin typeface="Montserrat"/>
                        </a:rPr>
                        <a:t>Publicité réseaux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302C"/>
                          </a:solidFill>
                          <a:latin typeface="Montserrat"/>
                        </a:rPr>
                        <a:t>Meta (Facebook, Instagram)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302C"/>
                          </a:solidFill>
                          <a:latin typeface="Montserrat"/>
                        </a:rPr>
                        <a:t>3 500 000 F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/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302C"/>
                          </a:solidFill>
                          <a:latin typeface="Montserrat"/>
                        </a:rPr>
                        <a:t>TikTok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302C"/>
                          </a:solidFill>
                          <a:latin typeface="Montserrat"/>
                        </a:rPr>
                        <a:t>2 000 000 F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/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302C"/>
                          </a:solidFill>
                          <a:latin typeface="Montserrat"/>
                        </a:rPr>
                        <a:t>YouTube (vidéo récap)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302C"/>
                          </a:solidFill>
                          <a:latin typeface="Montserrat"/>
                        </a:rPr>
                        <a:t>500 000 F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E5E4E"/>
                          </a:solidFill>
                          <a:latin typeface="Montserrat"/>
                        </a:rPr>
                        <a:t>Créateurs de contenu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302C"/>
                          </a:solidFill>
                          <a:latin typeface="Montserrat"/>
                        </a:rPr>
                        <a:t>Créatrice reconnue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302C"/>
                          </a:solidFill>
                          <a:latin typeface="Montserrat"/>
                        </a:rPr>
                        <a:t>1 500 000 F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/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302C"/>
                          </a:solidFill>
                          <a:latin typeface="Montserrat"/>
                        </a:rPr>
                        <a:t>4 créateurs food et humour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302C"/>
                          </a:solidFill>
                          <a:latin typeface="Montserrat"/>
                        </a:rPr>
                        <a:t>1 600 000 F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/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302C"/>
                          </a:solidFill>
                          <a:latin typeface="Montserrat"/>
                        </a:rPr>
                        <a:t>Kits produits des 20 invités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302C"/>
                          </a:solidFill>
                          <a:latin typeface="Montserrat"/>
                        </a:rPr>
                        <a:t>400 000 F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E5E4E"/>
                          </a:solidFill>
                          <a:latin typeface="Montserrat"/>
                        </a:rPr>
                        <a:t>Film et photos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302C"/>
                          </a:solidFill>
                          <a:latin typeface="Montserrat"/>
                        </a:rPr>
                        <a:t>Film de lancement et déclinaisons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302C"/>
                          </a:solidFill>
                          <a:latin typeface="Montserrat"/>
                        </a:rPr>
                        <a:t>2 200 000 F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/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302C"/>
                          </a:solidFill>
                          <a:latin typeface="Montserrat"/>
                        </a:rPr>
                        <a:t>Photographe et vidéaste de la soirée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302C"/>
                          </a:solidFill>
                          <a:latin typeface="Montserrat"/>
                        </a:rPr>
                        <a:t>800 000 F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E5E4E"/>
                          </a:solidFill>
                          <a:latin typeface="Montserrat"/>
                        </a:rPr>
                        <a:t>Relations presse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302C"/>
                          </a:solidFill>
                          <a:latin typeface="Montserrat"/>
                        </a:rPr>
                        <a:t>Dossier, kits et clés photos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302C"/>
                          </a:solidFill>
                          <a:latin typeface="Montserrat"/>
                        </a:rPr>
                        <a:t>1 000 000 F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/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302C"/>
                          </a:solidFill>
                          <a:latin typeface="Montserrat"/>
                        </a:rPr>
                        <a:t>Relances, suivi et revue de presse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302C"/>
                          </a:solidFill>
                          <a:latin typeface="Montserrat"/>
                        </a:rPr>
                        <a:t>1 000 000 F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E5E4E"/>
                          </a:solidFill>
                          <a:latin typeface="Montserrat"/>
                        </a:rPr>
                        <a:t>PLV et distribution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302C"/>
                          </a:solidFill>
                          <a:latin typeface="Montserrat"/>
                        </a:rPr>
                        <a:t>Présentoirs et stop-rayons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302C"/>
                          </a:solidFill>
                          <a:latin typeface="Montserrat"/>
                        </a:rPr>
                        <a:t>1 800 000 F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/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302C"/>
                          </a:solidFill>
                          <a:latin typeface="Montserrat"/>
                        </a:rPr>
                        <a:t>Dégustations en magasin (20 jours)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302C"/>
                          </a:solidFill>
                          <a:latin typeface="Montserrat"/>
                        </a:rPr>
                        <a:t>700 000 F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E5E4E"/>
                          </a:solidFill>
                          <a:latin typeface="Montserrat"/>
                        </a:rPr>
                        <a:t>Jeu concours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302C"/>
                          </a:solidFill>
                          <a:latin typeface="Montserrat"/>
                        </a:rPr>
                        <a:t>Lots et règlement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302C"/>
                          </a:solidFill>
                          <a:latin typeface="Montserrat"/>
                        </a:rPr>
                        <a:t>1 000 000 F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E5E4E"/>
                          </a:solidFill>
                          <a:latin typeface="Montserrat"/>
                        </a:rPr>
                        <a:t>Réserve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302C"/>
                          </a:solidFill>
                          <a:latin typeface="Montserrat"/>
                        </a:rPr>
                        <a:t>Débloquée le 15 décembre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302C"/>
                          </a:solidFill>
                          <a:latin typeface="Montserrat"/>
                        </a:rPr>
                        <a:t>2 000 000 F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E5E4E"/>
                          </a:solidFill>
                          <a:latin typeface="Montserrat"/>
                        </a:rPr>
                        <a:t>Total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302C"/>
                          </a:solidFill>
                          <a:latin typeface="Montserrat"/>
                        </a:rPr>
                        <a:t>20 000 000 F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300000" y="1400000"/>
            <a:ext cx="33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22302C"/>
                </a:solidFill>
                <a:latin typeface="Montserrat"/>
              </a:rPr>
              <a:t>Répartition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2302C"/>
                </a:solidFill>
                <a:latin typeface="Montserrat"/>
              </a:rPr>
              <a:t>Réseaux : 30 %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2302C"/>
                </a:solidFill>
                <a:latin typeface="Montserrat"/>
              </a:rPr>
              <a:t>Créateurs : 17,5 %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2302C"/>
                </a:solidFill>
                <a:latin typeface="Montserrat"/>
              </a:rPr>
              <a:t>Film et photos : 15 %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2302C"/>
                </a:solidFill>
                <a:latin typeface="Montserrat"/>
              </a:rPr>
              <a:t>PLV et distribution : 12,5 %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2302C"/>
                </a:solidFill>
                <a:latin typeface="Montserrat"/>
              </a:rPr>
              <a:t>Presse : 10 %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2302C"/>
                </a:solidFill>
                <a:latin typeface="Montserrat"/>
              </a:rPr>
              <a:t>Jeu : 5 %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2302C"/>
                </a:solidFill>
                <a:latin typeface="Montserrat"/>
              </a:rPr>
              <a:t>Réserve : 10 %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22302C"/>
                </a:solidFill>
                <a:latin typeface="Montserrat"/>
              </a:rPr>
              <a:t>Hors budget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22302C"/>
                </a:solidFill>
                <a:latin typeface="Montserrat"/>
              </a:rPr>
              <a:t>Lieu, traiteur, son, lumière et décoration de la soirée : budget événementiel chiffré à part.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PARTIE 4 | LE PILOTAGE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22302C"/>
                </a:solidFill>
                <a:latin typeface="Montserrat"/>
              </a:rPr>
              <a:t>Le tableau de bord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 de Gingembre Pétillant  |  24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450000"/>
          <a:ext cx="11000000" cy="39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0000"/>
                <a:gridCol w="1700000"/>
                <a:gridCol w="1800000"/>
                <a:gridCol w="1900000"/>
                <a:gridCol w="3300000"/>
              </a:tblGrid>
              <a:tr h="5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Indicateur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Outil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Fréquence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Responsable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Seuil d'alerte et réaction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5E4E"/>
                          </a:solidFill>
                          <a:latin typeface="Montserrat"/>
                        </a:rPr>
                        <a:t>Confirmations des invités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Liste partagée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Chaque jour dès le 16 nov.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Relations presse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Moins de 60 % au 4 déc. : relance par téléphone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5E4E"/>
                          </a:solidFill>
                          <a:latin typeface="Montserrat"/>
                        </a:rPr>
                        <a:t>Vues et partages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Meta, TikTok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Chaque jour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Digital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Moins de 30 000 vues par jour : changer de vidéo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5E4E"/>
                          </a:solidFill>
                          <a:latin typeface="Montserrat"/>
                        </a:rPr>
                        <a:t>Commandes distributeurs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Bons de commande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Chaque lundi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Direction commerciale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Moins de 15 au 18 déc. : renforcer l'offre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5E4E"/>
                          </a:solidFill>
                          <a:latin typeface="Montserrat"/>
                        </a:rPr>
                        <a:t>Retombées presse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Revue de presse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Chaque lundi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Relations presse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Moins de 10 au 17 déc. : relancer avec nouvel angle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5E4E"/>
                          </a:solidFill>
                          <a:latin typeface="Montserrat"/>
                        </a:rPr>
                        <a:t>Ruptures en magasin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Remontées terrain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Deux fois par semaine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Direction commerciale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Rupture : arrêter la publicité de la zone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5E4E"/>
                          </a:solidFill>
                          <a:latin typeface="Montserrat"/>
                        </a:rPr>
                        <a:t>Dépenses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Suivi budgétaire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Chaque lundi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Cheffe de projet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302C"/>
                          </a:solidFill>
                          <a:latin typeface="Montserrat"/>
                        </a:rPr>
                        <a:t>Écart de 10 % : point avec le client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PARTIE 4 | LE PILOTAGE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22302C"/>
                </a:solidFill>
                <a:latin typeface="Montserrat"/>
              </a:rPr>
              <a:t>Qui fait quoi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 de Gingembre Pétillant  |  25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450000"/>
          <a:ext cx="7400000" cy="4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0000"/>
                <a:gridCol w="4300000"/>
              </a:tblGrid>
              <a:tr h="52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Acteur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Rôle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Boissons Lagune, direction générale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Valide le plan, prend la parole, accorde les interviews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Boissons Lagune, direction commerciale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Distributeurs, offre de lancement, suivi des commandes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Boissons Lagune, usine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Stock, échantillons, visite pour l'interview en avant-première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Origin7, cheffe de projet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Pilote plan, budget et rétroplanning ; point chaque lundi avec le client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Origin7, relations presse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Liste des médias, invitations, relances, accueil presse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Origin7, digital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Réseaux, publicité, créateurs, modération, bilan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Origin7, production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Film, photos, PLV, scénographie, photocall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_c_team.png_3300000_4450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0000" y="1450000"/>
            <a:ext cx="3300000" cy="4450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PARTIE 4 | LE PILOTAGE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22302C"/>
                </a:solidFill>
                <a:latin typeface="Montserrat"/>
              </a:rPr>
              <a:t>Les risques, et ce qu'on prévoit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 de Gingembre Pétillant  |  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0000" y="1450000"/>
          <a:ext cx="11000000" cy="39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0000"/>
                <a:gridCol w="1500000"/>
                <a:gridCol w="6200000"/>
              </a:tblGrid>
              <a:tr h="56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Risque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Probabilité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Ce qu'on prévoit</a:t>
                      </a:r>
                    </a:p>
                  </a:txBody>
                  <a:tcPr marT="40000" marB="40000">
                    <a:solidFill>
                      <a:srgbClr val="0E5E4E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Agendas pris par les fêtes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Forte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Date au 10 décembre, invitations un mois avant, relance personnelle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Pluie ou vent sur la terrasse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Moyenne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Tente en option, ou repli dans une salle couverte du lieu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Rupture de stock après le lancement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Moyenne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Stock confirmé au 1er décembre ; publicité arrêtée dans les zones en rupture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Allégation santé sur le gingembre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Moyenne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Aucune promesse santé, textes des créateurs relus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Commentaires négatifs sur le goût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Moyenne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Réponses prêtes, ton léger : « ça pique, c'est fait pour »</a:t>
                      </a:r>
                    </a:p>
                  </a:txBody>
                  <a:tcPr marT="40000" marB="40000">
                    <a:solidFill>
                      <a:srgbClr val="FBF4E8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5E4E"/>
                          </a:solidFill>
                          <a:latin typeface="Montserrat"/>
                        </a:rPr>
                        <a:t>Retard technique pendant la révélation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Faible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302C"/>
                          </a:solidFill>
                          <a:latin typeface="Montserrat"/>
                        </a:rPr>
                        <a:t>Répétition le 9 décembre, film sur deux supports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PARTIE 4 | LE PILOTAGE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22302C"/>
                </a:solidFill>
                <a:latin typeface="Montserrat"/>
              </a:rPr>
              <a:t>Après la soirée : les trois semaines qui décident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 de Gingembre Pétillant  |  27</a:t>
            </a:r>
          </a:p>
        </p:txBody>
      </p:sp>
      <p:sp>
        <p:nvSpPr>
          <p:cNvPr id="6" name="Rectangle 5"/>
          <p:cNvSpPr/>
          <p:nvPr/>
        </p:nvSpPr>
        <p:spPr>
          <a:xfrm>
            <a:off x="600000" y="1450000"/>
            <a:ext cx="120000" cy="95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000" y="1450000"/>
            <a:ext cx="3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0E5E4E"/>
                </a:solidFill>
                <a:latin typeface="Montserrat"/>
              </a:rPr>
              <a:t>Semaine du 14 décembre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000" y="1450000"/>
            <a:ext cx="7600000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Défi vidéo lancé par les 5 créateurs ; dégustations dans 10 magasins ; premier point des commandes.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0000" y="2550000"/>
            <a:ext cx="120000" cy="9500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000" y="2550000"/>
            <a:ext cx="3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F28C28"/>
                </a:solidFill>
                <a:latin typeface="Montserrat"/>
              </a:rPr>
              <a:t>Semaine du 21 décembre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00000" y="2550000"/>
            <a:ext cx="7600000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Jeu concours ; publicité concentrée sur les magasins approvisionnés ; relance de la presse.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0000" y="3650000"/>
            <a:ext cx="120000" cy="950000"/>
          </a:xfrm>
          <a:prstGeom prst="rect">
            <a:avLst/>
          </a:prstGeom>
          <a:solidFill>
            <a:srgbClr val="B3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000" y="3650000"/>
            <a:ext cx="3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B3123A"/>
                </a:solidFill>
                <a:latin typeface="Montserrat"/>
              </a:rPr>
              <a:t>Semaine du 28 décembre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00000" y="3650000"/>
            <a:ext cx="7600000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Idées pour le réveillon ; dernières dégustations ; fin de l'offre de lancement le 31.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0000" y="4750000"/>
            <a:ext cx="120000" cy="95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000" y="4750000"/>
            <a:ext cx="3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0E5E4E"/>
                </a:solidFill>
                <a:latin typeface="Montserrat"/>
              </a:rPr>
              <a:t>Vendredi 8 janvier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0000" y="4750000"/>
            <a:ext cx="7600000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22302C"/>
                </a:solidFill>
                <a:latin typeface="Montserrat"/>
              </a:rPr>
              <a:t>Bilan : objectifs atteints ou non, coût par vue et par commande, suite proposée pour le premier trimestre.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4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000"/>
          </a:xfrm>
          <a:prstGeom prst="rect">
            <a:avLst/>
          </a:prstGeom>
          <a:solidFill>
            <a:srgbClr val="0E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5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F28C28"/>
                </a:solidFill>
                <a:latin typeface="Montserrat"/>
              </a:rPr>
              <a:t>PARTIE 4 | AVANT LE 9 NOVEMBRE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2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22302C"/>
                </a:solidFill>
                <a:latin typeface="Montserrat"/>
              </a:rPr>
              <a:t>Les décisions à prendre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43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6B7570"/>
                </a:solidFill>
                <a:latin typeface="Montserrat"/>
              </a:rPr>
              <a:t>Origin7 pour Boissons Lagune  |  Plan de communication du lancement de Gingembre Pétillant  | 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1500000"/>
            <a:ext cx="68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0">
                <a:solidFill>
                  <a:srgbClr val="22302C"/>
                </a:solidFill>
                <a:latin typeface="Montserrat"/>
              </a:rPr>
              <a:t>1. Valider la date du jeudi 10 décembre et le lieu.</a:t>
            </a:r>
          </a:p>
          <a:p>
            <a:pPr>
              <a:spcAft>
                <a:spcPts val="300"/>
              </a:spcAft>
            </a:pPr>
            <a:r>
              <a:rPr sz="1700" b="0">
                <a:solidFill>
                  <a:srgbClr val="22302C"/>
                </a:solidFill>
                <a:latin typeface="Montserrat"/>
              </a:rPr>
              <a:t>2. Valider le budget de 20 000 000 F CFA et sa répartition.</a:t>
            </a:r>
          </a:p>
          <a:p>
            <a:pPr>
              <a:spcAft>
                <a:spcPts val="300"/>
              </a:spcAft>
            </a:pPr>
            <a:r>
              <a:rPr sz="1700" b="0">
                <a:solidFill>
                  <a:srgbClr val="22302C"/>
                </a:solidFill>
                <a:latin typeface="Montserrat"/>
              </a:rPr>
              <a:t>3. Désigner le porte-parole de Boissons Lagune.</a:t>
            </a:r>
          </a:p>
          <a:p>
            <a:pPr>
              <a:spcAft>
                <a:spcPts val="300"/>
              </a:spcAft>
            </a:pPr>
            <a:r>
              <a:rPr sz="1700" b="0">
                <a:solidFill>
                  <a:srgbClr val="22302C"/>
                </a:solidFill>
                <a:latin typeface="Montserrat"/>
              </a:rPr>
              <a:t>4. Fixer l'offre de lancement pour les distributeurs.</a:t>
            </a:r>
          </a:p>
          <a:p>
            <a:pPr>
              <a:spcAft>
                <a:spcPts val="300"/>
              </a:spcAft>
            </a:pPr>
            <a:r>
              <a:rPr sz="1700" b="0">
                <a:solidFill>
                  <a:srgbClr val="22302C"/>
                </a:solidFill>
                <a:latin typeface="Montserrat"/>
              </a:rPr>
              <a:t>5. Confirmer le stock disponible au 11 décembre.</a:t>
            </a:r>
          </a:p>
          <a:p>
            <a:pPr>
              <a:spcAft>
                <a:spcPts val="300"/>
              </a:spcAft>
            </a:pPr>
            <a:r>
              <a:rPr sz="1700" b="0">
                <a:solidFill>
                  <a:srgbClr val="22302C"/>
                </a:solidFill>
                <a:latin typeface="Montserrat"/>
              </a:rPr>
              <a:t>6. Valider l'idée créative « Ça pique, c'est d'ici 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515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B3123A"/>
                </a:solidFill>
                <a:latin typeface="Montserrat"/>
              </a:rPr>
              <a:t>Rien n'est envoyé, réservé ni payé sans accord écrit du client.</a:t>
            </a:r>
          </a:p>
        </p:txBody>
      </p:sp>
      <p:pic>
        <p:nvPicPr>
          <p:cNvPr id="8" name="Picture 7" descr="_c_press.png_3700000_3400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0000" y="1500000"/>
            <a:ext cx="3700000" cy="34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