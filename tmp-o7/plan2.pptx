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launch.png_60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00" y="0"/>
            <a:ext cx="60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8000"/>
            <a:ext cx="6100000" cy="140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700000"/>
            <a:ext cx="5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E5E4E"/>
                </a:solidFill>
                <a:latin typeface="Montserrat"/>
              </a:rPr>
              <a:t>ORIGIN7  |  BOISSONS LAGUNE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500000"/>
            <a:ext cx="53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0E5E4E"/>
                </a:solidFill>
                <a:latin typeface="Montserrat"/>
              </a:rPr>
              <a:t>Plan de communication du lancement de « Gingembre Pétillant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600000"/>
            <a:ext cx="5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2302C"/>
                </a:solidFill>
                <a:latin typeface="Montserrat"/>
              </a:rPr>
              <a:t>La première boisson au gingembre pétillante, fabriquée à Abidjan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4600000"/>
            <a:ext cx="53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570"/>
                </a:solidFill>
                <a:latin typeface="Montserrat"/>
              </a:rPr>
              <a:t>Soirée de lancement : jeudi 10 décembre 2026, 18 h 30 à 21 h 30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570"/>
                </a:solidFill>
                <a:latin typeface="Montserrat"/>
              </a:rPr>
              <a:t>Terrasse sur la lagune, Cocody, Abidjan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570"/>
                </a:solidFill>
                <a:latin typeface="Montserrat"/>
              </a:rPr>
              <a:t>Version du 19 octobre 2026, à valider par le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L'essentiel en une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00" y="1650000"/>
            <a:ext cx="2600000" cy="40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0000" y="1650000"/>
            <a:ext cx="2600000" cy="11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0000" y="1900000"/>
            <a:ext cx="2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E5E4E"/>
                </a:solidFill>
                <a:latin typeface="Montserrat"/>
              </a:rPr>
              <a:t>Quoi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000" y="2500000"/>
            <a:ext cx="225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Une soirée de lancement sur la lagune pour présenter Gingembre Pétillant : présentation, dégustation, rencontre avec les distributeurs, prises de parole.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0000" y="1650000"/>
            <a:ext cx="2600000" cy="40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0000" y="1650000"/>
            <a:ext cx="2600000" cy="110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0000" y="1900000"/>
            <a:ext cx="2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F28C28"/>
                </a:solidFill>
                <a:latin typeface="Montserrat"/>
              </a:rPr>
              <a:t>Pour qui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0000" y="2500000"/>
            <a:ext cx="225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180 invités : 30 journalistes, 50 distributeurs et gérants de points de vente, 25 créateurs de contenu, 75 partenaires et prescripteurs.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00" y="1650000"/>
            <a:ext cx="2600000" cy="40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0000" y="1650000"/>
            <a:ext cx="2600000" cy="110000"/>
          </a:xfrm>
          <a:prstGeom prst="rect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0000" y="1900000"/>
            <a:ext cx="2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B3123A"/>
                </a:solidFill>
                <a:latin typeface="Montserrat"/>
              </a:rPr>
              <a:t>Pourquoi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0000" y="2500000"/>
            <a:ext cx="225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Faire connaître la boisson avant les fêtes, obtenir les premières commandes de la distribution et donner envie de goûter.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0000" y="1650000"/>
            <a:ext cx="2600000" cy="40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0000" y="1650000"/>
            <a:ext cx="2600000" cy="11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000" y="1900000"/>
            <a:ext cx="2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E5E4E"/>
                </a:solidFill>
                <a:latin typeface="Montserrat"/>
              </a:rPr>
              <a:t>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000" y="2500000"/>
            <a:ext cx="225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20 000 000 F CFA de communication, hors lieu, traiteur et technique de la soirée, sur 9 semaines.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Quatre objectifs, chacun mesuré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3</a:t>
            </a:r>
          </a:p>
        </p:txBody>
      </p:sp>
      <p:pic>
        <p:nvPicPr>
          <p:cNvPr id="6" name="Picture 5" descr="_c_press.png_3900000_4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000" y="1500000"/>
            <a:ext cx="3900000" cy="44000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00000" y="1600000"/>
            <a:ext cx="420000" cy="420000"/>
          </a:xfrm>
          <a:prstGeom prst="ellipse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1640000"/>
            <a:ext cx="4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" y="155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2302C"/>
                </a:solidFill>
                <a:latin typeface="Montserrat"/>
              </a:rPr>
              <a:t>Être repris par la presse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198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570"/>
                </a:solidFill>
                <a:latin typeface="Montserrat"/>
              </a:rPr>
              <a:t>20 retombées (articles, sujets radio et télé) entre le 10 et le 24 décembre</a:t>
            </a:r>
          </a:p>
        </p:txBody>
      </p:sp>
      <p:sp>
        <p:nvSpPr>
          <p:cNvPr id="11" name="Oval 10"/>
          <p:cNvSpPr/>
          <p:nvPr/>
        </p:nvSpPr>
        <p:spPr>
          <a:xfrm>
            <a:off x="600000" y="2700000"/>
            <a:ext cx="420000" cy="42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000" y="2740000"/>
            <a:ext cx="4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000" y="265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2302C"/>
                </a:solidFill>
                <a:latin typeface="Montserrat"/>
              </a:rPr>
              <a:t>Remplir la salle avec les bons invités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000" y="308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570"/>
                </a:solidFill>
                <a:latin typeface="Montserrat"/>
              </a:rPr>
              <a:t>70 % de présents parmi les invités confirmés</a:t>
            </a:r>
          </a:p>
        </p:txBody>
      </p:sp>
      <p:sp>
        <p:nvSpPr>
          <p:cNvPr id="15" name="Oval 14"/>
          <p:cNvSpPr/>
          <p:nvPr/>
        </p:nvSpPr>
        <p:spPr>
          <a:xfrm>
            <a:off x="600000" y="3800000"/>
            <a:ext cx="420000" cy="420000"/>
          </a:xfrm>
          <a:prstGeom prst="ellipse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000" y="3840000"/>
            <a:ext cx="4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000" y="375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2302C"/>
                </a:solidFill>
                <a:latin typeface="Montserrat"/>
              </a:rPr>
              <a:t>Signer la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000" y="418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570"/>
                </a:solidFill>
                <a:latin typeface="Montserrat"/>
              </a:rPr>
              <a:t>30 points de vente ou distributeurs qui passent commande avant le 31 décembre</a:t>
            </a:r>
          </a:p>
        </p:txBody>
      </p:sp>
      <p:sp>
        <p:nvSpPr>
          <p:cNvPr id="19" name="Oval 18"/>
          <p:cNvSpPr/>
          <p:nvPr/>
        </p:nvSpPr>
        <p:spPr>
          <a:xfrm>
            <a:off x="600000" y="4900000"/>
            <a:ext cx="420000" cy="420000"/>
          </a:xfrm>
          <a:prstGeom prst="ellipse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000" y="4940000"/>
            <a:ext cx="4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000" y="485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2302C"/>
                </a:solidFill>
                <a:latin typeface="Montserrat"/>
              </a:rPr>
              <a:t>Faire parler en ligne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000" y="528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570"/>
                </a:solidFill>
                <a:latin typeface="Montserrat"/>
              </a:rPr>
              <a:t>1 000 000 de vues cumulées sur Facebook, Instagram et TikTok avec le mot-dièse #GingembrePétillant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MESSAGES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Ce qu'on veut que tout le monde retienne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4</a:t>
            </a:r>
          </a:p>
        </p:txBody>
      </p:sp>
      <p:pic>
        <p:nvPicPr>
          <p:cNvPr id="6" name="Picture 5" descr="_c_tasting.png_4600000_4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500000"/>
            <a:ext cx="4600000" cy="44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00000" y="1500000"/>
            <a:ext cx="6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Le goût d'ici, en version pétillante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2302C"/>
                </a:solidFill>
                <a:latin typeface="Montserrat"/>
              </a:rPr>
              <a:t>Le gingembre que tout le monde connaît, en bouteille fraîche et pétillante, prêt à boire.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Fabriqué à Abidjan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2302C"/>
                </a:solidFill>
                <a:latin typeface="Montserrat"/>
              </a:rPr>
              <a:t>Produit dans une usine ivoirienne, avec du gingembre acheté à des coopératives locales.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La boisson des fêtes 2026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2302C"/>
                </a:solidFill>
                <a:latin typeface="Montserrat"/>
              </a:rPr>
              <a:t>Pensée pour se partager : en famille, au maquis, au bureau.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Disponible dès le 11 décembre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2302C"/>
                </a:solidFill>
                <a:latin typeface="Montserrat"/>
              </a:rPr>
              <a:t>En supermarchés, stations-service et chez les distributeurs partenaires.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CIBLES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Les publics et ce qu'on leur 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550000"/>
          <a:ext cx="110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4200000"/>
                <a:gridCol w="3800000"/>
              </a:tblGrid>
              <a:tr h="7000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ontserrat"/>
                        </a:rPr>
                        <a:t>Public</a:t>
                      </a:r>
                    </a:p>
                  </a:txBody>
                  <a:tcPr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ontserrat"/>
                        </a:rPr>
                        <a:t>Ce qui l'intéresse</a:t>
                      </a:r>
                    </a:p>
                  </a:txBody>
                  <a:tcPr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ontserrat"/>
                        </a:rPr>
                        <a:t>Ce qu'on lui donne</a:t>
                      </a:r>
                    </a:p>
                  </a:txBody>
                  <a:tcPr>
                    <a:solidFill>
                      <a:srgbClr val="0E5E4E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302C"/>
                          </a:solidFill>
                          <a:latin typeface="Montserrat"/>
                        </a:rPr>
                        <a:t>Presse et médias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Une nouveauté ivoirienne, une entreprise qui fabrique ici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Communiqué, dossier de presse, interviews, photos HD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302C"/>
                          </a:solidFill>
                          <a:latin typeface="Montserrat"/>
                        </a:rPr>
                        <a:t>Distributeurs et points de vente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Un produit qui va tourner pendant les fêtes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Conditions de lancement, PLV, commande sur 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302C"/>
                          </a:solidFill>
                          <a:latin typeface="Montserrat"/>
                        </a:rPr>
                        <a:t>Créateurs de contenu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Une soirée à filmer, un goût à faire découvrir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Accès à l'espace dégustation, kit de produits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302C"/>
                          </a:solidFill>
                          <a:latin typeface="Montserrat"/>
                        </a:rPr>
                        <a:t>Partenaires et prescripteurs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Un projet local qui crée de la valeur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Prise de parole, visite des stands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302C"/>
                          </a:solidFill>
                          <a:latin typeface="Montserrat"/>
                        </a:rPr>
                        <a:t>Grand public (relais)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La boisson des fêtes, disponible demain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302C"/>
                          </a:solidFill>
                          <a:latin typeface="Montserrat"/>
                        </a:rPr>
                        <a:t>Vidéos, jeu concours, points de vente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DÉROULÉ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Le plan en trois temps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6</a:t>
            </a:r>
          </a:p>
        </p:txBody>
      </p:sp>
      <p:pic>
        <p:nvPicPr>
          <p:cNvPr id="6" name="Picture 5" descr="_c_team.png_3500000_17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500000"/>
            <a:ext cx="3500000" cy="17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0000" y="3200000"/>
            <a:ext cx="3500000" cy="2750000"/>
          </a:xfrm>
          <a:prstGeom prst="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0000" y="33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E5E4E"/>
                </a:solidFill>
                <a:latin typeface="Montserrat"/>
              </a:rPr>
              <a:t>AVANT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00" y="37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6B7570"/>
                </a:solidFill>
                <a:latin typeface="Montserrat"/>
              </a:rPr>
              <a:t>du 9 novembre au 9 décembre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000" y="4150000"/>
            <a:ext cx="32000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Liste des invités, invitations le 16 novembre, relance le 1er décembre. Teasing sur les réseaux à partir du 30 novembre : « Quelque chose pique à Abidjan… »</a:t>
            </a:r>
          </a:p>
        </p:txBody>
      </p:sp>
      <p:pic>
        <p:nvPicPr>
          <p:cNvPr id="11" name="Picture 10" descr="_c_launch.png_3500000_170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000" y="1500000"/>
            <a:ext cx="3500000" cy="170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00000" y="3200000"/>
            <a:ext cx="3500000" cy="2750000"/>
          </a:xfrm>
          <a:prstGeom prst="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0000" y="33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F28C28"/>
                </a:solidFill>
                <a:latin typeface="Montserrat"/>
              </a:rPr>
              <a:t>PENDANT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0000" y="37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6B7570"/>
                </a:solidFill>
                <a:latin typeface="Montserrat"/>
              </a:rPr>
              <a:t>jeudi 10 décembre, 18 h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0000" y="4150000"/>
            <a:ext cx="32000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Accueil, présentation, révélation de la bouteille, dégustation, espace distributeurs, interviews. Communiqué diffusé à 19 h 30, stories en direct.</a:t>
            </a:r>
          </a:p>
        </p:txBody>
      </p:sp>
      <p:pic>
        <p:nvPicPr>
          <p:cNvPr id="16" name="Picture 15" descr="_c_social.png_3500000_17000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000" y="1500000"/>
            <a:ext cx="3500000" cy="1700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000000" y="3200000"/>
            <a:ext cx="3500000" cy="2750000"/>
          </a:xfrm>
          <a:prstGeom prst="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0000" y="33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B3123A"/>
                </a:solidFill>
                <a:latin typeface="Montserrat"/>
              </a:rPr>
              <a:t>APRÈS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0000" y="37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6B7570"/>
                </a:solidFill>
                <a:latin typeface="Montserrat"/>
              </a:rPr>
              <a:t>du 11 au 31 décembre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0000" y="4150000"/>
            <a:ext cx="32000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Envoi des photos à la presse, vidéo récap, publicité sur les réseaux, jeu concours, suivi des commandes, bilan le 8 janvier.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DATES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Le rétroplanning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7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3500000"/>
            <a:ext cx="11000000" cy="5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17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lun. 9 nov.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21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Plan, lieu et budget validés par le client</a:t>
            </a:r>
          </a:p>
        </p:txBody>
      </p:sp>
      <p:sp>
        <p:nvSpPr>
          <p:cNvPr id="10" name="Oval 9"/>
          <p:cNvSpPr/>
          <p:nvPr/>
        </p:nvSpPr>
        <p:spPr>
          <a:xfrm>
            <a:off x="232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4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lun. 16 nov.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0000" y="42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Invitations envoyées</a:t>
            </a:r>
          </a:p>
        </p:txBody>
      </p:sp>
      <p:sp>
        <p:nvSpPr>
          <p:cNvPr id="13" name="Oval 12"/>
          <p:cNvSpPr/>
          <p:nvPr/>
        </p:nvSpPr>
        <p:spPr>
          <a:xfrm>
            <a:off x="356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0000" y="17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ven. 27 nov.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0000" y="21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Dossier de presse et PLV validés</a:t>
            </a:r>
          </a:p>
        </p:txBody>
      </p:sp>
      <p:sp>
        <p:nvSpPr>
          <p:cNvPr id="16" name="Oval 15"/>
          <p:cNvSpPr/>
          <p:nvPr/>
        </p:nvSpPr>
        <p:spPr>
          <a:xfrm>
            <a:off x="480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lun. 30 nov.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0" y="42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Début du teasing sur les réseaux</a:t>
            </a:r>
          </a:p>
        </p:txBody>
      </p:sp>
      <p:sp>
        <p:nvSpPr>
          <p:cNvPr id="19" name="Oval 18"/>
          <p:cNvSpPr/>
          <p:nvPr/>
        </p:nvSpPr>
        <p:spPr>
          <a:xfrm>
            <a:off x="604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60000" y="17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mar. 1er déc.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0000" y="21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Relance des invités</a:t>
            </a:r>
          </a:p>
        </p:txBody>
      </p:sp>
      <p:sp>
        <p:nvSpPr>
          <p:cNvPr id="22" name="Oval 21"/>
          <p:cNvSpPr/>
          <p:nvPr/>
        </p:nvSpPr>
        <p:spPr>
          <a:xfrm>
            <a:off x="728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lun. 7 déc.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0000" y="42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Liste des présents arrêtée</a:t>
            </a:r>
          </a:p>
        </p:txBody>
      </p:sp>
      <p:sp>
        <p:nvSpPr>
          <p:cNvPr id="25" name="Oval 24"/>
          <p:cNvSpPr/>
          <p:nvPr/>
        </p:nvSpPr>
        <p:spPr>
          <a:xfrm>
            <a:off x="852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0000" y="17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mer. 9 déc.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0000" y="21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Répétition générale sur le lieu</a:t>
            </a:r>
          </a:p>
        </p:txBody>
      </p:sp>
      <p:sp>
        <p:nvSpPr>
          <p:cNvPr id="28" name="Oval 27"/>
          <p:cNvSpPr/>
          <p:nvPr/>
        </p:nvSpPr>
        <p:spPr>
          <a:xfrm>
            <a:off x="9760000" y="3420000"/>
            <a:ext cx="210000" cy="210000"/>
          </a:xfrm>
          <a:prstGeom prst="ellipse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jeu. 10 déc.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0000" y="42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Soirée de lancement</a:t>
            </a:r>
          </a:p>
        </p:txBody>
      </p:sp>
      <p:sp>
        <p:nvSpPr>
          <p:cNvPr id="31" name="Oval 30"/>
          <p:cNvSpPr/>
          <p:nvPr/>
        </p:nvSpPr>
        <p:spPr>
          <a:xfrm>
            <a:off x="1100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0000" y="17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ven. 8 janv.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20000" y="2100000"/>
            <a:ext cx="1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Bilan et revue de presse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JEUDI 10 DÉCEMBRE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Le programme de la soirée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8</a:t>
            </a:r>
          </a:p>
        </p:txBody>
      </p:sp>
      <p:pic>
        <p:nvPicPr>
          <p:cNvPr id="6" name="Picture 5" descr="_c_tasting.png_4600000_4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500000"/>
            <a:ext cx="4600000" cy="44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0000" y="1450000"/>
            <a:ext cx="62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18 h 30, accueil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Cocktail sans alcool au gingembre, photocall, remise des kits presse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19 h 15, ouverture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Mot de bienvenue du directeur général de Boissons Lagune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19 h 30, révélation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Film de lancement, présentation de la bouteille, communiqué diffusé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19 h 50, dégustation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Bar à gingembre et accords avec des bouchées locales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20 h 15, espace distributeurs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Conditions de lancement, commandes sur place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20 h 15, interviews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Créneaux de 10 minutes pour la presse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21 h 30, fin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DIFFUSION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Les canaux et les contenus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9</a:t>
            </a:r>
          </a:p>
        </p:txBody>
      </p:sp>
      <p:pic>
        <p:nvPicPr>
          <p:cNvPr id="6" name="Picture 5" descr="_c_social.png_4200000_4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500000"/>
            <a:ext cx="4200000" cy="44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00000" y="1500000"/>
            <a:ext cx="120000" cy="95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50000" y="150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0E5E4E"/>
                </a:solidFill>
                <a:latin typeface="Montserrat"/>
              </a:rPr>
              <a:t>Presse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0000" y="192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Invitation, communiqué, dossier de presse, photos HD, relances téléphoniques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00000" y="2620000"/>
            <a:ext cx="120000" cy="950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0000" y="262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F28C28"/>
                </a:solidFill>
                <a:latin typeface="Montserrat"/>
              </a:rPr>
              <a:t>Réseaux sociaux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0000" y="304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Teasing du 30 novembre au 9 décembre, direct le 10, vidéo récap le 11, publicité du 11 au 31 décembre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0000" y="3740000"/>
            <a:ext cx="120000" cy="950000"/>
          </a:xfrm>
          <a:prstGeom prst="rect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0000" y="374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B3123A"/>
                </a:solidFill>
                <a:latin typeface="Montserrat"/>
              </a:rPr>
              <a:t>Créateurs de contenu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0000" y="416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25 invités, dont 5 sous contrat pour une vidéo chacun, mention « partenariat » obligatoire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0000" y="4860000"/>
            <a:ext cx="120000" cy="95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0000" y="486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0E5E4E"/>
                </a:solidFill>
                <a:latin typeface="Montserrat"/>
              </a:rPr>
              <a:t>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0000" y="528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Invitation personnalisée, fiche produit, conditions de lancement, PLV livrée avant le 15 décembre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Le budget de communication : 20 000 000 F CFA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550000"/>
          <a:ext cx="76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000"/>
                <a:gridCol w="1900000"/>
                <a:gridCol w="1100000"/>
              </a:tblGrid>
              <a:tr h="5250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ontserrat"/>
                        </a:rPr>
                        <a:t>Poste</a:t>
                      </a:r>
                    </a:p>
                  </a:txBody>
                  <a:tcPr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ontserrat"/>
                        </a:rPr>
                        <a:t>Montant</a:t>
                      </a:r>
                    </a:p>
                  </a:txBody>
                  <a:tcPr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ontserrat"/>
                        </a:rPr>
                        <a:t>Part</a:t>
                      </a:r>
                    </a:p>
                  </a:txBody>
                  <a:tcPr>
                    <a:solidFill>
                      <a:srgbClr val="0E5E4E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Publicité sur les réseaux (Meta, TikTok)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6 000 000 F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30 %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Créateurs de contenu (5 contrats)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3 500 000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17,5 %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Film de lancement et photos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3 000 000 F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15 %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Relations presse (dossier, kits, relances)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2 000 000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10 %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PLV et matériel de la distribution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2 500 000 F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12,5 %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Jeu concours (lots et règlement)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1 000 000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Réserve (10 %)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2 000 000 F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02C"/>
                          </a:solidFill>
                          <a:latin typeface="Montserrat"/>
                        </a:rPr>
                        <a:t>10 %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0000" y="1550000"/>
            <a:ext cx="3100000" cy="42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00000" y="1700000"/>
            <a:ext cx="275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Hors budget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Le lieu, le traiteur, la sonorisation, la lumière et la décoration de la soirée relèvent du budget événementiel, chiffré séparément.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Réserve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Débloquée le 15 décembre sur le canal qui apporte le plus de commandes ou de vues.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RÔLES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Qui fait quoi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550000"/>
          <a:ext cx="7300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000"/>
                <a:gridCol w="4200000"/>
              </a:tblGrid>
              <a:tr h="7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Boissons Lagune, direction générale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Valide le plan, prend la parole, accorde les interviews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  <a:tr h="7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Boissons Lagune, direction commerciale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Invite les distributeurs, fixe les conditions de lancement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Origin7, cheffe de projet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Pilote le plan, le budget et le rétroplanning, point hebdomadaire avec le client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  <a:tr h="7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Origin7, relations presse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Liste des médias, invitations, relances, accueil presse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Origin7, digital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Teasing, direct, publicité, créateurs de contenu, bilan des réseaux</a:t>
                      </a:r>
                    </a:p>
                  </a:txBody>
                  <a:tcPr>
                    <a:solidFill>
                      <a:srgbClr val="FBF4E8"/>
                    </a:solidFill>
                  </a:tcPr>
                </a:tc>
              </a:tr>
              <a:tr h="7166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Origin7,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Film, photos, PLV, décor et photocall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_c_retail.png_3400000_43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00" y="1550000"/>
            <a:ext cx="3400000" cy="43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PRÉVENTION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Les risques, et ce qu'on prévoit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12</a:t>
            </a:r>
          </a:p>
        </p:txBody>
      </p:sp>
      <p:sp>
        <p:nvSpPr>
          <p:cNvPr id="6" name="Oval 5"/>
          <p:cNvSpPr/>
          <p:nvPr/>
        </p:nvSpPr>
        <p:spPr>
          <a:xfrm>
            <a:off x="600000" y="1610000"/>
            <a:ext cx="220000" cy="22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000" y="1550000"/>
            <a:ext cx="41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Agendas pris par les fêtes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0" y="1550000"/>
            <a:ext cx="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Date fixée au 10 décembre, avant les départs ; invitations un mois avant ; relance personnelle le 1er décembre.</a:t>
            </a:r>
          </a:p>
        </p:txBody>
      </p:sp>
      <p:sp>
        <p:nvSpPr>
          <p:cNvPr id="9" name="Oval 8"/>
          <p:cNvSpPr/>
          <p:nvPr/>
        </p:nvSpPr>
        <p:spPr>
          <a:xfrm>
            <a:off x="600000" y="2470000"/>
            <a:ext cx="220000" cy="22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2410000"/>
            <a:ext cx="41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Pluie ou vent sur la terrasse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0" y="2410000"/>
            <a:ext cx="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Tente réservée en option, ou repli dans une salle couverte du même lieu.</a:t>
            </a:r>
          </a:p>
        </p:txBody>
      </p:sp>
      <p:sp>
        <p:nvSpPr>
          <p:cNvPr id="12" name="Oval 11"/>
          <p:cNvSpPr/>
          <p:nvPr/>
        </p:nvSpPr>
        <p:spPr>
          <a:xfrm>
            <a:off x="600000" y="3330000"/>
            <a:ext cx="220000" cy="22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000" y="3270000"/>
            <a:ext cx="41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Rupture de stock après le lancement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0000" y="3270000"/>
            <a:ext cx="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Stock confirmé par l'usine avant le 1er décembre ; publicité arrêtée si un point de vente manque de produit.</a:t>
            </a:r>
          </a:p>
        </p:txBody>
      </p:sp>
      <p:sp>
        <p:nvSpPr>
          <p:cNvPr id="15" name="Oval 14"/>
          <p:cNvSpPr/>
          <p:nvPr/>
        </p:nvSpPr>
        <p:spPr>
          <a:xfrm>
            <a:off x="600000" y="4190000"/>
            <a:ext cx="220000" cy="22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000" y="4130000"/>
            <a:ext cx="41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Allégation santé sur le gingembre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0000" y="4130000"/>
            <a:ext cx="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Aucune promesse santé dans les textes ni chez les créateurs : on parle du goût et de la fraîcheur.</a:t>
            </a:r>
          </a:p>
        </p:txBody>
      </p:sp>
      <p:sp>
        <p:nvSpPr>
          <p:cNvPr id="18" name="Oval 17"/>
          <p:cNvSpPr/>
          <p:nvPr/>
        </p:nvSpPr>
        <p:spPr>
          <a:xfrm>
            <a:off x="600000" y="5050000"/>
            <a:ext cx="220000" cy="22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000" y="4990000"/>
            <a:ext cx="41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Retard technique pendant la révélation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0000" y="4990000"/>
            <a:ext cx="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Répétition le 9 décembre, film sur deux supports, maître de cérémonie prévenu.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AVANT LE 9 NOVEMBRE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22302C"/>
                </a:solidFill>
                <a:latin typeface="Montserrat"/>
              </a:rPr>
              <a:t>Les décisions à prendre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lancement, 10 décembre 2026  |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600000"/>
            <a:ext cx="68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2302C"/>
                </a:solidFill>
                <a:latin typeface="Montserrat"/>
              </a:rPr>
              <a:t>1. Valider la date du jeudi 10 décembre et le lieu.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2302C"/>
                </a:solidFill>
                <a:latin typeface="Montserrat"/>
              </a:rPr>
              <a:t>2. Valider le budget de 20 000 000 F CFA et sa répartition.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2302C"/>
                </a:solidFill>
                <a:latin typeface="Montserrat"/>
              </a:rPr>
              <a:t>3. Désigner le porte-parole de Boissons Lagune.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2302C"/>
                </a:solidFill>
                <a:latin typeface="Montserrat"/>
              </a:rPr>
              <a:t>4. Fixer les conditions de lancement pour les distributeurs.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2302C"/>
                </a:solidFill>
                <a:latin typeface="Montserrat"/>
              </a:rPr>
              <a:t>5. Confirmer le stock disponible au 11 décembre.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51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B3123A"/>
                </a:solidFill>
                <a:latin typeface="Montserrat"/>
              </a:rPr>
              <a:t>Rien n'est envoyé, réservé ni payé sans accord écrit du client.</a:t>
            </a:r>
          </a:p>
        </p:txBody>
      </p:sp>
      <p:pic>
        <p:nvPicPr>
          <p:cNvPr id="8" name="Picture 7" descr="_c_team.png_3700000_33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000" y="1600000"/>
            <a:ext cx="3700000" cy="33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