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hyperlink" Target="https://www.linkedin.com/in/kahilumumba/" TargetMode="External"/><Relationship Id="rId5" Type="http://schemas.openxmlformats.org/officeDocument/2006/relationships/hyperlink" Target="https://www.instagram.com/kahindula6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6.jpg"/><Relationship Id="rId4"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image" Target="../media/image20.jpg"/><Relationship Id="rId5" Type="http://schemas.openxmlformats.org/officeDocument/2006/relationships/image" Target="../media/image21.jpg"/><Relationship Id="rId6"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3.jpg"/><Relationship Id="rId4" Type="http://schemas.openxmlformats.org/officeDocument/2006/relationships/hyperlink" Target="https://www.linkedin.com/posts/kahilumumba_que-dire-%C3%A0-part-que-je-nai-pas-encore-activity-7453483911634042882-IbOr" TargetMode="External"/><Relationship Id="rId5" Type="http://schemas.openxmlformats.org/officeDocument/2006/relationships/image" Target="../media/image24.jpg"/><Relationship Id="rId6" Type="http://schemas.openxmlformats.org/officeDocument/2006/relationships/hyperlink" Target="https://www.linkedin.com/posts/kahilumumba_chaque-d%C3%A9tail-productions-annonce-la-sortie-activity-7457367595185414145-kgMh" TargetMode="External"/><Relationship Id="rId7" Type="http://schemas.openxmlformats.org/officeDocument/2006/relationships/image" Target="../media/image25.jpg"/><Relationship Id="rId8" Type="http://schemas.openxmlformats.org/officeDocument/2006/relationships/hyperlink" Target="https://www.linkedin.com/posts/kahilumumba_tout-le-monde-fait-du-digital-peu-comprennent-activity-7420518452886433792-CHg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hyperlink" Target="https://www.linkedin.com/posts/kahilumumba_quand-orange-rdc-passe-au-jaune-pendant-activity-7434591270091522048-1NGI" TargetMode="External"/><Relationship Id="rId5" Type="http://schemas.openxmlformats.org/officeDocument/2006/relationships/hyperlink" Target="https://www.linkedin.com/posts/kahilumumba_ep-150-tu-fais-du-chiffre-mais-pas-de-profit-activity-7424043961075421184-bTRO" TargetMode="External"/><Relationship Id="rId6" Type="http://schemas.openxmlformats.org/officeDocument/2006/relationships/hyperlink" Target="https://www.linkedin.com/posts/kahilumumba_adicom10-digitalafrica-creativity-activity-7429457108259180547-rkJ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0.jpg"/><Relationship Id="rId4" Type="http://schemas.openxmlformats.org/officeDocument/2006/relationships/hyperlink" Target="https://www.instagram.com/p/DUyb7Y2DfCP/" TargetMode="External"/><Relationship Id="rId5" Type="http://schemas.openxmlformats.org/officeDocument/2006/relationships/image" Target="../media/image31.jpg"/><Relationship Id="rId6" Type="http://schemas.openxmlformats.org/officeDocument/2006/relationships/hyperlink" Target="https://www.instagram.com/p/qx/" TargetMode="External"/><Relationship Id="rId7" Type="http://schemas.openxmlformats.org/officeDocument/2006/relationships/image" Target="../media/image32.jpg"/><Relationship Id="rId8" Type="http://schemas.openxmlformats.org/officeDocument/2006/relationships/hyperlink" Target="https://www.instagram.com/p/DXzQk8bDVn0/" TargetMode="External"/><Relationship Id="rId9" Type="http://schemas.openxmlformats.org/officeDocument/2006/relationships/image" Target="../media/image33.jpg"/><Relationship Id="rId10" Type="http://schemas.openxmlformats.org/officeDocument/2006/relationships/hyperlink" Target="https://www.instagram.com/p/DZK8SK6N-RU/" TargetMode="External"/><Relationship Id="rId11" Type="http://schemas.openxmlformats.org/officeDocument/2006/relationships/image" Target="../media/image34.jpg"/><Relationship Id="rId12" Type="http://schemas.openxmlformats.org/officeDocument/2006/relationships/hyperlink" Target="https://www.instagram.com/p/DVOJBMSDFhq/" TargetMode="External"/><Relationship Id="rId13" Type="http://schemas.openxmlformats.org/officeDocument/2006/relationships/image" Target="../media/image35.jpg"/><Relationship Id="rId14" Type="http://schemas.openxmlformats.org/officeDocument/2006/relationships/hyperlink" Target="https://www.instagram.com/p/Dae-37Attkf/" TargetMode="External"/><Relationship Id="rId15" Type="http://schemas.openxmlformats.org/officeDocument/2006/relationships/image" Target="../media/image36.jpg"/><Relationship Id="rId16" Type="http://schemas.openxmlformats.org/officeDocument/2006/relationships/hyperlink" Target="https://www.instagram.com/p/DadXkcjNKY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38.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4.png"/><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jpg"/><Relationship Id="rId4" Type="http://schemas.openxmlformats.org/officeDocument/2006/relationships/image" Target="../media/image50.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jpg"/><Relationship Id="rId4" Type="http://schemas.openxmlformats.org/officeDocument/2006/relationships/image" Target="../media/image5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17.jpg"/><Relationship Id="rId4" Type="http://schemas.openxmlformats.org/officeDocument/2006/relationships/image" Target="../media/image5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57.jpg"/><Relationship Id="rId4" Type="http://schemas.openxmlformats.org/officeDocument/2006/relationships/image" Target="../media/image58.jpg"/><Relationship Id="rId5" Type="http://schemas.openxmlformats.org/officeDocument/2006/relationships/image" Target="../media/image59.jpg"/><Relationship Id="rId6" Type="http://schemas.openxmlformats.org/officeDocument/2006/relationships/image" Target="../media/image56.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13.png"/><Relationship Id="rId6"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linkedin.com/in/kahilumumba/" TargetMode="External"/><Relationship Id="rId4" Type="http://schemas.openxmlformats.org/officeDocument/2006/relationships/hyperlink" Target="https://www.instagram.com/kahindula6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cov.jpg"/>
          <p:cNvPicPr>
            <a:picLocks noChangeAspect="1"/>
          </p:cNvPicPr>
          <p:nvPr/>
        </p:nvPicPr>
        <p:blipFill>
          <a:blip r:embed="rId2"/>
          <a:stretch>
            <a:fillRect/>
          </a:stretch>
        </p:blipFill>
        <p:spPr>
          <a:xfrm>
            <a:off x="6702552" y="0"/>
            <a:ext cx="5486400" cy="68580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3"/>
          <a:stretch>
            <a:fillRect/>
          </a:stretch>
        </p:blipFill>
        <p:spPr>
          <a:xfrm>
            <a:off x="731520" y="640080"/>
            <a:ext cx="1456841" cy="731520"/>
          </a:xfrm>
          <a:prstGeom prst="rect">
            <a:avLst/>
          </a:prstGeom>
        </p:spPr>
      </p:pic>
      <p:sp>
        <p:nvSpPr>
          <p:cNvPr id="5" name="TextBox 4"/>
          <p:cNvSpPr txBox="1"/>
          <p:nvPr/>
        </p:nvSpPr>
        <p:spPr>
          <a:xfrm>
            <a:off x="731520" y="1828800"/>
            <a:ext cx="5760720" cy="365760"/>
          </a:xfrm>
          <a:prstGeom prst="rect">
            <a:avLst/>
          </a:prstGeom>
          <a:noFill/>
        </p:spPr>
        <p:txBody>
          <a:bodyPr wrap="square" lIns="18288" rIns="18288" tIns="18288" bIns="18288" anchor="t">
            <a:spAutoFit/>
          </a:bodyPr>
          <a:lstStyle/>
          <a:p>
            <a:pPr algn="l">
              <a:lnSpc>
                <a:spcPct val="112000"/>
              </a:lnSpc>
            </a:pPr>
            <a:r>
              <a:rPr sz="1200" b="1" i="0">
                <a:solidFill>
                  <a:srgbClr val="B6D401"/>
                </a:solidFill>
                <a:latin typeface="Montserrat"/>
              </a:rPr>
              <a:t>ANALYSE ET VEILLE · RÉSEAUX SOCIAUX</a:t>
            </a:r>
          </a:p>
        </p:txBody>
      </p:sp>
      <p:sp>
        <p:nvSpPr>
          <p:cNvPr id="6" name="TextBox 5"/>
          <p:cNvSpPr txBox="1"/>
          <p:nvPr/>
        </p:nvSpPr>
        <p:spPr>
          <a:xfrm>
            <a:off x="731520" y="2240280"/>
            <a:ext cx="5760720" cy="1463040"/>
          </a:xfrm>
          <a:prstGeom prst="rect">
            <a:avLst/>
          </a:prstGeom>
          <a:noFill/>
        </p:spPr>
        <p:txBody>
          <a:bodyPr wrap="square" lIns="18288" rIns="18288" tIns="18288" bIns="18288" anchor="t">
            <a:spAutoFit/>
          </a:bodyPr>
          <a:lstStyle/>
          <a:p>
            <a:pPr algn="l">
              <a:lnSpc>
                <a:spcPct val="112000"/>
              </a:lnSpc>
            </a:pPr>
            <a:r>
              <a:rPr sz="4400" b="1" i="0">
                <a:solidFill>
                  <a:srgbClr val="FFFFFF"/>
                </a:solidFill>
                <a:latin typeface="Montserrat"/>
              </a:rPr>
              <a:t>Kahi Lumumba en ligne</a:t>
            </a:r>
          </a:p>
        </p:txBody>
      </p:sp>
      <p:sp>
        <p:nvSpPr>
          <p:cNvPr id="7" name="TextBox 6"/>
          <p:cNvSpPr txBox="1"/>
          <p:nvPr/>
        </p:nvSpPr>
        <p:spPr>
          <a:xfrm>
            <a:off x="731520" y="3611880"/>
            <a:ext cx="5669280" cy="109728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Ce que racontent LinkedIn et Instagram, ce qu'en font les pairs, et la stratégie pour les 90 prochains jours</a:t>
            </a:r>
          </a:p>
        </p:txBody>
      </p:sp>
      <p:sp>
        <p:nvSpPr>
          <p:cNvPr id="8" name="TextBox 7"/>
          <p:cNvSpPr txBox="1"/>
          <p:nvPr/>
        </p:nvSpPr>
        <p:spPr>
          <a:xfrm>
            <a:off x="731520" y="5074920"/>
            <a:ext cx="5669280" cy="822960"/>
          </a:xfrm>
          <a:prstGeom prst="rect">
            <a:avLst/>
          </a:prstGeom>
          <a:noFill/>
        </p:spPr>
        <p:txBody>
          <a:bodyPr wrap="square" lIns="18288" rIns="18288" tIns="18288" bIns="18288" anchor="t">
            <a:spAutoFit/>
          </a:bodyPr>
          <a:lstStyle/>
          <a:p>
            <a:pPr algn="l">
              <a:lnSpc>
                <a:spcPct val="112000"/>
              </a:lnSpc>
            </a:pPr>
            <a:r>
              <a:rPr sz="1200" b="1" i="0">
                <a:solidFill>
                  <a:srgbClr val="FFFFFF"/>
                </a:solidFill>
                <a:latin typeface="Montserrat"/>
                <a:hlinkClick r:id="rId4"/>
              </a:rPr>
              <a:t>linkedin.com/in/kahilumumba</a:t>
            </a:r>
          </a:p>
          <a:p>
            <a:pPr algn="l">
              <a:lnSpc>
                <a:spcPct val="112000"/>
              </a:lnSpc>
            </a:pPr>
            <a:r>
              <a:rPr sz="1200" b="1" i="0">
                <a:solidFill>
                  <a:srgbClr val="FFFFFF"/>
                </a:solidFill>
                <a:latin typeface="Montserrat"/>
                <a:hlinkClick r:id="rId5"/>
              </a:rPr>
              <a:t>instagram.com/kahindula61</a:t>
            </a:r>
          </a:p>
        </p:txBody>
      </p:sp>
      <p:sp>
        <p:nvSpPr>
          <p:cNvPr id="9" name="TextBox 8"/>
          <p:cNvSpPr txBox="1"/>
          <p:nvPr/>
        </p:nvSpPr>
        <p:spPr>
          <a:xfrm>
            <a:off x="731520" y="5989320"/>
            <a:ext cx="5669280" cy="457200"/>
          </a:xfrm>
          <a:prstGeom prst="rect">
            <a:avLst/>
          </a:prstGeom>
          <a:noFill/>
        </p:spPr>
        <p:txBody>
          <a:bodyPr wrap="square" lIns="18288" rIns="18288" tIns="18288" bIns="18288" anchor="t">
            <a:spAutoFit/>
          </a:bodyPr>
          <a:lstStyle/>
          <a:p>
            <a:pPr algn="l">
              <a:lnSpc>
                <a:spcPct val="112000"/>
              </a:lnSpc>
            </a:pPr>
            <a:r>
              <a:rPr sz="1000" b="0" i="0">
                <a:solidFill>
                  <a:srgbClr val="A1A1A8"/>
                </a:solidFill>
                <a:latin typeface="Montserrat"/>
              </a:rPr>
              <a:t>Période : 1er janvier au 24 octobre 2026 · Relevé du 24 octobre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CE QUE CONTIENT CE DOCUMENT</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Sommaire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TextBox 5"/>
          <p:cNvSpPr txBox="1"/>
          <p:nvPr/>
        </p:nvSpPr>
        <p:spPr>
          <a:xfrm>
            <a:off x="822960" y="1508760"/>
            <a:ext cx="914400" cy="548640"/>
          </a:xfrm>
          <a:prstGeom prst="rect">
            <a:avLst/>
          </a:prstGeom>
          <a:noFill/>
        </p:spPr>
        <p:txBody>
          <a:bodyPr wrap="square" lIns="18288" rIns="18288" tIns="18288" bIns="18288" anchor="t">
            <a:spAutoFit/>
          </a:bodyPr>
          <a:lstStyle/>
          <a:p>
            <a:pPr algn="l">
              <a:lnSpc>
                <a:spcPct val="112000"/>
              </a:lnSpc>
            </a:pPr>
            <a:r>
              <a:rPr sz="2800" b="1" i="0">
                <a:solidFill>
                  <a:srgbClr val="141414"/>
                </a:solidFill>
                <a:latin typeface="Montserrat"/>
              </a:rPr>
              <a:t>01</a:t>
            </a:r>
          </a:p>
        </p:txBody>
      </p:sp>
      <p:sp>
        <p:nvSpPr>
          <p:cNvPr id="7" name="Rectangle 6"/>
          <p:cNvSpPr/>
          <p:nvPr/>
        </p:nvSpPr>
        <p:spPr>
          <a:xfrm>
            <a:off x="1783080" y="1618488"/>
            <a:ext cx="54864" cy="384048"/>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1600200"/>
            <a:ext cx="5943600" cy="457200"/>
          </a:xfrm>
          <a:prstGeom prst="rect">
            <a:avLst/>
          </a:prstGeom>
          <a:noFill/>
        </p:spPr>
        <p:txBody>
          <a:bodyPr wrap="square" lIns="18288" rIns="18288" tIns="18288" bIns="18288" anchor="t">
            <a:spAutoFit/>
          </a:bodyPr>
          <a:lstStyle/>
          <a:p>
            <a:pPr algn="l">
              <a:lnSpc>
                <a:spcPct val="112000"/>
              </a:lnSpc>
            </a:pPr>
            <a:r>
              <a:rPr sz="1800" b="1" i="0">
                <a:solidFill>
                  <a:srgbClr val="141414"/>
                </a:solidFill>
                <a:latin typeface="Montserrat"/>
              </a:rPr>
              <a:t>L'homme, la marque, les valeurs</a:t>
            </a:r>
          </a:p>
        </p:txBody>
      </p:sp>
      <p:sp>
        <p:nvSpPr>
          <p:cNvPr id="9" name="TextBox 8"/>
          <p:cNvSpPr txBox="1"/>
          <p:nvPr/>
        </p:nvSpPr>
        <p:spPr>
          <a:xfrm>
            <a:off x="7863840" y="1618488"/>
            <a:ext cx="1097280" cy="457200"/>
          </a:xfrm>
          <a:prstGeom prst="rect">
            <a:avLst/>
          </a:prstGeom>
          <a:noFill/>
        </p:spPr>
        <p:txBody>
          <a:bodyPr wrap="square" lIns="18288" rIns="18288" tIns="18288" bIns="18288" anchor="t">
            <a:spAutoFit/>
          </a:bodyPr>
          <a:lstStyle/>
          <a:p>
            <a:pPr algn="r">
              <a:lnSpc>
                <a:spcPct val="112000"/>
              </a:lnSpc>
            </a:pPr>
            <a:r>
              <a:rPr sz="1400" b="0" i="0">
                <a:solidFill>
                  <a:srgbClr val="6E6E73"/>
                </a:solidFill>
                <a:latin typeface="Montserrat"/>
              </a:rPr>
              <a:t>p. 4</a:t>
            </a:r>
          </a:p>
        </p:txBody>
      </p:sp>
      <p:sp>
        <p:nvSpPr>
          <p:cNvPr id="10" name="Rectangle 9"/>
          <p:cNvSpPr/>
          <p:nvPr/>
        </p:nvSpPr>
        <p:spPr>
          <a:xfrm>
            <a:off x="2011680" y="2112264"/>
            <a:ext cx="6949440" cy="9144"/>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221991"/>
            <a:ext cx="914400" cy="548640"/>
          </a:xfrm>
          <a:prstGeom prst="rect">
            <a:avLst/>
          </a:prstGeom>
          <a:noFill/>
        </p:spPr>
        <p:txBody>
          <a:bodyPr wrap="square" lIns="18288" rIns="18288" tIns="18288" bIns="18288" anchor="t">
            <a:spAutoFit/>
          </a:bodyPr>
          <a:lstStyle/>
          <a:p>
            <a:pPr algn="l">
              <a:lnSpc>
                <a:spcPct val="112000"/>
              </a:lnSpc>
            </a:pPr>
            <a:r>
              <a:rPr sz="2800" b="1" i="0">
                <a:solidFill>
                  <a:srgbClr val="141414"/>
                </a:solidFill>
                <a:latin typeface="Montserrat"/>
              </a:rPr>
              <a:t>02</a:t>
            </a:r>
          </a:p>
        </p:txBody>
      </p:sp>
      <p:sp>
        <p:nvSpPr>
          <p:cNvPr id="12" name="Rectangle 11"/>
          <p:cNvSpPr/>
          <p:nvPr/>
        </p:nvSpPr>
        <p:spPr>
          <a:xfrm>
            <a:off x="1783080" y="2331720"/>
            <a:ext cx="54864" cy="384048"/>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11680" y="2313432"/>
            <a:ext cx="5943600" cy="457200"/>
          </a:xfrm>
          <a:prstGeom prst="rect">
            <a:avLst/>
          </a:prstGeom>
          <a:noFill/>
        </p:spPr>
        <p:txBody>
          <a:bodyPr wrap="square" lIns="18288" rIns="18288" tIns="18288" bIns="18288" anchor="t">
            <a:spAutoFit/>
          </a:bodyPr>
          <a:lstStyle/>
          <a:p>
            <a:pPr algn="l">
              <a:lnSpc>
                <a:spcPct val="112000"/>
              </a:lnSpc>
            </a:pPr>
            <a:r>
              <a:rPr sz="1800" b="1" i="0">
                <a:solidFill>
                  <a:srgbClr val="141414"/>
                </a:solidFill>
                <a:latin typeface="Montserrat"/>
              </a:rPr>
              <a:t>LinkedIn</a:t>
            </a:r>
          </a:p>
        </p:txBody>
      </p:sp>
      <p:sp>
        <p:nvSpPr>
          <p:cNvPr id="14" name="TextBox 13"/>
          <p:cNvSpPr txBox="1"/>
          <p:nvPr/>
        </p:nvSpPr>
        <p:spPr>
          <a:xfrm>
            <a:off x="7863840" y="2331720"/>
            <a:ext cx="1097280" cy="457200"/>
          </a:xfrm>
          <a:prstGeom prst="rect">
            <a:avLst/>
          </a:prstGeom>
          <a:noFill/>
        </p:spPr>
        <p:txBody>
          <a:bodyPr wrap="square" lIns="18288" rIns="18288" tIns="18288" bIns="18288" anchor="t">
            <a:spAutoFit/>
          </a:bodyPr>
          <a:lstStyle/>
          <a:p>
            <a:pPr algn="r">
              <a:lnSpc>
                <a:spcPct val="112000"/>
              </a:lnSpc>
            </a:pPr>
            <a:r>
              <a:rPr sz="1400" b="0" i="0">
                <a:solidFill>
                  <a:srgbClr val="6E6E73"/>
                </a:solidFill>
                <a:latin typeface="Montserrat"/>
              </a:rPr>
              <a:t>p. 8</a:t>
            </a:r>
          </a:p>
        </p:txBody>
      </p:sp>
      <p:sp>
        <p:nvSpPr>
          <p:cNvPr id="15" name="Rectangle 14"/>
          <p:cNvSpPr/>
          <p:nvPr/>
        </p:nvSpPr>
        <p:spPr>
          <a:xfrm>
            <a:off x="2011680" y="2825496"/>
            <a:ext cx="6949440" cy="9144"/>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935224"/>
            <a:ext cx="914400" cy="548640"/>
          </a:xfrm>
          <a:prstGeom prst="rect">
            <a:avLst/>
          </a:prstGeom>
          <a:noFill/>
        </p:spPr>
        <p:txBody>
          <a:bodyPr wrap="square" lIns="18288" rIns="18288" tIns="18288" bIns="18288" anchor="t">
            <a:spAutoFit/>
          </a:bodyPr>
          <a:lstStyle/>
          <a:p>
            <a:pPr algn="l">
              <a:lnSpc>
                <a:spcPct val="112000"/>
              </a:lnSpc>
            </a:pPr>
            <a:r>
              <a:rPr sz="2800" b="1" i="0">
                <a:solidFill>
                  <a:srgbClr val="141414"/>
                </a:solidFill>
                <a:latin typeface="Montserrat"/>
              </a:rPr>
              <a:t>03</a:t>
            </a:r>
          </a:p>
        </p:txBody>
      </p:sp>
      <p:sp>
        <p:nvSpPr>
          <p:cNvPr id="17" name="Rectangle 16"/>
          <p:cNvSpPr/>
          <p:nvPr/>
        </p:nvSpPr>
        <p:spPr>
          <a:xfrm>
            <a:off x="1783080" y="3044952"/>
            <a:ext cx="54864" cy="384048"/>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0" y="3026664"/>
            <a:ext cx="5943600" cy="457200"/>
          </a:xfrm>
          <a:prstGeom prst="rect">
            <a:avLst/>
          </a:prstGeom>
          <a:noFill/>
        </p:spPr>
        <p:txBody>
          <a:bodyPr wrap="square" lIns="18288" rIns="18288" tIns="18288" bIns="18288" anchor="t">
            <a:spAutoFit/>
          </a:bodyPr>
          <a:lstStyle/>
          <a:p>
            <a:pPr algn="l">
              <a:lnSpc>
                <a:spcPct val="112000"/>
              </a:lnSpc>
            </a:pPr>
            <a:r>
              <a:rPr sz="1800" b="1" i="0">
                <a:solidFill>
                  <a:srgbClr val="141414"/>
                </a:solidFill>
                <a:latin typeface="Montserrat"/>
              </a:rPr>
              <a:t>Instagram</a:t>
            </a:r>
          </a:p>
        </p:txBody>
      </p:sp>
      <p:sp>
        <p:nvSpPr>
          <p:cNvPr id="19" name="TextBox 18"/>
          <p:cNvSpPr txBox="1"/>
          <p:nvPr/>
        </p:nvSpPr>
        <p:spPr>
          <a:xfrm>
            <a:off x="7863840" y="3044952"/>
            <a:ext cx="1097280" cy="457200"/>
          </a:xfrm>
          <a:prstGeom prst="rect">
            <a:avLst/>
          </a:prstGeom>
          <a:noFill/>
        </p:spPr>
        <p:txBody>
          <a:bodyPr wrap="square" lIns="18288" rIns="18288" tIns="18288" bIns="18288" anchor="t">
            <a:spAutoFit/>
          </a:bodyPr>
          <a:lstStyle/>
          <a:p>
            <a:pPr algn="r">
              <a:lnSpc>
                <a:spcPct val="112000"/>
              </a:lnSpc>
            </a:pPr>
            <a:r>
              <a:rPr sz="1400" b="0" i="0">
                <a:solidFill>
                  <a:srgbClr val="6E6E73"/>
                </a:solidFill>
                <a:latin typeface="Montserrat"/>
              </a:rPr>
              <a:t>p. 16</a:t>
            </a:r>
          </a:p>
        </p:txBody>
      </p:sp>
      <p:sp>
        <p:nvSpPr>
          <p:cNvPr id="20" name="Rectangle 19"/>
          <p:cNvSpPr/>
          <p:nvPr/>
        </p:nvSpPr>
        <p:spPr>
          <a:xfrm>
            <a:off x="2011680" y="3538728"/>
            <a:ext cx="6949440" cy="9144"/>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648456"/>
            <a:ext cx="914400" cy="548640"/>
          </a:xfrm>
          <a:prstGeom prst="rect">
            <a:avLst/>
          </a:prstGeom>
          <a:noFill/>
        </p:spPr>
        <p:txBody>
          <a:bodyPr wrap="square" lIns="18288" rIns="18288" tIns="18288" bIns="18288" anchor="t">
            <a:spAutoFit/>
          </a:bodyPr>
          <a:lstStyle/>
          <a:p>
            <a:pPr algn="l">
              <a:lnSpc>
                <a:spcPct val="112000"/>
              </a:lnSpc>
            </a:pPr>
            <a:r>
              <a:rPr sz="2800" b="1" i="0">
                <a:solidFill>
                  <a:srgbClr val="141414"/>
                </a:solidFill>
                <a:latin typeface="Montserrat"/>
              </a:rPr>
              <a:t>04</a:t>
            </a:r>
          </a:p>
        </p:txBody>
      </p:sp>
      <p:sp>
        <p:nvSpPr>
          <p:cNvPr id="22" name="Rectangle 21"/>
          <p:cNvSpPr/>
          <p:nvPr/>
        </p:nvSpPr>
        <p:spPr>
          <a:xfrm>
            <a:off x="1783080" y="3758183"/>
            <a:ext cx="54864" cy="384048"/>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011680" y="3739896"/>
            <a:ext cx="5943600" cy="457200"/>
          </a:xfrm>
          <a:prstGeom prst="rect">
            <a:avLst/>
          </a:prstGeom>
          <a:noFill/>
        </p:spPr>
        <p:txBody>
          <a:bodyPr wrap="square" lIns="18288" rIns="18288" tIns="18288" bIns="18288" anchor="t">
            <a:spAutoFit/>
          </a:bodyPr>
          <a:lstStyle/>
          <a:p>
            <a:pPr algn="l">
              <a:lnSpc>
                <a:spcPct val="112000"/>
              </a:lnSpc>
            </a:pPr>
            <a:r>
              <a:rPr sz="1800" b="1" i="0">
                <a:solidFill>
                  <a:srgbClr val="141414"/>
                </a:solidFill>
                <a:latin typeface="Montserrat"/>
              </a:rPr>
              <a:t>Veille : six pairs</a:t>
            </a:r>
          </a:p>
        </p:txBody>
      </p:sp>
      <p:sp>
        <p:nvSpPr>
          <p:cNvPr id="24" name="TextBox 23"/>
          <p:cNvSpPr txBox="1"/>
          <p:nvPr/>
        </p:nvSpPr>
        <p:spPr>
          <a:xfrm>
            <a:off x="7863840" y="3758183"/>
            <a:ext cx="1097280" cy="457200"/>
          </a:xfrm>
          <a:prstGeom prst="rect">
            <a:avLst/>
          </a:prstGeom>
          <a:noFill/>
        </p:spPr>
        <p:txBody>
          <a:bodyPr wrap="square" lIns="18288" rIns="18288" tIns="18288" bIns="18288" anchor="t">
            <a:spAutoFit/>
          </a:bodyPr>
          <a:lstStyle/>
          <a:p>
            <a:pPr algn="r">
              <a:lnSpc>
                <a:spcPct val="112000"/>
              </a:lnSpc>
            </a:pPr>
            <a:r>
              <a:rPr sz="1400" b="0" i="0">
                <a:solidFill>
                  <a:srgbClr val="6E6E73"/>
                </a:solidFill>
                <a:latin typeface="Montserrat"/>
              </a:rPr>
              <a:t>p. 21</a:t>
            </a:r>
          </a:p>
        </p:txBody>
      </p:sp>
      <p:sp>
        <p:nvSpPr>
          <p:cNvPr id="25" name="Rectangle 24"/>
          <p:cNvSpPr/>
          <p:nvPr/>
        </p:nvSpPr>
        <p:spPr>
          <a:xfrm>
            <a:off x="2011680" y="4251959"/>
            <a:ext cx="6949440" cy="9144"/>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361688"/>
            <a:ext cx="914400" cy="548640"/>
          </a:xfrm>
          <a:prstGeom prst="rect">
            <a:avLst/>
          </a:prstGeom>
          <a:noFill/>
        </p:spPr>
        <p:txBody>
          <a:bodyPr wrap="square" lIns="18288" rIns="18288" tIns="18288" bIns="18288" anchor="t">
            <a:spAutoFit/>
          </a:bodyPr>
          <a:lstStyle/>
          <a:p>
            <a:pPr algn="l">
              <a:lnSpc>
                <a:spcPct val="112000"/>
              </a:lnSpc>
            </a:pPr>
            <a:r>
              <a:rPr sz="2800" b="1" i="0">
                <a:solidFill>
                  <a:srgbClr val="141414"/>
                </a:solidFill>
                <a:latin typeface="Montserrat"/>
              </a:rPr>
              <a:t>05</a:t>
            </a:r>
          </a:p>
        </p:txBody>
      </p:sp>
      <p:sp>
        <p:nvSpPr>
          <p:cNvPr id="27" name="Rectangle 26"/>
          <p:cNvSpPr/>
          <p:nvPr/>
        </p:nvSpPr>
        <p:spPr>
          <a:xfrm>
            <a:off x="1783080" y="4471416"/>
            <a:ext cx="54864" cy="384048"/>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11680" y="4453127"/>
            <a:ext cx="5943600" cy="457200"/>
          </a:xfrm>
          <a:prstGeom prst="rect">
            <a:avLst/>
          </a:prstGeom>
          <a:noFill/>
        </p:spPr>
        <p:txBody>
          <a:bodyPr wrap="square" lIns="18288" rIns="18288" tIns="18288" bIns="18288" anchor="t">
            <a:spAutoFit/>
          </a:bodyPr>
          <a:lstStyle/>
          <a:p>
            <a:pPr algn="l">
              <a:lnSpc>
                <a:spcPct val="112000"/>
              </a:lnSpc>
            </a:pPr>
            <a:r>
              <a:rPr sz="1800" b="1" i="0">
                <a:solidFill>
                  <a:srgbClr val="141414"/>
                </a:solidFill>
                <a:latin typeface="Montserrat"/>
              </a:rPr>
              <a:t>Stratégie à 90 jours</a:t>
            </a:r>
          </a:p>
        </p:txBody>
      </p:sp>
      <p:sp>
        <p:nvSpPr>
          <p:cNvPr id="29" name="TextBox 28"/>
          <p:cNvSpPr txBox="1"/>
          <p:nvPr/>
        </p:nvSpPr>
        <p:spPr>
          <a:xfrm>
            <a:off x="7863840" y="4471416"/>
            <a:ext cx="1097280" cy="457200"/>
          </a:xfrm>
          <a:prstGeom prst="rect">
            <a:avLst/>
          </a:prstGeom>
          <a:noFill/>
        </p:spPr>
        <p:txBody>
          <a:bodyPr wrap="square" lIns="18288" rIns="18288" tIns="18288" bIns="18288" anchor="t">
            <a:spAutoFit/>
          </a:bodyPr>
          <a:lstStyle/>
          <a:p>
            <a:pPr algn="r">
              <a:lnSpc>
                <a:spcPct val="112000"/>
              </a:lnSpc>
            </a:pPr>
            <a:r>
              <a:rPr sz="1400" b="0" i="0">
                <a:solidFill>
                  <a:srgbClr val="6E6E73"/>
                </a:solidFill>
                <a:latin typeface="Montserrat"/>
              </a:rPr>
              <a:t>p. 25</a:t>
            </a:r>
          </a:p>
        </p:txBody>
      </p:sp>
      <p:sp>
        <p:nvSpPr>
          <p:cNvPr id="30" name="Rectangle 29"/>
          <p:cNvSpPr/>
          <p:nvPr/>
        </p:nvSpPr>
        <p:spPr>
          <a:xfrm>
            <a:off x="2011680" y="4965192"/>
            <a:ext cx="6949440" cy="9144"/>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074920"/>
            <a:ext cx="914400" cy="548640"/>
          </a:xfrm>
          <a:prstGeom prst="rect">
            <a:avLst/>
          </a:prstGeom>
          <a:noFill/>
        </p:spPr>
        <p:txBody>
          <a:bodyPr wrap="square" lIns="18288" rIns="18288" tIns="18288" bIns="18288" anchor="t">
            <a:spAutoFit/>
          </a:bodyPr>
          <a:lstStyle/>
          <a:p>
            <a:pPr algn="l">
              <a:lnSpc>
                <a:spcPct val="112000"/>
              </a:lnSpc>
            </a:pPr>
            <a:r>
              <a:rPr sz="2800" b="1" i="0">
                <a:solidFill>
                  <a:srgbClr val="141414"/>
                </a:solidFill>
                <a:latin typeface="Montserrat"/>
              </a:rPr>
              <a:t>06</a:t>
            </a:r>
          </a:p>
        </p:txBody>
      </p:sp>
      <p:sp>
        <p:nvSpPr>
          <p:cNvPr id="32" name="Rectangle 31"/>
          <p:cNvSpPr/>
          <p:nvPr/>
        </p:nvSpPr>
        <p:spPr>
          <a:xfrm>
            <a:off x="1783080" y="5184648"/>
            <a:ext cx="54864" cy="384048"/>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011680" y="5166360"/>
            <a:ext cx="5943600" cy="457200"/>
          </a:xfrm>
          <a:prstGeom prst="rect">
            <a:avLst/>
          </a:prstGeom>
          <a:noFill/>
        </p:spPr>
        <p:txBody>
          <a:bodyPr wrap="square" lIns="18288" rIns="18288" tIns="18288" bIns="18288" anchor="t">
            <a:spAutoFit/>
          </a:bodyPr>
          <a:lstStyle/>
          <a:p>
            <a:pPr algn="l">
              <a:lnSpc>
                <a:spcPct val="112000"/>
              </a:lnSpc>
            </a:pPr>
            <a:r>
              <a:rPr sz="1800" b="1" i="0">
                <a:solidFill>
                  <a:srgbClr val="141414"/>
                </a:solidFill>
                <a:latin typeface="Montserrat"/>
              </a:rPr>
              <a:t>Premier lot, prêt à valider</a:t>
            </a:r>
          </a:p>
        </p:txBody>
      </p:sp>
      <p:sp>
        <p:nvSpPr>
          <p:cNvPr id="34" name="TextBox 33"/>
          <p:cNvSpPr txBox="1"/>
          <p:nvPr/>
        </p:nvSpPr>
        <p:spPr>
          <a:xfrm>
            <a:off x="7863840" y="5184648"/>
            <a:ext cx="1097280" cy="457200"/>
          </a:xfrm>
          <a:prstGeom prst="rect">
            <a:avLst/>
          </a:prstGeom>
          <a:noFill/>
        </p:spPr>
        <p:txBody>
          <a:bodyPr wrap="square" lIns="18288" rIns="18288" tIns="18288" bIns="18288" anchor="t">
            <a:spAutoFit/>
          </a:bodyPr>
          <a:lstStyle/>
          <a:p>
            <a:pPr algn="r">
              <a:lnSpc>
                <a:spcPct val="112000"/>
              </a:lnSpc>
            </a:pPr>
            <a:r>
              <a:rPr sz="1400" b="0" i="0">
                <a:solidFill>
                  <a:srgbClr val="6E6E73"/>
                </a:solidFill>
                <a:latin typeface="Montserrat"/>
              </a:rPr>
              <a:t>p. 31</a:t>
            </a:r>
          </a:p>
        </p:txBody>
      </p:sp>
      <p:sp>
        <p:nvSpPr>
          <p:cNvPr id="35" name="Rectangle 34"/>
          <p:cNvSpPr/>
          <p:nvPr/>
        </p:nvSpPr>
        <p:spPr>
          <a:xfrm>
            <a:off x="2011680" y="5678424"/>
            <a:ext cx="6949440" cy="9144"/>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om.jpg"/>
          <p:cNvPicPr>
            <a:picLocks noChangeAspect="1"/>
          </p:cNvPicPr>
          <p:nvPr/>
        </p:nvPicPr>
        <p:blipFill>
          <a:blip r:embed="rId3"/>
          <a:stretch>
            <a:fillRect/>
          </a:stretch>
        </p:blipFill>
        <p:spPr>
          <a:xfrm>
            <a:off x="9326880" y="1463040"/>
            <a:ext cx="2377440" cy="4206240"/>
          </a:xfrm>
          <a:prstGeom prst="rect">
            <a:avLst/>
          </a:prstGeom>
        </p:spPr>
      </p:pic>
      <p:sp>
        <p:nvSpPr>
          <p:cNvPr id="37" name="TextBox 36"/>
          <p:cNvSpPr txBox="1"/>
          <p:nvPr/>
        </p:nvSpPr>
        <p:spPr>
          <a:xfrm>
            <a:off x="9326880" y="5715000"/>
            <a:ext cx="23774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ADICOM Days 2026, Abidjan</a:t>
            </a:r>
          </a:p>
        </p:txBody>
      </p:sp>
      <p:sp>
        <p:nvSpPr>
          <p:cNvPr id="38" name="TextBox 3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39" name="TextBox 3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 / 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CE QU'IL FAUT RETENIR</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L'essentiel en trois points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63040"/>
            <a:ext cx="3566160" cy="41605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award_noir.png"/>
          <p:cNvPicPr>
            <a:picLocks noChangeAspect="1"/>
          </p:cNvPicPr>
          <p:nvPr/>
        </p:nvPicPr>
        <p:blipFill>
          <a:blip r:embed="rId3"/>
          <a:stretch>
            <a:fillRect/>
          </a:stretch>
        </p:blipFill>
        <p:spPr>
          <a:xfrm>
            <a:off x="749808" y="1664208"/>
            <a:ext cx="384048" cy="384048"/>
          </a:xfrm>
          <a:prstGeom prst="rect">
            <a:avLst/>
          </a:prstGeom>
        </p:spPr>
      </p:pic>
      <p:sp>
        <p:nvSpPr>
          <p:cNvPr id="8" name="TextBox 7"/>
          <p:cNvSpPr txBox="1"/>
          <p:nvPr/>
        </p:nvSpPr>
        <p:spPr>
          <a:xfrm>
            <a:off x="749808" y="2148840"/>
            <a:ext cx="3163824" cy="5943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Une vraie autorité, peu exploitée</a:t>
            </a:r>
          </a:p>
        </p:txBody>
      </p:sp>
      <p:sp>
        <p:nvSpPr>
          <p:cNvPr id="9" name="TextBox 8"/>
          <p:cNvSpPr txBox="1"/>
          <p:nvPr/>
        </p:nvSpPr>
        <p:spPr>
          <a:xfrm>
            <a:off x="749808" y="2724912"/>
            <a:ext cx="3163824" cy="27889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14 457 abonnés LinkedIn et 17 648 sur Instagram, 13 ans à la tête de Totem Experience, dix éditions des ADICOM Days. Mais seulement 12 posts LinkedIn depuis janvier, et aucun depuis le 17 juillet : 99 jours de silence.</a:t>
            </a:r>
          </a:p>
        </p:txBody>
      </p:sp>
      <p:sp>
        <p:nvSpPr>
          <p:cNvPr id="10" name="Rectangle 9"/>
          <p:cNvSpPr/>
          <p:nvPr/>
        </p:nvSpPr>
        <p:spPr>
          <a:xfrm>
            <a:off x="4297679" y="1463040"/>
            <a:ext cx="3566160" cy="41605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repeat_noir.png"/>
          <p:cNvPicPr>
            <a:picLocks noChangeAspect="1"/>
          </p:cNvPicPr>
          <p:nvPr/>
        </p:nvPicPr>
        <p:blipFill>
          <a:blip r:embed="rId4"/>
          <a:stretch>
            <a:fillRect/>
          </a:stretch>
        </p:blipFill>
        <p:spPr>
          <a:xfrm>
            <a:off x="4498847" y="1664208"/>
            <a:ext cx="384048" cy="384048"/>
          </a:xfrm>
          <a:prstGeom prst="rect">
            <a:avLst/>
          </a:prstGeom>
        </p:spPr>
      </p:pic>
      <p:sp>
        <p:nvSpPr>
          <p:cNvPr id="12" name="TextBox 11"/>
          <p:cNvSpPr txBox="1"/>
          <p:nvPr/>
        </p:nvSpPr>
        <p:spPr>
          <a:xfrm>
            <a:off x="4498847" y="2148840"/>
            <a:ext cx="3163824" cy="5943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Il relaie plus qu'il ne parle</a:t>
            </a:r>
          </a:p>
        </p:txBody>
      </p:sp>
      <p:sp>
        <p:nvSpPr>
          <p:cNvPr id="13" name="TextBox 12"/>
          <p:cNvSpPr txBox="1"/>
          <p:nvPr/>
        </p:nvSpPr>
        <p:spPr>
          <a:xfrm>
            <a:off x="4498847" y="2724912"/>
            <a:ext cx="3163824" cy="27889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8 de ses 12 posts LinkedIn sont des reprises de la page ADICOM, de Totem ou de WHO, avec une ligne de commentaire. Elles plafonnent à 51 interactions en médiane. Ses 4 posts écrits par lui : 128,5.</a:t>
            </a:r>
          </a:p>
        </p:txBody>
      </p:sp>
      <p:sp>
        <p:nvSpPr>
          <p:cNvPr id="14" name="Rectangle 13"/>
          <p:cNvSpPr/>
          <p:nvPr/>
        </p:nvSpPr>
        <p:spPr>
          <a:xfrm>
            <a:off x="8046719" y="1463040"/>
            <a:ext cx="3566160" cy="41605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trending-up_noir.png"/>
          <p:cNvPicPr>
            <a:picLocks noChangeAspect="1"/>
          </p:cNvPicPr>
          <p:nvPr/>
        </p:nvPicPr>
        <p:blipFill>
          <a:blip r:embed="rId5"/>
          <a:stretch>
            <a:fillRect/>
          </a:stretch>
        </p:blipFill>
        <p:spPr>
          <a:xfrm>
            <a:off x="8247888" y="1664208"/>
            <a:ext cx="384048" cy="384048"/>
          </a:xfrm>
          <a:prstGeom prst="rect">
            <a:avLst/>
          </a:prstGeom>
        </p:spPr>
      </p:pic>
      <p:sp>
        <p:nvSpPr>
          <p:cNvPr id="16" name="TextBox 15"/>
          <p:cNvSpPr txBox="1"/>
          <p:nvPr/>
        </p:nvSpPr>
        <p:spPr>
          <a:xfrm>
            <a:off x="8247888" y="2148840"/>
            <a:ext cx="3163824" cy="5943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Quand il raconte, ça décolle</a:t>
            </a:r>
          </a:p>
        </p:txBody>
      </p:sp>
      <p:sp>
        <p:nvSpPr>
          <p:cNvPr id="17" name="TextBox 16"/>
          <p:cNvSpPr txBox="1"/>
          <p:nvPr/>
        </p:nvSpPr>
        <p:spPr>
          <a:xfrm>
            <a:off x="8247888" y="2724912"/>
            <a:ext cx="3163824" cy="27889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Ses deux meilleurs posts LinkedIn de l'année sont personnels : le merci après les dix ans d'ADICOM (488 interactions, 28 commentaires) et l'annonce de son rôle dans WHO (297). Sur Instagram, l'annonce WHO fait 2 117 J'aime, dix fois sa médiane.</a:t>
            </a:r>
          </a:p>
        </p:txBody>
      </p:sp>
      <p:sp>
        <p:nvSpPr>
          <p:cNvPr id="18" name="TextBox 17"/>
          <p:cNvSpPr txBox="1"/>
          <p:nvPr/>
        </p:nvSpPr>
        <p:spPr>
          <a:xfrm>
            <a:off x="548640" y="5806440"/>
            <a:ext cx="11064240" cy="457200"/>
          </a:xfrm>
          <a:prstGeom prst="rect">
            <a:avLst/>
          </a:prstGeom>
          <a:noFill/>
        </p:spPr>
        <p:txBody>
          <a:bodyPr wrap="square" lIns="18288" rIns="18288" tIns="18288" bIns="18288" anchor="t">
            <a:spAutoFit/>
          </a:bodyPr>
          <a:lstStyle/>
          <a:p>
            <a:pPr algn="l">
              <a:lnSpc>
                <a:spcPct val="112000"/>
              </a:lnSpc>
            </a:pPr>
            <a:r>
              <a:rPr sz="1300" b="1" i="0">
                <a:solidFill>
                  <a:srgbClr val="141414"/>
                </a:solidFill>
                <a:latin typeface="Montserrat"/>
              </a:rPr>
              <a:t>La priorité : </a:t>
            </a:r>
            <a:r>
              <a:rPr sz="1300" b="0" i="0">
                <a:solidFill>
                  <a:srgbClr val="141414"/>
                </a:solidFill>
                <a:latin typeface="Montserrat"/>
              </a:rPr>
              <a:t>reprendre la parole à la première personne, une fois par semaine sur LinkedIn, et redonner à Instagram un fil à lui, à côté des comptes qu'il anime.</a:t>
            </a:r>
          </a:p>
        </p:txBody>
      </p:sp>
      <p:sp>
        <p:nvSpPr>
          <p:cNvPr id="19" name="TextBox 18"/>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0" name="TextBox 19"/>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 / 42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sec1.jpg"/>
          <p:cNvPicPr>
            <a:picLocks noChangeAspect="1"/>
          </p:cNvPicPr>
          <p:nvPr/>
        </p:nvPicPr>
        <p:blipFill>
          <a:blip r:embed="rId2"/>
          <a:stretch>
            <a:fillRect/>
          </a:stretch>
        </p:blipFill>
        <p:spPr>
          <a:xfrm>
            <a:off x="6702552" y="685800"/>
            <a:ext cx="5486400" cy="54864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0" cy="1463040"/>
          </a:xfrm>
          <a:prstGeom prst="rect">
            <a:avLst/>
          </a:prstGeom>
          <a:noFill/>
        </p:spPr>
        <p:txBody>
          <a:bodyPr wrap="square" lIns="18288" rIns="18288" tIns="18288" bIns="18288" anchor="t">
            <a:spAutoFit/>
          </a:bodyPr>
          <a:lstStyle/>
          <a:p>
            <a:pPr algn="l">
              <a:lnSpc>
                <a:spcPct val="112000"/>
              </a:lnSpc>
            </a:pPr>
            <a:r>
              <a:rPr sz="9600" b="1" i="0">
                <a:solidFill>
                  <a:srgbClr val="B6D401"/>
                </a:solidFill>
                <a:latin typeface="Montserrat"/>
              </a:rPr>
              <a:t>01</a:t>
            </a:r>
          </a:p>
        </p:txBody>
      </p:sp>
      <p:sp>
        <p:nvSpPr>
          <p:cNvPr id="5" name="TextBox 4"/>
          <p:cNvSpPr txBox="1"/>
          <p:nvPr/>
        </p:nvSpPr>
        <p:spPr>
          <a:xfrm>
            <a:off x="731520" y="3063240"/>
            <a:ext cx="5669280" cy="914400"/>
          </a:xfrm>
          <a:prstGeom prst="rect">
            <a:avLst/>
          </a:prstGeom>
          <a:noFill/>
        </p:spPr>
        <p:txBody>
          <a:bodyPr wrap="square" lIns="18288" rIns="18288" tIns="18288" bIns="18288" anchor="t">
            <a:spAutoFit/>
          </a:bodyPr>
          <a:lstStyle/>
          <a:p>
            <a:pPr algn="l">
              <a:lnSpc>
                <a:spcPct val="112000"/>
              </a:lnSpc>
            </a:pPr>
            <a:r>
              <a:rPr sz="4000" b="1" i="0">
                <a:solidFill>
                  <a:srgbClr val="FFFFFF"/>
                </a:solidFill>
                <a:latin typeface="Montserrat"/>
              </a:rPr>
              <a:t>L'homme, la marque, les valeurs</a:t>
            </a:r>
          </a:p>
        </p:txBody>
      </p:sp>
      <p:sp>
        <p:nvSpPr>
          <p:cNvPr id="6" name="TextBox 5"/>
          <p:cNvSpPr txBox="1"/>
          <p:nvPr/>
        </p:nvSpPr>
        <p:spPr>
          <a:xfrm>
            <a:off x="731520" y="4069080"/>
            <a:ext cx="5486400" cy="128016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Avant de juger les chiffres : qui parle, d'où, et pour dire quoi.</a:t>
            </a:r>
          </a:p>
        </p:txBody>
      </p:sp>
      <p:pic>
        <p:nvPicPr>
          <p:cNvPr id="7" name="Picture 6" descr="logo.png"/>
          <p:cNvPicPr>
            <a:picLocks noChangeAspect="1"/>
          </p:cNvPicPr>
          <p:nvPr/>
        </p:nvPicPr>
        <p:blipFill>
          <a:blip r:embed="rId3"/>
          <a:stretch>
            <a:fillRect/>
          </a:stretch>
        </p:blipFill>
        <p:spPr>
          <a:xfrm>
            <a:off x="731520" y="5897880"/>
            <a:ext cx="1092631" cy="548640"/>
          </a:xfrm>
          <a:prstGeom prst="rect">
            <a:avLst/>
          </a:prstGeom>
        </p:spPr>
      </p:pic>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4 /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LE PARCOURS, D'APRÈS SON PROFIL LINKEDIN</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Achats, agence, communauté, cinéma : un fil rouge, l'audience africaine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portrait.jpg"/>
          <p:cNvPicPr>
            <a:picLocks noChangeAspect="1"/>
          </p:cNvPicPr>
          <p:nvPr/>
        </p:nvPicPr>
        <p:blipFill>
          <a:blip r:embed="rId3"/>
          <a:stretch>
            <a:fillRect/>
          </a:stretch>
        </p:blipFill>
        <p:spPr>
          <a:xfrm>
            <a:off x="548640" y="1463040"/>
            <a:ext cx="2103120" cy="2103120"/>
          </a:xfrm>
          <a:prstGeom prst="rect">
            <a:avLst/>
          </a:prstGeom>
        </p:spPr>
      </p:pic>
      <p:sp>
        <p:nvSpPr>
          <p:cNvPr id="7" name="TextBox 6"/>
          <p:cNvSpPr txBox="1"/>
          <p:nvPr/>
        </p:nvSpPr>
        <p:spPr>
          <a:xfrm>
            <a:off x="548640" y="3703320"/>
            <a:ext cx="2377440" cy="822960"/>
          </a:xfrm>
          <a:prstGeom prst="rect">
            <a:avLst/>
          </a:prstGeom>
          <a:noFill/>
        </p:spPr>
        <p:txBody>
          <a:bodyPr wrap="square" lIns="18288" rIns="18288" tIns="18288" bIns="18288" anchor="t">
            <a:spAutoFit/>
          </a:bodyPr>
          <a:lstStyle/>
          <a:p>
            <a:pPr algn="l">
              <a:lnSpc>
                <a:spcPct val="112000"/>
              </a:lnSpc>
            </a:pPr>
            <a:r>
              <a:rPr sz="1500" b="1" i="0">
                <a:solidFill>
                  <a:srgbClr val="141414"/>
                </a:solidFill>
                <a:latin typeface="Montserrat"/>
              </a:rPr>
              <a:t>Kahi Lumumba</a:t>
            </a:r>
          </a:p>
          <a:p>
            <a:pPr algn="l">
              <a:lnSpc>
                <a:spcPct val="112000"/>
              </a:lnSpc>
            </a:pPr>
            <a:r>
              <a:rPr sz="1100" b="0" i="0">
                <a:solidFill>
                  <a:srgbClr val="6E6E73"/>
                </a:solidFill>
                <a:latin typeface="Montserrat"/>
              </a:rPr>
              <a:t>Cofondateur et CEO, Totem Experience</a:t>
            </a:r>
          </a:p>
          <a:p>
            <a:pPr algn="l">
              <a:lnSpc>
                <a:spcPct val="112000"/>
              </a:lnSpc>
            </a:pPr>
            <a:r>
              <a:rPr sz="1100" b="0" i="0">
                <a:solidFill>
                  <a:srgbClr val="6E6E73"/>
                </a:solidFill>
                <a:latin typeface="Montserrat"/>
              </a:rPr>
              <a:t>Abidjan, Côte d'Ivoire</a:t>
            </a:r>
          </a:p>
        </p:txBody>
      </p:sp>
      <p:sp>
        <p:nvSpPr>
          <p:cNvPr id="8" name="TextBox 7"/>
          <p:cNvSpPr txBox="1"/>
          <p:nvPr/>
        </p:nvSpPr>
        <p:spPr>
          <a:xfrm>
            <a:off x="548640" y="4709160"/>
            <a:ext cx="2377440" cy="11887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Bordeaux Business School (achats internationaux, 2008), Université Bordeaux IV (économie). Langues : français, anglais, lingala, espagnol.</a:t>
            </a:r>
          </a:p>
        </p:txBody>
      </p:sp>
      <p:sp>
        <p:nvSpPr>
          <p:cNvPr id="9" name="Oval 8"/>
          <p:cNvSpPr/>
          <p:nvPr/>
        </p:nvSpPr>
        <p:spPr>
          <a:xfrm>
            <a:off x="3246120" y="1508760"/>
            <a:ext cx="164592" cy="164592"/>
          </a:xfrm>
          <a:prstGeom prst="ellipse">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9272" y="1691640"/>
            <a:ext cx="18288" cy="731520"/>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417320"/>
            <a:ext cx="1371600" cy="365760"/>
          </a:xfrm>
          <a:prstGeom prst="rect">
            <a:avLst/>
          </a:prstGeom>
          <a:noFill/>
        </p:spPr>
        <p:txBody>
          <a:bodyPr wrap="square" lIns="18288" rIns="18288" tIns="18288" bIns="18288" anchor="t">
            <a:spAutoFit/>
          </a:bodyPr>
          <a:lstStyle/>
          <a:p>
            <a:pPr algn="l">
              <a:lnSpc>
                <a:spcPct val="112000"/>
              </a:lnSpc>
            </a:pPr>
            <a:r>
              <a:rPr sz="1100" b="1" i="0">
                <a:solidFill>
                  <a:srgbClr val="6E6E73"/>
                </a:solidFill>
                <a:latin typeface="Montserrat"/>
              </a:rPr>
              <a:t>2006 à 2013</a:t>
            </a:r>
          </a:p>
        </p:txBody>
      </p:sp>
      <p:sp>
        <p:nvSpPr>
          <p:cNvPr id="12" name="TextBox 11"/>
          <p:cNvSpPr txBox="1"/>
          <p:nvPr/>
        </p:nvSpPr>
        <p:spPr>
          <a:xfrm>
            <a:off x="4983480" y="1417320"/>
            <a:ext cx="21945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Les achats</a:t>
            </a:r>
          </a:p>
        </p:txBody>
      </p:sp>
      <p:sp>
        <p:nvSpPr>
          <p:cNvPr id="13" name="TextBox 12"/>
          <p:cNvSpPr txBox="1"/>
          <p:nvPr/>
        </p:nvSpPr>
        <p:spPr>
          <a:xfrm>
            <a:off x="7178040" y="1417320"/>
            <a:ext cx="4480560" cy="86868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Maersk Line, GE Healthcare (acheteur IT et télécom EMEA), puis consultant achats chez AgileBuyer, en mission chez GDF Suez.</a:t>
            </a:r>
          </a:p>
        </p:txBody>
      </p:sp>
      <p:sp>
        <p:nvSpPr>
          <p:cNvPr id="14" name="Oval 13"/>
          <p:cNvSpPr/>
          <p:nvPr/>
        </p:nvSpPr>
        <p:spPr>
          <a:xfrm>
            <a:off x="3246120" y="2423160"/>
            <a:ext cx="164592" cy="164592"/>
          </a:xfrm>
          <a:prstGeom prst="ellipse">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19272" y="2606039"/>
            <a:ext cx="18288" cy="731520"/>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11880" y="2331720"/>
            <a:ext cx="1371600" cy="365760"/>
          </a:xfrm>
          <a:prstGeom prst="rect">
            <a:avLst/>
          </a:prstGeom>
          <a:noFill/>
        </p:spPr>
        <p:txBody>
          <a:bodyPr wrap="square" lIns="18288" rIns="18288" tIns="18288" bIns="18288" anchor="t">
            <a:spAutoFit/>
          </a:bodyPr>
          <a:lstStyle/>
          <a:p>
            <a:pPr algn="l">
              <a:lnSpc>
                <a:spcPct val="112000"/>
              </a:lnSpc>
            </a:pPr>
            <a:r>
              <a:rPr sz="1100" b="1" i="0">
                <a:solidFill>
                  <a:srgbClr val="6E6E73"/>
                </a:solidFill>
                <a:latin typeface="Montserrat"/>
              </a:rPr>
              <a:t>2013</a:t>
            </a:r>
          </a:p>
        </p:txBody>
      </p:sp>
      <p:sp>
        <p:nvSpPr>
          <p:cNvPr id="17" name="TextBox 16"/>
          <p:cNvSpPr txBox="1"/>
          <p:nvPr/>
        </p:nvSpPr>
        <p:spPr>
          <a:xfrm>
            <a:off x="4983480" y="2331720"/>
            <a:ext cx="21945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Totem Experience</a:t>
            </a:r>
          </a:p>
        </p:txBody>
      </p:sp>
      <p:sp>
        <p:nvSpPr>
          <p:cNvPr id="18" name="TextBox 17"/>
          <p:cNvSpPr txBox="1"/>
          <p:nvPr/>
        </p:nvSpPr>
        <p:spPr>
          <a:xfrm>
            <a:off x="7178040" y="2331720"/>
            <a:ext cx="4480560" cy="86868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Fonde l'agence après le Founder Institute. Brand content et influence avec les créateurs africains. Aujourd'hui 7 pays, 44 collaborateurs, plus de 300 marques.</a:t>
            </a:r>
          </a:p>
        </p:txBody>
      </p:sp>
      <p:sp>
        <p:nvSpPr>
          <p:cNvPr id="19" name="Oval 18"/>
          <p:cNvSpPr/>
          <p:nvPr/>
        </p:nvSpPr>
        <p:spPr>
          <a:xfrm>
            <a:off x="3246120" y="3337560"/>
            <a:ext cx="164592" cy="164592"/>
          </a:xfrm>
          <a:prstGeom prst="ellipse">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19272" y="3520439"/>
            <a:ext cx="18288" cy="731520"/>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11880" y="3246120"/>
            <a:ext cx="1371600" cy="365760"/>
          </a:xfrm>
          <a:prstGeom prst="rect">
            <a:avLst/>
          </a:prstGeom>
          <a:noFill/>
        </p:spPr>
        <p:txBody>
          <a:bodyPr wrap="square" lIns="18288" rIns="18288" tIns="18288" bIns="18288" anchor="t">
            <a:spAutoFit/>
          </a:bodyPr>
          <a:lstStyle/>
          <a:p>
            <a:pPr algn="l">
              <a:lnSpc>
                <a:spcPct val="112000"/>
              </a:lnSpc>
            </a:pPr>
            <a:r>
              <a:rPr sz="1100" b="1" i="0">
                <a:solidFill>
                  <a:srgbClr val="6E6E73"/>
                </a:solidFill>
                <a:latin typeface="Montserrat"/>
              </a:rPr>
              <a:t>2017</a:t>
            </a:r>
          </a:p>
        </p:txBody>
      </p:sp>
      <p:sp>
        <p:nvSpPr>
          <p:cNvPr id="22" name="TextBox 21"/>
          <p:cNvSpPr txBox="1"/>
          <p:nvPr/>
        </p:nvSpPr>
        <p:spPr>
          <a:xfrm>
            <a:off x="4983480" y="3246120"/>
            <a:ext cx="21945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ADICOM Days</a:t>
            </a:r>
          </a:p>
        </p:txBody>
      </p:sp>
      <p:sp>
        <p:nvSpPr>
          <p:cNvPr id="23" name="TextBox 22"/>
          <p:cNvSpPr txBox="1"/>
          <p:nvPr/>
        </p:nvSpPr>
        <p:spPr>
          <a:xfrm>
            <a:off x="7178040" y="3246120"/>
            <a:ext cx="4480560" cy="86868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Lance à Paris l'événement du digital africain, installé à Abidjan depuis 2018. Dixième édition les 16 et 17 avril 2026.</a:t>
            </a:r>
          </a:p>
        </p:txBody>
      </p:sp>
      <p:sp>
        <p:nvSpPr>
          <p:cNvPr id="24" name="Oval 23"/>
          <p:cNvSpPr/>
          <p:nvPr/>
        </p:nvSpPr>
        <p:spPr>
          <a:xfrm>
            <a:off x="3246120" y="4251959"/>
            <a:ext cx="164592" cy="164592"/>
          </a:xfrm>
          <a:prstGeom prst="ellipse">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19272" y="4434840"/>
            <a:ext cx="18288" cy="731520"/>
          </a:xfrm>
          <a:prstGeom prst="rect">
            <a:avLst/>
          </a:prstGeom>
          <a:solidFill>
            <a:srgbClr val="E7E6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11880" y="4160520"/>
            <a:ext cx="1371600" cy="365760"/>
          </a:xfrm>
          <a:prstGeom prst="rect">
            <a:avLst/>
          </a:prstGeom>
          <a:noFill/>
        </p:spPr>
        <p:txBody>
          <a:bodyPr wrap="square" lIns="18288" rIns="18288" tIns="18288" bIns="18288" anchor="t">
            <a:spAutoFit/>
          </a:bodyPr>
          <a:lstStyle/>
          <a:p>
            <a:pPr algn="l">
              <a:lnSpc>
                <a:spcPct val="112000"/>
              </a:lnSpc>
            </a:pPr>
            <a:r>
              <a:rPr sz="1100" b="1" i="0">
                <a:solidFill>
                  <a:srgbClr val="6E6E73"/>
                </a:solidFill>
                <a:latin typeface="Montserrat"/>
              </a:rPr>
              <a:t>Depuis</a:t>
            </a:r>
          </a:p>
        </p:txBody>
      </p:sp>
      <p:sp>
        <p:nvSpPr>
          <p:cNvPr id="27" name="TextBox 26"/>
          <p:cNvSpPr txBox="1"/>
          <p:nvPr/>
        </p:nvSpPr>
        <p:spPr>
          <a:xfrm>
            <a:off x="4983480" y="4160520"/>
            <a:ext cx="21945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State of Africa</a:t>
            </a:r>
          </a:p>
        </p:txBody>
      </p:sp>
      <p:sp>
        <p:nvSpPr>
          <p:cNvPr id="28" name="TextBox 27"/>
          <p:cNvSpPr txBox="1"/>
          <p:nvPr/>
        </p:nvSpPr>
        <p:spPr>
          <a:xfrm>
            <a:off x="7178040" y="4160520"/>
            <a:ext cx="4480560" cy="86868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Coanime avec Moulaye Tabouré le podcast des entrepreneurs africains : 63 104 abonnés sur Instagram, 150e épisode en février 2026.</a:t>
            </a:r>
          </a:p>
        </p:txBody>
      </p:sp>
      <p:sp>
        <p:nvSpPr>
          <p:cNvPr id="29" name="Oval 28"/>
          <p:cNvSpPr/>
          <p:nvPr/>
        </p:nvSpPr>
        <p:spPr>
          <a:xfrm>
            <a:off x="3246120" y="5166359"/>
            <a:ext cx="164592" cy="164592"/>
          </a:xfrm>
          <a:prstGeom prst="ellipse">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11880" y="5074920"/>
            <a:ext cx="1371600" cy="365760"/>
          </a:xfrm>
          <a:prstGeom prst="rect">
            <a:avLst/>
          </a:prstGeom>
          <a:noFill/>
        </p:spPr>
        <p:txBody>
          <a:bodyPr wrap="square" lIns="18288" rIns="18288" tIns="18288" bIns="18288" anchor="t">
            <a:spAutoFit/>
          </a:bodyPr>
          <a:lstStyle/>
          <a:p>
            <a:pPr algn="l">
              <a:lnSpc>
                <a:spcPct val="112000"/>
              </a:lnSpc>
            </a:pPr>
            <a:r>
              <a:rPr sz="1100" b="1" i="0">
                <a:solidFill>
                  <a:srgbClr val="6E6E73"/>
                </a:solidFill>
                <a:latin typeface="Montserrat"/>
              </a:rPr>
              <a:t>2026</a:t>
            </a:r>
          </a:p>
        </p:txBody>
      </p:sp>
      <p:sp>
        <p:nvSpPr>
          <p:cNvPr id="31" name="TextBox 30"/>
          <p:cNvSpPr txBox="1"/>
          <p:nvPr/>
        </p:nvSpPr>
        <p:spPr>
          <a:xfrm>
            <a:off x="4983480" y="5074920"/>
            <a:ext cx="21945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WHO</a:t>
            </a:r>
          </a:p>
        </p:txBody>
      </p:sp>
      <p:sp>
        <p:nvSpPr>
          <p:cNvPr id="32" name="TextBox 31"/>
          <p:cNvSpPr txBox="1"/>
          <p:nvPr/>
        </p:nvSpPr>
        <p:spPr>
          <a:xfrm>
            <a:off x="7178040" y="5074920"/>
            <a:ext cx="4480560" cy="86868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Producteur associé du premier long-métrage de Wil Aime, en charge de la communication, du marketing et du développement Afrique.</a:t>
            </a:r>
          </a:p>
        </p:txBody>
      </p:sp>
      <p:sp>
        <p:nvSpPr>
          <p:cNvPr id="33" name="TextBox 32"/>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Sources : profil LinkedIn relevé le 24/10/2026 ; chiffres de Totem (7 pays, 44 collaborateurs, 300 marques) tels que publiés par le groupe en juillet 2026 (Comms of Africa). Date de lancement du podcast non indiquée sur le profil.</a:t>
            </a:r>
          </a:p>
        </p:txBody>
      </p:sp>
      <p:sp>
        <p:nvSpPr>
          <p:cNvPr id="34" name="TextBox 33"/>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35" name="TextBox 34"/>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5 / 42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LA MARQUE KAHI : MISSION ET VALEURS</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Ce qu'il défend, avec ses propres mots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63040"/>
            <a:ext cx="11064240" cy="132588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quote_lime.png"/>
          <p:cNvPicPr>
            <a:picLocks noChangeAspect="1"/>
          </p:cNvPicPr>
          <p:nvPr/>
        </p:nvPicPr>
        <p:blipFill>
          <a:blip r:embed="rId3"/>
          <a:stretch>
            <a:fillRect/>
          </a:stretch>
        </p:blipFill>
        <p:spPr>
          <a:xfrm>
            <a:off x="777240" y="1645920"/>
            <a:ext cx="457200" cy="457200"/>
          </a:xfrm>
          <a:prstGeom prst="rect">
            <a:avLst/>
          </a:prstGeom>
        </p:spPr>
      </p:pic>
      <p:sp>
        <p:nvSpPr>
          <p:cNvPr id="8" name="TextBox 7"/>
          <p:cNvSpPr txBox="1"/>
          <p:nvPr/>
        </p:nvSpPr>
        <p:spPr>
          <a:xfrm>
            <a:off x="1417320" y="1600200"/>
            <a:ext cx="9966960" cy="822960"/>
          </a:xfrm>
          <a:prstGeom prst="rect">
            <a:avLst/>
          </a:prstGeom>
          <a:noFill/>
        </p:spPr>
        <p:txBody>
          <a:bodyPr wrap="square" lIns="18288" rIns="18288" tIns="18288" bIns="18288" anchor="t">
            <a:spAutoFit/>
          </a:bodyPr>
          <a:lstStyle/>
          <a:p>
            <a:pPr algn="l">
              <a:lnSpc>
                <a:spcPct val="112000"/>
              </a:lnSpc>
            </a:pPr>
            <a:r>
              <a:rPr sz="2000" b="1" i="0">
                <a:solidFill>
                  <a:srgbClr val="FFFFFF"/>
                </a:solidFill>
                <a:latin typeface="Montserrat"/>
              </a:rPr>
              <a:t>« Il est impératif que nous racontions nos propres histoires, avec nos propres standards. »</a:t>
            </a:r>
          </a:p>
        </p:txBody>
      </p:sp>
      <p:sp>
        <p:nvSpPr>
          <p:cNvPr id="9" name="TextBox 8"/>
          <p:cNvSpPr txBox="1"/>
          <p:nvPr/>
        </p:nvSpPr>
        <p:spPr>
          <a:xfrm>
            <a:off x="1417320" y="2331720"/>
            <a:ext cx="9966960" cy="365760"/>
          </a:xfrm>
          <a:prstGeom prst="rect">
            <a:avLst/>
          </a:prstGeom>
          <a:noFill/>
        </p:spPr>
        <p:txBody>
          <a:bodyPr wrap="square" lIns="18288" rIns="18288" tIns="18288" bIns="18288" anchor="t">
            <a:spAutoFit/>
          </a:bodyPr>
          <a:lstStyle/>
          <a:p>
            <a:pPr algn="l">
              <a:lnSpc>
                <a:spcPct val="112000"/>
              </a:lnSpc>
            </a:pPr>
            <a:r>
              <a:rPr sz="1000" b="0" i="0">
                <a:solidFill>
                  <a:srgbClr val="A1A1A8"/>
                </a:solidFill>
                <a:latin typeface="Montserrat"/>
              </a:rPr>
              <a:t>Instagram, annonce de WHO, 1er mai 2026</a:t>
            </a:r>
          </a:p>
        </p:txBody>
      </p:sp>
      <p:pic>
        <p:nvPicPr>
          <p:cNvPr id="10" name="Picture 9" descr="ic_globe_noir.png"/>
          <p:cNvPicPr>
            <a:picLocks noChangeAspect="1"/>
          </p:cNvPicPr>
          <p:nvPr/>
        </p:nvPicPr>
        <p:blipFill>
          <a:blip r:embed="rId4"/>
          <a:stretch>
            <a:fillRect/>
          </a:stretch>
        </p:blipFill>
        <p:spPr>
          <a:xfrm>
            <a:off x="548640" y="3063240"/>
            <a:ext cx="411480" cy="411480"/>
          </a:xfrm>
          <a:prstGeom prst="rect">
            <a:avLst/>
          </a:prstGeom>
        </p:spPr>
      </p:pic>
      <p:sp>
        <p:nvSpPr>
          <p:cNvPr id="11" name="TextBox 10"/>
          <p:cNvSpPr txBox="1"/>
          <p:nvPr/>
        </p:nvSpPr>
        <p:spPr>
          <a:xfrm>
            <a:off x="548640" y="3566160"/>
            <a:ext cx="2606040" cy="594360"/>
          </a:xfrm>
          <a:prstGeom prst="rect">
            <a:avLst/>
          </a:prstGeom>
          <a:noFill/>
        </p:spPr>
        <p:txBody>
          <a:bodyPr wrap="square" lIns="18288" rIns="18288" tIns="18288" bIns="18288" anchor="t">
            <a:spAutoFit/>
          </a:bodyPr>
          <a:lstStyle/>
          <a:p>
            <a:pPr algn="l">
              <a:lnSpc>
                <a:spcPct val="112000"/>
              </a:lnSpc>
            </a:pPr>
            <a:r>
              <a:rPr sz="1350" b="1" i="0">
                <a:solidFill>
                  <a:srgbClr val="141414"/>
                </a:solidFill>
                <a:latin typeface="Montserrat"/>
              </a:rPr>
              <a:t>La fierté panafricaine</a:t>
            </a:r>
          </a:p>
        </p:txBody>
      </p:sp>
      <p:sp>
        <p:nvSpPr>
          <p:cNvPr id="12" name="TextBox 11"/>
          <p:cNvSpPr txBox="1"/>
          <p:nvPr/>
        </p:nvSpPr>
        <p:spPr>
          <a:xfrm>
            <a:off x="548640" y="4206240"/>
            <a:ext cx="2606040" cy="173736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 Entrepreneur panafricain engagé » (sa bio Instagram). Ses posts citent Abidjan, Kinshasa, la RDC, le lingala : « Neti na film, comme on dit chez moi ».</a:t>
            </a:r>
          </a:p>
        </p:txBody>
      </p:sp>
      <p:pic>
        <p:nvPicPr>
          <p:cNvPr id="13" name="Picture 12" descr="ic_users_noir.png"/>
          <p:cNvPicPr>
            <a:picLocks noChangeAspect="1"/>
          </p:cNvPicPr>
          <p:nvPr/>
        </p:nvPicPr>
        <p:blipFill>
          <a:blip r:embed="rId5"/>
          <a:stretch>
            <a:fillRect/>
          </a:stretch>
        </p:blipFill>
        <p:spPr>
          <a:xfrm>
            <a:off x="3337560" y="3063240"/>
            <a:ext cx="411480" cy="411480"/>
          </a:xfrm>
          <a:prstGeom prst="rect">
            <a:avLst/>
          </a:prstGeom>
        </p:spPr>
      </p:pic>
      <p:sp>
        <p:nvSpPr>
          <p:cNvPr id="14" name="TextBox 13"/>
          <p:cNvSpPr txBox="1"/>
          <p:nvPr/>
        </p:nvSpPr>
        <p:spPr>
          <a:xfrm>
            <a:off x="3337560" y="3566160"/>
            <a:ext cx="2606040" cy="594360"/>
          </a:xfrm>
          <a:prstGeom prst="rect">
            <a:avLst/>
          </a:prstGeom>
          <a:noFill/>
        </p:spPr>
        <p:txBody>
          <a:bodyPr wrap="square" lIns="18288" rIns="18288" tIns="18288" bIns="18288" anchor="t">
            <a:spAutoFit/>
          </a:bodyPr>
          <a:lstStyle/>
          <a:p>
            <a:pPr algn="l">
              <a:lnSpc>
                <a:spcPct val="112000"/>
              </a:lnSpc>
            </a:pPr>
            <a:r>
              <a:rPr sz="1350" b="1" i="0">
                <a:solidFill>
                  <a:srgbClr val="141414"/>
                </a:solidFill>
                <a:latin typeface="Montserrat"/>
              </a:rPr>
              <a:t>La communauté avant l'événement</a:t>
            </a:r>
          </a:p>
        </p:txBody>
      </p:sp>
      <p:sp>
        <p:nvSpPr>
          <p:cNvPr id="15" name="TextBox 14"/>
          <p:cNvSpPr txBox="1"/>
          <p:nvPr/>
        </p:nvSpPr>
        <p:spPr>
          <a:xfrm>
            <a:off x="3337560" y="4206240"/>
            <a:ext cx="2606040" cy="173736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 ADICOM dépasse largement un événement. C'est une communauté. » Son post le plus commenté de l'année (24 avril).</a:t>
            </a:r>
          </a:p>
        </p:txBody>
      </p:sp>
      <p:pic>
        <p:nvPicPr>
          <p:cNvPr id="16" name="Picture 15" descr="ic_bar-chart-3_noir.png"/>
          <p:cNvPicPr>
            <a:picLocks noChangeAspect="1"/>
          </p:cNvPicPr>
          <p:nvPr/>
        </p:nvPicPr>
        <p:blipFill>
          <a:blip r:embed="rId6"/>
          <a:stretch>
            <a:fillRect/>
          </a:stretch>
        </p:blipFill>
        <p:spPr>
          <a:xfrm>
            <a:off x="6126479" y="3063240"/>
            <a:ext cx="411480" cy="411480"/>
          </a:xfrm>
          <a:prstGeom prst="rect">
            <a:avLst/>
          </a:prstGeom>
        </p:spPr>
      </p:pic>
      <p:sp>
        <p:nvSpPr>
          <p:cNvPr id="17" name="TextBox 16"/>
          <p:cNvSpPr txBox="1"/>
          <p:nvPr/>
        </p:nvSpPr>
        <p:spPr>
          <a:xfrm>
            <a:off x="6126479" y="3566160"/>
            <a:ext cx="2606040" cy="594360"/>
          </a:xfrm>
          <a:prstGeom prst="rect">
            <a:avLst/>
          </a:prstGeom>
          <a:noFill/>
        </p:spPr>
        <p:txBody>
          <a:bodyPr wrap="square" lIns="18288" rIns="18288" tIns="18288" bIns="18288" anchor="t">
            <a:spAutoFit/>
          </a:bodyPr>
          <a:lstStyle/>
          <a:p>
            <a:pPr algn="l">
              <a:lnSpc>
                <a:spcPct val="112000"/>
              </a:lnSpc>
            </a:pPr>
            <a:r>
              <a:rPr sz="1350" b="1" i="0">
                <a:solidFill>
                  <a:srgbClr val="141414"/>
                </a:solidFill>
                <a:latin typeface="Montserrat"/>
              </a:rPr>
              <a:t>Le digital comme levier business</a:t>
            </a:r>
          </a:p>
        </p:txBody>
      </p:sp>
      <p:sp>
        <p:nvSpPr>
          <p:cNvPr id="18" name="TextBox 17"/>
          <p:cNvSpPr txBox="1"/>
          <p:nvPr/>
        </p:nvSpPr>
        <p:spPr>
          <a:xfrm>
            <a:off x="6126479" y="4206240"/>
            <a:ext cx="2606040" cy="173736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 On n'est pas là pour donner les actus, mais pour les lire, les comprendre et en tirer des décisions business concrètes en Afrique. »</a:t>
            </a:r>
          </a:p>
        </p:txBody>
      </p:sp>
      <p:pic>
        <p:nvPicPr>
          <p:cNvPr id="19" name="Picture 18" descr="ic_target_noir.png"/>
          <p:cNvPicPr>
            <a:picLocks noChangeAspect="1"/>
          </p:cNvPicPr>
          <p:nvPr/>
        </p:nvPicPr>
        <p:blipFill>
          <a:blip r:embed="rId7"/>
          <a:stretch>
            <a:fillRect/>
          </a:stretch>
        </p:blipFill>
        <p:spPr>
          <a:xfrm>
            <a:off x="8915399" y="3063240"/>
            <a:ext cx="411480" cy="411480"/>
          </a:xfrm>
          <a:prstGeom prst="rect">
            <a:avLst/>
          </a:prstGeom>
        </p:spPr>
      </p:pic>
      <p:sp>
        <p:nvSpPr>
          <p:cNvPr id="20" name="TextBox 19"/>
          <p:cNvSpPr txBox="1"/>
          <p:nvPr/>
        </p:nvSpPr>
        <p:spPr>
          <a:xfrm>
            <a:off x="8915399" y="3566160"/>
            <a:ext cx="2606040" cy="594360"/>
          </a:xfrm>
          <a:prstGeom prst="rect">
            <a:avLst/>
          </a:prstGeom>
          <a:noFill/>
        </p:spPr>
        <p:txBody>
          <a:bodyPr wrap="square" lIns="18288" rIns="18288" tIns="18288" bIns="18288" anchor="t">
            <a:spAutoFit/>
          </a:bodyPr>
          <a:lstStyle/>
          <a:p>
            <a:pPr algn="l">
              <a:lnSpc>
                <a:spcPct val="112000"/>
              </a:lnSpc>
            </a:pPr>
            <a:r>
              <a:rPr sz="1350" b="1" i="0">
                <a:solidFill>
                  <a:srgbClr val="141414"/>
                </a:solidFill>
                <a:latin typeface="Montserrat"/>
              </a:rPr>
              <a:t>L'impact plutôt que la belle campagne</a:t>
            </a:r>
          </a:p>
        </p:txBody>
      </p:sp>
      <p:sp>
        <p:nvSpPr>
          <p:cNvPr id="21" name="TextBox 20"/>
          <p:cNvSpPr txBox="1"/>
          <p:nvPr/>
        </p:nvSpPr>
        <p:spPr>
          <a:xfrm>
            <a:off x="8915399" y="4206240"/>
            <a:ext cx="2606040" cy="173736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 La question n'est plus : que va-t-on communiquer ? mais : quel impact allons-nous créer ? » (juillet 2026, sur la nouvelle phase de Totem).</a:t>
            </a:r>
          </a:p>
        </p:txBody>
      </p:sp>
      <p:sp>
        <p:nvSpPr>
          <p:cNvPr id="22" name="TextBox 21"/>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Citations relevées sur ses posts LinkedIn (23/01, 24/04, 22/05) et Instagram (01/05), et dans l'article de Comms of Africa du 17/07/2026. Orthographe des citations corrigée.</a:t>
            </a:r>
          </a:p>
        </p:txBody>
      </p:sp>
      <p:sp>
        <p:nvSpPr>
          <p:cNvPr id="23" name="TextBox 22"/>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4" name="TextBox 23"/>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6 / 42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LE TON RELEVÉ SUR SES 12 POSTS LINKEDIN</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Sa voix : sobre, directe, et beaucoup trop courte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50876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63039"/>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47,5 mots</a:t>
            </a:r>
          </a:p>
        </p:txBody>
      </p:sp>
      <p:sp>
        <p:nvSpPr>
          <p:cNvPr id="8" name="TextBox 7"/>
          <p:cNvSpPr txBox="1"/>
          <p:nvPr/>
        </p:nvSpPr>
        <p:spPr>
          <a:xfrm>
            <a:off x="731520" y="203911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longueur médiane du texte qu'il écrit au-dessus d'un post</a:t>
            </a:r>
          </a:p>
        </p:txBody>
      </p:sp>
      <p:sp>
        <p:nvSpPr>
          <p:cNvPr id="9" name="Rectangle 8"/>
          <p:cNvSpPr/>
          <p:nvPr/>
        </p:nvSpPr>
        <p:spPr>
          <a:xfrm>
            <a:off x="548640" y="278892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743200"/>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3 sur 12</a:t>
            </a:r>
          </a:p>
        </p:txBody>
      </p:sp>
      <p:sp>
        <p:nvSpPr>
          <p:cNvPr id="11" name="TextBox 10"/>
          <p:cNvSpPr txBox="1"/>
          <p:nvPr/>
        </p:nvSpPr>
        <p:spPr>
          <a:xfrm>
            <a:off x="731520" y="331927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posts avec au moins un émoji : un ton plutôt sobre</a:t>
            </a:r>
          </a:p>
        </p:txBody>
      </p:sp>
      <p:sp>
        <p:nvSpPr>
          <p:cNvPr id="12" name="Rectangle 11"/>
          <p:cNvSpPr/>
          <p:nvPr/>
        </p:nvSpPr>
        <p:spPr>
          <a:xfrm>
            <a:off x="548640" y="406908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023360"/>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1 sur 12</a:t>
            </a:r>
          </a:p>
        </p:txBody>
      </p:sp>
      <p:sp>
        <p:nvSpPr>
          <p:cNvPr id="14" name="TextBox 13"/>
          <p:cNvSpPr txBox="1"/>
          <p:nvPr/>
        </p:nvSpPr>
        <p:spPr>
          <a:xfrm>
            <a:off x="731520" y="459943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post avec un mot-dièse : il n'en utilise presque pas</a:t>
            </a:r>
          </a:p>
        </p:txBody>
      </p:sp>
      <p:sp>
        <p:nvSpPr>
          <p:cNvPr id="15" name="TextBox 14"/>
          <p:cNvSpPr txBox="1"/>
          <p:nvPr/>
        </p:nvSpPr>
        <p:spPr>
          <a:xfrm>
            <a:off x="3566160" y="1463040"/>
            <a:ext cx="4023360" cy="448056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Ce qui fait sa signature. </a:t>
            </a:r>
            <a:r>
              <a:rPr sz="1200">
                <a:solidFill>
                  <a:srgbClr val="1A1A1C"/>
                </a:solidFill>
                <a:latin typeface="Montserrat"/>
              </a:rPr>
              <a:t>Une phrase d'accroche qui bouscule (« Tout le monde fait du digital. Peu comprennent ce qui arrive. »), le tutoiement de proximité, une pointe d'humour (« elle a même oublié qu'elle a été maîtresse de cérémonie »).</a:t>
            </a:r>
          </a:p>
          <a:p>
            <a:pPr>
              <a:lnSpc>
                <a:spcPct val="110000"/>
              </a:lnSpc>
              <a:spcAft>
                <a:spcPts val="1008"/>
              </a:spcAft>
            </a:pPr>
            <a:r>
              <a:rPr sz="900">
                <a:solidFill>
                  <a:srgbClr val="141414"/>
                </a:solidFill>
                <a:latin typeface="Montserrat"/>
              </a:rPr>
              <a:t>■  </a:t>
            </a:r>
            <a:r>
              <a:rPr b="1" sz="1200">
                <a:solidFill>
                  <a:srgbClr val="141414"/>
                </a:solidFill>
                <a:latin typeface="Montserrat"/>
              </a:rPr>
              <a:t>Ce qui l'affaiblit. </a:t>
            </a:r>
            <a:r>
              <a:rPr sz="1200">
                <a:solidFill>
                  <a:srgbClr val="1A1A1C"/>
                </a:solidFill>
                <a:latin typeface="Montserrat"/>
              </a:rPr>
              <a:t>7 posts sur 12 font moins de 50 mots : une ligne posée au-dessus d'une reprise. Ces posts courts font 51 interactions en médiane, contre 150 pour les plus longs.</a:t>
            </a:r>
          </a:p>
          <a:p>
            <a:pPr>
              <a:lnSpc>
                <a:spcPct val="110000"/>
              </a:lnSpc>
              <a:spcAft>
                <a:spcPts val="1008"/>
              </a:spcAft>
            </a:pPr>
            <a:r>
              <a:rPr sz="900">
                <a:solidFill>
                  <a:srgbClr val="141414"/>
                </a:solidFill>
                <a:latin typeface="Montserrat"/>
              </a:rPr>
              <a:t>■  </a:t>
            </a:r>
            <a:r>
              <a:rPr b="1" sz="1200">
                <a:solidFill>
                  <a:srgbClr val="141414"/>
                </a:solidFill>
                <a:latin typeface="Montserrat"/>
              </a:rPr>
              <a:t>Des coquilles visibles. </a:t>
            </a:r>
            <a:r>
              <a:rPr sz="1200">
                <a:solidFill>
                  <a:srgbClr val="1A1A1C"/>
                </a:solidFill>
                <a:latin typeface="Montserrat"/>
              </a:rPr>
              <a:t>Au moins quatre fautes dans des posts encore en ligne, dont ces trois : à corriger, car son métier est la communication.</a:t>
            </a:r>
          </a:p>
        </p:txBody>
      </p:sp>
      <p:sp>
        <p:nvSpPr>
          <p:cNvPr id="16" name="Rectangle 15"/>
          <p:cNvSpPr/>
          <p:nvPr/>
        </p:nvSpPr>
        <p:spPr>
          <a:xfrm>
            <a:off x="7955279" y="1463040"/>
            <a:ext cx="3657600" cy="44805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79" y="1627632"/>
            <a:ext cx="3291840" cy="36576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LES COQUILLES À CORRIGER</a:t>
            </a:r>
          </a:p>
        </p:txBody>
      </p:sp>
      <p:sp>
        <p:nvSpPr>
          <p:cNvPr id="18" name="TextBox 17"/>
          <p:cNvSpPr txBox="1"/>
          <p:nvPr/>
        </p:nvSpPr>
        <p:spPr>
          <a:xfrm>
            <a:off x="8183879" y="2057400"/>
            <a:ext cx="329184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23/01</a:t>
            </a:r>
          </a:p>
        </p:txBody>
      </p:sp>
      <p:sp>
        <p:nvSpPr>
          <p:cNvPr id="19" name="TextBox 18"/>
          <p:cNvSpPr txBox="1"/>
          <p:nvPr/>
        </p:nvSpPr>
        <p:spPr>
          <a:xfrm>
            <a:off x="8183879" y="2313432"/>
            <a:ext cx="3291840" cy="548640"/>
          </a:xfrm>
          <a:prstGeom prst="rect">
            <a:avLst/>
          </a:prstGeom>
          <a:noFill/>
        </p:spPr>
        <p:txBody>
          <a:bodyPr wrap="square" lIns="18288" rIns="18288" tIns="18288" bIns="18288" anchor="t">
            <a:spAutoFit/>
          </a:bodyPr>
          <a:lstStyle/>
          <a:p>
            <a:pPr algn="l">
              <a:lnSpc>
                <a:spcPct val="112000"/>
              </a:lnSpc>
            </a:pPr>
            <a:r>
              <a:rPr sz="1050" b="0" i="0">
                <a:solidFill>
                  <a:srgbClr val="DD4549"/>
                </a:solidFill>
                <a:latin typeface="Montserrat"/>
              </a:rPr>
              <a:t>« On est pas l'a pour donner les actu »</a:t>
            </a:r>
          </a:p>
        </p:txBody>
      </p:sp>
      <p:sp>
        <p:nvSpPr>
          <p:cNvPr id="20" name="TextBox 19"/>
          <p:cNvSpPr txBox="1"/>
          <p:nvPr/>
        </p:nvSpPr>
        <p:spPr>
          <a:xfrm>
            <a:off x="8183879" y="2807208"/>
            <a:ext cx="3291840" cy="36576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 On n'est pas là pour donner les actus</a:t>
            </a:r>
          </a:p>
        </p:txBody>
      </p:sp>
      <p:sp>
        <p:nvSpPr>
          <p:cNvPr id="21" name="TextBox 20"/>
          <p:cNvSpPr txBox="1"/>
          <p:nvPr/>
        </p:nvSpPr>
        <p:spPr>
          <a:xfrm>
            <a:off x="8183879" y="3319272"/>
            <a:ext cx="329184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02/02</a:t>
            </a:r>
          </a:p>
        </p:txBody>
      </p:sp>
      <p:sp>
        <p:nvSpPr>
          <p:cNvPr id="22" name="TextBox 21"/>
          <p:cNvSpPr txBox="1"/>
          <p:nvPr/>
        </p:nvSpPr>
        <p:spPr>
          <a:xfrm>
            <a:off x="8183879" y="3575304"/>
            <a:ext cx="3291840" cy="548640"/>
          </a:xfrm>
          <a:prstGeom prst="rect">
            <a:avLst/>
          </a:prstGeom>
          <a:noFill/>
        </p:spPr>
        <p:txBody>
          <a:bodyPr wrap="square" lIns="18288" rIns="18288" tIns="18288" bIns="18288" anchor="t">
            <a:spAutoFit/>
          </a:bodyPr>
          <a:lstStyle/>
          <a:p>
            <a:pPr algn="l">
              <a:lnSpc>
                <a:spcPct val="112000"/>
              </a:lnSpc>
            </a:pPr>
            <a:r>
              <a:rPr sz="1050" b="0" i="0">
                <a:solidFill>
                  <a:srgbClr val="DD4549"/>
                </a:solidFill>
                <a:latin typeface="Montserrat"/>
              </a:rPr>
              <a:t>« comment stopper l'émorragie »</a:t>
            </a:r>
          </a:p>
        </p:txBody>
      </p:sp>
      <p:sp>
        <p:nvSpPr>
          <p:cNvPr id="23" name="TextBox 22"/>
          <p:cNvSpPr txBox="1"/>
          <p:nvPr/>
        </p:nvSpPr>
        <p:spPr>
          <a:xfrm>
            <a:off x="8183879" y="4069080"/>
            <a:ext cx="3291840" cy="36576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 l'hémorragie</a:t>
            </a:r>
          </a:p>
        </p:txBody>
      </p:sp>
      <p:sp>
        <p:nvSpPr>
          <p:cNvPr id="24" name="TextBox 23"/>
          <p:cNvSpPr txBox="1"/>
          <p:nvPr/>
        </p:nvSpPr>
        <p:spPr>
          <a:xfrm>
            <a:off x="8183879" y="4581144"/>
            <a:ext cx="329184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08/04</a:t>
            </a:r>
          </a:p>
        </p:txBody>
      </p:sp>
      <p:sp>
        <p:nvSpPr>
          <p:cNvPr id="25" name="TextBox 24"/>
          <p:cNvSpPr txBox="1"/>
          <p:nvPr/>
        </p:nvSpPr>
        <p:spPr>
          <a:xfrm>
            <a:off x="8183879" y="4837176"/>
            <a:ext cx="3291840" cy="548640"/>
          </a:xfrm>
          <a:prstGeom prst="rect">
            <a:avLst/>
          </a:prstGeom>
          <a:noFill/>
        </p:spPr>
        <p:txBody>
          <a:bodyPr wrap="square" lIns="18288" rIns="18288" tIns="18288" bIns="18288" anchor="t">
            <a:spAutoFit/>
          </a:bodyPr>
          <a:lstStyle/>
          <a:p>
            <a:pPr algn="l">
              <a:lnSpc>
                <a:spcPct val="112000"/>
              </a:lnSpc>
            </a:pPr>
            <a:r>
              <a:rPr sz="1050" b="0" i="0">
                <a:solidFill>
                  <a:srgbClr val="DD4549"/>
                </a:solidFill>
                <a:latin typeface="Montserrat"/>
              </a:rPr>
              <a:t>« la transformation digitale que vite notre continent »</a:t>
            </a:r>
          </a:p>
        </p:txBody>
      </p:sp>
      <p:sp>
        <p:nvSpPr>
          <p:cNvPr id="26" name="TextBox 25"/>
          <p:cNvSpPr txBox="1"/>
          <p:nvPr/>
        </p:nvSpPr>
        <p:spPr>
          <a:xfrm>
            <a:off x="8183879" y="5330952"/>
            <a:ext cx="3291840" cy="36576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 que vit notre continent</a:t>
            </a:r>
          </a:p>
        </p:txBody>
      </p:sp>
      <p:sp>
        <p:nvSpPr>
          <p:cNvPr id="27" name="TextBox 26"/>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Longueur : nombre de mots du texte écrit par Kahi, hors texte du post repris. Quatrième faute : « vous renforcer une certitude » (24/04), corrigée dans la version Instagram.</a:t>
            </a:r>
          </a:p>
        </p:txBody>
      </p:sp>
      <p:sp>
        <p:nvSpPr>
          <p:cNvPr id="28" name="TextBox 2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9" name="TextBox 2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7 / 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sec2.jpg"/>
          <p:cNvPicPr>
            <a:picLocks noChangeAspect="1"/>
          </p:cNvPicPr>
          <p:nvPr/>
        </p:nvPicPr>
        <p:blipFill>
          <a:blip r:embed="rId2"/>
          <a:stretch>
            <a:fillRect/>
          </a:stretch>
        </p:blipFill>
        <p:spPr>
          <a:xfrm>
            <a:off x="6702552" y="685800"/>
            <a:ext cx="5486400" cy="54864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0" cy="1463040"/>
          </a:xfrm>
          <a:prstGeom prst="rect">
            <a:avLst/>
          </a:prstGeom>
          <a:noFill/>
        </p:spPr>
        <p:txBody>
          <a:bodyPr wrap="square" lIns="18288" rIns="18288" tIns="18288" bIns="18288" anchor="t">
            <a:spAutoFit/>
          </a:bodyPr>
          <a:lstStyle/>
          <a:p>
            <a:pPr algn="l">
              <a:lnSpc>
                <a:spcPct val="112000"/>
              </a:lnSpc>
            </a:pPr>
            <a:r>
              <a:rPr sz="9600" b="1" i="0">
                <a:solidFill>
                  <a:srgbClr val="B6D401"/>
                </a:solidFill>
                <a:latin typeface="Montserrat"/>
              </a:rPr>
              <a:t>02</a:t>
            </a:r>
          </a:p>
        </p:txBody>
      </p:sp>
      <p:sp>
        <p:nvSpPr>
          <p:cNvPr id="5" name="TextBox 4"/>
          <p:cNvSpPr txBox="1"/>
          <p:nvPr/>
        </p:nvSpPr>
        <p:spPr>
          <a:xfrm>
            <a:off x="731520" y="3063240"/>
            <a:ext cx="5669280" cy="914400"/>
          </a:xfrm>
          <a:prstGeom prst="rect">
            <a:avLst/>
          </a:prstGeom>
          <a:noFill/>
        </p:spPr>
        <p:txBody>
          <a:bodyPr wrap="square" lIns="18288" rIns="18288" tIns="18288" bIns="18288" anchor="t">
            <a:spAutoFit/>
          </a:bodyPr>
          <a:lstStyle/>
          <a:p>
            <a:pPr algn="l">
              <a:lnSpc>
                <a:spcPct val="112000"/>
              </a:lnSpc>
            </a:pPr>
            <a:r>
              <a:rPr sz="4000" b="1" i="0">
                <a:solidFill>
                  <a:srgbClr val="FFFFFF"/>
                </a:solidFill>
                <a:latin typeface="Montserrat"/>
              </a:rPr>
              <a:t>LinkedIn</a:t>
            </a:r>
          </a:p>
        </p:txBody>
      </p:sp>
      <p:sp>
        <p:nvSpPr>
          <p:cNvPr id="6" name="TextBox 5"/>
          <p:cNvSpPr txBox="1"/>
          <p:nvPr/>
        </p:nvSpPr>
        <p:spPr>
          <a:xfrm>
            <a:off x="731520" y="4069080"/>
            <a:ext cx="5486400" cy="128016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Son réseau principal : 14 457 abonnés, 12 posts depuis janvier, aucun depuis le 17 juillet.</a:t>
            </a:r>
          </a:p>
        </p:txBody>
      </p:sp>
      <p:pic>
        <p:nvPicPr>
          <p:cNvPr id="7" name="Picture 6" descr="logo.png"/>
          <p:cNvPicPr>
            <a:picLocks noChangeAspect="1"/>
          </p:cNvPicPr>
          <p:nvPr/>
        </p:nvPicPr>
        <p:blipFill>
          <a:blip r:embed="rId3"/>
          <a:stretch>
            <a:fillRect/>
          </a:stretch>
        </p:blipFill>
        <p:spPr>
          <a:xfrm>
            <a:off x="731520" y="5897880"/>
            <a:ext cx="1092631" cy="548640"/>
          </a:xfrm>
          <a:prstGeom prst="rect">
            <a:avLst/>
          </a:prstGeom>
        </p:spPr>
      </p:pic>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8 / 42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LA VITRINE</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 profil LinkedIn : complet, mais en anglais et figé en 2023</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banniere.jpg"/>
          <p:cNvPicPr>
            <a:picLocks noChangeAspect="1"/>
          </p:cNvPicPr>
          <p:nvPr/>
        </p:nvPicPr>
        <p:blipFill>
          <a:blip r:embed="rId3"/>
          <a:stretch>
            <a:fillRect/>
          </a:stretch>
        </p:blipFill>
        <p:spPr>
          <a:xfrm>
            <a:off x="548640" y="1417320"/>
            <a:ext cx="6766560" cy="1691640"/>
          </a:xfrm>
          <a:prstGeom prst="rect">
            <a:avLst/>
          </a:prstGeom>
        </p:spPr>
      </p:pic>
      <p:sp>
        <p:nvSpPr>
          <p:cNvPr id="7" name="Rectangle 6"/>
          <p:cNvSpPr/>
          <p:nvPr/>
        </p:nvSpPr>
        <p:spPr>
          <a:xfrm>
            <a:off x="548640" y="3108960"/>
            <a:ext cx="6766560" cy="283464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v_li.jpg"/>
          <p:cNvPicPr>
            <a:picLocks noChangeAspect="1"/>
          </p:cNvPicPr>
          <p:nvPr/>
        </p:nvPicPr>
        <p:blipFill>
          <a:blip r:embed="rId4"/>
          <a:stretch>
            <a:fillRect/>
          </a:stretch>
        </p:blipFill>
        <p:spPr>
          <a:xfrm>
            <a:off x="777240" y="2834640"/>
            <a:ext cx="914400" cy="914400"/>
          </a:xfrm>
          <a:prstGeom prst="rect">
            <a:avLst/>
          </a:prstGeom>
        </p:spPr>
      </p:pic>
      <p:sp>
        <p:nvSpPr>
          <p:cNvPr id="9" name="TextBox 8"/>
          <p:cNvSpPr txBox="1"/>
          <p:nvPr/>
        </p:nvSpPr>
        <p:spPr>
          <a:xfrm>
            <a:off x="1874519" y="3200400"/>
            <a:ext cx="5303520" cy="365760"/>
          </a:xfrm>
          <a:prstGeom prst="rect">
            <a:avLst/>
          </a:prstGeom>
          <a:noFill/>
        </p:spPr>
        <p:txBody>
          <a:bodyPr wrap="square" lIns="18288" rIns="18288" tIns="18288" bIns="18288" anchor="t">
            <a:spAutoFit/>
          </a:bodyPr>
          <a:lstStyle/>
          <a:p>
            <a:pPr algn="l">
              <a:lnSpc>
                <a:spcPct val="112000"/>
              </a:lnSpc>
            </a:pPr>
            <a:r>
              <a:rPr sz="1600" b="1" i="0">
                <a:solidFill>
                  <a:srgbClr val="141414"/>
                </a:solidFill>
                <a:latin typeface="Montserrat"/>
              </a:rPr>
              <a:t>Kahi Lumumba</a:t>
            </a:r>
          </a:p>
        </p:txBody>
      </p:sp>
      <p:sp>
        <p:nvSpPr>
          <p:cNvPr id="10" name="TextBox 9"/>
          <p:cNvSpPr txBox="1"/>
          <p:nvPr/>
        </p:nvSpPr>
        <p:spPr>
          <a:xfrm>
            <a:off x="777240" y="3840480"/>
            <a:ext cx="6355080" cy="91440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Co-Founder &amp; CEO at TOTEM EXPERIENCE, ADICOMDAYS &amp; ENTREPRENEUR STATE OF AFRICA / Building panafrican communities for Digital, Brands and Entrepreneurs</a:t>
            </a:r>
          </a:p>
        </p:txBody>
      </p:sp>
      <p:sp>
        <p:nvSpPr>
          <p:cNvPr id="11" name="TextBox 10"/>
          <p:cNvSpPr txBox="1"/>
          <p:nvPr/>
        </p:nvSpPr>
        <p:spPr>
          <a:xfrm>
            <a:off x="777240" y="4709160"/>
            <a:ext cx="6355080" cy="1188720"/>
          </a:xfrm>
          <a:prstGeom prst="rect">
            <a:avLst/>
          </a:prstGeom>
          <a:noFill/>
        </p:spPr>
        <p:txBody>
          <a:bodyPr wrap="square" lIns="18288" rIns="18288" tIns="18288" bIns="18288" anchor="t">
            <a:spAutoFit/>
          </a:bodyPr>
          <a:lstStyle/>
          <a:p>
            <a:pPr algn="l">
              <a:lnSpc>
                <a:spcPct val="112000"/>
              </a:lnSpc>
            </a:pPr>
            <a:r>
              <a:rPr sz="1050" b="0" i="1">
                <a:solidFill>
                  <a:srgbClr val="6E6E73"/>
                </a:solidFill>
                <a:latin typeface="Montserrat"/>
              </a:rPr>
              <a:t>« Africa digital revolution is on the way and I am proud to be part of it with the Totem Experience team (Paris-Abidjan-Dakar-Accra-Brazzaville) »… puis une liste de clients et de médias.</a:t>
            </a:r>
          </a:p>
        </p:txBody>
      </p:sp>
      <p:sp>
        <p:nvSpPr>
          <p:cNvPr id="12" name="TextBox 11"/>
          <p:cNvSpPr txBox="1"/>
          <p:nvPr/>
        </p:nvSpPr>
        <p:spPr>
          <a:xfrm>
            <a:off x="7635240" y="1417320"/>
            <a:ext cx="4023360" cy="4572000"/>
          </a:xfrm>
          <a:prstGeom prst="rect">
            <a:avLst/>
          </a:prstGeom>
          <a:noFill/>
        </p:spPr>
        <p:txBody>
          <a:bodyPr wrap="square">
            <a:spAutoFit/>
          </a:bodyPr>
          <a:lstStyle/>
          <a:p>
            <a:pPr>
              <a:lnSpc>
                <a:spcPct val="110000"/>
              </a:lnSpc>
              <a:spcAft>
                <a:spcPts val="1008"/>
              </a:spcAft>
            </a:pPr>
            <a:r>
              <a:rPr sz="850">
                <a:solidFill>
                  <a:srgbClr val="141414"/>
                </a:solidFill>
                <a:latin typeface="Montserrat"/>
              </a:rPr>
              <a:t>■  </a:t>
            </a:r>
            <a:r>
              <a:rPr b="1" sz="1150">
                <a:solidFill>
                  <a:srgbClr val="141414"/>
                </a:solidFill>
                <a:latin typeface="Montserrat"/>
              </a:rPr>
              <a:t>Tout en anglais </a:t>
            </a:r>
            <a:r>
              <a:rPr sz="1150">
                <a:solidFill>
                  <a:srgbClr val="1A1A1C"/>
                </a:solidFill>
                <a:latin typeface="Montserrat"/>
              </a:rPr>
              <a:t>pour un public qui lit et commente en français : titre, résumé, expériences.</a:t>
            </a:r>
          </a:p>
          <a:p>
            <a:pPr>
              <a:lnSpc>
                <a:spcPct val="110000"/>
              </a:lnSpc>
              <a:spcAft>
                <a:spcPts val="1008"/>
              </a:spcAft>
            </a:pPr>
            <a:r>
              <a:rPr sz="850">
                <a:solidFill>
                  <a:srgbClr val="141414"/>
                </a:solidFill>
                <a:latin typeface="Montserrat"/>
              </a:rPr>
              <a:t>■  </a:t>
            </a:r>
            <a:r>
              <a:rPr b="1" sz="1150">
                <a:solidFill>
                  <a:srgbClr val="141414"/>
                </a:solidFill>
                <a:latin typeface="Montserrat"/>
              </a:rPr>
              <a:t>Un résumé daté. </a:t>
            </a:r>
            <a:r>
              <a:rPr sz="1150">
                <a:solidFill>
                  <a:srgbClr val="1A1A1C"/>
                </a:solidFill>
                <a:latin typeface="Montserrat"/>
              </a:rPr>
              <a:t>Il cite les bureaux Paris, Abidjan, Dakar, Accra, Brazzaville, alors que le groupe annonce 7 pays dont la RDC et le Mali. Rien sur State of Africa ni sur WHO.</a:t>
            </a:r>
          </a:p>
          <a:p>
            <a:pPr>
              <a:lnSpc>
                <a:spcPct val="110000"/>
              </a:lnSpc>
              <a:spcAft>
                <a:spcPts val="1008"/>
              </a:spcAft>
            </a:pPr>
            <a:r>
              <a:rPr sz="850">
                <a:solidFill>
                  <a:srgbClr val="141414"/>
                </a:solidFill>
                <a:latin typeface="Montserrat"/>
              </a:rPr>
              <a:t>■  </a:t>
            </a:r>
            <a:r>
              <a:rPr b="1" sz="1150">
                <a:solidFill>
                  <a:srgbClr val="141414"/>
                </a:solidFill>
                <a:latin typeface="Montserrat"/>
              </a:rPr>
              <a:t>Des listes plutôt qu'une histoire. </a:t>
            </a:r>
            <a:r>
              <a:rPr sz="1150">
                <a:solidFill>
                  <a:srgbClr val="1A1A1C"/>
                </a:solidFill>
                <a:latin typeface="Montserrat"/>
              </a:rPr>
              <a:t>17 clients et 8 médias en vrac. Le « pourquoi » n'apparaît nulle part.</a:t>
            </a:r>
          </a:p>
          <a:p>
            <a:pPr>
              <a:lnSpc>
                <a:spcPct val="110000"/>
              </a:lnSpc>
              <a:spcAft>
                <a:spcPts val="1008"/>
              </a:spcAft>
            </a:pPr>
            <a:r>
              <a:rPr sz="850">
                <a:solidFill>
                  <a:srgbClr val="141414"/>
                </a:solidFill>
                <a:latin typeface="Montserrat"/>
              </a:rPr>
              <a:t>■  </a:t>
            </a:r>
            <a:r>
              <a:rPr b="1" sz="1150">
                <a:solidFill>
                  <a:srgbClr val="141414"/>
                </a:solidFill>
                <a:latin typeface="Montserrat"/>
              </a:rPr>
              <a:t>Bannière et photo de 2023. </a:t>
            </a:r>
            <a:r>
              <a:rPr sz="1150">
                <a:solidFill>
                  <a:srgbClr val="1A1A1C"/>
                </a:solidFill>
                <a:latin typeface="Montserrat"/>
              </a:rPr>
              <a:t>La bannière (« Digital Creativity Group ») ne parle ni d'ADICOM 10 ni de WHO. Aucune section « Sélection » pour épingler ses meilleurs posts.</a:t>
            </a:r>
          </a:p>
          <a:p>
            <a:pPr>
              <a:lnSpc>
                <a:spcPct val="110000"/>
              </a:lnSpc>
              <a:spcAft>
                <a:spcPts val="1008"/>
              </a:spcAft>
            </a:pPr>
            <a:r>
              <a:rPr sz="850">
                <a:solidFill>
                  <a:srgbClr val="141414"/>
                </a:solidFill>
                <a:latin typeface="Montserrat"/>
              </a:rPr>
              <a:t>■  </a:t>
            </a:r>
            <a:r>
              <a:rPr b="1" sz="1150">
                <a:solidFill>
                  <a:srgbClr val="141414"/>
                </a:solidFill>
                <a:latin typeface="Montserrat"/>
              </a:rPr>
              <a:t>Ce qui est solide : </a:t>
            </a:r>
            <a:r>
              <a:rPr sz="1150">
                <a:solidFill>
                  <a:srgbClr val="1A1A1C"/>
                </a:solidFill>
                <a:latin typeface="Montserrat"/>
              </a:rPr>
              <a:t>mode créateur activé, 3 839 relations, 6 expériences, 8 publications presse, 3 distinctions.</a:t>
            </a:r>
          </a:p>
        </p:txBody>
      </p:sp>
      <p:sp>
        <p:nvSpPr>
          <p:cNvPr id="13" name="TextBox 12"/>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Profil, bannière et photo relevés le 24/10/2026. Dates des images d'après leurs fichiers sur LinkedIn (juin 2023).</a:t>
            </a:r>
          </a:p>
        </p:txBody>
      </p:sp>
      <p:sp>
        <p:nvSpPr>
          <p:cNvPr id="14" name="TextBox 13"/>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5" name="TextBox 14"/>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9 / 42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JANVIER À OCTOBRE 2026</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En chiffres : une audience large, un rythme quasi nul</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6304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14 457</a:t>
            </a:r>
          </a:p>
        </p:txBody>
      </p:sp>
      <p:sp>
        <p:nvSpPr>
          <p:cNvPr id="8" name="TextBox 7"/>
          <p:cNvSpPr txBox="1"/>
          <p:nvPr/>
        </p:nvSpPr>
        <p:spPr>
          <a:xfrm>
            <a:off x="731520" y="199339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abonnés au 24 octobre</a:t>
            </a:r>
          </a:p>
        </p:txBody>
      </p:sp>
      <p:sp>
        <p:nvSpPr>
          <p:cNvPr id="9" name="Rectangle 8"/>
          <p:cNvSpPr/>
          <p:nvPr/>
        </p:nvSpPr>
        <p:spPr>
          <a:xfrm>
            <a:off x="548640" y="269748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651760"/>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12</a:t>
            </a:r>
          </a:p>
        </p:txBody>
      </p:sp>
      <p:sp>
        <p:nvSpPr>
          <p:cNvPr id="11" name="TextBox 10"/>
          <p:cNvSpPr txBox="1"/>
          <p:nvPr/>
        </p:nvSpPr>
        <p:spPr>
          <a:xfrm>
            <a:off x="731520" y="322783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posts en 42 semaines, soit un toutes les trois semaines et demie</a:t>
            </a:r>
          </a:p>
        </p:txBody>
      </p:sp>
      <p:sp>
        <p:nvSpPr>
          <p:cNvPr id="12" name="Rectangle 11"/>
          <p:cNvSpPr/>
          <p:nvPr/>
        </p:nvSpPr>
        <p:spPr>
          <a:xfrm>
            <a:off x="548640" y="393192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86200"/>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74,5</a:t>
            </a:r>
          </a:p>
        </p:txBody>
      </p:sp>
      <p:sp>
        <p:nvSpPr>
          <p:cNvPr id="14" name="TextBox 13"/>
          <p:cNvSpPr txBox="1"/>
          <p:nvPr/>
        </p:nvSpPr>
        <p:spPr>
          <a:xfrm>
            <a:off x="731520" y="446227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interactions médianes par post (réactions, commentaires, partages)</a:t>
            </a:r>
          </a:p>
        </p:txBody>
      </p:sp>
      <p:sp>
        <p:nvSpPr>
          <p:cNvPr id="15" name="Rectangle 14"/>
          <p:cNvSpPr/>
          <p:nvPr/>
        </p:nvSpPr>
        <p:spPr>
          <a:xfrm>
            <a:off x="548640" y="516636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120640"/>
            <a:ext cx="2468879"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99 jours</a:t>
            </a:r>
          </a:p>
        </p:txBody>
      </p:sp>
      <p:sp>
        <p:nvSpPr>
          <p:cNvPr id="17" name="TextBox 16"/>
          <p:cNvSpPr txBox="1"/>
          <p:nvPr/>
        </p:nvSpPr>
        <p:spPr>
          <a:xfrm>
            <a:off x="731520" y="5696712"/>
            <a:ext cx="2468879"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sans publier, du 17 juillet au 24 octobre</a:t>
            </a:r>
          </a:p>
        </p:txBody>
      </p:sp>
      <p:pic>
        <p:nvPicPr>
          <p:cNvPr id="18" name="Picture 17" descr="01_li_mois.png"/>
          <p:cNvPicPr>
            <a:picLocks noChangeAspect="1"/>
          </p:cNvPicPr>
          <p:nvPr/>
        </p:nvPicPr>
        <p:blipFill>
          <a:blip r:embed="rId3"/>
          <a:stretch>
            <a:fillRect/>
          </a:stretch>
        </p:blipFill>
        <p:spPr>
          <a:xfrm>
            <a:off x="3474720" y="1597913"/>
            <a:ext cx="8138160" cy="3662172"/>
          </a:xfrm>
          <a:prstGeom prst="rect">
            <a:avLst/>
          </a:prstGeom>
        </p:spPr>
      </p:pic>
      <p:sp>
        <p:nvSpPr>
          <p:cNvPr id="19" name="TextBox 18"/>
          <p:cNvSpPr txBox="1"/>
          <p:nvPr/>
        </p:nvSpPr>
        <p:spPr>
          <a:xfrm>
            <a:off x="3474720" y="5486400"/>
            <a:ext cx="8138160" cy="548640"/>
          </a:xfrm>
          <a:prstGeom prst="rect">
            <a:avLst/>
          </a:prstGeom>
          <a:noFill/>
        </p:spPr>
        <p:txBody>
          <a:bodyPr wrap="square" lIns="18288" rIns="18288" tIns="18288" bIns="18288" anchor="t">
            <a:spAutoFit/>
          </a:bodyPr>
          <a:lstStyle/>
          <a:p>
            <a:pPr algn="l">
              <a:lnSpc>
                <a:spcPct val="112000"/>
              </a:lnSpc>
            </a:pPr>
            <a:r>
              <a:rPr sz="1200" b="0" i="0">
                <a:solidFill>
                  <a:srgbClr val="141414"/>
                </a:solidFill>
                <a:latin typeface="Montserrat"/>
              </a:rPr>
              <a:t>Le pic d'avril et de mai suit deux événements : les dix ans des ADICOM Days (16 et 17 avril) et l'annonce de WHO (5 mai). Hors temps fort, il ne publie presque plus.</a:t>
            </a:r>
          </a:p>
        </p:txBody>
      </p:sp>
      <p:sp>
        <p:nvSpPr>
          <p:cNvPr id="20" name="TextBox 19"/>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Base : ses 12 posts publics du 23/01 au 17/07/2026, relevés le 24/10. Une reprise sans aucun commentaire de sa part (vidéo de Moulaye Tabouré, 06/05) est exclue.</a:t>
            </a:r>
          </a:p>
        </p:txBody>
      </p:sp>
      <p:sp>
        <p:nvSpPr>
          <p:cNvPr id="21" name="TextBox 20"/>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2" name="TextBox 21"/>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10 / 42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CE DONT IL PARLE</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Les sujets : ADICOM domine, ses histoires personnelles gagnent</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graphicFrame>
        <p:nvGraphicFramePr>
          <p:cNvPr id="6" name="Table 5"/>
          <p:cNvGraphicFramePr>
            <a:graphicFrameLocks noGrp="1"/>
          </p:cNvGraphicFramePr>
          <p:nvPr/>
        </p:nvGraphicFramePr>
        <p:xfrm>
          <a:off x="548640" y="1463040"/>
          <a:ext cx="6949440" cy="3328416"/>
        </p:xfrm>
        <a:graphic>
          <a:graphicData uri="http://schemas.openxmlformats.org/drawingml/2006/table">
            <a:tbl>
              <a:tblPr firstRow="1" bandRow="1">
                <a:tableStyleId>{5C22544A-7EE6-4342-B048-85BDC9FD1C3A}</a:tableStyleId>
              </a:tblPr>
              <a:tblGrid>
                <a:gridCol w="2194560"/>
                <a:gridCol w="822960"/>
                <a:gridCol w="1737360"/>
                <a:gridCol w="2194560"/>
              </a:tblGrid>
              <a:tr h="475488">
                <a:tc>
                  <a:txBody>
                    <a:bodyPr wrap="square"/>
                    <a:lstStyle/>
                    <a:p>
                      <a:pPr algn="l"/>
                      <a:r>
                        <a:rPr sz="1100" b="1">
                          <a:solidFill>
                            <a:srgbClr val="FFFFFF"/>
                          </a:solidFill>
                          <a:latin typeface="Montserrat"/>
                        </a:rPr>
                        <a:t>Sujet</a:t>
                      </a:r>
                    </a:p>
                  </a:txBody>
                  <a:tcPr marL="73152" marR="73152" marT="27432" marB="27432" anchor="ctr">
                    <a:solidFill>
                      <a:srgbClr val="141414"/>
                    </a:solidFill>
                  </a:tcPr>
                </a:tc>
                <a:tc>
                  <a:txBody>
                    <a:bodyPr wrap="square"/>
                    <a:lstStyle/>
                    <a:p>
                      <a:pPr algn="ctr"/>
                      <a:r>
                        <a:rPr sz="1100" b="1">
                          <a:solidFill>
                            <a:srgbClr val="FFFFFF"/>
                          </a:solidFill>
                          <a:latin typeface="Montserrat"/>
                        </a:rPr>
                        <a:t>Posts</a:t>
                      </a:r>
                    </a:p>
                  </a:txBody>
                  <a:tcPr marL="73152" marR="73152" marT="27432" marB="27432" anchor="ctr">
                    <a:solidFill>
                      <a:srgbClr val="141414"/>
                    </a:solidFill>
                  </a:tcPr>
                </a:tc>
                <a:tc>
                  <a:txBody>
                    <a:bodyPr wrap="square"/>
                    <a:lstStyle/>
                    <a:p>
                      <a:pPr algn="ctr"/>
                      <a:r>
                        <a:rPr sz="1100" b="1">
                          <a:solidFill>
                            <a:srgbClr val="FFFFFF"/>
                          </a:solidFill>
                          <a:latin typeface="Montserrat"/>
                        </a:rPr>
                        <a:t>Interactions médianes</a:t>
                      </a:r>
                    </a:p>
                  </a:txBody>
                  <a:tcPr marL="73152" marR="73152" marT="27432" marB="27432" anchor="ctr">
                    <a:solidFill>
                      <a:srgbClr val="141414"/>
                    </a:solidFill>
                  </a:tcPr>
                </a:tc>
                <a:tc>
                  <a:txBody>
                    <a:bodyPr wrap="square"/>
                    <a:lstStyle/>
                    <a:p>
                      <a:pPr algn="ctr"/>
                      <a:r>
                        <a:rPr sz="1100" b="1">
                          <a:solidFill>
                            <a:srgbClr val="FFFFFF"/>
                          </a:solidFill>
                          <a:latin typeface="Montserrat"/>
                        </a:rPr>
                        <a:t>Meilleur post</a:t>
                      </a:r>
                    </a:p>
                  </a:txBody>
                  <a:tcPr marL="73152" marR="73152" marT="27432" marB="27432" anchor="ctr">
                    <a:solidFill>
                      <a:srgbClr val="141414"/>
                    </a:solidFill>
                  </a:tcPr>
                </a:tc>
              </a:tr>
              <a:tr h="475488">
                <a:tc>
                  <a:txBody>
                    <a:bodyPr wrap="square"/>
                    <a:lstStyle/>
                    <a:p>
                      <a:pPr algn="l"/>
                      <a:r>
                        <a:rPr sz="1100" b="0">
                          <a:solidFill>
                            <a:srgbClr val="141414"/>
                          </a:solidFill>
                          <a:latin typeface="Montserrat"/>
                        </a:rPr>
                        <a:t>ADICOM Days</a:t>
                      </a:r>
                    </a:p>
                  </a:txBody>
                  <a:tcPr marL="73152" marR="73152" marT="27432" marB="27432" anchor="ctr">
                    <a:solidFill>
                      <a:srgbClr val="FFFFFF"/>
                    </a:solidFill>
                  </a:tcPr>
                </a:tc>
                <a:tc>
                  <a:txBody>
                    <a:bodyPr wrap="square"/>
                    <a:lstStyle/>
                    <a:p>
                      <a:pPr algn="ctr"/>
                      <a:r>
                        <a:rPr sz="1100" b="0">
                          <a:solidFill>
                            <a:srgbClr val="141414"/>
                          </a:solidFill>
                          <a:latin typeface="Montserrat"/>
                        </a:rPr>
                        <a:t>5</a:t>
                      </a:r>
                    </a:p>
                  </a:txBody>
                  <a:tcPr marL="73152" marR="73152" marT="27432" marB="27432" anchor="ctr">
                    <a:solidFill>
                      <a:srgbClr val="FFFFFF"/>
                    </a:solidFill>
                  </a:tcPr>
                </a:tc>
                <a:tc>
                  <a:txBody>
                    <a:bodyPr wrap="square"/>
                    <a:lstStyle/>
                    <a:p>
                      <a:pPr algn="ctr"/>
                      <a:r>
                        <a:rPr sz="1100" b="0">
                          <a:solidFill>
                            <a:srgbClr val="141414"/>
                          </a:solidFill>
                          <a:latin typeface="Montserrat"/>
                        </a:rPr>
                        <a:t>107</a:t>
                      </a:r>
                    </a:p>
                  </a:txBody>
                  <a:tcPr marL="73152" marR="73152" marT="27432" marB="27432" anchor="ctr">
                    <a:solidFill>
                      <a:srgbClr val="FFFFFF"/>
                    </a:solidFill>
                  </a:tcPr>
                </a:tc>
                <a:tc>
                  <a:txBody>
                    <a:bodyPr wrap="square"/>
                    <a:lstStyle/>
                    <a:p>
                      <a:pPr algn="ctr"/>
                      <a:r>
                        <a:rPr sz="1100" b="0">
                          <a:solidFill>
                            <a:srgbClr val="141414"/>
                          </a:solidFill>
                          <a:latin typeface="Montserrat"/>
                        </a:rPr>
                        <a:t>488 · merci après les 10 ans</a:t>
                      </a:r>
                    </a:p>
                  </a:txBody>
                  <a:tcPr marL="73152" marR="73152" marT="27432" marB="27432" anchor="ctr">
                    <a:solidFill>
                      <a:srgbClr val="FFFFFF"/>
                    </a:solidFill>
                  </a:tcPr>
                </a:tc>
              </a:tr>
              <a:tr h="475488">
                <a:tc>
                  <a:txBody>
                    <a:bodyPr wrap="square"/>
                    <a:lstStyle/>
                    <a:p>
                      <a:pPr algn="l"/>
                      <a:r>
                        <a:rPr sz="1100" b="0">
                          <a:solidFill>
                            <a:srgbClr val="141414"/>
                          </a:solidFill>
                          <a:latin typeface="Montserrat"/>
                        </a:rPr>
                        <a:t>Cinéma : WHO</a:t>
                      </a:r>
                    </a:p>
                  </a:txBody>
                  <a:tcPr marL="73152" marR="73152" marT="27432" marB="27432" anchor="ctr">
                    <a:solidFill>
                      <a:srgbClr val="FAFAF6"/>
                    </a:solidFill>
                  </a:tcPr>
                </a:tc>
                <a:tc>
                  <a:txBody>
                    <a:bodyPr wrap="square"/>
                    <a:lstStyle/>
                    <a:p>
                      <a:pPr algn="ctr"/>
                      <a:r>
                        <a:rPr sz="1100" b="0">
                          <a:solidFill>
                            <a:srgbClr val="141414"/>
                          </a:solidFill>
                          <a:latin typeface="Montserrat"/>
                        </a:rPr>
                        <a:t>2</a:t>
                      </a:r>
                    </a:p>
                  </a:txBody>
                  <a:tcPr marL="73152" marR="73152" marT="27432" marB="27432" anchor="ctr">
                    <a:solidFill>
                      <a:srgbClr val="FAFAF6"/>
                    </a:solidFill>
                  </a:tcPr>
                </a:tc>
                <a:tc>
                  <a:txBody>
                    <a:bodyPr wrap="square"/>
                    <a:lstStyle/>
                    <a:p>
                      <a:pPr algn="ctr"/>
                      <a:r>
                        <a:rPr sz="1100" b="0">
                          <a:solidFill>
                            <a:srgbClr val="141414"/>
                          </a:solidFill>
                          <a:latin typeface="Montserrat"/>
                        </a:rPr>
                        <a:t>171</a:t>
                      </a:r>
                    </a:p>
                  </a:txBody>
                  <a:tcPr marL="73152" marR="73152" marT="27432" marB="27432" anchor="ctr">
                    <a:solidFill>
                      <a:srgbClr val="FAFAF6"/>
                    </a:solidFill>
                  </a:tcPr>
                </a:tc>
                <a:tc>
                  <a:txBody>
                    <a:bodyPr wrap="square"/>
                    <a:lstStyle/>
                    <a:p>
                      <a:pPr algn="ctr"/>
                      <a:r>
                        <a:rPr sz="1100" b="0">
                          <a:solidFill>
                            <a:srgbClr val="141414"/>
                          </a:solidFill>
                          <a:latin typeface="Montserrat"/>
                        </a:rPr>
                        <a:t>297 · producteur associé</a:t>
                      </a:r>
                    </a:p>
                  </a:txBody>
                  <a:tcPr marL="73152" marR="73152" marT="27432" marB="27432" anchor="ctr">
                    <a:solidFill>
                      <a:srgbClr val="FAFAF6"/>
                    </a:solidFill>
                  </a:tcPr>
                </a:tc>
              </a:tr>
              <a:tr h="475488">
                <a:tc>
                  <a:txBody>
                    <a:bodyPr wrap="square"/>
                    <a:lstStyle/>
                    <a:p>
                      <a:pPr algn="l"/>
                      <a:r>
                        <a:rPr sz="1100" b="0">
                          <a:solidFill>
                            <a:srgbClr val="141414"/>
                          </a:solidFill>
                          <a:latin typeface="Montserrat"/>
                        </a:rPr>
                        <a:t>Émissions et podcast</a:t>
                      </a:r>
                    </a:p>
                  </a:txBody>
                  <a:tcPr marL="73152" marR="73152" marT="27432" marB="27432" anchor="ctr">
                    <a:solidFill>
                      <a:srgbClr val="FFFFFF"/>
                    </a:solidFill>
                  </a:tcPr>
                </a:tc>
                <a:tc>
                  <a:txBody>
                    <a:bodyPr wrap="square"/>
                    <a:lstStyle/>
                    <a:p>
                      <a:pPr algn="ctr"/>
                      <a:r>
                        <a:rPr sz="1100" b="0">
                          <a:solidFill>
                            <a:srgbClr val="141414"/>
                          </a:solidFill>
                          <a:latin typeface="Montserrat"/>
                        </a:rPr>
                        <a:t>2</a:t>
                      </a:r>
                    </a:p>
                  </a:txBody>
                  <a:tcPr marL="73152" marR="73152" marT="27432" marB="27432" anchor="ctr">
                    <a:solidFill>
                      <a:srgbClr val="FFFFFF"/>
                    </a:solidFill>
                  </a:tcPr>
                </a:tc>
                <a:tc>
                  <a:txBody>
                    <a:bodyPr wrap="square"/>
                    <a:lstStyle/>
                    <a:p>
                      <a:pPr algn="ctr"/>
                      <a:r>
                        <a:rPr sz="1100" b="0">
                          <a:solidFill>
                            <a:srgbClr val="141414"/>
                          </a:solidFill>
                          <a:latin typeface="Montserrat"/>
                        </a:rPr>
                        <a:t>91</a:t>
                      </a:r>
                    </a:p>
                  </a:txBody>
                  <a:tcPr marL="73152" marR="73152" marT="27432" marB="27432" anchor="ctr">
                    <a:solidFill>
                      <a:srgbClr val="FFFFFF"/>
                    </a:solidFill>
                  </a:tcPr>
                </a:tc>
                <a:tc>
                  <a:txBody>
                    <a:bodyPr wrap="square"/>
                    <a:lstStyle/>
                    <a:p>
                      <a:pPr algn="ctr"/>
                      <a:r>
                        <a:rPr sz="1100" b="0">
                          <a:solidFill>
                            <a:srgbClr val="141414"/>
                          </a:solidFill>
                          <a:latin typeface="Montserrat"/>
                        </a:rPr>
                        <a:t>150 · Digital State of Africa</a:t>
                      </a:r>
                    </a:p>
                  </a:txBody>
                  <a:tcPr marL="73152" marR="73152" marT="27432" marB="27432" anchor="ctr">
                    <a:solidFill>
                      <a:srgbClr val="FFFFFF"/>
                    </a:solidFill>
                  </a:tcPr>
                </a:tc>
              </a:tr>
              <a:tr h="475488">
                <a:tc>
                  <a:txBody>
                    <a:bodyPr wrap="square"/>
                    <a:lstStyle/>
                    <a:p>
                      <a:pPr algn="l"/>
                      <a:r>
                        <a:rPr sz="1100" b="0">
                          <a:solidFill>
                            <a:srgbClr val="141414"/>
                          </a:solidFill>
                          <a:latin typeface="Montserrat"/>
                        </a:rPr>
                        <a:t>Médias et analyses</a:t>
                      </a:r>
                    </a:p>
                  </a:txBody>
                  <a:tcPr marL="73152" marR="73152" marT="27432" marB="27432" anchor="ctr">
                    <a:solidFill>
                      <a:srgbClr val="FAFAF6"/>
                    </a:solidFill>
                  </a:tcPr>
                </a:tc>
                <a:tc>
                  <a:txBody>
                    <a:bodyPr wrap="square"/>
                    <a:lstStyle/>
                    <a:p>
                      <a:pPr algn="ctr"/>
                      <a:r>
                        <a:rPr sz="1100" b="0">
                          <a:solidFill>
                            <a:srgbClr val="141414"/>
                          </a:solidFill>
                          <a:latin typeface="Montserrat"/>
                        </a:rPr>
                        <a:t>1</a:t>
                      </a:r>
                    </a:p>
                  </a:txBody>
                  <a:tcPr marL="73152" marR="73152" marT="27432" marB="27432" anchor="ctr">
                    <a:solidFill>
                      <a:srgbClr val="FAFAF6"/>
                    </a:solidFill>
                  </a:tcPr>
                </a:tc>
                <a:tc>
                  <a:txBody>
                    <a:bodyPr wrap="square"/>
                    <a:lstStyle/>
                    <a:p>
                      <a:pPr algn="ctr"/>
                      <a:r>
                        <a:rPr sz="1100" b="0">
                          <a:solidFill>
                            <a:srgbClr val="141414"/>
                          </a:solidFill>
                          <a:latin typeface="Montserrat"/>
                        </a:rPr>
                        <a:t>98</a:t>
                      </a:r>
                    </a:p>
                  </a:txBody>
                  <a:tcPr marL="73152" marR="73152" marT="27432" marB="27432" anchor="ctr">
                    <a:solidFill>
                      <a:srgbClr val="FAFAF6"/>
                    </a:solidFill>
                  </a:tcPr>
                </a:tc>
                <a:tc>
                  <a:txBody>
                    <a:bodyPr wrap="square"/>
                    <a:lstStyle/>
                    <a:p>
                      <a:pPr algn="ctr"/>
                      <a:r>
                        <a:rPr sz="1100" b="0">
                          <a:solidFill>
                            <a:srgbClr val="141414"/>
                          </a:solidFill>
                          <a:latin typeface="Montserrat"/>
                        </a:rPr>
                        <a:t>98 · interview Medi1TV</a:t>
                      </a:r>
                    </a:p>
                  </a:txBody>
                  <a:tcPr marL="73152" marR="73152" marT="27432" marB="27432" anchor="ctr">
                    <a:solidFill>
                      <a:srgbClr val="FAFAF6"/>
                    </a:solidFill>
                  </a:tcPr>
                </a:tc>
              </a:tr>
              <a:tr h="475488">
                <a:tc>
                  <a:txBody>
                    <a:bodyPr wrap="square"/>
                    <a:lstStyle/>
                    <a:p>
                      <a:pPr algn="l"/>
                      <a:r>
                        <a:rPr sz="1100" b="0">
                          <a:solidFill>
                            <a:srgbClr val="141414"/>
                          </a:solidFill>
                          <a:latin typeface="Montserrat"/>
                        </a:rPr>
                        <a:t>Totem Experience</a:t>
                      </a:r>
                    </a:p>
                  </a:txBody>
                  <a:tcPr marL="73152" marR="73152" marT="27432" marB="27432" anchor="ctr">
                    <a:solidFill>
                      <a:srgbClr val="FFFFFF"/>
                    </a:solidFill>
                  </a:tcPr>
                </a:tc>
                <a:tc>
                  <a:txBody>
                    <a:bodyPr wrap="square"/>
                    <a:lstStyle/>
                    <a:p>
                      <a:pPr algn="ctr"/>
                      <a:r>
                        <a:rPr sz="1100" b="0">
                          <a:solidFill>
                            <a:srgbClr val="141414"/>
                          </a:solidFill>
                          <a:latin typeface="Montserrat"/>
                        </a:rPr>
                        <a:t>1</a:t>
                      </a:r>
                    </a:p>
                  </a:txBody>
                  <a:tcPr marL="73152" marR="73152" marT="27432" marB="27432" anchor="ctr">
                    <a:solidFill>
                      <a:srgbClr val="FFFFFF"/>
                    </a:solidFill>
                  </a:tcPr>
                </a:tc>
                <a:tc>
                  <a:txBody>
                    <a:bodyPr wrap="square"/>
                    <a:lstStyle/>
                    <a:p>
                      <a:pPr algn="ctr"/>
                      <a:r>
                        <a:rPr sz="1100" b="0">
                          <a:solidFill>
                            <a:srgbClr val="141414"/>
                          </a:solidFill>
                          <a:latin typeface="Montserrat"/>
                        </a:rPr>
                        <a:t>51</a:t>
                      </a:r>
                    </a:p>
                  </a:txBody>
                  <a:tcPr marL="73152" marR="73152" marT="27432" marB="27432" anchor="ctr">
                    <a:solidFill>
                      <a:srgbClr val="FFFFFF"/>
                    </a:solidFill>
                  </a:tcPr>
                </a:tc>
                <a:tc>
                  <a:txBody>
                    <a:bodyPr wrap="square"/>
                    <a:lstStyle/>
                    <a:p>
                      <a:pPr algn="ctr"/>
                      <a:r>
                        <a:rPr sz="1100" b="0">
                          <a:solidFill>
                            <a:srgbClr val="141414"/>
                          </a:solidFill>
                          <a:latin typeface="Montserrat"/>
                        </a:rPr>
                        <a:t>51 · nouveau chapitre</a:t>
                      </a:r>
                    </a:p>
                  </a:txBody>
                  <a:tcPr marL="73152" marR="73152" marT="27432" marB="27432" anchor="ctr">
                    <a:solidFill>
                      <a:srgbClr val="FFFFFF"/>
                    </a:solidFill>
                  </a:tcPr>
                </a:tc>
              </a:tr>
              <a:tr h="475488">
                <a:tc>
                  <a:txBody>
                    <a:bodyPr wrap="square"/>
                    <a:lstStyle/>
                    <a:p>
                      <a:pPr algn="l"/>
                      <a:r>
                        <a:rPr sz="1100" b="0">
                          <a:solidFill>
                            <a:srgbClr val="141414"/>
                          </a:solidFill>
                          <a:latin typeface="Montserrat"/>
                        </a:rPr>
                        <a:t>Clients et campagnes</a:t>
                      </a:r>
                    </a:p>
                  </a:txBody>
                  <a:tcPr marL="73152" marR="73152" marT="27432" marB="27432" anchor="ctr">
                    <a:solidFill>
                      <a:srgbClr val="FAFAF6"/>
                    </a:solidFill>
                  </a:tcPr>
                </a:tc>
                <a:tc>
                  <a:txBody>
                    <a:bodyPr wrap="square"/>
                    <a:lstStyle/>
                    <a:p>
                      <a:pPr algn="ctr"/>
                      <a:r>
                        <a:rPr sz="1100" b="0">
                          <a:solidFill>
                            <a:srgbClr val="141414"/>
                          </a:solidFill>
                          <a:latin typeface="Montserrat"/>
                        </a:rPr>
                        <a:t>1</a:t>
                      </a:r>
                    </a:p>
                  </a:txBody>
                  <a:tcPr marL="73152" marR="73152" marT="27432" marB="27432" anchor="ctr">
                    <a:solidFill>
                      <a:srgbClr val="FAFAF6"/>
                    </a:solidFill>
                  </a:tcPr>
                </a:tc>
                <a:tc>
                  <a:txBody>
                    <a:bodyPr wrap="square"/>
                    <a:lstStyle/>
                    <a:p>
                      <a:pPr algn="ctr"/>
                      <a:r>
                        <a:rPr sz="1100" b="0">
                          <a:solidFill>
                            <a:srgbClr val="141414"/>
                          </a:solidFill>
                          <a:latin typeface="Montserrat"/>
                        </a:rPr>
                        <a:t>15</a:t>
                      </a:r>
                    </a:p>
                  </a:txBody>
                  <a:tcPr marL="73152" marR="73152" marT="27432" marB="27432" anchor="ctr">
                    <a:solidFill>
                      <a:srgbClr val="FAFAF6"/>
                    </a:solidFill>
                  </a:tcPr>
                </a:tc>
                <a:tc>
                  <a:txBody>
                    <a:bodyPr wrap="square"/>
                    <a:lstStyle/>
                    <a:p>
                      <a:pPr algn="ctr"/>
                      <a:r>
                        <a:rPr sz="1100" b="0">
                          <a:solidFill>
                            <a:srgbClr val="141414"/>
                          </a:solidFill>
                          <a:latin typeface="Montserrat"/>
                        </a:rPr>
                        <a:t>15 · Orange RDC</a:t>
                      </a:r>
                    </a:p>
                  </a:txBody>
                  <a:tcPr marL="73152" marR="73152" marT="27432" marB="27432" anchor="ctr">
                    <a:solidFill>
                      <a:srgbClr val="FAFAF6"/>
                    </a:solidFill>
                  </a:tcPr>
                </a:tc>
              </a:tr>
            </a:tbl>
          </a:graphicData>
        </a:graphic>
      </p:graphicFrame>
      <p:sp>
        <p:nvSpPr>
          <p:cNvPr id="7" name="TextBox 6"/>
          <p:cNvSpPr txBox="1"/>
          <p:nvPr/>
        </p:nvSpPr>
        <p:spPr>
          <a:xfrm>
            <a:off x="7863840" y="1417320"/>
            <a:ext cx="3794760" cy="457200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Ce qui porte : </a:t>
            </a:r>
            <a:r>
              <a:rPr sz="1200">
                <a:solidFill>
                  <a:srgbClr val="1A1A1C"/>
                </a:solidFill>
                <a:latin typeface="Montserrat"/>
              </a:rPr>
              <a:t>ce qu'il a vécu. Le merci d'après ADICOM et l'annonce WHO réunissent à eux deux 45 des 63 commentaires de l'année.</a:t>
            </a:r>
          </a:p>
          <a:p>
            <a:pPr>
              <a:lnSpc>
                <a:spcPct val="110000"/>
              </a:lnSpc>
              <a:spcAft>
                <a:spcPts val="1008"/>
              </a:spcAft>
            </a:pPr>
            <a:r>
              <a:rPr sz="900">
                <a:solidFill>
                  <a:srgbClr val="141414"/>
                </a:solidFill>
                <a:latin typeface="Montserrat"/>
              </a:rPr>
              <a:t>■  </a:t>
            </a:r>
            <a:r>
              <a:rPr b="1" sz="1200">
                <a:solidFill>
                  <a:srgbClr val="141414"/>
                </a:solidFill>
                <a:latin typeface="Montserrat"/>
              </a:rPr>
              <a:t>Ce qui ne prend pas : </a:t>
            </a:r>
            <a:r>
              <a:rPr sz="1200">
                <a:solidFill>
                  <a:srgbClr val="1A1A1C"/>
                </a:solidFill>
                <a:latin typeface="Montserrat"/>
              </a:rPr>
              <a:t>la promotion pure (« Save the date », dernier ticket, campagne client). L'Orange RDC n'a fait que 15 interactions.</a:t>
            </a:r>
          </a:p>
          <a:p>
            <a:pPr>
              <a:lnSpc>
                <a:spcPct val="110000"/>
              </a:lnSpc>
              <a:spcAft>
                <a:spcPts val="1008"/>
              </a:spcAft>
            </a:pPr>
            <a:r>
              <a:rPr sz="900">
                <a:solidFill>
                  <a:srgbClr val="141414"/>
                </a:solidFill>
                <a:latin typeface="Montserrat"/>
              </a:rPr>
              <a:t>■  </a:t>
            </a:r>
            <a:r>
              <a:rPr b="1" sz="1200">
                <a:solidFill>
                  <a:srgbClr val="141414"/>
                </a:solidFill>
                <a:latin typeface="Montserrat"/>
              </a:rPr>
              <a:t>Ce qui manque : </a:t>
            </a:r>
            <a:r>
              <a:rPr sz="1200">
                <a:solidFill>
                  <a:srgbClr val="1A1A1C"/>
                </a:solidFill>
                <a:latin typeface="Montserrat"/>
              </a:rPr>
              <a:t>Totem Experience, son métier. Un seul post en dix mois sur l'agence, alors qu'elle change de modèle et recrute.</a:t>
            </a:r>
          </a:p>
        </p:txBody>
      </p:sp>
      <p:sp>
        <p:nvSpPr>
          <p:cNvPr id="8" name="TextBox 7"/>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Classement par sujet fait à la lecture de chaque post. Une seule mesure par post : réactions + commentaires + partages.</a:t>
            </a:r>
          </a:p>
        </p:txBody>
      </p:sp>
      <p:sp>
        <p:nvSpPr>
          <p:cNvPr id="9" name="TextBox 8"/>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0" name="TextBox 9"/>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11 / 42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CE QUI ACCOMPAGNE LE POST</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Les formats : sa photo et sa vidéo battent la reprise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02_li_formats.png"/>
          <p:cNvPicPr>
            <a:picLocks noChangeAspect="1"/>
          </p:cNvPicPr>
          <p:nvPr/>
        </p:nvPicPr>
        <p:blipFill>
          <a:blip r:embed="rId3"/>
          <a:stretch>
            <a:fillRect/>
          </a:stretch>
        </p:blipFill>
        <p:spPr>
          <a:xfrm>
            <a:off x="548640" y="1460182"/>
            <a:ext cx="6035040" cy="3206114"/>
          </a:xfrm>
          <a:prstGeom prst="rect">
            <a:avLst/>
          </a:prstGeom>
        </p:spPr>
      </p:pic>
      <p:pic>
        <p:nvPicPr>
          <p:cNvPr id="7" name="Picture 6" descr="fmt0.jpg"/>
          <p:cNvPicPr>
            <a:picLocks noChangeAspect="1"/>
          </p:cNvPicPr>
          <p:nvPr/>
        </p:nvPicPr>
        <p:blipFill>
          <a:blip r:embed="rId4"/>
          <a:stretch>
            <a:fillRect/>
          </a:stretch>
        </p:blipFill>
        <p:spPr>
          <a:xfrm>
            <a:off x="6949761" y="1463040"/>
            <a:ext cx="1416676" cy="2011680"/>
          </a:xfrm>
          <a:prstGeom prst="rect">
            <a:avLst/>
          </a:prstGeom>
        </p:spPr>
      </p:pic>
      <p:sp>
        <p:nvSpPr>
          <p:cNvPr id="8" name="TextBox 7"/>
          <p:cNvSpPr txBox="1"/>
          <p:nvPr/>
        </p:nvSpPr>
        <p:spPr>
          <a:xfrm>
            <a:off x="6949440" y="3520440"/>
            <a:ext cx="1463040" cy="365760"/>
          </a:xfrm>
          <a:prstGeom prst="rect">
            <a:avLst/>
          </a:prstGeom>
          <a:noFill/>
        </p:spPr>
        <p:txBody>
          <a:bodyPr wrap="square" lIns="18288" rIns="18288" tIns="18288" bIns="18288" anchor="t">
            <a:spAutoFit/>
          </a:bodyPr>
          <a:lstStyle/>
          <a:p>
            <a:pPr algn="ctr">
              <a:lnSpc>
                <a:spcPct val="112000"/>
              </a:lnSpc>
            </a:pPr>
            <a:r>
              <a:rPr sz="900" b="0" i="0">
                <a:solidFill>
                  <a:srgbClr val="6E6E73"/>
                </a:solidFill>
                <a:latin typeface="Montserrat"/>
              </a:rPr>
              <a:t>Photo · 24/04 · 488</a:t>
            </a:r>
          </a:p>
        </p:txBody>
      </p:sp>
      <p:pic>
        <p:nvPicPr>
          <p:cNvPr id="9" name="Picture 8" descr="fmt1.jpg"/>
          <p:cNvPicPr>
            <a:picLocks noChangeAspect="1"/>
          </p:cNvPicPr>
          <p:nvPr/>
        </p:nvPicPr>
        <p:blipFill>
          <a:blip r:embed="rId5"/>
          <a:stretch>
            <a:fillRect/>
          </a:stretch>
        </p:blipFill>
        <p:spPr>
          <a:xfrm>
            <a:off x="8549640" y="1464507"/>
            <a:ext cx="1417320" cy="2008744"/>
          </a:xfrm>
          <a:prstGeom prst="rect">
            <a:avLst/>
          </a:prstGeom>
        </p:spPr>
      </p:pic>
      <p:sp>
        <p:nvSpPr>
          <p:cNvPr id="10" name="TextBox 9"/>
          <p:cNvSpPr txBox="1"/>
          <p:nvPr/>
        </p:nvSpPr>
        <p:spPr>
          <a:xfrm>
            <a:off x="8549640" y="3520440"/>
            <a:ext cx="1463040" cy="365760"/>
          </a:xfrm>
          <a:prstGeom prst="rect">
            <a:avLst/>
          </a:prstGeom>
          <a:noFill/>
        </p:spPr>
        <p:txBody>
          <a:bodyPr wrap="square" lIns="18288" rIns="18288" tIns="18288" bIns="18288" anchor="t">
            <a:spAutoFit/>
          </a:bodyPr>
          <a:lstStyle/>
          <a:p>
            <a:pPr algn="ctr">
              <a:lnSpc>
                <a:spcPct val="112000"/>
              </a:lnSpc>
            </a:pPr>
            <a:r>
              <a:rPr sz="900" b="0" i="0">
                <a:solidFill>
                  <a:srgbClr val="6E6E73"/>
                </a:solidFill>
                <a:latin typeface="Montserrat"/>
              </a:rPr>
              <a:t>Vidéo · 23/01 · 150</a:t>
            </a:r>
          </a:p>
        </p:txBody>
      </p:sp>
      <p:pic>
        <p:nvPicPr>
          <p:cNvPr id="11" name="Picture 10" descr="fmt2.jpg"/>
          <p:cNvPicPr>
            <a:picLocks noChangeAspect="1"/>
          </p:cNvPicPr>
          <p:nvPr/>
        </p:nvPicPr>
        <p:blipFill>
          <a:blip r:embed="rId6"/>
          <a:stretch>
            <a:fillRect/>
          </a:stretch>
        </p:blipFill>
        <p:spPr>
          <a:xfrm>
            <a:off x="10150161" y="1463040"/>
            <a:ext cx="1416676" cy="2011680"/>
          </a:xfrm>
          <a:prstGeom prst="rect">
            <a:avLst/>
          </a:prstGeom>
        </p:spPr>
      </p:pic>
      <p:sp>
        <p:nvSpPr>
          <p:cNvPr id="12" name="TextBox 11"/>
          <p:cNvSpPr txBox="1"/>
          <p:nvPr/>
        </p:nvSpPr>
        <p:spPr>
          <a:xfrm>
            <a:off x="10149840" y="3520440"/>
            <a:ext cx="1463040" cy="365760"/>
          </a:xfrm>
          <a:prstGeom prst="rect">
            <a:avLst/>
          </a:prstGeom>
          <a:noFill/>
        </p:spPr>
        <p:txBody>
          <a:bodyPr wrap="square" lIns="18288" rIns="18288" tIns="18288" bIns="18288" anchor="t">
            <a:spAutoFit/>
          </a:bodyPr>
          <a:lstStyle/>
          <a:p>
            <a:pPr algn="ctr">
              <a:lnSpc>
                <a:spcPct val="112000"/>
              </a:lnSpc>
            </a:pPr>
            <a:r>
              <a:rPr sz="900" b="0" i="0">
                <a:solidFill>
                  <a:srgbClr val="6E6E73"/>
                </a:solidFill>
                <a:latin typeface="Montserrat"/>
              </a:rPr>
              <a:t>Visuel · 08/04 · 107</a:t>
            </a:r>
          </a:p>
        </p:txBody>
      </p:sp>
      <p:sp>
        <p:nvSpPr>
          <p:cNvPr id="13" name="TextBox 12"/>
          <p:cNvSpPr txBox="1"/>
          <p:nvPr/>
        </p:nvSpPr>
        <p:spPr>
          <a:xfrm>
            <a:off x="548640" y="4800600"/>
            <a:ext cx="11064240" cy="118872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La reprise commentée est son format par défaut (8 posts sur 12) et son plus faible : </a:t>
            </a:r>
            <a:r>
              <a:rPr sz="1200">
                <a:solidFill>
                  <a:srgbClr val="1A1A1C"/>
                </a:solidFill>
                <a:latin typeface="Montserrat"/>
              </a:rPr>
              <a:t>LinkedIn montre d'abord le post d'origine, pas lui. Le lien vers le podcast (02/02, 32 interactions) fait encore moins : LinkedIn le diffuse peu.</a:t>
            </a:r>
          </a:p>
          <a:p>
            <a:pPr>
              <a:lnSpc>
                <a:spcPct val="110000"/>
              </a:lnSpc>
              <a:spcAft>
                <a:spcPts val="1008"/>
              </a:spcAft>
            </a:pPr>
            <a:r>
              <a:rPr sz="900">
                <a:solidFill>
                  <a:srgbClr val="141414"/>
                </a:solidFill>
                <a:latin typeface="Montserrat"/>
              </a:rPr>
              <a:t>■  </a:t>
            </a:r>
            <a:r>
              <a:rPr b="1" sz="1200">
                <a:solidFill>
                  <a:srgbClr val="141414"/>
                </a:solidFill>
                <a:latin typeface="Montserrat"/>
              </a:rPr>
              <a:t>À garder : </a:t>
            </a:r>
            <a:r>
              <a:rPr sz="1200">
                <a:solidFill>
                  <a:srgbClr val="1A1A1C"/>
                </a:solidFill>
                <a:latin typeface="Montserrat"/>
              </a:rPr>
              <a:t>ses propres photos d'événement et ses extraits vidéo, avec le lien dans le premier commentaire, comme il l'a fait le 23/01.</a:t>
            </a:r>
          </a:p>
        </p:txBody>
      </p:sp>
      <p:sp>
        <p:nvSpPr>
          <p:cNvPr id="14" name="TextBox 13"/>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Peu de posts par format : ces médianes indiquent une tendance, pas une règle.</a:t>
            </a:r>
          </a:p>
        </p:txBody>
      </p:sp>
      <p:sp>
        <p:nvSpPr>
          <p:cNvPr id="15" name="TextBox 14"/>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6" name="TextBox 15"/>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12 / 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JOURS ET HEURES</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Quand publier : pas encore assez de posts pour trancher</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graphicFrame>
        <p:nvGraphicFramePr>
          <p:cNvPr id="6" name="Table 5"/>
          <p:cNvGraphicFramePr>
            <a:graphicFrameLocks noGrp="1"/>
          </p:cNvGraphicFramePr>
          <p:nvPr/>
        </p:nvGraphicFramePr>
        <p:xfrm>
          <a:off x="548640" y="1463040"/>
          <a:ext cx="4937760" cy="3017520"/>
        </p:xfrm>
        <a:graphic>
          <a:graphicData uri="http://schemas.openxmlformats.org/drawingml/2006/table">
            <a:tbl>
              <a:tblPr firstRow="1" bandRow="1">
                <a:tableStyleId>{5C22544A-7EE6-4342-B048-85BDC9FD1C3A}</a:tableStyleId>
              </a:tblPr>
              <a:tblGrid>
                <a:gridCol w="1828800"/>
                <a:gridCol w="1097280"/>
                <a:gridCol w="2011680"/>
              </a:tblGrid>
              <a:tr h="502920">
                <a:tc>
                  <a:txBody>
                    <a:bodyPr wrap="square"/>
                    <a:lstStyle/>
                    <a:p>
                      <a:pPr algn="l"/>
                      <a:r>
                        <a:rPr sz="1200" b="1">
                          <a:solidFill>
                            <a:srgbClr val="FFFFFF"/>
                          </a:solidFill>
                          <a:latin typeface="Montserrat"/>
                        </a:rPr>
                        <a:t>Jour</a:t>
                      </a:r>
                    </a:p>
                  </a:txBody>
                  <a:tcPr marL="73152" marR="73152" marT="27432" marB="27432" anchor="ctr">
                    <a:solidFill>
                      <a:srgbClr val="141414"/>
                    </a:solidFill>
                  </a:tcPr>
                </a:tc>
                <a:tc>
                  <a:txBody>
                    <a:bodyPr wrap="square"/>
                    <a:lstStyle/>
                    <a:p>
                      <a:pPr algn="ctr"/>
                      <a:r>
                        <a:rPr sz="1200" b="1">
                          <a:solidFill>
                            <a:srgbClr val="FFFFFF"/>
                          </a:solidFill>
                          <a:latin typeface="Montserrat"/>
                        </a:rPr>
                        <a:t>Posts</a:t>
                      </a:r>
                    </a:p>
                  </a:txBody>
                  <a:tcPr marL="73152" marR="73152" marT="27432" marB="27432" anchor="ctr">
                    <a:solidFill>
                      <a:srgbClr val="141414"/>
                    </a:solidFill>
                  </a:tcPr>
                </a:tc>
                <a:tc>
                  <a:txBody>
                    <a:bodyPr wrap="square"/>
                    <a:lstStyle/>
                    <a:p>
                      <a:pPr algn="ctr"/>
                      <a:r>
                        <a:rPr sz="1200" b="1">
                          <a:solidFill>
                            <a:srgbClr val="FFFFFF"/>
                          </a:solidFill>
                          <a:latin typeface="Montserrat"/>
                        </a:rPr>
                        <a:t>Interactions médianes</a:t>
                      </a:r>
                    </a:p>
                  </a:txBody>
                  <a:tcPr marL="73152" marR="73152" marT="27432" marB="27432" anchor="ctr">
                    <a:solidFill>
                      <a:srgbClr val="141414"/>
                    </a:solidFill>
                  </a:tcPr>
                </a:tc>
              </a:tr>
              <a:tr h="502920">
                <a:tc>
                  <a:txBody>
                    <a:bodyPr wrap="square"/>
                    <a:lstStyle/>
                    <a:p>
                      <a:pPr algn="l"/>
                      <a:r>
                        <a:rPr sz="1200" b="0">
                          <a:solidFill>
                            <a:srgbClr val="141414"/>
                          </a:solidFill>
                          <a:latin typeface="Montserrat"/>
                        </a:rPr>
                        <a:t>Lundi</a:t>
                      </a:r>
                    </a:p>
                  </a:txBody>
                  <a:tcPr marL="73152" marR="73152" marT="27432" marB="27432" anchor="ctr">
                    <a:solidFill>
                      <a:srgbClr val="FFFFFF"/>
                    </a:solidFill>
                  </a:tcPr>
                </a:tc>
                <a:tc>
                  <a:txBody>
                    <a:bodyPr wrap="square"/>
                    <a:lstStyle/>
                    <a:p>
                      <a:pPr algn="ctr"/>
                      <a:r>
                        <a:rPr sz="1200" b="0">
                          <a:solidFill>
                            <a:srgbClr val="141414"/>
                          </a:solidFill>
                          <a:latin typeface="Montserrat"/>
                        </a:rPr>
                        <a:t>2</a:t>
                      </a:r>
                    </a:p>
                  </a:txBody>
                  <a:tcPr marL="73152" marR="73152" marT="27432" marB="27432" anchor="ctr">
                    <a:solidFill>
                      <a:srgbClr val="FFFFFF"/>
                    </a:solidFill>
                  </a:tcPr>
                </a:tc>
                <a:tc>
                  <a:txBody>
                    <a:bodyPr wrap="square"/>
                    <a:lstStyle/>
                    <a:p>
                      <a:pPr algn="ctr"/>
                      <a:r>
                        <a:rPr sz="1200" b="0">
                          <a:solidFill>
                            <a:srgbClr val="141414"/>
                          </a:solidFill>
                          <a:latin typeface="Montserrat"/>
                        </a:rPr>
                        <a:t>70</a:t>
                      </a:r>
                    </a:p>
                  </a:txBody>
                  <a:tcPr marL="73152" marR="73152" marT="27432" marB="27432" anchor="ctr">
                    <a:solidFill>
                      <a:srgbClr val="FFFFFF"/>
                    </a:solidFill>
                  </a:tcPr>
                </a:tc>
              </a:tr>
              <a:tr h="502920">
                <a:tc>
                  <a:txBody>
                    <a:bodyPr wrap="square"/>
                    <a:lstStyle/>
                    <a:p>
                      <a:pPr algn="l"/>
                      <a:r>
                        <a:rPr sz="1200" b="0">
                          <a:solidFill>
                            <a:srgbClr val="141414"/>
                          </a:solidFill>
                          <a:latin typeface="Montserrat"/>
                        </a:rPr>
                        <a:t>Mardi</a:t>
                      </a:r>
                    </a:p>
                  </a:txBody>
                  <a:tcPr marL="73152" marR="73152" marT="27432" marB="27432" anchor="ctr">
                    <a:solidFill>
                      <a:srgbClr val="FAFAF6"/>
                    </a:solidFill>
                  </a:tcPr>
                </a:tc>
                <a:tc>
                  <a:txBody>
                    <a:bodyPr wrap="square"/>
                    <a:lstStyle/>
                    <a:p>
                      <a:pPr algn="ctr"/>
                      <a:r>
                        <a:rPr sz="1200" b="0">
                          <a:solidFill>
                            <a:srgbClr val="141414"/>
                          </a:solidFill>
                          <a:latin typeface="Montserrat"/>
                        </a:rPr>
                        <a:t>3</a:t>
                      </a:r>
                    </a:p>
                  </a:txBody>
                  <a:tcPr marL="73152" marR="73152" marT="27432" marB="27432" anchor="ctr">
                    <a:solidFill>
                      <a:srgbClr val="FAFAF6"/>
                    </a:solidFill>
                  </a:tcPr>
                </a:tc>
                <a:tc>
                  <a:txBody>
                    <a:bodyPr wrap="square"/>
                    <a:lstStyle/>
                    <a:p>
                      <a:pPr algn="ctr"/>
                      <a:r>
                        <a:rPr sz="1200" b="0">
                          <a:solidFill>
                            <a:srgbClr val="141414"/>
                          </a:solidFill>
                          <a:latin typeface="Montserrat"/>
                        </a:rPr>
                        <a:t>45</a:t>
                      </a:r>
                    </a:p>
                  </a:txBody>
                  <a:tcPr marL="73152" marR="73152" marT="27432" marB="27432" anchor="ctr">
                    <a:solidFill>
                      <a:srgbClr val="FAFAF6"/>
                    </a:solidFill>
                  </a:tcPr>
                </a:tc>
              </a:tr>
              <a:tr h="502920">
                <a:tc>
                  <a:txBody>
                    <a:bodyPr wrap="square"/>
                    <a:lstStyle/>
                    <a:p>
                      <a:pPr algn="l"/>
                      <a:r>
                        <a:rPr sz="1200" b="0">
                          <a:solidFill>
                            <a:srgbClr val="141414"/>
                          </a:solidFill>
                          <a:latin typeface="Montserrat"/>
                        </a:rPr>
                        <a:t>Mercredi</a:t>
                      </a:r>
                    </a:p>
                  </a:txBody>
                  <a:tcPr marL="73152" marR="73152" marT="27432" marB="27432" anchor="ctr">
                    <a:solidFill>
                      <a:srgbClr val="FFFFFF"/>
                    </a:solidFill>
                  </a:tcPr>
                </a:tc>
                <a:tc>
                  <a:txBody>
                    <a:bodyPr wrap="square"/>
                    <a:lstStyle/>
                    <a:p>
                      <a:pPr algn="ctr"/>
                      <a:r>
                        <a:rPr sz="1200" b="0">
                          <a:solidFill>
                            <a:srgbClr val="141414"/>
                          </a:solidFill>
                          <a:latin typeface="Montserrat"/>
                        </a:rPr>
                        <a:t>2</a:t>
                      </a:r>
                    </a:p>
                  </a:txBody>
                  <a:tcPr marL="73152" marR="73152" marT="27432" marB="27432" anchor="ctr">
                    <a:solidFill>
                      <a:srgbClr val="FFFFFF"/>
                    </a:solidFill>
                  </a:tcPr>
                </a:tc>
                <a:tc>
                  <a:txBody>
                    <a:bodyPr wrap="square"/>
                    <a:lstStyle/>
                    <a:p>
                      <a:pPr algn="ctr"/>
                      <a:r>
                        <a:rPr sz="1200" b="0">
                          <a:solidFill>
                            <a:srgbClr val="141414"/>
                          </a:solidFill>
                          <a:latin typeface="Montserrat"/>
                        </a:rPr>
                        <a:t>79</a:t>
                      </a:r>
                    </a:p>
                  </a:txBody>
                  <a:tcPr marL="73152" marR="73152" marT="27432" marB="27432" anchor="ctr">
                    <a:solidFill>
                      <a:srgbClr val="FFFFFF"/>
                    </a:solidFill>
                  </a:tcPr>
                </a:tc>
              </a:tr>
              <a:tr h="502920">
                <a:tc>
                  <a:txBody>
                    <a:bodyPr wrap="square"/>
                    <a:lstStyle/>
                    <a:p>
                      <a:pPr algn="l"/>
                      <a:r>
                        <a:rPr sz="1200" b="0">
                          <a:solidFill>
                            <a:srgbClr val="141414"/>
                          </a:solidFill>
                          <a:latin typeface="Montserrat"/>
                        </a:rPr>
                        <a:t>Jeudi</a:t>
                      </a:r>
                    </a:p>
                  </a:txBody>
                  <a:tcPr marL="73152" marR="73152" marT="27432" marB="27432" anchor="ctr">
                    <a:solidFill>
                      <a:srgbClr val="FAFAF6"/>
                    </a:solidFill>
                  </a:tcPr>
                </a:tc>
                <a:tc>
                  <a:txBody>
                    <a:bodyPr wrap="square"/>
                    <a:lstStyle/>
                    <a:p>
                      <a:pPr algn="ctr"/>
                      <a:r>
                        <a:rPr sz="1200" b="0">
                          <a:solidFill>
                            <a:srgbClr val="141414"/>
                          </a:solidFill>
                          <a:latin typeface="Montserrat"/>
                        </a:rPr>
                        <a:t>1</a:t>
                      </a:r>
                    </a:p>
                  </a:txBody>
                  <a:tcPr marL="73152" marR="73152" marT="27432" marB="27432" anchor="ctr">
                    <a:solidFill>
                      <a:srgbClr val="FAFAF6"/>
                    </a:solidFill>
                  </a:tcPr>
                </a:tc>
                <a:tc>
                  <a:txBody>
                    <a:bodyPr wrap="square"/>
                    <a:lstStyle/>
                    <a:p>
                      <a:pPr algn="ctr"/>
                      <a:r>
                        <a:rPr sz="1200" b="0">
                          <a:solidFill>
                            <a:srgbClr val="141414"/>
                          </a:solidFill>
                          <a:latin typeface="Montserrat"/>
                        </a:rPr>
                        <a:t>98</a:t>
                      </a:r>
                    </a:p>
                  </a:txBody>
                  <a:tcPr marL="73152" marR="73152" marT="27432" marB="27432" anchor="ctr">
                    <a:solidFill>
                      <a:srgbClr val="FAFAF6"/>
                    </a:solidFill>
                  </a:tcPr>
                </a:tc>
              </a:tr>
              <a:tr h="502920">
                <a:tc>
                  <a:txBody>
                    <a:bodyPr wrap="square"/>
                    <a:lstStyle/>
                    <a:p>
                      <a:pPr algn="l"/>
                      <a:r>
                        <a:rPr sz="1200" b="0">
                          <a:solidFill>
                            <a:srgbClr val="141414"/>
                          </a:solidFill>
                          <a:latin typeface="Montserrat"/>
                        </a:rPr>
                        <a:t>Vendredi</a:t>
                      </a:r>
                    </a:p>
                  </a:txBody>
                  <a:tcPr marL="73152" marR="73152" marT="27432" marB="27432" anchor="ctr">
                    <a:solidFill>
                      <a:srgbClr val="FFFFFF"/>
                    </a:solidFill>
                  </a:tcPr>
                </a:tc>
                <a:tc>
                  <a:txBody>
                    <a:bodyPr wrap="square"/>
                    <a:lstStyle/>
                    <a:p>
                      <a:pPr algn="ctr"/>
                      <a:r>
                        <a:rPr sz="1200" b="0">
                          <a:solidFill>
                            <a:srgbClr val="141414"/>
                          </a:solidFill>
                          <a:latin typeface="Montserrat"/>
                        </a:rPr>
                        <a:t>4</a:t>
                      </a:r>
                    </a:p>
                  </a:txBody>
                  <a:tcPr marL="73152" marR="73152" marT="27432" marB="27432" anchor="ctr">
                    <a:solidFill>
                      <a:srgbClr val="FFFFFF"/>
                    </a:solidFill>
                  </a:tcPr>
                </a:tc>
                <a:tc>
                  <a:txBody>
                    <a:bodyPr wrap="square"/>
                    <a:lstStyle/>
                    <a:p>
                      <a:pPr algn="ctr"/>
                      <a:r>
                        <a:rPr sz="1200" b="0">
                          <a:solidFill>
                            <a:srgbClr val="141414"/>
                          </a:solidFill>
                          <a:latin typeface="Montserrat"/>
                        </a:rPr>
                        <a:t>100,5</a:t>
                      </a:r>
                    </a:p>
                  </a:txBody>
                  <a:tcPr marL="73152" marR="73152" marT="27432" marB="27432" anchor="ctr">
                    <a:solidFill>
                      <a:srgbClr val="FFFFFF"/>
                    </a:solidFill>
                  </a:tcPr>
                </a:tc>
              </a:tr>
            </a:tbl>
          </a:graphicData>
        </a:graphic>
      </p:graphicFrame>
      <p:sp>
        <p:nvSpPr>
          <p:cNvPr id="7" name="TextBox 6"/>
          <p:cNvSpPr txBox="1"/>
          <p:nvPr/>
        </p:nvSpPr>
        <p:spPr>
          <a:xfrm>
            <a:off x="5943600" y="1417320"/>
            <a:ext cx="5715000" cy="4480560"/>
          </a:xfrm>
          <a:prstGeom prst="rect">
            <a:avLst/>
          </a:prstGeom>
          <a:noFill/>
        </p:spPr>
        <p:txBody>
          <a:bodyPr wrap="square">
            <a:spAutoFit/>
          </a:bodyPr>
          <a:lstStyle/>
          <a:p>
            <a:pPr>
              <a:lnSpc>
                <a:spcPct val="110000"/>
              </a:lnSpc>
              <a:spcAft>
                <a:spcPts val="1008"/>
              </a:spcAft>
            </a:pPr>
            <a:r>
              <a:rPr sz="950">
                <a:solidFill>
                  <a:srgbClr val="141414"/>
                </a:solidFill>
                <a:latin typeface="Montserrat"/>
              </a:rPr>
              <a:t>■  </a:t>
            </a:r>
            <a:r>
              <a:rPr b="1" sz="1250">
                <a:solidFill>
                  <a:srgbClr val="141414"/>
                </a:solidFill>
                <a:latin typeface="Montserrat"/>
              </a:rPr>
              <a:t>Le vendredi ressort (4 posts, 100,5 en médiane) </a:t>
            </a:r>
            <a:r>
              <a:rPr sz="1250">
                <a:solidFill>
                  <a:srgbClr val="1A1A1C"/>
                </a:solidFill>
                <a:latin typeface="Montserrat"/>
              </a:rPr>
              <a:t>mais il tient surtout à un seul post, le merci d'après ADICOM (488). Avec 12 posts, aucun jour n'est démontré.</a:t>
            </a:r>
          </a:p>
          <a:p>
            <a:pPr>
              <a:lnSpc>
                <a:spcPct val="110000"/>
              </a:lnSpc>
              <a:spcAft>
                <a:spcPts val="1008"/>
              </a:spcAft>
            </a:pPr>
            <a:r>
              <a:rPr sz="950">
                <a:solidFill>
                  <a:srgbClr val="141414"/>
                </a:solidFill>
                <a:latin typeface="Montserrat"/>
              </a:rPr>
              <a:t>■  </a:t>
            </a:r>
            <a:r>
              <a:rPr b="1" sz="1250">
                <a:solidFill>
                  <a:srgbClr val="141414"/>
                </a:solidFill>
                <a:latin typeface="Montserrat"/>
              </a:rPr>
              <a:t>Ses heures habituelles : </a:t>
            </a:r>
            <a:r>
              <a:rPr sz="1250">
                <a:solidFill>
                  <a:srgbClr val="1A1A1C"/>
                </a:solidFill>
                <a:latin typeface="Montserrat"/>
              </a:rPr>
              <a:t>entre 9 h et 10 h le matin (5 posts sur 12), parfois en fin d'après-midi après un événement.</a:t>
            </a:r>
          </a:p>
          <a:p>
            <a:pPr>
              <a:lnSpc>
                <a:spcPct val="110000"/>
              </a:lnSpc>
              <a:spcAft>
                <a:spcPts val="1008"/>
              </a:spcAft>
            </a:pPr>
            <a:r>
              <a:rPr sz="950">
                <a:solidFill>
                  <a:srgbClr val="141414"/>
                </a:solidFill>
                <a:latin typeface="Montserrat"/>
              </a:rPr>
              <a:t>■  </a:t>
            </a:r>
            <a:r>
              <a:rPr b="1" sz="1250">
                <a:solidFill>
                  <a:srgbClr val="141414"/>
                </a:solidFill>
                <a:latin typeface="Montserrat"/>
              </a:rPr>
              <a:t>Ce qu'on propose : </a:t>
            </a:r>
            <a:r>
              <a:rPr sz="1250">
                <a:solidFill>
                  <a:srgbClr val="1A1A1C"/>
                </a:solidFill>
                <a:latin typeface="Montserrat"/>
              </a:rPr>
              <a:t>le mardi à 9 h (3 de ses posts, dont l'annonce WHO) et le jeudi à 9 h, le vendredi restant réservé aux remerciements après un événement. On compare au bout de huit semaines, sur ses propres chiffres.</a:t>
            </a:r>
          </a:p>
        </p:txBody>
      </p:sp>
      <p:sp>
        <p:nvSpPr>
          <p:cNvPr id="8" name="TextBox 7"/>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Heures en temps universel, celui d'Abidjan. Ce tableau sera refait fin décembre sur les nouveaux posts.</a:t>
            </a:r>
          </a:p>
        </p:txBody>
      </p:sp>
      <p:sp>
        <p:nvSpPr>
          <p:cNvPr id="9" name="TextBox 8"/>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0" name="TextBox 9"/>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13 / 42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CE QUI A LE MIEUX MARCHÉ</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Ses trois meilleurs posts, et ce qu'ils ont en commun</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356616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top0.jpg">
            <a:hlinkClick r:id="rId4"/>
          </p:cNvPr>
          <p:cNvPicPr>
            <a:picLocks noChangeAspect="1"/>
          </p:cNvPicPr>
          <p:nvPr/>
        </p:nvPicPr>
        <p:blipFill>
          <a:blip r:embed="rId3"/>
          <a:stretch>
            <a:fillRect/>
          </a:stretch>
        </p:blipFill>
        <p:spPr>
          <a:xfrm>
            <a:off x="548640" y="1418234"/>
            <a:ext cx="3566160" cy="1735531"/>
          </a:xfrm>
          <a:prstGeom prst="rect">
            <a:avLst/>
          </a:prstGeom>
        </p:spPr>
      </p:pic>
      <p:sp>
        <p:nvSpPr>
          <p:cNvPr id="8" name="TextBox 7"/>
          <p:cNvSpPr txBox="1"/>
          <p:nvPr/>
        </p:nvSpPr>
        <p:spPr>
          <a:xfrm>
            <a:off x="731520" y="3291840"/>
            <a:ext cx="3200400" cy="457200"/>
          </a:xfrm>
          <a:prstGeom prst="rect">
            <a:avLst/>
          </a:prstGeom>
          <a:noFill/>
        </p:spPr>
        <p:txBody>
          <a:bodyPr wrap="square" lIns="18288" rIns="18288" tIns="18288" bIns="18288" anchor="t">
            <a:spAutoFit/>
          </a:bodyPr>
          <a:lstStyle/>
          <a:p>
            <a:pPr algn="l">
              <a:lnSpc>
                <a:spcPct val="112000"/>
              </a:lnSpc>
            </a:pPr>
            <a:r>
              <a:rPr sz="2000" b="1" i="0">
                <a:solidFill>
                  <a:srgbClr val="141414"/>
                </a:solidFill>
                <a:latin typeface="Montserrat"/>
              </a:rPr>
              <a:t>488 interactions</a:t>
            </a:r>
          </a:p>
        </p:txBody>
      </p:sp>
      <p:sp>
        <p:nvSpPr>
          <p:cNvPr id="9" name="TextBox 8"/>
          <p:cNvSpPr txBox="1"/>
          <p:nvPr/>
        </p:nvSpPr>
        <p:spPr>
          <a:xfrm>
            <a:off x="731520" y="3749039"/>
            <a:ext cx="3200400" cy="2743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24/04/2026 · 28 commentaires</a:t>
            </a:r>
          </a:p>
        </p:txBody>
      </p:sp>
      <p:sp>
        <p:nvSpPr>
          <p:cNvPr id="10" name="TextBox 9"/>
          <p:cNvSpPr txBox="1"/>
          <p:nvPr/>
        </p:nvSpPr>
        <p:spPr>
          <a:xfrm>
            <a:off x="731520" y="4069080"/>
            <a:ext cx="3200400" cy="548640"/>
          </a:xfrm>
          <a:prstGeom prst="rect">
            <a:avLst/>
          </a:prstGeom>
          <a:noFill/>
        </p:spPr>
        <p:txBody>
          <a:bodyPr wrap="square" lIns="18288" rIns="18288" tIns="18288" bIns="18288" anchor="t">
            <a:spAutoFit/>
          </a:bodyPr>
          <a:lstStyle/>
          <a:p>
            <a:pPr algn="l">
              <a:lnSpc>
                <a:spcPct val="112000"/>
              </a:lnSpc>
            </a:pPr>
            <a:r>
              <a:rPr sz="1300" b="1" i="0">
                <a:solidFill>
                  <a:srgbClr val="141414"/>
                </a:solidFill>
                <a:latin typeface="Montserrat"/>
              </a:rPr>
              <a:t>Le merci après les dix ans d'ADICOM</a:t>
            </a:r>
          </a:p>
        </p:txBody>
      </p:sp>
      <p:sp>
        <p:nvSpPr>
          <p:cNvPr id="11" name="TextBox 10"/>
          <p:cNvSpPr txBox="1"/>
          <p:nvPr/>
        </p:nvSpPr>
        <p:spPr>
          <a:xfrm>
            <a:off x="731520" y="4663440"/>
            <a:ext cx="3200400" cy="118872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Un texte personnel (95 mots), la fatigue, la gratitude, la communauté. Photo de lui sur scène.</a:t>
            </a:r>
          </a:p>
        </p:txBody>
      </p:sp>
      <p:sp>
        <p:nvSpPr>
          <p:cNvPr id="12" name="Rectangle 11"/>
          <p:cNvSpPr/>
          <p:nvPr/>
        </p:nvSpPr>
        <p:spPr>
          <a:xfrm>
            <a:off x="4297679" y="1417320"/>
            <a:ext cx="356616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op1.jpg">
            <a:hlinkClick r:id="rId6"/>
          </p:cNvPr>
          <p:cNvPicPr>
            <a:picLocks noChangeAspect="1"/>
          </p:cNvPicPr>
          <p:nvPr/>
        </p:nvPicPr>
        <p:blipFill>
          <a:blip r:embed="rId5"/>
          <a:stretch>
            <a:fillRect/>
          </a:stretch>
        </p:blipFill>
        <p:spPr>
          <a:xfrm>
            <a:off x="4297679" y="1418234"/>
            <a:ext cx="3566160" cy="1735531"/>
          </a:xfrm>
          <a:prstGeom prst="rect">
            <a:avLst/>
          </a:prstGeom>
        </p:spPr>
      </p:pic>
      <p:sp>
        <p:nvSpPr>
          <p:cNvPr id="14" name="TextBox 13"/>
          <p:cNvSpPr txBox="1"/>
          <p:nvPr/>
        </p:nvSpPr>
        <p:spPr>
          <a:xfrm>
            <a:off x="4480559" y="3291840"/>
            <a:ext cx="3200400" cy="457200"/>
          </a:xfrm>
          <a:prstGeom prst="rect">
            <a:avLst/>
          </a:prstGeom>
          <a:noFill/>
        </p:spPr>
        <p:txBody>
          <a:bodyPr wrap="square" lIns="18288" rIns="18288" tIns="18288" bIns="18288" anchor="t">
            <a:spAutoFit/>
          </a:bodyPr>
          <a:lstStyle/>
          <a:p>
            <a:pPr algn="l">
              <a:lnSpc>
                <a:spcPct val="112000"/>
              </a:lnSpc>
            </a:pPr>
            <a:r>
              <a:rPr sz="2000" b="1" i="0">
                <a:solidFill>
                  <a:srgbClr val="141414"/>
                </a:solidFill>
                <a:latin typeface="Montserrat"/>
              </a:rPr>
              <a:t>297 interactions</a:t>
            </a:r>
          </a:p>
        </p:txBody>
      </p:sp>
      <p:sp>
        <p:nvSpPr>
          <p:cNvPr id="15" name="TextBox 14"/>
          <p:cNvSpPr txBox="1"/>
          <p:nvPr/>
        </p:nvSpPr>
        <p:spPr>
          <a:xfrm>
            <a:off x="4480559" y="3749039"/>
            <a:ext cx="3200400" cy="2743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05/05/2026 · 17 commentaires</a:t>
            </a:r>
          </a:p>
        </p:txBody>
      </p:sp>
      <p:sp>
        <p:nvSpPr>
          <p:cNvPr id="16" name="TextBox 15"/>
          <p:cNvSpPr txBox="1"/>
          <p:nvPr/>
        </p:nvSpPr>
        <p:spPr>
          <a:xfrm>
            <a:off x="4480559" y="4069080"/>
            <a:ext cx="3200400" cy="548640"/>
          </a:xfrm>
          <a:prstGeom prst="rect">
            <a:avLst/>
          </a:prstGeom>
          <a:noFill/>
        </p:spPr>
        <p:txBody>
          <a:bodyPr wrap="square" lIns="18288" rIns="18288" tIns="18288" bIns="18288" anchor="t">
            <a:spAutoFit/>
          </a:bodyPr>
          <a:lstStyle/>
          <a:p>
            <a:pPr algn="l">
              <a:lnSpc>
                <a:spcPct val="112000"/>
              </a:lnSpc>
            </a:pPr>
            <a:r>
              <a:rPr sz="1300" b="1" i="0">
                <a:solidFill>
                  <a:srgbClr val="141414"/>
                </a:solidFill>
                <a:latin typeface="Montserrat"/>
              </a:rPr>
              <a:t>Producteur associé de WHO</a:t>
            </a:r>
          </a:p>
        </p:txBody>
      </p:sp>
      <p:sp>
        <p:nvSpPr>
          <p:cNvPr id="17" name="TextBox 16"/>
          <p:cNvSpPr txBox="1"/>
          <p:nvPr/>
        </p:nvSpPr>
        <p:spPr>
          <a:xfrm>
            <a:off x="4480559" y="4663440"/>
            <a:ext cx="3200400" cy="118872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Cinq ans de travail en secret, révélés. Une annonce qui le concerne lui, pas une marque.</a:t>
            </a:r>
          </a:p>
        </p:txBody>
      </p:sp>
      <p:sp>
        <p:nvSpPr>
          <p:cNvPr id="18" name="Rectangle 17"/>
          <p:cNvSpPr/>
          <p:nvPr/>
        </p:nvSpPr>
        <p:spPr>
          <a:xfrm>
            <a:off x="8046719" y="1417320"/>
            <a:ext cx="356616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op2.jpg">
            <a:hlinkClick r:id="rId8"/>
          </p:cNvPr>
          <p:cNvPicPr>
            <a:picLocks noChangeAspect="1"/>
          </p:cNvPicPr>
          <p:nvPr/>
        </p:nvPicPr>
        <p:blipFill>
          <a:blip r:embed="rId7"/>
          <a:stretch>
            <a:fillRect/>
          </a:stretch>
        </p:blipFill>
        <p:spPr>
          <a:xfrm>
            <a:off x="8046719" y="1418674"/>
            <a:ext cx="3566159" cy="1734650"/>
          </a:xfrm>
          <a:prstGeom prst="rect">
            <a:avLst/>
          </a:prstGeom>
        </p:spPr>
      </p:pic>
      <p:sp>
        <p:nvSpPr>
          <p:cNvPr id="20" name="TextBox 19"/>
          <p:cNvSpPr txBox="1"/>
          <p:nvPr/>
        </p:nvSpPr>
        <p:spPr>
          <a:xfrm>
            <a:off x="8229599" y="3291840"/>
            <a:ext cx="3200400" cy="457200"/>
          </a:xfrm>
          <a:prstGeom prst="rect">
            <a:avLst/>
          </a:prstGeom>
          <a:noFill/>
        </p:spPr>
        <p:txBody>
          <a:bodyPr wrap="square" lIns="18288" rIns="18288" tIns="18288" bIns="18288" anchor="t">
            <a:spAutoFit/>
          </a:bodyPr>
          <a:lstStyle/>
          <a:p>
            <a:pPr algn="l">
              <a:lnSpc>
                <a:spcPct val="112000"/>
              </a:lnSpc>
            </a:pPr>
            <a:r>
              <a:rPr sz="2000" b="1" i="0">
                <a:solidFill>
                  <a:srgbClr val="141414"/>
                </a:solidFill>
                <a:latin typeface="Montserrat"/>
              </a:rPr>
              <a:t>150 interactions</a:t>
            </a:r>
          </a:p>
        </p:txBody>
      </p:sp>
      <p:sp>
        <p:nvSpPr>
          <p:cNvPr id="21" name="TextBox 20"/>
          <p:cNvSpPr txBox="1"/>
          <p:nvPr/>
        </p:nvSpPr>
        <p:spPr>
          <a:xfrm>
            <a:off x="8229599" y="3749039"/>
            <a:ext cx="3200400" cy="2743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23/01/2026 · 5 commentaires</a:t>
            </a:r>
          </a:p>
        </p:txBody>
      </p:sp>
      <p:sp>
        <p:nvSpPr>
          <p:cNvPr id="22" name="TextBox 21"/>
          <p:cNvSpPr txBox="1"/>
          <p:nvPr/>
        </p:nvSpPr>
        <p:spPr>
          <a:xfrm>
            <a:off x="8229599" y="4069080"/>
            <a:ext cx="3200400" cy="548640"/>
          </a:xfrm>
          <a:prstGeom prst="rect">
            <a:avLst/>
          </a:prstGeom>
          <a:noFill/>
        </p:spPr>
        <p:txBody>
          <a:bodyPr wrap="square" lIns="18288" rIns="18288" tIns="18288" bIns="18288" anchor="t">
            <a:spAutoFit/>
          </a:bodyPr>
          <a:lstStyle/>
          <a:p>
            <a:pPr algn="l">
              <a:lnSpc>
                <a:spcPct val="112000"/>
              </a:lnSpc>
            </a:pPr>
            <a:r>
              <a:rPr sz="1300" b="1" i="0">
                <a:solidFill>
                  <a:srgbClr val="141414"/>
                </a:solidFill>
                <a:latin typeface="Montserrat"/>
              </a:rPr>
              <a:t>Lancement de Digital State of Africa</a:t>
            </a:r>
          </a:p>
        </p:txBody>
      </p:sp>
      <p:sp>
        <p:nvSpPr>
          <p:cNvPr id="23" name="TextBox 22"/>
          <p:cNvSpPr txBox="1"/>
          <p:nvPr/>
        </p:nvSpPr>
        <p:spPr>
          <a:xfrm>
            <a:off x="8229599" y="4663440"/>
            <a:ext cx="3200400" cy="118872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Une accroche forte, un extrait vidéo, le lien en commentaire.</a:t>
            </a:r>
          </a:p>
        </p:txBody>
      </p:sp>
      <p:sp>
        <p:nvSpPr>
          <p:cNvPr id="24" name="TextBox 23"/>
          <p:cNvSpPr txBox="1"/>
          <p:nvPr/>
        </p:nvSpPr>
        <p:spPr>
          <a:xfrm>
            <a:off x="548640" y="6035040"/>
            <a:ext cx="11064240" cy="36576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En commun : </a:t>
            </a:r>
            <a:r>
              <a:rPr sz="1200" b="0" i="0">
                <a:solidFill>
                  <a:srgbClr val="141414"/>
                </a:solidFill>
                <a:latin typeface="Montserrat"/>
              </a:rPr>
              <a:t>il y parle à la première personne d'un moment qu'il a vécu. Cliquer sur une image ouvre le post.</a:t>
            </a:r>
          </a:p>
        </p:txBody>
      </p:sp>
      <p:sp>
        <p:nvSpPr>
          <p:cNvPr id="25" name="TextBox 24"/>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6" name="TextBox 25"/>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14 / 42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LINKEDIN · CE QUI N'A PAS PRIS</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Ses trois posts les moins lus, et pourquoi</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3566160" cy="42976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trending-down_noir.png"/>
          <p:cNvPicPr>
            <a:picLocks noChangeAspect="1"/>
          </p:cNvPicPr>
          <p:nvPr/>
        </p:nvPicPr>
        <p:blipFill>
          <a:blip r:embed="rId3"/>
          <a:stretch>
            <a:fillRect/>
          </a:stretch>
        </p:blipFill>
        <p:spPr>
          <a:xfrm>
            <a:off x="749808" y="1645920"/>
            <a:ext cx="384048" cy="384048"/>
          </a:xfrm>
          <a:prstGeom prst="rect">
            <a:avLst/>
          </a:prstGeom>
        </p:spPr>
      </p:pic>
      <p:sp>
        <p:nvSpPr>
          <p:cNvPr id="8" name="TextBox 7"/>
          <p:cNvSpPr txBox="1"/>
          <p:nvPr/>
        </p:nvSpPr>
        <p:spPr>
          <a:xfrm>
            <a:off x="749808" y="2148840"/>
            <a:ext cx="3200400" cy="457200"/>
          </a:xfrm>
          <a:prstGeom prst="rect">
            <a:avLst/>
          </a:prstGeom>
          <a:noFill/>
        </p:spPr>
        <p:txBody>
          <a:bodyPr wrap="square" lIns="18288" rIns="18288" tIns="18288" bIns="18288" anchor="t">
            <a:spAutoFit/>
          </a:bodyPr>
          <a:lstStyle/>
          <a:p>
            <a:pPr algn="l">
              <a:lnSpc>
                <a:spcPct val="112000"/>
              </a:lnSpc>
            </a:pPr>
            <a:r>
              <a:rPr sz="2000" b="1" i="0">
                <a:solidFill>
                  <a:srgbClr val="141414"/>
                </a:solidFill>
                <a:latin typeface="Montserrat"/>
              </a:rPr>
              <a:t>15 interactions</a:t>
            </a:r>
          </a:p>
        </p:txBody>
      </p:sp>
      <p:sp>
        <p:nvSpPr>
          <p:cNvPr id="9" name="TextBox 8"/>
          <p:cNvSpPr txBox="1"/>
          <p:nvPr/>
        </p:nvSpPr>
        <p:spPr>
          <a:xfrm>
            <a:off x="749808" y="2606040"/>
            <a:ext cx="3200400" cy="2743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03/03/2026</a:t>
            </a:r>
          </a:p>
        </p:txBody>
      </p:sp>
      <p:sp>
        <p:nvSpPr>
          <p:cNvPr id="10" name="TextBox 9"/>
          <p:cNvSpPr txBox="1"/>
          <p:nvPr/>
        </p:nvSpPr>
        <p:spPr>
          <a:xfrm>
            <a:off x="749808" y="3017520"/>
            <a:ext cx="3200400" cy="45720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Une reprise sans contexte</a:t>
            </a:r>
          </a:p>
        </p:txBody>
      </p:sp>
      <p:sp>
        <p:nvSpPr>
          <p:cNvPr id="11" name="TextBox 10">
            <a:hlinkClick r:id="rId4"/>
          </p:cNvPr>
          <p:cNvSpPr txBox="1"/>
          <p:nvPr/>
        </p:nvSpPr>
        <p:spPr>
          <a:xfrm>
            <a:off x="749808" y="3520440"/>
            <a:ext cx="32004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 Et merci aux Songi-Songi Orange RDC x TOTEM EXPERIENCE » : sept mots au-dessus d'un post d'une cliente. Rien n'explique la campagne ni le résultat.</a:t>
            </a:r>
          </a:p>
        </p:txBody>
      </p:sp>
      <p:sp>
        <p:nvSpPr>
          <p:cNvPr id="12" name="Rectangle 11"/>
          <p:cNvSpPr/>
          <p:nvPr/>
        </p:nvSpPr>
        <p:spPr>
          <a:xfrm>
            <a:off x="4297679" y="1417320"/>
            <a:ext cx="3566160" cy="42976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trending-down_noir.png"/>
          <p:cNvPicPr>
            <a:picLocks noChangeAspect="1"/>
          </p:cNvPicPr>
          <p:nvPr/>
        </p:nvPicPr>
        <p:blipFill>
          <a:blip r:embed="rId3"/>
          <a:stretch>
            <a:fillRect/>
          </a:stretch>
        </p:blipFill>
        <p:spPr>
          <a:xfrm>
            <a:off x="4498847" y="1645920"/>
            <a:ext cx="384048" cy="384048"/>
          </a:xfrm>
          <a:prstGeom prst="rect">
            <a:avLst/>
          </a:prstGeom>
        </p:spPr>
      </p:pic>
      <p:sp>
        <p:nvSpPr>
          <p:cNvPr id="14" name="TextBox 13"/>
          <p:cNvSpPr txBox="1"/>
          <p:nvPr/>
        </p:nvSpPr>
        <p:spPr>
          <a:xfrm>
            <a:off x="4498847" y="2148840"/>
            <a:ext cx="3200400" cy="457200"/>
          </a:xfrm>
          <a:prstGeom prst="rect">
            <a:avLst/>
          </a:prstGeom>
          <a:noFill/>
        </p:spPr>
        <p:txBody>
          <a:bodyPr wrap="square" lIns="18288" rIns="18288" tIns="18288" bIns="18288" anchor="t">
            <a:spAutoFit/>
          </a:bodyPr>
          <a:lstStyle/>
          <a:p>
            <a:pPr algn="l">
              <a:lnSpc>
                <a:spcPct val="112000"/>
              </a:lnSpc>
            </a:pPr>
            <a:r>
              <a:rPr sz="2000" b="1" i="0">
                <a:solidFill>
                  <a:srgbClr val="141414"/>
                </a:solidFill>
                <a:latin typeface="Montserrat"/>
              </a:rPr>
              <a:t>32 interactions</a:t>
            </a:r>
          </a:p>
        </p:txBody>
      </p:sp>
      <p:sp>
        <p:nvSpPr>
          <p:cNvPr id="15" name="TextBox 14"/>
          <p:cNvSpPr txBox="1"/>
          <p:nvPr/>
        </p:nvSpPr>
        <p:spPr>
          <a:xfrm>
            <a:off x="4498847" y="2606040"/>
            <a:ext cx="3200400" cy="2743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02/02/2026</a:t>
            </a:r>
          </a:p>
        </p:txBody>
      </p:sp>
      <p:sp>
        <p:nvSpPr>
          <p:cNvPr id="16" name="TextBox 15"/>
          <p:cNvSpPr txBox="1"/>
          <p:nvPr/>
        </p:nvSpPr>
        <p:spPr>
          <a:xfrm>
            <a:off x="4498847" y="3017520"/>
            <a:ext cx="3200400" cy="45720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Un lien externe</a:t>
            </a:r>
          </a:p>
        </p:txBody>
      </p:sp>
      <p:sp>
        <p:nvSpPr>
          <p:cNvPr id="17" name="TextBox 16">
            <a:hlinkClick r:id="rId5"/>
          </p:cNvPr>
          <p:cNvSpPr txBox="1"/>
          <p:nvPr/>
        </p:nvSpPr>
        <p:spPr>
          <a:xfrm>
            <a:off x="4498847" y="3520440"/>
            <a:ext cx="32004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Le 150e épisode du podcast, annoncé avec un lien YouTube dans le post : LinkedIn diffuse peu les posts qui font sortir de la plateforme.</a:t>
            </a:r>
          </a:p>
        </p:txBody>
      </p:sp>
      <p:sp>
        <p:nvSpPr>
          <p:cNvPr id="18" name="Rectangle 17"/>
          <p:cNvSpPr/>
          <p:nvPr/>
        </p:nvSpPr>
        <p:spPr>
          <a:xfrm>
            <a:off x="8046719" y="1417320"/>
            <a:ext cx="3566160" cy="42976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trending-down_noir.png"/>
          <p:cNvPicPr>
            <a:picLocks noChangeAspect="1"/>
          </p:cNvPicPr>
          <p:nvPr/>
        </p:nvPicPr>
        <p:blipFill>
          <a:blip r:embed="rId3"/>
          <a:stretch>
            <a:fillRect/>
          </a:stretch>
        </p:blipFill>
        <p:spPr>
          <a:xfrm>
            <a:off x="8247888" y="1645920"/>
            <a:ext cx="384048" cy="384048"/>
          </a:xfrm>
          <a:prstGeom prst="rect">
            <a:avLst/>
          </a:prstGeom>
        </p:spPr>
      </p:pic>
      <p:sp>
        <p:nvSpPr>
          <p:cNvPr id="20" name="TextBox 19"/>
          <p:cNvSpPr txBox="1"/>
          <p:nvPr/>
        </p:nvSpPr>
        <p:spPr>
          <a:xfrm>
            <a:off x="8247888" y="2148840"/>
            <a:ext cx="3200400" cy="457200"/>
          </a:xfrm>
          <a:prstGeom prst="rect">
            <a:avLst/>
          </a:prstGeom>
          <a:noFill/>
        </p:spPr>
        <p:txBody>
          <a:bodyPr wrap="square" lIns="18288" rIns="18288" tIns="18288" bIns="18288" anchor="t">
            <a:spAutoFit/>
          </a:bodyPr>
          <a:lstStyle/>
          <a:p>
            <a:pPr algn="l">
              <a:lnSpc>
                <a:spcPct val="112000"/>
              </a:lnSpc>
            </a:pPr>
            <a:r>
              <a:rPr sz="2000" b="1" i="0">
                <a:solidFill>
                  <a:srgbClr val="141414"/>
                </a:solidFill>
                <a:latin typeface="Montserrat"/>
              </a:rPr>
              <a:t>45 interactions</a:t>
            </a:r>
          </a:p>
        </p:txBody>
      </p:sp>
      <p:sp>
        <p:nvSpPr>
          <p:cNvPr id="21" name="TextBox 20"/>
          <p:cNvSpPr txBox="1"/>
          <p:nvPr/>
        </p:nvSpPr>
        <p:spPr>
          <a:xfrm>
            <a:off x="8247888" y="2606040"/>
            <a:ext cx="3200400" cy="2743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17/02/2026</a:t>
            </a:r>
          </a:p>
        </p:txBody>
      </p:sp>
      <p:sp>
        <p:nvSpPr>
          <p:cNvPr id="22" name="TextBox 21"/>
          <p:cNvSpPr txBox="1"/>
          <p:nvPr/>
        </p:nvSpPr>
        <p:spPr>
          <a:xfrm>
            <a:off x="8247888" y="3017520"/>
            <a:ext cx="3200400" cy="45720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La promotion pure</a:t>
            </a:r>
          </a:p>
        </p:txBody>
      </p:sp>
      <p:sp>
        <p:nvSpPr>
          <p:cNvPr id="23" name="TextBox 22">
            <a:hlinkClick r:id="rId6"/>
          </p:cNvPr>
          <p:cNvSpPr txBox="1"/>
          <p:nvPr/>
        </p:nvSpPr>
        <p:spPr>
          <a:xfrm>
            <a:off x="8247888" y="3520440"/>
            <a:ext cx="32004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 Si vous pensez que le digital business obéit encore aux mêmes règles, alors ne regardez pas cette vidéo… » : bonne accroche, mais sur la vidéo d'ADICOM, pas la sienne.</a:t>
            </a:r>
          </a:p>
        </p:txBody>
      </p:sp>
      <p:sp>
        <p:nvSpPr>
          <p:cNvPr id="24" name="TextBox 23"/>
          <p:cNvSpPr txBox="1"/>
          <p:nvPr/>
        </p:nvSpPr>
        <p:spPr>
          <a:xfrm>
            <a:off x="548640" y="5897880"/>
            <a:ext cx="11064240" cy="36576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La leçon : </a:t>
            </a:r>
            <a:r>
              <a:rPr sz="1200" b="0" i="0">
                <a:solidFill>
                  <a:srgbClr val="141414"/>
                </a:solidFill>
                <a:latin typeface="Montserrat"/>
              </a:rPr>
              <a:t>quand Kahi s'efface derrière une marque, même la sienne, son audience ne suit pas.</a:t>
            </a:r>
          </a:p>
        </p:txBody>
      </p:sp>
      <p:sp>
        <p:nvSpPr>
          <p:cNvPr id="25" name="TextBox 24"/>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6" name="TextBox 25"/>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15 / 42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sec3.jpg"/>
          <p:cNvPicPr>
            <a:picLocks noChangeAspect="1"/>
          </p:cNvPicPr>
          <p:nvPr/>
        </p:nvPicPr>
        <p:blipFill>
          <a:blip r:embed="rId2"/>
          <a:stretch>
            <a:fillRect/>
          </a:stretch>
        </p:blipFill>
        <p:spPr>
          <a:xfrm>
            <a:off x="6702552" y="0"/>
            <a:ext cx="5486400" cy="68580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0" cy="1463040"/>
          </a:xfrm>
          <a:prstGeom prst="rect">
            <a:avLst/>
          </a:prstGeom>
          <a:noFill/>
        </p:spPr>
        <p:txBody>
          <a:bodyPr wrap="square" lIns="18288" rIns="18288" tIns="18288" bIns="18288" anchor="t">
            <a:spAutoFit/>
          </a:bodyPr>
          <a:lstStyle/>
          <a:p>
            <a:pPr algn="l">
              <a:lnSpc>
                <a:spcPct val="112000"/>
              </a:lnSpc>
            </a:pPr>
            <a:r>
              <a:rPr sz="9600" b="1" i="0">
                <a:solidFill>
                  <a:srgbClr val="B6D401"/>
                </a:solidFill>
                <a:latin typeface="Montserrat"/>
              </a:rPr>
              <a:t>03</a:t>
            </a:r>
          </a:p>
        </p:txBody>
      </p:sp>
      <p:sp>
        <p:nvSpPr>
          <p:cNvPr id="5" name="TextBox 4"/>
          <p:cNvSpPr txBox="1"/>
          <p:nvPr/>
        </p:nvSpPr>
        <p:spPr>
          <a:xfrm>
            <a:off x="731520" y="3063240"/>
            <a:ext cx="5669280" cy="914400"/>
          </a:xfrm>
          <a:prstGeom prst="rect">
            <a:avLst/>
          </a:prstGeom>
          <a:noFill/>
        </p:spPr>
        <p:txBody>
          <a:bodyPr wrap="square" lIns="18288" rIns="18288" tIns="18288" bIns="18288" anchor="t">
            <a:spAutoFit/>
          </a:bodyPr>
          <a:lstStyle/>
          <a:p>
            <a:pPr algn="l">
              <a:lnSpc>
                <a:spcPct val="112000"/>
              </a:lnSpc>
            </a:pPr>
            <a:r>
              <a:rPr sz="4000" b="1" i="0">
                <a:solidFill>
                  <a:srgbClr val="FFFFFF"/>
                </a:solidFill>
                <a:latin typeface="Montserrat"/>
              </a:rPr>
              <a:t>Instagram</a:t>
            </a:r>
          </a:p>
        </p:txBody>
      </p:sp>
      <p:sp>
        <p:nvSpPr>
          <p:cNvPr id="6" name="TextBox 5"/>
          <p:cNvSpPr txBox="1"/>
          <p:nvPr/>
        </p:nvSpPr>
        <p:spPr>
          <a:xfrm>
            <a:off x="731520" y="4069080"/>
            <a:ext cx="5486400" cy="128016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Un compte de 17 648 abonnés où il apparaît partout, mais publie très peu pour lui-même.</a:t>
            </a:r>
          </a:p>
        </p:txBody>
      </p:sp>
      <p:pic>
        <p:nvPicPr>
          <p:cNvPr id="7" name="Picture 6" descr="logo.png"/>
          <p:cNvPicPr>
            <a:picLocks noChangeAspect="1"/>
          </p:cNvPicPr>
          <p:nvPr/>
        </p:nvPicPr>
        <p:blipFill>
          <a:blip r:embed="rId3"/>
          <a:stretch>
            <a:fillRect/>
          </a:stretch>
        </p:blipFill>
        <p:spPr>
          <a:xfrm>
            <a:off x="731520" y="5897880"/>
            <a:ext cx="1092631" cy="548640"/>
          </a:xfrm>
          <a:prstGeom prst="rect">
            <a:avLst/>
          </a:prstGeom>
        </p:spPr>
      </p:pic>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16 / 42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INSTAGRAM · LA VITRINE</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 profil Instagram : une bio claire, un lien qui renvoie au recrutement</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548640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v_ig.jpg"/>
          <p:cNvPicPr>
            <a:picLocks noChangeAspect="1"/>
          </p:cNvPicPr>
          <p:nvPr/>
        </p:nvPicPr>
        <p:blipFill>
          <a:blip r:embed="rId3"/>
          <a:stretch>
            <a:fillRect/>
          </a:stretch>
        </p:blipFill>
        <p:spPr>
          <a:xfrm>
            <a:off x="777240" y="1645920"/>
            <a:ext cx="1097280" cy="1097280"/>
          </a:xfrm>
          <a:prstGeom prst="rect">
            <a:avLst/>
          </a:prstGeom>
        </p:spPr>
      </p:pic>
      <p:sp>
        <p:nvSpPr>
          <p:cNvPr id="8" name="TextBox 7"/>
          <p:cNvSpPr txBox="1"/>
          <p:nvPr/>
        </p:nvSpPr>
        <p:spPr>
          <a:xfrm>
            <a:off x="2103120" y="1691640"/>
            <a:ext cx="3840480" cy="365760"/>
          </a:xfrm>
          <a:prstGeom prst="rect">
            <a:avLst/>
          </a:prstGeom>
          <a:noFill/>
        </p:spPr>
        <p:txBody>
          <a:bodyPr wrap="square" lIns="18288" rIns="18288" tIns="18288" bIns="18288" anchor="t">
            <a:spAutoFit/>
          </a:bodyPr>
          <a:lstStyle/>
          <a:p>
            <a:pPr algn="l">
              <a:lnSpc>
                <a:spcPct val="112000"/>
              </a:lnSpc>
            </a:pPr>
            <a:r>
              <a:rPr sz="1600" b="1" i="0">
                <a:solidFill>
                  <a:srgbClr val="141414"/>
                </a:solidFill>
                <a:latin typeface="Montserrat"/>
              </a:rPr>
              <a:t>kahindula61</a:t>
            </a:r>
          </a:p>
        </p:txBody>
      </p:sp>
      <p:sp>
        <p:nvSpPr>
          <p:cNvPr id="9" name="TextBox 8"/>
          <p:cNvSpPr txBox="1"/>
          <p:nvPr/>
        </p:nvSpPr>
        <p:spPr>
          <a:xfrm>
            <a:off x="2103120" y="2103120"/>
            <a:ext cx="12801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1 061</a:t>
            </a:r>
          </a:p>
        </p:txBody>
      </p:sp>
      <p:sp>
        <p:nvSpPr>
          <p:cNvPr id="10" name="TextBox 9"/>
          <p:cNvSpPr txBox="1"/>
          <p:nvPr/>
        </p:nvSpPr>
        <p:spPr>
          <a:xfrm>
            <a:off x="2103120" y="2423160"/>
            <a:ext cx="128016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publications</a:t>
            </a:r>
          </a:p>
        </p:txBody>
      </p:sp>
      <p:sp>
        <p:nvSpPr>
          <p:cNvPr id="11" name="TextBox 10"/>
          <p:cNvSpPr txBox="1"/>
          <p:nvPr/>
        </p:nvSpPr>
        <p:spPr>
          <a:xfrm>
            <a:off x="3383279" y="2103120"/>
            <a:ext cx="12801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17 648</a:t>
            </a:r>
          </a:p>
        </p:txBody>
      </p:sp>
      <p:sp>
        <p:nvSpPr>
          <p:cNvPr id="12" name="TextBox 11"/>
          <p:cNvSpPr txBox="1"/>
          <p:nvPr/>
        </p:nvSpPr>
        <p:spPr>
          <a:xfrm>
            <a:off x="3383279" y="2423160"/>
            <a:ext cx="128016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abonnés</a:t>
            </a:r>
          </a:p>
        </p:txBody>
      </p:sp>
      <p:sp>
        <p:nvSpPr>
          <p:cNvPr id="13" name="TextBox 12"/>
          <p:cNvSpPr txBox="1"/>
          <p:nvPr/>
        </p:nvSpPr>
        <p:spPr>
          <a:xfrm>
            <a:off x="4663440" y="2103120"/>
            <a:ext cx="1280160" cy="3657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1 583</a:t>
            </a:r>
          </a:p>
        </p:txBody>
      </p:sp>
      <p:sp>
        <p:nvSpPr>
          <p:cNvPr id="14" name="TextBox 13"/>
          <p:cNvSpPr txBox="1"/>
          <p:nvPr/>
        </p:nvSpPr>
        <p:spPr>
          <a:xfrm>
            <a:off x="4663440" y="2423160"/>
            <a:ext cx="128016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abonnements</a:t>
            </a:r>
          </a:p>
        </p:txBody>
      </p:sp>
      <p:sp>
        <p:nvSpPr>
          <p:cNvPr id="15" name="TextBox 14"/>
          <p:cNvSpPr txBox="1"/>
          <p:nvPr/>
        </p:nvSpPr>
        <p:spPr>
          <a:xfrm>
            <a:off x="777240" y="2971800"/>
            <a:ext cx="5029200" cy="146304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Kahi Lumumba</a:t>
            </a:r>
          </a:p>
          <a:p>
            <a:pPr algn="l">
              <a:lnSpc>
                <a:spcPct val="112000"/>
              </a:lnSpc>
            </a:pPr>
            <a:r>
              <a:rPr sz="1150" b="0" i="0">
                <a:solidFill>
                  <a:srgbClr val="1A1A1C"/>
                </a:solidFill>
                <a:latin typeface="Montserrat"/>
              </a:rPr>
              <a:t>💻Entrepreneur panafricain engagé!</a:t>
            </a:r>
          </a:p>
          <a:p>
            <a:pPr algn="l">
              <a:lnSpc>
                <a:spcPct val="112000"/>
              </a:lnSpc>
            </a:pPr>
            <a:r>
              <a:rPr sz="1150" b="0" i="0">
                <a:solidFill>
                  <a:srgbClr val="1A1A1C"/>
                </a:solidFill>
                <a:latin typeface="Montserrat"/>
              </a:rPr>
              <a:t>CEO @totemexperience @adicomfamily @entrepreneurstateofafrica</a:t>
            </a:r>
          </a:p>
          <a:p>
            <a:pPr algn="l">
              <a:lnSpc>
                <a:spcPct val="112000"/>
              </a:lnSpc>
            </a:pPr>
            <a:r>
              <a:rPr sz="1150" b="0" i="0">
                <a:solidFill>
                  <a:srgbClr val="1A1A1C"/>
                </a:solidFill>
                <a:latin typeface="Montserrat"/>
              </a:rPr>
              <a:t>Associate Producer @chaquedetailproductions</a:t>
            </a:r>
          </a:p>
        </p:txBody>
      </p:sp>
      <p:sp>
        <p:nvSpPr>
          <p:cNvPr id="16" name="TextBox 15"/>
          <p:cNvSpPr txBox="1"/>
          <p:nvPr/>
        </p:nvSpPr>
        <p:spPr>
          <a:xfrm>
            <a:off x="777240" y="4526280"/>
            <a:ext cx="5029200" cy="548640"/>
          </a:xfrm>
          <a:prstGeom prst="rect">
            <a:avLst/>
          </a:prstGeom>
          <a:noFill/>
        </p:spPr>
        <p:txBody>
          <a:bodyPr wrap="square" lIns="18288" rIns="18288" tIns="18288" bIns="18288" anchor="t">
            <a:spAutoFit/>
          </a:bodyPr>
          <a:lstStyle/>
          <a:p>
            <a:pPr algn="l">
              <a:lnSpc>
                <a:spcPct val="112000"/>
              </a:lnSpc>
            </a:pPr>
            <a:r>
              <a:rPr sz="1100" b="1" i="0">
                <a:solidFill>
                  <a:srgbClr val="141414"/>
                </a:solidFill>
                <a:latin typeface="Montserrat"/>
              </a:rPr>
              <a:t>Lien : « Postulez chez Totem Expérience » (offres d'emploi de juillet)</a:t>
            </a:r>
          </a:p>
        </p:txBody>
      </p:sp>
      <p:sp>
        <p:nvSpPr>
          <p:cNvPr id="17" name="TextBox 16"/>
          <p:cNvSpPr txBox="1"/>
          <p:nvPr/>
        </p:nvSpPr>
        <p:spPr>
          <a:xfrm>
            <a:off x="777240" y="5120640"/>
            <a:ext cx="5029200" cy="731520"/>
          </a:xfrm>
          <a:prstGeom prst="rect">
            <a:avLst/>
          </a:prstGeom>
          <a:noFill/>
        </p:spPr>
        <p:txBody>
          <a:bodyPr wrap="square" lIns="18288" rIns="18288" tIns="18288" bIns="18288" anchor="t">
            <a:spAutoFit/>
          </a:bodyPr>
          <a:lstStyle/>
          <a:p>
            <a:pPr algn="l">
              <a:lnSpc>
                <a:spcPct val="112000"/>
              </a:lnSpc>
            </a:pPr>
            <a:r>
              <a:rPr sz="1000" b="0" i="0">
                <a:solidFill>
                  <a:srgbClr val="6E6E73"/>
                </a:solidFill>
                <a:latin typeface="Montserrat"/>
              </a:rPr>
              <a:t>11 stories à la une · 0 publication épinglée · catégorie affichée : « Entrepreneur »</a:t>
            </a:r>
          </a:p>
        </p:txBody>
      </p:sp>
      <p:sp>
        <p:nvSpPr>
          <p:cNvPr id="18" name="TextBox 17"/>
          <p:cNvSpPr txBox="1"/>
          <p:nvPr/>
        </p:nvSpPr>
        <p:spPr>
          <a:xfrm>
            <a:off x="6400800" y="1417320"/>
            <a:ext cx="5257800" cy="452628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La bio dit qui il est, </a:t>
            </a:r>
            <a:r>
              <a:rPr sz="1200">
                <a:solidFill>
                  <a:srgbClr val="1A1A1C"/>
                </a:solidFill>
                <a:latin typeface="Montserrat"/>
              </a:rPr>
              <a:t>mais pas ce qu'on gagne à le suivre. « Associate Producer » est en anglais, le reste en français.</a:t>
            </a:r>
          </a:p>
          <a:p>
            <a:pPr>
              <a:lnSpc>
                <a:spcPct val="110000"/>
              </a:lnSpc>
              <a:spcAft>
                <a:spcPts val="1008"/>
              </a:spcAft>
            </a:pPr>
            <a:r>
              <a:rPr sz="900">
                <a:solidFill>
                  <a:srgbClr val="141414"/>
                </a:solidFill>
                <a:latin typeface="Montserrat"/>
              </a:rPr>
              <a:t>■  </a:t>
            </a:r>
            <a:r>
              <a:rPr b="1" sz="1200">
                <a:solidFill>
                  <a:srgbClr val="141414"/>
                </a:solidFill>
                <a:latin typeface="Montserrat"/>
              </a:rPr>
              <a:t>Le lien envoie vers des offres d'emploi </a:t>
            </a:r>
            <a:r>
              <a:rPr sz="1200">
                <a:solidFill>
                  <a:srgbClr val="1A1A1C"/>
                </a:solidFill>
                <a:latin typeface="Montserrat"/>
              </a:rPr>
              <a:t>publiées en juillet, et non vers le podcast, ADICOM ou WHO, qui font ses meilleurs scores.</a:t>
            </a:r>
          </a:p>
          <a:p>
            <a:pPr>
              <a:lnSpc>
                <a:spcPct val="110000"/>
              </a:lnSpc>
              <a:spcAft>
                <a:spcPts val="1008"/>
              </a:spcAft>
            </a:pPr>
            <a:r>
              <a:rPr sz="900">
                <a:solidFill>
                  <a:srgbClr val="141414"/>
                </a:solidFill>
                <a:latin typeface="Montserrat"/>
              </a:rPr>
              <a:t>■  </a:t>
            </a:r>
            <a:r>
              <a:rPr b="1" sz="1200">
                <a:solidFill>
                  <a:srgbClr val="141414"/>
                </a:solidFill>
                <a:latin typeface="Montserrat"/>
              </a:rPr>
              <a:t>Aucune publication épinglée : </a:t>
            </a:r>
            <a:r>
              <a:rPr sz="1200">
                <a:solidFill>
                  <a:srgbClr val="1A1A1C"/>
                </a:solidFill>
                <a:latin typeface="Montserrat"/>
              </a:rPr>
              <a:t>le premier écran de son profil est celui des dernières collaborations, souvent des extraits du podcast.</a:t>
            </a:r>
          </a:p>
          <a:p>
            <a:pPr>
              <a:lnSpc>
                <a:spcPct val="110000"/>
              </a:lnSpc>
              <a:spcAft>
                <a:spcPts val="1008"/>
              </a:spcAft>
            </a:pPr>
            <a:r>
              <a:rPr sz="900">
                <a:solidFill>
                  <a:srgbClr val="141414"/>
                </a:solidFill>
                <a:latin typeface="Montserrat"/>
              </a:rPr>
              <a:t>■  </a:t>
            </a:r>
            <a:r>
              <a:rPr b="1" sz="1200">
                <a:solidFill>
                  <a:srgbClr val="141414"/>
                </a:solidFill>
                <a:latin typeface="Montserrat"/>
              </a:rPr>
              <a:t>Ses statistiques existent déjà : </a:t>
            </a:r>
            <a:r>
              <a:rPr sz="1200">
                <a:solidFill>
                  <a:srgbClr val="1A1A1C"/>
                </a:solidFill>
                <a:latin typeface="Montserrat"/>
              </a:rPr>
              <a:t>la catégorie affichée montre un compte professionnel. Portée, visites et abonnés gagnés se lisent dans l'application, mais pas de l'extérieur.</a:t>
            </a:r>
          </a:p>
        </p:txBody>
      </p:sp>
      <p:sp>
        <p:nvSpPr>
          <p:cNvPr id="19" name="TextBox 18"/>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Profil relevé le 24/10/2026.</a:t>
            </a:r>
          </a:p>
        </p:txBody>
      </p:sp>
      <p:sp>
        <p:nvSpPr>
          <p:cNvPr id="20" name="TextBox 19"/>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1" name="TextBox 20"/>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17 / 42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INSTAGRAM · JANVIER À OCTOBRE 2026</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Son fil est rempli par les autres : 63 publications sur 69 sont des collaborations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05_ig_comptes.png"/>
          <p:cNvPicPr>
            <a:picLocks noChangeAspect="1"/>
          </p:cNvPicPr>
          <p:nvPr/>
        </p:nvPicPr>
        <p:blipFill>
          <a:blip r:embed="rId3"/>
          <a:stretch>
            <a:fillRect/>
          </a:stretch>
        </p:blipFill>
        <p:spPr>
          <a:xfrm>
            <a:off x="548640" y="1551622"/>
            <a:ext cx="6035040" cy="3206114"/>
          </a:xfrm>
          <a:prstGeom prst="rect">
            <a:avLst/>
          </a:prstGeom>
        </p:spPr>
      </p:pic>
      <p:sp>
        <p:nvSpPr>
          <p:cNvPr id="7" name="Rectangle 6"/>
          <p:cNvSpPr/>
          <p:nvPr/>
        </p:nvSpPr>
        <p:spPr>
          <a:xfrm>
            <a:off x="6949440" y="146304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1417320"/>
            <a:ext cx="2103120"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69</a:t>
            </a:r>
          </a:p>
        </p:txBody>
      </p:sp>
      <p:sp>
        <p:nvSpPr>
          <p:cNvPr id="9" name="TextBox 8"/>
          <p:cNvSpPr txBox="1"/>
          <p:nvPr/>
        </p:nvSpPr>
        <p:spPr>
          <a:xfrm>
            <a:off x="7132320" y="1993392"/>
            <a:ext cx="2103120"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publications sur sa grille depuis janvier</a:t>
            </a:r>
          </a:p>
        </p:txBody>
      </p:sp>
      <p:sp>
        <p:nvSpPr>
          <p:cNvPr id="10" name="Rectangle 9"/>
          <p:cNvSpPr/>
          <p:nvPr/>
        </p:nvSpPr>
        <p:spPr>
          <a:xfrm>
            <a:off x="9326880" y="146304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509759" y="1417320"/>
            <a:ext cx="2103120"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6</a:t>
            </a:r>
          </a:p>
        </p:txBody>
      </p:sp>
      <p:sp>
        <p:nvSpPr>
          <p:cNvPr id="12" name="TextBox 11"/>
          <p:cNvSpPr txBox="1"/>
          <p:nvPr/>
        </p:nvSpPr>
        <p:spPr>
          <a:xfrm>
            <a:off x="9509759" y="1993392"/>
            <a:ext cx="2103120"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publiées par lui seul, la dernière le 1er mai</a:t>
            </a:r>
          </a:p>
        </p:txBody>
      </p:sp>
      <p:sp>
        <p:nvSpPr>
          <p:cNvPr id="13" name="Rectangle 12"/>
          <p:cNvSpPr/>
          <p:nvPr/>
        </p:nvSpPr>
        <p:spPr>
          <a:xfrm>
            <a:off x="6949440" y="274320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0" y="2697480"/>
            <a:ext cx="2103120"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88</a:t>
            </a:r>
          </a:p>
        </p:txBody>
      </p:sp>
      <p:sp>
        <p:nvSpPr>
          <p:cNvPr id="15" name="TextBox 14"/>
          <p:cNvSpPr txBox="1"/>
          <p:nvPr/>
        </p:nvSpPr>
        <p:spPr>
          <a:xfrm>
            <a:off x="7132320" y="3273552"/>
            <a:ext cx="2103120"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J'aime en médiane sur l'ensemble</a:t>
            </a:r>
          </a:p>
        </p:txBody>
      </p:sp>
      <p:sp>
        <p:nvSpPr>
          <p:cNvPr id="16" name="Rectangle 15"/>
          <p:cNvSpPr/>
          <p:nvPr/>
        </p:nvSpPr>
        <p:spPr>
          <a:xfrm>
            <a:off x="9326880" y="2743200"/>
            <a:ext cx="73152" cy="96012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09759" y="2697480"/>
            <a:ext cx="2103120" cy="566928"/>
          </a:xfrm>
          <a:prstGeom prst="rect">
            <a:avLst/>
          </a:prstGeom>
          <a:noFill/>
        </p:spPr>
        <p:txBody>
          <a:bodyPr wrap="square" lIns="18288" rIns="18288" tIns="18288" bIns="18288" anchor="t">
            <a:spAutoFit/>
          </a:bodyPr>
          <a:lstStyle/>
          <a:p>
            <a:pPr algn="l">
              <a:lnSpc>
                <a:spcPct val="112000"/>
              </a:lnSpc>
            </a:pPr>
            <a:r>
              <a:rPr sz="3400" b="1" i="0">
                <a:solidFill>
                  <a:srgbClr val="141414"/>
                </a:solidFill>
                <a:latin typeface="Montserrat"/>
              </a:rPr>
              <a:t>200</a:t>
            </a:r>
          </a:p>
        </p:txBody>
      </p:sp>
      <p:sp>
        <p:nvSpPr>
          <p:cNvPr id="18" name="TextBox 17"/>
          <p:cNvSpPr txBox="1"/>
          <p:nvPr/>
        </p:nvSpPr>
        <p:spPr>
          <a:xfrm>
            <a:off x="9509759" y="3273552"/>
            <a:ext cx="2103120" cy="731520"/>
          </a:xfrm>
          <a:prstGeom prst="rect">
            <a:avLst/>
          </a:prstGeom>
          <a:noFill/>
        </p:spPr>
        <p:txBody>
          <a:bodyPr wrap="square" lIns="18288" rIns="18288" tIns="18288" bIns="18288" anchor="t">
            <a:spAutoFit/>
          </a:bodyPr>
          <a:lstStyle/>
          <a:p>
            <a:pPr algn="l">
              <a:lnSpc>
                <a:spcPct val="112000"/>
              </a:lnSpc>
            </a:pPr>
            <a:r>
              <a:rPr sz="1100" b="0" i="0">
                <a:solidFill>
                  <a:srgbClr val="6E6E73"/>
                </a:solidFill>
                <a:latin typeface="Montserrat"/>
              </a:rPr>
              <a:t>J'aime en médiane sur ses 6 posts à lui</a:t>
            </a:r>
          </a:p>
        </p:txBody>
      </p:sp>
      <p:sp>
        <p:nvSpPr>
          <p:cNvPr id="19" name="TextBox 18"/>
          <p:cNvSpPr txBox="1"/>
          <p:nvPr/>
        </p:nvSpPr>
        <p:spPr>
          <a:xfrm>
            <a:off x="548640" y="5029200"/>
            <a:ext cx="11064240" cy="100584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Les collaborations lui donnent de la présence </a:t>
            </a:r>
            <a:r>
              <a:rPr sz="1200">
                <a:solidFill>
                  <a:srgbClr val="1A1A1C"/>
                </a:solidFill>
                <a:latin typeface="Montserrat"/>
              </a:rPr>
              <a:t>(30 extraits du podcast, 21 publications ADICOM), mais un visiteur ne voit pas sa voix à lui. Ses propres posts font plus de deux fois la médiane, et il n'en a publié aucun depuis 176 jours.</a:t>
            </a:r>
          </a:p>
        </p:txBody>
      </p:sp>
      <p:sp>
        <p:nvSpPr>
          <p:cNvPr id="20" name="TextBox 19"/>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 Collaboration » : publication d'un autre compte où il figure comme coauteur, donc visible sur sa grille. Base : 69 publications du 01/01 au 03/10/2026.</a:t>
            </a:r>
          </a:p>
        </p:txBody>
      </p:sp>
      <p:sp>
        <p:nvSpPr>
          <p:cNvPr id="21" name="TextBox 20"/>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2" name="TextBox 21"/>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18 / 42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INSTAGRAM · MEILLEURS ET MOINS BONS POSTS</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Ce qui marche sur Instagram : WHO et les invités connus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TextBox 5"/>
          <p:cNvSpPr txBox="1"/>
          <p:nvPr/>
        </p:nvSpPr>
        <p:spPr>
          <a:xfrm>
            <a:off x="548640" y="1325880"/>
            <a:ext cx="694944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LES PLUS AIMÉS</a:t>
            </a:r>
          </a:p>
        </p:txBody>
      </p:sp>
      <p:pic>
        <p:nvPicPr>
          <p:cNvPr id="7" name="Picture 6" descr="b0.jpg">
            <a:hlinkClick r:id="rId4"/>
          </p:cNvPr>
          <p:cNvPicPr>
            <a:picLocks noChangeAspect="1"/>
          </p:cNvPicPr>
          <p:nvPr/>
        </p:nvPicPr>
        <p:blipFill>
          <a:blip r:embed="rId3"/>
          <a:stretch>
            <a:fillRect/>
          </a:stretch>
        </p:blipFill>
        <p:spPr>
          <a:xfrm>
            <a:off x="548640" y="1646651"/>
            <a:ext cx="1645920" cy="2284536"/>
          </a:xfrm>
          <a:prstGeom prst="rect">
            <a:avLst/>
          </a:prstGeom>
        </p:spPr>
      </p:pic>
      <p:sp>
        <p:nvSpPr>
          <p:cNvPr id="8" name="TextBox 7"/>
          <p:cNvSpPr txBox="1"/>
          <p:nvPr/>
        </p:nvSpPr>
        <p:spPr>
          <a:xfrm>
            <a:off x="548640" y="3977639"/>
            <a:ext cx="1691640" cy="27432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2 605 ♥ · 15/02</a:t>
            </a:r>
          </a:p>
        </p:txBody>
      </p:sp>
      <p:sp>
        <p:nvSpPr>
          <p:cNvPr id="9" name="TextBox 8"/>
          <p:cNvSpPr txBox="1"/>
          <p:nvPr/>
        </p:nvSpPr>
        <p:spPr>
          <a:xfrm>
            <a:off x="548640" y="4251960"/>
            <a:ext cx="1691640" cy="548640"/>
          </a:xfrm>
          <a:prstGeom prst="rect">
            <a:avLst/>
          </a:prstGeom>
          <a:noFill/>
        </p:spPr>
        <p:txBody>
          <a:bodyPr wrap="square" lIns="18288" rIns="18288" tIns="18288" bIns="18288" anchor="t">
            <a:spAutoFit/>
          </a:bodyPr>
          <a:lstStyle/>
          <a:p>
            <a:pPr algn="l">
              <a:lnSpc>
                <a:spcPct val="112000"/>
              </a:lnSpc>
            </a:pPr>
            <a:r>
              <a:rPr sz="900" b="0" i="0">
                <a:solidFill>
                  <a:srgbClr val="6E6E73"/>
                </a:solidFill>
                <a:latin typeface="Montserrat"/>
              </a:rPr>
              <a:t>Émission Immobilier d'Afrique, avec Fabrice Sawegnon</a:t>
            </a:r>
          </a:p>
        </p:txBody>
      </p:sp>
      <p:pic>
        <p:nvPicPr>
          <p:cNvPr id="10" name="Picture 9" descr="b1.jpg">
            <a:hlinkClick r:id="rId6"/>
          </p:cNvPr>
          <p:cNvPicPr>
            <a:picLocks noChangeAspect="1"/>
          </p:cNvPicPr>
          <p:nvPr/>
        </p:nvPicPr>
        <p:blipFill>
          <a:blip r:embed="rId5"/>
          <a:stretch>
            <a:fillRect/>
          </a:stretch>
        </p:blipFill>
        <p:spPr>
          <a:xfrm>
            <a:off x="2331720" y="1646651"/>
            <a:ext cx="1645920" cy="2284536"/>
          </a:xfrm>
          <a:prstGeom prst="rect">
            <a:avLst/>
          </a:prstGeom>
        </p:spPr>
      </p:pic>
      <p:sp>
        <p:nvSpPr>
          <p:cNvPr id="11" name="TextBox 10"/>
          <p:cNvSpPr txBox="1"/>
          <p:nvPr/>
        </p:nvSpPr>
        <p:spPr>
          <a:xfrm>
            <a:off x="2331720" y="3977639"/>
            <a:ext cx="1691640" cy="27432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2 292 ♥ · 09/06</a:t>
            </a:r>
          </a:p>
        </p:txBody>
      </p:sp>
      <p:sp>
        <p:nvSpPr>
          <p:cNvPr id="12" name="TextBox 11"/>
          <p:cNvSpPr txBox="1"/>
          <p:nvPr/>
        </p:nvSpPr>
        <p:spPr>
          <a:xfrm>
            <a:off x="2331720" y="4251960"/>
            <a:ext cx="1691640" cy="548640"/>
          </a:xfrm>
          <a:prstGeom prst="rect">
            <a:avLst/>
          </a:prstGeom>
          <a:noFill/>
        </p:spPr>
        <p:txBody>
          <a:bodyPr wrap="square" lIns="18288" rIns="18288" tIns="18288" bIns="18288" anchor="t">
            <a:spAutoFit/>
          </a:bodyPr>
          <a:lstStyle/>
          <a:p>
            <a:pPr algn="l">
              <a:lnSpc>
                <a:spcPct val="112000"/>
              </a:lnSpc>
            </a:pPr>
            <a:r>
              <a:rPr sz="900" b="0" i="0">
                <a:solidFill>
                  <a:srgbClr val="6E6E73"/>
                </a:solidFill>
                <a:latin typeface="Montserrat"/>
              </a:rPr>
              <a:t>Tournée WHO en Afrique (Totem)</a:t>
            </a:r>
          </a:p>
        </p:txBody>
      </p:sp>
      <p:pic>
        <p:nvPicPr>
          <p:cNvPr id="13" name="Picture 12" descr="b2.jpg">
            <a:hlinkClick r:id="rId8"/>
          </p:cNvPr>
          <p:cNvPicPr>
            <a:picLocks noChangeAspect="1"/>
          </p:cNvPicPr>
          <p:nvPr/>
        </p:nvPicPr>
        <p:blipFill>
          <a:blip r:embed="rId7"/>
          <a:stretch>
            <a:fillRect/>
          </a:stretch>
        </p:blipFill>
        <p:spPr>
          <a:xfrm>
            <a:off x="4115457" y="1645920"/>
            <a:ext cx="1644604" cy="2286000"/>
          </a:xfrm>
          <a:prstGeom prst="rect">
            <a:avLst/>
          </a:prstGeom>
        </p:spPr>
      </p:pic>
      <p:sp>
        <p:nvSpPr>
          <p:cNvPr id="14" name="TextBox 13"/>
          <p:cNvSpPr txBox="1"/>
          <p:nvPr/>
        </p:nvSpPr>
        <p:spPr>
          <a:xfrm>
            <a:off x="4114800" y="3977639"/>
            <a:ext cx="1691640" cy="27432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2 117 ♥ · 01/05</a:t>
            </a:r>
          </a:p>
        </p:txBody>
      </p:sp>
      <p:sp>
        <p:nvSpPr>
          <p:cNvPr id="15" name="TextBox 14"/>
          <p:cNvSpPr txBox="1"/>
          <p:nvPr/>
        </p:nvSpPr>
        <p:spPr>
          <a:xfrm>
            <a:off x="4114800" y="4251960"/>
            <a:ext cx="1691640" cy="548640"/>
          </a:xfrm>
          <a:prstGeom prst="rect">
            <a:avLst/>
          </a:prstGeom>
          <a:noFill/>
        </p:spPr>
        <p:txBody>
          <a:bodyPr wrap="square" lIns="18288" rIns="18288" tIns="18288" bIns="18288" anchor="t">
            <a:spAutoFit/>
          </a:bodyPr>
          <a:lstStyle/>
          <a:p>
            <a:pPr algn="l">
              <a:lnSpc>
                <a:spcPct val="112000"/>
              </a:lnSpc>
            </a:pPr>
            <a:r>
              <a:rPr sz="900" b="0" i="0">
                <a:solidFill>
                  <a:srgbClr val="6E6E73"/>
                </a:solidFill>
                <a:latin typeface="Montserrat"/>
              </a:rPr>
              <a:t>Annonce WHO, son compte</a:t>
            </a:r>
          </a:p>
        </p:txBody>
      </p:sp>
      <p:pic>
        <p:nvPicPr>
          <p:cNvPr id="16" name="Picture 15" descr="b3.jpg">
            <a:hlinkClick r:id="rId10"/>
          </p:cNvPr>
          <p:cNvPicPr>
            <a:picLocks noChangeAspect="1"/>
          </p:cNvPicPr>
          <p:nvPr/>
        </p:nvPicPr>
        <p:blipFill>
          <a:blip r:embed="rId9"/>
          <a:stretch>
            <a:fillRect/>
          </a:stretch>
        </p:blipFill>
        <p:spPr>
          <a:xfrm>
            <a:off x="5897879" y="1646651"/>
            <a:ext cx="1645920" cy="2284536"/>
          </a:xfrm>
          <a:prstGeom prst="rect">
            <a:avLst/>
          </a:prstGeom>
        </p:spPr>
      </p:pic>
      <p:sp>
        <p:nvSpPr>
          <p:cNvPr id="17" name="TextBox 16"/>
          <p:cNvSpPr txBox="1"/>
          <p:nvPr/>
        </p:nvSpPr>
        <p:spPr>
          <a:xfrm>
            <a:off x="5897879" y="3977639"/>
            <a:ext cx="1691640" cy="27432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1 927 ♥ · 04/06</a:t>
            </a:r>
          </a:p>
        </p:txBody>
      </p:sp>
      <p:sp>
        <p:nvSpPr>
          <p:cNvPr id="18" name="TextBox 17"/>
          <p:cNvSpPr txBox="1"/>
          <p:nvPr/>
        </p:nvSpPr>
        <p:spPr>
          <a:xfrm>
            <a:off x="5897879" y="4251960"/>
            <a:ext cx="1691640" cy="548640"/>
          </a:xfrm>
          <a:prstGeom prst="rect">
            <a:avLst/>
          </a:prstGeom>
          <a:noFill/>
        </p:spPr>
        <p:txBody>
          <a:bodyPr wrap="square" lIns="18288" rIns="18288" tIns="18288" bIns="18288" anchor="t">
            <a:spAutoFit/>
          </a:bodyPr>
          <a:lstStyle/>
          <a:p>
            <a:pPr algn="l">
              <a:lnSpc>
                <a:spcPct val="112000"/>
              </a:lnSpc>
            </a:pPr>
            <a:r>
              <a:rPr sz="900" b="0" i="0">
                <a:solidFill>
                  <a:srgbClr val="6E6E73"/>
                </a:solidFill>
                <a:latin typeface="Montserrat"/>
              </a:rPr>
              <a:t>Podcast : rap US contre France</a:t>
            </a:r>
          </a:p>
        </p:txBody>
      </p:sp>
      <p:sp>
        <p:nvSpPr>
          <p:cNvPr id="19" name="TextBox 18"/>
          <p:cNvSpPr txBox="1"/>
          <p:nvPr/>
        </p:nvSpPr>
        <p:spPr>
          <a:xfrm>
            <a:off x="7863840" y="1325880"/>
            <a:ext cx="384048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LES MOINS AIMÉS</a:t>
            </a:r>
          </a:p>
        </p:txBody>
      </p:sp>
      <p:pic>
        <p:nvPicPr>
          <p:cNvPr id="20" name="Picture 19" descr="w0.jpg">
            <a:hlinkClick r:id="rId12"/>
          </p:cNvPr>
          <p:cNvPicPr>
            <a:picLocks noChangeAspect="1"/>
          </p:cNvPicPr>
          <p:nvPr/>
        </p:nvPicPr>
        <p:blipFill>
          <a:blip r:embed="rId11"/>
          <a:stretch>
            <a:fillRect/>
          </a:stretch>
        </p:blipFill>
        <p:spPr>
          <a:xfrm>
            <a:off x="7863840" y="1647177"/>
            <a:ext cx="1188720" cy="1643405"/>
          </a:xfrm>
          <a:prstGeom prst="rect">
            <a:avLst/>
          </a:prstGeom>
        </p:spPr>
      </p:pic>
      <p:sp>
        <p:nvSpPr>
          <p:cNvPr id="21" name="TextBox 20"/>
          <p:cNvSpPr txBox="1"/>
          <p:nvPr/>
        </p:nvSpPr>
        <p:spPr>
          <a:xfrm>
            <a:off x="7863840" y="3337560"/>
            <a:ext cx="123444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16 ♥ · 26/02</a:t>
            </a:r>
          </a:p>
        </p:txBody>
      </p:sp>
      <p:sp>
        <p:nvSpPr>
          <p:cNvPr id="22" name="TextBox 21"/>
          <p:cNvSpPr txBox="1"/>
          <p:nvPr/>
        </p:nvSpPr>
        <p:spPr>
          <a:xfrm>
            <a:off x="7863840" y="3611880"/>
            <a:ext cx="1234440" cy="54864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Podcast : extrait conseil</a:t>
            </a:r>
          </a:p>
        </p:txBody>
      </p:sp>
      <p:pic>
        <p:nvPicPr>
          <p:cNvPr id="23" name="Picture 22" descr="w1.jpg">
            <a:hlinkClick r:id="rId14"/>
          </p:cNvPr>
          <p:cNvPicPr>
            <a:picLocks noChangeAspect="1"/>
          </p:cNvPicPr>
          <p:nvPr/>
        </p:nvPicPr>
        <p:blipFill>
          <a:blip r:embed="rId13"/>
          <a:stretch>
            <a:fillRect/>
          </a:stretch>
        </p:blipFill>
        <p:spPr>
          <a:xfrm>
            <a:off x="9162288" y="1647177"/>
            <a:ext cx="1188720" cy="1643405"/>
          </a:xfrm>
          <a:prstGeom prst="rect">
            <a:avLst/>
          </a:prstGeom>
        </p:spPr>
      </p:pic>
      <p:sp>
        <p:nvSpPr>
          <p:cNvPr id="24" name="TextBox 23"/>
          <p:cNvSpPr txBox="1"/>
          <p:nvPr/>
        </p:nvSpPr>
        <p:spPr>
          <a:xfrm>
            <a:off x="9162288" y="3337560"/>
            <a:ext cx="123444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20 ♥ · 07/07</a:t>
            </a:r>
          </a:p>
        </p:txBody>
      </p:sp>
      <p:sp>
        <p:nvSpPr>
          <p:cNvPr id="25" name="TextBox 24"/>
          <p:cNvSpPr txBox="1"/>
          <p:nvPr/>
        </p:nvSpPr>
        <p:spPr>
          <a:xfrm>
            <a:off x="9162288" y="3611880"/>
            <a:ext cx="1234440" cy="54864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Podcast : levée de fonds</a:t>
            </a:r>
          </a:p>
        </p:txBody>
      </p:sp>
      <p:pic>
        <p:nvPicPr>
          <p:cNvPr id="26" name="Picture 25" descr="w2.jpg">
            <a:hlinkClick r:id="rId16"/>
          </p:cNvPr>
          <p:cNvPicPr>
            <a:picLocks noChangeAspect="1"/>
          </p:cNvPicPr>
          <p:nvPr/>
        </p:nvPicPr>
        <p:blipFill>
          <a:blip r:embed="rId15"/>
          <a:stretch>
            <a:fillRect/>
          </a:stretch>
        </p:blipFill>
        <p:spPr>
          <a:xfrm>
            <a:off x="10460901" y="1645920"/>
            <a:ext cx="1188389" cy="1645920"/>
          </a:xfrm>
          <a:prstGeom prst="rect">
            <a:avLst/>
          </a:prstGeom>
        </p:spPr>
      </p:pic>
      <p:sp>
        <p:nvSpPr>
          <p:cNvPr id="27" name="TextBox 26"/>
          <p:cNvSpPr txBox="1"/>
          <p:nvPr/>
        </p:nvSpPr>
        <p:spPr>
          <a:xfrm>
            <a:off x="10460736" y="3337560"/>
            <a:ext cx="123444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23 ♥ · 06/07</a:t>
            </a:r>
          </a:p>
        </p:txBody>
      </p:sp>
      <p:sp>
        <p:nvSpPr>
          <p:cNvPr id="28" name="TextBox 27"/>
          <p:cNvSpPr txBox="1"/>
          <p:nvPr/>
        </p:nvSpPr>
        <p:spPr>
          <a:xfrm>
            <a:off x="10460736" y="3611880"/>
            <a:ext cx="1234440" cy="54864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Podcast : commerce africain</a:t>
            </a:r>
          </a:p>
        </p:txBody>
      </p:sp>
      <p:sp>
        <p:nvSpPr>
          <p:cNvPr id="29" name="TextBox 28"/>
          <p:cNvSpPr txBox="1"/>
          <p:nvPr/>
        </p:nvSpPr>
        <p:spPr>
          <a:xfrm>
            <a:off x="548640" y="4892040"/>
            <a:ext cx="11064240" cy="109728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En haut : </a:t>
            </a:r>
            <a:r>
              <a:rPr sz="1200">
                <a:solidFill>
                  <a:srgbClr val="1A1A1C"/>
                </a:solidFill>
                <a:latin typeface="Montserrat"/>
              </a:rPr>
              <a:t>un événement réel (WHO), un invité très connu, ou un sujet de culture populaire.</a:t>
            </a:r>
          </a:p>
          <a:p>
            <a:pPr>
              <a:lnSpc>
                <a:spcPct val="110000"/>
              </a:lnSpc>
              <a:spcAft>
                <a:spcPts val="1008"/>
              </a:spcAft>
            </a:pPr>
            <a:r>
              <a:rPr sz="900">
                <a:solidFill>
                  <a:srgbClr val="141414"/>
                </a:solidFill>
                <a:latin typeface="Montserrat"/>
              </a:rPr>
              <a:t>■  </a:t>
            </a:r>
            <a:r>
              <a:rPr b="1" sz="1200">
                <a:solidFill>
                  <a:srgbClr val="141414"/>
                </a:solidFill>
                <a:latin typeface="Montserrat"/>
              </a:rPr>
              <a:t>En bas : </a:t>
            </a:r>
            <a:r>
              <a:rPr sz="1200">
                <a:solidFill>
                  <a:srgbClr val="1A1A1C"/>
                </a:solidFill>
                <a:latin typeface="Montserrat"/>
              </a:rPr>
              <a:t>les extraits de conseil du podcast avec « Commentez tel mot pour recevoir le lien » : 18 publications de ce type, 62,5 J'aime en médiane, soit moins que l'ensemble (88).</a:t>
            </a:r>
          </a:p>
        </p:txBody>
      </p:sp>
      <p:sp>
        <p:nvSpPr>
          <p:cNvPr id="30" name="TextBox 29"/>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Cliquer sur une image ouvre la publication. Les J'aime de deux publications sont masqués par leur auteur et exclus des médianes.</a:t>
            </a:r>
          </a:p>
        </p:txBody>
      </p:sp>
      <p:sp>
        <p:nvSpPr>
          <p:cNvPr id="31" name="TextBox 30"/>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32" name="TextBox 31"/>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19 / 42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INSTAGRAM · LES COMPTES QU'IL ANIME</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 podcast et ADICOM font sa régularité, pas sa marque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graphicFrame>
        <p:nvGraphicFramePr>
          <p:cNvPr id="6" name="Table 5"/>
          <p:cNvGraphicFramePr>
            <a:graphicFrameLocks noGrp="1"/>
          </p:cNvGraphicFramePr>
          <p:nvPr/>
        </p:nvGraphicFramePr>
        <p:xfrm>
          <a:off x="548640" y="1463040"/>
          <a:ext cx="7223760" cy="2514600"/>
        </p:xfrm>
        <a:graphic>
          <a:graphicData uri="http://schemas.openxmlformats.org/drawingml/2006/table">
            <a:tbl>
              <a:tblPr firstRow="1" bandRow="1">
                <a:tableStyleId>{5C22544A-7EE6-4342-B048-85BDC9FD1C3A}</a:tableStyleId>
              </a:tblPr>
              <a:tblGrid>
                <a:gridCol w="3200400"/>
                <a:gridCol w="1188720"/>
                <a:gridCol w="1554480"/>
                <a:gridCol w="1280160"/>
              </a:tblGrid>
              <a:tr h="502920">
                <a:tc>
                  <a:txBody>
                    <a:bodyPr wrap="square"/>
                    <a:lstStyle/>
                    <a:p>
                      <a:pPr algn="l"/>
                      <a:r>
                        <a:rPr sz="1100" b="1">
                          <a:solidFill>
                            <a:srgbClr val="FFFFFF"/>
                          </a:solidFill>
                          <a:latin typeface="Montserrat"/>
                        </a:rPr>
                        <a:t>Compte</a:t>
                      </a:r>
                    </a:p>
                  </a:txBody>
                  <a:tcPr marL="73152" marR="73152" marT="27432" marB="27432" anchor="ctr">
                    <a:solidFill>
                      <a:srgbClr val="141414"/>
                    </a:solidFill>
                  </a:tcPr>
                </a:tc>
                <a:tc>
                  <a:txBody>
                    <a:bodyPr wrap="square"/>
                    <a:lstStyle/>
                    <a:p>
                      <a:pPr algn="ctr"/>
                      <a:r>
                        <a:rPr sz="1100" b="1">
                          <a:solidFill>
                            <a:srgbClr val="FFFFFF"/>
                          </a:solidFill>
                          <a:latin typeface="Montserrat"/>
                        </a:rPr>
                        <a:t>Abonnés</a:t>
                      </a:r>
                    </a:p>
                  </a:txBody>
                  <a:tcPr marL="73152" marR="73152" marT="27432" marB="27432" anchor="ctr">
                    <a:solidFill>
                      <a:srgbClr val="141414"/>
                    </a:solidFill>
                  </a:tcPr>
                </a:tc>
                <a:tc>
                  <a:txBody>
                    <a:bodyPr wrap="square"/>
                    <a:lstStyle/>
                    <a:p>
                      <a:pPr algn="ctr"/>
                      <a:r>
                        <a:rPr sz="1100" b="1">
                          <a:solidFill>
                            <a:srgbClr val="FFFFFF"/>
                          </a:solidFill>
                          <a:latin typeface="Montserrat"/>
                        </a:rPr>
                        <a:t>Publications avec lui</a:t>
                      </a:r>
                    </a:p>
                  </a:txBody>
                  <a:tcPr marL="73152" marR="73152" marT="27432" marB="27432" anchor="ctr">
                    <a:solidFill>
                      <a:srgbClr val="141414"/>
                    </a:solidFill>
                  </a:tcPr>
                </a:tc>
                <a:tc>
                  <a:txBody>
                    <a:bodyPr wrap="square"/>
                    <a:lstStyle/>
                    <a:p>
                      <a:pPr algn="ctr"/>
                      <a:r>
                        <a:rPr sz="1100" b="1">
                          <a:solidFill>
                            <a:srgbClr val="FFFFFF"/>
                          </a:solidFill>
                          <a:latin typeface="Montserrat"/>
                        </a:rPr>
                        <a:t>J'aime médians</a:t>
                      </a:r>
                    </a:p>
                  </a:txBody>
                  <a:tcPr marL="73152" marR="73152" marT="27432" marB="27432" anchor="ctr">
                    <a:solidFill>
                      <a:srgbClr val="141414"/>
                    </a:solidFill>
                  </a:tcPr>
                </a:tc>
              </a:tr>
              <a:tr h="502920">
                <a:tc>
                  <a:txBody>
                    <a:bodyPr wrap="square"/>
                    <a:lstStyle/>
                    <a:p>
                      <a:pPr algn="l"/>
                      <a:r>
                        <a:rPr sz="1100" b="0">
                          <a:solidFill>
                            <a:srgbClr val="141414"/>
                          </a:solidFill>
                          <a:latin typeface="Montserrat"/>
                        </a:rPr>
                        <a:t>@entrepreneurstateofafrica (podcast)</a:t>
                      </a:r>
                    </a:p>
                  </a:txBody>
                  <a:tcPr marL="73152" marR="73152" marT="27432" marB="27432" anchor="ctr">
                    <a:solidFill>
                      <a:srgbClr val="FFFFFF"/>
                    </a:solidFill>
                  </a:tcPr>
                </a:tc>
                <a:tc>
                  <a:txBody>
                    <a:bodyPr wrap="square"/>
                    <a:lstStyle/>
                    <a:p>
                      <a:pPr algn="ctr"/>
                      <a:r>
                        <a:rPr sz="1100" b="0">
                          <a:solidFill>
                            <a:srgbClr val="141414"/>
                          </a:solidFill>
                          <a:latin typeface="Montserrat"/>
                        </a:rPr>
                        <a:t>63 104</a:t>
                      </a:r>
                    </a:p>
                  </a:txBody>
                  <a:tcPr marL="73152" marR="73152" marT="27432" marB="27432" anchor="ctr">
                    <a:solidFill>
                      <a:srgbClr val="FFFFFF"/>
                    </a:solidFill>
                  </a:tcPr>
                </a:tc>
                <a:tc>
                  <a:txBody>
                    <a:bodyPr wrap="square"/>
                    <a:lstStyle/>
                    <a:p>
                      <a:pPr algn="ctr"/>
                      <a:r>
                        <a:rPr sz="1100" b="0">
                          <a:solidFill>
                            <a:srgbClr val="141414"/>
                          </a:solidFill>
                          <a:latin typeface="Montserrat"/>
                        </a:rPr>
                        <a:t>30</a:t>
                      </a:r>
                    </a:p>
                  </a:txBody>
                  <a:tcPr marL="73152" marR="73152" marT="27432" marB="27432" anchor="ctr">
                    <a:solidFill>
                      <a:srgbClr val="FFFFFF"/>
                    </a:solidFill>
                  </a:tcPr>
                </a:tc>
                <a:tc>
                  <a:txBody>
                    <a:bodyPr wrap="square"/>
                    <a:lstStyle/>
                    <a:p>
                      <a:pPr algn="ctr"/>
                      <a:r>
                        <a:rPr sz="1100" b="0">
                          <a:solidFill>
                            <a:srgbClr val="141414"/>
                          </a:solidFill>
                          <a:latin typeface="Montserrat"/>
                        </a:rPr>
                        <a:t>75,5</a:t>
                      </a:r>
                    </a:p>
                  </a:txBody>
                  <a:tcPr marL="73152" marR="73152" marT="27432" marB="27432" anchor="ctr">
                    <a:solidFill>
                      <a:srgbClr val="FFFFFF"/>
                    </a:solidFill>
                  </a:tcPr>
                </a:tc>
              </a:tr>
              <a:tr h="502920">
                <a:tc>
                  <a:txBody>
                    <a:bodyPr wrap="square"/>
                    <a:lstStyle/>
                    <a:p>
                      <a:pPr algn="l"/>
                      <a:r>
                        <a:rPr sz="1100" b="0">
                          <a:solidFill>
                            <a:srgbClr val="141414"/>
                          </a:solidFill>
                          <a:latin typeface="Montserrat"/>
                        </a:rPr>
                        <a:t>@adicomfamily (ADICOM Days)</a:t>
                      </a:r>
                    </a:p>
                  </a:txBody>
                  <a:tcPr marL="73152" marR="73152" marT="27432" marB="27432" anchor="ctr">
                    <a:solidFill>
                      <a:srgbClr val="FAFAF6"/>
                    </a:solidFill>
                  </a:tcPr>
                </a:tc>
                <a:tc>
                  <a:txBody>
                    <a:bodyPr wrap="square"/>
                    <a:lstStyle/>
                    <a:p>
                      <a:pPr algn="ctr"/>
                      <a:r>
                        <a:rPr sz="1100" b="0">
                          <a:solidFill>
                            <a:srgbClr val="141414"/>
                          </a:solidFill>
                          <a:latin typeface="Montserrat"/>
                        </a:rPr>
                        <a:t>15 164</a:t>
                      </a:r>
                    </a:p>
                  </a:txBody>
                  <a:tcPr marL="73152" marR="73152" marT="27432" marB="27432" anchor="ctr">
                    <a:solidFill>
                      <a:srgbClr val="FAFAF6"/>
                    </a:solidFill>
                  </a:tcPr>
                </a:tc>
                <a:tc>
                  <a:txBody>
                    <a:bodyPr wrap="square"/>
                    <a:lstStyle/>
                    <a:p>
                      <a:pPr algn="ctr"/>
                      <a:r>
                        <a:rPr sz="1100" b="0">
                          <a:solidFill>
                            <a:srgbClr val="141414"/>
                          </a:solidFill>
                          <a:latin typeface="Montserrat"/>
                        </a:rPr>
                        <a:t>21</a:t>
                      </a:r>
                    </a:p>
                  </a:txBody>
                  <a:tcPr marL="73152" marR="73152" marT="27432" marB="27432" anchor="ctr">
                    <a:solidFill>
                      <a:srgbClr val="FAFAF6"/>
                    </a:solidFill>
                  </a:tcPr>
                </a:tc>
                <a:tc>
                  <a:txBody>
                    <a:bodyPr wrap="square"/>
                    <a:lstStyle/>
                    <a:p>
                      <a:pPr algn="ctr"/>
                      <a:r>
                        <a:rPr sz="1100" b="0">
                          <a:solidFill>
                            <a:srgbClr val="141414"/>
                          </a:solidFill>
                          <a:latin typeface="Montserrat"/>
                        </a:rPr>
                        <a:t>69</a:t>
                      </a:r>
                    </a:p>
                  </a:txBody>
                  <a:tcPr marL="73152" marR="73152" marT="27432" marB="27432" anchor="ctr">
                    <a:solidFill>
                      <a:srgbClr val="FAFAF6"/>
                    </a:solidFill>
                  </a:tcPr>
                </a:tc>
              </a:tr>
              <a:tr h="502920">
                <a:tc>
                  <a:txBody>
                    <a:bodyPr wrap="square"/>
                    <a:lstStyle/>
                    <a:p>
                      <a:pPr algn="l"/>
                      <a:r>
                        <a:rPr sz="1100" b="0">
                          <a:solidFill>
                            <a:srgbClr val="141414"/>
                          </a:solidFill>
                          <a:latin typeface="Montserrat"/>
                        </a:rPr>
                        <a:t>@totemexperience (agence)</a:t>
                      </a:r>
                    </a:p>
                  </a:txBody>
                  <a:tcPr marL="73152" marR="73152" marT="27432" marB="27432" anchor="ctr">
                    <a:solidFill>
                      <a:srgbClr val="FFFFFF"/>
                    </a:solidFill>
                  </a:tcPr>
                </a:tc>
                <a:tc>
                  <a:txBody>
                    <a:bodyPr wrap="square"/>
                    <a:lstStyle/>
                    <a:p>
                      <a:pPr algn="ctr"/>
                      <a:r>
                        <a:rPr sz="1100" b="0">
                          <a:solidFill>
                            <a:srgbClr val="141414"/>
                          </a:solidFill>
                          <a:latin typeface="Montserrat"/>
                        </a:rPr>
                        <a:t>5 491</a:t>
                      </a:r>
                    </a:p>
                  </a:txBody>
                  <a:tcPr marL="73152" marR="73152" marT="27432" marB="27432" anchor="ctr">
                    <a:solidFill>
                      <a:srgbClr val="FFFFFF"/>
                    </a:solidFill>
                  </a:tcPr>
                </a:tc>
                <a:tc>
                  <a:txBody>
                    <a:bodyPr wrap="square"/>
                    <a:lstStyle/>
                    <a:p>
                      <a:pPr algn="ctr"/>
                      <a:r>
                        <a:rPr sz="1100" b="0">
                          <a:solidFill>
                            <a:srgbClr val="141414"/>
                          </a:solidFill>
                          <a:latin typeface="Montserrat"/>
                        </a:rPr>
                        <a:t>3</a:t>
                      </a:r>
                    </a:p>
                  </a:txBody>
                  <a:tcPr marL="73152" marR="73152" marT="27432" marB="27432" anchor="ctr">
                    <a:solidFill>
                      <a:srgbClr val="FFFFFF"/>
                    </a:solidFill>
                  </a:tcPr>
                </a:tc>
                <a:tc>
                  <a:txBody>
                    <a:bodyPr wrap="square"/>
                    <a:lstStyle/>
                    <a:p>
                      <a:pPr algn="ctr"/>
                      <a:r>
                        <a:rPr sz="1100" b="0">
                          <a:solidFill>
                            <a:srgbClr val="141414"/>
                          </a:solidFill>
                          <a:latin typeface="Montserrat"/>
                        </a:rPr>
                        <a:t>762</a:t>
                      </a:r>
                    </a:p>
                  </a:txBody>
                  <a:tcPr marL="73152" marR="73152" marT="27432" marB="27432" anchor="ctr">
                    <a:solidFill>
                      <a:srgbClr val="FFFFFF"/>
                    </a:solidFill>
                  </a:tcPr>
                </a:tc>
              </a:tr>
              <a:tr h="502920">
                <a:tc>
                  <a:txBody>
                    <a:bodyPr wrap="square"/>
                    <a:lstStyle/>
                    <a:p>
                      <a:pPr algn="l"/>
                      <a:r>
                        <a:rPr sz="1100" b="1">
                          <a:solidFill>
                            <a:srgbClr val="141414"/>
                          </a:solidFill>
                          <a:latin typeface="Montserrat"/>
                        </a:rPr>
                        <a:t>@kahindula61 (son compte seul)</a:t>
                      </a:r>
                    </a:p>
                  </a:txBody>
                  <a:tcPr marL="73152" marR="73152" marT="27432" marB="27432" anchor="ctr">
                    <a:solidFill>
                      <a:srgbClr val="B6D401"/>
                    </a:solidFill>
                  </a:tcPr>
                </a:tc>
                <a:tc>
                  <a:txBody>
                    <a:bodyPr wrap="square"/>
                    <a:lstStyle/>
                    <a:p>
                      <a:pPr algn="ctr"/>
                      <a:r>
                        <a:rPr sz="1100" b="0">
                          <a:solidFill>
                            <a:srgbClr val="141414"/>
                          </a:solidFill>
                          <a:latin typeface="Montserrat"/>
                        </a:rPr>
                        <a:t>17 648</a:t>
                      </a:r>
                    </a:p>
                  </a:txBody>
                  <a:tcPr marL="73152" marR="73152" marT="27432" marB="27432" anchor="ctr">
                    <a:solidFill>
                      <a:srgbClr val="B6D401"/>
                    </a:solidFill>
                  </a:tcPr>
                </a:tc>
                <a:tc>
                  <a:txBody>
                    <a:bodyPr wrap="square"/>
                    <a:lstStyle/>
                    <a:p>
                      <a:pPr algn="ctr"/>
                      <a:r>
                        <a:rPr sz="1100" b="0">
                          <a:solidFill>
                            <a:srgbClr val="141414"/>
                          </a:solidFill>
                          <a:latin typeface="Montserrat"/>
                        </a:rPr>
                        <a:t>6</a:t>
                      </a:r>
                    </a:p>
                  </a:txBody>
                  <a:tcPr marL="73152" marR="73152" marT="27432" marB="27432" anchor="ctr">
                    <a:solidFill>
                      <a:srgbClr val="B6D401"/>
                    </a:solidFill>
                  </a:tcPr>
                </a:tc>
                <a:tc>
                  <a:txBody>
                    <a:bodyPr wrap="square"/>
                    <a:lstStyle/>
                    <a:p>
                      <a:pPr algn="ctr"/>
                      <a:r>
                        <a:rPr sz="1100" b="0">
                          <a:solidFill>
                            <a:srgbClr val="141414"/>
                          </a:solidFill>
                          <a:latin typeface="Montserrat"/>
                        </a:rPr>
                        <a:t>200</a:t>
                      </a:r>
                    </a:p>
                  </a:txBody>
                  <a:tcPr marL="73152" marR="73152" marT="27432" marB="27432" anchor="ctr">
                    <a:solidFill>
                      <a:srgbClr val="B6D401"/>
                    </a:solidFill>
                  </a:tcPr>
                </a:tc>
              </a:tr>
            </a:tbl>
          </a:graphicData>
        </a:graphic>
      </p:graphicFrame>
      <p:sp>
        <p:nvSpPr>
          <p:cNvPr id="7" name="TextBox 6"/>
          <p:cNvSpPr txBox="1"/>
          <p:nvPr/>
        </p:nvSpPr>
        <p:spPr>
          <a:xfrm>
            <a:off x="8138160" y="1417320"/>
            <a:ext cx="3520440" cy="457200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Le podcast est son actif le plus fort : </a:t>
            </a:r>
            <a:r>
              <a:rPr sz="1200">
                <a:solidFill>
                  <a:srgbClr val="1A1A1C"/>
                </a:solidFill>
                <a:latin typeface="Montserrat"/>
              </a:rPr>
              <a:t>63 104 abonnés, plus de 400 000 écoutes par mois selon le groupe. Sur Instagram, il y apparaît comme coanimateur.</a:t>
            </a:r>
          </a:p>
          <a:p>
            <a:pPr>
              <a:lnSpc>
                <a:spcPct val="110000"/>
              </a:lnSpc>
              <a:spcAft>
                <a:spcPts val="1008"/>
              </a:spcAft>
            </a:pPr>
            <a:r>
              <a:rPr sz="900">
                <a:solidFill>
                  <a:srgbClr val="141414"/>
                </a:solidFill>
                <a:latin typeface="Montserrat"/>
              </a:rPr>
              <a:t>■  </a:t>
            </a:r>
            <a:r>
              <a:rPr b="1" sz="1200">
                <a:solidFill>
                  <a:srgbClr val="141414"/>
                </a:solidFill>
                <a:latin typeface="Montserrat"/>
              </a:rPr>
              <a:t>Mais sur son propre compte, </a:t>
            </a:r>
            <a:r>
              <a:rPr sz="1200">
                <a:solidFill>
                  <a:srgbClr val="1A1A1C"/>
                </a:solidFill>
                <a:latin typeface="Montserrat"/>
              </a:rPr>
              <a:t>rien ne relie ces extraits à son point de vue. Il est un des deux visages, jamais l'auteur.</a:t>
            </a:r>
          </a:p>
          <a:p>
            <a:pPr>
              <a:lnSpc>
                <a:spcPct val="110000"/>
              </a:lnSpc>
              <a:spcAft>
                <a:spcPts val="1008"/>
              </a:spcAft>
            </a:pPr>
            <a:r>
              <a:rPr sz="900">
                <a:solidFill>
                  <a:srgbClr val="141414"/>
                </a:solidFill>
                <a:latin typeface="Montserrat"/>
              </a:rPr>
              <a:t>■  </a:t>
            </a:r>
            <a:r>
              <a:rPr b="1" sz="1200">
                <a:solidFill>
                  <a:srgbClr val="141414"/>
                </a:solidFill>
                <a:latin typeface="Montserrat"/>
              </a:rPr>
              <a:t>Totem est quasi absent : </a:t>
            </a:r>
            <a:r>
              <a:rPr sz="1200">
                <a:solidFill>
                  <a:srgbClr val="1A1A1C"/>
                </a:solidFill>
                <a:latin typeface="Montserrat"/>
              </a:rPr>
              <a:t>3 publications en dix mois sur la page de son agence, toutes sur WHO ou le recrutement.</a:t>
            </a:r>
          </a:p>
        </p:txBody>
      </p:sp>
      <p:sp>
        <p:nvSpPr>
          <p:cNvPr id="8" name="TextBox 7"/>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Abonnés relevés le 24/10/2026. « Publications avec lui » : présentes sur sa grille, du 01/01 au 03/10/2026. Écoutes du podcast : chiffre publié par Totem en juillet 2026, non vérifiable de l'extérieur.</a:t>
            </a:r>
          </a:p>
        </p:txBody>
      </p:sp>
      <p:sp>
        <p:nvSpPr>
          <p:cNvPr id="9" name="TextBox 8"/>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0" name="TextBox 9"/>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20 / 42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sec4.jpg"/>
          <p:cNvPicPr>
            <a:picLocks noChangeAspect="1"/>
          </p:cNvPicPr>
          <p:nvPr/>
        </p:nvPicPr>
        <p:blipFill>
          <a:blip r:embed="rId2"/>
          <a:stretch>
            <a:fillRect/>
          </a:stretch>
        </p:blipFill>
        <p:spPr>
          <a:xfrm>
            <a:off x="6702552" y="0"/>
            <a:ext cx="5486400" cy="68580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0" cy="1463040"/>
          </a:xfrm>
          <a:prstGeom prst="rect">
            <a:avLst/>
          </a:prstGeom>
          <a:noFill/>
        </p:spPr>
        <p:txBody>
          <a:bodyPr wrap="square" lIns="18288" rIns="18288" tIns="18288" bIns="18288" anchor="t">
            <a:spAutoFit/>
          </a:bodyPr>
          <a:lstStyle/>
          <a:p>
            <a:pPr algn="l">
              <a:lnSpc>
                <a:spcPct val="112000"/>
              </a:lnSpc>
            </a:pPr>
            <a:r>
              <a:rPr sz="9600" b="1" i="0">
                <a:solidFill>
                  <a:srgbClr val="B6D401"/>
                </a:solidFill>
                <a:latin typeface="Montserrat"/>
              </a:rPr>
              <a:t>04</a:t>
            </a:r>
          </a:p>
        </p:txBody>
      </p:sp>
      <p:sp>
        <p:nvSpPr>
          <p:cNvPr id="5" name="TextBox 4"/>
          <p:cNvSpPr txBox="1"/>
          <p:nvPr/>
        </p:nvSpPr>
        <p:spPr>
          <a:xfrm>
            <a:off x="731520" y="3063240"/>
            <a:ext cx="5669280" cy="914400"/>
          </a:xfrm>
          <a:prstGeom prst="rect">
            <a:avLst/>
          </a:prstGeom>
          <a:noFill/>
        </p:spPr>
        <p:txBody>
          <a:bodyPr wrap="square" lIns="18288" rIns="18288" tIns="18288" bIns="18288" anchor="t">
            <a:spAutoFit/>
          </a:bodyPr>
          <a:lstStyle/>
          <a:p>
            <a:pPr algn="l">
              <a:lnSpc>
                <a:spcPct val="112000"/>
              </a:lnSpc>
            </a:pPr>
            <a:r>
              <a:rPr sz="4000" b="1" i="0">
                <a:solidFill>
                  <a:srgbClr val="FFFFFF"/>
                </a:solidFill>
                <a:latin typeface="Montserrat"/>
              </a:rPr>
              <a:t>Veille</a:t>
            </a:r>
          </a:p>
        </p:txBody>
      </p:sp>
      <p:sp>
        <p:nvSpPr>
          <p:cNvPr id="6" name="TextBox 5"/>
          <p:cNvSpPr txBox="1"/>
          <p:nvPr/>
        </p:nvSpPr>
        <p:spPr>
          <a:xfrm>
            <a:off x="731520" y="4069080"/>
            <a:ext cx="5486400" cy="128016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Six voix comparables d'Abidjan et du digital africain, observées sur LinkedIn depuis janvier.</a:t>
            </a:r>
          </a:p>
        </p:txBody>
      </p:sp>
      <p:pic>
        <p:nvPicPr>
          <p:cNvPr id="7" name="Picture 6" descr="logo.png"/>
          <p:cNvPicPr>
            <a:picLocks noChangeAspect="1"/>
          </p:cNvPicPr>
          <p:nvPr/>
        </p:nvPicPr>
        <p:blipFill>
          <a:blip r:embed="rId3"/>
          <a:stretch>
            <a:fillRect/>
          </a:stretch>
        </p:blipFill>
        <p:spPr>
          <a:xfrm>
            <a:off x="731520" y="5897880"/>
            <a:ext cx="1092631" cy="548640"/>
          </a:xfrm>
          <a:prstGeom prst="rect">
            <a:avLst/>
          </a:prstGeom>
        </p:spPr>
      </p:pic>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21 / 42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VEILLE · LINKEDIN, 1ER JANVIER AU 24 OCTOBRE 2026</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Kahi parmi six voix comparables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graphicFrame>
        <p:nvGraphicFramePr>
          <p:cNvPr id="6" name="Table 5"/>
          <p:cNvGraphicFramePr>
            <a:graphicFrameLocks noGrp="1"/>
          </p:cNvGraphicFramePr>
          <p:nvPr/>
        </p:nvGraphicFramePr>
        <p:xfrm>
          <a:off x="548640" y="1417320"/>
          <a:ext cx="11064240" cy="3657600"/>
        </p:xfrm>
        <a:graphic>
          <a:graphicData uri="http://schemas.openxmlformats.org/drawingml/2006/table">
            <a:tbl>
              <a:tblPr firstRow="1" bandRow="1">
                <a:tableStyleId>{5C22544A-7EE6-4342-B048-85BDC9FD1C3A}</a:tableStyleId>
              </a:tblPr>
              <a:tblGrid>
                <a:gridCol w="4023360"/>
                <a:gridCol w="1280160"/>
                <a:gridCol w="1005840"/>
                <a:gridCol w="1463040"/>
                <a:gridCol w="1691640"/>
                <a:gridCol w="1600200"/>
              </a:tblGrid>
              <a:tr h="457200">
                <a:tc>
                  <a:txBody>
                    <a:bodyPr wrap="square"/>
                    <a:lstStyle/>
                    <a:p>
                      <a:pPr algn="l"/>
                      <a:r>
                        <a:rPr sz="1100" b="1">
                          <a:solidFill>
                            <a:srgbClr val="FFFFFF"/>
                          </a:solidFill>
                          <a:latin typeface="Montserrat"/>
                        </a:rPr>
                        <a:t>Profil</a:t>
                      </a:r>
                    </a:p>
                  </a:txBody>
                  <a:tcPr marL="73152" marR="73152" marT="27432" marB="27432" anchor="ctr">
                    <a:solidFill>
                      <a:srgbClr val="141414"/>
                    </a:solidFill>
                  </a:tcPr>
                </a:tc>
                <a:tc>
                  <a:txBody>
                    <a:bodyPr wrap="square"/>
                    <a:lstStyle/>
                    <a:p>
                      <a:pPr algn="ctr"/>
                      <a:r>
                        <a:rPr sz="1100" b="1">
                          <a:solidFill>
                            <a:srgbClr val="FFFFFF"/>
                          </a:solidFill>
                          <a:latin typeface="Montserrat"/>
                        </a:rPr>
                        <a:t>Abonnés</a:t>
                      </a:r>
                    </a:p>
                  </a:txBody>
                  <a:tcPr marL="73152" marR="73152" marT="27432" marB="27432" anchor="ctr">
                    <a:solidFill>
                      <a:srgbClr val="141414"/>
                    </a:solidFill>
                  </a:tcPr>
                </a:tc>
                <a:tc>
                  <a:txBody>
                    <a:bodyPr wrap="square"/>
                    <a:lstStyle/>
                    <a:p>
                      <a:pPr algn="ctr"/>
                      <a:r>
                        <a:rPr sz="1100" b="1">
                          <a:solidFill>
                            <a:srgbClr val="FFFFFF"/>
                          </a:solidFill>
                          <a:latin typeface="Montserrat"/>
                        </a:rPr>
                        <a:t>Posts</a:t>
                      </a:r>
                    </a:p>
                  </a:txBody>
                  <a:tcPr marL="73152" marR="73152" marT="27432" marB="27432" anchor="ctr">
                    <a:solidFill>
                      <a:srgbClr val="141414"/>
                    </a:solidFill>
                  </a:tcPr>
                </a:tc>
                <a:tc>
                  <a:txBody>
                    <a:bodyPr wrap="square"/>
                    <a:lstStyle/>
                    <a:p>
                      <a:pPr algn="ctr"/>
                      <a:r>
                        <a:rPr sz="1100" b="1">
                          <a:solidFill>
                            <a:srgbClr val="FFFFFF"/>
                          </a:solidFill>
                          <a:latin typeface="Montserrat"/>
                        </a:rPr>
                        <a:t>Posts par semaine</a:t>
                      </a:r>
                    </a:p>
                  </a:txBody>
                  <a:tcPr marL="73152" marR="73152" marT="27432" marB="27432" anchor="ctr">
                    <a:solidFill>
                      <a:srgbClr val="141414"/>
                    </a:solidFill>
                  </a:tcPr>
                </a:tc>
                <a:tc>
                  <a:txBody>
                    <a:bodyPr wrap="square"/>
                    <a:lstStyle/>
                    <a:p>
                      <a:pPr algn="ctr"/>
                      <a:r>
                        <a:rPr sz="1100" b="1">
                          <a:solidFill>
                            <a:srgbClr val="FFFFFF"/>
                          </a:solidFill>
                          <a:latin typeface="Montserrat"/>
                        </a:rPr>
                        <a:t>Interactions médianes</a:t>
                      </a:r>
                    </a:p>
                  </a:txBody>
                  <a:tcPr marL="73152" marR="73152" marT="27432" marB="27432" anchor="ctr">
                    <a:solidFill>
                      <a:srgbClr val="141414"/>
                    </a:solidFill>
                  </a:tcPr>
                </a:tc>
                <a:tc>
                  <a:txBody>
                    <a:bodyPr wrap="square"/>
                    <a:lstStyle/>
                    <a:p>
                      <a:pPr algn="ctr"/>
                      <a:r>
                        <a:rPr sz="1100" b="1">
                          <a:solidFill>
                            <a:srgbClr val="FFFFFF"/>
                          </a:solidFill>
                          <a:latin typeface="Montserrat"/>
                        </a:rPr>
                        <a:t>Commentaires médians</a:t>
                      </a:r>
                    </a:p>
                  </a:txBody>
                  <a:tcPr marL="73152" marR="73152" marT="27432" marB="27432" anchor="ctr">
                    <a:solidFill>
                      <a:srgbClr val="141414"/>
                    </a:solidFill>
                  </a:tcPr>
                </a:tc>
              </a:tr>
              <a:tr h="457200">
                <a:tc>
                  <a:txBody>
                    <a:bodyPr wrap="square"/>
                    <a:lstStyle/>
                    <a:p>
                      <a:pPr algn="l"/>
                      <a:r>
                        <a:rPr sz="1100" b="0">
                          <a:solidFill>
                            <a:srgbClr val="141414"/>
                          </a:solidFill>
                          <a:latin typeface="Montserrat"/>
                        </a:rPr>
                        <a:t>Nabou Fall · Conférencière, coach</a:t>
                      </a:r>
                    </a:p>
                  </a:txBody>
                  <a:tcPr marL="73152" marR="73152" marT="27432" marB="27432" anchor="ctr">
                    <a:solidFill>
                      <a:srgbClr val="FFFFFF"/>
                    </a:solidFill>
                  </a:tcPr>
                </a:tc>
                <a:tc>
                  <a:txBody>
                    <a:bodyPr wrap="square"/>
                    <a:lstStyle/>
                    <a:p>
                      <a:pPr algn="ctr"/>
                      <a:r>
                        <a:rPr sz="1100" b="0">
                          <a:solidFill>
                            <a:srgbClr val="141414"/>
                          </a:solidFill>
                          <a:latin typeface="Montserrat"/>
                        </a:rPr>
                        <a:t>108 652</a:t>
                      </a:r>
                    </a:p>
                  </a:txBody>
                  <a:tcPr marL="73152" marR="73152" marT="27432" marB="27432" anchor="ctr">
                    <a:solidFill>
                      <a:srgbClr val="FFFFFF"/>
                    </a:solidFill>
                  </a:tcPr>
                </a:tc>
                <a:tc>
                  <a:txBody>
                    <a:bodyPr wrap="square"/>
                    <a:lstStyle/>
                    <a:p>
                      <a:pPr algn="ctr"/>
                      <a:r>
                        <a:rPr sz="1100" b="0">
                          <a:solidFill>
                            <a:srgbClr val="141414"/>
                          </a:solidFill>
                          <a:latin typeface="Montserrat"/>
                        </a:rPr>
                        <a:t>49</a:t>
                      </a:r>
                    </a:p>
                  </a:txBody>
                  <a:tcPr marL="73152" marR="73152" marT="27432" marB="27432" anchor="ctr">
                    <a:solidFill>
                      <a:srgbClr val="FFFFFF"/>
                    </a:solidFill>
                  </a:tcPr>
                </a:tc>
                <a:tc>
                  <a:txBody>
                    <a:bodyPr wrap="square"/>
                    <a:lstStyle/>
                    <a:p>
                      <a:pPr algn="ctr"/>
                      <a:r>
                        <a:rPr sz="1100" b="0">
                          <a:solidFill>
                            <a:srgbClr val="141414"/>
                          </a:solidFill>
                          <a:latin typeface="Montserrat"/>
                        </a:rPr>
                        <a:t>1,2</a:t>
                      </a:r>
                    </a:p>
                  </a:txBody>
                  <a:tcPr marL="73152" marR="73152" marT="27432" marB="27432" anchor="ctr">
                    <a:solidFill>
                      <a:srgbClr val="FFFFFF"/>
                    </a:solidFill>
                  </a:tcPr>
                </a:tc>
                <a:tc>
                  <a:txBody>
                    <a:bodyPr wrap="square"/>
                    <a:lstStyle/>
                    <a:p>
                      <a:pPr algn="ctr"/>
                      <a:r>
                        <a:rPr sz="1100" b="0">
                          <a:solidFill>
                            <a:srgbClr val="141414"/>
                          </a:solidFill>
                          <a:latin typeface="Montserrat"/>
                        </a:rPr>
                        <a:t>264</a:t>
                      </a:r>
                    </a:p>
                  </a:txBody>
                  <a:tcPr marL="73152" marR="73152" marT="27432" marB="27432" anchor="ctr">
                    <a:solidFill>
                      <a:srgbClr val="FFFFFF"/>
                    </a:solidFill>
                  </a:tcPr>
                </a:tc>
                <a:tc>
                  <a:txBody>
                    <a:bodyPr wrap="square"/>
                    <a:lstStyle/>
                    <a:p>
                      <a:pPr algn="ctr"/>
                      <a:r>
                        <a:rPr sz="1100" b="0">
                          <a:solidFill>
                            <a:srgbClr val="141414"/>
                          </a:solidFill>
                          <a:latin typeface="Montserrat"/>
                        </a:rPr>
                        <a:t>14</a:t>
                      </a:r>
                    </a:p>
                  </a:txBody>
                  <a:tcPr marL="73152" marR="73152" marT="27432" marB="27432" anchor="ctr">
                    <a:solidFill>
                      <a:srgbClr val="FFFFFF"/>
                    </a:solidFill>
                  </a:tcPr>
                </a:tc>
              </a:tr>
              <a:tr h="457200">
                <a:tc>
                  <a:txBody>
                    <a:bodyPr wrap="square"/>
                    <a:lstStyle/>
                    <a:p>
                      <a:pPr algn="l"/>
                      <a:r>
                        <a:rPr sz="1100" b="0">
                          <a:solidFill>
                            <a:srgbClr val="141414"/>
                          </a:solidFill>
                          <a:latin typeface="Montserrat"/>
                        </a:rPr>
                        <a:t>Edith Brou Bleu · Média, entrepreneure</a:t>
                      </a:r>
                    </a:p>
                  </a:txBody>
                  <a:tcPr marL="73152" marR="73152" marT="27432" marB="27432" anchor="ctr">
                    <a:solidFill>
                      <a:srgbClr val="FAFAF6"/>
                    </a:solidFill>
                  </a:tcPr>
                </a:tc>
                <a:tc>
                  <a:txBody>
                    <a:bodyPr wrap="square"/>
                    <a:lstStyle/>
                    <a:p>
                      <a:pPr algn="ctr"/>
                      <a:r>
                        <a:rPr sz="1100" b="0">
                          <a:solidFill>
                            <a:srgbClr val="141414"/>
                          </a:solidFill>
                          <a:latin typeface="Montserrat"/>
                        </a:rPr>
                        <a:t>312 758</a:t>
                      </a:r>
                    </a:p>
                  </a:txBody>
                  <a:tcPr marL="73152" marR="73152" marT="27432" marB="27432" anchor="ctr">
                    <a:solidFill>
                      <a:srgbClr val="FAFAF6"/>
                    </a:solidFill>
                  </a:tcPr>
                </a:tc>
                <a:tc>
                  <a:txBody>
                    <a:bodyPr wrap="square"/>
                    <a:lstStyle/>
                    <a:p>
                      <a:pPr algn="ctr"/>
                      <a:r>
                        <a:rPr sz="1100" b="0">
                          <a:solidFill>
                            <a:srgbClr val="141414"/>
                          </a:solidFill>
                          <a:latin typeface="Montserrat"/>
                        </a:rPr>
                        <a:t>370</a:t>
                      </a:r>
                    </a:p>
                  </a:txBody>
                  <a:tcPr marL="73152" marR="73152" marT="27432" marB="27432" anchor="ctr">
                    <a:solidFill>
                      <a:srgbClr val="FAFAF6"/>
                    </a:solidFill>
                  </a:tcPr>
                </a:tc>
                <a:tc>
                  <a:txBody>
                    <a:bodyPr wrap="square"/>
                    <a:lstStyle/>
                    <a:p>
                      <a:pPr algn="ctr"/>
                      <a:r>
                        <a:rPr sz="1100" b="0">
                          <a:solidFill>
                            <a:srgbClr val="141414"/>
                          </a:solidFill>
                          <a:latin typeface="Montserrat"/>
                        </a:rPr>
                        <a:t>41,8</a:t>
                      </a:r>
                    </a:p>
                  </a:txBody>
                  <a:tcPr marL="73152" marR="73152" marT="27432" marB="27432" anchor="ctr">
                    <a:solidFill>
                      <a:srgbClr val="FAFAF6"/>
                    </a:solidFill>
                  </a:tcPr>
                </a:tc>
                <a:tc>
                  <a:txBody>
                    <a:bodyPr wrap="square"/>
                    <a:lstStyle/>
                    <a:p>
                      <a:pPr algn="ctr"/>
                      <a:r>
                        <a:rPr sz="1100" b="0">
                          <a:solidFill>
                            <a:srgbClr val="141414"/>
                          </a:solidFill>
                          <a:latin typeface="Montserrat"/>
                        </a:rPr>
                        <a:t>149</a:t>
                      </a:r>
                    </a:p>
                  </a:txBody>
                  <a:tcPr marL="73152" marR="73152" marT="27432" marB="27432" anchor="ctr">
                    <a:solidFill>
                      <a:srgbClr val="FAFAF6"/>
                    </a:solidFill>
                  </a:tcPr>
                </a:tc>
                <a:tc>
                  <a:txBody>
                    <a:bodyPr wrap="square"/>
                    <a:lstStyle/>
                    <a:p>
                      <a:pPr algn="ctr"/>
                      <a:r>
                        <a:rPr sz="1100" b="0">
                          <a:solidFill>
                            <a:srgbClr val="141414"/>
                          </a:solidFill>
                          <a:latin typeface="Montserrat"/>
                        </a:rPr>
                        <a:t>7</a:t>
                      </a:r>
                    </a:p>
                  </a:txBody>
                  <a:tcPr marL="73152" marR="73152" marT="27432" marB="27432" anchor="ctr">
                    <a:solidFill>
                      <a:srgbClr val="FAFAF6"/>
                    </a:solidFill>
                  </a:tcPr>
                </a:tc>
              </a:tr>
              <a:tr h="457200">
                <a:tc>
                  <a:txBody>
                    <a:bodyPr wrap="square"/>
                    <a:lstStyle/>
                    <a:p>
                      <a:pPr algn="l"/>
                      <a:r>
                        <a:rPr sz="1100" b="0">
                          <a:solidFill>
                            <a:srgbClr val="141414"/>
                          </a:solidFill>
                          <a:latin typeface="Montserrat"/>
                        </a:rPr>
                        <a:t>Paola Audrey Ndengue · Médias, Club ADEN</a:t>
                      </a:r>
                    </a:p>
                  </a:txBody>
                  <a:tcPr marL="73152" marR="73152" marT="27432" marB="27432" anchor="ctr">
                    <a:solidFill>
                      <a:srgbClr val="FFFFFF"/>
                    </a:solidFill>
                  </a:tcPr>
                </a:tc>
                <a:tc>
                  <a:txBody>
                    <a:bodyPr wrap="square"/>
                    <a:lstStyle/>
                    <a:p>
                      <a:pPr algn="ctr"/>
                      <a:r>
                        <a:rPr sz="1100" b="0">
                          <a:solidFill>
                            <a:srgbClr val="141414"/>
                          </a:solidFill>
                          <a:latin typeface="Montserrat"/>
                        </a:rPr>
                        <a:t>15 013</a:t>
                      </a:r>
                    </a:p>
                  </a:txBody>
                  <a:tcPr marL="73152" marR="73152" marT="27432" marB="27432" anchor="ctr">
                    <a:solidFill>
                      <a:srgbClr val="FFFFFF"/>
                    </a:solidFill>
                  </a:tcPr>
                </a:tc>
                <a:tc>
                  <a:txBody>
                    <a:bodyPr wrap="square"/>
                    <a:lstStyle/>
                    <a:p>
                      <a:pPr algn="ctr"/>
                      <a:r>
                        <a:rPr sz="1100" b="0">
                          <a:solidFill>
                            <a:srgbClr val="141414"/>
                          </a:solidFill>
                          <a:latin typeface="Montserrat"/>
                        </a:rPr>
                        <a:t>33</a:t>
                      </a:r>
                    </a:p>
                  </a:txBody>
                  <a:tcPr marL="73152" marR="73152" marT="27432" marB="27432" anchor="ctr">
                    <a:solidFill>
                      <a:srgbClr val="FFFFFF"/>
                    </a:solidFill>
                  </a:tcPr>
                </a:tc>
                <a:tc>
                  <a:txBody>
                    <a:bodyPr wrap="square"/>
                    <a:lstStyle/>
                    <a:p>
                      <a:pPr algn="ctr"/>
                      <a:r>
                        <a:rPr sz="1100" b="0">
                          <a:solidFill>
                            <a:srgbClr val="141414"/>
                          </a:solidFill>
                          <a:latin typeface="Montserrat"/>
                        </a:rPr>
                        <a:t>0,8</a:t>
                      </a:r>
                    </a:p>
                  </a:txBody>
                  <a:tcPr marL="73152" marR="73152" marT="27432" marB="27432" anchor="ctr">
                    <a:solidFill>
                      <a:srgbClr val="FFFFFF"/>
                    </a:solidFill>
                  </a:tcPr>
                </a:tc>
                <a:tc>
                  <a:txBody>
                    <a:bodyPr wrap="square"/>
                    <a:lstStyle/>
                    <a:p>
                      <a:pPr algn="ctr"/>
                      <a:r>
                        <a:rPr sz="1100" b="0">
                          <a:solidFill>
                            <a:srgbClr val="141414"/>
                          </a:solidFill>
                          <a:latin typeface="Montserrat"/>
                        </a:rPr>
                        <a:t>148</a:t>
                      </a:r>
                    </a:p>
                  </a:txBody>
                  <a:tcPr marL="73152" marR="73152" marT="27432" marB="27432" anchor="ctr">
                    <a:solidFill>
                      <a:srgbClr val="FFFFFF"/>
                    </a:solidFill>
                  </a:tcPr>
                </a:tc>
                <a:tc>
                  <a:txBody>
                    <a:bodyPr wrap="square"/>
                    <a:lstStyle/>
                    <a:p>
                      <a:pPr algn="ctr"/>
                      <a:r>
                        <a:rPr sz="1100" b="0">
                          <a:solidFill>
                            <a:srgbClr val="141414"/>
                          </a:solidFill>
                          <a:latin typeface="Montserrat"/>
                        </a:rPr>
                        <a:t>3</a:t>
                      </a:r>
                    </a:p>
                  </a:txBody>
                  <a:tcPr marL="73152" marR="73152" marT="27432" marB="27432" anchor="ctr">
                    <a:solidFill>
                      <a:srgbClr val="FFFFFF"/>
                    </a:solidFill>
                  </a:tcPr>
                </a:tc>
              </a:tr>
              <a:tr h="457200">
                <a:tc>
                  <a:txBody>
                    <a:bodyPr wrap="square"/>
                    <a:lstStyle/>
                    <a:p>
                      <a:pPr algn="l"/>
                      <a:r>
                        <a:rPr sz="1100" b="1">
                          <a:solidFill>
                            <a:srgbClr val="141414"/>
                          </a:solidFill>
                          <a:latin typeface="Montserrat"/>
                        </a:rPr>
                        <a:t>Kahi Lumumba</a:t>
                      </a:r>
                    </a:p>
                  </a:txBody>
                  <a:tcPr marL="73152" marR="73152" marT="27432" marB="27432" anchor="ctr">
                    <a:solidFill>
                      <a:srgbClr val="B6D401"/>
                    </a:solidFill>
                  </a:tcPr>
                </a:tc>
                <a:tc>
                  <a:txBody>
                    <a:bodyPr wrap="square"/>
                    <a:lstStyle/>
                    <a:p>
                      <a:pPr algn="ctr"/>
                      <a:r>
                        <a:rPr sz="1100" b="0">
                          <a:solidFill>
                            <a:srgbClr val="141414"/>
                          </a:solidFill>
                          <a:latin typeface="Montserrat"/>
                        </a:rPr>
                        <a:t>14 457</a:t>
                      </a:r>
                    </a:p>
                  </a:txBody>
                  <a:tcPr marL="73152" marR="73152" marT="27432" marB="27432" anchor="ctr">
                    <a:solidFill>
                      <a:srgbClr val="B6D401"/>
                    </a:solidFill>
                  </a:tcPr>
                </a:tc>
                <a:tc>
                  <a:txBody>
                    <a:bodyPr wrap="square"/>
                    <a:lstStyle/>
                    <a:p>
                      <a:pPr algn="ctr"/>
                      <a:r>
                        <a:rPr sz="1100" b="0">
                          <a:solidFill>
                            <a:srgbClr val="141414"/>
                          </a:solidFill>
                          <a:latin typeface="Montserrat"/>
                        </a:rPr>
                        <a:t>12</a:t>
                      </a:r>
                    </a:p>
                  </a:txBody>
                  <a:tcPr marL="73152" marR="73152" marT="27432" marB="27432" anchor="ctr">
                    <a:solidFill>
                      <a:srgbClr val="B6D401"/>
                    </a:solidFill>
                  </a:tcPr>
                </a:tc>
                <a:tc>
                  <a:txBody>
                    <a:bodyPr wrap="square"/>
                    <a:lstStyle/>
                    <a:p>
                      <a:pPr algn="ctr"/>
                      <a:r>
                        <a:rPr sz="1100" b="0">
                          <a:solidFill>
                            <a:srgbClr val="141414"/>
                          </a:solidFill>
                          <a:latin typeface="Montserrat"/>
                        </a:rPr>
                        <a:t>0,3</a:t>
                      </a:r>
                    </a:p>
                  </a:txBody>
                  <a:tcPr marL="73152" marR="73152" marT="27432" marB="27432" anchor="ctr">
                    <a:solidFill>
                      <a:srgbClr val="B6D401"/>
                    </a:solidFill>
                  </a:tcPr>
                </a:tc>
                <a:tc>
                  <a:txBody>
                    <a:bodyPr wrap="square"/>
                    <a:lstStyle/>
                    <a:p>
                      <a:pPr algn="ctr"/>
                      <a:r>
                        <a:rPr sz="1100" b="0">
                          <a:solidFill>
                            <a:srgbClr val="141414"/>
                          </a:solidFill>
                          <a:latin typeface="Montserrat"/>
                        </a:rPr>
                        <a:t>74,5</a:t>
                      </a:r>
                    </a:p>
                  </a:txBody>
                  <a:tcPr marL="73152" marR="73152" marT="27432" marB="27432" anchor="ctr">
                    <a:solidFill>
                      <a:srgbClr val="B6D401"/>
                    </a:solidFill>
                  </a:tcPr>
                </a:tc>
                <a:tc>
                  <a:txBody>
                    <a:bodyPr wrap="square"/>
                    <a:lstStyle/>
                    <a:p>
                      <a:pPr algn="ctr"/>
                      <a:r>
                        <a:rPr sz="1100" b="0">
                          <a:solidFill>
                            <a:srgbClr val="141414"/>
                          </a:solidFill>
                          <a:latin typeface="Montserrat"/>
                        </a:rPr>
                        <a:t>1,5</a:t>
                      </a:r>
                    </a:p>
                  </a:txBody>
                  <a:tcPr marL="73152" marR="73152" marT="27432" marB="27432" anchor="ctr">
                    <a:solidFill>
                      <a:srgbClr val="B6D401"/>
                    </a:solidFill>
                  </a:tcPr>
                </a:tc>
              </a:tr>
              <a:tr h="457200">
                <a:tc>
                  <a:txBody>
                    <a:bodyPr wrap="square"/>
                    <a:lstStyle/>
                    <a:p>
                      <a:pPr algn="l"/>
                      <a:r>
                        <a:rPr sz="1100" b="0">
                          <a:solidFill>
                            <a:srgbClr val="141414"/>
                          </a:solidFill>
                          <a:latin typeface="Montserrat"/>
                        </a:rPr>
                        <a:t>Israël Guébo · Consultant médias</a:t>
                      </a:r>
                    </a:p>
                  </a:txBody>
                  <a:tcPr marL="73152" marR="73152" marT="27432" marB="27432" anchor="ctr">
                    <a:solidFill>
                      <a:srgbClr val="FFFFFF"/>
                    </a:solidFill>
                  </a:tcPr>
                </a:tc>
                <a:tc>
                  <a:txBody>
                    <a:bodyPr wrap="square"/>
                    <a:lstStyle/>
                    <a:p>
                      <a:pPr algn="ctr"/>
                      <a:r>
                        <a:rPr sz="1100" b="0">
                          <a:solidFill>
                            <a:srgbClr val="141414"/>
                          </a:solidFill>
                          <a:latin typeface="Montserrat"/>
                        </a:rPr>
                        <a:t>18 176</a:t>
                      </a:r>
                    </a:p>
                  </a:txBody>
                  <a:tcPr marL="73152" marR="73152" marT="27432" marB="27432" anchor="ctr">
                    <a:solidFill>
                      <a:srgbClr val="FFFFFF"/>
                    </a:solidFill>
                  </a:tcPr>
                </a:tc>
                <a:tc>
                  <a:txBody>
                    <a:bodyPr wrap="square"/>
                    <a:lstStyle/>
                    <a:p>
                      <a:pPr algn="ctr"/>
                      <a:r>
                        <a:rPr sz="1100" b="0">
                          <a:solidFill>
                            <a:srgbClr val="141414"/>
                          </a:solidFill>
                          <a:latin typeface="Montserrat"/>
                        </a:rPr>
                        <a:t>146</a:t>
                      </a:r>
                    </a:p>
                  </a:txBody>
                  <a:tcPr marL="73152" marR="73152" marT="27432" marB="27432" anchor="ctr">
                    <a:solidFill>
                      <a:srgbClr val="FFFFFF"/>
                    </a:solidFill>
                  </a:tcPr>
                </a:tc>
                <a:tc>
                  <a:txBody>
                    <a:bodyPr wrap="square"/>
                    <a:lstStyle/>
                    <a:p>
                      <a:pPr algn="ctr"/>
                      <a:r>
                        <a:rPr sz="1100" b="0">
                          <a:solidFill>
                            <a:srgbClr val="141414"/>
                          </a:solidFill>
                          <a:latin typeface="Montserrat"/>
                        </a:rPr>
                        <a:t>3,5</a:t>
                      </a:r>
                    </a:p>
                  </a:txBody>
                  <a:tcPr marL="73152" marR="73152" marT="27432" marB="27432" anchor="ctr">
                    <a:solidFill>
                      <a:srgbClr val="FFFFFF"/>
                    </a:solidFill>
                  </a:tcPr>
                </a:tc>
                <a:tc>
                  <a:txBody>
                    <a:bodyPr wrap="square"/>
                    <a:lstStyle/>
                    <a:p>
                      <a:pPr algn="ctr"/>
                      <a:r>
                        <a:rPr sz="1100" b="0">
                          <a:solidFill>
                            <a:srgbClr val="141414"/>
                          </a:solidFill>
                          <a:latin typeface="Montserrat"/>
                        </a:rPr>
                        <a:t>26,5</a:t>
                      </a:r>
                    </a:p>
                  </a:txBody>
                  <a:tcPr marL="73152" marR="73152" marT="27432" marB="27432" anchor="ctr">
                    <a:solidFill>
                      <a:srgbClr val="FFFFFF"/>
                    </a:solidFill>
                  </a:tcPr>
                </a:tc>
                <a:tc>
                  <a:txBody>
                    <a:bodyPr wrap="square"/>
                    <a:lstStyle/>
                    <a:p>
                      <a:pPr algn="ctr"/>
                      <a:r>
                        <a:rPr sz="1100" b="0">
                          <a:solidFill>
                            <a:srgbClr val="141414"/>
                          </a:solidFill>
                          <a:latin typeface="Montserrat"/>
                        </a:rPr>
                        <a:t>0</a:t>
                      </a:r>
                    </a:p>
                  </a:txBody>
                  <a:tcPr marL="73152" marR="73152" marT="27432" marB="27432" anchor="ctr">
                    <a:solidFill>
                      <a:srgbClr val="FFFFFF"/>
                    </a:solidFill>
                  </a:tcPr>
                </a:tc>
              </a:tr>
              <a:tr h="457200">
                <a:tc>
                  <a:txBody>
                    <a:bodyPr wrap="square"/>
                    <a:lstStyle/>
                    <a:p>
                      <a:pPr algn="l"/>
                      <a:r>
                        <a:rPr sz="1100" b="0">
                          <a:solidFill>
                            <a:srgbClr val="141414"/>
                          </a:solidFill>
                          <a:latin typeface="Montserrat"/>
                        </a:rPr>
                        <a:t>Moulaye Tabouré · CEO ANKA, coanimateur du podcast</a:t>
                      </a:r>
                    </a:p>
                  </a:txBody>
                  <a:tcPr marL="73152" marR="73152" marT="27432" marB="27432" anchor="ctr">
                    <a:solidFill>
                      <a:srgbClr val="FAFAF6"/>
                    </a:solidFill>
                  </a:tcPr>
                </a:tc>
                <a:tc>
                  <a:txBody>
                    <a:bodyPr wrap="square"/>
                    <a:lstStyle/>
                    <a:p>
                      <a:pPr algn="ctr"/>
                      <a:r>
                        <a:rPr sz="1100" b="0">
                          <a:solidFill>
                            <a:srgbClr val="141414"/>
                          </a:solidFill>
                          <a:latin typeface="Montserrat"/>
                        </a:rPr>
                        <a:t>32 194</a:t>
                      </a:r>
                    </a:p>
                  </a:txBody>
                  <a:tcPr marL="73152" marR="73152" marT="27432" marB="27432" anchor="ctr">
                    <a:solidFill>
                      <a:srgbClr val="FAFAF6"/>
                    </a:solidFill>
                  </a:tcPr>
                </a:tc>
                <a:tc>
                  <a:txBody>
                    <a:bodyPr wrap="square"/>
                    <a:lstStyle/>
                    <a:p>
                      <a:pPr algn="ctr"/>
                      <a:r>
                        <a:rPr sz="1100" b="0">
                          <a:solidFill>
                            <a:srgbClr val="141414"/>
                          </a:solidFill>
                          <a:latin typeface="Montserrat"/>
                        </a:rPr>
                        <a:t>275</a:t>
                      </a:r>
                    </a:p>
                  </a:txBody>
                  <a:tcPr marL="73152" marR="73152" marT="27432" marB="27432" anchor="ctr">
                    <a:solidFill>
                      <a:srgbClr val="FAFAF6"/>
                    </a:solidFill>
                  </a:tcPr>
                </a:tc>
                <a:tc>
                  <a:txBody>
                    <a:bodyPr wrap="square"/>
                    <a:lstStyle/>
                    <a:p>
                      <a:pPr algn="ctr"/>
                      <a:r>
                        <a:rPr sz="1100" b="0">
                          <a:solidFill>
                            <a:srgbClr val="141414"/>
                          </a:solidFill>
                          <a:latin typeface="Montserrat"/>
                        </a:rPr>
                        <a:t>6,5</a:t>
                      </a:r>
                    </a:p>
                  </a:txBody>
                  <a:tcPr marL="73152" marR="73152" marT="27432" marB="27432" anchor="ctr">
                    <a:solidFill>
                      <a:srgbClr val="FAFAF6"/>
                    </a:solidFill>
                  </a:tcPr>
                </a:tc>
                <a:tc>
                  <a:txBody>
                    <a:bodyPr wrap="square"/>
                    <a:lstStyle/>
                    <a:p>
                      <a:pPr algn="ctr"/>
                      <a:r>
                        <a:rPr sz="1100" b="0">
                          <a:solidFill>
                            <a:srgbClr val="141414"/>
                          </a:solidFill>
                          <a:latin typeface="Montserrat"/>
                        </a:rPr>
                        <a:t>19</a:t>
                      </a:r>
                    </a:p>
                  </a:txBody>
                  <a:tcPr marL="73152" marR="73152" marT="27432" marB="27432" anchor="ctr">
                    <a:solidFill>
                      <a:srgbClr val="FAFAF6"/>
                    </a:solidFill>
                  </a:tcPr>
                </a:tc>
                <a:tc>
                  <a:txBody>
                    <a:bodyPr wrap="square"/>
                    <a:lstStyle/>
                    <a:p>
                      <a:pPr algn="ctr"/>
                      <a:r>
                        <a:rPr sz="1100" b="0">
                          <a:solidFill>
                            <a:srgbClr val="141414"/>
                          </a:solidFill>
                          <a:latin typeface="Montserrat"/>
                        </a:rPr>
                        <a:t>0</a:t>
                      </a:r>
                    </a:p>
                  </a:txBody>
                  <a:tcPr marL="73152" marR="73152" marT="27432" marB="27432" anchor="ctr">
                    <a:solidFill>
                      <a:srgbClr val="FAFAF6"/>
                    </a:solidFill>
                  </a:tcPr>
                </a:tc>
              </a:tr>
              <a:tr h="457200">
                <a:tc>
                  <a:txBody>
                    <a:bodyPr wrap="square"/>
                    <a:lstStyle/>
                    <a:p>
                      <a:pPr algn="l"/>
                      <a:r>
                        <a:rPr sz="1100" b="0">
                          <a:solidFill>
                            <a:srgbClr val="141414"/>
                          </a:solidFill>
                          <a:latin typeface="Montserrat"/>
                        </a:rPr>
                        <a:t>Cyriac Gbogou · Cofondateur Ovillage</a:t>
                      </a:r>
                    </a:p>
                  </a:txBody>
                  <a:tcPr marL="73152" marR="73152" marT="27432" marB="27432" anchor="ctr">
                    <a:solidFill>
                      <a:srgbClr val="FFFFFF"/>
                    </a:solidFill>
                  </a:tcPr>
                </a:tc>
                <a:tc>
                  <a:txBody>
                    <a:bodyPr wrap="square"/>
                    <a:lstStyle/>
                    <a:p>
                      <a:pPr algn="ctr"/>
                      <a:r>
                        <a:rPr sz="1100" b="0">
                          <a:solidFill>
                            <a:srgbClr val="141414"/>
                          </a:solidFill>
                          <a:latin typeface="Montserrat"/>
                        </a:rPr>
                        <a:t>5 651</a:t>
                      </a:r>
                    </a:p>
                  </a:txBody>
                  <a:tcPr marL="73152" marR="73152" marT="27432" marB="27432" anchor="ctr">
                    <a:solidFill>
                      <a:srgbClr val="FFFFFF"/>
                    </a:solidFill>
                  </a:tcPr>
                </a:tc>
                <a:tc>
                  <a:txBody>
                    <a:bodyPr wrap="square"/>
                    <a:lstStyle/>
                    <a:p>
                      <a:pPr algn="ctr"/>
                      <a:r>
                        <a:rPr sz="1100" b="0">
                          <a:solidFill>
                            <a:srgbClr val="141414"/>
                          </a:solidFill>
                          <a:latin typeface="Montserrat"/>
                        </a:rPr>
                        <a:t>19</a:t>
                      </a:r>
                    </a:p>
                  </a:txBody>
                  <a:tcPr marL="73152" marR="73152" marT="27432" marB="27432" anchor="ctr">
                    <a:solidFill>
                      <a:srgbClr val="FFFFFF"/>
                    </a:solidFill>
                  </a:tcPr>
                </a:tc>
                <a:tc>
                  <a:txBody>
                    <a:bodyPr wrap="square"/>
                    <a:lstStyle/>
                    <a:p>
                      <a:pPr algn="ctr"/>
                      <a:r>
                        <a:rPr sz="1100" b="0">
                          <a:solidFill>
                            <a:srgbClr val="141414"/>
                          </a:solidFill>
                          <a:latin typeface="Montserrat"/>
                        </a:rPr>
                        <a:t>0,4</a:t>
                      </a:r>
                    </a:p>
                  </a:txBody>
                  <a:tcPr marL="73152" marR="73152" marT="27432" marB="27432" anchor="ctr">
                    <a:solidFill>
                      <a:srgbClr val="FFFFFF"/>
                    </a:solidFill>
                  </a:tcPr>
                </a:tc>
                <a:tc>
                  <a:txBody>
                    <a:bodyPr wrap="square"/>
                    <a:lstStyle/>
                    <a:p>
                      <a:pPr algn="ctr"/>
                      <a:r>
                        <a:rPr sz="1100" b="0">
                          <a:solidFill>
                            <a:srgbClr val="141414"/>
                          </a:solidFill>
                          <a:latin typeface="Montserrat"/>
                        </a:rPr>
                        <a:t>10</a:t>
                      </a:r>
                    </a:p>
                  </a:txBody>
                  <a:tcPr marL="73152" marR="73152" marT="27432" marB="27432" anchor="ctr">
                    <a:solidFill>
                      <a:srgbClr val="FFFFFF"/>
                    </a:solidFill>
                  </a:tcPr>
                </a:tc>
                <a:tc>
                  <a:txBody>
                    <a:bodyPr wrap="square"/>
                    <a:lstStyle/>
                    <a:p>
                      <a:pPr algn="ctr"/>
                      <a:r>
                        <a:rPr sz="1100" b="0">
                          <a:solidFill>
                            <a:srgbClr val="141414"/>
                          </a:solidFill>
                          <a:latin typeface="Montserrat"/>
                        </a:rPr>
                        <a:t>1</a:t>
                      </a:r>
                    </a:p>
                  </a:txBody>
                  <a:tcPr marL="73152" marR="73152" marT="27432" marB="27432" anchor="ctr">
                    <a:solidFill>
                      <a:srgbClr val="FFFFFF"/>
                    </a:solidFill>
                  </a:tcPr>
                </a:tc>
              </a:tr>
            </a:tbl>
          </a:graphicData>
        </a:graphic>
      </p:graphicFrame>
      <p:sp>
        <p:nvSpPr>
          <p:cNvPr id="7" name="TextBox 6"/>
          <p:cNvSpPr txBox="1"/>
          <p:nvPr/>
        </p:nvSpPr>
        <p:spPr>
          <a:xfrm>
            <a:off x="548640" y="5120640"/>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Edith Brou Bleu : 370 posts relevés couvrant seulement le 23/08 au 24/10 (limite de l'outil), rythme calculé sur cette période. Cyriac Gbogou : dernier post public le 13/04. Samir Abdelkrim, prévu dans la liste, n'a publié aucun post sous son nom en 2026 et a été écarté.</a:t>
            </a:r>
          </a:p>
        </p:txBody>
      </p:sp>
      <p:sp>
        <p:nvSpPr>
          <p:cNvPr id="8" name="TextBox 7"/>
          <p:cNvSpPr txBox="1"/>
          <p:nvPr/>
        </p:nvSpPr>
        <p:spPr>
          <a:xfrm>
            <a:off x="548640" y="5623560"/>
            <a:ext cx="11064240" cy="45720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À audience égale, Paola Audrey Ndengue (15 013 abonnés) fait deux fois plus d'interactions que Kahi avec près de trois fois plus de posts. Moulaye Tabouré publie plus de vingt fois plus, mais touche moins par post.</a:t>
            </a:r>
          </a:p>
        </p:txBody>
      </p:sp>
      <p:sp>
        <p:nvSpPr>
          <p:cNvPr id="9" name="TextBox 8"/>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0" name="TextBox 9"/>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22 / 42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VEILLE · RYTHME ET RÉSULTAT</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Ce qui sépare les plus lus des autres : la personne, pas le volume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03_pairs_inter.png"/>
          <p:cNvPicPr>
            <a:picLocks noChangeAspect="1"/>
          </p:cNvPicPr>
          <p:nvPr/>
        </p:nvPicPr>
        <p:blipFill>
          <a:blip r:embed="rId3"/>
          <a:stretch>
            <a:fillRect/>
          </a:stretch>
        </p:blipFill>
        <p:spPr>
          <a:xfrm>
            <a:off x="548640" y="1935480"/>
            <a:ext cx="5486400" cy="2895600"/>
          </a:xfrm>
          <a:prstGeom prst="rect">
            <a:avLst/>
          </a:prstGeom>
        </p:spPr>
      </p:pic>
      <p:pic>
        <p:nvPicPr>
          <p:cNvPr id="7" name="Picture 6" descr="04_pairs_rythme.png"/>
          <p:cNvPicPr>
            <a:picLocks noChangeAspect="1"/>
          </p:cNvPicPr>
          <p:nvPr/>
        </p:nvPicPr>
        <p:blipFill>
          <a:blip r:embed="rId4"/>
          <a:stretch>
            <a:fillRect/>
          </a:stretch>
        </p:blipFill>
        <p:spPr>
          <a:xfrm>
            <a:off x="6217920" y="1935480"/>
            <a:ext cx="5486400" cy="2895600"/>
          </a:xfrm>
          <a:prstGeom prst="rect">
            <a:avLst/>
          </a:prstGeom>
        </p:spPr>
      </p:pic>
      <p:sp>
        <p:nvSpPr>
          <p:cNvPr id="8" name="TextBox 7"/>
          <p:cNvSpPr txBox="1"/>
          <p:nvPr/>
        </p:nvSpPr>
        <p:spPr>
          <a:xfrm>
            <a:off x="548640" y="5486400"/>
            <a:ext cx="11064240" cy="548640"/>
          </a:xfrm>
          <a:prstGeom prst="rect">
            <a:avLst/>
          </a:prstGeom>
          <a:noFill/>
        </p:spPr>
        <p:txBody>
          <a:bodyPr wrap="square" lIns="18288" rIns="18288" tIns="18288" bIns="18288" anchor="t">
            <a:spAutoFit/>
          </a:bodyPr>
          <a:lstStyle/>
          <a:p>
            <a:pPr algn="l">
              <a:lnSpc>
                <a:spcPct val="112000"/>
              </a:lnSpc>
            </a:pPr>
            <a:r>
              <a:rPr sz="1200" b="0" i="0">
                <a:solidFill>
                  <a:srgbClr val="141414"/>
                </a:solidFill>
                <a:latin typeface="Montserrat"/>
              </a:rPr>
              <a:t>Publier beaucoup ne suffit pas (Moulaye Tabouré, Israël Guébo). Les meilleures médianes vont à ceux qui racontent ce qu'ils vivent : Nabou Fall, Paola Audrey Ndengue. Kahi est au milieu avec presque rien : la marge est grande.</a:t>
            </a:r>
          </a:p>
        </p:txBody>
      </p:sp>
      <p:sp>
        <p:nvSpPr>
          <p:cNvPr id="9" name="TextBox 8"/>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Interactions = réactions + commentaires + partages, en médiane par post. Posts écrits par la personne, reprises sans texte exclues.</a:t>
            </a:r>
          </a:p>
        </p:txBody>
      </p:sp>
      <p:sp>
        <p:nvSpPr>
          <p:cNvPr id="10" name="TextBox 9"/>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1" name="TextBox 10"/>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23 / 42</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VEILLE · CE QU'ON PEUT LEUR REPRENDRE</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Trois idées tirées des autres profils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63040"/>
            <a:ext cx="3566160" cy="420624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heart_noir.png"/>
          <p:cNvPicPr>
            <a:picLocks noChangeAspect="1"/>
          </p:cNvPicPr>
          <p:nvPr/>
        </p:nvPicPr>
        <p:blipFill>
          <a:blip r:embed="rId3"/>
          <a:stretch>
            <a:fillRect/>
          </a:stretch>
        </p:blipFill>
        <p:spPr>
          <a:xfrm>
            <a:off x="749808" y="1664208"/>
            <a:ext cx="384048" cy="384048"/>
          </a:xfrm>
          <a:prstGeom prst="rect">
            <a:avLst/>
          </a:prstGeom>
        </p:spPr>
      </p:pic>
      <p:sp>
        <p:nvSpPr>
          <p:cNvPr id="8" name="TextBox 7"/>
          <p:cNvSpPr txBox="1"/>
          <p:nvPr/>
        </p:nvSpPr>
        <p:spPr>
          <a:xfrm>
            <a:off x="749808" y="2148840"/>
            <a:ext cx="3163824" cy="5943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Raconter une émotion vraie</a:t>
            </a:r>
          </a:p>
        </p:txBody>
      </p:sp>
      <p:sp>
        <p:nvSpPr>
          <p:cNvPr id="9" name="TextBox 8"/>
          <p:cNvSpPr txBox="1"/>
          <p:nvPr/>
        </p:nvSpPr>
        <p:spPr>
          <a:xfrm>
            <a:off x="749808" y="2724912"/>
            <a:ext cx="3163824" cy="2834639"/>
          </a:xfrm>
          <a:prstGeom prst="rect">
            <a:avLst/>
          </a:prstGeom>
          <a:noFill/>
        </p:spPr>
        <p:txBody>
          <a:bodyPr wrap="square" lIns="18288" rIns="18288" tIns="18288" bIns="18288" anchor="t">
            <a:spAutoFit/>
          </a:bodyPr>
          <a:lstStyle/>
          <a:p>
            <a:pPr algn="l">
              <a:lnSpc>
                <a:spcPct val="112000"/>
              </a:lnSpc>
            </a:pPr>
            <a:r>
              <a:rPr sz="1200" b="0" i="0">
                <a:solidFill>
                  <a:srgbClr val="1A1A1C"/>
                </a:solidFill>
                <a:latin typeface="Montserrat"/>
              </a:rPr>
              <a:t>Nabou Fall, 2 719 interactions : « Aujourd'hui, j'ai pleuré. Pas de tristesse mais d'émotion. » Un message reçu, raconté. Kahi l'a fait une fois (le merci d'ADICOM) et c'est son record.</a:t>
            </a:r>
          </a:p>
        </p:txBody>
      </p:sp>
      <p:sp>
        <p:nvSpPr>
          <p:cNvPr id="10" name="Rectangle 9"/>
          <p:cNvSpPr/>
          <p:nvPr/>
        </p:nvSpPr>
        <p:spPr>
          <a:xfrm>
            <a:off x="4297679" y="1463040"/>
            <a:ext cx="3566160" cy="420624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book-open_noir.png"/>
          <p:cNvPicPr>
            <a:picLocks noChangeAspect="1"/>
          </p:cNvPicPr>
          <p:nvPr/>
        </p:nvPicPr>
        <p:blipFill>
          <a:blip r:embed="rId4"/>
          <a:stretch>
            <a:fillRect/>
          </a:stretch>
        </p:blipFill>
        <p:spPr>
          <a:xfrm>
            <a:off x="4498847" y="1664208"/>
            <a:ext cx="384048" cy="384048"/>
          </a:xfrm>
          <a:prstGeom prst="rect">
            <a:avLst/>
          </a:prstGeom>
        </p:spPr>
      </p:pic>
      <p:sp>
        <p:nvSpPr>
          <p:cNvPr id="12" name="TextBox 11"/>
          <p:cNvSpPr txBox="1"/>
          <p:nvPr/>
        </p:nvSpPr>
        <p:spPr>
          <a:xfrm>
            <a:off x="4498847" y="2148840"/>
            <a:ext cx="3163824" cy="5943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Lire l'actualité à travers sa culture</a:t>
            </a:r>
          </a:p>
        </p:txBody>
      </p:sp>
      <p:sp>
        <p:nvSpPr>
          <p:cNvPr id="13" name="TextBox 12"/>
          <p:cNvSpPr txBox="1"/>
          <p:nvPr/>
        </p:nvSpPr>
        <p:spPr>
          <a:xfrm>
            <a:off x="4498847" y="2724912"/>
            <a:ext cx="3163824" cy="2834639"/>
          </a:xfrm>
          <a:prstGeom prst="rect">
            <a:avLst/>
          </a:prstGeom>
          <a:noFill/>
        </p:spPr>
        <p:txBody>
          <a:bodyPr wrap="square" lIns="18288" rIns="18288" tIns="18288" bIns="18288" anchor="t">
            <a:spAutoFit/>
          </a:bodyPr>
          <a:lstStyle/>
          <a:p>
            <a:pPr algn="l">
              <a:lnSpc>
                <a:spcPct val="112000"/>
              </a:lnSpc>
            </a:pPr>
            <a:r>
              <a:rPr sz="1200" b="0" i="0">
                <a:solidFill>
                  <a:srgbClr val="1A1A1C"/>
                </a:solidFill>
                <a:latin typeface="Montserrat"/>
              </a:rPr>
              <a:t>Paola Audrey Ndengue, 746 : une lecture du film « Le Diable s'habille en Prada 2 » sous l'angle du leadership. Kahi peut faire de même avec WHO, la musique, le sport, qu'il connaît de l'intérieur.</a:t>
            </a:r>
          </a:p>
        </p:txBody>
      </p:sp>
      <p:sp>
        <p:nvSpPr>
          <p:cNvPr id="14" name="Rectangle 13"/>
          <p:cNvSpPr/>
          <p:nvPr/>
        </p:nvSpPr>
        <p:spPr>
          <a:xfrm>
            <a:off x="8046719" y="1463040"/>
            <a:ext cx="3566160" cy="420624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map-pin_noir.png"/>
          <p:cNvPicPr>
            <a:picLocks noChangeAspect="1"/>
          </p:cNvPicPr>
          <p:nvPr/>
        </p:nvPicPr>
        <p:blipFill>
          <a:blip r:embed="rId5"/>
          <a:stretch>
            <a:fillRect/>
          </a:stretch>
        </p:blipFill>
        <p:spPr>
          <a:xfrm>
            <a:off x="8247888" y="1664208"/>
            <a:ext cx="384048" cy="384048"/>
          </a:xfrm>
          <a:prstGeom prst="rect">
            <a:avLst/>
          </a:prstGeom>
        </p:spPr>
      </p:pic>
      <p:sp>
        <p:nvSpPr>
          <p:cNvPr id="16" name="TextBox 15"/>
          <p:cNvSpPr txBox="1"/>
          <p:nvPr/>
        </p:nvSpPr>
        <p:spPr>
          <a:xfrm>
            <a:off x="8247888" y="2148840"/>
            <a:ext cx="3163824" cy="59436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Ancrer chaque post dans un lieu</a:t>
            </a:r>
          </a:p>
        </p:txBody>
      </p:sp>
      <p:sp>
        <p:nvSpPr>
          <p:cNvPr id="17" name="TextBox 16"/>
          <p:cNvSpPr txBox="1"/>
          <p:nvPr/>
        </p:nvSpPr>
        <p:spPr>
          <a:xfrm>
            <a:off x="8247888" y="2724912"/>
            <a:ext cx="3163824" cy="2834639"/>
          </a:xfrm>
          <a:prstGeom prst="rect">
            <a:avLst/>
          </a:prstGeom>
          <a:noFill/>
        </p:spPr>
        <p:txBody>
          <a:bodyPr wrap="square" lIns="18288" rIns="18288" tIns="18288" bIns="18288" anchor="t">
            <a:spAutoFit/>
          </a:bodyPr>
          <a:lstStyle/>
          <a:p>
            <a:pPr algn="l">
              <a:lnSpc>
                <a:spcPct val="112000"/>
              </a:lnSpc>
            </a:pPr>
            <a:r>
              <a:rPr sz="1200" b="0" i="0">
                <a:solidFill>
                  <a:srgbClr val="1A1A1C"/>
                </a:solidFill>
                <a:latin typeface="Montserrat"/>
              </a:rPr>
              <a:t>Moulaye Tabouré, 1 597, son record : « Mon premier business n'était pas une startup… c'était un Sotrama. » Une histoire de terrain. Kahi a Kinshasa, Cotonou (le label Cotonou City Crew), Bordeaux, Abidjan.</a:t>
            </a:r>
          </a:p>
        </p:txBody>
      </p:sp>
      <p:sp>
        <p:nvSpPr>
          <p:cNvPr id="18" name="TextBox 17"/>
          <p:cNvSpPr txBox="1"/>
          <p:nvPr/>
        </p:nvSpPr>
        <p:spPr>
          <a:xfrm>
            <a:off x="548640" y="5897880"/>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Chiffres : meilleur post 2026 de chaque profil, relevé le 24/10/2026. Cotonou City Crew : bénévolat cité sur son profil LinkedIn (2004 à 2010).</a:t>
            </a:r>
          </a:p>
        </p:txBody>
      </p:sp>
      <p:sp>
        <p:nvSpPr>
          <p:cNvPr id="19" name="TextBox 18"/>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0" name="TextBox 19"/>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24 / 42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sec5.jpg"/>
          <p:cNvPicPr>
            <a:picLocks noChangeAspect="1"/>
          </p:cNvPicPr>
          <p:nvPr/>
        </p:nvPicPr>
        <p:blipFill>
          <a:blip r:embed="rId2"/>
          <a:stretch>
            <a:fillRect/>
          </a:stretch>
        </p:blipFill>
        <p:spPr>
          <a:xfrm>
            <a:off x="6702552" y="685800"/>
            <a:ext cx="5486400" cy="54864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0" cy="1463040"/>
          </a:xfrm>
          <a:prstGeom prst="rect">
            <a:avLst/>
          </a:prstGeom>
          <a:noFill/>
        </p:spPr>
        <p:txBody>
          <a:bodyPr wrap="square" lIns="18288" rIns="18288" tIns="18288" bIns="18288" anchor="t">
            <a:spAutoFit/>
          </a:bodyPr>
          <a:lstStyle/>
          <a:p>
            <a:pPr algn="l">
              <a:lnSpc>
                <a:spcPct val="112000"/>
              </a:lnSpc>
            </a:pPr>
            <a:r>
              <a:rPr sz="9600" b="1" i="0">
                <a:solidFill>
                  <a:srgbClr val="B6D401"/>
                </a:solidFill>
                <a:latin typeface="Montserrat"/>
              </a:rPr>
              <a:t>05</a:t>
            </a:r>
          </a:p>
        </p:txBody>
      </p:sp>
      <p:sp>
        <p:nvSpPr>
          <p:cNvPr id="5" name="TextBox 4"/>
          <p:cNvSpPr txBox="1"/>
          <p:nvPr/>
        </p:nvSpPr>
        <p:spPr>
          <a:xfrm>
            <a:off x="731520" y="3063240"/>
            <a:ext cx="5669280" cy="914400"/>
          </a:xfrm>
          <a:prstGeom prst="rect">
            <a:avLst/>
          </a:prstGeom>
          <a:noFill/>
        </p:spPr>
        <p:txBody>
          <a:bodyPr wrap="square" lIns="18288" rIns="18288" tIns="18288" bIns="18288" anchor="t">
            <a:spAutoFit/>
          </a:bodyPr>
          <a:lstStyle/>
          <a:p>
            <a:pPr algn="l">
              <a:lnSpc>
                <a:spcPct val="112000"/>
              </a:lnSpc>
            </a:pPr>
            <a:r>
              <a:rPr sz="4000" b="1" i="0">
                <a:solidFill>
                  <a:srgbClr val="FFFFFF"/>
                </a:solidFill>
                <a:latin typeface="Montserrat"/>
              </a:rPr>
              <a:t>Stratégie</a:t>
            </a:r>
          </a:p>
        </p:txBody>
      </p:sp>
      <p:sp>
        <p:nvSpPr>
          <p:cNvPr id="6" name="TextBox 5"/>
          <p:cNvSpPr txBox="1"/>
          <p:nvPr/>
        </p:nvSpPr>
        <p:spPr>
          <a:xfrm>
            <a:off x="731520" y="4069080"/>
            <a:ext cx="5486400" cy="128016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Une ligne claire pour les 90 prochains jours, réseau par réseau.</a:t>
            </a:r>
          </a:p>
        </p:txBody>
      </p:sp>
      <p:pic>
        <p:nvPicPr>
          <p:cNvPr id="7" name="Picture 6" descr="logo.png"/>
          <p:cNvPicPr>
            <a:picLocks noChangeAspect="1"/>
          </p:cNvPicPr>
          <p:nvPr/>
        </p:nvPicPr>
        <p:blipFill>
          <a:blip r:embed="rId3"/>
          <a:stretch>
            <a:fillRect/>
          </a:stretch>
        </p:blipFill>
        <p:spPr>
          <a:xfrm>
            <a:off x="731520" y="5897880"/>
            <a:ext cx="1092631" cy="548640"/>
          </a:xfrm>
          <a:prstGeom prst="rect">
            <a:avLst/>
          </a:prstGeom>
        </p:spPr>
      </p:pic>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25 / 42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STRATÉGIE · UNE PHRASE, DEUX RÉSEAUX</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 positionnement : celui qui lit le digital africain de l'intérieur</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11064240" cy="141732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81328"/>
            <a:ext cx="2743200" cy="274320"/>
          </a:xfrm>
          <a:prstGeom prst="rect">
            <a:avLst/>
          </a:prstGeom>
          <a:noFill/>
        </p:spPr>
        <p:txBody>
          <a:bodyPr wrap="square" lIns="18288" rIns="18288" tIns="18288" bIns="18288" anchor="t">
            <a:spAutoFit/>
          </a:bodyPr>
          <a:lstStyle/>
          <a:p>
            <a:pPr algn="l">
              <a:lnSpc>
                <a:spcPct val="112000"/>
              </a:lnSpc>
            </a:pPr>
            <a:r>
              <a:rPr sz="900" b="1" i="0">
                <a:solidFill>
                  <a:srgbClr val="B6D401"/>
                </a:solidFill>
                <a:latin typeface="Montserrat"/>
              </a:rPr>
              <a:t>PROPOSITION DE SIGNATURE</a:t>
            </a:r>
          </a:p>
        </p:txBody>
      </p:sp>
      <p:sp>
        <p:nvSpPr>
          <p:cNvPr id="8" name="TextBox 7"/>
          <p:cNvSpPr txBox="1"/>
          <p:nvPr/>
        </p:nvSpPr>
        <p:spPr>
          <a:xfrm>
            <a:off x="868680" y="1691640"/>
            <a:ext cx="10424160" cy="1051560"/>
          </a:xfrm>
          <a:prstGeom prst="rect">
            <a:avLst/>
          </a:prstGeom>
          <a:noFill/>
        </p:spPr>
        <p:txBody>
          <a:bodyPr wrap="square" lIns="18288" rIns="18288" tIns="18288" bIns="18288" anchor="ctr">
            <a:spAutoFit/>
          </a:bodyPr>
          <a:lstStyle/>
          <a:p>
            <a:pPr algn="l">
              <a:lnSpc>
                <a:spcPct val="112000"/>
              </a:lnSpc>
            </a:pPr>
            <a:r>
              <a:rPr sz="2000" b="1" i="0">
                <a:solidFill>
                  <a:srgbClr val="FFFFFF"/>
                </a:solidFill>
                <a:latin typeface="Montserrat"/>
              </a:rPr>
              <a:t>« Treize ans à construire les ponts entre les marques et la créativité africaine. Il dit ce qu'il voit venir, avant que tout le monde en parle. »</a:t>
            </a:r>
          </a:p>
        </p:txBody>
      </p:sp>
      <p:sp>
        <p:nvSpPr>
          <p:cNvPr id="9" name="Rectangle 8"/>
          <p:cNvSpPr/>
          <p:nvPr/>
        </p:nvSpPr>
        <p:spPr>
          <a:xfrm>
            <a:off x="548640" y="3063240"/>
            <a:ext cx="5440680" cy="28803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ic_linkedin_noir.png"/>
          <p:cNvPicPr>
            <a:picLocks noChangeAspect="1"/>
          </p:cNvPicPr>
          <p:nvPr/>
        </p:nvPicPr>
        <p:blipFill>
          <a:blip r:embed="rId3"/>
          <a:stretch>
            <a:fillRect/>
          </a:stretch>
        </p:blipFill>
        <p:spPr>
          <a:xfrm>
            <a:off x="777240" y="3291840"/>
            <a:ext cx="457200" cy="457200"/>
          </a:xfrm>
          <a:prstGeom prst="rect">
            <a:avLst/>
          </a:prstGeom>
        </p:spPr>
      </p:pic>
      <p:sp>
        <p:nvSpPr>
          <p:cNvPr id="11" name="TextBox 10"/>
          <p:cNvSpPr txBox="1"/>
          <p:nvPr/>
        </p:nvSpPr>
        <p:spPr>
          <a:xfrm>
            <a:off x="1417319" y="3310128"/>
            <a:ext cx="4389120" cy="457200"/>
          </a:xfrm>
          <a:prstGeom prst="rect">
            <a:avLst/>
          </a:prstGeom>
          <a:noFill/>
        </p:spPr>
        <p:txBody>
          <a:bodyPr wrap="square" lIns="18288" rIns="18288" tIns="18288" bIns="18288" anchor="t">
            <a:spAutoFit/>
          </a:bodyPr>
          <a:lstStyle/>
          <a:p>
            <a:pPr algn="l">
              <a:lnSpc>
                <a:spcPct val="112000"/>
              </a:lnSpc>
            </a:pPr>
            <a:r>
              <a:rPr sz="1500" b="1" i="0">
                <a:solidFill>
                  <a:srgbClr val="141414"/>
                </a:solidFill>
                <a:latin typeface="Montserrat"/>
              </a:rPr>
              <a:t>LinkedIn · la voix du patron</a:t>
            </a:r>
          </a:p>
        </p:txBody>
      </p:sp>
      <p:sp>
        <p:nvSpPr>
          <p:cNvPr id="12" name="TextBox 11"/>
          <p:cNvSpPr txBox="1"/>
          <p:nvPr/>
        </p:nvSpPr>
        <p:spPr>
          <a:xfrm>
            <a:off x="777240" y="3977639"/>
            <a:ext cx="4983480" cy="1828800"/>
          </a:xfrm>
          <a:prstGeom prst="rect">
            <a:avLst/>
          </a:prstGeom>
          <a:noFill/>
        </p:spPr>
        <p:txBody>
          <a:bodyPr wrap="square" lIns="18288" rIns="18288" tIns="18288" bIns="18288" anchor="t">
            <a:spAutoFit/>
          </a:bodyPr>
          <a:lstStyle/>
          <a:p>
            <a:pPr algn="l">
              <a:lnSpc>
                <a:spcPct val="112000"/>
              </a:lnSpc>
            </a:pPr>
            <a:r>
              <a:rPr sz="1300" b="0" i="0">
                <a:solidFill>
                  <a:srgbClr val="1A1A1C"/>
                </a:solidFill>
                <a:latin typeface="Montserrat"/>
              </a:rPr>
              <a:t>Pour les directeurs marketing, les annonceurs, les institutions. Ce qu'il voit chez les marques, chez Totem, dans le digital africain. Un post par semaine, écrit par lui.</a:t>
            </a:r>
          </a:p>
        </p:txBody>
      </p:sp>
      <p:sp>
        <p:nvSpPr>
          <p:cNvPr id="13" name="Rectangle 12"/>
          <p:cNvSpPr/>
          <p:nvPr/>
        </p:nvSpPr>
        <p:spPr>
          <a:xfrm>
            <a:off x="6172200" y="3063240"/>
            <a:ext cx="5440680" cy="28803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ic_instagram_noir.png"/>
          <p:cNvPicPr>
            <a:picLocks noChangeAspect="1"/>
          </p:cNvPicPr>
          <p:nvPr/>
        </p:nvPicPr>
        <p:blipFill>
          <a:blip r:embed="rId4"/>
          <a:stretch>
            <a:fillRect/>
          </a:stretch>
        </p:blipFill>
        <p:spPr>
          <a:xfrm>
            <a:off x="6400800" y="3291840"/>
            <a:ext cx="457200" cy="457200"/>
          </a:xfrm>
          <a:prstGeom prst="rect">
            <a:avLst/>
          </a:prstGeom>
        </p:spPr>
      </p:pic>
      <p:sp>
        <p:nvSpPr>
          <p:cNvPr id="15" name="TextBox 14"/>
          <p:cNvSpPr txBox="1"/>
          <p:nvPr/>
        </p:nvSpPr>
        <p:spPr>
          <a:xfrm>
            <a:off x="7040880" y="3310128"/>
            <a:ext cx="4389120" cy="457200"/>
          </a:xfrm>
          <a:prstGeom prst="rect">
            <a:avLst/>
          </a:prstGeom>
          <a:noFill/>
        </p:spPr>
        <p:txBody>
          <a:bodyPr wrap="square" lIns="18288" rIns="18288" tIns="18288" bIns="18288" anchor="t">
            <a:spAutoFit/>
          </a:bodyPr>
          <a:lstStyle/>
          <a:p>
            <a:pPr algn="l">
              <a:lnSpc>
                <a:spcPct val="112000"/>
              </a:lnSpc>
            </a:pPr>
            <a:r>
              <a:rPr sz="1500" b="1" i="0">
                <a:solidFill>
                  <a:srgbClr val="141414"/>
                </a:solidFill>
                <a:latin typeface="Montserrat"/>
              </a:rPr>
              <a:t>Instagram · l'homme derrière</a:t>
            </a:r>
          </a:p>
        </p:txBody>
      </p:sp>
      <p:sp>
        <p:nvSpPr>
          <p:cNvPr id="16" name="TextBox 15"/>
          <p:cNvSpPr txBox="1"/>
          <p:nvPr/>
        </p:nvSpPr>
        <p:spPr>
          <a:xfrm>
            <a:off x="6400800" y="3977639"/>
            <a:ext cx="4983480" cy="1828800"/>
          </a:xfrm>
          <a:prstGeom prst="rect">
            <a:avLst/>
          </a:prstGeom>
          <a:noFill/>
        </p:spPr>
        <p:txBody>
          <a:bodyPr wrap="square" lIns="18288" rIns="18288" tIns="18288" bIns="18288" anchor="t">
            <a:spAutoFit/>
          </a:bodyPr>
          <a:lstStyle/>
          <a:p>
            <a:pPr algn="l">
              <a:lnSpc>
                <a:spcPct val="112000"/>
              </a:lnSpc>
            </a:pPr>
            <a:r>
              <a:rPr sz="1300" b="0" i="0">
                <a:solidFill>
                  <a:srgbClr val="1A1A1C"/>
                </a:solidFill>
                <a:latin typeface="Montserrat"/>
              </a:rPr>
              <a:t>Pour les créateurs, les jeunes entrepreneurs, la communauté ADICOM et State of Africa. Les coulisses, WHO, la culture, en photo et en vidéo. Un post à lui tous les quinze jours.</a:t>
            </a:r>
          </a:p>
        </p:txBody>
      </p:sp>
      <p:sp>
        <p:nvSpPr>
          <p:cNvPr id="17" name="TextBox 16"/>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8" name="TextBox 17"/>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26 / 42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STRATÉGIE · DE QUOI PARLER</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Quatre piliers de contenu, tirés de ce qui marche déjà</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2651760" cy="44805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eye_noir.png"/>
          <p:cNvPicPr>
            <a:picLocks noChangeAspect="1"/>
          </p:cNvPicPr>
          <p:nvPr/>
        </p:nvPicPr>
        <p:blipFill>
          <a:blip r:embed="rId3"/>
          <a:stretch>
            <a:fillRect/>
          </a:stretch>
        </p:blipFill>
        <p:spPr>
          <a:xfrm>
            <a:off x="749808" y="1645920"/>
            <a:ext cx="411480" cy="411480"/>
          </a:xfrm>
          <a:prstGeom prst="rect">
            <a:avLst/>
          </a:prstGeom>
        </p:spPr>
      </p:pic>
      <p:sp>
        <p:nvSpPr>
          <p:cNvPr id="8" name="TextBox 7"/>
          <p:cNvSpPr txBox="1"/>
          <p:nvPr/>
        </p:nvSpPr>
        <p:spPr>
          <a:xfrm>
            <a:off x="749808" y="2194560"/>
            <a:ext cx="2286000" cy="73152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Ce que je vois venir</a:t>
            </a:r>
          </a:p>
        </p:txBody>
      </p:sp>
      <p:sp>
        <p:nvSpPr>
          <p:cNvPr id="9" name="TextBox 8"/>
          <p:cNvSpPr txBox="1"/>
          <p:nvPr/>
        </p:nvSpPr>
        <p:spPr>
          <a:xfrm>
            <a:off x="749808" y="2971800"/>
            <a:ext cx="22860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Le digital africain lu pour ceux qui décident : IA, créateurs, mobile money. Prolonge Digital State of Africa.</a:t>
            </a:r>
          </a:p>
        </p:txBody>
      </p:sp>
      <p:sp>
        <p:nvSpPr>
          <p:cNvPr id="10" name="Rectangle 9"/>
          <p:cNvSpPr/>
          <p:nvPr/>
        </p:nvSpPr>
        <p:spPr>
          <a:xfrm>
            <a:off x="749808" y="5212080"/>
            <a:ext cx="2240280" cy="4572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239512"/>
            <a:ext cx="2240280" cy="411480"/>
          </a:xfrm>
          <a:prstGeom prst="rect">
            <a:avLst/>
          </a:prstGeom>
          <a:noFill/>
        </p:spPr>
        <p:txBody>
          <a:bodyPr wrap="square" lIns="18288" rIns="18288" tIns="18288" bIns="18288" anchor="ctr">
            <a:spAutoFit/>
          </a:bodyPr>
          <a:lstStyle/>
          <a:p>
            <a:pPr algn="ctr">
              <a:lnSpc>
                <a:spcPct val="112000"/>
              </a:lnSpc>
            </a:pPr>
            <a:r>
              <a:rPr sz="1200" b="1" i="0">
                <a:solidFill>
                  <a:srgbClr val="141414"/>
                </a:solidFill>
                <a:latin typeface="Montserrat"/>
              </a:rPr>
              <a:t>1 post sur 3</a:t>
            </a:r>
          </a:p>
        </p:txBody>
      </p:sp>
      <p:sp>
        <p:nvSpPr>
          <p:cNvPr id="12" name="Rectangle 11"/>
          <p:cNvSpPr/>
          <p:nvPr/>
        </p:nvSpPr>
        <p:spPr>
          <a:xfrm>
            <a:off x="3337560" y="1417320"/>
            <a:ext cx="2651760" cy="44805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ic_briefcase_noir.png"/>
          <p:cNvPicPr>
            <a:picLocks noChangeAspect="1"/>
          </p:cNvPicPr>
          <p:nvPr/>
        </p:nvPicPr>
        <p:blipFill>
          <a:blip r:embed="rId4"/>
          <a:stretch>
            <a:fillRect/>
          </a:stretch>
        </p:blipFill>
        <p:spPr>
          <a:xfrm>
            <a:off x="3538728" y="1645920"/>
            <a:ext cx="411480" cy="411480"/>
          </a:xfrm>
          <a:prstGeom prst="rect">
            <a:avLst/>
          </a:prstGeom>
        </p:spPr>
      </p:pic>
      <p:sp>
        <p:nvSpPr>
          <p:cNvPr id="14" name="TextBox 13"/>
          <p:cNvSpPr txBox="1"/>
          <p:nvPr/>
        </p:nvSpPr>
        <p:spPr>
          <a:xfrm>
            <a:off x="3538728" y="2194560"/>
            <a:ext cx="2286000" cy="73152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Dans les coulisses de Totem</a:t>
            </a:r>
          </a:p>
        </p:txBody>
      </p:sp>
      <p:sp>
        <p:nvSpPr>
          <p:cNvPr id="15" name="TextBox 14"/>
          <p:cNvSpPr txBox="1"/>
          <p:nvPr/>
        </p:nvSpPr>
        <p:spPr>
          <a:xfrm>
            <a:off x="3538728" y="2971800"/>
            <a:ext cx="22860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Le changement de modèle, une campagne expliquée avec son résultat, une recrue. Avec l'accord des clients.</a:t>
            </a:r>
          </a:p>
        </p:txBody>
      </p:sp>
      <p:sp>
        <p:nvSpPr>
          <p:cNvPr id="16" name="Rectangle 15"/>
          <p:cNvSpPr/>
          <p:nvPr/>
        </p:nvSpPr>
        <p:spPr>
          <a:xfrm>
            <a:off x="3538728" y="5212080"/>
            <a:ext cx="2240280" cy="4572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8728" y="5239512"/>
            <a:ext cx="2240280" cy="411480"/>
          </a:xfrm>
          <a:prstGeom prst="rect">
            <a:avLst/>
          </a:prstGeom>
          <a:noFill/>
        </p:spPr>
        <p:txBody>
          <a:bodyPr wrap="square" lIns="18288" rIns="18288" tIns="18288" bIns="18288" anchor="ctr">
            <a:spAutoFit/>
          </a:bodyPr>
          <a:lstStyle/>
          <a:p>
            <a:pPr algn="ctr">
              <a:lnSpc>
                <a:spcPct val="112000"/>
              </a:lnSpc>
            </a:pPr>
            <a:r>
              <a:rPr sz="1200" b="1" i="0">
                <a:solidFill>
                  <a:srgbClr val="141414"/>
                </a:solidFill>
                <a:latin typeface="Montserrat"/>
              </a:rPr>
              <a:t>1 post sur 4</a:t>
            </a:r>
          </a:p>
        </p:txBody>
      </p:sp>
      <p:sp>
        <p:nvSpPr>
          <p:cNvPr id="18" name="Rectangle 17"/>
          <p:cNvSpPr/>
          <p:nvPr/>
        </p:nvSpPr>
        <p:spPr>
          <a:xfrm>
            <a:off x="6126479" y="1417320"/>
            <a:ext cx="2651760" cy="44805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video_noir.png"/>
          <p:cNvPicPr>
            <a:picLocks noChangeAspect="1"/>
          </p:cNvPicPr>
          <p:nvPr/>
        </p:nvPicPr>
        <p:blipFill>
          <a:blip r:embed="rId5"/>
          <a:stretch>
            <a:fillRect/>
          </a:stretch>
        </p:blipFill>
        <p:spPr>
          <a:xfrm>
            <a:off x="6327647" y="1645920"/>
            <a:ext cx="411480" cy="411480"/>
          </a:xfrm>
          <a:prstGeom prst="rect">
            <a:avLst/>
          </a:prstGeom>
        </p:spPr>
      </p:pic>
      <p:sp>
        <p:nvSpPr>
          <p:cNvPr id="20" name="TextBox 19"/>
          <p:cNvSpPr txBox="1"/>
          <p:nvPr/>
        </p:nvSpPr>
        <p:spPr>
          <a:xfrm>
            <a:off x="6327647" y="2194560"/>
            <a:ext cx="2286000" cy="73152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La culture comme business</a:t>
            </a:r>
          </a:p>
        </p:txBody>
      </p:sp>
      <p:sp>
        <p:nvSpPr>
          <p:cNvPr id="21" name="TextBox 20"/>
          <p:cNvSpPr txBox="1"/>
          <p:nvPr/>
        </p:nvSpPr>
        <p:spPr>
          <a:xfrm>
            <a:off x="6327647" y="2971800"/>
            <a:ext cx="22860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WHO, la musique, les créateurs : ce qu'ils apprennent aux marques. Son terrain le plus aimé sur Instagram.</a:t>
            </a:r>
          </a:p>
        </p:txBody>
      </p:sp>
      <p:sp>
        <p:nvSpPr>
          <p:cNvPr id="22" name="Rectangle 21"/>
          <p:cNvSpPr/>
          <p:nvPr/>
        </p:nvSpPr>
        <p:spPr>
          <a:xfrm>
            <a:off x="6327647" y="5212080"/>
            <a:ext cx="2240280" cy="4572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7" y="5239512"/>
            <a:ext cx="2240280" cy="411480"/>
          </a:xfrm>
          <a:prstGeom prst="rect">
            <a:avLst/>
          </a:prstGeom>
          <a:noFill/>
        </p:spPr>
        <p:txBody>
          <a:bodyPr wrap="square" lIns="18288" rIns="18288" tIns="18288" bIns="18288" anchor="ctr">
            <a:spAutoFit/>
          </a:bodyPr>
          <a:lstStyle/>
          <a:p>
            <a:pPr algn="ctr">
              <a:lnSpc>
                <a:spcPct val="112000"/>
              </a:lnSpc>
            </a:pPr>
            <a:r>
              <a:rPr sz="1200" b="1" i="0">
                <a:solidFill>
                  <a:srgbClr val="141414"/>
                </a:solidFill>
                <a:latin typeface="Montserrat"/>
              </a:rPr>
              <a:t>1 post sur 4</a:t>
            </a:r>
          </a:p>
        </p:txBody>
      </p:sp>
      <p:sp>
        <p:nvSpPr>
          <p:cNvPr id="24" name="Rectangle 23"/>
          <p:cNvSpPr/>
          <p:nvPr/>
        </p:nvSpPr>
        <p:spPr>
          <a:xfrm>
            <a:off x="8915399" y="1417320"/>
            <a:ext cx="2651760" cy="448056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ic_users_noir.png"/>
          <p:cNvPicPr>
            <a:picLocks noChangeAspect="1"/>
          </p:cNvPicPr>
          <p:nvPr/>
        </p:nvPicPr>
        <p:blipFill>
          <a:blip r:embed="rId6"/>
          <a:stretch>
            <a:fillRect/>
          </a:stretch>
        </p:blipFill>
        <p:spPr>
          <a:xfrm>
            <a:off x="9116567" y="1645920"/>
            <a:ext cx="411480" cy="411480"/>
          </a:xfrm>
          <a:prstGeom prst="rect">
            <a:avLst/>
          </a:prstGeom>
        </p:spPr>
      </p:pic>
      <p:sp>
        <p:nvSpPr>
          <p:cNvPr id="26" name="TextBox 25"/>
          <p:cNvSpPr txBox="1"/>
          <p:nvPr/>
        </p:nvSpPr>
        <p:spPr>
          <a:xfrm>
            <a:off x="9116567" y="2194560"/>
            <a:ext cx="2286000" cy="731520"/>
          </a:xfrm>
          <a:prstGeom prst="rect">
            <a:avLst/>
          </a:prstGeom>
          <a:noFill/>
        </p:spPr>
        <p:txBody>
          <a:bodyPr wrap="square" lIns="18288" rIns="18288" tIns="18288" bIns="18288" anchor="t">
            <a:spAutoFit/>
          </a:bodyPr>
          <a:lstStyle/>
          <a:p>
            <a:pPr algn="l">
              <a:lnSpc>
                <a:spcPct val="112000"/>
              </a:lnSpc>
            </a:pPr>
            <a:r>
              <a:rPr sz="1400" b="1" i="0">
                <a:solidFill>
                  <a:srgbClr val="141414"/>
                </a:solidFill>
                <a:latin typeface="Montserrat"/>
              </a:rPr>
              <a:t>La communauté</a:t>
            </a:r>
          </a:p>
        </p:txBody>
      </p:sp>
      <p:sp>
        <p:nvSpPr>
          <p:cNvPr id="27" name="TextBox 26"/>
          <p:cNvSpPr txBox="1"/>
          <p:nvPr/>
        </p:nvSpPr>
        <p:spPr>
          <a:xfrm>
            <a:off x="9116567" y="2971800"/>
            <a:ext cx="2286000" cy="210312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ADICOM et State of Africa racontés par lui : une rencontre, un invité, une leçon du podcast. Pas d'affiche seule.</a:t>
            </a:r>
          </a:p>
        </p:txBody>
      </p:sp>
      <p:sp>
        <p:nvSpPr>
          <p:cNvPr id="28" name="Rectangle 27"/>
          <p:cNvSpPr/>
          <p:nvPr/>
        </p:nvSpPr>
        <p:spPr>
          <a:xfrm>
            <a:off x="9116567" y="5212080"/>
            <a:ext cx="2240280" cy="4572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16567" y="5239512"/>
            <a:ext cx="2240280" cy="411480"/>
          </a:xfrm>
          <a:prstGeom prst="rect">
            <a:avLst/>
          </a:prstGeom>
          <a:noFill/>
        </p:spPr>
        <p:txBody>
          <a:bodyPr wrap="square" lIns="18288" rIns="18288" tIns="18288" bIns="18288" anchor="ctr">
            <a:spAutoFit/>
          </a:bodyPr>
          <a:lstStyle/>
          <a:p>
            <a:pPr algn="ctr">
              <a:lnSpc>
                <a:spcPct val="112000"/>
              </a:lnSpc>
            </a:pPr>
            <a:r>
              <a:rPr sz="1200" b="1" i="0">
                <a:solidFill>
                  <a:srgbClr val="141414"/>
                </a:solidFill>
                <a:latin typeface="Montserrat"/>
              </a:rPr>
              <a:t>1 post sur 6</a:t>
            </a:r>
          </a:p>
        </p:txBody>
      </p:sp>
      <p:sp>
        <p:nvSpPr>
          <p:cNvPr id="30" name="TextBox 29"/>
          <p:cNvSpPr txBox="1"/>
          <p:nvPr/>
        </p:nvSpPr>
        <p:spPr>
          <a:xfrm>
            <a:off x="548640" y="5989320"/>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Répartition indicative sur 13 semaines. Les reprises de la page ADICOM ou Totem restent possibles, mais toujours avec un vrai texte de sa main (au moins 80 mots).</a:t>
            </a:r>
          </a:p>
        </p:txBody>
      </p:sp>
      <p:sp>
        <p:nvSpPr>
          <p:cNvPr id="31" name="TextBox 30"/>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32" name="TextBox 31"/>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27 / 42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STRATÉGIE · RYTHME ET RÈGLES</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LinkedIn : un post par semaine, écrit par lui</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3931920" cy="452628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474720" cy="274320"/>
          </a:xfrm>
          <a:prstGeom prst="rect">
            <a:avLst/>
          </a:prstGeom>
          <a:noFill/>
        </p:spPr>
        <p:txBody>
          <a:bodyPr wrap="square" lIns="18288" rIns="18288" tIns="18288" bIns="18288" anchor="t">
            <a:spAutoFit/>
          </a:bodyPr>
          <a:lstStyle/>
          <a:p>
            <a:pPr algn="l">
              <a:lnSpc>
                <a:spcPct val="112000"/>
              </a:lnSpc>
            </a:pPr>
            <a:r>
              <a:rPr sz="1000" b="1" i="0">
                <a:solidFill>
                  <a:srgbClr val="B6D401"/>
                </a:solidFill>
                <a:latin typeface="Montserrat"/>
              </a:rPr>
              <a:t>LE RYTHME</a:t>
            </a:r>
          </a:p>
        </p:txBody>
      </p:sp>
      <p:sp>
        <p:nvSpPr>
          <p:cNvPr id="8" name="TextBox 7"/>
          <p:cNvSpPr txBox="1"/>
          <p:nvPr/>
        </p:nvSpPr>
        <p:spPr>
          <a:xfrm>
            <a:off x="777240" y="1965960"/>
            <a:ext cx="3474720" cy="548640"/>
          </a:xfrm>
          <a:prstGeom prst="rect">
            <a:avLst/>
          </a:prstGeom>
          <a:noFill/>
        </p:spPr>
        <p:txBody>
          <a:bodyPr wrap="square" lIns="18288" rIns="18288" tIns="18288" bIns="18288" anchor="t">
            <a:spAutoFit/>
          </a:bodyPr>
          <a:lstStyle/>
          <a:p>
            <a:pPr algn="l">
              <a:lnSpc>
                <a:spcPct val="112000"/>
              </a:lnSpc>
            </a:pPr>
            <a:r>
              <a:rPr sz="2800" b="1" i="0">
                <a:solidFill>
                  <a:srgbClr val="FFFFFF"/>
                </a:solidFill>
                <a:latin typeface="Montserrat"/>
              </a:rPr>
              <a:t>Mardi 9 h</a:t>
            </a:r>
          </a:p>
        </p:txBody>
      </p:sp>
      <p:sp>
        <p:nvSpPr>
          <p:cNvPr id="9" name="TextBox 8"/>
          <p:cNvSpPr txBox="1"/>
          <p:nvPr/>
        </p:nvSpPr>
        <p:spPr>
          <a:xfrm>
            <a:off x="777240" y="2560320"/>
            <a:ext cx="3474720" cy="822960"/>
          </a:xfrm>
          <a:prstGeom prst="rect">
            <a:avLst/>
          </a:prstGeom>
          <a:noFill/>
        </p:spPr>
        <p:txBody>
          <a:bodyPr wrap="square" lIns="18288" rIns="18288" tIns="18288" bIns="18288" anchor="t">
            <a:spAutoFit/>
          </a:bodyPr>
          <a:lstStyle/>
          <a:p>
            <a:pPr algn="l">
              <a:lnSpc>
                <a:spcPct val="112000"/>
              </a:lnSpc>
            </a:pPr>
            <a:r>
              <a:rPr sz="1200" b="0" i="0">
                <a:solidFill>
                  <a:srgbClr val="A1A1A8"/>
                </a:solidFill>
                <a:latin typeface="Montserrat"/>
              </a:rPr>
              <a:t>un post par semaine, en alternance avec le jeudi 9 h les semaines de temps fort</a:t>
            </a:r>
          </a:p>
        </p:txBody>
      </p:sp>
      <p:sp>
        <p:nvSpPr>
          <p:cNvPr id="10" name="TextBox 9"/>
          <p:cNvSpPr txBox="1"/>
          <p:nvPr/>
        </p:nvSpPr>
        <p:spPr>
          <a:xfrm>
            <a:off x="777240" y="3566160"/>
            <a:ext cx="3474720" cy="457200"/>
          </a:xfrm>
          <a:prstGeom prst="rect">
            <a:avLst/>
          </a:prstGeom>
          <a:noFill/>
        </p:spPr>
        <p:txBody>
          <a:bodyPr wrap="square" lIns="18288" rIns="18288" tIns="18288" bIns="18288" anchor="t">
            <a:spAutoFit/>
          </a:bodyPr>
          <a:lstStyle/>
          <a:p>
            <a:pPr algn="l">
              <a:lnSpc>
                <a:spcPct val="112000"/>
              </a:lnSpc>
            </a:pPr>
            <a:r>
              <a:rPr sz="2800" b="1" i="0">
                <a:solidFill>
                  <a:srgbClr val="FFFFFF"/>
                </a:solidFill>
                <a:latin typeface="Montserrat"/>
              </a:rPr>
              <a:t>13 posts</a:t>
            </a:r>
          </a:p>
        </p:txBody>
      </p:sp>
      <p:sp>
        <p:nvSpPr>
          <p:cNvPr id="11" name="TextBox 10"/>
          <p:cNvSpPr txBox="1"/>
          <p:nvPr/>
        </p:nvSpPr>
        <p:spPr>
          <a:xfrm>
            <a:off x="777240" y="4114800"/>
            <a:ext cx="3474720" cy="822960"/>
          </a:xfrm>
          <a:prstGeom prst="rect">
            <a:avLst/>
          </a:prstGeom>
          <a:noFill/>
        </p:spPr>
        <p:txBody>
          <a:bodyPr wrap="square" lIns="18288" rIns="18288" tIns="18288" bIns="18288" anchor="t">
            <a:spAutoFit/>
          </a:bodyPr>
          <a:lstStyle/>
          <a:p>
            <a:pPr algn="l">
              <a:lnSpc>
                <a:spcPct val="112000"/>
              </a:lnSpc>
            </a:pPr>
            <a:r>
              <a:rPr sz="1200" b="0" i="0">
                <a:solidFill>
                  <a:srgbClr val="A1A1A8"/>
                </a:solidFill>
                <a:latin typeface="Montserrat"/>
              </a:rPr>
              <a:t>d'ici fin janvier 2027, contre 12 en dix mois</a:t>
            </a:r>
          </a:p>
        </p:txBody>
      </p:sp>
      <p:sp>
        <p:nvSpPr>
          <p:cNvPr id="12" name="TextBox 11"/>
          <p:cNvSpPr txBox="1"/>
          <p:nvPr/>
        </p:nvSpPr>
        <p:spPr>
          <a:xfrm>
            <a:off x="777240" y="4983480"/>
            <a:ext cx="3474720" cy="822960"/>
          </a:xfrm>
          <a:prstGeom prst="rect">
            <a:avLst/>
          </a:prstGeom>
          <a:noFill/>
        </p:spPr>
        <p:txBody>
          <a:bodyPr wrap="square" lIns="18288" rIns="18288" tIns="18288" bIns="18288" anchor="t">
            <a:spAutoFit/>
          </a:bodyPr>
          <a:lstStyle/>
          <a:p>
            <a:pPr algn="l">
              <a:lnSpc>
                <a:spcPct val="112000"/>
              </a:lnSpc>
            </a:pPr>
            <a:r>
              <a:rPr sz="1200" b="1" i="0">
                <a:solidFill>
                  <a:srgbClr val="B6D401"/>
                </a:solidFill>
                <a:latin typeface="Montserrat"/>
              </a:rPr>
              <a:t>20 minutes par semaine pour lui : relire et valider un texte préparé.</a:t>
            </a:r>
          </a:p>
        </p:txBody>
      </p:sp>
      <p:sp>
        <p:nvSpPr>
          <p:cNvPr id="13" name="TextBox 12"/>
          <p:cNvSpPr txBox="1"/>
          <p:nvPr/>
        </p:nvSpPr>
        <p:spPr>
          <a:xfrm>
            <a:off x="4846320" y="1417320"/>
            <a:ext cx="6812280" cy="4572000"/>
          </a:xfrm>
          <a:prstGeom prst="rect">
            <a:avLst/>
          </a:prstGeom>
          <a:noFill/>
        </p:spPr>
        <p:txBody>
          <a:bodyPr wrap="square">
            <a:spAutoFit/>
          </a:bodyPr>
          <a:lstStyle/>
          <a:p>
            <a:pPr>
              <a:lnSpc>
                <a:spcPct val="110000"/>
              </a:lnSpc>
              <a:spcAft>
                <a:spcPts val="1008"/>
              </a:spcAft>
            </a:pPr>
            <a:r>
              <a:rPr sz="950">
                <a:solidFill>
                  <a:srgbClr val="141414"/>
                </a:solidFill>
                <a:latin typeface="Montserrat"/>
              </a:rPr>
              <a:t>■  </a:t>
            </a:r>
            <a:r>
              <a:rPr b="1" sz="1250">
                <a:solidFill>
                  <a:srgbClr val="141414"/>
                </a:solidFill>
                <a:latin typeface="Montserrat"/>
              </a:rPr>
              <a:t>80 à 200 mots, </a:t>
            </a:r>
            <a:r>
              <a:rPr sz="1250">
                <a:solidFill>
                  <a:srgbClr val="1A1A1C"/>
                </a:solidFill>
                <a:latin typeface="Montserrat"/>
              </a:rPr>
              <a:t>écrits à la première personne. Ses posts de plus de 50 mots font trois fois plus d'interactions (150 contre 51).</a:t>
            </a:r>
          </a:p>
          <a:p>
            <a:pPr>
              <a:lnSpc>
                <a:spcPct val="110000"/>
              </a:lnSpc>
              <a:spcAft>
                <a:spcPts val="1008"/>
              </a:spcAft>
            </a:pPr>
            <a:r>
              <a:rPr sz="950">
                <a:solidFill>
                  <a:srgbClr val="141414"/>
                </a:solidFill>
                <a:latin typeface="Montserrat"/>
              </a:rPr>
              <a:t>■  </a:t>
            </a:r>
            <a:r>
              <a:rPr b="1" sz="1250">
                <a:solidFill>
                  <a:srgbClr val="141414"/>
                </a:solidFill>
                <a:latin typeface="Montserrat"/>
              </a:rPr>
              <a:t>Une accroche en une ligne, </a:t>
            </a:r>
            <a:r>
              <a:rPr sz="1250">
                <a:solidFill>
                  <a:srgbClr val="1A1A1C"/>
                </a:solidFill>
                <a:latin typeface="Montserrat"/>
              </a:rPr>
              <a:t>comme « Tout le monde fait du digital. Peu comprennent ce qui arrive. » C'est sa force.</a:t>
            </a:r>
          </a:p>
          <a:p>
            <a:pPr>
              <a:lnSpc>
                <a:spcPct val="110000"/>
              </a:lnSpc>
              <a:spcAft>
                <a:spcPts val="1008"/>
              </a:spcAft>
            </a:pPr>
            <a:r>
              <a:rPr sz="950">
                <a:solidFill>
                  <a:srgbClr val="141414"/>
                </a:solidFill>
                <a:latin typeface="Montserrat"/>
              </a:rPr>
              <a:t>■  </a:t>
            </a:r>
            <a:r>
              <a:rPr b="1" sz="1250">
                <a:solidFill>
                  <a:srgbClr val="141414"/>
                </a:solidFill>
                <a:latin typeface="Montserrat"/>
              </a:rPr>
              <a:t>Une vraie photo de lui, </a:t>
            </a:r>
            <a:r>
              <a:rPr sz="1250">
                <a:solidFill>
                  <a:srgbClr val="1A1A1C"/>
                </a:solidFill>
                <a:latin typeface="Montserrat"/>
              </a:rPr>
              <a:t>sur scène, en tournage, au bureau, ou une vidéo de moins d'une minute. Pas d'affiche seule.</a:t>
            </a:r>
          </a:p>
          <a:p>
            <a:pPr>
              <a:lnSpc>
                <a:spcPct val="110000"/>
              </a:lnSpc>
              <a:spcAft>
                <a:spcPts val="1008"/>
              </a:spcAft>
            </a:pPr>
            <a:r>
              <a:rPr sz="950">
                <a:solidFill>
                  <a:srgbClr val="141414"/>
                </a:solidFill>
                <a:latin typeface="Montserrat"/>
              </a:rPr>
              <a:t>■  </a:t>
            </a:r>
            <a:r>
              <a:rPr b="1" sz="1250">
                <a:solidFill>
                  <a:srgbClr val="141414"/>
                </a:solidFill>
                <a:latin typeface="Montserrat"/>
              </a:rPr>
              <a:t>Le lien dans le premier commentaire, </a:t>
            </a:r>
            <a:r>
              <a:rPr sz="1250">
                <a:solidFill>
                  <a:srgbClr val="1A1A1C"/>
                </a:solidFill>
                <a:latin typeface="Montserrat"/>
              </a:rPr>
              <a:t>jamais dans le post.</a:t>
            </a:r>
          </a:p>
          <a:p>
            <a:pPr>
              <a:lnSpc>
                <a:spcPct val="110000"/>
              </a:lnSpc>
              <a:spcAft>
                <a:spcPts val="1008"/>
              </a:spcAft>
            </a:pPr>
            <a:r>
              <a:rPr sz="950">
                <a:solidFill>
                  <a:srgbClr val="141414"/>
                </a:solidFill>
                <a:latin typeface="Montserrat"/>
              </a:rPr>
              <a:t>■  </a:t>
            </a:r>
            <a:r>
              <a:rPr b="1" sz="1250">
                <a:solidFill>
                  <a:srgbClr val="141414"/>
                </a:solidFill>
                <a:latin typeface="Montserrat"/>
              </a:rPr>
              <a:t>Une question à la fin, </a:t>
            </a:r>
            <a:r>
              <a:rPr sz="1250">
                <a:solidFill>
                  <a:srgbClr val="1A1A1C"/>
                </a:solidFill>
                <a:latin typeface="Montserrat"/>
              </a:rPr>
              <a:t>et une réponse à chaque commentaire dans les deux heures : il n'a reçu que 63 commentaires en dix mois, chacun compte.</a:t>
            </a:r>
          </a:p>
          <a:p>
            <a:pPr>
              <a:lnSpc>
                <a:spcPct val="110000"/>
              </a:lnSpc>
              <a:spcAft>
                <a:spcPts val="1008"/>
              </a:spcAft>
            </a:pPr>
            <a:r>
              <a:rPr sz="950">
                <a:solidFill>
                  <a:srgbClr val="141414"/>
                </a:solidFill>
                <a:latin typeface="Montserrat"/>
              </a:rPr>
              <a:t>■  </a:t>
            </a:r>
            <a:r>
              <a:rPr b="1" sz="1250">
                <a:solidFill>
                  <a:srgbClr val="141414"/>
                </a:solidFill>
                <a:latin typeface="Montserrat"/>
              </a:rPr>
              <a:t>En français, </a:t>
            </a:r>
            <a:r>
              <a:rPr sz="1250">
                <a:solidFill>
                  <a:srgbClr val="1A1A1C"/>
                </a:solidFill>
                <a:latin typeface="Montserrat"/>
              </a:rPr>
              <a:t>profil compris. Un mot de lingala ou une expression d'Abidjan quand ça sonne juste.</a:t>
            </a:r>
          </a:p>
        </p:txBody>
      </p:sp>
      <p:sp>
        <p:nvSpPr>
          <p:cNvPr id="14" name="TextBox 13"/>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5" name="TextBox 14"/>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28 / 42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STRATÉGIE · RYTHME ET RÈGLES</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Instagram : un post à lui tous les quinze jours, et une grille rangée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3931920" cy="452628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3474720" cy="274320"/>
          </a:xfrm>
          <a:prstGeom prst="rect">
            <a:avLst/>
          </a:prstGeom>
          <a:noFill/>
        </p:spPr>
        <p:txBody>
          <a:bodyPr wrap="square" lIns="18288" rIns="18288" tIns="18288" bIns="18288" anchor="t">
            <a:spAutoFit/>
          </a:bodyPr>
          <a:lstStyle/>
          <a:p>
            <a:pPr algn="l">
              <a:lnSpc>
                <a:spcPct val="112000"/>
              </a:lnSpc>
            </a:pPr>
            <a:r>
              <a:rPr sz="1000" b="1" i="0">
                <a:solidFill>
                  <a:srgbClr val="B6D401"/>
                </a:solidFill>
                <a:latin typeface="Montserrat"/>
              </a:rPr>
              <a:t>LE RYTHME</a:t>
            </a:r>
          </a:p>
        </p:txBody>
      </p:sp>
      <p:sp>
        <p:nvSpPr>
          <p:cNvPr id="8" name="TextBox 7"/>
          <p:cNvSpPr txBox="1"/>
          <p:nvPr/>
        </p:nvSpPr>
        <p:spPr>
          <a:xfrm>
            <a:off x="777240" y="1965960"/>
            <a:ext cx="3474720" cy="548640"/>
          </a:xfrm>
          <a:prstGeom prst="rect">
            <a:avLst/>
          </a:prstGeom>
          <a:noFill/>
        </p:spPr>
        <p:txBody>
          <a:bodyPr wrap="square" lIns="18288" rIns="18288" tIns="18288" bIns="18288" anchor="t">
            <a:spAutoFit/>
          </a:bodyPr>
          <a:lstStyle/>
          <a:p>
            <a:pPr algn="l">
              <a:lnSpc>
                <a:spcPct val="112000"/>
              </a:lnSpc>
            </a:pPr>
            <a:r>
              <a:rPr sz="2800" b="1" i="0">
                <a:solidFill>
                  <a:srgbClr val="FFFFFF"/>
                </a:solidFill>
                <a:latin typeface="Montserrat"/>
              </a:rPr>
              <a:t>Jeudi 19 h</a:t>
            </a:r>
          </a:p>
        </p:txBody>
      </p:sp>
      <p:sp>
        <p:nvSpPr>
          <p:cNvPr id="9" name="TextBox 8"/>
          <p:cNvSpPr txBox="1"/>
          <p:nvPr/>
        </p:nvSpPr>
        <p:spPr>
          <a:xfrm>
            <a:off x="777240" y="2560320"/>
            <a:ext cx="3474720" cy="822960"/>
          </a:xfrm>
          <a:prstGeom prst="rect">
            <a:avLst/>
          </a:prstGeom>
          <a:noFill/>
        </p:spPr>
        <p:txBody>
          <a:bodyPr wrap="square" lIns="18288" rIns="18288" tIns="18288" bIns="18288" anchor="t">
            <a:spAutoFit/>
          </a:bodyPr>
          <a:lstStyle/>
          <a:p>
            <a:pPr algn="l">
              <a:lnSpc>
                <a:spcPct val="112000"/>
              </a:lnSpc>
            </a:pPr>
            <a:r>
              <a:rPr sz="1200" b="0" i="0">
                <a:solidFill>
                  <a:srgbClr val="A1A1A8"/>
                </a:solidFill>
                <a:latin typeface="Montserrat"/>
              </a:rPr>
              <a:t>un post tous les quinze jours, publié par lui seul ; les collaborations du podcast continuent à côté</a:t>
            </a:r>
          </a:p>
        </p:txBody>
      </p:sp>
      <p:sp>
        <p:nvSpPr>
          <p:cNvPr id="10" name="TextBox 9"/>
          <p:cNvSpPr txBox="1"/>
          <p:nvPr/>
        </p:nvSpPr>
        <p:spPr>
          <a:xfrm>
            <a:off x="777240" y="3611880"/>
            <a:ext cx="3474720" cy="457200"/>
          </a:xfrm>
          <a:prstGeom prst="rect">
            <a:avLst/>
          </a:prstGeom>
          <a:noFill/>
        </p:spPr>
        <p:txBody>
          <a:bodyPr wrap="square" lIns="18288" rIns="18288" tIns="18288" bIns="18288" anchor="t">
            <a:spAutoFit/>
          </a:bodyPr>
          <a:lstStyle/>
          <a:p>
            <a:pPr algn="l">
              <a:lnSpc>
                <a:spcPct val="112000"/>
              </a:lnSpc>
            </a:pPr>
            <a:r>
              <a:rPr sz="2800" b="1" i="0">
                <a:solidFill>
                  <a:srgbClr val="FFFFFF"/>
                </a:solidFill>
                <a:latin typeface="Montserrat"/>
              </a:rPr>
              <a:t>3 épinglés</a:t>
            </a:r>
          </a:p>
        </p:txBody>
      </p:sp>
      <p:sp>
        <p:nvSpPr>
          <p:cNvPr id="11" name="TextBox 10"/>
          <p:cNvSpPr txBox="1"/>
          <p:nvPr/>
        </p:nvSpPr>
        <p:spPr>
          <a:xfrm>
            <a:off x="777240" y="4160520"/>
            <a:ext cx="3474720" cy="822960"/>
          </a:xfrm>
          <a:prstGeom prst="rect">
            <a:avLst/>
          </a:prstGeom>
          <a:noFill/>
        </p:spPr>
        <p:txBody>
          <a:bodyPr wrap="square" lIns="18288" rIns="18288" tIns="18288" bIns="18288" anchor="t">
            <a:spAutoFit/>
          </a:bodyPr>
          <a:lstStyle/>
          <a:p>
            <a:pPr algn="l">
              <a:lnSpc>
                <a:spcPct val="112000"/>
              </a:lnSpc>
            </a:pPr>
            <a:r>
              <a:rPr sz="1200" b="0" i="0">
                <a:solidFill>
                  <a:srgbClr val="A1A1A8"/>
                </a:solidFill>
                <a:latin typeface="Montserrat"/>
              </a:rPr>
              <a:t>en haut de la grille : l'annonce WHO, le merci ADICOM, le meilleur épisode du podcast</a:t>
            </a:r>
          </a:p>
        </p:txBody>
      </p:sp>
      <p:sp>
        <p:nvSpPr>
          <p:cNvPr id="12" name="TextBox 11"/>
          <p:cNvSpPr txBox="1"/>
          <p:nvPr/>
        </p:nvSpPr>
        <p:spPr>
          <a:xfrm>
            <a:off x="4846320" y="1417320"/>
            <a:ext cx="6812280" cy="4572000"/>
          </a:xfrm>
          <a:prstGeom prst="rect">
            <a:avLst/>
          </a:prstGeom>
          <a:noFill/>
        </p:spPr>
        <p:txBody>
          <a:bodyPr wrap="square">
            <a:spAutoFit/>
          </a:bodyPr>
          <a:lstStyle/>
          <a:p>
            <a:pPr>
              <a:lnSpc>
                <a:spcPct val="110000"/>
              </a:lnSpc>
              <a:spcAft>
                <a:spcPts val="1008"/>
              </a:spcAft>
            </a:pPr>
            <a:r>
              <a:rPr sz="950">
                <a:solidFill>
                  <a:srgbClr val="141414"/>
                </a:solidFill>
                <a:latin typeface="Montserrat"/>
              </a:rPr>
              <a:t>■  </a:t>
            </a:r>
            <a:r>
              <a:rPr b="1" sz="1250">
                <a:solidFill>
                  <a:srgbClr val="141414"/>
                </a:solidFill>
                <a:latin typeface="Montserrat"/>
              </a:rPr>
              <a:t>Carrousel de vraies photos ou vidéo verticale : </a:t>
            </a:r>
            <a:r>
              <a:rPr sz="1250">
                <a:solidFill>
                  <a:srgbClr val="1A1A1C"/>
                </a:solidFill>
                <a:latin typeface="Montserrat"/>
              </a:rPr>
              <a:t>ses deux posts à plus de 2 000 J'aime sont un carrousel et une vidéo d'événement.</a:t>
            </a:r>
          </a:p>
          <a:p>
            <a:pPr>
              <a:lnSpc>
                <a:spcPct val="110000"/>
              </a:lnSpc>
              <a:spcAft>
                <a:spcPts val="1008"/>
              </a:spcAft>
            </a:pPr>
            <a:r>
              <a:rPr sz="950">
                <a:solidFill>
                  <a:srgbClr val="141414"/>
                </a:solidFill>
                <a:latin typeface="Montserrat"/>
              </a:rPr>
              <a:t>■  </a:t>
            </a:r>
            <a:r>
              <a:rPr b="1" sz="1250">
                <a:solidFill>
                  <a:srgbClr val="141414"/>
                </a:solidFill>
                <a:latin typeface="Montserrat"/>
              </a:rPr>
              <a:t>Un texte qui raconte, </a:t>
            </a:r>
            <a:r>
              <a:rPr sz="1250">
                <a:solidFill>
                  <a:srgbClr val="1A1A1C"/>
                </a:solidFill>
                <a:latin typeface="Montserrat"/>
              </a:rPr>
              <a:t>comme l'annonce WHO, et non trois émojis seuls comme le 11 avril.</a:t>
            </a:r>
          </a:p>
          <a:p>
            <a:pPr>
              <a:lnSpc>
                <a:spcPct val="110000"/>
              </a:lnSpc>
              <a:spcAft>
                <a:spcPts val="1008"/>
              </a:spcAft>
            </a:pPr>
            <a:r>
              <a:rPr sz="950">
                <a:solidFill>
                  <a:srgbClr val="141414"/>
                </a:solidFill>
                <a:latin typeface="Montserrat"/>
              </a:rPr>
              <a:t>■  </a:t>
            </a:r>
            <a:r>
              <a:rPr b="1" sz="1250">
                <a:solidFill>
                  <a:srgbClr val="141414"/>
                </a:solidFill>
                <a:latin typeface="Montserrat"/>
              </a:rPr>
              <a:t>Moins de « Commentez tel mot » : </a:t>
            </a:r>
            <a:r>
              <a:rPr sz="1250">
                <a:solidFill>
                  <a:srgbClr val="1A1A1C"/>
                </a:solidFill>
                <a:latin typeface="Montserrat"/>
              </a:rPr>
              <a:t>ce mécanisme ramène peu de J'aime. Le réserver à un épisode par mois, pas à chaque extrait.</a:t>
            </a:r>
          </a:p>
          <a:p>
            <a:pPr>
              <a:lnSpc>
                <a:spcPct val="110000"/>
              </a:lnSpc>
              <a:spcAft>
                <a:spcPts val="1008"/>
              </a:spcAft>
            </a:pPr>
            <a:r>
              <a:rPr sz="950">
                <a:solidFill>
                  <a:srgbClr val="141414"/>
                </a:solidFill>
                <a:latin typeface="Montserrat"/>
              </a:rPr>
              <a:t>■  </a:t>
            </a:r>
            <a:r>
              <a:rPr b="1" sz="1250">
                <a:solidFill>
                  <a:srgbClr val="141414"/>
                </a:solidFill>
                <a:latin typeface="Montserrat"/>
              </a:rPr>
              <a:t>Un lien en bio qui sert : </a:t>
            </a:r>
            <a:r>
              <a:rPr sz="1250">
                <a:solidFill>
                  <a:srgbClr val="1A1A1C"/>
                </a:solidFill>
                <a:latin typeface="Montserrat"/>
              </a:rPr>
              <a:t>une page avec le podcast, ADICOM, Totem et WHO, à la place de l'offre d'emploi de juillet.</a:t>
            </a:r>
          </a:p>
          <a:p>
            <a:pPr>
              <a:lnSpc>
                <a:spcPct val="110000"/>
              </a:lnSpc>
              <a:spcAft>
                <a:spcPts val="1008"/>
              </a:spcAft>
            </a:pPr>
            <a:r>
              <a:rPr sz="950">
                <a:solidFill>
                  <a:srgbClr val="141414"/>
                </a:solidFill>
                <a:latin typeface="Montserrat"/>
              </a:rPr>
              <a:t>■  </a:t>
            </a:r>
            <a:r>
              <a:rPr b="1" sz="1250">
                <a:solidFill>
                  <a:srgbClr val="141414"/>
                </a:solidFill>
                <a:latin typeface="Montserrat"/>
              </a:rPr>
              <a:t>Lire ses statistiques chaque mois : </a:t>
            </a:r>
            <a:r>
              <a:rPr sz="1250">
                <a:solidFill>
                  <a:srgbClr val="1A1A1C"/>
                </a:solidFill>
                <a:latin typeface="Montserrat"/>
              </a:rPr>
              <a:t>portée, visites du profil, abonnés gagnés. Une capture d'écran suffit pour suivre l'effet des nouveaux posts.</a:t>
            </a:r>
          </a:p>
        </p:txBody>
      </p:sp>
      <p:sp>
        <p:nvSpPr>
          <p:cNvPr id="13" name="TextBox 12"/>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Horaire proposé à tester : ses 6 posts personnels sont trop peu nombreux pour en tirer une heure. Comparaison prévue fin décembre.</a:t>
            </a:r>
          </a:p>
        </p:txBody>
      </p:sp>
      <p:sp>
        <p:nvSpPr>
          <p:cNvPr id="14" name="TextBox 13"/>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5" name="TextBox 14"/>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29 / 42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STRATÉGIE · FIN JANVIER 2027</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Les objectifs à 90 jours, et comment on saura si ça marche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graphicFrame>
        <p:nvGraphicFramePr>
          <p:cNvPr id="6" name="Table 5"/>
          <p:cNvGraphicFramePr>
            <a:graphicFrameLocks noGrp="1"/>
          </p:cNvGraphicFramePr>
          <p:nvPr/>
        </p:nvGraphicFramePr>
        <p:xfrm>
          <a:off x="548640" y="1417320"/>
          <a:ext cx="11064240" cy="4023360"/>
        </p:xfrm>
        <a:graphic>
          <a:graphicData uri="http://schemas.openxmlformats.org/drawingml/2006/table">
            <a:tbl>
              <a:tblPr firstRow="1" bandRow="1">
                <a:tableStyleId>{5C22544A-7EE6-4342-B048-85BDC9FD1C3A}</a:tableStyleId>
              </a:tblPr>
              <a:tblGrid>
                <a:gridCol w="3931920"/>
                <a:gridCol w="2377440"/>
                <a:gridCol w="2377440"/>
                <a:gridCol w="2377440"/>
              </a:tblGrid>
              <a:tr h="502920">
                <a:tc>
                  <a:txBody>
                    <a:bodyPr wrap="square"/>
                    <a:lstStyle/>
                    <a:p>
                      <a:pPr algn="l"/>
                      <a:r>
                        <a:rPr sz="1150" b="1">
                          <a:solidFill>
                            <a:srgbClr val="FFFFFF"/>
                          </a:solidFill>
                          <a:latin typeface="Montserrat"/>
                        </a:rPr>
                        <a:t>Indicateur</a:t>
                      </a:r>
                    </a:p>
                  </a:txBody>
                  <a:tcPr marL="73152" marR="73152" marT="27432" marB="27432" anchor="ctr">
                    <a:solidFill>
                      <a:srgbClr val="141414"/>
                    </a:solidFill>
                  </a:tcPr>
                </a:tc>
                <a:tc>
                  <a:txBody>
                    <a:bodyPr wrap="square"/>
                    <a:lstStyle/>
                    <a:p>
                      <a:pPr algn="ctr"/>
                      <a:r>
                        <a:rPr sz="1150" b="1">
                          <a:solidFill>
                            <a:srgbClr val="FFFFFF"/>
                          </a:solidFill>
                          <a:latin typeface="Montserrat"/>
                        </a:rPr>
                        <a:t>Départ (24/10/2026)</a:t>
                      </a:r>
                    </a:p>
                  </a:txBody>
                  <a:tcPr marL="73152" marR="73152" marT="27432" marB="27432" anchor="ctr">
                    <a:solidFill>
                      <a:srgbClr val="141414"/>
                    </a:solidFill>
                  </a:tcPr>
                </a:tc>
                <a:tc>
                  <a:txBody>
                    <a:bodyPr wrap="square"/>
                    <a:lstStyle/>
                    <a:p>
                      <a:pPr algn="ctr"/>
                      <a:r>
                        <a:rPr sz="1150" b="1">
                          <a:solidFill>
                            <a:srgbClr val="FFFFFF"/>
                          </a:solidFill>
                          <a:latin typeface="Montserrat"/>
                        </a:rPr>
                        <a:t>Objectif (31/01/2027)</a:t>
                      </a:r>
                    </a:p>
                  </a:txBody>
                  <a:tcPr marL="73152" marR="73152" marT="27432" marB="27432" anchor="ctr">
                    <a:solidFill>
                      <a:srgbClr val="141414"/>
                    </a:solidFill>
                  </a:tcPr>
                </a:tc>
                <a:tc>
                  <a:txBody>
                    <a:bodyPr wrap="square"/>
                    <a:lstStyle/>
                    <a:p>
                      <a:pPr algn="ctr"/>
                      <a:r>
                        <a:rPr sz="1150" b="1">
                          <a:solidFill>
                            <a:srgbClr val="FFFFFF"/>
                          </a:solidFill>
                          <a:latin typeface="Montserrat"/>
                        </a:rPr>
                        <a:t>Où le lire</a:t>
                      </a:r>
                    </a:p>
                  </a:txBody>
                  <a:tcPr marL="73152" marR="73152" marT="27432" marB="27432" anchor="ctr">
                    <a:solidFill>
                      <a:srgbClr val="141414"/>
                    </a:solidFill>
                  </a:tcPr>
                </a:tc>
              </a:tr>
              <a:tr h="502920">
                <a:tc>
                  <a:txBody>
                    <a:bodyPr wrap="square"/>
                    <a:lstStyle/>
                    <a:p>
                      <a:pPr algn="l"/>
                      <a:r>
                        <a:rPr sz="1150" b="0">
                          <a:solidFill>
                            <a:srgbClr val="141414"/>
                          </a:solidFill>
                          <a:latin typeface="Montserrat"/>
                        </a:rPr>
                        <a:t>Posts LinkedIn écrits par lui</a:t>
                      </a:r>
                    </a:p>
                  </a:txBody>
                  <a:tcPr marL="73152" marR="73152" marT="27432" marB="27432" anchor="ctr">
                    <a:solidFill>
                      <a:srgbClr val="FFFFFF"/>
                    </a:solidFill>
                  </a:tcPr>
                </a:tc>
                <a:tc>
                  <a:txBody>
                    <a:bodyPr wrap="square"/>
                    <a:lstStyle/>
                    <a:p>
                      <a:pPr algn="ctr"/>
                      <a:r>
                        <a:rPr sz="1150" b="0">
                          <a:solidFill>
                            <a:srgbClr val="141414"/>
                          </a:solidFill>
                          <a:latin typeface="Montserrat"/>
                        </a:rPr>
                        <a:t>4 en dix mois</a:t>
                      </a:r>
                    </a:p>
                  </a:txBody>
                  <a:tcPr marL="73152" marR="73152" marT="27432" marB="27432" anchor="ctr">
                    <a:solidFill>
                      <a:srgbClr val="FFFFFF"/>
                    </a:solidFill>
                  </a:tcPr>
                </a:tc>
                <a:tc>
                  <a:txBody>
                    <a:bodyPr wrap="square"/>
                    <a:lstStyle/>
                    <a:p>
                      <a:pPr algn="ctr"/>
                      <a:r>
                        <a:rPr sz="1150" b="0">
                          <a:solidFill>
                            <a:srgbClr val="141414"/>
                          </a:solidFill>
                          <a:latin typeface="Montserrat"/>
                        </a:rPr>
                        <a:t>13 en 13 semaines</a:t>
                      </a:r>
                    </a:p>
                  </a:txBody>
                  <a:tcPr marL="73152" marR="73152" marT="27432" marB="27432" anchor="ctr">
                    <a:solidFill>
                      <a:srgbClr val="FFFFFF"/>
                    </a:solidFill>
                  </a:tcPr>
                </a:tc>
                <a:tc>
                  <a:txBody>
                    <a:bodyPr wrap="square"/>
                    <a:lstStyle/>
                    <a:p>
                      <a:pPr algn="ctr"/>
                      <a:r>
                        <a:rPr sz="1150" b="0">
                          <a:solidFill>
                            <a:srgbClr val="141414"/>
                          </a:solidFill>
                          <a:latin typeface="Montserrat"/>
                        </a:rPr>
                        <a:t>Son profil</a:t>
                      </a:r>
                    </a:p>
                  </a:txBody>
                  <a:tcPr marL="73152" marR="73152" marT="27432" marB="27432" anchor="ctr">
                    <a:solidFill>
                      <a:srgbClr val="FFFFFF"/>
                    </a:solidFill>
                  </a:tcPr>
                </a:tc>
              </a:tr>
              <a:tr h="502920">
                <a:tc>
                  <a:txBody>
                    <a:bodyPr wrap="square"/>
                    <a:lstStyle/>
                    <a:p>
                      <a:pPr algn="l"/>
                      <a:r>
                        <a:rPr sz="1150" b="0">
                          <a:solidFill>
                            <a:srgbClr val="141414"/>
                          </a:solidFill>
                          <a:latin typeface="Montserrat"/>
                        </a:rPr>
                        <a:t>Interactions médianes par post LinkedIn</a:t>
                      </a:r>
                    </a:p>
                  </a:txBody>
                  <a:tcPr marL="73152" marR="73152" marT="27432" marB="27432" anchor="ctr">
                    <a:solidFill>
                      <a:srgbClr val="FAFAF6"/>
                    </a:solidFill>
                  </a:tcPr>
                </a:tc>
                <a:tc>
                  <a:txBody>
                    <a:bodyPr wrap="square"/>
                    <a:lstStyle/>
                    <a:p>
                      <a:pPr algn="ctr"/>
                      <a:r>
                        <a:rPr sz="1150" b="0">
                          <a:solidFill>
                            <a:srgbClr val="141414"/>
                          </a:solidFill>
                          <a:latin typeface="Montserrat"/>
                        </a:rPr>
                        <a:t>74,5</a:t>
                      </a:r>
                    </a:p>
                  </a:txBody>
                  <a:tcPr marL="73152" marR="73152" marT="27432" marB="27432" anchor="ctr">
                    <a:solidFill>
                      <a:srgbClr val="FAFAF6"/>
                    </a:solidFill>
                  </a:tcPr>
                </a:tc>
                <a:tc>
                  <a:txBody>
                    <a:bodyPr wrap="square"/>
                    <a:lstStyle/>
                    <a:p>
                      <a:pPr algn="ctr"/>
                      <a:r>
                        <a:rPr sz="1150" b="0">
                          <a:solidFill>
                            <a:srgbClr val="141414"/>
                          </a:solidFill>
                          <a:latin typeface="Montserrat"/>
                        </a:rPr>
                        <a:t>100</a:t>
                      </a:r>
                    </a:p>
                  </a:txBody>
                  <a:tcPr marL="73152" marR="73152" marT="27432" marB="27432" anchor="ctr">
                    <a:solidFill>
                      <a:srgbClr val="FAFAF6"/>
                    </a:solidFill>
                  </a:tcPr>
                </a:tc>
                <a:tc>
                  <a:txBody>
                    <a:bodyPr wrap="square"/>
                    <a:lstStyle/>
                    <a:p>
                      <a:pPr algn="ctr"/>
                      <a:r>
                        <a:rPr sz="1150" b="0">
                          <a:solidFill>
                            <a:srgbClr val="141414"/>
                          </a:solidFill>
                          <a:latin typeface="Montserrat"/>
                        </a:rPr>
                        <a:t>Relevé mensuel</a:t>
                      </a:r>
                    </a:p>
                  </a:txBody>
                  <a:tcPr marL="73152" marR="73152" marT="27432" marB="27432" anchor="ctr">
                    <a:solidFill>
                      <a:srgbClr val="FAFAF6"/>
                    </a:solidFill>
                  </a:tcPr>
                </a:tc>
              </a:tr>
              <a:tr h="502920">
                <a:tc>
                  <a:txBody>
                    <a:bodyPr wrap="square"/>
                    <a:lstStyle/>
                    <a:p>
                      <a:pPr algn="l"/>
                      <a:r>
                        <a:rPr sz="1150" b="0">
                          <a:solidFill>
                            <a:srgbClr val="141414"/>
                          </a:solidFill>
                          <a:latin typeface="Montserrat"/>
                        </a:rPr>
                        <a:t>Commentaires médians par post LinkedIn</a:t>
                      </a:r>
                    </a:p>
                  </a:txBody>
                  <a:tcPr marL="73152" marR="73152" marT="27432" marB="27432" anchor="ctr">
                    <a:solidFill>
                      <a:srgbClr val="FFFFFF"/>
                    </a:solidFill>
                  </a:tcPr>
                </a:tc>
                <a:tc>
                  <a:txBody>
                    <a:bodyPr wrap="square"/>
                    <a:lstStyle/>
                    <a:p>
                      <a:pPr algn="ctr"/>
                      <a:r>
                        <a:rPr sz="1150" b="0">
                          <a:solidFill>
                            <a:srgbClr val="141414"/>
                          </a:solidFill>
                          <a:latin typeface="Montserrat"/>
                        </a:rPr>
                        <a:t>1,5</a:t>
                      </a:r>
                    </a:p>
                  </a:txBody>
                  <a:tcPr marL="73152" marR="73152" marT="27432" marB="27432" anchor="ctr">
                    <a:solidFill>
                      <a:srgbClr val="FFFFFF"/>
                    </a:solidFill>
                  </a:tcPr>
                </a:tc>
                <a:tc>
                  <a:txBody>
                    <a:bodyPr wrap="square"/>
                    <a:lstStyle/>
                    <a:p>
                      <a:pPr algn="ctr"/>
                      <a:r>
                        <a:rPr sz="1150" b="0">
                          <a:solidFill>
                            <a:srgbClr val="141414"/>
                          </a:solidFill>
                          <a:latin typeface="Montserrat"/>
                        </a:rPr>
                        <a:t>5</a:t>
                      </a:r>
                    </a:p>
                  </a:txBody>
                  <a:tcPr marL="73152" marR="73152" marT="27432" marB="27432" anchor="ctr">
                    <a:solidFill>
                      <a:srgbClr val="FFFFFF"/>
                    </a:solidFill>
                  </a:tcPr>
                </a:tc>
                <a:tc>
                  <a:txBody>
                    <a:bodyPr wrap="square"/>
                    <a:lstStyle/>
                    <a:p>
                      <a:pPr algn="ctr"/>
                      <a:r>
                        <a:rPr sz="1150" b="0">
                          <a:solidFill>
                            <a:srgbClr val="141414"/>
                          </a:solidFill>
                          <a:latin typeface="Montserrat"/>
                        </a:rPr>
                        <a:t>Relevé mensuel</a:t>
                      </a:r>
                    </a:p>
                  </a:txBody>
                  <a:tcPr marL="73152" marR="73152" marT="27432" marB="27432" anchor="ctr">
                    <a:solidFill>
                      <a:srgbClr val="FFFFFF"/>
                    </a:solidFill>
                  </a:tcPr>
                </a:tc>
              </a:tr>
              <a:tr h="502920">
                <a:tc>
                  <a:txBody>
                    <a:bodyPr wrap="square"/>
                    <a:lstStyle/>
                    <a:p>
                      <a:pPr algn="l"/>
                      <a:r>
                        <a:rPr sz="1150" b="0">
                          <a:solidFill>
                            <a:srgbClr val="141414"/>
                          </a:solidFill>
                          <a:latin typeface="Montserrat"/>
                        </a:rPr>
                        <a:t>Abonnés LinkedIn</a:t>
                      </a:r>
                    </a:p>
                  </a:txBody>
                  <a:tcPr marL="73152" marR="73152" marT="27432" marB="27432" anchor="ctr">
                    <a:solidFill>
                      <a:srgbClr val="FAFAF6"/>
                    </a:solidFill>
                  </a:tcPr>
                </a:tc>
                <a:tc>
                  <a:txBody>
                    <a:bodyPr wrap="square"/>
                    <a:lstStyle/>
                    <a:p>
                      <a:pPr algn="ctr"/>
                      <a:r>
                        <a:rPr sz="1150" b="0">
                          <a:solidFill>
                            <a:srgbClr val="141414"/>
                          </a:solidFill>
                          <a:latin typeface="Montserrat"/>
                        </a:rPr>
                        <a:t>14 457</a:t>
                      </a:r>
                    </a:p>
                  </a:txBody>
                  <a:tcPr marL="73152" marR="73152" marT="27432" marB="27432" anchor="ctr">
                    <a:solidFill>
                      <a:srgbClr val="FAFAF6"/>
                    </a:solidFill>
                  </a:tcPr>
                </a:tc>
                <a:tc>
                  <a:txBody>
                    <a:bodyPr wrap="square"/>
                    <a:lstStyle/>
                    <a:p>
                      <a:pPr algn="ctr"/>
                      <a:r>
                        <a:rPr sz="1150" b="0">
                          <a:solidFill>
                            <a:srgbClr val="141414"/>
                          </a:solidFill>
                          <a:latin typeface="Montserrat"/>
                        </a:rPr>
                        <a:t>15 000</a:t>
                      </a:r>
                    </a:p>
                  </a:txBody>
                  <a:tcPr marL="73152" marR="73152" marT="27432" marB="27432" anchor="ctr">
                    <a:solidFill>
                      <a:srgbClr val="FAFAF6"/>
                    </a:solidFill>
                  </a:tcPr>
                </a:tc>
                <a:tc>
                  <a:txBody>
                    <a:bodyPr wrap="square"/>
                    <a:lstStyle/>
                    <a:p>
                      <a:pPr algn="ctr"/>
                      <a:r>
                        <a:rPr sz="1150" b="0">
                          <a:solidFill>
                            <a:srgbClr val="141414"/>
                          </a:solidFill>
                          <a:latin typeface="Montserrat"/>
                        </a:rPr>
                        <a:t>Son profil</a:t>
                      </a:r>
                    </a:p>
                  </a:txBody>
                  <a:tcPr marL="73152" marR="73152" marT="27432" marB="27432" anchor="ctr">
                    <a:solidFill>
                      <a:srgbClr val="FAFAF6"/>
                    </a:solidFill>
                  </a:tcPr>
                </a:tc>
              </a:tr>
              <a:tr h="502920">
                <a:tc>
                  <a:txBody>
                    <a:bodyPr wrap="square"/>
                    <a:lstStyle/>
                    <a:p>
                      <a:pPr algn="l"/>
                      <a:r>
                        <a:rPr sz="1150" b="0">
                          <a:solidFill>
                            <a:srgbClr val="141414"/>
                          </a:solidFill>
                          <a:latin typeface="Montserrat"/>
                        </a:rPr>
                        <a:t>Posts Instagram publiés par lui seul</a:t>
                      </a:r>
                    </a:p>
                  </a:txBody>
                  <a:tcPr marL="73152" marR="73152" marT="27432" marB="27432" anchor="ctr">
                    <a:solidFill>
                      <a:srgbClr val="FFFFFF"/>
                    </a:solidFill>
                  </a:tcPr>
                </a:tc>
                <a:tc>
                  <a:txBody>
                    <a:bodyPr wrap="square"/>
                    <a:lstStyle/>
                    <a:p>
                      <a:pPr algn="ctr"/>
                      <a:r>
                        <a:rPr sz="1150" b="0">
                          <a:solidFill>
                            <a:srgbClr val="141414"/>
                          </a:solidFill>
                          <a:latin typeface="Montserrat"/>
                        </a:rPr>
                        <a:t>aucun depuis le 1er mai</a:t>
                      </a:r>
                    </a:p>
                  </a:txBody>
                  <a:tcPr marL="73152" marR="73152" marT="27432" marB="27432" anchor="ctr">
                    <a:solidFill>
                      <a:srgbClr val="FFFFFF"/>
                    </a:solidFill>
                  </a:tcPr>
                </a:tc>
                <a:tc>
                  <a:txBody>
                    <a:bodyPr wrap="square"/>
                    <a:lstStyle/>
                    <a:p>
                      <a:pPr algn="ctr"/>
                      <a:r>
                        <a:rPr sz="1150" b="0">
                          <a:solidFill>
                            <a:srgbClr val="141414"/>
                          </a:solidFill>
                          <a:latin typeface="Montserrat"/>
                        </a:rPr>
                        <a:t>6 en 13 semaines</a:t>
                      </a:r>
                    </a:p>
                  </a:txBody>
                  <a:tcPr marL="73152" marR="73152" marT="27432" marB="27432" anchor="ctr">
                    <a:solidFill>
                      <a:srgbClr val="FFFFFF"/>
                    </a:solidFill>
                  </a:tcPr>
                </a:tc>
                <a:tc>
                  <a:txBody>
                    <a:bodyPr wrap="square"/>
                    <a:lstStyle/>
                    <a:p>
                      <a:pPr algn="ctr"/>
                      <a:r>
                        <a:rPr sz="1150" b="0">
                          <a:solidFill>
                            <a:srgbClr val="141414"/>
                          </a:solidFill>
                          <a:latin typeface="Montserrat"/>
                        </a:rPr>
                        <a:t>Sa grille</a:t>
                      </a:r>
                    </a:p>
                  </a:txBody>
                  <a:tcPr marL="73152" marR="73152" marT="27432" marB="27432" anchor="ctr">
                    <a:solidFill>
                      <a:srgbClr val="FFFFFF"/>
                    </a:solidFill>
                  </a:tcPr>
                </a:tc>
              </a:tr>
              <a:tr h="502920">
                <a:tc>
                  <a:txBody>
                    <a:bodyPr wrap="square"/>
                    <a:lstStyle/>
                    <a:p>
                      <a:pPr algn="l"/>
                      <a:r>
                        <a:rPr sz="1150" b="0">
                          <a:solidFill>
                            <a:srgbClr val="141414"/>
                          </a:solidFill>
                          <a:latin typeface="Montserrat"/>
                        </a:rPr>
                        <a:t>Publications épinglées sur Instagram</a:t>
                      </a:r>
                    </a:p>
                  </a:txBody>
                  <a:tcPr marL="73152" marR="73152" marT="27432" marB="27432" anchor="ctr">
                    <a:solidFill>
                      <a:srgbClr val="FAFAF6"/>
                    </a:solidFill>
                  </a:tcPr>
                </a:tc>
                <a:tc>
                  <a:txBody>
                    <a:bodyPr wrap="square"/>
                    <a:lstStyle/>
                    <a:p>
                      <a:pPr algn="ctr"/>
                      <a:r>
                        <a:rPr sz="1150" b="0">
                          <a:solidFill>
                            <a:srgbClr val="141414"/>
                          </a:solidFill>
                          <a:latin typeface="Montserrat"/>
                        </a:rPr>
                        <a:t>0</a:t>
                      </a:r>
                    </a:p>
                  </a:txBody>
                  <a:tcPr marL="73152" marR="73152" marT="27432" marB="27432" anchor="ctr">
                    <a:solidFill>
                      <a:srgbClr val="FAFAF6"/>
                    </a:solidFill>
                  </a:tcPr>
                </a:tc>
                <a:tc>
                  <a:txBody>
                    <a:bodyPr wrap="square"/>
                    <a:lstStyle/>
                    <a:p>
                      <a:pPr algn="ctr"/>
                      <a:r>
                        <a:rPr sz="1150" b="0">
                          <a:solidFill>
                            <a:srgbClr val="141414"/>
                          </a:solidFill>
                          <a:latin typeface="Montserrat"/>
                        </a:rPr>
                        <a:t>3</a:t>
                      </a:r>
                    </a:p>
                  </a:txBody>
                  <a:tcPr marL="73152" marR="73152" marT="27432" marB="27432" anchor="ctr">
                    <a:solidFill>
                      <a:srgbClr val="FAFAF6"/>
                    </a:solidFill>
                  </a:tcPr>
                </a:tc>
                <a:tc>
                  <a:txBody>
                    <a:bodyPr wrap="square"/>
                    <a:lstStyle/>
                    <a:p>
                      <a:pPr algn="ctr"/>
                      <a:r>
                        <a:rPr sz="1150" b="0">
                          <a:solidFill>
                            <a:srgbClr val="141414"/>
                          </a:solidFill>
                          <a:latin typeface="Montserrat"/>
                        </a:rPr>
                        <a:t>Sa grille</a:t>
                      </a:r>
                    </a:p>
                  </a:txBody>
                  <a:tcPr marL="73152" marR="73152" marT="27432" marB="27432" anchor="ctr">
                    <a:solidFill>
                      <a:srgbClr val="FAFAF6"/>
                    </a:solidFill>
                  </a:tcPr>
                </a:tc>
              </a:tr>
              <a:tr h="502920">
                <a:tc>
                  <a:txBody>
                    <a:bodyPr wrap="square"/>
                    <a:lstStyle/>
                    <a:p>
                      <a:pPr algn="l"/>
                      <a:r>
                        <a:rPr sz="1150" b="0">
                          <a:solidFill>
                            <a:srgbClr val="141414"/>
                          </a:solidFill>
                          <a:latin typeface="Montserrat"/>
                        </a:rPr>
                        <a:t>Portée, visites, abonnés gagnés</a:t>
                      </a:r>
                    </a:p>
                  </a:txBody>
                  <a:tcPr marL="73152" marR="73152" marT="27432" marB="27432" anchor="ctr">
                    <a:solidFill>
                      <a:srgbClr val="FFFFFF"/>
                    </a:solidFill>
                  </a:tcPr>
                </a:tc>
                <a:tc>
                  <a:txBody>
                    <a:bodyPr wrap="square"/>
                    <a:lstStyle/>
                    <a:p>
                      <a:pPr algn="ctr"/>
                      <a:r>
                        <a:rPr sz="1150" b="0">
                          <a:solidFill>
                            <a:srgbClr val="141414"/>
                          </a:solidFill>
                          <a:latin typeface="Montserrat"/>
                        </a:rPr>
                        <a:t>non disponibles</a:t>
                      </a:r>
                    </a:p>
                  </a:txBody>
                  <a:tcPr marL="73152" marR="73152" marT="27432" marB="27432" anchor="ctr">
                    <a:solidFill>
                      <a:srgbClr val="FFFFFF"/>
                    </a:solidFill>
                  </a:tcPr>
                </a:tc>
                <a:tc>
                  <a:txBody>
                    <a:bodyPr wrap="square"/>
                    <a:lstStyle/>
                    <a:p>
                      <a:pPr algn="ctr"/>
                      <a:r>
                        <a:rPr sz="1150" b="0">
                          <a:solidFill>
                            <a:srgbClr val="141414"/>
                          </a:solidFill>
                          <a:latin typeface="Montserrat"/>
                        </a:rPr>
                        <a:t>capture mensuelle</a:t>
                      </a:r>
                    </a:p>
                  </a:txBody>
                  <a:tcPr marL="73152" marR="73152" marT="27432" marB="27432" anchor="ctr">
                    <a:solidFill>
                      <a:srgbClr val="FFFFFF"/>
                    </a:solidFill>
                  </a:tcPr>
                </a:tc>
                <a:tc>
                  <a:txBody>
                    <a:bodyPr wrap="square"/>
                    <a:lstStyle/>
                    <a:p>
                      <a:pPr algn="ctr"/>
                      <a:r>
                        <a:rPr sz="1150" b="0">
                          <a:solidFill>
                            <a:srgbClr val="141414"/>
                          </a:solidFill>
                          <a:latin typeface="Montserrat"/>
                        </a:rPr>
                        <a:t>Ses statistiques</a:t>
                      </a:r>
                    </a:p>
                  </a:txBody>
                  <a:tcPr marL="73152" marR="73152" marT="27432" marB="27432" anchor="ctr">
                    <a:solidFill>
                      <a:srgbClr val="FFFFFF"/>
                    </a:solidFill>
                  </a:tcPr>
                </a:tc>
              </a:tr>
            </a:tbl>
          </a:graphicData>
        </a:graphic>
      </p:graphicFrame>
      <p:sp>
        <p:nvSpPr>
          <p:cNvPr id="7" name="TextBox 6"/>
          <p:cNvSpPr txBox="1"/>
          <p:nvPr/>
        </p:nvSpPr>
        <p:spPr>
          <a:xfrm>
            <a:off x="548640" y="5532120"/>
            <a:ext cx="11064240" cy="548640"/>
          </a:xfrm>
          <a:prstGeom prst="rect">
            <a:avLst/>
          </a:prstGeom>
          <a:noFill/>
        </p:spPr>
        <p:txBody>
          <a:bodyPr wrap="square" lIns="18288" rIns="18288" tIns="18288" bIns="18288" anchor="t">
            <a:spAutoFit/>
          </a:bodyPr>
          <a:lstStyle/>
          <a:p>
            <a:pPr algn="l">
              <a:lnSpc>
                <a:spcPct val="112000"/>
              </a:lnSpc>
            </a:pPr>
            <a:r>
              <a:rPr sz="1150" b="0" i="0">
                <a:solidFill>
                  <a:srgbClr val="141414"/>
                </a:solidFill>
                <a:latin typeface="Montserrat"/>
              </a:rPr>
              <a:t>Les statistiques privées (portée, visites du profil, abonnés gagnés) ne se lisent que depuis ses comptes : une capture d'écran par mois suffit pour compléter ce tableau.</a:t>
            </a:r>
          </a:p>
        </p:txBody>
      </p:sp>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30 / 42</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sec6.jpg"/>
          <p:cNvPicPr>
            <a:picLocks noChangeAspect="1"/>
          </p:cNvPicPr>
          <p:nvPr/>
        </p:nvPicPr>
        <p:blipFill>
          <a:blip r:embed="rId2"/>
          <a:stretch>
            <a:fillRect/>
          </a:stretch>
        </p:blipFill>
        <p:spPr>
          <a:xfrm>
            <a:off x="6702552" y="685800"/>
            <a:ext cx="5486400" cy="5486400"/>
          </a:xfrm>
          <a:prstGeom prst="rect">
            <a:avLst/>
          </a:prstGeom>
        </p:spPr>
      </p:pic>
      <p:sp>
        <p:nvSpPr>
          <p:cNvPr id="3" name="Rectangle 2"/>
          <p:cNvSpPr/>
          <p:nvPr/>
        </p:nvSpPr>
        <p:spPr>
          <a:xfrm>
            <a:off x="6702552" y="0"/>
            <a:ext cx="73152" cy="6858000"/>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486400" cy="1463040"/>
          </a:xfrm>
          <a:prstGeom prst="rect">
            <a:avLst/>
          </a:prstGeom>
          <a:noFill/>
        </p:spPr>
        <p:txBody>
          <a:bodyPr wrap="square" lIns="18288" rIns="18288" tIns="18288" bIns="18288" anchor="t">
            <a:spAutoFit/>
          </a:bodyPr>
          <a:lstStyle/>
          <a:p>
            <a:pPr algn="l">
              <a:lnSpc>
                <a:spcPct val="112000"/>
              </a:lnSpc>
            </a:pPr>
            <a:r>
              <a:rPr sz="9600" b="1" i="0">
                <a:solidFill>
                  <a:srgbClr val="B6D401"/>
                </a:solidFill>
                <a:latin typeface="Montserrat"/>
              </a:rPr>
              <a:t>06</a:t>
            </a:r>
          </a:p>
        </p:txBody>
      </p:sp>
      <p:sp>
        <p:nvSpPr>
          <p:cNvPr id="5" name="TextBox 4"/>
          <p:cNvSpPr txBox="1"/>
          <p:nvPr/>
        </p:nvSpPr>
        <p:spPr>
          <a:xfrm>
            <a:off x="731520" y="3063240"/>
            <a:ext cx="5669280" cy="914400"/>
          </a:xfrm>
          <a:prstGeom prst="rect">
            <a:avLst/>
          </a:prstGeom>
          <a:noFill/>
        </p:spPr>
        <p:txBody>
          <a:bodyPr wrap="square" lIns="18288" rIns="18288" tIns="18288" bIns="18288" anchor="t">
            <a:spAutoFit/>
          </a:bodyPr>
          <a:lstStyle/>
          <a:p>
            <a:pPr algn="l">
              <a:lnSpc>
                <a:spcPct val="112000"/>
              </a:lnSpc>
            </a:pPr>
            <a:r>
              <a:rPr sz="4000" b="1" i="0">
                <a:solidFill>
                  <a:srgbClr val="FFFFFF"/>
                </a:solidFill>
                <a:latin typeface="Montserrat"/>
              </a:rPr>
              <a:t>Premier lot, prêt à valider</a:t>
            </a:r>
          </a:p>
        </p:txBody>
      </p:sp>
      <p:sp>
        <p:nvSpPr>
          <p:cNvPr id="6" name="TextBox 5"/>
          <p:cNvSpPr txBox="1"/>
          <p:nvPr/>
        </p:nvSpPr>
        <p:spPr>
          <a:xfrm>
            <a:off x="731520" y="4069080"/>
            <a:ext cx="5486400" cy="1280160"/>
          </a:xfrm>
          <a:prstGeom prst="rect">
            <a:avLst/>
          </a:prstGeom>
          <a:noFill/>
        </p:spPr>
        <p:txBody>
          <a:bodyPr wrap="square" lIns="18288" rIns="18288" tIns="18288" bIns="18288" anchor="t">
            <a:spAutoFit/>
          </a:bodyPr>
          <a:lstStyle/>
          <a:p>
            <a:pPr algn="l">
              <a:lnSpc>
                <a:spcPct val="112000"/>
              </a:lnSpc>
            </a:pPr>
            <a:r>
              <a:rPr sz="1600" b="0" i="0">
                <a:solidFill>
                  <a:srgbClr val="A1A1A8"/>
                </a:solidFill>
                <a:latin typeface="Montserrat"/>
              </a:rPr>
              <a:t>Profils réécrits, trois posts LinkedIn, deux posts Instagram. Rien ne part sans l'accord de Kahi.</a:t>
            </a:r>
          </a:p>
        </p:txBody>
      </p:sp>
      <p:pic>
        <p:nvPicPr>
          <p:cNvPr id="7" name="Picture 6" descr="logo.png"/>
          <p:cNvPicPr>
            <a:picLocks noChangeAspect="1"/>
          </p:cNvPicPr>
          <p:nvPr/>
        </p:nvPicPr>
        <p:blipFill>
          <a:blip r:embed="rId3"/>
          <a:stretch>
            <a:fillRect/>
          </a:stretch>
        </p:blipFill>
        <p:spPr>
          <a:xfrm>
            <a:off x="731520" y="5897880"/>
            <a:ext cx="1092631" cy="548640"/>
          </a:xfrm>
          <a:prstGeom prst="rect">
            <a:avLst/>
          </a:prstGeom>
        </p:spPr>
      </p:pic>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31 / 42</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PROFIL</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LinkedIn : la vitrine, avant et après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420624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72768"/>
            <a:ext cx="3749039"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AVANT</a:t>
            </a:r>
          </a:p>
        </p:txBody>
      </p:sp>
      <p:sp>
        <p:nvSpPr>
          <p:cNvPr id="8" name="TextBox 7"/>
          <p:cNvSpPr txBox="1"/>
          <p:nvPr/>
        </p:nvSpPr>
        <p:spPr>
          <a:xfrm>
            <a:off x="777240" y="1874519"/>
            <a:ext cx="3749039" cy="1097280"/>
          </a:xfrm>
          <a:prstGeom prst="rect">
            <a:avLst/>
          </a:prstGeom>
          <a:noFill/>
        </p:spPr>
        <p:txBody>
          <a:bodyPr wrap="square" lIns="18288" rIns="18288" tIns="18288" bIns="18288" anchor="t">
            <a:spAutoFit/>
          </a:bodyPr>
          <a:lstStyle/>
          <a:p>
            <a:pPr algn="l">
              <a:lnSpc>
                <a:spcPct val="112000"/>
              </a:lnSpc>
            </a:pPr>
            <a:r>
              <a:rPr sz="1050" b="1" i="0">
                <a:solidFill>
                  <a:srgbClr val="141414"/>
                </a:solidFill>
                <a:latin typeface="Montserrat"/>
              </a:rPr>
              <a:t>Co-Founder &amp; CEO at TOTEM EXPERIENCE, ADICOMDAYS &amp; ENTREPRENEUR STATE OF AFRICA / Building panafrican communities for Digital, Brands and Entrepreneurs</a:t>
            </a:r>
          </a:p>
        </p:txBody>
      </p:sp>
      <p:sp>
        <p:nvSpPr>
          <p:cNvPr id="9" name="TextBox 8"/>
          <p:cNvSpPr txBox="1"/>
          <p:nvPr/>
        </p:nvSpPr>
        <p:spPr>
          <a:xfrm>
            <a:off x="777240" y="3063240"/>
            <a:ext cx="3749039" cy="274320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Africa digital revolution is on the way and I am proud to be part of it with the Totem Experience team (Paris-Abidjan-Dakar-Accra-Brazzaville) #EntrepreneurStateOfAfrica
CLIENTS: Dove, Air France, Canal+ Afrique, Coca-Cola, Axe, Heineken, ECAir, ViaMondo, AfriknFusion, Société Générale, CFAO, Orange Money Diaspora, Accor Hôtels…</a:t>
            </a:r>
          </a:p>
        </p:txBody>
      </p:sp>
      <p:sp>
        <p:nvSpPr>
          <p:cNvPr id="10" name="Rectangle 9"/>
          <p:cNvSpPr/>
          <p:nvPr/>
        </p:nvSpPr>
        <p:spPr>
          <a:xfrm>
            <a:off x="4983480" y="1417320"/>
            <a:ext cx="6629400" cy="4526280"/>
          </a:xfrm>
          <a:prstGeom prst="rect">
            <a:avLst/>
          </a:prstGeom>
          <a:solidFill>
            <a:srgbClr val="FFFFFF"/>
          </a:solidFill>
          <a:ln w="12700">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983480" y="1417320"/>
            <a:ext cx="6629400" cy="73152"/>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1572768"/>
            <a:ext cx="621792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APRÈS (PROPOSITION)</a:t>
            </a:r>
          </a:p>
        </p:txBody>
      </p:sp>
      <p:sp>
        <p:nvSpPr>
          <p:cNvPr id="13" name="TextBox 12"/>
          <p:cNvSpPr txBox="1"/>
          <p:nvPr/>
        </p:nvSpPr>
        <p:spPr>
          <a:xfrm>
            <a:off x="5212080" y="1874519"/>
            <a:ext cx="6217920" cy="777240"/>
          </a:xfrm>
          <a:prstGeom prst="rect">
            <a:avLst/>
          </a:prstGeom>
          <a:noFill/>
        </p:spPr>
        <p:txBody>
          <a:bodyPr wrap="square" lIns="18288" rIns="18288" tIns="18288" bIns="18288" anchor="t">
            <a:spAutoFit/>
          </a:bodyPr>
          <a:lstStyle/>
          <a:p>
            <a:pPr algn="l">
              <a:lnSpc>
                <a:spcPct val="112000"/>
              </a:lnSpc>
            </a:pPr>
            <a:r>
              <a:rPr sz="1100" b="1" i="0">
                <a:solidFill>
                  <a:srgbClr val="141414"/>
                </a:solidFill>
                <a:latin typeface="Montserrat"/>
              </a:rPr>
              <a:t>CEO et cofondateur de Totem Experience · Fondateur des ADICOM Days · Coanimateur du podcast State of Africa · Producteur associé de WHO · Je lis le digital africain pour ceux qui décident</a:t>
            </a:r>
          </a:p>
        </p:txBody>
      </p:sp>
      <p:sp>
        <p:nvSpPr>
          <p:cNvPr id="14" name="TextBox 13"/>
          <p:cNvSpPr txBox="1"/>
          <p:nvPr/>
        </p:nvSpPr>
        <p:spPr>
          <a:xfrm>
            <a:off x="5212080" y="2697480"/>
            <a:ext cx="6217920" cy="3200400"/>
          </a:xfrm>
          <a:prstGeom prst="rect">
            <a:avLst/>
          </a:prstGeom>
          <a:noFill/>
        </p:spPr>
        <p:txBody>
          <a:bodyPr wrap="square" lIns="18288" rIns="18288" tIns="18288" bIns="18288" anchor="t">
            <a:spAutoFit/>
          </a:bodyPr>
          <a:lstStyle/>
          <a:p>
            <a:pPr algn="l">
              <a:lnSpc>
                <a:spcPct val="105000"/>
              </a:lnSpc>
            </a:pPr>
            <a:r>
              <a:rPr sz="980" b="0" i="0">
                <a:solidFill>
                  <a:srgbClr val="1A1A1C"/>
                </a:solidFill>
                <a:latin typeface="Montserrat"/>
              </a:rPr>
              <a:t>Depuis 2013, je construis des ponts entre les marques et la créativité africaine.</a:t>
            </a:r>
          </a:p>
          <a:p>
            <a:pPr algn="l">
              <a:lnSpc>
                <a:spcPct val="105000"/>
              </a:lnSpc>
            </a:pPr>
            <a:r>
              <a:rPr sz="980" b="0" i="0">
                <a:solidFill>
                  <a:srgbClr val="1A1A1C"/>
                </a:solidFill>
                <a:latin typeface="Montserrat"/>
              </a:rPr>
              <a:t>Totem Experience, le groupe que j'ai cofondé, accompagne les marques depuis sept pays : Côte d'Ivoire, RDC, France, Guinée, Bénin, Mali et Sénégal. Plus de 300 marques nous ont fait confiance, d'Orange à Ecobank, de Visa à Canal+ Afrique.</a:t>
            </a:r>
          </a:p>
          <a:p>
            <a:pPr algn="l">
              <a:lnSpc>
                <a:spcPct val="105000"/>
              </a:lnSpc>
            </a:pPr>
            <a:r>
              <a:rPr sz="980" b="0" i="0">
                <a:solidFill>
                  <a:srgbClr val="1A1A1C"/>
                </a:solidFill>
                <a:latin typeface="Montserrat"/>
              </a:rPr>
              <a:t>Avec les ADICOM Days, nous réunissons chaque année à Abidjan les professionnels du digital africain : dix éditions depuis Paris 2017.</a:t>
            </a:r>
          </a:p>
          <a:p>
            <a:pPr algn="l">
              <a:lnSpc>
                <a:spcPct val="105000"/>
              </a:lnSpc>
            </a:pPr>
            <a:r>
              <a:rPr sz="980" b="0" i="0">
                <a:solidFill>
                  <a:srgbClr val="1A1A1C"/>
                </a:solidFill>
                <a:latin typeface="Montserrat"/>
              </a:rPr>
              <a:t>Avec Moulaye Tabouré, j'anime State of Africa, le podcast qui dit tout haut ce que les entrepreneurs pensent tout bas.</a:t>
            </a:r>
          </a:p>
          <a:p>
            <a:pPr algn="l">
              <a:lnSpc>
                <a:spcPct val="105000"/>
              </a:lnSpc>
            </a:pPr>
            <a:r>
              <a:rPr sz="980" b="0" i="0">
                <a:solidFill>
                  <a:srgbClr val="1A1A1C"/>
                </a:solidFill>
                <a:latin typeface="Montserrat"/>
              </a:rPr>
              <a:t>Depuis 2026, je suis aussi producteur associé de WHO, le premier long-métrage de Wil Aime, sorti dans dix pays d'Afrique francophone.</a:t>
            </a:r>
          </a:p>
          <a:p>
            <a:pPr algn="l">
              <a:lnSpc>
                <a:spcPct val="105000"/>
              </a:lnSpc>
            </a:pPr>
            <a:r>
              <a:rPr sz="980" b="0" i="0">
                <a:solidFill>
                  <a:srgbClr val="1A1A1C"/>
                </a:solidFill>
                <a:latin typeface="Montserrat"/>
              </a:rPr>
              <a:t>Ma conviction : les marques n'attendent plus seulement de belles campagnes. Elles attendent des partenaires qui contribuent à leurs résultats.</a:t>
            </a:r>
          </a:p>
          <a:p>
            <a:pPr algn="l">
              <a:lnSpc>
                <a:spcPct val="105000"/>
              </a:lnSpc>
            </a:pPr>
            <a:r>
              <a:rPr sz="980" b="0" i="0">
                <a:solidFill>
                  <a:srgbClr val="1A1A1C"/>
                </a:solidFill>
                <a:latin typeface="Montserrat"/>
              </a:rPr>
              <a:t>Travailler avec Totem : totem-experience.com</a:t>
            </a:r>
          </a:p>
        </p:txBody>
      </p:sp>
      <p:sp>
        <p:nvSpPr>
          <p:cNvPr id="15" name="TextBox 14"/>
          <p:cNvSpPr txBox="1"/>
          <p:nvPr/>
        </p:nvSpPr>
        <p:spPr>
          <a:xfrm>
            <a:off x="548640" y="6035040"/>
            <a:ext cx="11064240" cy="365760"/>
          </a:xfrm>
          <a:prstGeom prst="rect">
            <a:avLst/>
          </a:prstGeom>
          <a:noFill/>
        </p:spPr>
        <p:txBody>
          <a:bodyPr wrap="square" lIns="18288" rIns="18288" tIns="18288" bIns="18288" anchor="t">
            <a:spAutoFit/>
          </a:bodyPr>
          <a:lstStyle/>
          <a:p>
            <a:pPr algn="l">
              <a:lnSpc>
                <a:spcPct val="112000"/>
              </a:lnSpc>
            </a:pPr>
            <a:r>
              <a:rPr sz="950" b="0" i="1">
                <a:solidFill>
                  <a:srgbClr val="6E6E73"/>
                </a:solidFill>
                <a:latin typeface="Montserrat"/>
              </a:rPr>
              <a:t>Titre : 187 signes sur 220 autorisés. Bannière à refaire par l'équipe créa : « Digital Communication Group · 7 pays · ADICOM 10 · State of Africa · WHO ». Section « Sélection » : épingler les posts du 24/04 et du 05/05.</a:t>
            </a:r>
          </a:p>
        </p:txBody>
      </p:sp>
      <p:sp>
        <p:nvSpPr>
          <p:cNvPr id="16" name="TextBox 15"/>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7" name="TextBox 16"/>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32 / 42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PROFIL</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Instagram : la bio, avant et après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5303520" cy="329184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72768"/>
            <a:ext cx="484632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AVANT</a:t>
            </a:r>
          </a:p>
        </p:txBody>
      </p:sp>
      <p:sp>
        <p:nvSpPr>
          <p:cNvPr id="8" name="TextBox 7"/>
          <p:cNvSpPr txBox="1"/>
          <p:nvPr/>
        </p:nvSpPr>
        <p:spPr>
          <a:xfrm>
            <a:off x="777240" y="1920240"/>
            <a:ext cx="4846320" cy="1828800"/>
          </a:xfrm>
          <a:prstGeom prst="rect">
            <a:avLst/>
          </a:prstGeom>
          <a:noFill/>
        </p:spPr>
        <p:txBody>
          <a:bodyPr wrap="square" lIns="18288" rIns="18288" tIns="18288" bIns="18288" anchor="t">
            <a:spAutoFit/>
          </a:bodyPr>
          <a:lstStyle/>
          <a:p>
            <a:pPr algn="l">
              <a:lnSpc>
                <a:spcPct val="112000"/>
              </a:lnSpc>
            </a:pPr>
            <a:r>
              <a:rPr sz="1200" b="0" i="0">
                <a:solidFill>
                  <a:srgbClr val="1A1A1C"/>
                </a:solidFill>
                <a:latin typeface="Montserrat"/>
              </a:rPr>
              <a:t>Kahi Lumumba</a:t>
            </a:r>
          </a:p>
          <a:p>
            <a:pPr algn="l">
              <a:lnSpc>
                <a:spcPct val="112000"/>
              </a:lnSpc>
            </a:pPr>
            <a:r>
              <a:rPr sz="1200" b="0" i="0">
                <a:solidFill>
                  <a:srgbClr val="1A1A1C"/>
                </a:solidFill>
                <a:latin typeface="Montserrat"/>
              </a:rPr>
              <a:t>💻Entrepreneur panafricain engagé!</a:t>
            </a:r>
          </a:p>
          <a:p>
            <a:pPr algn="l">
              <a:lnSpc>
                <a:spcPct val="112000"/>
              </a:lnSpc>
            </a:pPr>
            <a:r>
              <a:rPr sz="1200" b="0" i="0">
                <a:solidFill>
                  <a:srgbClr val="1A1A1C"/>
                </a:solidFill>
                <a:latin typeface="Montserrat"/>
              </a:rPr>
              <a:t>CEO @totemexperience @adicomfamily @entrepreneurstateofafrica</a:t>
            </a:r>
          </a:p>
          <a:p>
            <a:pPr algn="l">
              <a:lnSpc>
                <a:spcPct val="112000"/>
              </a:lnSpc>
            </a:pPr>
            <a:r>
              <a:rPr sz="1200" b="0" i="0">
                <a:solidFill>
                  <a:srgbClr val="1A1A1C"/>
                </a:solidFill>
                <a:latin typeface="Montserrat"/>
              </a:rPr>
              <a:t>Associate Producer @chaquedetailproductions</a:t>
            </a:r>
          </a:p>
        </p:txBody>
      </p:sp>
      <p:sp>
        <p:nvSpPr>
          <p:cNvPr id="9" name="TextBox 8"/>
          <p:cNvSpPr txBox="1"/>
          <p:nvPr/>
        </p:nvSpPr>
        <p:spPr>
          <a:xfrm>
            <a:off x="777240" y="3977639"/>
            <a:ext cx="4846320" cy="548640"/>
          </a:xfrm>
          <a:prstGeom prst="rect">
            <a:avLst/>
          </a:prstGeom>
          <a:noFill/>
        </p:spPr>
        <p:txBody>
          <a:bodyPr wrap="square" lIns="18288" rIns="18288" tIns="18288" bIns="18288" anchor="t">
            <a:spAutoFit/>
          </a:bodyPr>
          <a:lstStyle/>
          <a:p>
            <a:pPr algn="l">
              <a:lnSpc>
                <a:spcPct val="112000"/>
              </a:lnSpc>
            </a:pPr>
            <a:r>
              <a:rPr sz="1100" b="1" i="0">
                <a:solidFill>
                  <a:srgbClr val="6E6E73"/>
                </a:solidFill>
                <a:latin typeface="Montserrat"/>
              </a:rPr>
              <a:t>Lien : Postulez chez Totem Expérience</a:t>
            </a:r>
          </a:p>
        </p:txBody>
      </p:sp>
      <p:sp>
        <p:nvSpPr>
          <p:cNvPr id="10" name="Rectangle 9"/>
          <p:cNvSpPr/>
          <p:nvPr/>
        </p:nvSpPr>
        <p:spPr>
          <a:xfrm>
            <a:off x="6309360" y="1417320"/>
            <a:ext cx="5303520" cy="3291840"/>
          </a:xfrm>
          <a:prstGeom prst="rect">
            <a:avLst/>
          </a:prstGeom>
          <a:solidFill>
            <a:srgbClr val="FFFFFF"/>
          </a:solidFill>
          <a:ln w="12700">
            <a:solidFill>
              <a:srgbClr val="1414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09360" y="1417320"/>
            <a:ext cx="5303520" cy="73152"/>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60" y="1572768"/>
            <a:ext cx="4846320" cy="274320"/>
          </a:xfrm>
          <a:prstGeom prst="rect">
            <a:avLst/>
          </a:prstGeom>
          <a:noFill/>
        </p:spPr>
        <p:txBody>
          <a:bodyPr wrap="square" lIns="18288" rIns="18288" tIns="18288" bIns="18288" anchor="t">
            <a:spAutoFit/>
          </a:bodyPr>
          <a:lstStyle/>
          <a:p>
            <a:pPr algn="l">
              <a:lnSpc>
                <a:spcPct val="112000"/>
              </a:lnSpc>
            </a:pPr>
            <a:r>
              <a:rPr sz="1000" b="1" i="0">
                <a:solidFill>
                  <a:srgbClr val="141414"/>
                </a:solidFill>
                <a:latin typeface="Montserrat"/>
              </a:rPr>
              <a:t>APRÈS (PROPOSITION)</a:t>
            </a:r>
          </a:p>
        </p:txBody>
      </p:sp>
      <p:sp>
        <p:nvSpPr>
          <p:cNvPr id="13" name="TextBox 12"/>
          <p:cNvSpPr txBox="1"/>
          <p:nvPr/>
        </p:nvSpPr>
        <p:spPr>
          <a:xfrm>
            <a:off x="6537960" y="1920240"/>
            <a:ext cx="4846320" cy="1828800"/>
          </a:xfrm>
          <a:prstGeom prst="rect">
            <a:avLst/>
          </a:prstGeom>
          <a:noFill/>
        </p:spPr>
        <p:txBody>
          <a:bodyPr wrap="square" lIns="18288" rIns="18288" tIns="18288" bIns="18288" anchor="t">
            <a:spAutoFit/>
          </a:bodyPr>
          <a:lstStyle/>
          <a:p>
            <a:pPr algn="l">
              <a:lnSpc>
                <a:spcPct val="112000"/>
              </a:lnSpc>
            </a:pPr>
            <a:r>
              <a:rPr sz="1200" b="0" i="0">
                <a:solidFill>
                  <a:srgbClr val="1A1A1C"/>
                </a:solidFill>
                <a:latin typeface="Montserrat"/>
              </a:rPr>
              <a:t>Kahi Lumumba</a:t>
            </a:r>
          </a:p>
          <a:p>
            <a:pPr algn="l">
              <a:lnSpc>
                <a:spcPct val="112000"/>
              </a:lnSpc>
            </a:pPr>
            <a:r>
              <a:rPr sz="1200" b="0" i="0">
                <a:solidFill>
                  <a:srgbClr val="1A1A1C"/>
                </a:solidFill>
                <a:latin typeface="Montserrat"/>
              </a:rPr>
              <a:t>CEO @totemexperience · Fondateur @adicomfamily</a:t>
            </a:r>
          </a:p>
          <a:p>
            <a:pPr algn="l">
              <a:lnSpc>
                <a:spcPct val="112000"/>
              </a:lnSpc>
            </a:pPr>
            <a:r>
              <a:rPr sz="1200" b="0" i="0">
                <a:solidFill>
                  <a:srgbClr val="1A1A1C"/>
                </a:solidFill>
                <a:latin typeface="Montserrat"/>
              </a:rPr>
              <a:t>Coanime @entrepreneurstateofafrica</a:t>
            </a:r>
          </a:p>
          <a:p>
            <a:pPr algn="l">
              <a:lnSpc>
                <a:spcPct val="112000"/>
              </a:lnSpc>
            </a:pPr>
            <a:r>
              <a:rPr sz="1200" b="0" i="0">
                <a:solidFill>
                  <a:srgbClr val="1A1A1C"/>
                </a:solidFill>
                <a:latin typeface="Montserrat"/>
              </a:rPr>
              <a:t>Producteur associé de WHO 🎬</a:t>
            </a:r>
          </a:p>
          <a:p>
            <a:pPr algn="l">
              <a:lnSpc>
                <a:spcPct val="112000"/>
              </a:lnSpc>
            </a:pPr>
            <a:r>
              <a:rPr sz="1200" b="0" i="0">
                <a:solidFill>
                  <a:srgbClr val="1A1A1C"/>
                </a:solidFill>
                <a:latin typeface="Montserrat"/>
              </a:rPr>
              <a:t>Le digital africain, lu de l'intérieur</a:t>
            </a:r>
          </a:p>
        </p:txBody>
      </p:sp>
      <p:sp>
        <p:nvSpPr>
          <p:cNvPr id="14" name="TextBox 13"/>
          <p:cNvSpPr txBox="1"/>
          <p:nvPr/>
        </p:nvSpPr>
        <p:spPr>
          <a:xfrm>
            <a:off x="6537960" y="3977639"/>
            <a:ext cx="4846320" cy="548640"/>
          </a:xfrm>
          <a:prstGeom prst="rect">
            <a:avLst/>
          </a:prstGeom>
          <a:noFill/>
        </p:spPr>
        <p:txBody>
          <a:bodyPr wrap="square" lIns="18288" rIns="18288" tIns="18288" bIns="18288" anchor="t">
            <a:spAutoFit/>
          </a:bodyPr>
          <a:lstStyle/>
          <a:p>
            <a:pPr algn="l">
              <a:lnSpc>
                <a:spcPct val="112000"/>
              </a:lnSpc>
            </a:pPr>
            <a:r>
              <a:rPr sz="1100" b="1" i="0">
                <a:solidFill>
                  <a:srgbClr val="141414"/>
                </a:solidFill>
                <a:latin typeface="Montserrat"/>
              </a:rPr>
              <a:t>Lien : une page avec le podcast, ADICOM, Totem et WHO</a:t>
            </a:r>
          </a:p>
        </p:txBody>
      </p:sp>
      <p:sp>
        <p:nvSpPr>
          <p:cNvPr id="15" name="TextBox 14"/>
          <p:cNvSpPr txBox="1"/>
          <p:nvPr/>
        </p:nvSpPr>
        <p:spPr>
          <a:xfrm>
            <a:off x="548640" y="4937760"/>
            <a:ext cx="11064240" cy="1097280"/>
          </a:xfrm>
          <a:prstGeom prst="rect">
            <a:avLst/>
          </a:prstGeom>
          <a:noFill/>
        </p:spPr>
        <p:txBody>
          <a:bodyPr wrap="square">
            <a:spAutoFit/>
          </a:bodyPr>
          <a:lstStyle/>
          <a:p>
            <a:pPr>
              <a:lnSpc>
                <a:spcPct val="110000"/>
              </a:lnSpc>
              <a:spcAft>
                <a:spcPts val="1008"/>
              </a:spcAft>
            </a:pPr>
            <a:r>
              <a:rPr sz="900">
                <a:solidFill>
                  <a:srgbClr val="141414"/>
                </a:solidFill>
                <a:latin typeface="Montserrat"/>
              </a:rPr>
              <a:t>■  </a:t>
            </a:r>
            <a:r>
              <a:rPr b="1" sz="1200">
                <a:solidFill>
                  <a:srgbClr val="141414"/>
                </a:solidFill>
                <a:latin typeface="Montserrat"/>
              </a:rPr>
              <a:t>Pourquoi : </a:t>
            </a:r>
            <a:r>
              <a:rPr sz="1200">
                <a:solidFill>
                  <a:srgbClr val="1A1A1C"/>
                </a:solidFill>
                <a:latin typeface="Montserrat"/>
              </a:rPr>
              <a:t>la bio garde ses quatre rôles mais dit enfin ce qu'on vient chercher (« le digital africain, lu de l'intérieur »). Tout est en français. 148 signes sur 150.</a:t>
            </a:r>
          </a:p>
          <a:p>
            <a:pPr>
              <a:lnSpc>
                <a:spcPct val="110000"/>
              </a:lnSpc>
              <a:spcAft>
                <a:spcPts val="1008"/>
              </a:spcAft>
            </a:pPr>
            <a:r>
              <a:rPr sz="900">
                <a:solidFill>
                  <a:srgbClr val="141414"/>
                </a:solidFill>
                <a:latin typeface="Montserrat"/>
              </a:rPr>
              <a:t>■  </a:t>
            </a:r>
            <a:r>
              <a:rPr b="1" sz="1200">
                <a:solidFill>
                  <a:srgbClr val="141414"/>
                </a:solidFill>
                <a:latin typeface="Montserrat"/>
              </a:rPr>
              <a:t>À faire en même temps : </a:t>
            </a:r>
            <a:r>
              <a:rPr sz="1200">
                <a:solidFill>
                  <a:srgbClr val="1A1A1C"/>
                </a:solidFill>
                <a:latin typeface="Montserrat"/>
              </a:rPr>
              <a:t>épingler les trois posts (WHO, merci ADICOM, meilleur épisode) et remplacer le lien de juillet.</a:t>
            </a:r>
          </a:p>
        </p:txBody>
      </p:sp>
      <p:sp>
        <p:nvSpPr>
          <p:cNvPr id="16" name="TextBox 15"/>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7" name="TextBox 16"/>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33 / 42</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LINKEDIN</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Post LinkedIn n°1 · Le nouveau chapitre de Totem</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371600"/>
            <a:ext cx="6583680" cy="480060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v_li.jpg"/>
          <p:cNvPicPr>
            <a:picLocks noChangeAspect="1"/>
          </p:cNvPicPr>
          <p:nvPr/>
        </p:nvPicPr>
        <p:blipFill>
          <a:blip r:embed="rId3"/>
          <a:stretch>
            <a:fillRect/>
          </a:stretch>
        </p:blipFill>
        <p:spPr>
          <a:xfrm>
            <a:off x="731520" y="1536192"/>
            <a:ext cx="502920" cy="502920"/>
          </a:xfrm>
          <a:prstGeom prst="rect">
            <a:avLst/>
          </a:prstGeom>
        </p:spPr>
      </p:pic>
      <p:sp>
        <p:nvSpPr>
          <p:cNvPr id="8" name="TextBox 7"/>
          <p:cNvSpPr txBox="1"/>
          <p:nvPr/>
        </p:nvSpPr>
        <p:spPr>
          <a:xfrm>
            <a:off x="1325880" y="1527048"/>
            <a:ext cx="5669280" cy="27432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Kahi Lumumba</a:t>
            </a:r>
          </a:p>
        </p:txBody>
      </p:sp>
      <p:sp>
        <p:nvSpPr>
          <p:cNvPr id="9" name="TextBox 8"/>
          <p:cNvSpPr txBox="1"/>
          <p:nvPr/>
        </p:nvSpPr>
        <p:spPr>
          <a:xfrm>
            <a:off x="1325880" y="1783080"/>
            <a:ext cx="566928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Mardi 27 octobre · 9 h</a:t>
            </a:r>
          </a:p>
        </p:txBody>
      </p:sp>
      <p:sp>
        <p:nvSpPr>
          <p:cNvPr id="10" name="TextBox 9"/>
          <p:cNvSpPr txBox="1"/>
          <p:nvPr/>
        </p:nvSpPr>
        <p:spPr>
          <a:xfrm>
            <a:off x="731520" y="2194560"/>
            <a:ext cx="6217920" cy="3886200"/>
          </a:xfrm>
          <a:prstGeom prst="rect">
            <a:avLst/>
          </a:prstGeom>
          <a:noFill/>
        </p:spPr>
        <p:txBody>
          <a:bodyPr wrap="square" lIns="18288" rIns="18288" tIns="18288" bIns="18288" anchor="t">
            <a:spAutoFit/>
          </a:bodyPr>
          <a:lstStyle/>
          <a:p>
            <a:pPr algn="l">
              <a:lnSpc>
                <a:spcPct val="108000"/>
              </a:lnSpc>
            </a:pPr>
            <a:r>
              <a:rPr sz="1050" b="0" i="0">
                <a:solidFill>
                  <a:srgbClr val="1A1A1C"/>
                </a:solidFill>
                <a:latin typeface="Montserrat"/>
              </a:rPr>
              <a:t>Pendant dix ans, nos clients nous ont posé la même question : « Qu'est-ce qu'on va communiquer ? »</a:t>
            </a:r>
          </a:p>
          <a:p>
            <a:pPr algn="l">
              <a:lnSpc>
                <a:spcPct val="108000"/>
              </a:lnSpc>
            </a:pPr>
            <a:r>
              <a:rPr sz="1050" b="0" i="0">
                <a:solidFill>
                  <a:srgbClr val="1A1A1C"/>
                </a:solidFill>
                <a:latin typeface="Montserrat"/>
              </a:rPr>
              <a:t>Aujourd'hui, la question a changé : « Quel impact allons-nous créer ? »</a:t>
            </a:r>
          </a:p>
          <a:p>
            <a:pPr algn="l">
              <a:lnSpc>
                <a:spcPct val="108000"/>
              </a:lnSpc>
            </a:pPr>
            <a:r>
              <a:rPr sz="1050" b="0" i="0">
                <a:solidFill>
                  <a:srgbClr val="1A1A1C"/>
                </a:solidFill>
                <a:latin typeface="Montserrat"/>
              </a:rPr>
              <a:t>Les marques n'attendent plus seulement de belles campagnes. Elles attendent des partenaires capables de contribuer à leurs résultats : faire adopter un service, fidéliser, vendre.</a:t>
            </a:r>
          </a:p>
          <a:p>
            <a:pPr algn="l">
              <a:lnSpc>
                <a:spcPct val="108000"/>
              </a:lnSpc>
            </a:pPr>
            <a:r>
              <a:rPr sz="1050" b="0" i="0">
                <a:solidFill>
                  <a:srgbClr val="1A1A1C"/>
                </a:solidFill>
                <a:latin typeface="Montserrat"/>
              </a:rPr>
              <a:t>C'est pour ça que Totem Experience a ouvert cette année un nouveau chapitre. Marketing et performance, création, marketing social, production de contenus avec Totem Factory : une seule équipe, de l'idée jusqu'au résultat.</a:t>
            </a:r>
          </a:p>
          <a:p>
            <a:pPr algn="l">
              <a:lnSpc>
                <a:spcPct val="108000"/>
              </a:lnSpc>
            </a:pPr>
            <a:r>
              <a:rPr sz="1050" b="0" i="0">
                <a:solidFill>
                  <a:srgbClr val="1A1A1C"/>
                </a:solidFill>
                <a:latin typeface="Montserrat"/>
              </a:rPr>
              <a:t>Changer à dix ans, c'est remettre en question ce qui nous a fait grandir. Je préfère une agence qui se transforme à une agence qui se répète.</a:t>
            </a:r>
          </a:p>
          <a:p>
            <a:pPr algn="l">
              <a:lnSpc>
                <a:spcPct val="108000"/>
              </a:lnSpc>
            </a:pPr>
            <a:r>
              <a:rPr sz="1050" b="0" i="0">
                <a:solidFill>
                  <a:srgbClr val="1A1A1C"/>
                </a:solidFill>
                <a:latin typeface="Montserrat"/>
              </a:rPr>
              <a:t>Directeurs marketing qui me lisez : qu'attendez-vous vraiment de votre agence en 2027 ?</a:t>
            </a:r>
          </a:p>
        </p:txBody>
      </p:sp>
      <p:sp>
        <p:nvSpPr>
          <p:cNvPr id="11" name="Rectangle 10"/>
          <p:cNvSpPr/>
          <p:nvPr/>
        </p:nvSpPr>
        <p:spPr>
          <a:xfrm>
            <a:off x="7452360" y="1371600"/>
            <a:ext cx="4160520" cy="48006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554480"/>
            <a:ext cx="3749039" cy="274320"/>
          </a:xfrm>
          <a:prstGeom prst="rect">
            <a:avLst/>
          </a:prstGeom>
          <a:noFill/>
        </p:spPr>
        <p:txBody>
          <a:bodyPr wrap="square" lIns="18288" rIns="18288" tIns="18288" bIns="18288" anchor="t">
            <a:spAutoFit/>
          </a:bodyPr>
          <a:lstStyle/>
          <a:p>
            <a:pPr algn="l">
              <a:lnSpc>
                <a:spcPct val="112000"/>
              </a:lnSpc>
            </a:pPr>
            <a:r>
              <a:rPr sz="1000" b="1" i="0">
                <a:solidFill>
                  <a:srgbClr val="B6D401"/>
                </a:solidFill>
                <a:latin typeface="Montserrat"/>
              </a:rPr>
              <a:t>LE VISUEL</a:t>
            </a:r>
          </a:p>
        </p:txBody>
      </p:sp>
      <p:pic>
        <p:nvPicPr>
          <p:cNvPr id="13" name="Picture 12" descr="p0.jpg"/>
          <p:cNvPicPr>
            <a:picLocks noChangeAspect="1"/>
          </p:cNvPicPr>
          <p:nvPr/>
        </p:nvPicPr>
        <p:blipFill>
          <a:blip r:embed="rId4"/>
          <a:stretch>
            <a:fillRect/>
          </a:stretch>
        </p:blipFill>
        <p:spPr>
          <a:xfrm>
            <a:off x="7680960" y="1876005"/>
            <a:ext cx="3703320" cy="1734388"/>
          </a:xfrm>
          <a:prstGeom prst="rect">
            <a:avLst/>
          </a:prstGeom>
        </p:spPr>
      </p:pic>
      <p:sp>
        <p:nvSpPr>
          <p:cNvPr id="14" name="TextBox 13"/>
          <p:cNvSpPr txBox="1"/>
          <p:nvPr/>
        </p:nvSpPr>
        <p:spPr>
          <a:xfrm>
            <a:off x="7680960" y="3657600"/>
            <a:ext cx="3703320" cy="640080"/>
          </a:xfrm>
          <a:prstGeom prst="rect">
            <a:avLst/>
          </a:prstGeom>
          <a:noFill/>
        </p:spPr>
        <p:txBody>
          <a:bodyPr wrap="square" lIns="18288" rIns="18288" tIns="18288" bIns="18288" anchor="t">
            <a:spAutoFit/>
          </a:bodyPr>
          <a:lstStyle/>
          <a:p>
            <a:pPr algn="l">
              <a:lnSpc>
                <a:spcPct val="112000"/>
              </a:lnSpc>
            </a:pPr>
            <a:r>
              <a:rPr sz="950" b="0" i="0">
                <a:solidFill>
                  <a:srgbClr val="A1A1A8"/>
                </a:solidFill>
                <a:latin typeface="Montserrat"/>
              </a:rPr>
              <a:t>Visuel : une vidéo face caméra de moins d'une minute, dans le style de celle tournée pour le recrutement de Totem (04/09, ci-dessus).</a:t>
            </a:r>
          </a:p>
        </p:txBody>
      </p:sp>
      <p:sp>
        <p:nvSpPr>
          <p:cNvPr id="15" name="TextBox 14"/>
          <p:cNvSpPr txBox="1"/>
          <p:nvPr/>
        </p:nvSpPr>
        <p:spPr>
          <a:xfrm>
            <a:off x="7680960" y="4297680"/>
            <a:ext cx="3703320" cy="1828800"/>
          </a:xfrm>
          <a:prstGeom prst="rect">
            <a:avLst/>
          </a:prstGeom>
          <a:noFill/>
        </p:spPr>
        <p:txBody>
          <a:bodyPr wrap="square">
            <a:spAutoFit/>
          </a:bodyPr>
          <a:lstStyle/>
          <a:p>
            <a:pPr>
              <a:lnSpc>
                <a:spcPct val="110000"/>
              </a:lnSpc>
              <a:spcAft>
                <a:spcPts val="360"/>
              </a:spcAft>
            </a:pPr>
            <a:r>
              <a:rPr sz="650">
                <a:solidFill>
                  <a:srgbClr val="B6D401"/>
                </a:solidFill>
                <a:latin typeface="Montserrat"/>
              </a:rPr>
              <a:t>■  </a:t>
            </a:r>
            <a:r>
              <a:rPr sz="950">
                <a:solidFill>
                  <a:srgbClr val="A1A1A8"/>
                </a:solidFill>
                <a:latin typeface="Montserrat"/>
              </a:rPr>
              <a:t>Pilier : coulisses de Totem.</a:t>
            </a:r>
          </a:p>
          <a:p>
            <a:pPr>
              <a:lnSpc>
                <a:spcPct val="110000"/>
              </a:lnSpc>
              <a:spcAft>
                <a:spcPts val="360"/>
              </a:spcAft>
            </a:pPr>
            <a:r>
              <a:rPr sz="650">
                <a:solidFill>
                  <a:srgbClr val="B6D401"/>
                </a:solidFill>
                <a:latin typeface="Montserrat"/>
              </a:rPr>
              <a:t>■  </a:t>
            </a:r>
            <a:r>
              <a:rPr sz="950">
                <a:solidFill>
                  <a:srgbClr val="A1A1A8"/>
                </a:solidFill>
                <a:latin typeface="Montserrat"/>
              </a:rPr>
              <a:t>Pourquoi : son métier est absent de son fil (1 post sur 12). Le texte reprend ses propres mots de juillet.</a:t>
            </a:r>
          </a:p>
          <a:p>
            <a:pPr>
              <a:lnSpc>
                <a:spcPct val="110000"/>
              </a:lnSpc>
              <a:spcAft>
                <a:spcPts val="360"/>
              </a:spcAft>
            </a:pPr>
            <a:r>
              <a:rPr sz="650">
                <a:solidFill>
                  <a:srgbClr val="B6D401"/>
                </a:solidFill>
                <a:latin typeface="Montserrat"/>
              </a:rPr>
              <a:t>■  </a:t>
            </a:r>
            <a:r>
              <a:rPr sz="950">
                <a:solidFill>
                  <a:srgbClr val="A1A1A8"/>
                </a:solidFill>
                <a:latin typeface="Montserrat"/>
              </a:rPr>
              <a:t>Accroche testée : une question de client, puis la réponse qui change.</a:t>
            </a:r>
          </a:p>
        </p:txBody>
      </p:sp>
      <p:sp>
        <p:nvSpPr>
          <p:cNvPr id="16" name="TextBox 15"/>
          <p:cNvSpPr txBox="1"/>
          <p:nvPr/>
        </p:nvSpPr>
        <p:spPr>
          <a:xfrm>
            <a:off x="548640" y="623620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131 mots. À valider par Kahi avant toute publication.</a:t>
            </a:r>
          </a:p>
        </p:txBody>
      </p:sp>
      <p:sp>
        <p:nvSpPr>
          <p:cNvPr id="17" name="TextBox 16"/>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8" name="TextBox 17"/>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34 / 42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LINKEDIN</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Post LinkedIn n°2 · Ce que WHO m'a appris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371600"/>
            <a:ext cx="6583680" cy="480060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v_li.jpg"/>
          <p:cNvPicPr>
            <a:picLocks noChangeAspect="1"/>
          </p:cNvPicPr>
          <p:nvPr/>
        </p:nvPicPr>
        <p:blipFill>
          <a:blip r:embed="rId3"/>
          <a:stretch>
            <a:fillRect/>
          </a:stretch>
        </p:blipFill>
        <p:spPr>
          <a:xfrm>
            <a:off x="731520" y="1536192"/>
            <a:ext cx="502920" cy="502920"/>
          </a:xfrm>
          <a:prstGeom prst="rect">
            <a:avLst/>
          </a:prstGeom>
        </p:spPr>
      </p:pic>
      <p:sp>
        <p:nvSpPr>
          <p:cNvPr id="8" name="TextBox 7"/>
          <p:cNvSpPr txBox="1"/>
          <p:nvPr/>
        </p:nvSpPr>
        <p:spPr>
          <a:xfrm>
            <a:off x="1325880" y="1527048"/>
            <a:ext cx="5669280" cy="27432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Kahi Lumumba</a:t>
            </a:r>
          </a:p>
        </p:txBody>
      </p:sp>
      <p:sp>
        <p:nvSpPr>
          <p:cNvPr id="9" name="TextBox 8"/>
          <p:cNvSpPr txBox="1"/>
          <p:nvPr/>
        </p:nvSpPr>
        <p:spPr>
          <a:xfrm>
            <a:off x="1325880" y="1783080"/>
            <a:ext cx="566928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Jeudi 29 octobre · 9 h</a:t>
            </a:r>
          </a:p>
        </p:txBody>
      </p:sp>
      <p:sp>
        <p:nvSpPr>
          <p:cNvPr id="10" name="TextBox 9"/>
          <p:cNvSpPr txBox="1"/>
          <p:nvPr/>
        </p:nvSpPr>
        <p:spPr>
          <a:xfrm>
            <a:off x="731520" y="2194560"/>
            <a:ext cx="6217920" cy="3886200"/>
          </a:xfrm>
          <a:prstGeom prst="rect">
            <a:avLst/>
          </a:prstGeom>
          <a:noFill/>
        </p:spPr>
        <p:txBody>
          <a:bodyPr wrap="square" lIns="18288" rIns="18288" tIns="18288" bIns="18288" anchor="t">
            <a:spAutoFit/>
          </a:bodyPr>
          <a:lstStyle/>
          <a:p>
            <a:pPr algn="l">
              <a:lnSpc>
                <a:spcPct val="108000"/>
              </a:lnSpc>
            </a:pPr>
            <a:r>
              <a:rPr sz="1050" b="0" i="0">
                <a:solidFill>
                  <a:srgbClr val="1A1A1C"/>
                </a:solidFill>
                <a:latin typeface="Montserrat"/>
              </a:rPr>
              <a:t>Cinq ans dans l'ombre. Puis dix pays d'Afrique francophone.</a:t>
            </a:r>
          </a:p>
          <a:p>
            <a:pPr algn="l">
              <a:lnSpc>
                <a:spcPct val="108000"/>
              </a:lnSpc>
            </a:pPr>
            <a:r>
              <a:rPr sz="1050" b="0" i="0">
                <a:solidFill>
                  <a:srgbClr val="1A1A1C"/>
                </a:solidFill>
                <a:latin typeface="Montserrat"/>
              </a:rPr>
              <a:t>À partir du 12 juin, WHO, le premier long-métrage de Wil Aime, est sorti au cinéma en Afrique francophone. J'y suis producteur associé, chargé de la communication, du marketing et du développement Afrique.</a:t>
            </a:r>
          </a:p>
          <a:p>
            <a:pPr algn="l">
              <a:lnSpc>
                <a:spcPct val="108000"/>
              </a:lnSpc>
            </a:pPr>
            <a:r>
              <a:rPr sz="1050" b="0" i="0">
                <a:solidFill>
                  <a:srgbClr val="1A1A1C"/>
                </a:solidFill>
                <a:latin typeface="Montserrat"/>
              </a:rPr>
              <a:t>Ce que j'en retiens : le cinéma est une industrie bien plus large qu'on ne l'imagine. Production, musique, distribution, partenariats, financement. Chaque maillon décide si une œuvre rencontre son public.</a:t>
            </a:r>
          </a:p>
          <a:p>
            <a:pPr algn="l">
              <a:lnSpc>
                <a:spcPct val="108000"/>
              </a:lnSpc>
            </a:pPr>
            <a:r>
              <a:rPr sz="1050" b="0" i="0">
                <a:solidFill>
                  <a:srgbClr val="1A1A1C"/>
                </a:solidFill>
                <a:latin typeface="Montserrat"/>
              </a:rPr>
              <a:t>C'est là que se joue la suite pour les créateurs africains. Il est impératif que nous racontions nos propres histoires, avec nos propres standards. Mais une histoire sans distribution reste sur un disque dur.</a:t>
            </a:r>
          </a:p>
          <a:p>
            <a:pPr algn="l">
              <a:lnSpc>
                <a:spcPct val="108000"/>
              </a:lnSpc>
            </a:pPr>
            <a:r>
              <a:rPr sz="1050" b="0" i="0">
                <a:solidFill>
                  <a:srgbClr val="1A1A1C"/>
                </a:solidFill>
                <a:latin typeface="Montserrat"/>
              </a:rPr>
              <a:t>Neti na film, comme on dit chez moi.</a:t>
            </a:r>
          </a:p>
          <a:p>
            <a:pPr algn="l">
              <a:lnSpc>
                <a:spcPct val="108000"/>
              </a:lnSpc>
            </a:pPr>
            <a:r>
              <a:rPr sz="1050" b="0" i="0">
                <a:solidFill>
                  <a:srgbClr val="1A1A1C"/>
                </a:solidFill>
                <a:latin typeface="Montserrat"/>
              </a:rPr>
              <a:t>Créateurs, marques, investisseurs : quel maillon voulez-vous construire avec nous ?</a:t>
            </a:r>
          </a:p>
        </p:txBody>
      </p:sp>
      <p:sp>
        <p:nvSpPr>
          <p:cNvPr id="11" name="Rectangle 10"/>
          <p:cNvSpPr/>
          <p:nvPr/>
        </p:nvSpPr>
        <p:spPr>
          <a:xfrm>
            <a:off x="7452360" y="1371600"/>
            <a:ext cx="4160520" cy="48006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554480"/>
            <a:ext cx="3749039" cy="274320"/>
          </a:xfrm>
          <a:prstGeom prst="rect">
            <a:avLst/>
          </a:prstGeom>
          <a:noFill/>
        </p:spPr>
        <p:txBody>
          <a:bodyPr wrap="square" lIns="18288" rIns="18288" tIns="18288" bIns="18288" anchor="t">
            <a:spAutoFit/>
          </a:bodyPr>
          <a:lstStyle/>
          <a:p>
            <a:pPr algn="l">
              <a:lnSpc>
                <a:spcPct val="112000"/>
              </a:lnSpc>
            </a:pPr>
            <a:r>
              <a:rPr sz="1000" b="1" i="0">
                <a:solidFill>
                  <a:srgbClr val="B6D401"/>
                </a:solidFill>
                <a:latin typeface="Montserrat"/>
              </a:rPr>
              <a:t>LE VISUEL</a:t>
            </a:r>
          </a:p>
        </p:txBody>
      </p:sp>
      <p:pic>
        <p:nvPicPr>
          <p:cNvPr id="13" name="Picture 12" descr="p1.jpg"/>
          <p:cNvPicPr>
            <a:picLocks noChangeAspect="1"/>
          </p:cNvPicPr>
          <p:nvPr/>
        </p:nvPicPr>
        <p:blipFill>
          <a:blip r:embed="rId4"/>
          <a:stretch>
            <a:fillRect/>
          </a:stretch>
        </p:blipFill>
        <p:spPr>
          <a:xfrm>
            <a:off x="7680960" y="1876005"/>
            <a:ext cx="3703320" cy="1734388"/>
          </a:xfrm>
          <a:prstGeom prst="rect">
            <a:avLst/>
          </a:prstGeom>
        </p:spPr>
      </p:pic>
      <p:sp>
        <p:nvSpPr>
          <p:cNvPr id="14" name="TextBox 13"/>
          <p:cNvSpPr txBox="1"/>
          <p:nvPr/>
        </p:nvSpPr>
        <p:spPr>
          <a:xfrm>
            <a:off x="7680960" y="3657600"/>
            <a:ext cx="3703320" cy="640080"/>
          </a:xfrm>
          <a:prstGeom prst="rect">
            <a:avLst/>
          </a:prstGeom>
          <a:noFill/>
        </p:spPr>
        <p:txBody>
          <a:bodyPr wrap="square" lIns="18288" rIns="18288" tIns="18288" bIns="18288" anchor="t">
            <a:spAutoFit/>
          </a:bodyPr>
          <a:lstStyle/>
          <a:p>
            <a:pPr algn="l">
              <a:lnSpc>
                <a:spcPct val="112000"/>
              </a:lnSpc>
            </a:pPr>
            <a:r>
              <a:rPr sz="950" b="0" i="0">
                <a:solidFill>
                  <a:srgbClr val="A1A1A8"/>
                </a:solidFill>
                <a:latin typeface="Montserrat"/>
              </a:rPr>
              <a:t>Visuel : l'affiche de WHO publiée par Kahi le 1er mai (ci-dessus), ou mieux, une photo de lui à l'avant-première africaine.</a:t>
            </a:r>
          </a:p>
        </p:txBody>
      </p:sp>
      <p:sp>
        <p:nvSpPr>
          <p:cNvPr id="15" name="TextBox 14"/>
          <p:cNvSpPr txBox="1"/>
          <p:nvPr/>
        </p:nvSpPr>
        <p:spPr>
          <a:xfrm>
            <a:off x="7680960" y="4297680"/>
            <a:ext cx="3703320" cy="1828800"/>
          </a:xfrm>
          <a:prstGeom prst="rect">
            <a:avLst/>
          </a:prstGeom>
          <a:noFill/>
        </p:spPr>
        <p:txBody>
          <a:bodyPr wrap="square">
            <a:spAutoFit/>
          </a:bodyPr>
          <a:lstStyle/>
          <a:p>
            <a:pPr>
              <a:lnSpc>
                <a:spcPct val="110000"/>
              </a:lnSpc>
              <a:spcAft>
                <a:spcPts val="360"/>
              </a:spcAft>
            </a:pPr>
            <a:r>
              <a:rPr sz="650">
                <a:solidFill>
                  <a:srgbClr val="B6D401"/>
                </a:solidFill>
                <a:latin typeface="Montserrat"/>
              </a:rPr>
              <a:t>■  </a:t>
            </a:r>
            <a:r>
              <a:rPr sz="950">
                <a:solidFill>
                  <a:srgbClr val="A1A1A8"/>
                </a:solidFill>
                <a:latin typeface="Montserrat"/>
              </a:rPr>
              <a:t>Pilier : la culture comme business.</a:t>
            </a:r>
          </a:p>
          <a:p>
            <a:pPr>
              <a:lnSpc>
                <a:spcPct val="110000"/>
              </a:lnSpc>
              <a:spcAft>
                <a:spcPts val="360"/>
              </a:spcAft>
            </a:pPr>
            <a:r>
              <a:rPr sz="650">
                <a:solidFill>
                  <a:srgbClr val="B6D401"/>
                </a:solidFill>
                <a:latin typeface="Montserrat"/>
              </a:rPr>
              <a:t>■  </a:t>
            </a:r>
            <a:r>
              <a:rPr sz="950">
                <a:solidFill>
                  <a:srgbClr val="A1A1A8"/>
                </a:solidFill>
                <a:latin typeface="Montserrat"/>
              </a:rPr>
              <a:t>Pourquoi : WHO est son sujet le plus fort (297 sur LinkedIn, 2 117 sur Instagram), et il n'en a plus parlé depuis le 22 mai.</a:t>
            </a:r>
          </a:p>
          <a:p>
            <a:pPr>
              <a:lnSpc>
                <a:spcPct val="110000"/>
              </a:lnSpc>
              <a:spcAft>
                <a:spcPts val="360"/>
              </a:spcAft>
            </a:pPr>
            <a:r>
              <a:rPr sz="650">
                <a:solidFill>
                  <a:srgbClr val="B6D401"/>
                </a:solidFill>
                <a:latin typeface="Montserrat"/>
              </a:rPr>
              <a:t>■  </a:t>
            </a:r>
            <a:r>
              <a:rPr sz="950">
                <a:solidFill>
                  <a:srgbClr val="A1A1A8"/>
                </a:solidFill>
                <a:latin typeface="Montserrat"/>
              </a:rPr>
              <a:t>Faits repris de ses posts et de ceux de Totem (sortie à partir du 12 juin, dix pays).</a:t>
            </a:r>
          </a:p>
        </p:txBody>
      </p:sp>
      <p:sp>
        <p:nvSpPr>
          <p:cNvPr id="16" name="TextBox 15"/>
          <p:cNvSpPr txBox="1"/>
          <p:nvPr/>
        </p:nvSpPr>
        <p:spPr>
          <a:xfrm>
            <a:off x="548640" y="623620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125 mots. À valider par Kahi avant toute publication.</a:t>
            </a:r>
          </a:p>
        </p:txBody>
      </p:sp>
      <p:sp>
        <p:nvSpPr>
          <p:cNvPr id="17" name="TextBox 16"/>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8" name="TextBox 17"/>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35 / 42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LINKEDIN</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Post LinkedIn n°3 · Le profit, épisode 150</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371600"/>
            <a:ext cx="6583680" cy="480060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v_li.jpg"/>
          <p:cNvPicPr>
            <a:picLocks noChangeAspect="1"/>
          </p:cNvPicPr>
          <p:nvPr/>
        </p:nvPicPr>
        <p:blipFill>
          <a:blip r:embed="rId3"/>
          <a:stretch>
            <a:fillRect/>
          </a:stretch>
        </p:blipFill>
        <p:spPr>
          <a:xfrm>
            <a:off x="731520" y="1536192"/>
            <a:ext cx="502920" cy="502920"/>
          </a:xfrm>
          <a:prstGeom prst="rect">
            <a:avLst/>
          </a:prstGeom>
        </p:spPr>
      </p:pic>
      <p:sp>
        <p:nvSpPr>
          <p:cNvPr id="8" name="TextBox 7"/>
          <p:cNvSpPr txBox="1"/>
          <p:nvPr/>
        </p:nvSpPr>
        <p:spPr>
          <a:xfrm>
            <a:off x="1325880" y="1527048"/>
            <a:ext cx="5669280" cy="27432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Kahi Lumumba</a:t>
            </a:r>
          </a:p>
        </p:txBody>
      </p:sp>
      <p:sp>
        <p:nvSpPr>
          <p:cNvPr id="9" name="TextBox 8"/>
          <p:cNvSpPr txBox="1"/>
          <p:nvPr/>
        </p:nvSpPr>
        <p:spPr>
          <a:xfrm>
            <a:off x="1325880" y="1783080"/>
            <a:ext cx="566928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Mardi 3 novembre · 9 h</a:t>
            </a:r>
          </a:p>
        </p:txBody>
      </p:sp>
      <p:sp>
        <p:nvSpPr>
          <p:cNvPr id="10" name="TextBox 9"/>
          <p:cNvSpPr txBox="1"/>
          <p:nvPr/>
        </p:nvSpPr>
        <p:spPr>
          <a:xfrm>
            <a:off x="731520" y="2194560"/>
            <a:ext cx="6217920" cy="3886200"/>
          </a:xfrm>
          <a:prstGeom prst="rect">
            <a:avLst/>
          </a:prstGeom>
          <a:noFill/>
        </p:spPr>
        <p:txBody>
          <a:bodyPr wrap="square" lIns="18288" rIns="18288" tIns="18288" bIns="18288" anchor="t">
            <a:spAutoFit/>
          </a:bodyPr>
          <a:lstStyle/>
          <a:p>
            <a:pPr algn="l">
              <a:lnSpc>
                <a:spcPct val="108000"/>
              </a:lnSpc>
            </a:pPr>
            <a:r>
              <a:rPr sz="1050" b="0" i="0">
                <a:solidFill>
                  <a:srgbClr val="1A1A1C"/>
                </a:solidFill>
                <a:latin typeface="Montserrat"/>
              </a:rPr>
              <a:t>« Ma société cartonne, mais mon compte en banque est vide. »</a:t>
            </a:r>
          </a:p>
          <a:p>
            <a:pPr algn="l">
              <a:lnSpc>
                <a:spcPct val="108000"/>
              </a:lnSpc>
            </a:pPr>
            <a:r>
              <a:rPr sz="1050" b="0" i="0">
                <a:solidFill>
                  <a:srgbClr val="1A1A1C"/>
                </a:solidFill>
                <a:latin typeface="Montserrat"/>
              </a:rPr>
              <a:t>Trop de patrons vivent cette situation : la société cartonne, le compte est vide. C'est le sujet du 150e épisode de State of Africa. Pas de grande phrase inspirante : de la trésorerie et du profit.</a:t>
            </a:r>
          </a:p>
          <a:p>
            <a:pPr algn="l">
              <a:lnSpc>
                <a:spcPct val="108000"/>
              </a:lnSpc>
            </a:pPr>
            <a:r>
              <a:rPr sz="1050" b="0" i="0">
                <a:solidFill>
                  <a:srgbClr val="1A1A1C"/>
                </a:solidFill>
                <a:latin typeface="Montserrat"/>
              </a:rPr>
              <a:t>Trois questions à vous poser ce soir :</a:t>
            </a:r>
          </a:p>
          <a:p>
            <a:pPr algn="l">
              <a:lnSpc>
                <a:spcPct val="108000"/>
              </a:lnSpc>
            </a:pPr>
            <a:r>
              <a:rPr sz="1050" b="0" i="0">
                <a:solidFill>
                  <a:srgbClr val="1A1A1C"/>
                </a:solidFill>
                <a:latin typeface="Montserrat"/>
              </a:rPr>
              <a:t>1. Combien de mois de charges votre trésorerie couvre-t-elle ?
2. Quels clients vous paient à plus de 60 jours ?
3. Quelle part de votre chiffre du trimestre est déjà encaissée ?</a:t>
            </a:r>
          </a:p>
          <a:p>
            <a:pPr algn="l">
              <a:lnSpc>
                <a:spcPct val="108000"/>
              </a:lnSpc>
            </a:pPr>
            <a:r>
              <a:rPr sz="1050" b="0" i="0">
                <a:solidFill>
                  <a:srgbClr val="1A1A1C"/>
                </a:solidFill>
                <a:latin typeface="Montserrat"/>
              </a:rPr>
              <a:t>Si l'une des réponses vous gêne, cet épisode est pour vous.</a:t>
            </a:r>
          </a:p>
          <a:p>
            <a:pPr algn="l">
              <a:lnSpc>
                <a:spcPct val="108000"/>
              </a:lnSpc>
            </a:pPr>
            <a:r>
              <a:rPr sz="1050" b="0" i="0">
                <a:solidFill>
                  <a:srgbClr val="1A1A1C"/>
                </a:solidFill>
                <a:latin typeface="Montserrat"/>
              </a:rPr>
              <a:t>Le lien est en premier commentaire. Et vous, quelle est la question qui vous empêche de dormir ?</a:t>
            </a:r>
          </a:p>
        </p:txBody>
      </p:sp>
      <p:sp>
        <p:nvSpPr>
          <p:cNvPr id="11" name="Rectangle 10"/>
          <p:cNvSpPr/>
          <p:nvPr/>
        </p:nvSpPr>
        <p:spPr>
          <a:xfrm>
            <a:off x="7452360" y="1371600"/>
            <a:ext cx="4160520" cy="4800600"/>
          </a:xfrm>
          <a:prstGeom prst="rect">
            <a:avLst/>
          </a:prstGeom>
          <a:solidFill>
            <a:srgbClr val="1414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0" y="1554480"/>
            <a:ext cx="3749039" cy="274320"/>
          </a:xfrm>
          <a:prstGeom prst="rect">
            <a:avLst/>
          </a:prstGeom>
          <a:noFill/>
        </p:spPr>
        <p:txBody>
          <a:bodyPr wrap="square" lIns="18288" rIns="18288" tIns="18288" bIns="18288" anchor="t">
            <a:spAutoFit/>
          </a:bodyPr>
          <a:lstStyle/>
          <a:p>
            <a:pPr algn="l">
              <a:lnSpc>
                <a:spcPct val="112000"/>
              </a:lnSpc>
            </a:pPr>
            <a:r>
              <a:rPr sz="1000" b="1" i="0">
                <a:solidFill>
                  <a:srgbClr val="B6D401"/>
                </a:solidFill>
                <a:latin typeface="Montserrat"/>
              </a:rPr>
              <a:t>LE VISUEL</a:t>
            </a:r>
          </a:p>
        </p:txBody>
      </p:sp>
      <p:pic>
        <p:nvPicPr>
          <p:cNvPr id="13" name="Picture 12" descr="p2.jpg"/>
          <p:cNvPicPr>
            <a:picLocks noChangeAspect="1"/>
          </p:cNvPicPr>
          <p:nvPr/>
        </p:nvPicPr>
        <p:blipFill>
          <a:blip r:embed="rId4"/>
          <a:stretch>
            <a:fillRect/>
          </a:stretch>
        </p:blipFill>
        <p:spPr>
          <a:xfrm>
            <a:off x="7680960" y="1875662"/>
            <a:ext cx="3703320" cy="1735074"/>
          </a:xfrm>
          <a:prstGeom prst="rect">
            <a:avLst/>
          </a:prstGeom>
        </p:spPr>
      </p:pic>
      <p:sp>
        <p:nvSpPr>
          <p:cNvPr id="14" name="TextBox 13"/>
          <p:cNvSpPr txBox="1"/>
          <p:nvPr/>
        </p:nvSpPr>
        <p:spPr>
          <a:xfrm>
            <a:off x="7680960" y="3657600"/>
            <a:ext cx="3703320" cy="640080"/>
          </a:xfrm>
          <a:prstGeom prst="rect">
            <a:avLst/>
          </a:prstGeom>
          <a:noFill/>
        </p:spPr>
        <p:txBody>
          <a:bodyPr wrap="square" lIns="18288" rIns="18288" tIns="18288" bIns="18288" anchor="t">
            <a:spAutoFit/>
          </a:bodyPr>
          <a:lstStyle/>
          <a:p>
            <a:pPr algn="l">
              <a:lnSpc>
                <a:spcPct val="112000"/>
              </a:lnSpc>
            </a:pPr>
            <a:r>
              <a:rPr sz="950" b="0" i="0">
                <a:solidFill>
                  <a:srgbClr val="A1A1A8"/>
                </a:solidFill>
                <a:latin typeface="Montserrat"/>
              </a:rPr>
              <a:t>Visuel : un extrait vidéo de l'épisode (moins d'une minute), lien en premier commentaire.</a:t>
            </a:r>
          </a:p>
        </p:txBody>
      </p:sp>
      <p:sp>
        <p:nvSpPr>
          <p:cNvPr id="15" name="TextBox 14"/>
          <p:cNvSpPr txBox="1"/>
          <p:nvPr/>
        </p:nvSpPr>
        <p:spPr>
          <a:xfrm>
            <a:off x="7680960" y="4297680"/>
            <a:ext cx="3703320" cy="1828800"/>
          </a:xfrm>
          <a:prstGeom prst="rect">
            <a:avLst/>
          </a:prstGeom>
          <a:noFill/>
        </p:spPr>
        <p:txBody>
          <a:bodyPr wrap="square">
            <a:spAutoFit/>
          </a:bodyPr>
          <a:lstStyle/>
          <a:p>
            <a:pPr>
              <a:lnSpc>
                <a:spcPct val="110000"/>
              </a:lnSpc>
              <a:spcAft>
                <a:spcPts val="360"/>
              </a:spcAft>
            </a:pPr>
            <a:r>
              <a:rPr sz="650">
                <a:solidFill>
                  <a:srgbClr val="B6D401"/>
                </a:solidFill>
                <a:latin typeface="Montserrat"/>
              </a:rPr>
              <a:t>■  </a:t>
            </a:r>
            <a:r>
              <a:rPr sz="950">
                <a:solidFill>
                  <a:srgbClr val="A1A1A8"/>
                </a:solidFill>
                <a:latin typeface="Montserrat"/>
              </a:rPr>
              <a:t>Pilier : ce que je vois venir.</a:t>
            </a:r>
          </a:p>
          <a:p>
            <a:pPr>
              <a:lnSpc>
                <a:spcPct val="110000"/>
              </a:lnSpc>
              <a:spcAft>
                <a:spcPts val="360"/>
              </a:spcAft>
            </a:pPr>
            <a:r>
              <a:rPr sz="650">
                <a:solidFill>
                  <a:srgbClr val="B6D401"/>
                </a:solidFill>
                <a:latin typeface="Montserrat"/>
              </a:rPr>
              <a:t>■  </a:t>
            </a:r>
            <a:r>
              <a:rPr sz="950">
                <a:solidFill>
                  <a:srgbClr val="A1A1A8"/>
                </a:solidFill>
                <a:latin typeface="Montserrat"/>
              </a:rPr>
              <a:t>Pourquoi : l'épisode 150 a fait 32 interactions en février avec un lien dans le post. Même sujet, sans lien dans le post.</a:t>
            </a:r>
          </a:p>
          <a:p>
            <a:pPr>
              <a:lnSpc>
                <a:spcPct val="110000"/>
              </a:lnSpc>
              <a:spcAft>
                <a:spcPts val="360"/>
              </a:spcAft>
            </a:pPr>
            <a:r>
              <a:rPr sz="650">
                <a:solidFill>
                  <a:srgbClr val="B6D401"/>
                </a:solidFill>
                <a:latin typeface="Montserrat"/>
              </a:rPr>
              <a:t>■  </a:t>
            </a:r>
            <a:r>
              <a:rPr sz="950">
                <a:solidFill>
                  <a:srgbClr val="A1A1A8"/>
                </a:solidFill>
                <a:latin typeface="Montserrat"/>
              </a:rPr>
              <a:t>Les trois questions sont à ajuster avec lui.</a:t>
            </a:r>
          </a:p>
        </p:txBody>
      </p:sp>
      <p:sp>
        <p:nvSpPr>
          <p:cNvPr id="16" name="TextBox 15"/>
          <p:cNvSpPr txBox="1"/>
          <p:nvPr/>
        </p:nvSpPr>
        <p:spPr>
          <a:xfrm>
            <a:off x="548640" y="623620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118 mots. À valider par Kahi avant toute publication.</a:t>
            </a:r>
          </a:p>
        </p:txBody>
      </p:sp>
      <p:sp>
        <p:nvSpPr>
          <p:cNvPr id="17" name="TextBox 16"/>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18" name="TextBox 17"/>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36 / 42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INSTAGRAM</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Post Instagram n°1 · Carrousel « Dix ans d'ADICOM »</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igp00.jpg"/>
          <p:cNvPicPr>
            <a:picLocks noChangeAspect="1"/>
          </p:cNvPicPr>
          <p:nvPr/>
        </p:nvPicPr>
        <p:blipFill>
          <a:blip r:embed="rId3"/>
          <a:stretch>
            <a:fillRect/>
          </a:stretch>
        </p:blipFill>
        <p:spPr>
          <a:xfrm>
            <a:off x="548640" y="1417685"/>
            <a:ext cx="1783080" cy="2239548"/>
          </a:xfrm>
          <a:prstGeom prst="rect">
            <a:avLst/>
          </a:prstGeom>
        </p:spPr>
      </p:pic>
      <p:pic>
        <p:nvPicPr>
          <p:cNvPr id="7" name="Picture 6" descr="igp01.jpg"/>
          <p:cNvPicPr>
            <a:picLocks noChangeAspect="1"/>
          </p:cNvPicPr>
          <p:nvPr/>
        </p:nvPicPr>
        <p:blipFill>
          <a:blip r:embed="rId4"/>
          <a:stretch>
            <a:fillRect/>
          </a:stretch>
        </p:blipFill>
        <p:spPr>
          <a:xfrm>
            <a:off x="2423160" y="1417685"/>
            <a:ext cx="1783080" cy="2239548"/>
          </a:xfrm>
          <a:prstGeom prst="rect">
            <a:avLst/>
          </a:prstGeom>
        </p:spPr>
      </p:pic>
      <p:pic>
        <p:nvPicPr>
          <p:cNvPr id="8" name="Picture 7" descr="igp02.jpg"/>
          <p:cNvPicPr>
            <a:picLocks noChangeAspect="1"/>
          </p:cNvPicPr>
          <p:nvPr/>
        </p:nvPicPr>
        <p:blipFill>
          <a:blip r:embed="rId5"/>
          <a:stretch>
            <a:fillRect/>
          </a:stretch>
        </p:blipFill>
        <p:spPr>
          <a:xfrm>
            <a:off x="4297679" y="1417685"/>
            <a:ext cx="1783080" cy="2239548"/>
          </a:xfrm>
          <a:prstGeom prst="rect">
            <a:avLst/>
          </a:prstGeom>
        </p:spPr>
      </p:pic>
      <p:sp>
        <p:nvSpPr>
          <p:cNvPr id="9" name="TextBox 8"/>
          <p:cNvSpPr txBox="1"/>
          <p:nvPr/>
        </p:nvSpPr>
        <p:spPr>
          <a:xfrm>
            <a:off x="548640" y="3749039"/>
            <a:ext cx="5577840" cy="27432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Images de référence, publiées en 2026</a:t>
            </a:r>
          </a:p>
        </p:txBody>
      </p:sp>
      <p:sp>
        <p:nvSpPr>
          <p:cNvPr id="10" name="Rectangle 9"/>
          <p:cNvSpPr/>
          <p:nvPr/>
        </p:nvSpPr>
        <p:spPr>
          <a:xfrm>
            <a:off x="548640" y="4114800"/>
            <a:ext cx="5532120" cy="182880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224528"/>
            <a:ext cx="512064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À FOURNIR</a:t>
            </a:r>
          </a:p>
        </p:txBody>
      </p:sp>
      <p:sp>
        <p:nvSpPr>
          <p:cNvPr id="12" name="TextBox 11"/>
          <p:cNvSpPr txBox="1"/>
          <p:nvPr/>
        </p:nvSpPr>
        <p:spPr>
          <a:xfrm>
            <a:off x="777240" y="4526280"/>
            <a:ext cx="5120640" cy="68580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10 photos à fournir par l'équipe ADICOM : une par édition, Kahi présent sur au moins la moitié. Différent du carrousel du 30 avril (159 J'aime), centré sur la seule 10e édition.</a:t>
            </a:r>
          </a:p>
        </p:txBody>
      </p:sp>
      <p:sp>
        <p:nvSpPr>
          <p:cNvPr id="13" name="TextBox 12"/>
          <p:cNvSpPr txBox="1"/>
          <p:nvPr/>
        </p:nvSpPr>
        <p:spPr>
          <a:xfrm>
            <a:off x="777240" y="5212080"/>
            <a:ext cx="5120640" cy="640080"/>
          </a:xfrm>
          <a:prstGeom prst="rect">
            <a:avLst/>
          </a:prstGeom>
          <a:noFill/>
        </p:spPr>
        <p:txBody>
          <a:bodyPr wrap="square" lIns="18288" rIns="18288" tIns="18288" bIns="18288" anchor="t">
            <a:spAutoFit/>
          </a:bodyPr>
          <a:lstStyle/>
          <a:p>
            <a:pPr algn="l">
              <a:lnSpc>
                <a:spcPct val="112000"/>
              </a:lnSpc>
            </a:pPr>
            <a:r>
              <a:rPr sz="1100" b="1" i="0">
                <a:solidFill>
                  <a:srgbClr val="141414"/>
                </a:solidFill>
                <a:latin typeface="Montserrat"/>
              </a:rPr>
              <a:t>Carrousel 4:5, publié sur son compte seul, puis partagé en story par @adicomfamily.</a:t>
            </a:r>
          </a:p>
        </p:txBody>
      </p:sp>
      <p:sp>
        <p:nvSpPr>
          <p:cNvPr id="14" name="Rectangle 13"/>
          <p:cNvSpPr/>
          <p:nvPr/>
        </p:nvSpPr>
        <p:spPr>
          <a:xfrm>
            <a:off x="6400800" y="1417320"/>
            <a:ext cx="521208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v_ig2.jpg"/>
          <p:cNvPicPr>
            <a:picLocks noChangeAspect="1"/>
          </p:cNvPicPr>
          <p:nvPr/>
        </p:nvPicPr>
        <p:blipFill>
          <a:blip r:embed="rId6"/>
          <a:stretch>
            <a:fillRect/>
          </a:stretch>
        </p:blipFill>
        <p:spPr>
          <a:xfrm>
            <a:off x="6583680" y="1572768"/>
            <a:ext cx="457200" cy="457200"/>
          </a:xfrm>
          <a:prstGeom prst="rect">
            <a:avLst/>
          </a:prstGeom>
        </p:spPr>
      </p:pic>
      <p:sp>
        <p:nvSpPr>
          <p:cNvPr id="16" name="TextBox 15"/>
          <p:cNvSpPr txBox="1"/>
          <p:nvPr/>
        </p:nvSpPr>
        <p:spPr>
          <a:xfrm>
            <a:off x="7178040" y="1572768"/>
            <a:ext cx="4206240" cy="27432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kahindula61</a:t>
            </a:r>
          </a:p>
        </p:txBody>
      </p:sp>
      <p:sp>
        <p:nvSpPr>
          <p:cNvPr id="17" name="TextBox 16"/>
          <p:cNvSpPr txBox="1"/>
          <p:nvPr/>
        </p:nvSpPr>
        <p:spPr>
          <a:xfrm>
            <a:off x="7178040" y="1828800"/>
            <a:ext cx="420624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Vendredi 30 octobre · 19 h</a:t>
            </a:r>
          </a:p>
        </p:txBody>
      </p:sp>
      <p:sp>
        <p:nvSpPr>
          <p:cNvPr id="18" name="TextBox 17"/>
          <p:cNvSpPr txBox="1"/>
          <p:nvPr/>
        </p:nvSpPr>
        <p:spPr>
          <a:xfrm>
            <a:off x="6583680" y="2240280"/>
            <a:ext cx="4846320" cy="365760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Dix ans d'ADICOM en dix images.</a:t>
            </a:r>
          </a:p>
          <a:p>
            <a:pPr algn="l">
              <a:lnSpc>
                <a:spcPct val="112000"/>
              </a:lnSpc>
            </a:pPr>
            <a:r>
              <a:rPr sz="1150" b="0" i="0">
                <a:solidFill>
                  <a:srgbClr val="1A1A1C"/>
                </a:solidFill>
                <a:latin typeface="Montserrat"/>
              </a:rPr>
              <a:t>Paris 2017. Abidjan 2018. Une édition 100 % en ligne en 2020. Et ce 16 avril 2026, une dixième édition que je n'oublierai pas.</a:t>
            </a:r>
          </a:p>
          <a:p>
            <a:pPr algn="l">
              <a:lnSpc>
                <a:spcPct val="112000"/>
              </a:lnSpc>
            </a:pPr>
            <a:r>
              <a:rPr sz="1150" b="0" i="0">
                <a:solidFill>
                  <a:srgbClr val="1A1A1C"/>
                </a:solidFill>
                <a:latin typeface="Montserrat"/>
              </a:rPr>
              <a:t>On a commencé avec une idée. Aujourd'hui, on parle d'un mouvement.</a:t>
            </a:r>
          </a:p>
          <a:p>
            <a:pPr algn="l">
              <a:lnSpc>
                <a:spcPct val="112000"/>
              </a:lnSpc>
            </a:pPr>
            <a:r>
              <a:rPr sz="1150" b="0" i="0">
                <a:solidFill>
                  <a:srgbClr val="1A1A1C"/>
                </a:solidFill>
                <a:latin typeface="Montserrat"/>
              </a:rPr>
              <a:t>Merci à chacun de vous. Faites défiler jusqu'à la dernière image : c'est la photo que je préfère.</a:t>
            </a:r>
          </a:p>
          <a:p>
            <a:pPr algn="l">
              <a:lnSpc>
                <a:spcPct val="112000"/>
              </a:lnSpc>
            </a:pPr>
            <a:r>
              <a:rPr sz="1150" b="0" i="0">
                <a:solidFill>
                  <a:srgbClr val="1A1A1C"/>
                </a:solidFill>
                <a:latin typeface="Montserrat"/>
              </a:rPr>
              <a:t>Laquelle de ces éditions avez-vous vécue ?</a:t>
            </a:r>
          </a:p>
        </p:txBody>
      </p:sp>
      <p:sp>
        <p:nvSpPr>
          <p:cNvPr id="19" name="TextBox 18"/>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Légende en français, deux émojis au plus, aucun mot-dièse imposé. À valider par Kahi avant toute publication.</a:t>
            </a:r>
          </a:p>
        </p:txBody>
      </p:sp>
      <p:sp>
        <p:nvSpPr>
          <p:cNvPr id="20" name="TextBox 19"/>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1" name="TextBox 20"/>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37 /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INSTAGRAM</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Post Instagram n°2 · Carrousel « WHO, l'avant-première »</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pic>
        <p:nvPicPr>
          <p:cNvPr id="6" name="Picture 5" descr="igp10.jpg"/>
          <p:cNvPicPr>
            <a:picLocks noChangeAspect="1"/>
          </p:cNvPicPr>
          <p:nvPr/>
        </p:nvPicPr>
        <p:blipFill>
          <a:blip r:embed="rId3"/>
          <a:stretch>
            <a:fillRect/>
          </a:stretch>
        </p:blipFill>
        <p:spPr>
          <a:xfrm>
            <a:off x="548640" y="1417685"/>
            <a:ext cx="1783080" cy="2239548"/>
          </a:xfrm>
          <a:prstGeom prst="rect">
            <a:avLst/>
          </a:prstGeom>
        </p:spPr>
      </p:pic>
      <p:pic>
        <p:nvPicPr>
          <p:cNvPr id="7" name="Picture 6" descr="igp11.jpg"/>
          <p:cNvPicPr>
            <a:picLocks noChangeAspect="1"/>
          </p:cNvPicPr>
          <p:nvPr/>
        </p:nvPicPr>
        <p:blipFill>
          <a:blip r:embed="rId4"/>
          <a:stretch>
            <a:fillRect/>
          </a:stretch>
        </p:blipFill>
        <p:spPr>
          <a:xfrm>
            <a:off x="2423160" y="1417685"/>
            <a:ext cx="1783080" cy="2239548"/>
          </a:xfrm>
          <a:prstGeom prst="rect">
            <a:avLst/>
          </a:prstGeom>
        </p:spPr>
      </p:pic>
      <p:pic>
        <p:nvPicPr>
          <p:cNvPr id="8" name="Picture 7" descr="igp12.jpg"/>
          <p:cNvPicPr>
            <a:picLocks noChangeAspect="1"/>
          </p:cNvPicPr>
          <p:nvPr/>
        </p:nvPicPr>
        <p:blipFill>
          <a:blip r:embed="rId5"/>
          <a:stretch>
            <a:fillRect/>
          </a:stretch>
        </p:blipFill>
        <p:spPr>
          <a:xfrm>
            <a:off x="4297679" y="1417685"/>
            <a:ext cx="1783080" cy="2239548"/>
          </a:xfrm>
          <a:prstGeom prst="rect">
            <a:avLst/>
          </a:prstGeom>
        </p:spPr>
      </p:pic>
      <p:sp>
        <p:nvSpPr>
          <p:cNvPr id="9" name="TextBox 8"/>
          <p:cNvSpPr txBox="1"/>
          <p:nvPr/>
        </p:nvSpPr>
        <p:spPr>
          <a:xfrm>
            <a:off x="548640" y="3749039"/>
            <a:ext cx="5577840" cy="27432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Images de référence, publiées en 2026</a:t>
            </a:r>
          </a:p>
        </p:txBody>
      </p:sp>
      <p:sp>
        <p:nvSpPr>
          <p:cNvPr id="10" name="Rectangle 9"/>
          <p:cNvSpPr/>
          <p:nvPr/>
        </p:nvSpPr>
        <p:spPr>
          <a:xfrm>
            <a:off x="548640" y="4114800"/>
            <a:ext cx="5532120" cy="182880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224528"/>
            <a:ext cx="512064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À FOURNIR</a:t>
            </a:r>
          </a:p>
        </p:txBody>
      </p:sp>
      <p:sp>
        <p:nvSpPr>
          <p:cNvPr id="12" name="TextBox 11"/>
          <p:cNvSpPr txBox="1"/>
          <p:nvPr/>
        </p:nvSpPr>
        <p:spPr>
          <a:xfrm>
            <a:off x="777240" y="4526280"/>
            <a:ext cx="5120640" cy="685800"/>
          </a:xfrm>
          <a:prstGeom prst="rect">
            <a:avLst/>
          </a:prstGeom>
          <a:noFill/>
        </p:spPr>
        <p:txBody>
          <a:bodyPr wrap="square" lIns="18288" rIns="18288" tIns="18288" bIns="18288" anchor="t">
            <a:spAutoFit/>
          </a:bodyPr>
          <a:lstStyle/>
          <a:p>
            <a:pPr algn="l">
              <a:lnSpc>
                <a:spcPct val="112000"/>
              </a:lnSpc>
            </a:pPr>
            <a:r>
              <a:rPr sz="1100" b="0" i="0">
                <a:solidFill>
                  <a:srgbClr val="1A1A1C"/>
                </a:solidFill>
                <a:latin typeface="Montserrat"/>
              </a:rPr>
              <a:t>Photos de la tournée et de l'avant-première déjà publiées par Totem (09/06 et 13/06), à demander en haute définition.</a:t>
            </a:r>
          </a:p>
        </p:txBody>
      </p:sp>
      <p:sp>
        <p:nvSpPr>
          <p:cNvPr id="13" name="TextBox 12"/>
          <p:cNvSpPr txBox="1"/>
          <p:nvPr/>
        </p:nvSpPr>
        <p:spPr>
          <a:xfrm>
            <a:off x="777240" y="5212080"/>
            <a:ext cx="5120640" cy="640080"/>
          </a:xfrm>
          <a:prstGeom prst="rect">
            <a:avLst/>
          </a:prstGeom>
          <a:noFill/>
        </p:spPr>
        <p:txBody>
          <a:bodyPr wrap="square" lIns="18288" rIns="18288" tIns="18288" bIns="18288" anchor="t">
            <a:spAutoFit/>
          </a:bodyPr>
          <a:lstStyle/>
          <a:p>
            <a:pPr algn="l">
              <a:lnSpc>
                <a:spcPct val="112000"/>
              </a:lnSpc>
            </a:pPr>
            <a:r>
              <a:rPr sz="1100" b="1" i="0">
                <a:solidFill>
                  <a:srgbClr val="141414"/>
                </a:solidFill>
                <a:latin typeface="Montserrat"/>
              </a:rPr>
              <a:t>Carrousel 4:5 en collaboration avec @chaquedetailproductions, si l'équipe accepte.</a:t>
            </a:r>
          </a:p>
        </p:txBody>
      </p:sp>
      <p:sp>
        <p:nvSpPr>
          <p:cNvPr id="14" name="Rectangle 13"/>
          <p:cNvSpPr/>
          <p:nvPr/>
        </p:nvSpPr>
        <p:spPr>
          <a:xfrm>
            <a:off x="6400800" y="1417320"/>
            <a:ext cx="5212080" cy="452628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v_ig2.jpg"/>
          <p:cNvPicPr>
            <a:picLocks noChangeAspect="1"/>
          </p:cNvPicPr>
          <p:nvPr/>
        </p:nvPicPr>
        <p:blipFill>
          <a:blip r:embed="rId6"/>
          <a:stretch>
            <a:fillRect/>
          </a:stretch>
        </p:blipFill>
        <p:spPr>
          <a:xfrm>
            <a:off x="6583680" y="1572768"/>
            <a:ext cx="457200" cy="457200"/>
          </a:xfrm>
          <a:prstGeom prst="rect">
            <a:avLst/>
          </a:prstGeom>
        </p:spPr>
      </p:pic>
      <p:sp>
        <p:nvSpPr>
          <p:cNvPr id="16" name="TextBox 15"/>
          <p:cNvSpPr txBox="1"/>
          <p:nvPr/>
        </p:nvSpPr>
        <p:spPr>
          <a:xfrm>
            <a:off x="7178040" y="1572768"/>
            <a:ext cx="4206240" cy="27432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kahindula61</a:t>
            </a:r>
          </a:p>
        </p:txBody>
      </p:sp>
      <p:sp>
        <p:nvSpPr>
          <p:cNvPr id="17" name="TextBox 16"/>
          <p:cNvSpPr txBox="1"/>
          <p:nvPr/>
        </p:nvSpPr>
        <p:spPr>
          <a:xfrm>
            <a:off x="7178040" y="1828800"/>
            <a:ext cx="4206240" cy="274320"/>
          </a:xfrm>
          <a:prstGeom prst="rect">
            <a:avLst/>
          </a:prstGeom>
          <a:noFill/>
        </p:spPr>
        <p:txBody>
          <a:bodyPr wrap="square" lIns="18288" rIns="18288" tIns="18288" bIns="18288" anchor="t">
            <a:spAutoFit/>
          </a:bodyPr>
          <a:lstStyle/>
          <a:p>
            <a:pPr algn="l">
              <a:lnSpc>
                <a:spcPct val="112000"/>
              </a:lnSpc>
            </a:pPr>
            <a:r>
              <a:rPr sz="950" b="0" i="0">
                <a:solidFill>
                  <a:srgbClr val="6E6E73"/>
                </a:solidFill>
                <a:latin typeface="Montserrat"/>
              </a:rPr>
              <a:t>Jeudi 5 novembre · 19 h</a:t>
            </a:r>
          </a:p>
        </p:txBody>
      </p:sp>
      <p:sp>
        <p:nvSpPr>
          <p:cNvPr id="18" name="TextBox 17"/>
          <p:cNvSpPr txBox="1"/>
          <p:nvPr/>
        </p:nvSpPr>
        <p:spPr>
          <a:xfrm>
            <a:off x="6583680" y="2240280"/>
            <a:ext cx="4846320" cy="3657600"/>
          </a:xfrm>
          <a:prstGeom prst="rect">
            <a:avLst/>
          </a:prstGeom>
          <a:noFill/>
        </p:spPr>
        <p:txBody>
          <a:bodyPr wrap="square" lIns="18288" rIns="18288" tIns="18288" bIns="18288" anchor="t">
            <a:spAutoFit/>
          </a:bodyPr>
          <a:lstStyle/>
          <a:p>
            <a:pPr algn="l">
              <a:lnSpc>
                <a:spcPct val="112000"/>
              </a:lnSpc>
            </a:pPr>
            <a:r>
              <a:rPr sz="1150" b="0" i="0">
                <a:solidFill>
                  <a:srgbClr val="1A1A1C"/>
                </a:solidFill>
                <a:latin typeface="Montserrat"/>
              </a:rPr>
              <a:t>L'avant-première africaine de WHO.</a:t>
            </a:r>
          </a:p>
          <a:p>
            <a:pPr algn="l">
              <a:lnSpc>
                <a:spcPct val="112000"/>
              </a:lnSpc>
            </a:pPr>
            <a:r>
              <a:rPr sz="1150" b="0" i="0">
                <a:solidFill>
                  <a:srgbClr val="1A1A1C"/>
                </a:solidFill>
                <a:latin typeface="Montserrat"/>
              </a:rPr>
              <a:t>Cinq ans de travail dans l'ombre, et ce soir-là, un accueil que je n'oublierai pas.</a:t>
            </a:r>
          </a:p>
          <a:p>
            <a:pPr algn="l">
              <a:lnSpc>
                <a:spcPct val="112000"/>
              </a:lnSpc>
            </a:pPr>
            <a:r>
              <a:rPr sz="1150" b="0" i="0">
                <a:solidFill>
                  <a:srgbClr val="1A1A1C"/>
                </a:solidFill>
                <a:latin typeface="Montserrat"/>
              </a:rPr>
              <a:t>Ce que je retiens de cette tournée : notre public attendait ce film. Il attendait qu'on lui raconte ses propres histoires, avec ses propres standards.</a:t>
            </a:r>
          </a:p>
          <a:p>
            <a:pPr algn="l">
              <a:lnSpc>
                <a:spcPct val="112000"/>
              </a:lnSpc>
            </a:pPr>
            <a:r>
              <a:rPr sz="1150" b="0" i="0">
                <a:solidFill>
                  <a:srgbClr val="1A1A1C"/>
                </a:solidFill>
                <a:latin typeface="Montserrat"/>
              </a:rPr>
              <a:t>Merci @wilaime et toute l'équipe de @chaquedetailproductions.</a:t>
            </a:r>
          </a:p>
          <a:p>
            <a:pPr algn="l">
              <a:lnSpc>
                <a:spcPct val="112000"/>
              </a:lnSpc>
            </a:pPr>
            <a:r>
              <a:rPr sz="1150" b="0" i="0">
                <a:solidFill>
                  <a:srgbClr val="1A1A1C"/>
                </a:solidFill>
                <a:latin typeface="Montserrat"/>
              </a:rPr>
              <a:t>Vous l'avez vu ? Dites-moi la scène qui vous a marqués.</a:t>
            </a:r>
          </a:p>
        </p:txBody>
      </p:sp>
      <p:sp>
        <p:nvSpPr>
          <p:cNvPr id="19" name="TextBox 18"/>
          <p:cNvSpPr txBox="1"/>
          <p:nvPr/>
        </p:nvSpPr>
        <p:spPr>
          <a:xfrm>
            <a:off x="548640" y="6053328"/>
            <a:ext cx="11064240" cy="365760"/>
          </a:xfrm>
          <a:prstGeom prst="rect">
            <a:avLst/>
          </a:prstGeom>
          <a:noFill/>
        </p:spPr>
        <p:txBody>
          <a:bodyPr wrap="square" lIns="18288" rIns="18288" tIns="18288" bIns="18288" anchor="t">
            <a:spAutoFit/>
          </a:bodyPr>
          <a:lstStyle/>
          <a:p>
            <a:pPr algn="l">
              <a:lnSpc>
                <a:spcPct val="112000"/>
              </a:lnSpc>
            </a:pPr>
            <a:r>
              <a:rPr sz="900" b="0" i="1">
                <a:solidFill>
                  <a:srgbClr val="6E6E73"/>
                </a:solidFill>
                <a:latin typeface="Montserrat"/>
              </a:rPr>
              <a:t>Légende en français, deux émojis au plus, aucun mot-dièse imposé. À valider par Kahi avant toute publication.</a:t>
            </a:r>
          </a:p>
        </p:txBody>
      </p:sp>
      <p:sp>
        <p:nvSpPr>
          <p:cNvPr id="20" name="TextBox 19"/>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1" name="TextBox 20"/>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38 / 42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PREMIER LOT · À VALIDER</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Le calendrier des deux prochaines semaines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graphicFrame>
        <p:nvGraphicFramePr>
          <p:cNvPr id="6" name="Table 5"/>
          <p:cNvGraphicFramePr>
            <a:graphicFrameLocks noGrp="1"/>
          </p:cNvGraphicFramePr>
          <p:nvPr/>
        </p:nvGraphicFramePr>
        <p:xfrm>
          <a:off x="548640" y="1417320"/>
          <a:ext cx="11064240" cy="4023360"/>
        </p:xfrm>
        <a:graphic>
          <a:graphicData uri="http://schemas.openxmlformats.org/drawingml/2006/table">
            <a:tbl>
              <a:tblPr firstRow="1" bandRow="1">
                <a:tableStyleId>{5C22544A-7EE6-4342-B048-85BDC9FD1C3A}</a:tableStyleId>
              </a:tblPr>
              <a:tblGrid>
                <a:gridCol w="2468880"/>
                <a:gridCol w="1920240"/>
                <a:gridCol w="4754880"/>
                <a:gridCol w="1920240"/>
              </a:tblGrid>
              <a:tr h="502920">
                <a:tc>
                  <a:txBody>
                    <a:bodyPr wrap="square"/>
                    <a:lstStyle/>
                    <a:p>
                      <a:pPr algn="l"/>
                      <a:r>
                        <a:rPr sz="1100" b="1">
                          <a:solidFill>
                            <a:srgbClr val="FFFFFF"/>
                          </a:solidFill>
                          <a:latin typeface="Montserrat"/>
                        </a:rPr>
                        <a:t>Date</a:t>
                      </a:r>
                    </a:p>
                  </a:txBody>
                  <a:tcPr marL="73152" marR="73152" marT="27432" marB="27432" anchor="ctr">
                    <a:solidFill>
                      <a:srgbClr val="141414"/>
                    </a:solidFill>
                  </a:tcPr>
                </a:tc>
                <a:tc>
                  <a:txBody>
                    <a:bodyPr wrap="square"/>
                    <a:lstStyle/>
                    <a:p>
                      <a:pPr algn="ctr"/>
                      <a:r>
                        <a:rPr sz="1100" b="1">
                          <a:solidFill>
                            <a:srgbClr val="FFFFFF"/>
                          </a:solidFill>
                          <a:latin typeface="Montserrat"/>
                        </a:rPr>
                        <a:t>Réseau</a:t>
                      </a:r>
                    </a:p>
                  </a:txBody>
                  <a:tcPr marL="73152" marR="73152" marT="27432" marB="27432" anchor="ctr">
                    <a:solidFill>
                      <a:srgbClr val="141414"/>
                    </a:solidFill>
                  </a:tcPr>
                </a:tc>
                <a:tc>
                  <a:txBody>
                    <a:bodyPr wrap="square"/>
                    <a:lstStyle/>
                    <a:p>
                      <a:pPr algn="ctr"/>
                      <a:r>
                        <a:rPr sz="1100" b="1">
                          <a:solidFill>
                            <a:srgbClr val="FFFFFF"/>
                          </a:solidFill>
                          <a:latin typeface="Montserrat"/>
                        </a:rPr>
                        <a:t>Contenu</a:t>
                      </a:r>
                    </a:p>
                  </a:txBody>
                  <a:tcPr marL="73152" marR="73152" marT="27432" marB="27432" anchor="ctr">
                    <a:solidFill>
                      <a:srgbClr val="141414"/>
                    </a:solidFill>
                  </a:tcPr>
                </a:tc>
                <a:tc>
                  <a:txBody>
                    <a:bodyPr wrap="square"/>
                    <a:lstStyle/>
                    <a:p>
                      <a:pPr algn="ctr"/>
                      <a:r>
                        <a:rPr sz="1100" b="1">
                          <a:solidFill>
                            <a:srgbClr val="FFFFFF"/>
                          </a:solidFill>
                          <a:latin typeface="Montserrat"/>
                        </a:rPr>
                        <a:t>Statut</a:t>
                      </a:r>
                    </a:p>
                  </a:txBody>
                  <a:tcPr marL="73152" marR="73152" marT="27432" marB="27432" anchor="ctr">
                    <a:solidFill>
                      <a:srgbClr val="141414"/>
                    </a:solidFill>
                  </a:tcPr>
                </a:tc>
              </a:tr>
              <a:tr h="502920">
                <a:tc>
                  <a:txBody>
                    <a:bodyPr wrap="square"/>
                    <a:lstStyle/>
                    <a:p>
                      <a:pPr algn="l"/>
                      <a:r>
                        <a:rPr sz="1100" b="0">
                          <a:solidFill>
                            <a:srgbClr val="141414"/>
                          </a:solidFill>
                          <a:latin typeface="Montserrat"/>
                        </a:rPr>
                        <a:t>Lundi 26 octobre</a:t>
                      </a:r>
                    </a:p>
                  </a:txBody>
                  <a:tcPr marL="73152" marR="73152" marT="27432" marB="27432" anchor="ctr">
                    <a:solidFill>
                      <a:srgbClr val="FFFFFF"/>
                    </a:solidFill>
                  </a:tcPr>
                </a:tc>
                <a:tc>
                  <a:txBody>
                    <a:bodyPr wrap="square"/>
                    <a:lstStyle/>
                    <a:p>
                      <a:pPr algn="ctr"/>
                      <a:r>
                        <a:rPr sz="1100" b="0">
                          <a:solidFill>
                            <a:srgbClr val="141414"/>
                          </a:solidFill>
                          <a:latin typeface="Montserrat"/>
                        </a:rPr>
                        <a:t>LinkedIn et Instagram</a:t>
                      </a:r>
                    </a:p>
                  </a:txBody>
                  <a:tcPr marL="73152" marR="73152" marT="27432" marB="27432" anchor="ctr">
                    <a:solidFill>
                      <a:srgbClr val="FFFFFF"/>
                    </a:solidFill>
                  </a:tcPr>
                </a:tc>
                <a:tc>
                  <a:txBody>
                    <a:bodyPr wrap="square"/>
                    <a:lstStyle/>
                    <a:p>
                      <a:pPr algn="ctr"/>
                      <a:r>
                        <a:rPr sz="1100" b="0">
                          <a:solidFill>
                            <a:srgbClr val="141414"/>
                          </a:solidFill>
                          <a:latin typeface="Montserrat"/>
                        </a:rPr>
                        <a:t>Nouveau titre, résumé et bio ; 3 publications épinglées ; nouveau lien en bio</a:t>
                      </a:r>
                    </a:p>
                  </a:txBody>
                  <a:tcPr marL="73152" marR="73152" marT="27432" marB="27432" anchor="ctr">
                    <a:solidFill>
                      <a:srgbClr val="FFFFFF"/>
                    </a:solidFill>
                  </a:tcPr>
                </a:tc>
                <a:tc>
                  <a:txBody>
                    <a:bodyPr wrap="square"/>
                    <a:lstStyle/>
                    <a:p>
                      <a:pPr algn="ctr"/>
                      <a:r>
                        <a:rPr sz="1100" b="0">
                          <a:solidFill>
                            <a:srgbClr val="141414"/>
                          </a:solidFill>
                          <a:latin typeface="Montserrat"/>
                        </a:rPr>
                        <a:t>À valider</a:t>
                      </a:r>
                    </a:p>
                  </a:txBody>
                  <a:tcPr marL="73152" marR="73152" marT="27432" marB="27432" anchor="ctr">
                    <a:solidFill>
                      <a:srgbClr val="FFFFFF"/>
                    </a:solidFill>
                  </a:tcPr>
                </a:tc>
              </a:tr>
              <a:tr h="502920">
                <a:tc>
                  <a:txBody>
                    <a:bodyPr wrap="square"/>
                    <a:lstStyle/>
                    <a:p>
                      <a:pPr algn="l"/>
                      <a:r>
                        <a:rPr sz="1100" b="0">
                          <a:solidFill>
                            <a:srgbClr val="141414"/>
                          </a:solidFill>
                          <a:latin typeface="Montserrat"/>
                        </a:rPr>
                        <a:t>Mardi 27 octobre · 9 h</a:t>
                      </a:r>
                    </a:p>
                  </a:txBody>
                  <a:tcPr marL="73152" marR="73152" marT="27432" marB="27432" anchor="ctr">
                    <a:solidFill>
                      <a:srgbClr val="FAFAF6"/>
                    </a:solidFill>
                  </a:tcPr>
                </a:tc>
                <a:tc>
                  <a:txBody>
                    <a:bodyPr wrap="square"/>
                    <a:lstStyle/>
                    <a:p>
                      <a:pPr algn="ctr"/>
                      <a:r>
                        <a:rPr sz="1100" b="0">
                          <a:solidFill>
                            <a:srgbClr val="141414"/>
                          </a:solidFill>
                          <a:latin typeface="Montserrat"/>
                        </a:rPr>
                        <a:t>LinkedIn</a:t>
                      </a:r>
                    </a:p>
                  </a:txBody>
                  <a:tcPr marL="73152" marR="73152" marT="27432" marB="27432" anchor="ctr">
                    <a:solidFill>
                      <a:srgbClr val="FAFAF6"/>
                    </a:solidFill>
                  </a:tcPr>
                </a:tc>
                <a:tc>
                  <a:txBody>
                    <a:bodyPr wrap="square"/>
                    <a:lstStyle/>
                    <a:p>
                      <a:pPr algn="ctr"/>
                      <a:r>
                        <a:rPr sz="1100" b="0">
                          <a:solidFill>
                            <a:srgbClr val="141414"/>
                          </a:solidFill>
                          <a:latin typeface="Montserrat"/>
                        </a:rPr>
                        <a:t>Post n°1 · Le nouveau chapitre de Totem</a:t>
                      </a:r>
                    </a:p>
                  </a:txBody>
                  <a:tcPr marL="73152" marR="73152" marT="27432" marB="27432" anchor="ctr">
                    <a:solidFill>
                      <a:srgbClr val="FAFAF6"/>
                    </a:solidFill>
                  </a:tcPr>
                </a:tc>
                <a:tc>
                  <a:txBody>
                    <a:bodyPr wrap="square"/>
                    <a:lstStyle/>
                    <a:p>
                      <a:pPr algn="ctr"/>
                      <a:r>
                        <a:rPr sz="1100" b="0">
                          <a:solidFill>
                            <a:srgbClr val="141414"/>
                          </a:solidFill>
                          <a:latin typeface="Montserrat"/>
                        </a:rPr>
                        <a:t>Texte prêt</a:t>
                      </a:r>
                    </a:p>
                  </a:txBody>
                  <a:tcPr marL="73152" marR="73152" marT="27432" marB="27432" anchor="ctr">
                    <a:solidFill>
                      <a:srgbClr val="FAFAF6"/>
                    </a:solidFill>
                  </a:tcPr>
                </a:tc>
              </a:tr>
              <a:tr h="502920">
                <a:tc>
                  <a:txBody>
                    <a:bodyPr wrap="square"/>
                    <a:lstStyle/>
                    <a:p>
                      <a:pPr algn="l"/>
                      <a:r>
                        <a:rPr sz="1100" b="0">
                          <a:solidFill>
                            <a:srgbClr val="141414"/>
                          </a:solidFill>
                          <a:latin typeface="Montserrat"/>
                        </a:rPr>
                        <a:t>Jeudi 29 octobre · 9 h</a:t>
                      </a:r>
                    </a:p>
                  </a:txBody>
                  <a:tcPr marL="73152" marR="73152" marT="27432" marB="27432" anchor="ctr">
                    <a:solidFill>
                      <a:srgbClr val="FFFFFF"/>
                    </a:solidFill>
                  </a:tcPr>
                </a:tc>
                <a:tc>
                  <a:txBody>
                    <a:bodyPr wrap="square"/>
                    <a:lstStyle/>
                    <a:p>
                      <a:pPr algn="ctr"/>
                      <a:r>
                        <a:rPr sz="1100" b="0">
                          <a:solidFill>
                            <a:srgbClr val="141414"/>
                          </a:solidFill>
                          <a:latin typeface="Montserrat"/>
                        </a:rPr>
                        <a:t>LinkedIn</a:t>
                      </a:r>
                    </a:p>
                  </a:txBody>
                  <a:tcPr marL="73152" marR="73152" marT="27432" marB="27432" anchor="ctr">
                    <a:solidFill>
                      <a:srgbClr val="FFFFFF"/>
                    </a:solidFill>
                  </a:tcPr>
                </a:tc>
                <a:tc>
                  <a:txBody>
                    <a:bodyPr wrap="square"/>
                    <a:lstStyle/>
                    <a:p>
                      <a:pPr algn="ctr"/>
                      <a:r>
                        <a:rPr sz="1100" b="0">
                          <a:solidFill>
                            <a:srgbClr val="141414"/>
                          </a:solidFill>
                          <a:latin typeface="Montserrat"/>
                        </a:rPr>
                        <a:t>Post n°2 · Ce que WHO m'a appris</a:t>
                      </a:r>
                    </a:p>
                  </a:txBody>
                  <a:tcPr marL="73152" marR="73152" marT="27432" marB="27432" anchor="ctr">
                    <a:solidFill>
                      <a:srgbClr val="FFFFFF"/>
                    </a:solidFill>
                  </a:tcPr>
                </a:tc>
                <a:tc>
                  <a:txBody>
                    <a:bodyPr wrap="square"/>
                    <a:lstStyle/>
                    <a:p>
                      <a:pPr algn="ctr"/>
                      <a:r>
                        <a:rPr sz="1100" b="0">
                          <a:solidFill>
                            <a:srgbClr val="141414"/>
                          </a:solidFill>
                          <a:latin typeface="Montserrat"/>
                        </a:rPr>
                        <a:t>Texte prêt</a:t>
                      </a:r>
                    </a:p>
                  </a:txBody>
                  <a:tcPr marL="73152" marR="73152" marT="27432" marB="27432" anchor="ctr">
                    <a:solidFill>
                      <a:srgbClr val="FFFFFF"/>
                    </a:solidFill>
                  </a:tcPr>
                </a:tc>
              </a:tr>
              <a:tr h="502920">
                <a:tc>
                  <a:txBody>
                    <a:bodyPr wrap="square"/>
                    <a:lstStyle/>
                    <a:p>
                      <a:pPr algn="l"/>
                      <a:r>
                        <a:rPr sz="1100" b="0">
                          <a:solidFill>
                            <a:srgbClr val="141414"/>
                          </a:solidFill>
                          <a:latin typeface="Montserrat"/>
                        </a:rPr>
                        <a:t>Vendredi 30 octobre · 19 h</a:t>
                      </a:r>
                    </a:p>
                  </a:txBody>
                  <a:tcPr marL="73152" marR="73152" marT="27432" marB="27432" anchor="ctr">
                    <a:solidFill>
                      <a:srgbClr val="FAFAF6"/>
                    </a:solidFill>
                  </a:tcPr>
                </a:tc>
                <a:tc>
                  <a:txBody>
                    <a:bodyPr wrap="square"/>
                    <a:lstStyle/>
                    <a:p>
                      <a:pPr algn="ctr"/>
                      <a:r>
                        <a:rPr sz="1100" b="0">
                          <a:solidFill>
                            <a:srgbClr val="141414"/>
                          </a:solidFill>
                          <a:latin typeface="Montserrat"/>
                        </a:rPr>
                        <a:t>Instagram</a:t>
                      </a:r>
                    </a:p>
                  </a:txBody>
                  <a:tcPr marL="73152" marR="73152" marT="27432" marB="27432" anchor="ctr">
                    <a:solidFill>
                      <a:srgbClr val="FAFAF6"/>
                    </a:solidFill>
                  </a:tcPr>
                </a:tc>
                <a:tc>
                  <a:txBody>
                    <a:bodyPr wrap="square"/>
                    <a:lstStyle/>
                    <a:p>
                      <a:pPr algn="ctr"/>
                      <a:r>
                        <a:rPr sz="1100" b="0">
                          <a:solidFill>
                            <a:srgbClr val="141414"/>
                          </a:solidFill>
                          <a:latin typeface="Montserrat"/>
                        </a:rPr>
                        <a:t>Carrousel « Dix ans d'ADICOM »</a:t>
                      </a:r>
                    </a:p>
                  </a:txBody>
                  <a:tcPr marL="73152" marR="73152" marT="27432" marB="27432" anchor="ctr">
                    <a:solidFill>
                      <a:srgbClr val="FAFAF6"/>
                    </a:solidFill>
                  </a:tcPr>
                </a:tc>
                <a:tc>
                  <a:txBody>
                    <a:bodyPr wrap="square"/>
                    <a:lstStyle/>
                    <a:p>
                      <a:pPr algn="ctr"/>
                      <a:r>
                        <a:rPr sz="1100" b="0">
                          <a:solidFill>
                            <a:srgbClr val="141414"/>
                          </a:solidFill>
                          <a:latin typeface="Montserrat"/>
                        </a:rPr>
                        <a:t>Photos à fournir</a:t>
                      </a:r>
                    </a:p>
                  </a:txBody>
                  <a:tcPr marL="73152" marR="73152" marT="27432" marB="27432" anchor="ctr">
                    <a:solidFill>
                      <a:srgbClr val="FAFAF6"/>
                    </a:solidFill>
                  </a:tcPr>
                </a:tc>
              </a:tr>
              <a:tr h="502920">
                <a:tc>
                  <a:txBody>
                    <a:bodyPr wrap="square"/>
                    <a:lstStyle/>
                    <a:p>
                      <a:pPr algn="l"/>
                      <a:r>
                        <a:rPr sz="1100" b="0">
                          <a:solidFill>
                            <a:srgbClr val="141414"/>
                          </a:solidFill>
                          <a:latin typeface="Montserrat"/>
                        </a:rPr>
                        <a:t>Mardi 3 novembre · 9 h</a:t>
                      </a:r>
                    </a:p>
                  </a:txBody>
                  <a:tcPr marL="73152" marR="73152" marT="27432" marB="27432" anchor="ctr">
                    <a:solidFill>
                      <a:srgbClr val="FFFFFF"/>
                    </a:solidFill>
                  </a:tcPr>
                </a:tc>
                <a:tc>
                  <a:txBody>
                    <a:bodyPr wrap="square"/>
                    <a:lstStyle/>
                    <a:p>
                      <a:pPr algn="ctr"/>
                      <a:r>
                        <a:rPr sz="1100" b="0">
                          <a:solidFill>
                            <a:srgbClr val="141414"/>
                          </a:solidFill>
                          <a:latin typeface="Montserrat"/>
                        </a:rPr>
                        <a:t>LinkedIn</a:t>
                      </a:r>
                    </a:p>
                  </a:txBody>
                  <a:tcPr marL="73152" marR="73152" marT="27432" marB="27432" anchor="ctr">
                    <a:solidFill>
                      <a:srgbClr val="FFFFFF"/>
                    </a:solidFill>
                  </a:tcPr>
                </a:tc>
                <a:tc>
                  <a:txBody>
                    <a:bodyPr wrap="square"/>
                    <a:lstStyle/>
                    <a:p>
                      <a:pPr algn="ctr"/>
                      <a:r>
                        <a:rPr sz="1100" b="0">
                          <a:solidFill>
                            <a:srgbClr val="141414"/>
                          </a:solidFill>
                          <a:latin typeface="Montserrat"/>
                        </a:rPr>
                        <a:t>Post n°3 · Le profit, épisode 150</a:t>
                      </a:r>
                    </a:p>
                  </a:txBody>
                  <a:tcPr marL="73152" marR="73152" marT="27432" marB="27432" anchor="ctr">
                    <a:solidFill>
                      <a:srgbClr val="FFFFFF"/>
                    </a:solidFill>
                  </a:tcPr>
                </a:tc>
                <a:tc>
                  <a:txBody>
                    <a:bodyPr wrap="square"/>
                    <a:lstStyle/>
                    <a:p>
                      <a:pPr algn="ctr"/>
                      <a:r>
                        <a:rPr sz="1100" b="0">
                          <a:solidFill>
                            <a:srgbClr val="141414"/>
                          </a:solidFill>
                          <a:latin typeface="Montserrat"/>
                        </a:rPr>
                        <a:t>Extrait vidéo à couper</a:t>
                      </a:r>
                    </a:p>
                  </a:txBody>
                  <a:tcPr marL="73152" marR="73152" marT="27432" marB="27432" anchor="ctr">
                    <a:solidFill>
                      <a:srgbClr val="FFFFFF"/>
                    </a:solidFill>
                  </a:tcPr>
                </a:tc>
              </a:tr>
              <a:tr h="502920">
                <a:tc>
                  <a:txBody>
                    <a:bodyPr wrap="square"/>
                    <a:lstStyle/>
                    <a:p>
                      <a:pPr algn="l"/>
                      <a:r>
                        <a:rPr sz="1100" b="0">
                          <a:solidFill>
                            <a:srgbClr val="141414"/>
                          </a:solidFill>
                          <a:latin typeface="Montserrat"/>
                        </a:rPr>
                        <a:t>Jeudi 5 novembre · 19 h</a:t>
                      </a:r>
                    </a:p>
                  </a:txBody>
                  <a:tcPr marL="73152" marR="73152" marT="27432" marB="27432" anchor="ctr">
                    <a:solidFill>
                      <a:srgbClr val="FAFAF6"/>
                    </a:solidFill>
                  </a:tcPr>
                </a:tc>
                <a:tc>
                  <a:txBody>
                    <a:bodyPr wrap="square"/>
                    <a:lstStyle/>
                    <a:p>
                      <a:pPr algn="ctr"/>
                      <a:r>
                        <a:rPr sz="1100" b="0">
                          <a:solidFill>
                            <a:srgbClr val="141414"/>
                          </a:solidFill>
                          <a:latin typeface="Montserrat"/>
                        </a:rPr>
                        <a:t>Instagram</a:t>
                      </a:r>
                    </a:p>
                  </a:txBody>
                  <a:tcPr marL="73152" marR="73152" marT="27432" marB="27432" anchor="ctr">
                    <a:solidFill>
                      <a:srgbClr val="FAFAF6"/>
                    </a:solidFill>
                  </a:tcPr>
                </a:tc>
                <a:tc>
                  <a:txBody>
                    <a:bodyPr wrap="square"/>
                    <a:lstStyle/>
                    <a:p>
                      <a:pPr algn="ctr"/>
                      <a:r>
                        <a:rPr sz="1100" b="0">
                          <a:solidFill>
                            <a:srgbClr val="141414"/>
                          </a:solidFill>
                          <a:latin typeface="Montserrat"/>
                        </a:rPr>
                        <a:t>Carrousel « WHO, l'avant-première »</a:t>
                      </a:r>
                    </a:p>
                  </a:txBody>
                  <a:tcPr marL="73152" marR="73152" marT="27432" marB="27432" anchor="ctr">
                    <a:solidFill>
                      <a:srgbClr val="FAFAF6"/>
                    </a:solidFill>
                  </a:tcPr>
                </a:tc>
                <a:tc>
                  <a:txBody>
                    <a:bodyPr wrap="square"/>
                    <a:lstStyle/>
                    <a:p>
                      <a:pPr algn="ctr"/>
                      <a:r>
                        <a:rPr sz="1100" b="0">
                          <a:solidFill>
                            <a:srgbClr val="141414"/>
                          </a:solidFill>
                          <a:latin typeface="Montserrat"/>
                        </a:rPr>
                        <a:t>Photos à demander</a:t>
                      </a:r>
                    </a:p>
                  </a:txBody>
                  <a:tcPr marL="73152" marR="73152" marT="27432" marB="27432" anchor="ctr">
                    <a:solidFill>
                      <a:srgbClr val="FAFAF6"/>
                    </a:solidFill>
                  </a:tcPr>
                </a:tc>
              </a:tr>
              <a:tr h="502920">
                <a:tc>
                  <a:txBody>
                    <a:bodyPr wrap="square"/>
                    <a:lstStyle/>
                    <a:p>
                      <a:pPr algn="l"/>
                      <a:r>
                        <a:rPr sz="1100" b="0">
                          <a:solidFill>
                            <a:srgbClr val="141414"/>
                          </a:solidFill>
                          <a:latin typeface="Montserrat"/>
                        </a:rPr>
                        <a:t>Vendredi 6 novembre</a:t>
                      </a:r>
                    </a:p>
                  </a:txBody>
                  <a:tcPr marL="73152" marR="73152" marT="27432" marB="27432" anchor="ctr">
                    <a:solidFill>
                      <a:srgbClr val="FFFFFF"/>
                    </a:solidFill>
                  </a:tcPr>
                </a:tc>
                <a:tc>
                  <a:txBody>
                    <a:bodyPr wrap="square"/>
                    <a:lstStyle/>
                    <a:p>
                      <a:pPr algn="ctr"/>
                      <a:r>
                        <a:rPr sz="1100" b="0">
                          <a:solidFill>
                            <a:srgbClr val="141414"/>
                          </a:solidFill>
                          <a:latin typeface="Montserrat"/>
                        </a:rPr>
                        <a:t>Les deux</a:t>
                      </a:r>
                    </a:p>
                  </a:txBody>
                  <a:tcPr marL="73152" marR="73152" marT="27432" marB="27432" anchor="ctr">
                    <a:solidFill>
                      <a:srgbClr val="FFFFFF"/>
                    </a:solidFill>
                  </a:tcPr>
                </a:tc>
                <a:tc>
                  <a:txBody>
                    <a:bodyPr wrap="square"/>
                    <a:lstStyle/>
                    <a:p>
                      <a:pPr algn="ctr"/>
                      <a:r>
                        <a:rPr sz="1100" b="0">
                          <a:solidFill>
                            <a:srgbClr val="141414"/>
                          </a:solidFill>
                          <a:latin typeface="Montserrat"/>
                        </a:rPr>
                        <a:t>Premier relevé : interactions, commentaires, abonnés</a:t>
                      </a:r>
                    </a:p>
                  </a:txBody>
                  <a:tcPr marL="73152" marR="73152" marT="27432" marB="27432" anchor="ctr">
                    <a:solidFill>
                      <a:srgbClr val="FFFFFF"/>
                    </a:solidFill>
                  </a:tcPr>
                </a:tc>
                <a:tc>
                  <a:txBody>
                    <a:bodyPr wrap="square"/>
                    <a:lstStyle/>
                    <a:p>
                      <a:pPr algn="ctr"/>
                      <a:r>
                        <a:rPr sz="1100" b="0">
                          <a:solidFill>
                            <a:srgbClr val="141414"/>
                          </a:solidFill>
                          <a:latin typeface="Montserrat"/>
                        </a:rPr>
                        <a:t>Automatique</a:t>
                      </a:r>
                    </a:p>
                  </a:txBody>
                  <a:tcPr marL="73152" marR="73152" marT="27432" marB="27432" anchor="ctr">
                    <a:solidFill>
                      <a:srgbClr val="FFFFFF"/>
                    </a:solidFill>
                  </a:tcPr>
                </a:tc>
              </a:tr>
            </a:tbl>
          </a:graphicData>
        </a:graphic>
      </p:graphicFrame>
      <p:sp>
        <p:nvSpPr>
          <p:cNvPr id="7" name="TextBox 6"/>
          <p:cNvSpPr txBox="1"/>
          <p:nvPr/>
        </p:nvSpPr>
        <p:spPr>
          <a:xfrm>
            <a:off x="548640" y="5623560"/>
            <a:ext cx="11064240" cy="457200"/>
          </a:xfrm>
          <a:prstGeom prst="rect">
            <a:avLst/>
          </a:prstGeom>
          <a:noFill/>
        </p:spPr>
        <p:txBody>
          <a:bodyPr wrap="square" lIns="18288" rIns="18288" tIns="18288" bIns="18288" anchor="t">
            <a:spAutoFit/>
          </a:bodyPr>
          <a:lstStyle/>
          <a:p>
            <a:pPr algn="l">
              <a:lnSpc>
                <a:spcPct val="112000"/>
              </a:lnSpc>
            </a:pPr>
            <a:r>
              <a:rPr sz="1200" b="1" i="0">
                <a:solidFill>
                  <a:srgbClr val="141414"/>
                </a:solidFill>
                <a:latin typeface="Montserrat"/>
              </a:rPr>
              <a:t>Aucune publication ne part sans l'accord écrit de Kahi. Chaque post est fourni avec son texte complet et ses images.</a:t>
            </a:r>
          </a:p>
        </p:txBody>
      </p:sp>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39 / 42</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CE QU'IL NOUS FAUT POUR ALLER PLUS LOIN</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La suite</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Rectangle 5"/>
          <p:cNvSpPr/>
          <p:nvPr/>
        </p:nvSpPr>
        <p:spPr>
          <a:xfrm>
            <a:off x="548640" y="1417320"/>
            <a:ext cx="5440680" cy="21031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c_check-circle_noir.png"/>
          <p:cNvPicPr>
            <a:picLocks noChangeAspect="1"/>
          </p:cNvPicPr>
          <p:nvPr/>
        </p:nvPicPr>
        <p:blipFill>
          <a:blip r:embed="rId3"/>
          <a:stretch>
            <a:fillRect/>
          </a:stretch>
        </p:blipFill>
        <p:spPr>
          <a:xfrm>
            <a:off x="777240" y="1673352"/>
            <a:ext cx="457200" cy="457200"/>
          </a:xfrm>
          <a:prstGeom prst="rect">
            <a:avLst/>
          </a:prstGeom>
        </p:spPr>
      </p:pic>
      <p:sp>
        <p:nvSpPr>
          <p:cNvPr id="8" name="TextBox 7"/>
          <p:cNvSpPr txBox="1"/>
          <p:nvPr/>
        </p:nvSpPr>
        <p:spPr>
          <a:xfrm>
            <a:off x="1417319" y="1691640"/>
            <a:ext cx="4389120" cy="457200"/>
          </a:xfrm>
          <a:prstGeom prst="rect">
            <a:avLst/>
          </a:prstGeom>
          <a:noFill/>
        </p:spPr>
        <p:txBody>
          <a:bodyPr wrap="square" lIns="18288" rIns="18288" tIns="18288" bIns="18288" anchor="t">
            <a:spAutoFit/>
          </a:bodyPr>
          <a:lstStyle/>
          <a:p>
            <a:pPr algn="l">
              <a:lnSpc>
                <a:spcPct val="112000"/>
              </a:lnSpc>
            </a:pPr>
            <a:r>
              <a:rPr sz="1600" b="1" i="0">
                <a:solidFill>
                  <a:srgbClr val="141414"/>
                </a:solidFill>
                <a:latin typeface="Montserrat"/>
              </a:rPr>
              <a:t>Valider le premier lot</a:t>
            </a:r>
          </a:p>
        </p:txBody>
      </p:sp>
      <p:sp>
        <p:nvSpPr>
          <p:cNvPr id="9" name="TextBox 8"/>
          <p:cNvSpPr txBox="1"/>
          <p:nvPr/>
        </p:nvSpPr>
        <p:spPr>
          <a:xfrm>
            <a:off x="1417319" y="2240280"/>
            <a:ext cx="4389120" cy="11887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Kahi relit les cinq posts, le titre, le résumé et la bio ; corrections dans la journée.</a:t>
            </a:r>
          </a:p>
        </p:txBody>
      </p:sp>
      <p:sp>
        <p:nvSpPr>
          <p:cNvPr id="10" name="Rectangle 9"/>
          <p:cNvSpPr/>
          <p:nvPr/>
        </p:nvSpPr>
        <p:spPr>
          <a:xfrm>
            <a:off x="6172200" y="1417320"/>
            <a:ext cx="5440680" cy="21031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ic_image_noir.png"/>
          <p:cNvPicPr>
            <a:picLocks noChangeAspect="1"/>
          </p:cNvPicPr>
          <p:nvPr/>
        </p:nvPicPr>
        <p:blipFill>
          <a:blip r:embed="rId4"/>
          <a:stretch>
            <a:fillRect/>
          </a:stretch>
        </p:blipFill>
        <p:spPr>
          <a:xfrm>
            <a:off x="6400800" y="1673352"/>
            <a:ext cx="457200" cy="457200"/>
          </a:xfrm>
          <a:prstGeom prst="rect">
            <a:avLst/>
          </a:prstGeom>
        </p:spPr>
      </p:pic>
      <p:sp>
        <p:nvSpPr>
          <p:cNvPr id="12" name="TextBox 11"/>
          <p:cNvSpPr txBox="1"/>
          <p:nvPr/>
        </p:nvSpPr>
        <p:spPr>
          <a:xfrm>
            <a:off x="7040880" y="1691640"/>
            <a:ext cx="4389120" cy="457200"/>
          </a:xfrm>
          <a:prstGeom prst="rect">
            <a:avLst/>
          </a:prstGeom>
          <a:noFill/>
        </p:spPr>
        <p:txBody>
          <a:bodyPr wrap="square" lIns="18288" rIns="18288" tIns="18288" bIns="18288" anchor="t">
            <a:spAutoFit/>
          </a:bodyPr>
          <a:lstStyle/>
          <a:p>
            <a:pPr algn="l">
              <a:lnSpc>
                <a:spcPct val="112000"/>
              </a:lnSpc>
            </a:pPr>
            <a:r>
              <a:rPr sz="1600" b="1" i="0">
                <a:solidFill>
                  <a:srgbClr val="141414"/>
                </a:solidFill>
                <a:latin typeface="Montserrat"/>
              </a:rPr>
              <a:t>Les photos</a:t>
            </a:r>
          </a:p>
        </p:txBody>
      </p:sp>
      <p:sp>
        <p:nvSpPr>
          <p:cNvPr id="13" name="TextBox 12"/>
          <p:cNvSpPr txBox="1"/>
          <p:nvPr/>
        </p:nvSpPr>
        <p:spPr>
          <a:xfrm>
            <a:off x="7040880" y="2240280"/>
            <a:ext cx="4389120" cy="11887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Dix photos d'ADICOM (une par édition) et celles de l'avant-première WHO, en haute définition.</a:t>
            </a:r>
          </a:p>
        </p:txBody>
      </p:sp>
      <p:sp>
        <p:nvSpPr>
          <p:cNvPr id="14" name="Rectangle 13"/>
          <p:cNvSpPr/>
          <p:nvPr/>
        </p:nvSpPr>
        <p:spPr>
          <a:xfrm>
            <a:off x="548640" y="3703320"/>
            <a:ext cx="5440680" cy="21031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ic_bar-chart-3_noir.png"/>
          <p:cNvPicPr>
            <a:picLocks noChangeAspect="1"/>
          </p:cNvPicPr>
          <p:nvPr/>
        </p:nvPicPr>
        <p:blipFill>
          <a:blip r:embed="rId5"/>
          <a:stretch>
            <a:fillRect/>
          </a:stretch>
        </p:blipFill>
        <p:spPr>
          <a:xfrm>
            <a:off x="777240" y="3959352"/>
            <a:ext cx="457200" cy="457200"/>
          </a:xfrm>
          <a:prstGeom prst="rect">
            <a:avLst/>
          </a:prstGeom>
        </p:spPr>
      </p:pic>
      <p:sp>
        <p:nvSpPr>
          <p:cNvPr id="16" name="TextBox 15"/>
          <p:cNvSpPr txBox="1"/>
          <p:nvPr/>
        </p:nvSpPr>
        <p:spPr>
          <a:xfrm>
            <a:off x="1417319" y="3977639"/>
            <a:ext cx="4389120" cy="457200"/>
          </a:xfrm>
          <a:prstGeom prst="rect">
            <a:avLst/>
          </a:prstGeom>
          <a:noFill/>
        </p:spPr>
        <p:txBody>
          <a:bodyPr wrap="square" lIns="18288" rIns="18288" tIns="18288" bIns="18288" anchor="t">
            <a:spAutoFit/>
          </a:bodyPr>
          <a:lstStyle/>
          <a:p>
            <a:pPr algn="l">
              <a:lnSpc>
                <a:spcPct val="112000"/>
              </a:lnSpc>
            </a:pPr>
            <a:r>
              <a:rPr sz="1600" b="1" i="0">
                <a:solidFill>
                  <a:srgbClr val="141414"/>
                </a:solidFill>
                <a:latin typeface="Montserrat"/>
              </a:rPr>
              <a:t>Les statistiques privées</a:t>
            </a:r>
          </a:p>
        </p:txBody>
      </p:sp>
      <p:sp>
        <p:nvSpPr>
          <p:cNvPr id="17" name="TextBox 16"/>
          <p:cNvSpPr txBox="1"/>
          <p:nvPr/>
        </p:nvSpPr>
        <p:spPr>
          <a:xfrm>
            <a:off x="1417319" y="4526280"/>
            <a:ext cx="4389120" cy="11887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Une capture par mois de ses statistiques LinkedIn et Instagram, que seul Kahi peut voir.</a:t>
            </a:r>
          </a:p>
        </p:txBody>
      </p:sp>
      <p:sp>
        <p:nvSpPr>
          <p:cNvPr id="18" name="Rectangle 17"/>
          <p:cNvSpPr/>
          <p:nvPr/>
        </p:nvSpPr>
        <p:spPr>
          <a:xfrm>
            <a:off x="6172200" y="3703320"/>
            <a:ext cx="5440680" cy="2103120"/>
          </a:xfrm>
          <a:prstGeom prst="rect">
            <a:avLst/>
          </a:prstGeom>
          <a:solidFill>
            <a:srgbClr val="FFFFFF"/>
          </a:solidFill>
          <a:ln w="12700">
            <a:solidFill>
              <a:srgbClr val="E7E6D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ic_users_noir.png"/>
          <p:cNvPicPr>
            <a:picLocks noChangeAspect="1"/>
          </p:cNvPicPr>
          <p:nvPr/>
        </p:nvPicPr>
        <p:blipFill>
          <a:blip r:embed="rId6"/>
          <a:stretch>
            <a:fillRect/>
          </a:stretch>
        </p:blipFill>
        <p:spPr>
          <a:xfrm>
            <a:off x="6400800" y="3959352"/>
            <a:ext cx="457200" cy="457200"/>
          </a:xfrm>
          <a:prstGeom prst="rect">
            <a:avLst/>
          </a:prstGeom>
        </p:spPr>
      </p:pic>
      <p:sp>
        <p:nvSpPr>
          <p:cNvPr id="20" name="TextBox 19"/>
          <p:cNvSpPr txBox="1"/>
          <p:nvPr/>
        </p:nvSpPr>
        <p:spPr>
          <a:xfrm>
            <a:off x="7040880" y="3977639"/>
            <a:ext cx="4389120" cy="457200"/>
          </a:xfrm>
          <a:prstGeom prst="rect">
            <a:avLst/>
          </a:prstGeom>
          <a:noFill/>
        </p:spPr>
        <p:txBody>
          <a:bodyPr wrap="square" lIns="18288" rIns="18288" tIns="18288" bIns="18288" anchor="t">
            <a:spAutoFit/>
          </a:bodyPr>
          <a:lstStyle/>
          <a:p>
            <a:pPr algn="l">
              <a:lnSpc>
                <a:spcPct val="112000"/>
              </a:lnSpc>
            </a:pPr>
            <a:r>
              <a:rPr sz="1600" b="1" i="0">
                <a:solidFill>
                  <a:srgbClr val="141414"/>
                </a:solidFill>
                <a:latin typeface="Montserrat"/>
              </a:rPr>
              <a:t>La liste des pairs</a:t>
            </a:r>
          </a:p>
        </p:txBody>
      </p:sp>
      <p:sp>
        <p:nvSpPr>
          <p:cNvPr id="21" name="TextBox 20"/>
          <p:cNvSpPr txBox="1"/>
          <p:nvPr/>
        </p:nvSpPr>
        <p:spPr>
          <a:xfrm>
            <a:off x="7040880" y="4526280"/>
            <a:ext cx="4389120" cy="1188720"/>
          </a:xfrm>
          <a:prstGeom prst="rect">
            <a:avLst/>
          </a:prstGeom>
          <a:noFill/>
        </p:spPr>
        <p:txBody>
          <a:bodyPr wrap="square" lIns="18288" rIns="18288" tIns="18288" bIns="18288" anchor="t">
            <a:spAutoFit/>
          </a:bodyPr>
          <a:lstStyle/>
          <a:p>
            <a:pPr algn="l">
              <a:lnSpc>
                <a:spcPct val="112000"/>
              </a:lnSpc>
            </a:pPr>
            <a:r>
              <a:rPr sz="1250" b="0" i="0">
                <a:solidFill>
                  <a:srgbClr val="1A1A1C"/>
                </a:solidFill>
                <a:latin typeface="Montserrat"/>
              </a:rPr>
              <a:t>Confirmer ou changer les six profils de la veille ; on peut y ajouter des patrons d'agence de la région.</a:t>
            </a:r>
          </a:p>
        </p:txBody>
      </p:sp>
      <p:sp>
        <p:nvSpPr>
          <p:cNvPr id="22" name="TextBox 21"/>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23" name="TextBox 22"/>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40 / 42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4EE"/>
        </a:solidFill>
        <a:effectLst/>
      </p:bgPr>
    </p:bg>
    <p:spTree>
      <p:nvGrpSpPr>
        <p:cNvPr id="1" name=""/>
        <p:cNvGrpSpPr/>
        <p:nvPr/>
      </p:nvGrpSpPr>
      <p:grpSpPr/>
      <p:sp>
        <p:nvSpPr>
          <p:cNvPr id="2" name="Rectangle 1"/>
          <p:cNvSpPr/>
          <p:nvPr/>
        </p:nvSpPr>
        <p:spPr>
          <a:xfrm>
            <a:off x="548640" y="384048"/>
            <a:ext cx="384048" cy="54864"/>
          </a:xfrm>
          <a:prstGeom prst="rect">
            <a:avLst/>
          </a:prstGeom>
          <a:solidFill>
            <a:srgbClr val="B6D40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24128" y="274320"/>
            <a:ext cx="8686800" cy="274320"/>
          </a:xfrm>
          <a:prstGeom prst="rect">
            <a:avLst/>
          </a:prstGeom>
          <a:noFill/>
        </p:spPr>
        <p:txBody>
          <a:bodyPr wrap="square" lIns="18288" rIns="18288" tIns="18288" bIns="18288" anchor="t">
            <a:spAutoFit/>
          </a:bodyPr>
          <a:lstStyle/>
          <a:p>
            <a:pPr algn="l">
              <a:lnSpc>
                <a:spcPct val="112000"/>
              </a:lnSpc>
            </a:pPr>
            <a:r>
              <a:rPr sz="1000" b="1" i="0">
                <a:solidFill>
                  <a:srgbClr val="6E6E73"/>
                </a:solidFill>
                <a:latin typeface="Montserrat"/>
              </a:rPr>
              <a:t>COMMENT CE DOCUMENT A ÉTÉ FAIT</a:t>
            </a:r>
          </a:p>
        </p:txBody>
      </p:sp>
      <p:sp>
        <p:nvSpPr>
          <p:cNvPr id="4" name="TextBox 3"/>
          <p:cNvSpPr txBox="1"/>
          <p:nvPr/>
        </p:nvSpPr>
        <p:spPr>
          <a:xfrm>
            <a:off x="548640" y="566928"/>
            <a:ext cx="10241280" cy="685800"/>
          </a:xfrm>
          <a:prstGeom prst="rect">
            <a:avLst/>
          </a:prstGeom>
          <a:noFill/>
        </p:spPr>
        <p:txBody>
          <a:bodyPr wrap="square" lIns="18288" rIns="18288" tIns="18288" bIns="18288" anchor="t">
            <a:spAutoFit/>
          </a:bodyPr>
          <a:lstStyle/>
          <a:p>
            <a:pPr algn="l">
              <a:lnSpc>
                <a:spcPct val="112000"/>
              </a:lnSpc>
            </a:pPr>
            <a:r>
              <a:rPr sz="2400" b="1" i="0">
                <a:solidFill>
                  <a:srgbClr val="141414"/>
                </a:solidFill>
                <a:latin typeface="Montserrat"/>
              </a:rPr>
              <a:t>Méthode et sources</a:t>
            </a:r>
          </a:p>
        </p:txBody>
      </p:sp>
      <p:pic>
        <p:nvPicPr>
          <p:cNvPr id="5" name="Picture 4" descr="mark.png"/>
          <p:cNvPicPr>
            <a:picLocks noChangeAspect="1"/>
          </p:cNvPicPr>
          <p:nvPr/>
        </p:nvPicPr>
        <p:blipFill>
          <a:blip r:embed="rId2"/>
          <a:stretch>
            <a:fillRect/>
          </a:stretch>
        </p:blipFill>
        <p:spPr>
          <a:xfrm>
            <a:off x="11201400" y="274320"/>
            <a:ext cx="391668" cy="457200"/>
          </a:xfrm>
          <a:prstGeom prst="rect">
            <a:avLst/>
          </a:prstGeom>
        </p:spPr>
      </p:pic>
      <p:sp>
        <p:nvSpPr>
          <p:cNvPr id="6" name="TextBox 5"/>
          <p:cNvSpPr txBox="1"/>
          <p:nvPr/>
        </p:nvSpPr>
        <p:spPr>
          <a:xfrm>
            <a:off x="548640" y="1371600"/>
            <a:ext cx="5486400" cy="4754880"/>
          </a:xfrm>
          <a:prstGeom prst="rect">
            <a:avLst/>
          </a:prstGeom>
          <a:noFill/>
        </p:spPr>
        <p:txBody>
          <a:bodyPr wrap="square">
            <a:spAutoFit/>
          </a:bodyPr>
          <a:lstStyle/>
          <a:p>
            <a:pPr>
              <a:lnSpc>
                <a:spcPct val="110000"/>
              </a:lnSpc>
              <a:spcAft>
                <a:spcPts val="1008"/>
              </a:spcAft>
            </a:pPr>
            <a:r>
              <a:rPr sz="850">
                <a:solidFill>
                  <a:srgbClr val="141414"/>
                </a:solidFill>
                <a:latin typeface="Montserrat"/>
              </a:rPr>
              <a:t>■  </a:t>
            </a:r>
            <a:r>
              <a:rPr b="1" sz="1150">
                <a:solidFill>
                  <a:srgbClr val="141414"/>
                </a:solidFill>
                <a:latin typeface="Montserrat"/>
              </a:rPr>
              <a:t>LinkedIn : </a:t>
            </a:r>
            <a:r>
              <a:rPr sz="1150">
                <a:solidFill>
                  <a:srgbClr val="1A1A1C"/>
                </a:solidFill>
                <a:latin typeface="Montserrat"/>
              </a:rPr>
              <a:t>ses 12 posts publics du 23 janvier au 17 juillet 2026, avec réactions, commentaires et partages relevés le 24 octobre. Relevé fait deux fois pour vérifier qu'aucun post ne manquait. Une reprise sans aucun texte de lui est exclue.</a:t>
            </a:r>
          </a:p>
          <a:p>
            <a:pPr>
              <a:lnSpc>
                <a:spcPct val="110000"/>
              </a:lnSpc>
              <a:spcAft>
                <a:spcPts val="1008"/>
              </a:spcAft>
            </a:pPr>
            <a:r>
              <a:rPr sz="850">
                <a:solidFill>
                  <a:srgbClr val="141414"/>
                </a:solidFill>
                <a:latin typeface="Montserrat"/>
              </a:rPr>
              <a:t>■  </a:t>
            </a:r>
            <a:r>
              <a:rPr b="1" sz="1150">
                <a:solidFill>
                  <a:srgbClr val="141414"/>
                </a:solidFill>
                <a:latin typeface="Montserrat"/>
              </a:rPr>
              <a:t>Instagram : </a:t>
            </a:r>
            <a:r>
              <a:rPr sz="1150">
                <a:solidFill>
                  <a:srgbClr val="1A1A1C"/>
                </a:solidFill>
                <a:latin typeface="Montserrat"/>
              </a:rPr>
              <a:t>les 69 publications visibles sur sa grille du 1er janvier au 3 octobre 2026 (6 à lui, 63 en collaboration), et les profils de ses trois comptes liés.</a:t>
            </a:r>
          </a:p>
          <a:p>
            <a:pPr>
              <a:lnSpc>
                <a:spcPct val="110000"/>
              </a:lnSpc>
              <a:spcAft>
                <a:spcPts val="1008"/>
              </a:spcAft>
            </a:pPr>
            <a:r>
              <a:rPr sz="850">
                <a:solidFill>
                  <a:srgbClr val="141414"/>
                </a:solidFill>
                <a:latin typeface="Montserrat"/>
              </a:rPr>
              <a:t>■  </a:t>
            </a:r>
            <a:r>
              <a:rPr b="1" sz="1150">
                <a:solidFill>
                  <a:srgbClr val="141414"/>
                </a:solidFill>
                <a:latin typeface="Montserrat"/>
              </a:rPr>
              <a:t>Mesure : </a:t>
            </a:r>
            <a:r>
              <a:rPr sz="1150">
                <a:solidFill>
                  <a:srgbClr val="1A1A1C"/>
                </a:solidFill>
                <a:latin typeface="Montserrat"/>
              </a:rPr>
              <a:t>interactions = réactions + commentaires + partages, en médiane (jamais la moyenne, qu'un seul post fausse).</a:t>
            </a:r>
          </a:p>
        </p:txBody>
      </p:sp>
      <p:sp>
        <p:nvSpPr>
          <p:cNvPr id="7" name="TextBox 6"/>
          <p:cNvSpPr txBox="1"/>
          <p:nvPr/>
        </p:nvSpPr>
        <p:spPr>
          <a:xfrm>
            <a:off x="6309360" y="1371600"/>
            <a:ext cx="5349240" cy="4754880"/>
          </a:xfrm>
          <a:prstGeom prst="rect">
            <a:avLst/>
          </a:prstGeom>
          <a:noFill/>
        </p:spPr>
        <p:txBody>
          <a:bodyPr wrap="square">
            <a:spAutoFit/>
          </a:bodyPr>
          <a:lstStyle/>
          <a:p>
            <a:pPr>
              <a:lnSpc>
                <a:spcPct val="110000"/>
              </a:lnSpc>
              <a:spcAft>
                <a:spcPts val="1008"/>
              </a:spcAft>
            </a:pPr>
            <a:r>
              <a:rPr sz="850">
                <a:solidFill>
                  <a:srgbClr val="141414"/>
                </a:solidFill>
                <a:latin typeface="Montserrat"/>
              </a:rPr>
              <a:t>■  </a:t>
            </a:r>
            <a:r>
              <a:rPr b="1" sz="1150">
                <a:solidFill>
                  <a:srgbClr val="141414"/>
                </a:solidFill>
                <a:latin typeface="Montserrat"/>
              </a:rPr>
              <a:t>Veille : </a:t>
            </a:r>
            <a:r>
              <a:rPr sz="1150">
                <a:solidFill>
                  <a:srgbClr val="1A1A1C"/>
                </a:solidFill>
                <a:latin typeface="Montserrat"/>
              </a:rPr>
              <a:t>six profils LinkedIn d'Abidjan et du digital africain, tous leurs posts de 2026 sauf Edith Brou Bleu (23 août au 24 octobre, limite de l'outil).</a:t>
            </a:r>
          </a:p>
          <a:p>
            <a:pPr>
              <a:lnSpc>
                <a:spcPct val="110000"/>
              </a:lnSpc>
              <a:spcAft>
                <a:spcPts val="1008"/>
              </a:spcAft>
            </a:pPr>
            <a:r>
              <a:rPr sz="850">
                <a:solidFill>
                  <a:srgbClr val="141414"/>
                </a:solidFill>
                <a:latin typeface="Montserrat"/>
              </a:rPr>
              <a:t>■  </a:t>
            </a:r>
            <a:r>
              <a:rPr b="1" sz="1150">
                <a:solidFill>
                  <a:srgbClr val="141414"/>
                </a:solidFill>
                <a:latin typeface="Montserrat"/>
              </a:rPr>
              <a:t>Contexte : </a:t>
            </a:r>
            <a:r>
              <a:rPr sz="1150">
                <a:solidFill>
                  <a:srgbClr val="1A1A1C"/>
                </a:solidFill>
                <a:latin typeface="Montserrat"/>
              </a:rPr>
              <a:t>profil LinkedIn de Kahi, article de Comms of Africa (17/07/2026) pour les chiffres du groupe, site entrepreneur-state-of-africa.com.</a:t>
            </a:r>
          </a:p>
          <a:p>
            <a:pPr>
              <a:lnSpc>
                <a:spcPct val="110000"/>
              </a:lnSpc>
              <a:spcAft>
                <a:spcPts val="1008"/>
              </a:spcAft>
            </a:pPr>
            <a:r>
              <a:rPr sz="850">
                <a:solidFill>
                  <a:srgbClr val="141414"/>
                </a:solidFill>
                <a:latin typeface="Montserrat"/>
              </a:rPr>
              <a:t>■  </a:t>
            </a:r>
            <a:r>
              <a:rPr b="1" sz="1150">
                <a:solidFill>
                  <a:srgbClr val="141414"/>
                </a:solidFill>
                <a:latin typeface="Montserrat"/>
              </a:rPr>
              <a:t>Limites : </a:t>
            </a:r>
            <a:r>
              <a:rPr sz="1150">
                <a:solidFill>
                  <a:srgbClr val="1A1A1C"/>
                </a:solidFill>
                <a:latin typeface="Montserrat"/>
              </a:rPr>
              <a:t>chiffres publics seulement. La portée, les visites et la part de publicité ne se lisent que depuis ses comptes. Peu de posts : les tendances par jour et par format restent indicatives.</a:t>
            </a:r>
          </a:p>
        </p:txBody>
      </p:sp>
      <p:sp>
        <p:nvSpPr>
          <p:cNvPr id="8" name="TextBox 7"/>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6E6E73"/>
                </a:solidFill>
                <a:latin typeface="Montserrat"/>
              </a:rPr>
              <a:t>Kahi Lumumba · Présence LinkedIn et Instagram · relevé du 24 octobre 2026</a:t>
            </a:r>
          </a:p>
        </p:txBody>
      </p:sp>
      <p:sp>
        <p:nvSpPr>
          <p:cNvPr id="9" name="TextBox 8"/>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141414"/>
                </a:solidFill>
                <a:latin typeface="Montserrat"/>
              </a:rPr>
              <a:t>41 / 42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41414"/>
        </a:solidFill>
        <a:effectLst/>
      </p:bgPr>
    </p:bg>
    <p:spTree>
      <p:nvGrpSpPr>
        <p:cNvPr id="1" name=""/>
        <p:cNvGrpSpPr/>
        <p:nvPr/>
      </p:nvGrpSpPr>
      <p:grpSpPr/>
      <p:pic>
        <p:nvPicPr>
          <p:cNvPr id="2" name="Picture 1" descr="logo.png"/>
          <p:cNvPicPr>
            <a:picLocks noChangeAspect="1"/>
          </p:cNvPicPr>
          <p:nvPr/>
        </p:nvPicPr>
        <p:blipFill>
          <a:blip r:embed="rId2"/>
          <a:stretch>
            <a:fillRect/>
          </a:stretch>
        </p:blipFill>
        <p:spPr>
          <a:xfrm>
            <a:off x="4270248" y="1463040"/>
            <a:ext cx="2913681" cy="1463040"/>
          </a:xfrm>
          <a:prstGeom prst="rect">
            <a:avLst/>
          </a:prstGeom>
        </p:spPr>
      </p:pic>
      <p:sp>
        <p:nvSpPr>
          <p:cNvPr id="3" name="TextBox 2"/>
          <p:cNvSpPr txBox="1"/>
          <p:nvPr/>
        </p:nvSpPr>
        <p:spPr>
          <a:xfrm>
            <a:off x="1371600" y="3291840"/>
            <a:ext cx="9418320" cy="822960"/>
          </a:xfrm>
          <a:prstGeom prst="rect">
            <a:avLst/>
          </a:prstGeom>
          <a:noFill/>
        </p:spPr>
        <p:txBody>
          <a:bodyPr wrap="square" lIns="18288" rIns="18288" tIns="18288" bIns="18288" anchor="t">
            <a:spAutoFit/>
          </a:bodyPr>
          <a:lstStyle/>
          <a:p>
            <a:pPr algn="ctr">
              <a:lnSpc>
                <a:spcPct val="112000"/>
              </a:lnSpc>
            </a:pPr>
            <a:r>
              <a:rPr sz="3000" b="1" i="0">
                <a:solidFill>
                  <a:srgbClr val="FFFFFF"/>
                </a:solidFill>
                <a:latin typeface="Montserrat"/>
              </a:rPr>
              <a:t>Le digital africain, lu de l'intérieur.</a:t>
            </a:r>
          </a:p>
        </p:txBody>
      </p:sp>
      <p:sp>
        <p:nvSpPr>
          <p:cNvPr id="4" name="TextBox 3"/>
          <p:cNvSpPr txBox="1"/>
          <p:nvPr/>
        </p:nvSpPr>
        <p:spPr>
          <a:xfrm>
            <a:off x="1371600" y="4114800"/>
            <a:ext cx="9418320" cy="457200"/>
          </a:xfrm>
          <a:prstGeom prst="rect">
            <a:avLst/>
          </a:prstGeom>
          <a:noFill/>
        </p:spPr>
        <p:txBody>
          <a:bodyPr wrap="square" lIns="18288" rIns="18288" tIns="18288" bIns="18288" anchor="t">
            <a:spAutoFit/>
          </a:bodyPr>
          <a:lstStyle/>
          <a:p>
            <a:pPr algn="ctr">
              <a:lnSpc>
                <a:spcPct val="112000"/>
              </a:lnSpc>
            </a:pPr>
            <a:r>
              <a:rPr sz="1400" b="0" i="0">
                <a:solidFill>
                  <a:srgbClr val="A1A1A8"/>
                </a:solidFill>
                <a:latin typeface="Montserrat"/>
              </a:rPr>
              <a:t>Analyse et veille préparée pour Kahi Lumumba · 24 octobre 2026</a:t>
            </a:r>
          </a:p>
        </p:txBody>
      </p:sp>
      <p:sp>
        <p:nvSpPr>
          <p:cNvPr id="5" name="TextBox 4"/>
          <p:cNvSpPr txBox="1"/>
          <p:nvPr/>
        </p:nvSpPr>
        <p:spPr>
          <a:xfrm>
            <a:off x="1371600" y="4846320"/>
            <a:ext cx="9418320" cy="457200"/>
          </a:xfrm>
          <a:prstGeom prst="rect">
            <a:avLst/>
          </a:prstGeom>
          <a:noFill/>
        </p:spPr>
        <p:txBody>
          <a:bodyPr wrap="square" lIns="18288" rIns="18288" tIns="18288" bIns="18288" anchor="t">
            <a:spAutoFit/>
          </a:bodyPr>
          <a:lstStyle/>
          <a:p>
            <a:pPr algn="ctr">
              <a:lnSpc>
                <a:spcPct val="112000"/>
              </a:lnSpc>
            </a:pPr>
            <a:r>
              <a:rPr sz="1300" b="1" i="0">
                <a:solidFill>
                  <a:srgbClr val="B6D401"/>
                </a:solidFill>
                <a:latin typeface="Montserrat"/>
                <a:hlinkClick r:id="rId3"/>
              </a:rPr>
              <a:t>linkedin.com/in/kahilumumba</a:t>
            </a:r>
            <a:r>
              <a:rPr sz="1300" b="0" i="0">
                <a:solidFill>
                  <a:srgbClr val="1A1A1C"/>
                </a:solidFill>
                <a:latin typeface="Montserrat"/>
              </a:rPr>
              <a:t>     </a:t>
            </a:r>
            <a:r>
              <a:rPr sz="1300" b="1" i="0">
                <a:solidFill>
                  <a:srgbClr val="B6D401"/>
                </a:solidFill>
                <a:latin typeface="Montserrat"/>
                <a:hlinkClick r:id="rId4"/>
              </a:rPr>
              <a:t>instagram.com/kahindula61</a:t>
            </a:r>
          </a:p>
        </p:txBody>
      </p:sp>
      <p:sp>
        <p:nvSpPr>
          <p:cNvPr id="6" name="TextBox 5"/>
          <p:cNvSpPr txBox="1"/>
          <p:nvPr/>
        </p:nvSpPr>
        <p:spPr>
          <a:xfrm>
            <a:off x="548640" y="6446520"/>
            <a:ext cx="8229600" cy="274320"/>
          </a:xfrm>
          <a:prstGeom prst="rect">
            <a:avLst/>
          </a:prstGeom>
          <a:noFill/>
        </p:spPr>
        <p:txBody>
          <a:bodyPr wrap="square" lIns="18288" rIns="18288" tIns="18288" bIns="18288" anchor="t">
            <a:spAutoFit/>
          </a:bodyPr>
          <a:lstStyle/>
          <a:p>
            <a:pPr algn="l">
              <a:lnSpc>
                <a:spcPct val="112000"/>
              </a:lnSpc>
            </a:pPr>
            <a:r>
              <a:rPr sz="850" b="0" i="0">
                <a:solidFill>
                  <a:srgbClr val="A1A1A8"/>
                </a:solidFill>
                <a:latin typeface="Montserrat"/>
              </a:rPr>
              <a:t>Kahi Lumumba · Présence LinkedIn et Instagram · relevé du 24 octobre 2026</a:t>
            </a:r>
          </a:p>
        </p:txBody>
      </p:sp>
      <p:sp>
        <p:nvSpPr>
          <p:cNvPr id="7" name="TextBox 6"/>
          <p:cNvSpPr txBox="1"/>
          <p:nvPr/>
        </p:nvSpPr>
        <p:spPr>
          <a:xfrm>
            <a:off x="10241280" y="6446520"/>
            <a:ext cx="1371600" cy="274320"/>
          </a:xfrm>
          <a:prstGeom prst="rect">
            <a:avLst/>
          </a:prstGeom>
          <a:noFill/>
        </p:spPr>
        <p:txBody>
          <a:bodyPr wrap="square" lIns="18288" rIns="18288" tIns="18288" bIns="18288" anchor="t">
            <a:spAutoFit/>
          </a:bodyPr>
          <a:lstStyle/>
          <a:p>
            <a:pPr algn="r">
              <a:lnSpc>
                <a:spcPct val="112000"/>
              </a:lnSpc>
            </a:pPr>
            <a:r>
              <a:rPr sz="900" b="1" i="0">
                <a:solidFill>
                  <a:srgbClr val="B6D401"/>
                </a:solidFill>
                <a:latin typeface="Montserrat"/>
              </a:rPr>
              <a:t>42 / 42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