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949440" y="0"/>
            <a:ext cx="5242255"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itelogo.png"/>
          <p:cNvPicPr>
            <a:picLocks noChangeAspect="1"/>
          </p:cNvPicPr>
          <p:nvPr/>
        </p:nvPicPr>
        <p:blipFill>
          <a:blip r:embed="rId2"/>
          <a:stretch>
            <a:fillRect/>
          </a:stretch>
        </p:blipFill>
        <p:spPr>
          <a:xfrm>
            <a:off x="731520" y="731520"/>
            <a:ext cx="2211705" cy="1005840"/>
          </a:xfrm>
          <a:prstGeom prst="rect">
            <a:avLst/>
          </a:prstGeom>
        </p:spPr>
      </p:pic>
      <p:sp>
        <p:nvSpPr>
          <p:cNvPr id="5" name="TextBox 4"/>
          <p:cNvSpPr txBox="1"/>
          <p:nvPr/>
        </p:nvSpPr>
        <p:spPr>
          <a:xfrm>
            <a:off x="731520" y="2377440"/>
            <a:ext cx="6035040" cy="365760"/>
          </a:xfrm>
          <a:prstGeom prst="rect">
            <a:avLst/>
          </a:prstGeom>
          <a:noFill/>
        </p:spPr>
        <p:txBody>
          <a:bodyPr wrap="square" anchor="t" lIns="45720" rIns="45720" tIns="27432" bIns="27432">
            <a:spAutoFit/>
          </a:bodyPr>
          <a:lstStyle/>
          <a:p>
            <a:pPr algn="l">
              <a:lnSpc>
                <a:spcPct val="115000"/>
              </a:lnSpc>
              <a:spcAft>
                <a:spcPts val="600"/>
              </a:spcAft>
            </a:pPr>
            <a:r>
              <a:rPr sz="1300" b="1">
                <a:solidFill>
                  <a:srgbClr val="A14643"/>
                </a:solidFill>
                <a:latin typeface="Montserrat"/>
              </a:rPr>
              <a:t>AUDIT DE PRÉSENCE EN LIGNE</a:t>
            </a:r>
          </a:p>
        </p:txBody>
      </p:sp>
      <p:sp>
        <p:nvSpPr>
          <p:cNvPr id="6" name="TextBox 5"/>
          <p:cNvSpPr txBox="1"/>
          <p:nvPr/>
        </p:nvSpPr>
        <p:spPr>
          <a:xfrm>
            <a:off x="731520" y="2743200"/>
            <a:ext cx="6035040" cy="2011680"/>
          </a:xfrm>
          <a:prstGeom prst="rect">
            <a:avLst/>
          </a:prstGeom>
          <a:noFill/>
        </p:spPr>
        <p:txBody>
          <a:bodyPr wrap="square" anchor="t" lIns="45720" rIns="45720" tIns="27432" bIns="27432">
            <a:spAutoFit/>
          </a:bodyPr>
          <a:lstStyle/>
          <a:p>
            <a:pPr algn="l">
              <a:lnSpc>
                <a:spcPct val="105000"/>
              </a:lnSpc>
              <a:spcAft>
                <a:spcPts val="600"/>
              </a:spcAft>
            </a:pPr>
            <a:r>
              <a:rPr sz="3400" b="1">
                <a:solidFill>
                  <a:srgbClr val="30282A"/>
                </a:solidFill>
                <a:latin typeface="Montserrat"/>
              </a:rPr>
              <a:t>Ce que voit un client qui cherche AURA, et ce qu'il faut changer</a:t>
            </a:r>
          </a:p>
        </p:txBody>
      </p:sp>
      <p:sp>
        <p:nvSpPr>
          <p:cNvPr id="7" name="TextBox 6"/>
          <p:cNvSpPr txBox="1"/>
          <p:nvPr/>
        </p:nvSpPr>
        <p:spPr>
          <a:xfrm>
            <a:off x="731520" y="5120640"/>
            <a:ext cx="6035040" cy="822960"/>
          </a:xfrm>
          <a:prstGeom prst="rect">
            <a:avLst/>
          </a:prstGeom>
          <a:noFill/>
        </p:spPr>
        <p:txBody>
          <a:bodyPr wrap="square" anchor="t" lIns="45720" rIns="45720" tIns="27432" bIns="27432">
            <a:spAutoFit/>
          </a:bodyPr>
          <a:lstStyle/>
          <a:p>
            <a:pPr algn="l">
              <a:lnSpc>
                <a:spcPct val="115000"/>
              </a:lnSpc>
              <a:spcAft>
                <a:spcPts val="600"/>
              </a:spcAft>
            </a:pPr>
            <a:r>
              <a:rPr sz="1300" b="0">
                <a:solidFill>
                  <a:srgbClr val="554346"/>
                </a:solidFill>
                <a:latin typeface="Inter"/>
              </a:rPr>
              <a:t>Site, Google, LinkedIn, Instagram, Facebook, comparaison avec trois agences d'Abidjan</a:t>
            </a:r>
          </a:p>
          <a:p>
            <a:pPr algn="l">
              <a:lnSpc>
                <a:spcPct val="115000"/>
              </a:lnSpc>
              <a:spcAft>
                <a:spcPts val="600"/>
              </a:spcAft>
            </a:pPr>
            <a:r>
              <a:rPr sz="1300" b="0">
                <a:solidFill>
                  <a:srgbClr val="554346"/>
                </a:solidFill>
                <a:latin typeface="Inter"/>
              </a:rPr>
              <a:t>Relevé du 26 octobre 2026, sources publiques uniquement</a:t>
            </a:r>
          </a:p>
        </p:txBody>
      </p:sp>
      <p:pic>
        <p:nvPicPr>
          <p:cNvPr id="8" name="Picture 7" descr="cover.jpg"/>
          <p:cNvPicPr>
            <a:picLocks noChangeAspect="1"/>
          </p:cNvPicPr>
          <p:nvPr/>
        </p:nvPicPr>
        <p:blipFill>
          <a:blip r:embed="rId3"/>
          <a:stretch>
            <a:fillRect/>
          </a:stretch>
        </p:blipFill>
        <p:spPr>
          <a:xfrm>
            <a:off x="7863840" y="822960"/>
            <a:ext cx="4170205" cy="52120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SYNTHÈSE</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L'essentiel en trois constats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2</a:t>
            </a:r>
          </a:p>
        </p:txBody>
      </p:sp>
      <p:sp>
        <p:nvSpPr>
          <p:cNvPr id="9" name="Rectangle 8"/>
          <p:cNvSpPr/>
          <p:nvPr/>
        </p:nvSpPr>
        <p:spPr>
          <a:xfrm>
            <a:off x="640080" y="1691640"/>
            <a:ext cx="822960" cy="12344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822960" cy="1234440"/>
          </a:xfrm>
          <a:prstGeom prst="rect">
            <a:avLst/>
          </a:prstGeom>
          <a:noFill/>
        </p:spPr>
        <p:txBody>
          <a:bodyPr wrap="square" anchor="ctr" lIns="45720" rIns="45720" tIns="27432" bIns="27432">
            <a:spAutoFit/>
          </a:bodyPr>
          <a:lstStyle/>
          <a:p>
            <a:pPr algn="ctr">
              <a:lnSpc>
                <a:spcPct val="115000"/>
              </a:lnSpc>
              <a:spcAft>
                <a:spcPts val="600"/>
              </a:spcAft>
            </a:pPr>
            <a:r>
              <a:rPr sz="3600" b="1">
                <a:solidFill>
                  <a:srgbClr val="FFFFFF"/>
                </a:solidFill>
                <a:latin typeface="Montserrat"/>
              </a:rPr>
              <a:t>1</a:t>
            </a:r>
          </a:p>
        </p:txBody>
      </p:sp>
      <p:sp>
        <p:nvSpPr>
          <p:cNvPr id="11" name="Rectangle 10"/>
          <p:cNvSpPr/>
          <p:nvPr/>
        </p:nvSpPr>
        <p:spPr>
          <a:xfrm>
            <a:off x="1463040" y="1691640"/>
            <a:ext cx="10058400" cy="1234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91640" y="1828800"/>
            <a:ext cx="9692640" cy="411480"/>
          </a:xfrm>
          <a:prstGeom prst="rect">
            <a:avLst/>
          </a:prstGeom>
          <a:noFill/>
        </p:spPr>
        <p:txBody>
          <a:bodyPr wrap="square" anchor="t" lIns="45720" rIns="45720" tIns="27432" bIns="27432">
            <a:spAutoFit/>
          </a:bodyPr>
          <a:lstStyle/>
          <a:p>
            <a:pPr algn="l">
              <a:lnSpc>
                <a:spcPct val="115000"/>
              </a:lnSpc>
              <a:spcAft>
                <a:spcPts val="600"/>
              </a:spcAft>
            </a:pPr>
            <a:r>
              <a:rPr sz="1700" b="1">
                <a:solidFill>
                  <a:srgbClr val="30282A"/>
                </a:solidFill>
                <a:latin typeface="Montserrat"/>
              </a:rPr>
              <a:t>Le site ne vend pas, et Google le voit</a:t>
            </a:r>
          </a:p>
        </p:txBody>
      </p:sp>
      <p:sp>
        <p:nvSpPr>
          <p:cNvPr id="13" name="TextBox 12"/>
          <p:cNvSpPr txBox="1"/>
          <p:nvPr/>
        </p:nvSpPr>
        <p:spPr>
          <a:xfrm>
            <a:off x="1691640" y="2258568"/>
            <a:ext cx="9692640" cy="640080"/>
          </a:xfrm>
          <a:prstGeom prst="rect">
            <a:avLst/>
          </a:prstGeom>
          <a:noFill/>
        </p:spPr>
        <p:txBody>
          <a:bodyPr wrap="square" anchor="t" lIns="45720" rIns="45720" tIns="27432" bIns="27432">
            <a:spAutoFit/>
          </a:bodyPr>
          <a:lstStyle/>
          <a:p>
            <a:pPr algn="l">
              <a:lnSpc>
                <a:spcPct val="115000"/>
              </a:lnSpc>
              <a:spcAft>
                <a:spcPts val="600"/>
              </a:spcAft>
            </a:pPr>
            <a:r>
              <a:rPr sz="1300" b="0">
                <a:solidFill>
                  <a:srgbClr val="554346"/>
                </a:solidFill>
                <a:latin typeface="Inter"/>
              </a:rPr>
              <a:t>auraimmo.com affiche une page « bientôt en ligne » et répond aux moteurs de recherche « service indisponible ». Son bouton Instagram mène à un compte qui n'existe pas.</a:t>
            </a:r>
          </a:p>
        </p:txBody>
      </p:sp>
      <p:sp>
        <p:nvSpPr>
          <p:cNvPr id="14" name="Rectangle 13"/>
          <p:cNvSpPr/>
          <p:nvPr/>
        </p:nvSpPr>
        <p:spPr>
          <a:xfrm>
            <a:off x="640080" y="3200400"/>
            <a:ext cx="822960" cy="12344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00400"/>
            <a:ext cx="822960" cy="1234440"/>
          </a:xfrm>
          <a:prstGeom prst="rect">
            <a:avLst/>
          </a:prstGeom>
          <a:noFill/>
        </p:spPr>
        <p:txBody>
          <a:bodyPr wrap="square" anchor="ctr" lIns="45720" rIns="45720" tIns="27432" bIns="27432">
            <a:spAutoFit/>
          </a:bodyPr>
          <a:lstStyle/>
          <a:p>
            <a:pPr algn="ctr">
              <a:lnSpc>
                <a:spcPct val="115000"/>
              </a:lnSpc>
              <a:spcAft>
                <a:spcPts val="600"/>
              </a:spcAft>
            </a:pPr>
            <a:r>
              <a:rPr sz="3600" b="1">
                <a:solidFill>
                  <a:srgbClr val="FFFFFF"/>
                </a:solidFill>
                <a:latin typeface="Montserrat"/>
              </a:rPr>
              <a:t>2</a:t>
            </a:r>
          </a:p>
        </p:txBody>
      </p:sp>
      <p:sp>
        <p:nvSpPr>
          <p:cNvPr id="16" name="Rectangle 15"/>
          <p:cNvSpPr/>
          <p:nvPr/>
        </p:nvSpPr>
        <p:spPr>
          <a:xfrm>
            <a:off x="1463040" y="3200400"/>
            <a:ext cx="10058400" cy="1234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91640" y="3337560"/>
            <a:ext cx="9692640" cy="411480"/>
          </a:xfrm>
          <a:prstGeom prst="rect">
            <a:avLst/>
          </a:prstGeom>
          <a:noFill/>
        </p:spPr>
        <p:txBody>
          <a:bodyPr wrap="square" anchor="t" lIns="45720" rIns="45720" tIns="27432" bIns="27432">
            <a:spAutoFit/>
          </a:bodyPr>
          <a:lstStyle/>
          <a:p>
            <a:pPr algn="l">
              <a:lnSpc>
                <a:spcPct val="115000"/>
              </a:lnSpc>
              <a:spcAft>
                <a:spcPts val="600"/>
              </a:spcAft>
            </a:pPr>
            <a:r>
              <a:rPr sz="1700" b="1">
                <a:solidFill>
                  <a:srgbClr val="30282A"/>
                </a:solidFill>
                <a:latin typeface="Montserrat"/>
              </a:rPr>
              <a:t>Les réseaux se sont tus depuis six mois</a:t>
            </a:r>
          </a:p>
        </p:txBody>
      </p:sp>
      <p:sp>
        <p:nvSpPr>
          <p:cNvPr id="18" name="TextBox 17"/>
          <p:cNvSpPr txBox="1"/>
          <p:nvPr/>
        </p:nvSpPr>
        <p:spPr>
          <a:xfrm>
            <a:off x="1691640" y="3767328"/>
            <a:ext cx="9692640" cy="640080"/>
          </a:xfrm>
          <a:prstGeom prst="rect">
            <a:avLst/>
          </a:prstGeom>
          <a:noFill/>
        </p:spPr>
        <p:txBody>
          <a:bodyPr wrap="square" anchor="t" lIns="45720" rIns="45720" tIns="27432" bIns="27432">
            <a:spAutoFit/>
          </a:bodyPr>
          <a:lstStyle/>
          <a:p>
            <a:pPr algn="l">
              <a:lnSpc>
                <a:spcPct val="115000"/>
              </a:lnSpc>
              <a:spcAft>
                <a:spcPts val="600"/>
              </a:spcAft>
            </a:pPr>
            <a:r>
              <a:rPr sz="1300" b="0">
                <a:solidFill>
                  <a:srgbClr val="554346"/>
                </a:solidFill>
                <a:latin typeface="Inter"/>
              </a:rPr>
              <a:t>Dernière publication le 30 avril 2026 sur LinkedIn comme sur Instagram. 7 posts LinkedIn en tout, 2 à 6 réactions chacun, aucun commentaire.</a:t>
            </a:r>
          </a:p>
        </p:txBody>
      </p:sp>
      <p:sp>
        <p:nvSpPr>
          <p:cNvPr id="19" name="Rectangle 18"/>
          <p:cNvSpPr/>
          <p:nvPr/>
        </p:nvSpPr>
        <p:spPr>
          <a:xfrm>
            <a:off x="640080" y="4709160"/>
            <a:ext cx="822960" cy="12344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709160"/>
            <a:ext cx="822960" cy="1234440"/>
          </a:xfrm>
          <a:prstGeom prst="rect">
            <a:avLst/>
          </a:prstGeom>
          <a:noFill/>
        </p:spPr>
        <p:txBody>
          <a:bodyPr wrap="square" anchor="ctr" lIns="45720" rIns="45720" tIns="27432" bIns="27432">
            <a:spAutoFit/>
          </a:bodyPr>
          <a:lstStyle/>
          <a:p>
            <a:pPr algn="ctr">
              <a:lnSpc>
                <a:spcPct val="115000"/>
              </a:lnSpc>
              <a:spcAft>
                <a:spcPts val="600"/>
              </a:spcAft>
            </a:pPr>
            <a:r>
              <a:rPr sz="3600" b="1">
                <a:solidFill>
                  <a:srgbClr val="FFFFFF"/>
                </a:solidFill>
                <a:latin typeface="Montserrat"/>
              </a:rPr>
              <a:t>3</a:t>
            </a:r>
          </a:p>
        </p:txBody>
      </p:sp>
      <p:sp>
        <p:nvSpPr>
          <p:cNvPr id="21" name="Rectangle 20"/>
          <p:cNvSpPr/>
          <p:nvPr/>
        </p:nvSpPr>
        <p:spPr>
          <a:xfrm>
            <a:off x="1463040" y="4709160"/>
            <a:ext cx="10058400" cy="1234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91640" y="4846320"/>
            <a:ext cx="9692640" cy="411480"/>
          </a:xfrm>
          <a:prstGeom prst="rect">
            <a:avLst/>
          </a:prstGeom>
          <a:noFill/>
        </p:spPr>
        <p:txBody>
          <a:bodyPr wrap="square" anchor="t" lIns="45720" rIns="45720" tIns="27432" bIns="27432">
            <a:spAutoFit/>
          </a:bodyPr>
          <a:lstStyle/>
          <a:p>
            <a:pPr algn="l">
              <a:lnSpc>
                <a:spcPct val="115000"/>
              </a:lnSpc>
              <a:spcAft>
                <a:spcPts val="600"/>
              </a:spcAft>
            </a:pPr>
            <a:r>
              <a:rPr sz="1700" b="1">
                <a:solidFill>
                  <a:srgbClr val="30282A"/>
                </a:solidFill>
                <a:latin typeface="Montserrat"/>
              </a:rPr>
              <a:t>Rien ne prouve encore le savoir-faire</a:t>
            </a:r>
          </a:p>
        </p:txBody>
      </p:sp>
      <p:sp>
        <p:nvSpPr>
          <p:cNvPr id="23" name="TextBox 22"/>
          <p:cNvSpPr txBox="1"/>
          <p:nvPr/>
        </p:nvSpPr>
        <p:spPr>
          <a:xfrm>
            <a:off x="1691640" y="5276088"/>
            <a:ext cx="9692640" cy="640080"/>
          </a:xfrm>
          <a:prstGeom prst="rect">
            <a:avLst/>
          </a:prstGeom>
          <a:noFill/>
        </p:spPr>
        <p:txBody>
          <a:bodyPr wrap="square" anchor="t" lIns="45720" rIns="45720" tIns="27432" bIns="27432">
            <a:spAutoFit/>
          </a:bodyPr>
          <a:lstStyle/>
          <a:p>
            <a:pPr algn="l">
              <a:lnSpc>
                <a:spcPct val="115000"/>
              </a:lnSpc>
              <a:spcAft>
                <a:spcPts val="600"/>
              </a:spcAft>
            </a:pPr>
            <a:r>
              <a:rPr sz="1300" b="0">
                <a:solidFill>
                  <a:srgbClr val="554346"/>
                </a:solidFill>
                <a:latin typeface="Inter"/>
              </a:rPr>
              <a:t>Aucun avis Google, aucun bien en vente ou en location visible, aucun cas client. Les concurrents en affichent : MD Immobilier a 50 avis (4,6/5), Kalimba 97.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CE QU'ON CHANGE</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Cinq recommandations, par ordre de rentabilité</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3</a:t>
            </a:r>
          </a:p>
        </p:txBody>
      </p:sp>
      <p:sp>
        <p:nvSpPr>
          <p:cNvPr id="9" name="Rectangle 8"/>
          <p:cNvSpPr/>
          <p:nvPr/>
        </p:nvSpPr>
        <p:spPr>
          <a:xfrm>
            <a:off x="640080" y="1600200"/>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00200"/>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00200"/>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1</a:t>
            </a:r>
          </a:p>
        </p:txBody>
      </p:sp>
      <p:sp>
        <p:nvSpPr>
          <p:cNvPr id="12" name="TextBox 11"/>
          <p:cNvSpPr txBox="1"/>
          <p:nvPr/>
        </p:nvSpPr>
        <p:spPr>
          <a:xfrm>
            <a:off x="1325880" y="1673352"/>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Remettre un site qui répond</a:t>
            </a:r>
          </a:p>
        </p:txBody>
      </p:sp>
      <p:sp>
        <p:nvSpPr>
          <p:cNvPr id="13" name="TextBox 12"/>
          <p:cNvSpPr txBox="1"/>
          <p:nvPr/>
        </p:nvSpPr>
        <p:spPr>
          <a:xfrm>
            <a:off x="4206240" y="1655064"/>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page d'attente, code « indisponible » envoyé à Google.</a:t>
            </a:r>
          </a:p>
          <a:p>
            <a:pPr algn="l">
              <a:lnSpc>
                <a:spcPct val="100000"/>
              </a:lnSpc>
              <a:spcAft>
                <a:spcPts val="600"/>
              </a:spcAft>
            </a:pPr>
            <a:r>
              <a:rPr sz="1050" b="0">
                <a:solidFill>
                  <a:srgbClr val="554346"/>
                </a:solidFill>
                <a:latin typeface="Inter"/>
              </a:rPr>
              <a:t>Action : publier une version courte (services, biens, contact) ; corriger le lien Instagram ; une seule adresse e-mail.</a:t>
            </a:r>
          </a:p>
          <a:p>
            <a:pPr algn="l">
              <a:lnSpc>
                <a:spcPct val="100000"/>
              </a:lnSpc>
              <a:spcAft>
                <a:spcPts val="600"/>
              </a:spcAft>
            </a:pPr>
            <a:r>
              <a:rPr sz="1050" b="1">
                <a:solidFill>
                  <a:srgbClr val="A14643"/>
                </a:solidFill>
                <a:latin typeface="Inter"/>
              </a:rPr>
              <a:t>Mesure : site trouvé sur « AURA Immobilier Abidjan », clics WhatsApp.</a:t>
            </a:r>
          </a:p>
        </p:txBody>
      </p:sp>
      <p:sp>
        <p:nvSpPr>
          <p:cNvPr id="14" name="Rectangle 13"/>
          <p:cNvSpPr/>
          <p:nvPr/>
        </p:nvSpPr>
        <p:spPr>
          <a:xfrm>
            <a:off x="640080" y="2542032"/>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542032"/>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542032"/>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2</a:t>
            </a:r>
          </a:p>
        </p:txBody>
      </p:sp>
      <p:sp>
        <p:nvSpPr>
          <p:cNvPr id="17" name="TextBox 16"/>
          <p:cNvSpPr txBox="1"/>
          <p:nvPr/>
        </p:nvSpPr>
        <p:spPr>
          <a:xfrm>
            <a:off x="1325880" y="2615184"/>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Prendre en main la fiche Google</a:t>
            </a:r>
          </a:p>
        </p:txBody>
      </p:sp>
      <p:sp>
        <p:nvSpPr>
          <p:cNvPr id="18" name="TextBox 17"/>
          <p:cNvSpPr txBox="1"/>
          <p:nvPr/>
        </p:nvSpPr>
        <p:spPr>
          <a:xfrm>
            <a:off x="4206240" y="2596896"/>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fiche non revendiquée, 0 avis, classée « Consultant immobilier ».</a:t>
            </a:r>
          </a:p>
          <a:p>
            <a:pPr algn="l">
              <a:lnSpc>
                <a:spcPct val="100000"/>
              </a:lnSpc>
              <a:spcAft>
                <a:spcPts val="600"/>
              </a:spcAft>
            </a:pPr>
            <a:r>
              <a:rPr sz="1050" b="0">
                <a:solidFill>
                  <a:srgbClr val="554346"/>
                </a:solidFill>
                <a:latin typeface="Inter"/>
              </a:rPr>
              <a:t>Action : la revendiquer, la classer « Agence immobilière », ajouter photos et description, demander un avis à chaque client servi.</a:t>
            </a:r>
          </a:p>
          <a:p>
            <a:pPr algn="l">
              <a:lnSpc>
                <a:spcPct val="100000"/>
              </a:lnSpc>
              <a:spcAft>
                <a:spcPts val="600"/>
              </a:spcAft>
            </a:pPr>
            <a:r>
              <a:rPr sz="1050" b="1">
                <a:solidFill>
                  <a:srgbClr val="A14643"/>
                </a:solidFill>
                <a:latin typeface="Inter"/>
              </a:rPr>
              <a:t>Mesure : 15 avis en 60 jours, appels depuis la fiche.</a:t>
            </a:r>
          </a:p>
        </p:txBody>
      </p:sp>
      <p:sp>
        <p:nvSpPr>
          <p:cNvPr id="19" name="Rectangle 18"/>
          <p:cNvSpPr/>
          <p:nvPr/>
        </p:nvSpPr>
        <p:spPr>
          <a:xfrm>
            <a:off x="640080" y="3483864"/>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483864"/>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483864"/>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3</a:t>
            </a:r>
          </a:p>
        </p:txBody>
      </p:sp>
      <p:sp>
        <p:nvSpPr>
          <p:cNvPr id="22" name="TextBox 21"/>
          <p:cNvSpPr txBox="1"/>
          <p:nvPr/>
        </p:nvSpPr>
        <p:spPr>
          <a:xfrm>
            <a:off x="1325880" y="3557016"/>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Reprendre la parole, avec des preuves</a:t>
            </a:r>
          </a:p>
        </p:txBody>
      </p:sp>
      <p:sp>
        <p:nvSpPr>
          <p:cNvPr id="23" name="TextBox 22"/>
          <p:cNvSpPr txBox="1"/>
          <p:nvPr/>
        </p:nvSpPr>
        <p:spPr>
          <a:xfrm>
            <a:off x="4206240" y="3538728"/>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6 mois de silence ; les 7 posts parlent d'AURA, aucun ne montre un bien ou un client.</a:t>
            </a:r>
          </a:p>
          <a:p>
            <a:pPr algn="l">
              <a:lnSpc>
                <a:spcPct val="100000"/>
              </a:lnSpc>
              <a:spcAft>
                <a:spcPts val="600"/>
              </a:spcAft>
            </a:pPr>
            <a:r>
              <a:rPr sz="1050" b="0">
                <a:solidFill>
                  <a:srgbClr val="554346"/>
                </a:solidFill>
                <a:latin typeface="Inter"/>
              </a:rPr>
              <a:t>Action : 2 posts par semaine ; biens réels, lecture du marché, coulisses, cas clients avec accord.</a:t>
            </a:r>
          </a:p>
          <a:p>
            <a:pPr algn="l">
              <a:lnSpc>
                <a:spcPct val="100000"/>
              </a:lnSpc>
              <a:spcAft>
                <a:spcPts val="600"/>
              </a:spcAft>
            </a:pPr>
            <a:r>
              <a:rPr sz="1050" b="1">
                <a:solidFill>
                  <a:srgbClr val="A14643"/>
                </a:solidFill>
                <a:latin typeface="Inter"/>
              </a:rPr>
              <a:t>Mesure : commentaires et messages reçus par post.</a:t>
            </a:r>
          </a:p>
        </p:txBody>
      </p:sp>
      <p:sp>
        <p:nvSpPr>
          <p:cNvPr id="24" name="Rectangle 23"/>
          <p:cNvSpPr/>
          <p:nvPr/>
        </p:nvSpPr>
        <p:spPr>
          <a:xfrm>
            <a:off x="640080" y="4425696"/>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425696"/>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425696"/>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4</a:t>
            </a:r>
          </a:p>
        </p:txBody>
      </p:sp>
      <p:sp>
        <p:nvSpPr>
          <p:cNvPr id="27" name="TextBox 26"/>
          <p:cNvSpPr txBox="1"/>
          <p:nvPr/>
        </p:nvSpPr>
        <p:spPr>
          <a:xfrm>
            <a:off x="1325880" y="4498848"/>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Faire de Hassan Daher la voix d'AURA</a:t>
            </a:r>
          </a:p>
        </p:txBody>
      </p:sp>
      <p:sp>
        <p:nvSpPr>
          <p:cNvPr id="28" name="TextBox 27"/>
          <p:cNvSpPr txBox="1"/>
          <p:nvPr/>
        </p:nvSpPr>
        <p:spPr>
          <a:xfrm>
            <a:off x="4206240" y="4480559"/>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son post du 13 mai sur le marché d'Abidjan est le texte le plus fort d'AURA ; son profil est en anglais.</a:t>
            </a:r>
          </a:p>
          <a:p>
            <a:pPr algn="l">
              <a:lnSpc>
                <a:spcPct val="100000"/>
              </a:lnSpc>
              <a:spcAft>
                <a:spcPts val="600"/>
              </a:spcAft>
            </a:pPr>
            <a:r>
              <a:rPr sz="1050" b="0">
                <a:solidFill>
                  <a:srgbClr val="554346"/>
                </a:solidFill>
                <a:latin typeface="Inter"/>
              </a:rPr>
              <a:t>Action : profil en français, une analyse du marché toutes les deux semaines.</a:t>
            </a:r>
          </a:p>
          <a:p>
            <a:pPr algn="l">
              <a:lnSpc>
                <a:spcPct val="100000"/>
              </a:lnSpc>
              <a:spcAft>
                <a:spcPts val="600"/>
              </a:spcAft>
            </a:pPr>
            <a:r>
              <a:rPr sz="1050" b="1">
                <a:solidFill>
                  <a:srgbClr val="A14643"/>
                </a:solidFill>
                <a:latin typeface="Inter"/>
              </a:rPr>
              <a:t>Mesure : abonnés et demandes de contact sur son profil.</a:t>
            </a:r>
          </a:p>
        </p:txBody>
      </p:sp>
      <p:sp>
        <p:nvSpPr>
          <p:cNvPr id="29" name="Rectangle 28"/>
          <p:cNvSpPr/>
          <p:nvPr/>
        </p:nvSpPr>
        <p:spPr>
          <a:xfrm>
            <a:off x="640080" y="5367528"/>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5367528"/>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367528"/>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5</a:t>
            </a:r>
          </a:p>
        </p:txBody>
      </p:sp>
      <p:sp>
        <p:nvSpPr>
          <p:cNvPr id="32" name="TextBox 31"/>
          <p:cNvSpPr txBox="1"/>
          <p:nvPr/>
        </p:nvSpPr>
        <p:spPr>
          <a:xfrm>
            <a:off x="1325880" y="5440680"/>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Ouvrir Facebook et WhatsApp Business</a:t>
            </a:r>
          </a:p>
        </p:txBody>
      </p:sp>
      <p:sp>
        <p:nvSpPr>
          <p:cNvPr id="33" name="TextBox 32"/>
          <p:cNvSpPr txBox="1"/>
          <p:nvPr/>
        </p:nvSpPr>
        <p:spPr>
          <a:xfrm>
            <a:off x="4206240" y="5422392"/>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aucune page Facebook AURA trouvée ; une agence algérienne occupe déjà « aura.immobilier » (8 314 abonnés).</a:t>
            </a:r>
          </a:p>
          <a:p>
            <a:pPr algn="l">
              <a:lnSpc>
                <a:spcPct val="100000"/>
              </a:lnSpc>
              <a:spcAft>
                <a:spcPts val="600"/>
              </a:spcAft>
            </a:pPr>
            <a:r>
              <a:rPr sz="1050" b="0">
                <a:solidFill>
                  <a:srgbClr val="554346"/>
                </a:solidFill>
                <a:latin typeface="Inter"/>
              </a:rPr>
              <a:t>Action : page « AURA Immobilier Abidjan », catalogue WhatsApp des biens.</a:t>
            </a:r>
          </a:p>
          <a:p>
            <a:pPr algn="l">
              <a:lnSpc>
                <a:spcPct val="100000"/>
              </a:lnSpc>
              <a:spcAft>
                <a:spcPts val="600"/>
              </a:spcAft>
            </a:pPr>
            <a:r>
              <a:rPr sz="1050" b="1">
                <a:solidFill>
                  <a:srgbClr val="A14643"/>
                </a:solidFill>
                <a:latin typeface="Inter"/>
              </a:rPr>
              <a:t>Mesure : messages reçus par semaine.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AVANT / APRÈS</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Premier lot : les textes de présentation</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4</a:t>
            </a:r>
          </a:p>
        </p:txBody>
      </p:sp>
      <p:sp>
        <p:nvSpPr>
          <p:cNvPr id="9" name="TextBox 8"/>
          <p:cNvSpPr txBox="1"/>
          <p:nvPr/>
        </p:nvSpPr>
        <p:spPr>
          <a:xfrm>
            <a:off x="2743200" y="1508760"/>
            <a:ext cx="420624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554346"/>
                </a:solidFill>
                <a:latin typeface="Montserrat"/>
              </a:rPr>
              <a:t>AUJOURD'HUI</a:t>
            </a:r>
          </a:p>
        </p:txBody>
      </p:sp>
      <p:sp>
        <p:nvSpPr>
          <p:cNvPr id="10" name="TextBox 9"/>
          <p:cNvSpPr txBox="1"/>
          <p:nvPr/>
        </p:nvSpPr>
        <p:spPr>
          <a:xfrm>
            <a:off x="7223760" y="1508760"/>
            <a:ext cx="438912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PROPOSÉ</a:t>
            </a:r>
          </a:p>
        </p:txBody>
      </p:sp>
      <p:sp>
        <p:nvSpPr>
          <p:cNvPr id="11" name="TextBox 10"/>
          <p:cNvSpPr txBox="1"/>
          <p:nvPr/>
        </p:nvSpPr>
        <p:spPr>
          <a:xfrm>
            <a:off x="640080" y="1965960"/>
            <a:ext cx="2011680" cy="1188720"/>
          </a:xfrm>
          <a:prstGeom prst="rect">
            <a:avLst/>
          </a:prstGeom>
          <a:noFill/>
        </p:spPr>
        <p:txBody>
          <a:bodyPr wrap="square" anchor="t" lIns="45720" rIns="45720" tIns="27432" bIns="27432">
            <a:spAutoFit/>
          </a:bodyPr>
          <a:lstStyle/>
          <a:p>
            <a:pPr algn="l">
              <a:lnSpc>
                <a:spcPct val="115000"/>
              </a:lnSpc>
              <a:spcAft>
                <a:spcPts val="600"/>
              </a:spcAft>
            </a:pPr>
            <a:r>
              <a:rPr sz="1400" b="1">
                <a:solidFill>
                  <a:srgbClr val="30282A"/>
                </a:solidFill>
                <a:latin typeface="Montserrat"/>
              </a:rPr>
              <a:t>Bio Instagram</a:t>
            </a:r>
          </a:p>
        </p:txBody>
      </p:sp>
      <p:sp>
        <p:nvSpPr>
          <p:cNvPr id="12" name="Rectangle 11"/>
          <p:cNvSpPr/>
          <p:nvPr/>
        </p:nvSpPr>
        <p:spPr>
          <a:xfrm>
            <a:off x="2743200" y="1874519"/>
            <a:ext cx="4206240" cy="1325880"/>
          </a:xfrm>
          <a:prstGeom prst="rect">
            <a:avLst/>
          </a:prstGeom>
          <a:solidFill>
            <a:srgbClr val="EC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0360" y="1965960"/>
            <a:ext cx="393192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Conseil • Transaction • Location • Gestion
📍 Abidjan, Côte d'Ivoire
📞 +225 07 48 48 68 68</a:t>
            </a:r>
          </a:p>
        </p:txBody>
      </p:sp>
      <p:sp>
        <p:nvSpPr>
          <p:cNvPr id="14" name="Rectangle 13"/>
          <p:cNvSpPr/>
          <p:nvPr/>
        </p:nvSpPr>
        <p:spPr>
          <a:xfrm>
            <a:off x="7223760" y="1874519"/>
            <a:ext cx="4389120" cy="1325880"/>
          </a:xfrm>
          <a:prstGeom prst="rect">
            <a:avLst/>
          </a:prstGeom>
          <a:solidFill>
            <a:srgbClr val="FFFFFF"/>
          </a:solidFill>
          <a:ln w="12700">
            <a:solidFill>
              <a:srgbClr val="A146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0920" y="1965960"/>
            <a:ext cx="411480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30282A"/>
                </a:solidFill>
                <a:latin typeface="Inter"/>
              </a:rPr>
              <a:t>Agence immobilière à Abidjan 🏠
Acheter, louer, investir, faire gérer son bien
Biens disponibles en story « À saisir »
📍 Marcory · 💬 WhatsApp ci-dessous</a:t>
            </a:r>
          </a:p>
        </p:txBody>
      </p:sp>
      <p:sp>
        <p:nvSpPr>
          <p:cNvPr id="16" name="TextBox 15"/>
          <p:cNvSpPr txBox="1"/>
          <p:nvPr/>
        </p:nvSpPr>
        <p:spPr>
          <a:xfrm>
            <a:off x="640080" y="3429000"/>
            <a:ext cx="2011680" cy="1188720"/>
          </a:xfrm>
          <a:prstGeom prst="rect">
            <a:avLst/>
          </a:prstGeom>
          <a:noFill/>
        </p:spPr>
        <p:txBody>
          <a:bodyPr wrap="square" anchor="t" lIns="45720" rIns="45720" tIns="27432" bIns="27432">
            <a:spAutoFit/>
          </a:bodyPr>
          <a:lstStyle/>
          <a:p>
            <a:pPr algn="l">
              <a:lnSpc>
                <a:spcPct val="115000"/>
              </a:lnSpc>
              <a:spcAft>
                <a:spcPts val="600"/>
              </a:spcAft>
            </a:pPr>
            <a:r>
              <a:rPr sz="1400" b="1">
                <a:solidFill>
                  <a:srgbClr val="30282A"/>
                </a:solidFill>
                <a:latin typeface="Montserrat"/>
              </a:rPr>
              <a:t>Accroche LinkedIn</a:t>
            </a:r>
          </a:p>
        </p:txBody>
      </p:sp>
      <p:sp>
        <p:nvSpPr>
          <p:cNvPr id="17" name="Rectangle 16"/>
          <p:cNvSpPr/>
          <p:nvPr/>
        </p:nvSpPr>
        <p:spPr>
          <a:xfrm>
            <a:off x="2743200" y="3337560"/>
            <a:ext cx="4206240" cy="1325880"/>
          </a:xfrm>
          <a:prstGeom prst="rect">
            <a:avLst/>
          </a:prstGeom>
          <a:solidFill>
            <a:srgbClr val="EC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3429000"/>
            <a:ext cx="393192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Agence Immobilière</a:t>
            </a:r>
          </a:p>
        </p:txBody>
      </p:sp>
      <p:sp>
        <p:nvSpPr>
          <p:cNvPr id="19" name="Rectangle 18"/>
          <p:cNvSpPr/>
          <p:nvPr/>
        </p:nvSpPr>
        <p:spPr>
          <a:xfrm>
            <a:off x="7223760" y="3337560"/>
            <a:ext cx="4389120" cy="1325880"/>
          </a:xfrm>
          <a:prstGeom prst="rect">
            <a:avLst/>
          </a:prstGeom>
          <a:solidFill>
            <a:srgbClr val="FFFFFF"/>
          </a:solidFill>
          <a:ln w="12700">
            <a:solidFill>
              <a:srgbClr val="A146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0920" y="3429000"/>
            <a:ext cx="411480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30282A"/>
                </a:solidFill>
                <a:latin typeface="Inter"/>
              </a:rPr>
              <a:t>Agence immobilière à Abidjan · Achat, location, gestion et conseil aux investisseurs depuis 2020</a:t>
            </a:r>
          </a:p>
        </p:txBody>
      </p:sp>
      <p:sp>
        <p:nvSpPr>
          <p:cNvPr id="21" name="TextBox 20"/>
          <p:cNvSpPr txBox="1"/>
          <p:nvPr/>
        </p:nvSpPr>
        <p:spPr>
          <a:xfrm>
            <a:off x="640080" y="4892040"/>
            <a:ext cx="2011680" cy="1188720"/>
          </a:xfrm>
          <a:prstGeom prst="rect">
            <a:avLst/>
          </a:prstGeom>
          <a:noFill/>
        </p:spPr>
        <p:txBody>
          <a:bodyPr wrap="square" anchor="t" lIns="45720" rIns="45720" tIns="27432" bIns="27432">
            <a:spAutoFit/>
          </a:bodyPr>
          <a:lstStyle/>
          <a:p>
            <a:pPr algn="l">
              <a:lnSpc>
                <a:spcPct val="115000"/>
              </a:lnSpc>
              <a:spcAft>
                <a:spcPts val="600"/>
              </a:spcAft>
            </a:pPr>
            <a:r>
              <a:rPr sz="1400" b="1">
                <a:solidFill>
                  <a:srgbClr val="30282A"/>
                </a:solidFill>
                <a:latin typeface="Montserrat"/>
              </a:rPr>
              <a:t>Description Google</a:t>
            </a:r>
          </a:p>
        </p:txBody>
      </p:sp>
      <p:sp>
        <p:nvSpPr>
          <p:cNvPr id="22" name="Rectangle 21"/>
          <p:cNvSpPr/>
          <p:nvPr/>
        </p:nvSpPr>
        <p:spPr>
          <a:xfrm>
            <a:off x="2743200" y="4800600"/>
            <a:ext cx="4206240" cy="1325880"/>
          </a:xfrm>
          <a:prstGeom prst="rect">
            <a:avLst/>
          </a:prstGeom>
          <a:solidFill>
            <a:srgbClr val="EC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80360" y="4892040"/>
            <a:ext cx="393192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(vide)</a:t>
            </a:r>
          </a:p>
        </p:txBody>
      </p:sp>
      <p:sp>
        <p:nvSpPr>
          <p:cNvPr id="24" name="Rectangle 23"/>
          <p:cNvSpPr/>
          <p:nvPr/>
        </p:nvSpPr>
        <p:spPr>
          <a:xfrm>
            <a:off x="7223760" y="4800600"/>
            <a:ext cx="4389120" cy="1325880"/>
          </a:xfrm>
          <a:prstGeom prst="rect">
            <a:avLst/>
          </a:prstGeom>
          <a:solidFill>
            <a:srgbClr val="FFFFFF"/>
          </a:solidFill>
          <a:ln w="12700">
            <a:solidFill>
              <a:srgbClr val="A146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20" y="4892040"/>
            <a:ext cx="411480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30282A"/>
                </a:solidFill>
                <a:latin typeface="Inter"/>
              </a:rPr>
              <a:t>AURA Immobilier accompagne particuliers, investisseurs et promoteurs à Abidjan depuis 2020 : vente et location de biens, gestion locative, conseil en investissement et commercialisation de programmes. Agence à Marcory, rue du 7 Décembre. Sur rendez-vous, du lundi au samedi.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À PUBLIER DÈS L'ACCORD</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Premier lot : trois publications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5</a:t>
            </a:r>
          </a:p>
        </p:txBody>
      </p:sp>
      <p:sp>
        <p:nvSpPr>
          <p:cNvPr id="9" name="Rectangle 8"/>
          <p:cNvSpPr/>
          <p:nvPr/>
        </p:nvSpPr>
        <p:spPr>
          <a:xfrm>
            <a:off x="640080" y="1554480"/>
            <a:ext cx="3566160" cy="4663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54480"/>
            <a:ext cx="3566160" cy="4572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72768"/>
            <a:ext cx="3291840" cy="420624"/>
          </a:xfrm>
          <a:prstGeom prst="rect">
            <a:avLst/>
          </a:prstGeom>
          <a:noFill/>
        </p:spPr>
        <p:txBody>
          <a:bodyPr wrap="square" anchor="ctr" lIns="45720" rIns="45720" tIns="27432" bIns="27432">
            <a:spAutoFit/>
          </a:bodyPr>
          <a:lstStyle/>
          <a:p>
            <a:pPr algn="l">
              <a:lnSpc>
                <a:spcPct val="115000"/>
              </a:lnSpc>
              <a:spcAft>
                <a:spcPts val="600"/>
              </a:spcAft>
            </a:pPr>
            <a:r>
              <a:rPr sz="950" b="1">
                <a:solidFill>
                  <a:srgbClr val="FFFFFF"/>
                </a:solidFill>
                <a:latin typeface="Inter"/>
              </a:rPr>
              <a:t>Mardi · LinkedIn et Instagram · carrousel 6 pages</a:t>
            </a:r>
          </a:p>
        </p:txBody>
      </p:sp>
      <p:sp>
        <p:nvSpPr>
          <p:cNvPr id="12" name="TextBox 11"/>
          <p:cNvSpPr txBox="1"/>
          <p:nvPr/>
        </p:nvSpPr>
        <p:spPr>
          <a:xfrm>
            <a:off x="822959" y="2148840"/>
            <a:ext cx="3200400" cy="82296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Acheter un terrain à Abidjan : 5 vérifications avant de payer</a:t>
            </a:r>
          </a:p>
        </p:txBody>
      </p:sp>
      <p:sp>
        <p:nvSpPr>
          <p:cNvPr id="13" name="TextBox 12"/>
          <p:cNvSpPr txBox="1"/>
          <p:nvPr/>
        </p:nvSpPr>
        <p:spPr>
          <a:xfrm>
            <a:off x="822959" y="3017520"/>
            <a:ext cx="3200400" cy="310896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1. Le titre de propriété, vérifié auprès des services officiels
2. Le bornage, sur place, avec un géomètre
3. L'identité du vendeur et son droit à vendre
4. L'accès, l'eau et l'électricité
5. L'acte signé chez un notaire
Une question sur votre projet ? Écrivez-nous sur WhatsApp.</a:t>
            </a:r>
          </a:p>
        </p:txBody>
      </p:sp>
      <p:sp>
        <p:nvSpPr>
          <p:cNvPr id="14" name="Rectangle 13"/>
          <p:cNvSpPr/>
          <p:nvPr/>
        </p:nvSpPr>
        <p:spPr>
          <a:xfrm>
            <a:off x="4389120" y="1554480"/>
            <a:ext cx="3566160" cy="4663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554480"/>
            <a:ext cx="3566160" cy="4572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572768"/>
            <a:ext cx="3291840" cy="420624"/>
          </a:xfrm>
          <a:prstGeom prst="rect">
            <a:avLst/>
          </a:prstGeom>
          <a:noFill/>
        </p:spPr>
        <p:txBody>
          <a:bodyPr wrap="square" anchor="ctr" lIns="45720" rIns="45720" tIns="27432" bIns="27432">
            <a:spAutoFit/>
          </a:bodyPr>
          <a:lstStyle/>
          <a:p>
            <a:pPr algn="l">
              <a:lnSpc>
                <a:spcPct val="115000"/>
              </a:lnSpc>
              <a:spcAft>
                <a:spcPts val="600"/>
              </a:spcAft>
            </a:pPr>
            <a:r>
              <a:rPr sz="950" b="1">
                <a:solidFill>
                  <a:srgbClr val="FFFFFF"/>
                </a:solidFill>
                <a:latin typeface="Inter"/>
              </a:rPr>
              <a:t>Jeudi · Instagram et Facebook · photo du bien</a:t>
            </a:r>
          </a:p>
        </p:txBody>
      </p:sp>
      <p:sp>
        <p:nvSpPr>
          <p:cNvPr id="17" name="TextBox 16"/>
          <p:cNvSpPr txBox="1"/>
          <p:nvPr/>
        </p:nvSpPr>
        <p:spPr>
          <a:xfrm>
            <a:off x="4572000" y="2148840"/>
            <a:ext cx="3200400" cy="82296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Le bien de la semaine</a:t>
            </a:r>
          </a:p>
        </p:txBody>
      </p:sp>
      <p:sp>
        <p:nvSpPr>
          <p:cNvPr id="18" name="TextBox 17"/>
          <p:cNvSpPr txBox="1"/>
          <p:nvPr/>
        </p:nvSpPr>
        <p:spPr>
          <a:xfrm>
            <a:off x="4572000" y="3017520"/>
            <a:ext cx="3200400" cy="310896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[Type de bien], [quartier]
[surface] · [nombre de pièces]
[prix ou loyer]
Visite sur rendez-vous : +225 07 48 48 68 68
À compléter par l'agence avec un bien réellement disponible et ses vraies photos.</a:t>
            </a:r>
          </a:p>
        </p:txBody>
      </p:sp>
      <p:sp>
        <p:nvSpPr>
          <p:cNvPr id="19" name="Rectangle 18"/>
          <p:cNvSpPr/>
          <p:nvPr/>
        </p:nvSpPr>
        <p:spPr>
          <a:xfrm>
            <a:off x="8138159" y="1554480"/>
            <a:ext cx="3566160" cy="4663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59" y="1554480"/>
            <a:ext cx="3566160" cy="4572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19" y="1572768"/>
            <a:ext cx="3291840" cy="420624"/>
          </a:xfrm>
          <a:prstGeom prst="rect">
            <a:avLst/>
          </a:prstGeom>
          <a:noFill/>
        </p:spPr>
        <p:txBody>
          <a:bodyPr wrap="square" anchor="ctr" lIns="45720" rIns="45720" tIns="27432" bIns="27432">
            <a:spAutoFit/>
          </a:bodyPr>
          <a:lstStyle/>
          <a:p>
            <a:pPr algn="l">
              <a:lnSpc>
                <a:spcPct val="115000"/>
              </a:lnSpc>
              <a:spcAft>
                <a:spcPts val="600"/>
              </a:spcAft>
            </a:pPr>
            <a:r>
              <a:rPr sz="950" b="1">
                <a:solidFill>
                  <a:srgbClr val="FFFFFF"/>
                </a:solidFill>
                <a:latin typeface="Inter"/>
              </a:rPr>
              <a:t>Mardi suivant · LinkedIn (profil de Hassan Daher)</a:t>
            </a:r>
          </a:p>
        </p:txBody>
      </p:sp>
      <p:sp>
        <p:nvSpPr>
          <p:cNvPr id="22" name="TextBox 21"/>
          <p:cNvSpPr txBox="1"/>
          <p:nvPr/>
        </p:nvSpPr>
        <p:spPr>
          <a:xfrm>
            <a:off x="8321039" y="2148840"/>
            <a:ext cx="3200400" cy="82296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Ce que je vois sur le marché d'Abidjan ce mois-ci</a:t>
            </a:r>
          </a:p>
        </p:txBody>
      </p:sp>
      <p:sp>
        <p:nvSpPr>
          <p:cNvPr id="23" name="TextBox 22"/>
          <p:cNvSpPr txBox="1"/>
          <p:nvPr/>
        </p:nvSpPr>
        <p:spPr>
          <a:xfrm>
            <a:off x="8321039" y="3017520"/>
            <a:ext cx="3200400" cy="310896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Un texte court, à la première personne, sur un fait observé par l'agence (demande, quartier, type de bien).
À écrire avec Hassan à partir de ses dossiers : un entretien de 15 minutes suffit, je rédige ensuite.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AURAIMMO.COM</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Le site : une page d'attente qui coûte des visites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6</a:t>
            </a:r>
          </a:p>
        </p:txBody>
      </p:sp>
      <p:pic>
        <p:nvPicPr>
          <p:cNvPr id="9" name="Picture 8" descr="site.png"/>
          <p:cNvPicPr>
            <a:picLocks noChangeAspect="1"/>
          </p:cNvPicPr>
          <p:nvPr/>
        </p:nvPicPr>
        <p:blipFill>
          <a:blip r:embed="rId3"/>
          <a:stretch>
            <a:fillRect/>
          </a:stretch>
        </p:blipFill>
        <p:spPr>
          <a:xfrm>
            <a:off x="640080" y="1600200"/>
            <a:ext cx="6583680" cy="4114800"/>
          </a:xfrm>
          <a:prstGeom prst="rect">
            <a:avLst/>
          </a:prstGeom>
        </p:spPr>
      </p:pic>
      <p:sp>
        <p:nvSpPr>
          <p:cNvPr id="10" name="Rectangle 9"/>
          <p:cNvSpPr/>
          <p:nvPr/>
        </p:nvSpPr>
        <p:spPr>
          <a:xfrm>
            <a:off x="7498079" y="1600200"/>
            <a:ext cx="4114800" cy="14173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79" y="1600200"/>
            <a:ext cx="73152" cy="1417320"/>
          </a:xfrm>
          <a:prstGeom prst="rect">
            <a:avLst/>
          </a:prstGeom>
          <a:solidFill>
            <a:srgbClr val="3E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1737360"/>
            <a:ext cx="3749039"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Ce qui marche</a:t>
            </a:r>
          </a:p>
        </p:txBody>
      </p:sp>
      <p:sp>
        <p:nvSpPr>
          <p:cNvPr id="13" name="TextBox 12"/>
          <p:cNvSpPr txBox="1"/>
          <p:nvPr/>
        </p:nvSpPr>
        <p:spPr>
          <a:xfrm>
            <a:off x="7726679" y="2167128"/>
            <a:ext cx="3749039" cy="777240"/>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Page soignée aux couleurs de la marque ; téléphone, e-mail et bouton WhatsApp visibles en un coup d'œil.</a:t>
            </a:r>
          </a:p>
        </p:txBody>
      </p:sp>
      <p:sp>
        <p:nvSpPr>
          <p:cNvPr id="14" name="Rectangle 13"/>
          <p:cNvSpPr/>
          <p:nvPr/>
        </p:nvSpPr>
        <p:spPr>
          <a:xfrm>
            <a:off x="7498079" y="3154680"/>
            <a:ext cx="4114800" cy="30632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79" y="3154680"/>
            <a:ext cx="73152" cy="30632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3291840"/>
            <a:ext cx="3749039"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Ce qui coince</a:t>
            </a:r>
          </a:p>
        </p:txBody>
      </p:sp>
      <p:sp>
        <p:nvSpPr>
          <p:cNvPr id="17" name="TextBox 16"/>
          <p:cNvSpPr txBox="1"/>
          <p:nvPr/>
        </p:nvSpPr>
        <p:spPr>
          <a:xfrm>
            <a:off x="7726679" y="3721608"/>
            <a:ext cx="3749039" cy="242316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La page répond « service indisponible » et demande aux moteurs de repasser le lendemain. Si cela dure, Google retire le site de ses résultats.</a:t>
            </a:r>
          </a:p>
          <a:p>
            <a:pPr algn="l">
              <a:lnSpc>
                <a:spcPct val="115000"/>
              </a:lnSpc>
              <a:spcAft>
                <a:spcPts val="600"/>
              </a:spcAft>
            </a:pPr>
            <a:r>
              <a:rPr sz="1100" b="0">
                <a:solidFill>
                  <a:srgbClr val="554346"/>
                </a:solidFill>
                <a:latin typeface="Inter"/>
              </a:rPr>
              <a:t>Le bouton Instagram mène à « auraimmo », un compte qui n'existe pas. Le vrai compte est « aura.immo ».</a:t>
            </a:r>
          </a:p>
          <a:p>
            <a:pPr algn="l">
              <a:lnSpc>
                <a:spcPct val="115000"/>
              </a:lnSpc>
              <a:spcAft>
                <a:spcPts val="600"/>
              </a:spcAft>
            </a:pPr>
            <a:r>
              <a:rPr sz="1100" b="0">
                <a:solidFill>
                  <a:srgbClr val="554346"/>
                </a:solidFill>
                <a:latin typeface="Inter"/>
              </a:rPr>
              <a:t>E-mail contact@auraimmo.com sur le site, info@auraimmo.com sur LinkedIn.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GOOGLE MAPS</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La fiche Google : trouvée, jamais prise en main</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7</a:t>
            </a:r>
          </a:p>
        </p:txBody>
      </p:sp>
      <p:sp>
        <p:nvSpPr>
          <p:cNvPr id="9" name="Rectangle 8"/>
          <p:cNvSpPr/>
          <p:nvPr/>
        </p:nvSpPr>
        <p:spPr>
          <a:xfrm>
            <a:off x="640080" y="1645920"/>
            <a:ext cx="2606040" cy="173736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83080"/>
            <a:ext cx="2606040" cy="731520"/>
          </a:xfrm>
          <a:prstGeom prst="rect">
            <a:avLst/>
          </a:prstGeom>
          <a:noFill/>
        </p:spPr>
        <p:txBody>
          <a:bodyPr wrap="square" anchor="t" lIns="45720" rIns="45720" tIns="27432" bIns="27432">
            <a:spAutoFit/>
          </a:bodyPr>
          <a:lstStyle/>
          <a:p>
            <a:pPr algn="ctr">
              <a:lnSpc>
                <a:spcPct val="115000"/>
              </a:lnSpc>
              <a:spcAft>
                <a:spcPts val="600"/>
              </a:spcAft>
            </a:pPr>
            <a:r>
              <a:rPr sz="3000" b="1">
                <a:solidFill>
                  <a:srgbClr val="A14643"/>
                </a:solidFill>
                <a:latin typeface="Montserrat"/>
              </a:rPr>
              <a:t>Non</a:t>
            </a:r>
          </a:p>
        </p:txBody>
      </p:sp>
      <p:sp>
        <p:nvSpPr>
          <p:cNvPr id="11" name="TextBox 10"/>
          <p:cNvSpPr txBox="1"/>
          <p:nvPr/>
        </p:nvSpPr>
        <p:spPr>
          <a:xfrm>
            <a:off x="777240" y="2560320"/>
            <a:ext cx="2331720" cy="777240"/>
          </a:xfrm>
          <a:prstGeom prst="rect">
            <a:avLst/>
          </a:prstGeom>
          <a:noFill/>
        </p:spPr>
        <p:txBody>
          <a:bodyPr wrap="square" anchor="t" lIns="45720" rIns="45720" tIns="27432" bIns="27432">
            <a:spAutoFit/>
          </a:bodyPr>
          <a:lstStyle/>
          <a:p>
            <a:pPr algn="ctr">
              <a:lnSpc>
                <a:spcPct val="115000"/>
              </a:lnSpc>
              <a:spcAft>
                <a:spcPts val="600"/>
              </a:spcAft>
            </a:pPr>
            <a:r>
              <a:rPr sz="1150" b="0">
                <a:solidFill>
                  <a:srgbClr val="554346"/>
                </a:solidFill>
                <a:latin typeface="Inter"/>
              </a:rPr>
              <a:t>fiche revendiquée par l'agence</a:t>
            </a:r>
          </a:p>
        </p:txBody>
      </p:sp>
      <p:sp>
        <p:nvSpPr>
          <p:cNvPr id="12" name="Rectangle 11"/>
          <p:cNvSpPr/>
          <p:nvPr/>
        </p:nvSpPr>
        <p:spPr>
          <a:xfrm>
            <a:off x="3429000" y="1645920"/>
            <a:ext cx="2606040" cy="173736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783080"/>
            <a:ext cx="2606040" cy="731520"/>
          </a:xfrm>
          <a:prstGeom prst="rect">
            <a:avLst/>
          </a:prstGeom>
          <a:noFill/>
        </p:spPr>
        <p:txBody>
          <a:bodyPr wrap="square" anchor="t" lIns="45720" rIns="45720" tIns="27432" bIns="27432">
            <a:spAutoFit/>
          </a:bodyPr>
          <a:lstStyle/>
          <a:p>
            <a:pPr algn="ctr">
              <a:lnSpc>
                <a:spcPct val="115000"/>
              </a:lnSpc>
              <a:spcAft>
                <a:spcPts val="600"/>
              </a:spcAft>
            </a:pPr>
            <a:r>
              <a:rPr sz="3000" b="1">
                <a:solidFill>
                  <a:srgbClr val="A14643"/>
                </a:solidFill>
                <a:latin typeface="Montserrat"/>
              </a:rPr>
              <a:t>0</a:t>
            </a:r>
          </a:p>
        </p:txBody>
      </p:sp>
      <p:sp>
        <p:nvSpPr>
          <p:cNvPr id="14" name="TextBox 13"/>
          <p:cNvSpPr txBox="1"/>
          <p:nvPr/>
        </p:nvSpPr>
        <p:spPr>
          <a:xfrm>
            <a:off x="3566160" y="2560320"/>
            <a:ext cx="2331720" cy="777240"/>
          </a:xfrm>
          <a:prstGeom prst="rect">
            <a:avLst/>
          </a:prstGeom>
          <a:noFill/>
        </p:spPr>
        <p:txBody>
          <a:bodyPr wrap="square" anchor="t" lIns="45720" rIns="45720" tIns="27432" bIns="27432">
            <a:spAutoFit/>
          </a:bodyPr>
          <a:lstStyle/>
          <a:p>
            <a:pPr algn="ctr">
              <a:lnSpc>
                <a:spcPct val="115000"/>
              </a:lnSpc>
              <a:spcAft>
                <a:spcPts val="600"/>
              </a:spcAft>
            </a:pPr>
            <a:r>
              <a:rPr sz="1150" b="0">
                <a:solidFill>
                  <a:srgbClr val="554346"/>
                </a:solidFill>
                <a:latin typeface="Inter"/>
              </a:rPr>
              <a:t>avis client</a:t>
            </a:r>
          </a:p>
        </p:txBody>
      </p:sp>
      <p:sp>
        <p:nvSpPr>
          <p:cNvPr id="15" name="Rectangle 14"/>
          <p:cNvSpPr/>
          <p:nvPr/>
        </p:nvSpPr>
        <p:spPr>
          <a:xfrm>
            <a:off x="6217920" y="1645920"/>
            <a:ext cx="2606040" cy="173736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783080"/>
            <a:ext cx="2606040" cy="731520"/>
          </a:xfrm>
          <a:prstGeom prst="rect">
            <a:avLst/>
          </a:prstGeom>
          <a:noFill/>
        </p:spPr>
        <p:txBody>
          <a:bodyPr wrap="square" anchor="t" lIns="45720" rIns="45720" tIns="27432" bIns="27432">
            <a:spAutoFit/>
          </a:bodyPr>
          <a:lstStyle/>
          <a:p>
            <a:pPr algn="ctr">
              <a:lnSpc>
                <a:spcPct val="115000"/>
              </a:lnSpc>
              <a:spcAft>
                <a:spcPts val="600"/>
              </a:spcAft>
            </a:pPr>
            <a:r>
              <a:rPr sz="3000" b="1">
                <a:solidFill>
                  <a:srgbClr val="A14643"/>
                </a:solidFill>
                <a:latin typeface="Montserrat"/>
              </a:rPr>
              <a:t>5</a:t>
            </a:r>
          </a:p>
        </p:txBody>
      </p:sp>
      <p:sp>
        <p:nvSpPr>
          <p:cNvPr id="17" name="TextBox 16"/>
          <p:cNvSpPr txBox="1"/>
          <p:nvPr/>
        </p:nvSpPr>
        <p:spPr>
          <a:xfrm>
            <a:off x="6355080" y="2560320"/>
            <a:ext cx="2331720" cy="777240"/>
          </a:xfrm>
          <a:prstGeom prst="rect">
            <a:avLst/>
          </a:prstGeom>
          <a:noFill/>
        </p:spPr>
        <p:txBody>
          <a:bodyPr wrap="square" anchor="t" lIns="45720" rIns="45720" tIns="27432" bIns="27432">
            <a:spAutoFit/>
          </a:bodyPr>
          <a:lstStyle/>
          <a:p>
            <a:pPr algn="ctr">
              <a:lnSpc>
                <a:spcPct val="115000"/>
              </a:lnSpc>
              <a:spcAft>
                <a:spcPts val="600"/>
              </a:spcAft>
            </a:pPr>
            <a:r>
              <a:rPr sz="1150" b="0">
                <a:solidFill>
                  <a:srgbClr val="554346"/>
                </a:solidFill>
                <a:latin typeface="Inter"/>
              </a:rPr>
              <a:t>photos</a:t>
            </a:r>
          </a:p>
        </p:txBody>
      </p:sp>
      <p:sp>
        <p:nvSpPr>
          <p:cNvPr id="18" name="Rectangle 17"/>
          <p:cNvSpPr/>
          <p:nvPr/>
        </p:nvSpPr>
        <p:spPr>
          <a:xfrm>
            <a:off x="9006839" y="1645920"/>
            <a:ext cx="2606040" cy="173736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39" y="1783080"/>
            <a:ext cx="2606040" cy="731520"/>
          </a:xfrm>
          <a:prstGeom prst="rect">
            <a:avLst/>
          </a:prstGeom>
          <a:noFill/>
        </p:spPr>
        <p:txBody>
          <a:bodyPr wrap="square" anchor="t" lIns="45720" rIns="45720" tIns="27432" bIns="27432">
            <a:spAutoFit/>
          </a:bodyPr>
          <a:lstStyle/>
          <a:p>
            <a:pPr algn="ctr">
              <a:lnSpc>
                <a:spcPct val="115000"/>
              </a:lnSpc>
              <a:spcAft>
                <a:spcPts val="600"/>
              </a:spcAft>
            </a:pPr>
            <a:r>
              <a:rPr sz="3000" b="1">
                <a:solidFill>
                  <a:srgbClr val="A14643"/>
                </a:solidFill>
                <a:latin typeface="Montserrat"/>
              </a:rPr>
              <a:t>Consultant</a:t>
            </a:r>
          </a:p>
        </p:txBody>
      </p:sp>
      <p:sp>
        <p:nvSpPr>
          <p:cNvPr id="20" name="TextBox 19"/>
          <p:cNvSpPr txBox="1"/>
          <p:nvPr/>
        </p:nvSpPr>
        <p:spPr>
          <a:xfrm>
            <a:off x="9143999" y="2560320"/>
            <a:ext cx="2331720" cy="777240"/>
          </a:xfrm>
          <a:prstGeom prst="rect">
            <a:avLst/>
          </a:prstGeom>
          <a:noFill/>
        </p:spPr>
        <p:txBody>
          <a:bodyPr wrap="square" anchor="t" lIns="45720" rIns="45720" tIns="27432" bIns="27432">
            <a:spAutoFit/>
          </a:bodyPr>
          <a:lstStyle/>
          <a:p>
            <a:pPr algn="ctr">
              <a:lnSpc>
                <a:spcPct val="115000"/>
              </a:lnSpc>
              <a:spcAft>
                <a:spcPts val="600"/>
              </a:spcAft>
            </a:pPr>
            <a:r>
              <a:rPr sz="1150" b="0">
                <a:solidFill>
                  <a:srgbClr val="554346"/>
                </a:solidFill>
                <a:latin typeface="Inter"/>
              </a:rPr>
              <a:t>catégorie affichée, au lieu d'« Agence immobilière »</a:t>
            </a:r>
          </a:p>
        </p:txBody>
      </p:sp>
      <p:sp>
        <p:nvSpPr>
          <p:cNvPr id="21" name="Rectangle 20"/>
          <p:cNvSpPr/>
          <p:nvPr/>
        </p:nvSpPr>
        <p:spPr>
          <a:xfrm>
            <a:off x="640080" y="3657600"/>
            <a:ext cx="10972800" cy="2514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657600"/>
            <a:ext cx="73152" cy="25146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794760"/>
            <a:ext cx="1060704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Pourquoi c'est la deuxième priorité</a:t>
            </a:r>
          </a:p>
        </p:txBody>
      </p:sp>
      <p:sp>
        <p:nvSpPr>
          <p:cNvPr id="24" name="TextBox 23"/>
          <p:cNvSpPr txBox="1"/>
          <p:nvPr/>
        </p:nvSpPr>
        <p:spPr>
          <a:xfrm>
            <a:off x="868680" y="4224528"/>
            <a:ext cx="10607040" cy="1874519"/>
          </a:xfrm>
          <a:prstGeom prst="rect">
            <a:avLst/>
          </a:prstGeom>
          <a:noFill/>
        </p:spPr>
        <p:txBody>
          <a:bodyPr wrap="square" anchor="t" lIns="45720" rIns="45720" tIns="27432" bIns="27432">
            <a:spAutoFit/>
          </a:bodyPr>
          <a:lstStyle/>
          <a:p>
            <a:pPr algn="l">
              <a:lnSpc>
                <a:spcPct val="115000"/>
              </a:lnSpc>
              <a:spcAft>
                <a:spcPts val="600"/>
              </a:spcAft>
            </a:pPr>
            <a:r>
              <a:rPr sz="1200" b="0">
                <a:solidFill>
                  <a:srgbClr val="554346"/>
                </a:solidFill>
                <a:latin typeface="Inter"/>
              </a:rPr>
              <a:t>Quand quelqu'un tape le nom d'une agence, c'est souvent la fiche Google qu'il voit en premier, avec ses étoiles. Sans avis, AURA ne peut pas rivaliser : MD Immobilier affiche 4,6/5 sur 50 avis, H&amp;A Properties 4,9/5 sur 8, Kalimba 4,0/5 sur 97.</a:t>
            </a:r>
          </a:p>
          <a:p>
            <a:pPr algn="l">
              <a:lnSpc>
                <a:spcPct val="115000"/>
              </a:lnSpc>
              <a:spcAft>
                <a:spcPts val="600"/>
              </a:spcAft>
            </a:pPr>
            <a:r>
              <a:rPr sz="1200" b="0">
                <a:solidFill>
                  <a:srgbClr val="554346"/>
                </a:solidFill>
                <a:latin typeface="Inter"/>
              </a:rPr>
              <a:t>Les annuaires se contredisent aussi : AURA est classée « Promoteur immobilier » sur Go Africa Online et « Consultant immobilier » sur Google. Une seule catégorie partout aide à être trouvé.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PAGE AURA ET PROFIL DU FONDATEUR</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LinkedIn : une audience laissée sans nouvelles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8</a:t>
            </a:r>
          </a:p>
        </p:txBody>
      </p:sp>
      <p:sp>
        <p:nvSpPr>
          <p:cNvPr id="9" name="Rectangle 8"/>
          <p:cNvSpPr/>
          <p:nvPr/>
        </p:nvSpPr>
        <p:spPr>
          <a:xfrm>
            <a:off x="640080" y="1600200"/>
            <a:ext cx="2606040" cy="1371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606040" cy="640080"/>
          </a:xfrm>
          <a:prstGeom prst="rect">
            <a:avLst/>
          </a:prstGeom>
          <a:noFill/>
        </p:spPr>
        <p:txBody>
          <a:bodyPr wrap="square" anchor="t" lIns="45720" rIns="45720" tIns="27432" bIns="27432">
            <a:spAutoFit/>
          </a:bodyPr>
          <a:lstStyle/>
          <a:p>
            <a:pPr algn="ctr">
              <a:lnSpc>
                <a:spcPct val="115000"/>
              </a:lnSpc>
              <a:spcAft>
                <a:spcPts val="600"/>
              </a:spcAft>
            </a:pPr>
            <a:r>
              <a:rPr sz="2800" b="1">
                <a:solidFill>
                  <a:srgbClr val="A14643"/>
                </a:solidFill>
                <a:latin typeface="Montserrat"/>
              </a:rPr>
              <a:t>2 161</a:t>
            </a:r>
          </a:p>
        </p:txBody>
      </p:sp>
      <p:sp>
        <p:nvSpPr>
          <p:cNvPr id="11" name="TextBox 10"/>
          <p:cNvSpPr txBox="1"/>
          <p:nvPr/>
        </p:nvSpPr>
        <p:spPr>
          <a:xfrm>
            <a:off x="777240" y="2331720"/>
            <a:ext cx="2331720" cy="548640"/>
          </a:xfrm>
          <a:prstGeom prst="rect">
            <a:avLst/>
          </a:prstGeom>
          <a:noFill/>
        </p:spPr>
        <p:txBody>
          <a:bodyPr wrap="square" anchor="t" lIns="45720" rIns="45720" tIns="27432" bIns="27432">
            <a:spAutoFit/>
          </a:bodyPr>
          <a:lstStyle/>
          <a:p>
            <a:pPr algn="ctr">
              <a:lnSpc>
                <a:spcPct val="115000"/>
              </a:lnSpc>
              <a:spcAft>
                <a:spcPts val="600"/>
              </a:spcAft>
            </a:pPr>
            <a:r>
              <a:rPr sz="1100" b="0">
                <a:solidFill>
                  <a:srgbClr val="554346"/>
                </a:solidFill>
                <a:latin typeface="Inter"/>
              </a:rPr>
              <a:t>abonnés à la page</a:t>
            </a:r>
          </a:p>
        </p:txBody>
      </p:sp>
      <p:sp>
        <p:nvSpPr>
          <p:cNvPr id="12" name="Rectangle 11"/>
          <p:cNvSpPr/>
          <p:nvPr/>
        </p:nvSpPr>
        <p:spPr>
          <a:xfrm>
            <a:off x="3429000" y="1600200"/>
            <a:ext cx="2606040" cy="1371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691640"/>
            <a:ext cx="2606040" cy="640080"/>
          </a:xfrm>
          <a:prstGeom prst="rect">
            <a:avLst/>
          </a:prstGeom>
          <a:noFill/>
        </p:spPr>
        <p:txBody>
          <a:bodyPr wrap="square" anchor="t" lIns="45720" rIns="45720" tIns="27432" bIns="27432">
            <a:spAutoFit/>
          </a:bodyPr>
          <a:lstStyle/>
          <a:p>
            <a:pPr algn="ctr">
              <a:lnSpc>
                <a:spcPct val="115000"/>
              </a:lnSpc>
              <a:spcAft>
                <a:spcPts val="600"/>
              </a:spcAft>
            </a:pPr>
            <a:r>
              <a:rPr sz="2800" b="1">
                <a:solidFill>
                  <a:srgbClr val="A14643"/>
                </a:solidFill>
                <a:latin typeface="Montserrat"/>
              </a:rPr>
              <a:t>7</a:t>
            </a:r>
          </a:p>
        </p:txBody>
      </p:sp>
      <p:sp>
        <p:nvSpPr>
          <p:cNvPr id="14" name="TextBox 13"/>
          <p:cNvSpPr txBox="1"/>
          <p:nvPr/>
        </p:nvSpPr>
        <p:spPr>
          <a:xfrm>
            <a:off x="3566160" y="2331720"/>
            <a:ext cx="2331720" cy="548640"/>
          </a:xfrm>
          <a:prstGeom prst="rect">
            <a:avLst/>
          </a:prstGeom>
          <a:noFill/>
        </p:spPr>
        <p:txBody>
          <a:bodyPr wrap="square" anchor="t" lIns="45720" rIns="45720" tIns="27432" bIns="27432">
            <a:spAutoFit/>
          </a:bodyPr>
          <a:lstStyle/>
          <a:p>
            <a:pPr algn="ctr">
              <a:lnSpc>
                <a:spcPct val="115000"/>
              </a:lnSpc>
              <a:spcAft>
                <a:spcPts val="600"/>
              </a:spcAft>
            </a:pPr>
            <a:r>
              <a:rPr sz="1100" b="0">
                <a:solidFill>
                  <a:srgbClr val="554346"/>
                </a:solidFill>
                <a:latin typeface="Inter"/>
              </a:rPr>
              <a:t>publications au total</a:t>
            </a:r>
          </a:p>
        </p:txBody>
      </p:sp>
      <p:sp>
        <p:nvSpPr>
          <p:cNvPr id="15" name="Rectangle 14"/>
          <p:cNvSpPr/>
          <p:nvPr/>
        </p:nvSpPr>
        <p:spPr>
          <a:xfrm>
            <a:off x="6217920" y="1600200"/>
            <a:ext cx="2606040" cy="1371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691640"/>
            <a:ext cx="2606040" cy="640080"/>
          </a:xfrm>
          <a:prstGeom prst="rect">
            <a:avLst/>
          </a:prstGeom>
          <a:noFill/>
        </p:spPr>
        <p:txBody>
          <a:bodyPr wrap="square" anchor="t" lIns="45720" rIns="45720" tIns="27432" bIns="27432">
            <a:spAutoFit/>
          </a:bodyPr>
          <a:lstStyle/>
          <a:p>
            <a:pPr algn="ctr">
              <a:lnSpc>
                <a:spcPct val="115000"/>
              </a:lnSpc>
              <a:spcAft>
                <a:spcPts val="600"/>
              </a:spcAft>
            </a:pPr>
            <a:r>
              <a:rPr sz="2800" b="1">
                <a:solidFill>
                  <a:srgbClr val="A14643"/>
                </a:solidFill>
                <a:latin typeface="Montserrat"/>
              </a:rPr>
              <a:t>4,9</a:t>
            </a:r>
          </a:p>
        </p:txBody>
      </p:sp>
      <p:sp>
        <p:nvSpPr>
          <p:cNvPr id="17" name="TextBox 16"/>
          <p:cNvSpPr txBox="1"/>
          <p:nvPr/>
        </p:nvSpPr>
        <p:spPr>
          <a:xfrm>
            <a:off x="6355080" y="2331720"/>
            <a:ext cx="2331720" cy="548640"/>
          </a:xfrm>
          <a:prstGeom prst="rect">
            <a:avLst/>
          </a:prstGeom>
          <a:noFill/>
        </p:spPr>
        <p:txBody>
          <a:bodyPr wrap="square" anchor="t" lIns="45720" rIns="45720" tIns="27432" bIns="27432">
            <a:spAutoFit/>
          </a:bodyPr>
          <a:lstStyle/>
          <a:p>
            <a:pPr algn="ctr">
              <a:lnSpc>
                <a:spcPct val="115000"/>
              </a:lnSpc>
              <a:spcAft>
                <a:spcPts val="600"/>
              </a:spcAft>
            </a:pPr>
            <a:r>
              <a:rPr sz="1100" b="0">
                <a:solidFill>
                  <a:srgbClr val="554346"/>
                </a:solidFill>
                <a:latin typeface="Inter"/>
              </a:rPr>
              <a:t>réactions en moyenne par post</a:t>
            </a:r>
          </a:p>
        </p:txBody>
      </p:sp>
      <p:sp>
        <p:nvSpPr>
          <p:cNvPr id="18" name="Rectangle 17"/>
          <p:cNvSpPr/>
          <p:nvPr/>
        </p:nvSpPr>
        <p:spPr>
          <a:xfrm>
            <a:off x="9006839" y="1600200"/>
            <a:ext cx="2606040" cy="1371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39" y="1691640"/>
            <a:ext cx="2606040" cy="640080"/>
          </a:xfrm>
          <a:prstGeom prst="rect">
            <a:avLst/>
          </a:prstGeom>
          <a:noFill/>
        </p:spPr>
        <p:txBody>
          <a:bodyPr wrap="square" anchor="t" lIns="45720" rIns="45720" tIns="27432" bIns="27432">
            <a:spAutoFit/>
          </a:bodyPr>
          <a:lstStyle/>
          <a:p>
            <a:pPr algn="ctr">
              <a:lnSpc>
                <a:spcPct val="115000"/>
              </a:lnSpc>
              <a:spcAft>
                <a:spcPts val="600"/>
              </a:spcAft>
            </a:pPr>
            <a:r>
              <a:rPr sz="2800" b="1">
                <a:solidFill>
                  <a:srgbClr val="A14643"/>
                </a:solidFill>
                <a:latin typeface="Montserrat"/>
              </a:rPr>
              <a:t>0</a:t>
            </a:r>
          </a:p>
        </p:txBody>
      </p:sp>
      <p:sp>
        <p:nvSpPr>
          <p:cNvPr id="20" name="TextBox 19"/>
          <p:cNvSpPr txBox="1"/>
          <p:nvPr/>
        </p:nvSpPr>
        <p:spPr>
          <a:xfrm>
            <a:off x="9143999" y="2331720"/>
            <a:ext cx="2331720" cy="548640"/>
          </a:xfrm>
          <a:prstGeom prst="rect">
            <a:avLst/>
          </a:prstGeom>
          <a:noFill/>
        </p:spPr>
        <p:txBody>
          <a:bodyPr wrap="square" anchor="t" lIns="45720" rIns="45720" tIns="27432" bIns="27432">
            <a:spAutoFit/>
          </a:bodyPr>
          <a:lstStyle/>
          <a:p>
            <a:pPr algn="ctr">
              <a:lnSpc>
                <a:spcPct val="115000"/>
              </a:lnSpc>
              <a:spcAft>
                <a:spcPts val="600"/>
              </a:spcAft>
            </a:pPr>
            <a:r>
              <a:rPr sz="1100" b="0">
                <a:solidFill>
                  <a:srgbClr val="554346"/>
                </a:solidFill>
                <a:latin typeface="Inter"/>
              </a:rPr>
              <a:t>commentaire</a:t>
            </a:r>
          </a:p>
        </p:txBody>
      </p:sp>
      <p:sp>
        <p:nvSpPr>
          <p:cNvPr id="21" name="Rectangle 20"/>
          <p:cNvSpPr/>
          <p:nvPr/>
        </p:nvSpPr>
        <p:spPr>
          <a:xfrm>
            <a:off x="640080" y="3154680"/>
            <a:ext cx="5394960" cy="30632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154680"/>
            <a:ext cx="73152" cy="30632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291840"/>
            <a:ext cx="502920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Les publications</a:t>
            </a:r>
          </a:p>
        </p:txBody>
      </p:sp>
      <p:sp>
        <p:nvSpPr>
          <p:cNvPr id="24" name="TextBox 23"/>
          <p:cNvSpPr txBox="1"/>
          <p:nvPr/>
        </p:nvSpPr>
        <p:spPr>
          <a:xfrm>
            <a:off x="868680" y="3721608"/>
            <a:ext cx="5029200" cy="2423160"/>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Toutes publiées entre le 24 février et le 30 avril 2026, puis plus rien.</a:t>
            </a:r>
          </a:p>
          <a:p>
            <a:pPr algn="l">
              <a:lnSpc>
                <a:spcPct val="115000"/>
              </a:lnSpc>
              <a:spcAft>
                <a:spcPts val="600"/>
              </a:spcAft>
            </a:pPr>
            <a:r>
              <a:rPr sz="1150" b="0">
                <a:solidFill>
                  <a:srgbClr val="554346"/>
                </a:solidFill>
                <a:latin typeface="Inter"/>
              </a:rPr>
              <a:t>Même format : une photo teintée bordeaux, un mot (« Gestion », « Conseil »), un texte qui parle d'AURA (« Chez AURA Immobilier, nous… ») plutôt que du client.</a:t>
            </a:r>
          </a:p>
          <a:p>
            <a:pPr algn="l">
              <a:lnSpc>
                <a:spcPct val="115000"/>
              </a:lnSpc>
              <a:spcAft>
                <a:spcPts val="600"/>
              </a:spcAft>
            </a:pPr>
            <a:r>
              <a:rPr sz="1150" b="0">
                <a:solidFill>
                  <a:srgbClr val="554346"/>
                </a:solidFill>
                <a:latin typeface="Inter"/>
              </a:rPr>
              <a:t>Pour 2 161 abonnés, 2 à 6 réactions par post : le discours sur la marque n'intéresse pas, faute de biens, de chiffres ou de visages.</a:t>
            </a:r>
          </a:p>
        </p:txBody>
      </p:sp>
      <p:sp>
        <p:nvSpPr>
          <p:cNvPr id="25" name="Rectangle 24"/>
          <p:cNvSpPr/>
          <p:nvPr/>
        </p:nvSpPr>
        <p:spPr>
          <a:xfrm>
            <a:off x="6217920" y="3154680"/>
            <a:ext cx="5394960" cy="30632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3154680"/>
            <a:ext cx="73152" cy="3063240"/>
          </a:xfrm>
          <a:prstGeom prst="rect">
            <a:avLst/>
          </a:prstGeom>
          <a:solidFill>
            <a:srgbClr val="3E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291840"/>
            <a:ext cx="502920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Le fondateur, Hassan Daher</a:t>
            </a:r>
          </a:p>
        </p:txBody>
      </p:sp>
      <p:sp>
        <p:nvSpPr>
          <p:cNvPr id="28" name="TextBox 27"/>
          <p:cNvSpPr txBox="1"/>
          <p:nvPr/>
        </p:nvSpPr>
        <p:spPr>
          <a:xfrm>
            <a:off x="6446520" y="3721608"/>
            <a:ext cx="5029200" cy="2423160"/>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Son post du 13 mai présente le marché d'Abidjan (croissance de la ville, manque de logements) et la raison d'être d'AURA : c'est le contenu le plus solide relevé.</a:t>
            </a:r>
          </a:p>
          <a:p>
            <a:pPr algn="l">
              <a:lnSpc>
                <a:spcPct val="115000"/>
              </a:lnSpc>
              <a:spcAft>
                <a:spcPts val="600"/>
              </a:spcAft>
            </a:pPr>
            <a:r>
              <a:rPr sz="1150" b="0">
                <a:solidFill>
                  <a:srgbClr val="554346"/>
                </a:solidFill>
                <a:latin typeface="Inter"/>
              </a:rPr>
              <a:t>Son profil est rédigé en anglais alors que les clients d'AURA lisent le français.</a:t>
            </a:r>
          </a:p>
          <a:p>
            <a:pPr algn="l">
              <a:lnSpc>
                <a:spcPct val="115000"/>
              </a:lnSpc>
              <a:spcAft>
                <a:spcPts val="600"/>
              </a:spcAft>
            </a:pPr>
            <a:r>
              <a:rPr sz="1150" b="0">
                <a:solidFill>
                  <a:srgbClr val="554346"/>
                </a:solidFill>
                <a:latin typeface="Inter"/>
              </a:rPr>
              <a:t>Il porte la crédibilité de l'agence : lui donner un rythme de parole régulier coûte peu.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@AURA.IMMO</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Instagram : belle identité, audience à construire</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9</a:t>
            </a:r>
          </a:p>
        </p:txBody>
      </p:sp>
      <p:pic>
        <p:nvPicPr>
          <p:cNvPr id="9" name="Picture 8" descr="planche.jpg"/>
          <p:cNvPicPr>
            <a:picLocks noChangeAspect="1"/>
          </p:cNvPicPr>
          <p:nvPr/>
        </p:nvPicPr>
        <p:blipFill>
          <a:blip r:embed="rId3"/>
          <a:stretch>
            <a:fillRect/>
          </a:stretch>
        </p:blipFill>
        <p:spPr>
          <a:xfrm>
            <a:off x="640080" y="1600200"/>
            <a:ext cx="6766560" cy="2186119"/>
          </a:xfrm>
          <a:prstGeom prst="rect">
            <a:avLst/>
          </a:prstGeom>
        </p:spPr>
      </p:pic>
      <p:sp>
        <p:nvSpPr>
          <p:cNvPr id="10" name="Rectangle 9"/>
          <p:cNvSpPr/>
          <p:nvPr/>
        </p:nvSpPr>
        <p:spPr>
          <a:xfrm>
            <a:off x="7680960" y="1600200"/>
            <a:ext cx="3931920" cy="80467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1600200"/>
            <a:ext cx="1280160" cy="804672"/>
          </a:xfrm>
          <a:prstGeom prst="rect">
            <a:avLst/>
          </a:prstGeom>
          <a:noFill/>
        </p:spPr>
        <p:txBody>
          <a:bodyPr wrap="square" anchor="ctr" lIns="45720" rIns="45720" tIns="27432" bIns="27432">
            <a:spAutoFit/>
          </a:bodyPr>
          <a:lstStyle/>
          <a:p>
            <a:pPr algn="l">
              <a:lnSpc>
                <a:spcPct val="115000"/>
              </a:lnSpc>
              <a:spcAft>
                <a:spcPts val="600"/>
              </a:spcAft>
            </a:pPr>
            <a:r>
              <a:rPr sz="2400" b="1">
                <a:solidFill>
                  <a:srgbClr val="A14643"/>
                </a:solidFill>
                <a:latin typeface="Montserrat"/>
              </a:rPr>
              <a:t>153</a:t>
            </a:r>
          </a:p>
        </p:txBody>
      </p:sp>
      <p:sp>
        <p:nvSpPr>
          <p:cNvPr id="12" name="TextBox 11"/>
          <p:cNvSpPr txBox="1"/>
          <p:nvPr/>
        </p:nvSpPr>
        <p:spPr>
          <a:xfrm>
            <a:off x="9098280" y="1600200"/>
            <a:ext cx="2468880" cy="804672"/>
          </a:xfrm>
          <a:prstGeom prst="rect">
            <a:avLst/>
          </a:prstGeom>
          <a:noFill/>
        </p:spPr>
        <p:txBody>
          <a:bodyPr wrap="square" anchor="ctr" lIns="45720" rIns="45720" tIns="27432" bIns="27432">
            <a:spAutoFit/>
          </a:bodyPr>
          <a:lstStyle/>
          <a:p>
            <a:pPr algn="l">
              <a:lnSpc>
                <a:spcPct val="115000"/>
              </a:lnSpc>
              <a:spcAft>
                <a:spcPts val="600"/>
              </a:spcAft>
            </a:pPr>
            <a:r>
              <a:rPr sz="1100" b="0">
                <a:solidFill>
                  <a:srgbClr val="554346"/>
                </a:solidFill>
                <a:latin typeface="Inter"/>
              </a:rPr>
              <a:t>abonnés</a:t>
            </a:r>
          </a:p>
        </p:txBody>
      </p:sp>
      <p:sp>
        <p:nvSpPr>
          <p:cNvPr id="13" name="Rectangle 12"/>
          <p:cNvSpPr/>
          <p:nvPr/>
        </p:nvSpPr>
        <p:spPr>
          <a:xfrm>
            <a:off x="7680960" y="2514600"/>
            <a:ext cx="3931920" cy="80467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2514600"/>
            <a:ext cx="1280160" cy="804672"/>
          </a:xfrm>
          <a:prstGeom prst="rect">
            <a:avLst/>
          </a:prstGeom>
          <a:noFill/>
        </p:spPr>
        <p:txBody>
          <a:bodyPr wrap="square" anchor="ctr" lIns="45720" rIns="45720" tIns="27432" bIns="27432">
            <a:spAutoFit/>
          </a:bodyPr>
          <a:lstStyle/>
          <a:p>
            <a:pPr algn="l">
              <a:lnSpc>
                <a:spcPct val="115000"/>
              </a:lnSpc>
              <a:spcAft>
                <a:spcPts val="600"/>
              </a:spcAft>
            </a:pPr>
            <a:r>
              <a:rPr sz="2400" b="1">
                <a:solidFill>
                  <a:srgbClr val="A14643"/>
                </a:solidFill>
                <a:latin typeface="Montserrat"/>
              </a:rPr>
              <a:t>6</a:t>
            </a:r>
          </a:p>
        </p:txBody>
      </p:sp>
      <p:sp>
        <p:nvSpPr>
          <p:cNvPr id="15" name="TextBox 14"/>
          <p:cNvSpPr txBox="1"/>
          <p:nvPr/>
        </p:nvSpPr>
        <p:spPr>
          <a:xfrm>
            <a:off x="9098280" y="2514600"/>
            <a:ext cx="2468880" cy="804672"/>
          </a:xfrm>
          <a:prstGeom prst="rect">
            <a:avLst/>
          </a:prstGeom>
          <a:noFill/>
        </p:spPr>
        <p:txBody>
          <a:bodyPr wrap="square" anchor="ctr" lIns="45720" rIns="45720" tIns="27432" bIns="27432">
            <a:spAutoFit/>
          </a:bodyPr>
          <a:lstStyle/>
          <a:p>
            <a:pPr algn="l">
              <a:lnSpc>
                <a:spcPct val="115000"/>
              </a:lnSpc>
              <a:spcAft>
                <a:spcPts val="600"/>
              </a:spcAft>
            </a:pPr>
            <a:r>
              <a:rPr sz="1100" b="0">
                <a:solidFill>
                  <a:srgbClr val="554346"/>
                </a:solidFill>
                <a:latin typeface="Inter"/>
              </a:rPr>
              <a:t>publications</a:t>
            </a:r>
          </a:p>
        </p:txBody>
      </p:sp>
      <p:sp>
        <p:nvSpPr>
          <p:cNvPr id="16" name="Rectangle 15"/>
          <p:cNvSpPr/>
          <p:nvPr/>
        </p:nvSpPr>
        <p:spPr>
          <a:xfrm>
            <a:off x="7680960" y="3429000"/>
            <a:ext cx="3931920" cy="80467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8120" y="3429000"/>
            <a:ext cx="1280160" cy="804672"/>
          </a:xfrm>
          <a:prstGeom prst="rect">
            <a:avLst/>
          </a:prstGeom>
          <a:noFill/>
        </p:spPr>
        <p:txBody>
          <a:bodyPr wrap="square" anchor="ctr" lIns="45720" rIns="45720" tIns="27432" bIns="27432">
            <a:spAutoFit/>
          </a:bodyPr>
          <a:lstStyle/>
          <a:p>
            <a:pPr algn="l">
              <a:lnSpc>
                <a:spcPct val="115000"/>
              </a:lnSpc>
              <a:spcAft>
                <a:spcPts val="600"/>
              </a:spcAft>
            </a:pPr>
            <a:r>
              <a:rPr sz="2400" b="1">
                <a:solidFill>
                  <a:srgbClr val="A14643"/>
                </a:solidFill>
                <a:latin typeface="Montserrat"/>
              </a:rPr>
              <a:t>59</a:t>
            </a:r>
          </a:p>
        </p:txBody>
      </p:sp>
      <p:sp>
        <p:nvSpPr>
          <p:cNvPr id="18" name="TextBox 17"/>
          <p:cNvSpPr txBox="1"/>
          <p:nvPr/>
        </p:nvSpPr>
        <p:spPr>
          <a:xfrm>
            <a:off x="9098280" y="3429000"/>
            <a:ext cx="2468880" cy="804672"/>
          </a:xfrm>
          <a:prstGeom prst="rect">
            <a:avLst/>
          </a:prstGeom>
          <a:noFill/>
        </p:spPr>
        <p:txBody>
          <a:bodyPr wrap="square" anchor="ctr" lIns="45720" rIns="45720" tIns="27432" bIns="27432">
            <a:spAutoFit/>
          </a:bodyPr>
          <a:lstStyle/>
          <a:p>
            <a:pPr algn="l">
              <a:lnSpc>
                <a:spcPct val="115000"/>
              </a:lnSpc>
              <a:spcAft>
                <a:spcPts val="600"/>
              </a:spcAft>
            </a:pPr>
            <a:r>
              <a:rPr sz="1100" b="0">
                <a:solidFill>
                  <a:srgbClr val="554346"/>
                </a:solidFill>
                <a:latin typeface="Inter"/>
              </a:rPr>
              <a:t>j'aime sur le carrousel, contre 12 à 15 pour les visuels seuls</a:t>
            </a:r>
          </a:p>
        </p:txBody>
      </p:sp>
      <p:sp>
        <p:nvSpPr>
          <p:cNvPr id="19" name="Rectangle 18"/>
          <p:cNvSpPr/>
          <p:nvPr/>
        </p:nvSpPr>
        <p:spPr>
          <a:xfrm>
            <a:off x="7680960" y="4434840"/>
            <a:ext cx="3931920" cy="178308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4434840"/>
            <a:ext cx="73152" cy="178308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4572000"/>
            <a:ext cx="356616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À retenir</a:t>
            </a:r>
          </a:p>
        </p:txBody>
      </p:sp>
      <p:sp>
        <p:nvSpPr>
          <p:cNvPr id="22" name="TextBox 21"/>
          <p:cNvSpPr txBox="1"/>
          <p:nvPr/>
        </p:nvSpPr>
        <p:spPr>
          <a:xfrm>
            <a:off x="7909560" y="5001768"/>
            <a:ext cx="3566160" cy="114300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Le carrousel fait 4 fois mieux : c'est le format à garder. La bio n'a ni lien ni bouton WhatsApp ; trois stories à la une existent, à remplir de biens.</a:t>
            </a:r>
          </a:p>
        </p:txBody>
      </p:sp>
      <p:sp>
        <p:nvSpPr>
          <p:cNvPr id="23" name="TextBox 22"/>
          <p:cNvSpPr txBox="1"/>
          <p:nvPr/>
        </p:nvSpPr>
        <p:spPr>
          <a:xfrm>
            <a:off x="640080" y="5760720"/>
            <a:ext cx="6766560" cy="457200"/>
          </a:xfrm>
          <a:prstGeom prst="rect">
            <a:avLst/>
          </a:prstGeom>
          <a:noFill/>
        </p:spPr>
        <p:txBody>
          <a:bodyPr wrap="square" anchor="t" lIns="45720" rIns="45720" tIns="27432" bIns="27432">
            <a:spAutoFit/>
          </a:bodyPr>
          <a:lstStyle/>
          <a:p>
            <a:pPr algn="l">
              <a:lnSpc>
                <a:spcPct val="115000"/>
              </a:lnSpc>
              <a:spcAft>
                <a:spcPts val="600"/>
              </a:spcAft>
            </a:pPr>
            <a:r>
              <a:rPr sz="1000" b="0">
                <a:solidFill>
                  <a:srgbClr val="554346"/>
                </a:solidFill>
                <a:latin typeface="Inter"/>
              </a:rPr>
              <a:t>Visuels relevés sur LinkedIn et Instagram, logo du site et de la page LinkedIn.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RECHERCHE DU NOM</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Facebook et homonymes : un nom très disputé</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10</a:t>
            </a:r>
          </a:p>
        </p:txBody>
      </p:sp>
      <p:sp>
        <p:nvSpPr>
          <p:cNvPr id="9" name="Rectangle 8"/>
          <p:cNvSpPr/>
          <p:nvPr/>
        </p:nvSpPr>
        <p:spPr>
          <a:xfrm>
            <a:off x="640080" y="1600200"/>
            <a:ext cx="5394960" cy="46177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00200"/>
            <a:ext cx="73152" cy="461772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37360"/>
            <a:ext cx="502920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Aucune page Facebook AURA Abidjan trouvée</a:t>
            </a:r>
          </a:p>
        </p:txBody>
      </p:sp>
      <p:sp>
        <p:nvSpPr>
          <p:cNvPr id="12" name="TextBox 11"/>
          <p:cNvSpPr txBox="1"/>
          <p:nvPr/>
        </p:nvSpPr>
        <p:spPr>
          <a:xfrm>
            <a:off x="868680" y="2167128"/>
            <a:ext cx="5029200" cy="3977639"/>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Adresses testées le 26 octobre : auraimmo, auraimmoci, auraimmobilierci, AuraImmoAbidjan, aura.immo : aucune n'existe ou n'est publique.</a:t>
            </a:r>
          </a:p>
          <a:p>
            <a:pPr algn="l">
              <a:lnSpc>
                <a:spcPct val="115000"/>
              </a:lnSpc>
              <a:spcAft>
                <a:spcPts val="600"/>
              </a:spcAft>
            </a:pPr>
            <a:r>
              <a:rPr sz="1150" b="0">
                <a:solidFill>
                  <a:srgbClr val="554346"/>
                </a:solidFill>
                <a:latin typeface="Inter"/>
              </a:rPr>
              <a:t>Facebook est le réseau où les concurrents relevés ont leurs plus grosses audiences : Kalimba 21 970 abonnés, MD Immobilier 5 129.</a:t>
            </a:r>
          </a:p>
          <a:p>
            <a:pPr algn="l">
              <a:lnSpc>
                <a:spcPct val="115000"/>
              </a:lnSpc>
              <a:spcAft>
                <a:spcPts val="600"/>
              </a:spcAft>
            </a:pPr>
            <a:r>
              <a:rPr sz="1150" b="0">
                <a:solidFill>
                  <a:srgbClr val="554346"/>
                </a:solidFill>
                <a:latin typeface="Inter"/>
              </a:rPr>
              <a:t>Si une page existe sous un autre nom, il suffit de nous l'indiquer : elle sera ajoutée à l'audit.</a:t>
            </a:r>
          </a:p>
        </p:txBody>
      </p:sp>
      <p:sp>
        <p:nvSpPr>
          <p:cNvPr id="13" name="Rectangle 12"/>
          <p:cNvSpPr/>
          <p:nvPr/>
        </p:nvSpPr>
        <p:spPr>
          <a:xfrm>
            <a:off x="6217920" y="1600200"/>
            <a:ext cx="5394960" cy="46177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600200"/>
            <a:ext cx="73152" cy="4617720"/>
          </a:xfrm>
          <a:prstGeom prst="rect">
            <a:avLst/>
          </a:prstGeom>
          <a:solidFill>
            <a:srgbClr val="C97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37360"/>
            <a:ext cx="502920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Les homonymes qui brouillent la recherche</a:t>
            </a:r>
          </a:p>
        </p:txBody>
      </p:sp>
      <p:sp>
        <p:nvSpPr>
          <p:cNvPr id="16" name="TextBox 15"/>
          <p:cNvSpPr txBox="1"/>
          <p:nvPr/>
        </p:nvSpPr>
        <p:spPr>
          <a:xfrm>
            <a:off x="6446520" y="2167128"/>
            <a:ext cx="5029200" cy="3977639"/>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 aura.immobilier » sur Facebook et Instagram : une agence en Algérie (8 314 abonnés sur Facebook).</a:t>
            </a:r>
          </a:p>
          <a:p>
            <a:pPr algn="l">
              <a:lnSpc>
                <a:spcPct val="115000"/>
              </a:lnSpc>
              <a:spcAft>
                <a:spcPts val="600"/>
              </a:spcAft>
            </a:pPr>
            <a:r>
              <a:rPr sz="1150" b="0">
                <a:solidFill>
                  <a:srgbClr val="554346"/>
                </a:solidFill>
                <a:latin typeface="Inter"/>
              </a:rPr>
              <a:t>aura-immobilier.com : une agence aux Lilas, en France, avec 56 avis.</a:t>
            </a:r>
          </a:p>
          <a:p>
            <a:pPr algn="l">
              <a:lnSpc>
                <a:spcPct val="115000"/>
              </a:lnSpc>
              <a:spcAft>
                <a:spcPts val="600"/>
              </a:spcAft>
            </a:pPr>
            <a:r>
              <a:rPr sz="1150" b="0">
                <a:solidFill>
                  <a:srgbClr val="554346"/>
                </a:solidFill>
                <a:latin typeface="Inter"/>
              </a:rPr>
              <a:t>« Aura Immobilier » (.fr) : un logiciel pour agences.</a:t>
            </a:r>
          </a:p>
          <a:p>
            <a:pPr algn="l">
              <a:lnSpc>
                <a:spcPct val="115000"/>
              </a:lnSpc>
              <a:spcAft>
                <a:spcPts val="600"/>
              </a:spcAft>
            </a:pPr>
            <a:r>
              <a:rPr sz="1150" b="0">
                <a:solidFill>
                  <a:srgbClr val="554346"/>
                </a:solidFill>
                <a:latin typeface="Inter"/>
              </a:rPr>
              <a:t>Conséquence : il faut toujours écrire « AURA Immobilier Abidjan » ou « Côte d'Ivoire » dans les noms de compte, les descriptions et les mots-dièse.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COMPARAISON · RELEVÉ DU 26 OCTOBRE 2026</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Face à trois agences d'Abidjan</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11</a:t>
            </a:r>
          </a:p>
        </p:txBody>
      </p:sp>
      <p:graphicFrame>
        <p:nvGraphicFramePr>
          <p:cNvPr id="9" name="Table 8"/>
          <p:cNvGraphicFramePr>
            <a:graphicFrameLocks noGrp="1"/>
          </p:cNvGraphicFramePr>
          <p:nvPr/>
        </p:nvGraphicFramePr>
        <p:xfrm>
          <a:off x="640080" y="1645920"/>
          <a:ext cx="10972800" cy="4023360"/>
        </p:xfrm>
        <a:graphic>
          <a:graphicData uri="http://schemas.openxmlformats.org/drawingml/2006/table">
            <a:tbl>
              <a:tblPr firstRow="1" bandRow="1">
                <a:tableStyleId>{5C22544A-7EE6-4342-B048-85BDC9FD1C3A}</a:tableStyleId>
              </a:tblPr>
              <a:tblGrid>
                <a:gridCol w="2011680"/>
                <a:gridCol w="2377440"/>
                <a:gridCol w="2194560"/>
                <a:gridCol w="2194560"/>
                <a:gridCol w="2194560"/>
              </a:tblGrid>
              <a:tr h="574765">
                <a:tc>
                  <a:txBody>
                    <a:bodyPr/>
                    <a:lstStyle/>
                    <a:p>
                      <a:pPr>
                        <a:defRPr sz="1200" b="1">
                          <a:solidFill>
                            <a:srgbClr val="FFFFFF"/>
                          </a:solidFill>
                          <a:latin typeface="Inter"/>
                        </a:defRPr>
                      </a:pPr>
                    </a:p>
                  </a:txBody>
                  <a:tcPr>
                    <a:solidFill>
                      <a:srgbClr val="A14643"/>
                    </a:solidFill>
                  </a:tcPr>
                </a:tc>
                <a:tc>
                  <a:txBody>
                    <a:bodyPr/>
                    <a:lstStyle/>
                    <a:p>
                      <a:pPr>
                        <a:defRPr sz="1200" b="1">
                          <a:solidFill>
                            <a:srgbClr val="FFFFFF"/>
                          </a:solidFill>
                          <a:latin typeface="Inter"/>
                        </a:defRPr>
                      </a:pPr>
                      <a:r>
                        <a:t>AURA Immobilier</a:t>
                      </a:r>
                    </a:p>
                  </a:txBody>
                  <a:tcPr>
                    <a:solidFill>
                      <a:srgbClr val="A14643"/>
                    </a:solidFill>
                  </a:tcPr>
                </a:tc>
                <a:tc>
                  <a:txBody>
                    <a:bodyPr/>
                    <a:lstStyle/>
                    <a:p>
                      <a:pPr>
                        <a:defRPr sz="1200" b="1">
                          <a:solidFill>
                            <a:srgbClr val="FFFFFF"/>
                          </a:solidFill>
                          <a:latin typeface="Inter"/>
                        </a:defRPr>
                      </a:pPr>
                      <a:r>
                        <a:t>MD Immobilier</a:t>
                      </a:r>
                    </a:p>
                  </a:txBody>
                  <a:tcPr>
                    <a:solidFill>
                      <a:srgbClr val="A14643"/>
                    </a:solidFill>
                  </a:tcPr>
                </a:tc>
                <a:tc>
                  <a:txBody>
                    <a:bodyPr/>
                    <a:lstStyle/>
                    <a:p>
                      <a:pPr>
                        <a:defRPr sz="1200" b="1">
                          <a:solidFill>
                            <a:srgbClr val="FFFFFF"/>
                          </a:solidFill>
                          <a:latin typeface="Inter"/>
                        </a:defRPr>
                      </a:pPr>
                      <a:r>
                        <a:t>Kalimba Immobilier</a:t>
                      </a:r>
                    </a:p>
                  </a:txBody>
                  <a:tcPr>
                    <a:solidFill>
                      <a:srgbClr val="A14643"/>
                    </a:solidFill>
                  </a:tcPr>
                </a:tc>
                <a:tc>
                  <a:txBody>
                    <a:bodyPr/>
                    <a:lstStyle/>
                    <a:p>
                      <a:pPr>
                        <a:defRPr sz="1200" b="1">
                          <a:solidFill>
                            <a:srgbClr val="FFFFFF"/>
                          </a:solidFill>
                          <a:latin typeface="Inter"/>
                        </a:defRPr>
                      </a:pPr>
                      <a:r>
                        <a:t>H&amp;A Properties</a:t>
                      </a:r>
                    </a:p>
                  </a:txBody>
                  <a:tcPr>
                    <a:solidFill>
                      <a:srgbClr val="A14643"/>
                    </a:solidFill>
                  </a:tcPr>
                </a:tc>
              </a:tr>
              <a:tr h="574765">
                <a:tc>
                  <a:txBody>
                    <a:bodyPr/>
                    <a:lstStyle/>
                    <a:p>
                      <a:pPr>
                        <a:defRPr sz="1200" b="1">
                          <a:solidFill>
                            <a:srgbClr val="30282A"/>
                          </a:solidFill>
                          <a:latin typeface="Inter"/>
                        </a:defRPr>
                      </a:pPr>
                      <a:r>
                        <a:t>Site web</a:t>
                      </a:r>
                    </a:p>
                  </a:txBody>
                  <a:tcPr>
                    <a:solidFill>
                      <a:srgbClr val="FFFFFF"/>
                    </a:solidFill>
                  </a:tcPr>
                </a:tc>
                <a:tc>
                  <a:txBody>
                    <a:bodyPr/>
                    <a:lstStyle/>
                    <a:p>
                      <a:pPr>
                        <a:defRPr sz="1200" b="1">
                          <a:solidFill>
                            <a:srgbClr val="30282A"/>
                          </a:solidFill>
                          <a:latin typeface="Inter"/>
                        </a:defRPr>
                      </a:pPr>
                      <a:r>
                        <a:t>Page d'attente</a:t>
                      </a:r>
                    </a:p>
                  </a:txBody>
                  <a:tcPr>
                    <a:solidFill>
                      <a:srgbClr val="F8ECEA"/>
                    </a:solidFill>
                  </a:tcPr>
                </a:tc>
                <a:tc>
                  <a:txBody>
                    <a:bodyPr/>
                    <a:lstStyle/>
                    <a:p>
                      <a:pPr>
                        <a:defRPr sz="1200" b="0">
                          <a:solidFill>
                            <a:srgbClr val="30282A"/>
                          </a:solidFill>
                          <a:latin typeface="Inter"/>
                        </a:defRPr>
                      </a:pPr>
                      <a:r>
                        <a:t>En ligne</a:t>
                      </a:r>
                    </a:p>
                  </a:txBody>
                  <a:tcPr>
                    <a:solidFill>
                      <a:srgbClr val="FFFFFF"/>
                    </a:solidFill>
                  </a:tcPr>
                </a:tc>
                <a:tc>
                  <a:txBody>
                    <a:bodyPr/>
                    <a:lstStyle/>
                    <a:p>
                      <a:pPr>
                        <a:defRPr sz="1200" b="0">
                          <a:solidFill>
                            <a:srgbClr val="30282A"/>
                          </a:solidFill>
                          <a:latin typeface="Inter"/>
                        </a:defRPr>
                      </a:pPr>
                      <a:r>
                        <a:t>En ligne</a:t>
                      </a:r>
                    </a:p>
                  </a:txBody>
                  <a:tcPr>
                    <a:solidFill>
                      <a:srgbClr val="FFFFFF"/>
                    </a:solidFill>
                  </a:tcPr>
                </a:tc>
                <a:tc>
                  <a:txBody>
                    <a:bodyPr/>
                    <a:lstStyle/>
                    <a:p>
                      <a:pPr>
                        <a:defRPr sz="1200" b="0">
                          <a:solidFill>
                            <a:srgbClr val="30282A"/>
                          </a:solidFill>
                          <a:latin typeface="Inter"/>
                        </a:defRPr>
                      </a:pPr>
                      <a:r>
                        <a:t>En ligne</a:t>
                      </a:r>
                    </a:p>
                  </a:txBody>
                  <a:tcPr>
                    <a:solidFill>
                      <a:srgbClr val="FFFFFF"/>
                    </a:solidFill>
                  </a:tcPr>
                </a:tc>
              </a:tr>
              <a:tr h="574765">
                <a:tc>
                  <a:txBody>
                    <a:bodyPr/>
                    <a:lstStyle/>
                    <a:p>
                      <a:pPr>
                        <a:defRPr sz="1200" b="1">
                          <a:solidFill>
                            <a:srgbClr val="30282A"/>
                          </a:solidFill>
                          <a:latin typeface="Inter"/>
                        </a:defRPr>
                      </a:pPr>
                      <a:r>
                        <a:t>Avis Google</a:t>
                      </a:r>
                    </a:p>
                  </a:txBody>
                  <a:tcPr>
                    <a:solidFill>
                      <a:srgbClr val="FFFFFF"/>
                    </a:solidFill>
                  </a:tcPr>
                </a:tc>
                <a:tc>
                  <a:txBody>
                    <a:bodyPr/>
                    <a:lstStyle/>
                    <a:p>
                      <a:pPr>
                        <a:defRPr sz="1200" b="1">
                          <a:solidFill>
                            <a:srgbClr val="30282A"/>
                          </a:solidFill>
                          <a:latin typeface="Inter"/>
                        </a:defRPr>
                      </a:pPr>
                      <a:r>
                        <a:t>0</a:t>
                      </a:r>
                    </a:p>
                  </a:txBody>
                  <a:tcPr>
                    <a:solidFill>
                      <a:srgbClr val="F8ECEA"/>
                    </a:solidFill>
                  </a:tcPr>
                </a:tc>
                <a:tc>
                  <a:txBody>
                    <a:bodyPr/>
                    <a:lstStyle/>
                    <a:p>
                      <a:pPr>
                        <a:defRPr sz="1200" b="0">
                          <a:solidFill>
                            <a:srgbClr val="30282A"/>
                          </a:solidFill>
                          <a:latin typeface="Inter"/>
                        </a:defRPr>
                      </a:pPr>
                      <a:r>
                        <a:t>4,6/5 · 50 avis</a:t>
                      </a:r>
                    </a:p>
                  </a:txBody>
                  <a:tcPr>
                    <a:solidFill>
                      <a:srgbClr val="FFFFFF"/>
                    </a:solidFill>
                  </a:tcPr>
                </a:tc>
                <a:tc>
                  <a:txBody>
                    <a:bodyPr/>
                    <a:lstStyle/>
                    <a:p>
                      <a:pPr>
                        <a:defRPr sz="1200" b="0">
                          <a:solidFill>
                            <a:srgbClr val="30282A"/>
                          </a:solidFill>
                          <a:latin typeface="Inter"/>
                        </a:defRPr>
                      </a:pPr>
                      <a:r>
                        <a:t>4,0/5 · 97 avis</a:t>
                      </a:r>
                    </a:p>
                  </a:txBody>
                  <a:tcPr>
                    <a:solidFill>
                      <a:srgbClr val="FFFFFF"/>
                    </a:solidFill>
                  </a:tcPr>
                </a:tc>
                <a:tc>
                  <a:txBody>
                    <a:bodyPr/>
                    <a:lstStyle/>
                    <a:p>
                      <a:pPr>
                        <a:defRPr sz="1200" b="0">
                          <a:solidFill>
                            <a:srgbClr val="30282A"/>
                          </a:solidFill>
                          <a:latin typeface="Inter"/>
                        </a:defRPr>
                      </a:pPr>
                      <a:r>
                        <a:t>4,9/5 · 8 avis</a:t>
                      </a:r>
                    </a:p>
                  </a:txBody>
                  <a:tcPr>
                    <a:solidFill>
                      <a:srgbClr val="FFFFFF"/>
                    </a:solidFill>
                  </a:tcPr>
                </a:tc>
              </a:tr>
              <a:tr h="574765">
                <a:tc>
                  <a:txBody>
                    <a:bodyPr/>
                    <a:lstStyle/>
                    <a:p>
                      <a:pPr>
                        <a:defRPr sz="1200" b="1">
                          <a:solidFill>
                            <a:srgbClr val="30282A"/>
                          </a:solidFill>
                          <a:latin typeface="Inter"/>
                        </a:defRPr>
                      </a:pPr>
                      <a:r>
                        <a:t>Facebook</a:t>
                      </a:r>
                    </a:p>
                  </a:txBody>
                  <a:tcPr>
                    <a:solidFill>
                      <a:srgbClr val="FFFFFF"/>
                    </a:solidFill>
                  </a:tcPr>
                </a:tc>
                <a:tc>
                  <a:txBody>
                    <a:bodyPr/>
                    <a:lstStyle/>
                    <a:p>
                      <a:pPr>
                        <a:defRPr sz="1200" b="1">
                          <a:solidFill>
                            <a:srgbClr val="30282A"/>
                          </a:solidFill>
                          <a:latin typeface="Inter"/>
                        </a:defRPr>
                      </a:pPr>
                      <a:r>
                        <a:t>Pas de page trouvée</a:t>
                      </a:r>
                    </a:p>
                  </a:txBody>
                  <a:tcPr>
                    <a:solidFill>
                      <a:srgbClr val="F8ECEA"/>
                    </a:solidFill>
                  </a:tcPr>
                </a:tc>
                <a:tc>
                  <a:txBody>
                    <a:bodyPr/>
                    <a:lstStyle/>
                    <a:p>
                      <a:pPr>
                        <a:defRPr sz="1200" b="0">
                          <a:solidFill>
                            <a:srgbClr val="30282A"/>
                          </a:solidFill>
                          <a:latin typeface="Inter"/>
                        </a:defRPr>
                      </a:pPr>
                      <a:r>
                        <a:t>5 129 abonnés</a:t>
                      </a:r>
                    </a:p>
                  </a:txBody>
                  <a:tcPr>
                    <a:solidFill>
                      <a:srgbClr val="FFFFFF"/>
                    </a:solidFill>
                  </a:tcPr>
                </a:tc>
                <a:tc>
                  <a:txBody>
                    <a:bodyPr/>
                    <a:lstStyle/>
                    <a:p>
                      <a:pPr>
                        <a:defRPr sz="1200" b="0">
                          <a:solidFill>
                            <a:srgbClr val="30282A"/>
                          </a:solidFill>
                          <a:latin typeface="Inter"/>
                        </a:defRPr>
                      </a:pPr>
                      <a:r>
                        <a:t>21 970 abonnés</a:t>
                      </a:r>
                    </a:p>
                  </a:txBody>
                  <a:tcPr>
                    <a:solidFill>
                      <a:srgbClr val="FFFFFF"/>
                    </a:solidFill>
                  </a:tcPr>
                </a:tc>
                <a:tc>
                  <a:txBody>
                    <a:bodyPr/>
                    <a:lstStyle/>
                    <a:p>
                      <a:pPr>
                        <a:defRPr sz="1200" b="0">
                          <a:solidFill>
                            <a:srgbClr val="30282A"/>
                          </a:solidFill>
                          <a:latin typeface="Inter"/>
                        </a:defRPr>
                      </a:pPr>
                      <a:r>
                        <a:t>Non relevé</a:t>
                      </a:r>
                    </a:p>
                  </a:txBody>
                  <a:tcPr>
                    <a:solidFill>
                      <a:srgbClr val="FFFFFF"/>
                    </a:solidFill>
                  </a:tcPr>
                </a:tc>
              </a:tr>
              <a:tr h="574765">
                <a:tc>
                  <a:txBody>
                    <a:bodyPr/>
                    <a:lstStyle/>
                    <a:p>
                      <a:pPr>
                        <a:defRPr sz="1200" b="1">
                          <a:solidFill>
                            <a:srgbClr val="30282A"/>
                          </a:solidFill>
                          <a:latin typeface="Inter"/>
                        </a:defRPr>
                      </a:pPr>
                      <a:r>
                        <a:t>Instagram</a:t>
                      </a:r>
                    </a:p>
                  </a:txBody>
                  <a:tcPr>
                    <a:solidFill>
                      <a:srgbClr val="FFFFFF"/>
                    </a:solidFill>
                  </a:tcPr>
                </a:tc>
                <a:tc>
                  <a:txBody>
                    <a:bodyPr/>
                    <a:lstStyle/>
                    <a:p>
                      <a:pPr>
                        <a:defRPr sz="1200" b="1">
                          <a:solidFill>
                            <a:srgbClr val="30282A"/>
                          </a:solidFill>
                          <a:latin typeface="Inter"/>
                        </a:defRPr>
                      </a:pPr>
                      <a:r>
                        <a:t>153 abonnés</a:t>
                      </a:r>
                    </a:p>
                  </a:txBody>
                  <a:tcPr>
                    <a:solidFill>
                      <a:srgbClr val="F8ECEA"/>
                    </a:solidFill>
                  </a:tcPr>
                </a:tc>
                <a:tc>
                  <a:txBody>
                    <a:bodyPr/>
                    <a:lstStyle/>
                    <a:p>
                      <a:pPr>
                        <a:defRPr sz="1200" b="0">
                          <a:solidFill>
                            <a:srgbClr val="30282A"/>
                          </a:solidFill>
                          <a:latin typeface="Inter"/>
                        </a:defRPr>
                      </a:pPr>
                      <a:r>
                        <a:t>3 419 abonnés</a:t>
                      </a:r>
                    </a:p>
                  </a:txBody>
                  <a:tcPr>
                    <a:solidFill>
                      <a:srgbClr val="FFFFFF"/>
                    </a:solidFill>
                  </a:tcPr>
                </a:tc>
                <a:tc>
                  <a:txBody>
                    <a:bodyPr/>
                    <a:lstStyle/>
                    <a:p>
                      <a:pPr>
                        <a:defRPr sz="1200" b="0">
                          <a:solidFill>
                            <a:srgbClr val="30282A"/>
                          </a:solidFill>
                          <a:latin typeface="Inter"/>
                        </a:defRPr>
                      </a:pPr>
                      <a:r>
                        <a:t>1 030 abonnés</a:t>
                      </a:r>
                    </a:p>
                  </a:txBody>
                  <a:tcPr>
                    <a:solidFill>
                      <a:srgbClr val="FFFFFF"/>
                    </a:solidFill>
                  </a:tcPr>
                </a:tc>
                <a:tc>
                  <a:txBody>
                    <a:bodyPr/>
                    <a:lstStyle/>
                    <a:p>
                      <a:pPr>
                        <a:defRPr sz="1200" b="0">
                          <a:solidFill>
                            <a:srgbClr val="30282A"/>
                          </a:solidFill>
                          <a:latin typeface="Inter"/>
                        </a:defRPr>
                      </a:pPr>
                      <a:r>
                        <a:t>Non trouvé</a:t>
                      </a:r>
                    </a:p>
                  </a:txBody>
                  <a:tcPr>
                    <a:solidFill>
                      <a:srgbClr val="FFFFFF"/>
                    </a:solidFill>
                  </a:tcPr>
                </a:tc>
              </a:tr>
              <a:tr h="574765">
                <a:tc>
                  <a:txBody>
                    <a:bodyPr/>
                    <a:lstStyle/>
                    <a:p>
                      <a:pPr>
                        <a:defRPr sz="1200" b="1">
                          <a:solidFill>
                            <a:srgbClr val="30282A"/>
                          </a:solidFill>
                          <a:latin typeface="Inter"/>
                        </a:defRPr>
                      </a:pPr>
                      <a:r>
                        <a:t>LinkedIn</a:t>
                      </a:r>
                    </a:p>
                  </a:txBody>
                  <a:tcPr>
                    <a:solidFill>
                      <a:srgbClr val="FFFFFF"/>
                    </a:solidFill>
                  </a:tcPr>
                </a:tc>
                <a:tc>
                  <a:txBody>
                    <a:bodyPr/>
                    <a:lstStyle/>
                    <a:p>
                      <a:pPr>
                        <a:defRPr sz="1200" b="1">
                          <a:solidFill>
                            <a:srgbClr val="30282A"/>
                          </a:solidFill>
                          <a:latin typeface="Inter"/>
                        </a:defRPr>
                      </a:pPr>
                      <a:r>
                        <a:t>2 161 abonnés</a:t>
                      </a:r>
                    </a:p>
                  </a:txBody>
                  <a:tcPr>
                    <a:solidFill>
                      <a:srgbClr val="F8ECEA"/>
                    </a:solidFill>
                  </a:tcPr>
                </a:tc>
                <a:tc>
                  <a:txBody>
                    <a:bodyPr/>
                    <a:lstStyle/>
                    <a:p>
                      <a:pPr>
                        <a:defRPr sz="1200" b="0">
                          <a:solidFill>
                            <a:srgbClr val="30282A"/>
                          </a:solidFill>
                          <a:latin typeface="Inter"/>
                        </a:defRPr>
                      </a:pPr>
                      <a:r>
                        <a:t>Non relevé</a:t>
                      </a:r>
                    </a:p>
                  </a:txBody>
                  <a:tcPr>
                    <a:solidFill>
                      <a:srgbClr val="FFFFFF"/>
                    </a:solidFill>
                  </a:tcPr>
                </a:tc>
                <a:tc>
                  <a:txBody>
                    <a:bodyPr/>
                    <a:lstStyle/>
                    <a:p>
                      <a:pPr>
                        <a:defRPr sz="1200" b="0">
                          <a:solidFill>
                            <a:srgbClr val="30282A"/>
                          </a:solidFill>
                          <a:latin typeface="Inter"/>
                        </a:defRPr>
                      </a:pPr>
                      <a:r>
                        <a:t>Non relevé</a:t>
                      </a:r>
                    </a:p>
                  </a:txBody>
                  <a:tcPr>
                    <a:solidFill>
                      <a:srgbClr val="FFFFFF"/>
                    </a:solidFill>
                  </a:tcPr>
                </a:tc>
                <a:tc>
                  <a:txBody>
                    <a:bodyPr/>
                    <a:lstStyle/>
                    <a:p>
                      <a:pPr>
                        <a:defRPr sz="1200" b="0">
                          <a:solidFill>
                            <a:srgbClr val="30282A"/>
                          </a:solidFill>
                          <a:latin typeface="Inter"/>
                        </a:defRPr>
                      </a:pPr>
                      <a:r>
                        <a:t>Non relevé</a:t>
                      </a:r>
                    </a:p>
                  </a:txBody>
                  <a:tcPr>
                    <a:solidFill>
                      <a:srgbClr val="FFFFFF"/>
                    </a:solidFill>
                  </a:tcPr>
                </a:tc>
              </a:tr>
              <a:tr h="574770">
                <a:tc>
                  <a:txBody>
                    <a:bodyPr/>
                    <a:lstStyle/>
                    <a:p>
                      <a:pPr>
                        <a:defRPr sz="1200" b="1">
                          <a:solidFill>
                            <a:srgbClr val="30282A"/>
                          </a:solidFill>
                          <a:latin typeface="Inter"/>
                        </a:defRPr>
                      </a:pPr>
                      <a:r>
                        <a:t>Ancienneté</a:t>
                      </a:r>
                    </a:p>
                  </a:txBody>
                  <a:tcPr>
                    <a:solidFill>
                      <a:srgbClr val="FFFFFF"/>
                    </a:solidFill>
                  </a:tcPr>
                </a:tc>
                <a:tc>
                  <a:txBody>
                    <a:bodyPr/>
                    <a:lstStyle/>
                    <a:p>
                      <a:pPr>
                        <a:defRPr sz="1200" b="1">
                          <a:solidFill>
                            <a:srgbClr val="30282A"/>
                          </a:solidFill>
                          <a:latin typeface="Inter"/>
                        </a:defRPr>
                      </a:pPr>
                      <a:r>
                        <a:t>2020</a:t>
                      </a:r>
                    </a:p>
                  </a:txBody>
                  <a:tcPr>
                    <a:solidFill>
                      <a:srgbClr val="F8ECEA"/>
                    </a:solidFill>
                  </a:tcPr>
                </a:tc>
                <a:tc>
                  <a:txBody>
                    <a:bodyPr/>
                    <a:lstStyle/>
                    <a:p>
                      <a:pPr>
                        <a:defRPr sz="1200" b="0">
                          <a:solidFill>
                            <a:srgbClr val="30282A"/>
                          </a:solidFill>
                          <a:latin typeface="Inter"/>
                        </a:defRPr>
                      </a:pPr>
                      <a:r>
                        <a:t>2021 (page Facebook)</a:t>
                      </a:r>
                    </a:p>
                  </a:txBody>
                  <a:tcPr>
                    <a:solidFill>
                      <a:srgbClr val="FFFFFF"/>
                    </a:solidFill>
                  </a:tcPr>
                </a:tc>
                <a:tc>
                  <a:txBody>
                    <a:bodyPr/>
                    <a:lstStyle/>
                    <a:p>
                      <a:pPr>
                        <a:defRPr sz="1200" b="0">
                          <a:solidFill>
                            <a:srgbClr val="30282A"/>
                          </a:solidFill>
                          <a:latin typeface="Inter"/>
                        </a:defRPr>
                      </a:pPr>
                      <a:r>
                        <a:t>1995</a:t>
                      </a:r>
                    </a:p>
                  </a:txBody>
                  <a:tcPr>
                    <a:solidFill>
                      <a:srgbClr val="FFFFFF"/>
                    </a:solidFill>
                  </a:tcPr>
                </a:tc>
                <a:tc>
                  <a:txBody>
                    <a:bodyPr/>
                    <a:lstStyle/>
                    <a:p>
                      <a:pPr>
                        <a:defRPr sz="1200" b="0">
                          <a:solidFill>
                            <a:srgbClr val="30282A"/>
                          </a:solidFill>
                          <a:latin typeface="Inter"/>
                        </a:defRPr>
                      </a:pPr>
                      <a:r>
                        <a:t>2015</a:t>
                      </a:r>
                    </a:p>
                  </a:txBody>
                  <a:tcPr>
                    <a:solidFill>
                      <a:srgbClr val="FFFFFF"/>
                    </a:solidFill>
                  </a:tcPr>
                </a:tc>
              </a:tr>
            </a:tbl>
          </a:graphicData>
        </a:graphic>
      </p:graphicFrame>
      <p:sp>
        <p:nvSpPr>
          <p:cNvPr id="10" name="TextBox 9"/>
          <p:cNvSpPr txBox="1"/>
          <p:nvPr/>
        </p:nvSpPr>
        <p:spPr>
          <a:xfrm>
            <a:off x="640080" y="5806440"/>
            <a:ext cx="10972800" cy="457200"/>
          </a:xfrm>
          <a:prstGeom prst="rect">
            <a:avLst/>
          </a:prstGeom>
          <a:noFill/>
        </p:spPr>
        <p:txBody>
          <a:bodyPr wrap="square" anchor="t" lIns="45720" rIns="45720" tIns="27432" bIns="27432">
            <a:spAutoFit/>
          </a:bodyPr>
          <a:lstStyle/>
          <a:p>
            <a:pPr algn="l">
              <a:lnSpc>
                <a:spcPct val="115000"/>
              </a:lnSpc>
              <a:spcAft>
                <a:spcPts val="600"/>
              </a:spcAft>
            </a:pPr>
            <a:r>
              <a:rPr sz="1200" b="1">
                <a:solidFill>
                  <a:srgbClr val="A14643"/>
                </a:solidFill>
                <a:latin typeface="Inter"/>
              </a:rPr>
              <a:t>AURA garde un avantage : la plus grosse audience LinkedIn relevée et une identité visuelle plus moderne que celles de ses concurrents. Il lui manque la preuve (avis, biens) et Facebook.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MARQUE</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L'identité visuelle relevée, à garder</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12</a:t>
            </a:r>
          </a:p>
        </p:txBody>
      </p:sp>
      <p:pic>
        <p:nvPicPr>
          <p:cNvPr id="9" name="Picture 8" descr="logo.jpg"/>
          <p:cNvPicPr>
            <a:picLocks noChangeAspect="1"/>
          </p:cNvPicPr>
          <p:nvPr/>
        </p:nvPicPr>
        <p:blipFill>
          <a:blip r:embed="rId3"/>
          <a:stretch>
            <a:fillRect/>
          </a:stretch>
        </p:blipFill>
        <p:spPr>
          <a:xfrm>
            <a:off x="640080" y="1645920"/>
            <a:ext cx="2377440" cy="2377440"/>
          </a:xfrm>
          <a:prstGeom prst="rect">
            <a:avLst/>
          </a:prstGeom>
        </p:spPr>
      </p:pic>
      <p:sp>
        <p:nvSpPr>
          <p:cNvPr id="10" name="Rectangle 9"/>
          <p:cNvSpPr/>
          <p:nvPr/>
        </p:nvSpPr>
        <p:spPr>
          <a:xfrm>
            <a:off x="3383280" y="1645920"/>
            <a:ext cx="1874519" cy="1554480"/>
          </a:xfrm>
          <a:prstGeom prst="rect">
            <a:avLst/>
          </a:prstGeom>
          <a:solidFill>
            <a:srgbClr val="A14643"/>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3291840"/>
            <a:ext cx="1874519" cy="548640"/>
          </a:xfrm>
          <a:prstGeom prst="rect">
            <a:avLst/>
          </a:prstGeom>
          <a:noFill/>
        </p:spPr>
        <p:txBody>
          <a:bodyPr wrap="square" anchor="t" lIns="45720" rIns="45720" tIns="27432" bIns="27432">
            <a:spAutoFit/>
          </a:bodyPr>
          <a:lstStyle/>
          <a:p>
            <a:pPr algn="ctr">
              <a:lnSpc>
                <a:spcPct val="115000"/>
              </a:lnSpc>
              <a:spcAft>
                <a:spcPts val="600"/>
              </a:spcAft>
            </a:pPr>
            <a:r>
              <a:rPr sz="1200" b="1">
                <a:solidFill>
                  <a:srgbClr val="30282A"/>
                </a:solidFill>
                <a:latin typeface="Montserrat"/>
              </a:rPr>
              <a:t>Bordeaux</a:t>
            </a:r>
          </a:p>
          <a:p>
            <a:pPr algn="ctr">
              <a:lnSpc>
                <a:spcPct val="115000"/>
              </a:lnSpc>
              <a:spcAft>
                <a:spcPts val="600"/>
              </a:spcAft>
            </a:pPr>
            <a:r>
              <a:rPr sz="1200" b="0">
                <a:solidFill>
                  <a:srgbClr val="30282A"/>
                </a:solidFill>
                <a:latin typeface="Inter"/>
              </a:rPr>
              <a:t>#A14643</a:t>
            </a:r>
          </a:p>
        </p:txBody>
      </p:sp>
      <p:sp>
        <p:nvSpPr>
          <p:cNvPr id="12" name="Rectangle 11"/>
          <p:cNvSpPr/>
          <p:nvPr/>
        </p:nvSpPr>
        <p:spPr>
          <a:xfrm>
            <a:off x="5440680" y="1645920"/>
            <a:ext cx="1874519" cy="1554480"/>
          </a:xfrm>
          <a:prstGeom prst="rect">
            <a:avLst/>
          </a:prstGeom>
          <a:solidFill>
            <a:srgbClr val="F4EFE9"/>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80" y="3291840"/>
            <a:ext cx="1874519" cy="548640"/>
          </a:xfrm>
          <a:prstGeom prst="rect">
            <a:avLst/>
          </a:prstGeom>
          <a:noFill/>
        </p:spPr>
        <p:txBody>
          <a:bodyPr wrap="square" anchor="t" lIns="45720" rIns="45720" tIns="27432" bIns="27432">
            <a:spAutoFit/>
          </a:bodyPr>
          <a:lstStyle/>
          <a:p>
            <a:pPr algn="ctr">
              <a:lnSpc>
                <a:spcPct val="115000"/>
              </a:lnSpc>
              <a:spcAft>
                <a:spcPts val="600"/>
              </a:spcAft>
            </a:pPr>
            <a:r>
              <a:rPr sz="1200" b="1">
                <a:solidFill>
                  <a:srgbClr val="30282A"/>
                </a:solidFill>
                <a:latin typeface="Montserrat"/>
              </a:rPr>
              <a:t>Sable</a:t>
            </a:r>
          </a:p>
          <a:p>
            <a:pPr algn="ctr">
              <a:lnSpc>
                <a:spcPct val="115000"/>
              </a:lnSpc>
              <a:spcAft>
                <a:spcPts val="600"/>
              </a:spcAft>
            </a:pPr>
            <a:r>
              <a:rPr sz="1200" b="0">
                <a:solidFill>
                  <a:srgbClr val="30282A"/>
                </a:solidFill>
                <a:latin typeface="Inter"/>
              </a:rPr>
              <a:t>#F4EFE9</a:t>
            </a:r>
          </a:p>
        </p:txBody>
      </p:sp>
      <p:sp>
        <p:nvSpPr>
          <p:cNvPr id="14" name="Rectangle 13"/>
          <p:cNvSpPr/>
          <p:nvPr/>
        </p:nvSpPr>
        <p:spPr>
          <a:xfrm>
            <a:off x="7498079" y="1645920"/>
            <a:ext cx="1874519" cy="1554480"/>
          </a:xfrm>
          <a:prstGeom prst="rect">
            <a:avLst/>
          </a:prstGeom>
          <a:solidFill>
            <a:srgbClr val="30282A"/>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3291840"/>
            <a:ext cx="1874519" cy="548640"/>
          </a:xfrm>
          <a:prstGeom prst="rect">
            <a:avLst/>
          </a:prstGeom>
          <a:noFill/>
        </p:spPr>
        <p:txBody>
          <a:bodyPr wrap="square" anchor="t" lIns="45720" rIns="45720" tIns="27432" bIns="27432">
            <a:spAutoFit/>
          </a:bodyPr>
          <a:lstStyle/>
          <a:p>
            <a:pPr algn="ctr">
              <a:lnSpc>
                <a:spcPct val="115000"/>
              </a:lnSpc>
              <a:spcAft>
                <a:spcPts val="600"/>
              </a:spcAft>
            </a:pPr>
            <a:r>
              <a:rPr sz="1200" b="1">
                <a:solidFill>
                  <a:srgbClr val="30282A"/>
                </a:solidFill>
                <a:latin typeface="Montserrat"/>
              </a:rPr>
              <a:t>Encre</a:t>
            </a:r>
          </a:p>
          <a:p>
            <a:pPr algn="ctr">
              <a:lnSpc>
                <a:spcPct val="115000"/>
              </a:lnSpc>
              <a:spcAft>
                <a:spcPts val="600"/>
              </a:spcAft>
            </a:pPr>
            <a:r>
              <a:rPr sz="1200" b="0">
                <a:solidFill>
                  <a:srgbClr val="30282A"/>
                </a:solidFill>
                <a:latin typeface="Inter"/>
              </a:rPr>
              <a:t>#30282A</a:t>
            </a:r>
          </a:p>
        </p:txBody>
      </p:sp>
      <p:sp>
        <p:nvSpPr>
          <p:cNvPr id="16" name="Rectangle 15"/>
          <p:cNvSpPr/>
          <p:nvPr/>
        </p:nvSpPr>
        <p:spPr>
          <a:xfrm>
            <a:off x="9555480" y="1645920"/>
            <a:ext cx="1874519" cy="1554480"/>
          </a:xfrm>
          <a:prstGeom prst="rect">
            <a:avLst/>
          </a:prstGeom>
          <a:solidFill>
            <a:srgbClr val="554346"/>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3291840"/>
            <a:ext cx="1874519" cy="548640"/>
          </a:xfrm>
          <a:prstGeom prst="rect">
            <a:avLst/>
          </a:prstGeom>
          <a:noFill/>
        </p:spPr>
        <p:txBody>
          <a:bodyPr wrap="square" anchor="t" lIns="45720" rIns="45720" tIns="27432" bIns="27432">
            <a:spAutoFit/>
          </a:bodyPr>
          <a:lstStyle/>
          <a:p>
            <a:pPr algn="ctr">
              <a:lnSpc>
                <a:spcPct val="115000"/>
              </a:lnSpc>
              <a:spcAft>
                <a:spcPts val="600"/>
              </a:spcAft>
            </a:pPr>
            <a:r>
              <a:rPr sz="1200" b="1">
                <a:solidFill>
                  <a:srgbClr val="30282A"/>
                </a:solidFill>
                <a:latin typeface="Montserrat"/>
              </a:rPr>
              <a:t>Taupe</a:t>
            </a:r>
          </a:p>
          <a:p>
            <a:pPr algn="ctr">
              <a:lnSpc>
                <a:spcPct val="115000"/>
              </a:lnSpc>
              <a:spcAft>
                <a:spcPts val="600"/>
              </a:spcAft>
            </a:pPr>
            <a:r>
              <a:rPr sz="1200" b="0">
                <a:solidFill>
                  <a:srgbClr val="30282A"/>
                </a:solidFill>
                <a:latin typeface="Inter"/>
              </a:rPr>
              <a:t>#554346</a:t>
            </a:r>
          </a:p>
        </p:txBody>
      </p:sp>
      <p:sp>
        <p:nvSpPr>
          <p:cNvPr id="18" name="Rectangle 17"/>
          <p:cNvSpPr/>
          <p:nvPr/>
        </p:nvSpPr>
        <p:spPr>
          <a:xfrm>
            <a:off x="640080" y="4343400"/>
            <a:ext cx="10972800" cy="18288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343400"/>
            <a:ext cx="73152" cy="18288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80560"/>
            <a:ext cx="1060704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Ce qu'on en fait</a:t>
            </a:r>
          </a:p>
        </p:txBody>
      </p:sp>
      <p:sp>
        <p:nvSpPr>
          <p:cNvPr id="21" name="TextBox 20"/>
          <p:cNvSpPr txBox="1"/>
          <p:nvPr/>
        </p:nvSpPr>
        <p:spPr>
          <a:xfrm>
            <a:off x="868680" y="4910328"/>
            <a:ext cx="10607040" cy="1188720"/>
          </a:xfrm>
          <a:prstGeom prst="rect">
            <a:avLst/>
          </a:prstGeom>
          <a:noFill/>
        </p:spPr>
        <p:txBody>
          <a:bodyPr wrap="square" anchor="t" lIns="45720" rIns="45720" tIns="27432" bIns="27432">
            <a:spAutoFit/>
          </a:bodyPr>
          <a:lstStyle/>
          <a:p>
            <a:pPr algn="l">
              <a:lnSpc>
                <a:spcPct val="115000"/>
              </a:lnSpc>
              <a:spcAft>
                <a:spcPts val="600"/>
              </a:spcAft>
            </a:pPr>
            <a:r>
              <a:rPr sz="1200" b="0">
                <a:solidFill>
                  <a:srgbClr val="554346"/>
                </a:solidFill>
                <a:latin typeface="Inter"/>
              </a:rPr>
              <a:t>Couleurs relevées sur le site et sur les visuels publiés : elles restent la base. Le logo, sobre et lisible, tient bien en petit. Pour sortir de la répétition, garder le filtre bordeaux pour les messages de marque et montrer les biens en photo naturelle, sans filtre. Le guide officiel de la marque, s'il existe, fera foi.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PROCHAINES ÉTAPES</a:t>
            </a:r>
          </a:p>
        </p:txBody>
      </p:sp>
      <p:sp>
        <p:nvSpPr>
          <p:cNvPr id="5" name="TextBox 4"/>
          <p:cNvSpPr txBox="1"/>
          <p:nvPr/>
        </p:nvSpPr>
        <p:spPr>
          <a:xfrm>
            <a:off x="640080" y="685800"/>
            <a:ext cx="9692640" cy="822960"/>
          </a:xfrm>
          <a:prstGeom prst="rect">
            <a:avLst/>
          </a:prstGeom>
          <a:noFill/>
        </p:spPr>
        <p:txBody>
          <a:bodyPr wrap="square" anchor="t" lIns="45720" rIns="45720" tIns="27432" bIns="27432">
            <a:spAutoFit/>
          </a:bodyPr>
          <a:lstStyle/>
          <a:p>
            <a:pPr algn="l">
              <a:lnSpc>
                <a:spcPct val="115000"/>
              </a:lnSpc>
              <a:spcAft>
                <a:spcPts val="600"/>
              </a:spcAft>
            </a:pPr>
            <a:r>
              <a:rPr sz="2400" b="1">
                <a:solidFill>
                  <a:srgbClr val="30282A"/>
                </a:solidFill>
                <a:latin typeface="Montserrat"/>
              </a:rPr>
              <a:t>La suite, et d'où viennent les chiffres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13</a:t>
            </a:r>
          </a:p>
        </p:txBody>
      </p:sp>
      <p:sp>
        <p:nvSpPr>
          <p:cNvPr id="9" name="Rectangle 8"/>
          <p:cNvSpPr/>
          <p:nvPr/>
        </p:nvSpPr>
        <p:spPr>
          <a:xfrm>
            <a:off x="640080" y="1600200"/>
            <a:ext cx="5486400" cy="46177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00200"/>
            <a:ext cx="73152" cy="461772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37360"/>
            <a:ext cx="512064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Si vous validez</a:t>
            </a:r>
          </a:p>
        </p:txBody>
      </p:sp>
      <p:sp>
        <p:nvSpPr>
          <p:cNvPr id="12" name="TextBox 11"/>
          <p:cNvSpPr txBox="1"/>
          <p:nvPr/>
        </p:nvSpPr>
        <p:spPr>
          <a:xfrm>
            <a:off x="868680" y="2167128"/>
            <a:ext cx="5120640" cy="3977639"/>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Semaine 1 : textes de profil en place, fiche Google revendiquée, lien Instagram corrigé.</a:t>
            </a:r>
          </a:p>
          <a:p>
            <a:pPr algn="l">
              <a:lnSpc>
                <a:spcPct val="115000"/>
              </a:lnSpc>
              <a:spcAft>
                <a:spcPts val="600"/>
              </a:spcAft>
            </a:pPr>
            <a:r>
              <a:rPr sz="1150" b="0">
                <a:solidFill>
                  <a:srgbClr val="554346"/>
                </a:solidFill>
                <a:latin typeface="Inter"/>
              </a:rPr>
              <a:t>Semaine 2 : calendrier de 8 publications sur un mois, avec les visuels.</a:t>
            </a:r>
          </a:p>
          <a:p>
            <a:pPr algn="l">
              <a:lnSpc>
                <a:spcPct val="115000"/>
              </a:lnSpc>
              <a:spcAft>
                <a:spcPts val="600"/>
              </a:spcAft>
            </a:pPr>
            <a:r>
              <a:rPr sz="1150" b="0">
                <a:solidFill>
                  <a:srgbClr val="554346"/>
                </a:solidFill>
                <a:latin typeface="Inter"/>
              </a:rPr>
              <a:t>Semaine 3 : page Facebook ouverte, message type pour demander un avis aux clients.</a:t>
            </a:r>
          </a:p>
          <a:p>
            <a:pPr algn="l">
              <a:lnSpc>
                <a:spcPct val="115000"/>
              </a:lnSpc>
              <a:spcAft>
                <a:spcPts val="600"/>
              </a:spcAft>
            </a:pPr>
            <a:r>
              <a:rPr sz="1150" b="0">
                <a:solidFill>
                  <a:srgbClr val="554346"/>
                </a:solidFill>
                <a:latin typeface="Inter"/>
              </a:rPr>
              <a:t>Après 30 jours : point chiffré sur les avis, les messages reçus et les visites du site.</a:t>
            </a:r>
          </a:p>
          <a:p>
            <a:pPr algn="l">
              <a:lnSpc>
                <a:spcPct val="115000"/>
              </a:lnSpc>
              <a:spcAft>
                <a:spcPts val="600"/>
              </a:spcAft>
            </a:pPr>
            <a:r>
              <a:rPr sz="1150" b="1">
                <a:solidFill>
                  <a:srgbClr val="A14643"/>
                </a:solidFill>
                <a:latin typeface="Inter"/>
              </a:rPr>
              <a:t>Ce qu'il me faut de l'agence : 3 à 5 biens disponibles avec photos, l'accès à la fiche Google, le guide de marque s'il existe.</a:t>
            </a:r>
          </a:p>
        </p:txBody>
      </p:sp>
      <p:sp>
        <p:nvSpPr>
          <p:cNvPr id="13" name="Rectangle 12"/>
          <p:cNvSpPr/>
          <p:nvPr/>
        </p:nvSpPr>
        <p:spPr>
          <a:xfrm>
            <a:off x="6309360" y="1600200"/>
            <a:ext cx="5303520" cy="46177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600200"/>
            <a:ext cx="73152" cy="4617720"/>
          </a:xfrm>
          <a:prstGeom prst="rect">
            <a:avLst/>
          </a:prstGeom>
          <a:solidFill>
            <a:srgbClr val="554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737360"/>
            <a:ext cx="4937759"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Sources (consultées le 26 octobre 2026)</a:t>
            </a:r>
          </a:p>
        </p:txBody>
      </p:sp>
      <p:sp>
        <p:nvSpPr>
          <p:cNvPr id="16" name="TextBox 15"/>
          <p:cNvSpPr txBox="1"/>
          <p:nvPr/>
        </p:nvSpPr>
        <p:spPr>
          <a:xfrm>
            <a:off x="6537960" y="2167128"/>
            <a:ext cx="4937759" cy="3977639"/>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auraimmo.com · page LinkedIn aura-immo · profil LinkedIn de Hassan Daher · Instagram @aura.immo · fiche Google Maps AURA IMMO (Marcory) · Go Africa Online · annonce légale AURA IMMO SARL (Fraternité Matin, 14 décembre 2023).</a:t>
            </a:r>
          </a:p>
          <a:p>
            <a:pPr algn="l">
              <a:lnSpc>
                <a:spcPct val="115000"/>
              </a:lnSpc>
              <a:spcAft>
                <a:spcPts val="600"/>
              </a:spcAft>
            </a:pPr>
            <a:r>
              <a:rPr sz="1100" b="0">
                <a:solidFill>
                  <a:srgbClr val="554346"/>
                </a:solidFill>
                <a:latin typeface="Inter"/>
              </a:rPr>
              <a:t>Concurrents : fiches Google, pages Facebook et comptes Instagram publics.</a:t>
            </a:r>
          </a:p>
          <a:p>
            <a:pPr algn="l">
              <a:lnSpc>
                <a:spcPct val="115000"/>
              </a:lnSpc>
              <a:spcAft>
                <a:spcPts val="600"/>
              </a:spcAft>
            </a:pPr>
            <a:r>
              <a:rPr sz="1100" b="0">
                <a:solidFill>
                  <a:srgbClr val="554346"/>
                </a:solidFill>
                <a:latin typeface="Inter"/>
              </a:rPr>
              <a:t>Seuls les chiffres visibles publiquement sont repris. Portée, visites et messages reçus demandent un accès administrateur : ils n'y figurent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