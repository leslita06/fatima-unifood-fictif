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c_gala0.jpg_6092000_6858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000" y="0"/>
            <a:ext cx="60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18000"/>
            <a:ext cx="6100000" cy="140000"/>
          </a:xfrm>
          <a:prstGeom prst="rect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00" y="550000"/>
            <a:ext cx="2200000" cy="10144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0000" y="1750000"/>
            <a:ext cx="53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3200" b="1">
                <a:solidFill>
                  <a:srgbClr val="1C1B1A"/>
                </a:solidFill>
                <a:latin typeface="Poppins"/>
              </a:rPr>
              <a:t>Plan marketing du premier trimestre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3300000"/>
            <a:ext cx="53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F07F2A"/>
                </a:solidFill>
                <a:latin typeface="Poppins"/>
              </a:rPr>
              <a:t>et plan de la campagne principale « Au 7e jour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4400000"/>
            <a:ext cx="53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6E6A66"/>
                </a:solidFill>
                <a:latin typeface="Poppins"/>
              </a:rPr>
              <a:t>Période : du lundi 4 janvier au mercredi 31 mars 2027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6E6A66"/>
                </a:solidFill>
                <a:latin typeface="Poppins"/>
              </a:rPr>
              <a:t>Campagne : du lundi 11 janvier au vendredi 26 mars 2027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6E6A66"/>
                </a:solidFill>
                <a:latin typeface="Poppins"/>
              </a:rPr>
              <a:t>Version 1 du 20 octobre 2026, à valider par la direction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07F2A"/>
                </a:solidFill>
                <a:latin typeface="Poppins"/>
              </a:rPr>
              <a:t>PLAN MARKETING T1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1C1B1A"/>
                </a:solidFill>
                <a:latin typeface="Poppins"/>
              </a:rPr>
              <a:t>Sommaire</a:t>
            </a:r>
          </a:p>
        </p:txBody>
      </p:sp>
      <p:pic>
        <p:nvPicPr>
          <p:cNvPr id="5" name="Picture 4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00" y="260000"/>
            <a:ext cx="900000" cy="41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E6A66"/>
                </a:solidFill>
                <a:latin typeface="Poppins"/>
              </a:rPr>
              <a:t>Origin7  |  Plan marketing du 1er trimestre 2027 et campagne « Au 7e jour »  |  2</a:t>
            </a:r>
          </a:p>
        </p:txBody>
      </p:sp>
      <p:sp>
        <p:nvSpPr>
          <p:cNvPr id="7" name="Oval 6"/>
          <p:cNvSpPr/>
          <p:nvPr/>
        </p:nvSpPr>
        <p:spPr>
          <a:xfrm>
            <a:off x="600000" y="1400000"/>
            <a:ext cx="900000" cy="900000"/>
          </a:xfrm>
          <a:prstGeom prst="ellipse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000" y="1600000"/>
            <a:ext cx="9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0000" y="1450000"/>
            <a:ext cx="6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C1B1A"/>
                </a:solidFill>
                <a:latin typeface="Poppins"/>
              </a:rPr>
              <a:t>Le point de départ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0000" y="19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6E6A66"/>
                </a:solidFill>
                <a:latin typeface="Poppins"/>
              </a:rPr>
              <a:t>Origin7 aujourd'hui, l'enjeu du trimestre, notre 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00000" y="1550000"/>
            <a:ext cx="1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F07F2A"/>
                </a:solidFill>
                <a:latin typeface="Poppins"/>
              </a:rPr>
              <a:t>p. 4 à 7</a:t>
            </a:r>
          </a:p>
        </p:txBody>
      </p:sp>
      <p:sp>
        <p:nvSpPr>
          <p:cNvPr id="12" name="Oval 11"/>
          <p:cNvSpPr/>
          <p:nvPr/>
        </p:nvSpPr>
        <p:spPr>
          <a:xfrm>
            <a:off x="600000" y="2480000"/>
            <a:ext cx="900000" cy="900000"/>
          </a:xfrm>
          <a:prstGeom prst="ellipse">
            <a:avLst/>
          </a:prstGeom>
          <a:solidFill>
            <a:srgbClr val="1C1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0000" y="2680000"/>
            <a:ext cx="9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0000" y="2530000"/>
            <a:ext cx="6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C1B1A"/>
                </a:solidFill>
                <a:latin typeface="Poppins"/>
              </a:rPr>
              <a:t>Le plan marketing du trimestre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0000" y="298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6E6A66"/>
                </a:solidFill>
                <a:latin typeface="Poppins"/>
              </a:rPr>
              <a:t>Objectifs, cibles, message, canaux, calendrier, budget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0000" y="2630000"/>
            <a:ext cx="1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1C1B1A"/>
                </a:solidFill>
                <a:latin typeface="Poppins"/>
              </a:rPr>
              <a:t>p. 8 à 14</a:t>
            </a:r>
          </a:p>
        </p:txBody>
      </p:sp>
      <p:sp>
        <p:nvSpPr>
          <p:cNvPr id="17" name="Oval 16"/>
          <p:cNvSpPr/>
          <p:nvPr/>
        </p:nvSpPr>
        <p:spPr>
          <a:xfrm>
            <a:off x="600000" y="3560000"/>
            <a:ext cx="900000" cy="900000"/>
          </a:xfrm>
          <a:prstGeom prst="ellipse">
            <a:avLst/>
          </a:prstGeom>
          <a:solidFill>
            <a:srgbClr val="B85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0000" y="3760000"/>
            <a:ext cx="9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0000" y="3610000"/>
            <a:ext cx="6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C1B1A"/>
                </a:solidFill>
                <a:latin typeface="Poppins"/>
              </a:rPr>
              <a:t>La campagne « Au 7e jour 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0000" y="406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6E6A66"/>
                </a:solidFill>
                <a:latin typeface="Poppins"/>
              </a:rPr>
              <a:t>Idée, parcours client, contenus, publicité, prospection, calendrier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0000" y="3710000"/>
            <a:ext cx="1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B8561A"/>
                </a:solidFill>
                <a:latin typeface="Poppins"/>
              </a:rPr>
              <a:t>p. 15 à 23</a:t>
            </a:r>
          </a:p>
        </p:txBody>
      </p:sp>
      <p:sp>
        <p:nvSpPr>
          <p:cNvPr id="22" name="Oval 21"/>
          <p:cNvSpPr/>
          <p:nvPr/>
        </p:nvSpPr>
        <p:spPr>
          <a:xfrm>
            <a:off x="600000" y="4640000"/>
            <a:ext cx="900000" cy="900000"/>
          </a:xfrm>
          <a:prstGeom prst="ellipse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0000" y="4840000"/>
            <a:ext cx="9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50000" y="4690000"/>
            <a:ext cx="6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C1B1A"/>
                </a:solidFill>
                <a:latin typeface="Poppins"/>
              </a:rPr>
              <a:t>Le pilotage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50000" y="514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6E6A66"/>
                </a:solidFill>
                <a:latin typeface="Poppins"/>
              </a:rPr>
              <a:t>Tableau de bord, organisation, risques, décisions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00000" y="4790000"/>
            <a:ext cx="1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F07F2A"/>
                </a:solidFill>
                <a:latin typeface="Poppins"/>
              </a:rPr>
              <a:t>p. 24 à 28</a:t>
            </a:r>
          </a:p>
        </p:txBody>
      </p:sp>
      <p:pic>
        <p:nvPicPr>
          <p:cNvPr id="27" name="Picture 26" descr="_c_audience0.jpg_2200000_4300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00" y="1400000"/>
            <a:ext cx="2200000" cy="4300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750000" y="5800000"/>
            <a:ext cx="7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6E6A66"/>
                </a:solidFill>
                <a:latin typeface="Poppins"/>
              </a:rPr>
              <a:t>Synthèse en page 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07F2A"/>
                </a:solidFill>
                <a:latin typeface="Poppins"/>
              </a:rP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1C1B1A"/>
                </a:solidFill>
                <a:latin typeface="Poppins"/>
              </a:rPr>
              <a:t>L'essentiel en une page</a:t>
            </a:r>
          </a:p>
        </p:txBody>
      </p:sp>
      <p:pic>
        <p:nvPicPr>
          <p:cNvPr id="5" name="Picture 4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00" y="260000"/>
            <a:ext cx="900000" cy="41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E6A66"/>
                </a:solidFill>
                <a:latin typeface="Poppins"/>
              </a:rPr>
              <a:t>Origin7  |  Plan marketing du 1er trimestre 2027 et campagne « Au 7e jour »  | 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500000"/>
            <a:ext cx="2600000" cy="3300000"/>
          </a:xfrm>
          <a:prstGeom prst="roundRect">
            <a:avLst/>
          </a:prstGeom>
          <a:solidFill>
            <a:srgbClr val="FB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0000" y="1500000"/>
            <a:ext cx="2600000" cy="100000"/>
          </a:xfrm>
          <a:prstGeom prst="rect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0000" y="1700000"/>
            <a:ext cx="226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F07F2A"/>
                </a:solidFill>
                <a:latin typeface="Poppins"/>
              </a:rPr>
              <a:t>Le constat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000" y="2250000"/>
            <a:ext cx="226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Les entreprises décident de leurs événements tard et changent d'avis souvent. Origin7 livre déjà dans ces conditions : c'est une force que personne ne montre.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0000" y="1500000"/>
            <a:ext cx="2600000" cy="3300000"/>
          </a:xfrm>
          <a:prstGeom prst="roundRect">
            <a:avLst/>
          </a:prstGeom>
          <a:solidFill>
            <a:srgbClr val="FB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00000" y="1500000"/>
            <a:ext cx="2600000" cy="100000"/>
          </a:xfrm>
          <a:prstGeom prst="rect">
            <a:avLst/>
          </a:prstGeom>
          <a:solidFill>
            <a:srgbClr val="1C1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0000" y="1700000"/>
            <a:ext cx="226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1C1B1A"/>
                </a:solidFill>
                <a:latin typeface="Poppins"/>
              </a:rPr>
              <a:t>L'objectif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0000" y="2250000"/>
            <a:ext cx="226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40 demandes de devis qualifiées, 25 rendez-vous et 8 contrats signés entre janvier et mars 2027, pour remplir le calendrier du premier semestre.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0000" y="1500000"/>
            <a:ext cx="2600000" cy="3300000"/>
          </a:xfrm>
          <a:prstGeom prst="roundRect">
            <a:avLst/>
          </a:prstGeom>
          <a:solidFill>
            <a:srgbClr val="FB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0000" y="1500000"/>
            <a:ext cx="2600000" cy="100000"/>
          </a:xfrm>
          <a:prstGeom prst="rect">
            <a:avLst/>
          </a:prstGeom>
          <a:solidFill>
            <a:srgbClr val="B85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0000" y="1700000"/>
            <a:ext cx="226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B8561A"/>
                </a:solidFill>
                <a:latin typeface="Poppins"/>
              </a:rPr>
              <a:t>La campagne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000" y="2250000"/>
            <a:ext cx="226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« Au 7e jour » : on montre les coulisses d'événements livrés à temps, et on propose aux directions un rendez-vous pour bâtir leur calendrier 2027.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0000" y="1500000"/>
            <a:ext cx="2600000" cy="3300000"/>
          </a:xfrm>
          <a:prstGeom prst="roundRect">
            <a:avLst/>
          </a:prstGeom>
          <a:solidFill>
            <a:srgbClr val="FB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0000" y="1500000"/>
            <a:ext cx="2600000" cy="100000"/>
          </a:xfrm>
          <a:prstGeom prst="rect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0000" y="1700000"/>
            <a:ext cx="226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F07F2A"/>
                </a:solidFill>
                <a:latin typeface="Poppins"/>
              </a:rPr>
              <a:t>Le budget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0000" y="2250000"/>
            <a:ext cx="226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6 000 000 F CFA sur le trimestre, dont 4 500 000 F pour la campagne et 700 000 F de réserve, débloquée le 15 février selon les résultats.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0000" y="5000000"/>
            <a:ext cx="11000000" cy="850000"/>
          </a:xfrm>
          <a:prstGeom prst="roundRect">
            <a:avLst/>
          </a:prstGeom>
          <a:solidFill>
            <a:srgbClr val="1C1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5100000"/>
            <a:ext cx="106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Poppins"/>
              </a:rPr>
              <a:t>La promesse :</a:t>
            </a:r>
            <a:r>
              <a:rPr sz="1400" b="0">
                <a:solidFill>
                  <a:srgbClr val="FFFFFF"/>
                </a:solidFill>
                <a:latin typeface="Poppins"/>
              </a:rPr>
              <a:t> « Votre événement est prêt le jour J, même quand tout s'est décidé la veille. » Origin7 transforme sa réalité quotidienne en argument de vente.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B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c_stage2.jpg_5492000_6858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000" y="0"/>
            <a:ext cx="54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0000" y="2000000"/>
            <a:ext cx="5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F07F2A"/>
                </a:solidFill>
                <a:latin typeface="Poppins"/>
              </a:rPr>
              <a:t>PARTIE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2600000"/>
            <a:ext cx="58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Poppins"/>
              </a:rPr>
              <a:t>Le point de départ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3900000"/>
            <a:ext cx="58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Poppins"/>
              </a:rPr>
              <a:t>Ce qu'est Origin7 aujourd'hui, ce qui se joue au premier trimestre et notre situation.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07F2A"/>
                </a:solidFill>
                <a:latin typeface="Poppins"/>
              </a:rPr>
              <a:t>PARTIE 1 | LE POINT DE DÉPART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1C1B1A"/>
                </a:solidFill>
                <a:latin typeface="Poppins"/>
              </a:rPr>
              <a:t>Origin7 aujourd'hui</a:t>
            </a:r>
          </a:p>
        </p:txBody>
      </p:sp>
      <p:pic>
        <p:nvPicPr>
          <p:cNvPr id="5" name="Picture 4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00" y="260000"/>
            <a:ext cx="900000" cy="41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E6A66"/>
                </a:solidFill>
                <a:latin typeface="Poppins"/>
              </a:rPr>
              <a:t>Origin7  |  Plan marketing du 1er trimestre 2027 et campagne « Au 7e jour »  |  5</a:t>
            </a:r>
          </a:p>
        </p:txBody>
      </p:sp>
      <p:pic>
        <p:nvPicPr>
          <p:cNvPr id="7" name="Picture 6" descr="_c_team3.jpg_4300000_4450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000" y="1450000"/>
            <a:ext cx="4300000" cy="44500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0000" y="1450000"/>
          <a:ext cx="6400000" cy="41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4600000"/>
              </a:tblGrid>
              <a:tr h="59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Élément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Ce qu'il faut retenir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</a:tr>
              <a:tr h="59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Métier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Agence de communication à Abidjan (Cocody, Riviera Triangle), forte en événementiel et expériences de marque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  <a:tr h="59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Six expertises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Conseil, publicité et création, digital, événementiel, branding territorial, marketing politique et institutionnel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9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Références visibles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Abidjan Laguna Show, Africa Digital Week, projets de branding territorial (AOEF, city branding)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  <a:tr h="59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Offre événementielle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Lancements de produits, salons, forums, conférences, soirées d'entreprise, événements phygitaux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9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Réalité du métier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Demandes tardives, délais très courts, supports souvent livrés la veille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  <a:tr h="59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Signature de marque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« Au commencement des plus belles œuvres », inspirée des 7 jours de la création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07F2A"/>
                </a:solidFill>
                <a:latin typeface="Poppins"/>
              </a:rPr>
              <a:t>PARTIE 1 | LE POINT DE DÉPART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1C1B1A"/>
                </a:solidFill>
                <a:latin typeface="Poppins"/>
              </a:rPr>
              <a:t>Ce qui se joue au premier trimestre</a:t>
            </a:r>
          </a:p>
        </p:txBody>
      </p:sp>
      <p:pic>
        <p:nvPicPr>
          <p:cNvPr id="5" name="Picture 4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00" y="260000"/>
            <a:ext cx="900000" cy="41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E6A66"/>
                </a:solidFill>
                <a:latin typeface="Poppins"/>
              </a:rPr>
              <a:t>Origin7  |  Plan marketing du 1er trimestre 2027 et campagne « Au 7e jour »  |  6</a:t>
            </a:r>
          </a:p>
        </p:txBody>
      </p:sp>
      <p:pic>
        <p:nvPicPr>
          <p:cNvPr id="7" name="Picture 6" descr="_c_meeting2.jpg_4100000_4450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000" y="1450000"/>
            <a:ext cx="4100000" cy="445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0000" y="1450000"/>
            <a:ext cx="6600000" cy="4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C1B1A"/>
                </a:solidFill>
                <a:latin typeface="Poppins"/>
              </a:rPr>
              <a:t>Janvier : les budgets 2027 s'ouvrent.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C1B1A"/>
                </a:solidFill>
                <a:latin typeface="Poppins"/>
              </a:rPr>
              <a:t>Les directions marketing et communication arrêtent leurs actions de l'année. Une agence présente à ce moment-là entre dans le calendrier ; une agence absente attend la prochaine urgence.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C1B1A"/>
                </a:solidFill>
                <a:latin typeface="Poppins"/>
              </a:rPr>
              <a:t>Février et mars : les premiers événements de l'année.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C1B1A"/>
                </a:solidFill>
                <a:latin typeface="Poppins"/>
              </a:rPr>
              <a:t>Cérémonies de vœux tardives, conventions commerciales, lancements de produits, la Journée internationale des femmes le 8 mars, et la fin du ramadan, propice aux rencontres clients.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C1B1A"/>
                </a:solidFill>
                <a:latin typeface="Poppins"/>
              </a:rPr>
              <a:t>Ce qu'il faut viser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C1B1A"/>
                </a:solidFill>
                <a:latin typeface="Poppins"/>
              </a:rPr>
              <a:t>Être l'agence à laquelle on pense en premier, et celle qu'on appelle quand tout presse. Les deux se préparent maintenant.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07F2A"/>
                </a:solidFill>
                <a:latin typeface="Poppins"/>
              </a:rPr>
              <a:t>PARTIE 1 | LE POINT DE DÉPART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1C1B1A"/>
                </a:solidFill>
                <a:latin typeface="Poppins"/>
              </a:rPr>
              <a:t>Notre situation, en quatre cases</a:t>
            </a:r>
          </a:p>
        </p:txBody>
      </p:sp>
      <p:pic>
        <p:nvPicPr>
          <p:cNvPr id="5" name="Picture 4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00" y="260000"/>
            <a:ext cx="900000" cy="41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E6A66"/>
                </a:solidFill>
                <a:latin typeface="Poppins"/>
              </a:rPr>
              <a:t>Origin7  |  Plan marketing du 1er trimestre 2027 et campagne « Au 7e jour »  | 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450000"/>
            <a:ext cx="5400000" cy="2100000"/>
          </a:xfrm>
          <a:prstGeom prst="roundRect">
            <a:avLst/>
          </a:prstGeom>
          <a:solidFill>
            <a:srgbClr val="FB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0000" y="1450000"/>
            <a:ext cx="120000" cy="2100000"/>
          </a:xfrm>
          <a:prstGeom prst="rect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1570000"/>
            <a:ext cx="4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F07F2A"/>
                </a:solidFill>
                <a:latin typeface="Poppins"/>
              </a:rPr>
              <a:t>Forces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2050000"/>
            <a:ext cx="4900000" cy="1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C1B1A"/>
                </a:solidFill>
                <a:latin typeface="Poppins"/>
              </a:rPr>
              <a:t>Références d'envergure (Abidjan Laguna Show, Africa Digital Week)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C1B1A"/>
                </a:solidFill>
                <a:latin typeface="Poppins"/>
              </a:rPr>
              <a:t>Six expertises sous un même toit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C1B1A"/>
                </a:solidFill>
                <a:latin typeface="Poppins"/>
              </a:rPr>
              <a:t>Capacité prouvée à livrer dans l'urgence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0000" y="1450000"/>
            <a:ext cx="5400000" cy="2100000"/>
          </a:xfrm>
          <a:prstGeom prst="roundRect">
            <a:avLst/>
          </a:prstGeom>
          <a:solidFill>
            <a:srgbClr val="FB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0000" y="1450000"/>
            <a:ext cx="120000" cy="2100000"/>
          </a:xfrm>
          <a:prstGeom prst="rect">
            <a:avLst/>
          </a:prstGeom>
          <a:solidFill>
            <a:srgbClr val="B85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0000" y="1570000"/>
            <a:ext cx="4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B8561A"/>
                </a:solidFill>
                <a:latin typeface="Poppins"/>
              </a:rPr>
              <a:t>Faiblesses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0000" y="2050000"/>
            <a:ext cx="4900000" cy="1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C1B1A"/>
                </a:solidFill>
                <a:latin typeface="Poppins"/>
              </a:rPr>
              <a:t>Peu de contenus qui montrent le savoir-faire événementiel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C1B1A"/>
                </a:solidFill>
                <a:latin typeface="Poppins"/>
              </a:rPr>
              <a:t>Demandes surtout entrantes, peu de prospection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C1B1A"/>
                </a:solidFill>
                <a:latin typeface="Poppins"/>
              </a:rPr>
              <a:t>Urgences subies, rarement facturées comme telles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0000" y="3700000"/>
            <a:ext cx="5400000" cy="2100000"/>
          </a:xfrm>
          <a:prstGeom prst="roundRect">
            <a:avLst/>
          </a:prstGeom>
          <a:solidFill>
            <a:srgbClr val="FB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0000" y="3700000"/>
            <a:ext cx="120000" cy="2100000"/>
          </a:xfrm>
          <a:prstGeom prst="rect">
            <a:avLst/>
          </a:prstGeom>
          <a:solidFill>
            <a:srgbClr val="3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000" y="3820000"/>
            <a:ext cx="4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3A3633"/>
                </a:solidFill>
                <a:latin typeface="Poppins"/>
              </a:rPr>
              <a:t>Opportunités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000" y="4300000"/>
            <a:ext cx="4900000" cy="1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C1B1A"/>
                </a:solidFill>
                <a:latin typeface="Poppins"/>
              </a:rPr>
              <a:t>Budgets 2027 votés en janvier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C1B1A"/>
                </a:solidFill>
                <a:latin typeface="Poppins"/>
              </a:rPr>
              <a:t>Entreprises qui cherchent un seul interlocuteur pour tout gérer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C1B1A"/>
                </a:solidFill>
                <a:latin typeface="Poppins"/>
              </a:rPr>
              <a:t>LinkedIn très suivi par les décideurs à Abidjan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0000" y="3700000"/>
            <a:ext cx="5400000" cy="2100000"/>
          </a:xfrm>
          <a:prstGeom prst="roundRect">
            <a:avLst/>
          </a:prstGeom>
          <a:solidFill>
            <a:srgbClr val="FB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0000" y="3700000"/>
            <a:ext cx="120000" cy="2100000"/>
          </a:xfrm>
          <a:prstGeom prst="rect">
            <a:avLst/>
          </a:prstGeom>
          <a:solidFill>
            <a:srgbClr val="1C1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0000" y="3820000"/>
            <a:ext cx="4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C1B1A"/>
                </a:solidFill>
                <a:latin typeface="Poppins"/>
              </a:rPr>
              <a:t>Menaces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0000" y="4300000"/>
            <a:ext cx="4900000" cy="1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C1B1A"/>
                </a:solidFill>
                <a:latin typeface="Poppins"/>
              </a:rPr>
              <a:t>Concurrence nombreuse sur l'événementiel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C1B1A"/>
                </a:solidFill>
                <a:latin typeface="Poppins"/>
              </a:rPr>
              <a:t>Guerre des prix sur les petits événements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C1B1A"/>
                </a:solidFill>
                <a:latin typeface="Poppins"/>
              </a:rPr>
              <a:t>Équipe absorbée par la production, au détriment de la prospection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B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c_audience2.jpg_5492000_6858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000" y="0"/>
            <a:ext cx="54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0000" y="2000000"/>
            <a:ext cx="5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F07F2A"/>
                </a:solidFill>
                <a:latin typeface="Poppins"/>
              </a:rPr>
              <a:t>PARTIE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2600000"/>
            <a:ext cx="58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Poppins"/>
              </a:rPr>
              <a:t>Le plan marketing du trimestre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3900000"/>
            <a:ext cx="58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Poppins"/>
              </a:rPr>
              <a:t>Objectifs, cibles, positionnement, canaux, calendrier et budget.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07F2A"/>
                </a:solidFill>
                <a:latin typeface="Poppins"/>
              </a:rPr>
              <a:t>PARTIE 2 | LE PLAN DU TRIMESTRE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1C1B1A"/>
                </a:solidFill>
                <a:latin typeface="Poppins"/>
              </a:rPr>
              <a:t>Cinq objectifs, chacun mesuré</a:t>
            </a:r>
          </a:p>
        </p:txBody>
      </p:sp>
      <p:pic>
        <p:nvPicPr>
          <p:cNvPr id="5" name="Picture 4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00" y="260000"/>
            <a:ext cx="900000" cy="41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E6A66"/>
                </a:solidFill>
                <a:latin typeface="Poppins"/>
              </a:rPr>
              <a:t>Origin7  |  Plan marketing du 1er trimestre 2027 et campagne « Au 7e jour »  | 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0000" y="1500000"/>
          <a:ext cx="11000000" cy="3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0000"/>
                <a:gridCol w="3300000"/>
                <a:gridCol w="2500000"/>
                <a:gridCol w="2300000"/>
              </a:tblGrid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oppins"/>
                        </a:rPr>
                        <a:t>Objectif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oppins"/>
                        </a:rPr>
                        <a:t>Indicateur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oppins"/>
                        </a:rPr>
                        <a:t>Cible au 31 mars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oppins"/>
                        </a:rPr>
                        <a:t>Où on le lit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61A"/>
                          </a:solidFill>
                          <a:latin typeface="Poppins"/>
                        </a:rPr>
                        <a:t>Générer des demandes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B1A"/>
                          </a:solidFill>
                          <a:latin typeface="Poppins"/>
                        </a:rPr>
                        <a:t>Demandes de devis qualifiées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B1A"/>
                          </a:solidFill>
                          <a:latin typeface="Poppins"/>
                        </a:rPr>
                        <a:t>40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B1A"/>
                          </a:solidFill>
                          <a:latin typeface="Poppins"/>
                        </a:rPr>
                        <a:t>Fichier de suivi commercial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61A"/>
                          </a:solidFill>
                          <a:latin typeface="Poppins"/>
                        </a:rPr>
                        <a:t>Rencontrer les décideurs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B1A"/>
                          </a:solidFill>
                          <a:latin typeface="Poppins"/>
                        </a:rPr>
                        <a:t>Rendez-vous tenus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B1A"/>
                          </a:solidFill>
                          <a:latin typeface="Poppins"/>
                        </a:rPr>
                        <a:t>25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B1A"/>
                          </a:solidFill>
                          <a:latin typeface="Poppins"/>
                        </a:rPr>
                        <a:t>Agenda commercial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61A"/>
                          </a:solidFill>
                          <a:latin typeface="Poppins"/>
                        </a:rPr>
                        <a:t>Signer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B1A"/>
                          </a:solidFill>
                          <a:latin typeface="Poppins"/>
                        </a:rPr>
                        <a:t>Contrats signés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B1A"/>
                          </a:solidFill>
                          <a:latin typeface="Poppins"/>
                        </a:rPr>
                        <a:t>8, dont 3 nouveaux clients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B1A"/>
                          </a:solidFill>
                          <a:latin typeface="Poppins"/>
                        </a:rPr>
                        <a:t>Bons de commande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61A"/>
                          </a:solidFill>
                          <a:latin typeface="Poppins"/>
                        </a:rPr>
                        <a:t>Être visible auprès des décideurs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B1A"/>
                          </a:solidFill>
                          <a:latin typeface="Poppins"/>
                        </a:rPr>
                        <a:t>Abonnés LinkedIn gagnés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B1A"/>
                          </a:solidFill>
                          <a:latin typeface="Poppins"/>
                        </a:rPr>
                        <a:t>+1 500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B1A"/>
                          </a:solidFill>
                          <a:latin typeface="Poppins"/>
                        </a:rPr>
                        <a:t>Statistiques LinkedIn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61A"/>
                          </a:solidFill>
                          <a:latin typeface="Poppins"/>
                        </a:rPr>
                        <a:t>Entretenir le lien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B1A"/>
                          </a:solidFill>
                          <a:latin typeface="Poppins"/>
                        </a:rPr>
                        <a:t>Taux d'ouverture de la lettre mensuelle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B1A"/>
                          </a:solidFill>
                          <a:latin typeface="Poppins"/>
                        </a:rPr>
                        <a:t>35 %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B1A"/>
                          </a:solidFill>
                          <a:latin typeface="Poppins"/>
                        </a:rPr>
                        <a:t>Outil d'e-mailing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0000" y="505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6E6A66"/>
                </a:solidFill>
                <a:latin typeface="Poppins"/>
              </a:rPr>
              <a:t>Une demande est « qualifiée » si elle a un budget, une date et un décideur identifié. Point de suivi chaque lundi à 9 h, à partir du 11 janvier.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07F2A"/>
                </a:solidFill>
                <a:latin typeface="Poppins"/>
              </a:rPr>
              <a:t>PARTIE 2 | LE PLAN DU TRIMESTRE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1C1B1A"/>
                </a:solidFill>
                <a:latin typeface="Poppins"/>
              </a:rPr>
              <a:t>Les cibles, en trois portraits</a:t>
            </a:r>
          </a:p>
        </p:txBody>
      </p:sp>
      <p:pic>
        <p:nvPicPr>
          <p:cNvPr id="5" name="Picture 4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00" y="260000"/>
            <a:ext cx="900000" cy="41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E6A66"/>
                </a:solidFill>
                <a:latin typeface="Poppins"/>
              </a:rPr>
              <a:t>Origin7  |  Plan marketing du 1er trimestre 2027 et campagne « Au 7e jour »  |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450000"/>
            <a:ext cx="3500000" cy="4450000"/>
          </a:xfrm>
          <a:prstGeom prst="roundRect">
            <a:avLst/>
          </a:prstGeom>
          <a:solidFill>
            <a:srgbClr val="FB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0000" y="1450000"/>
            <a:ext cx="3500000" cy="100000"/>
          </a:xfrm>
          <a:prstGeom prst="rect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0000" y="1650000"/>
            <a:ext cx="31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F07F2A"/>
                </a:solidFill>
                <a:latin typeface="Poppins"/>
              </a:rPr>
              <a:t>Nadia, 38 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000" y="2050000"/>
            <a:ext cx="3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6E6A66"/>
                </a:solidFill>
                <a:latin typeface="Poppins"/>
              </a:rPr>
              <a:t>DIRECTRICE COMMUNICATION, GRAND GROUPE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0000" y="2650000"/>
            <a:ext cx="315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Organise 6 à 10 événements par an : conventions, lancements, soirées clients. Arbitre ses agences en janvier.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C1B1A"/>
                </a:solidFill>
                <a:latin typeface="Poppins"/>
              </a:rPr>
              <a:t>Ce qui la convainc :</a:t>
            </a:r>
            <a:r>
              <a:rPr sz="1200" b="0">
                <a:solidFill>
                  <a:srgbClr val="1C1B1A"/>
                </a:solidFill>
                <a:latin typeface="Poppins"/>
              </a:rPr>
              <a:t> des références solides, un interlocuteur unique, la sécurité d'une agence qui ne rate pas une date.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0000" y="1450000"/>
            <a:ext cx="3500000" cy="4450000"/>
          </a:xfrm>
          <a:prstGeom prst="roundRect">
            <a:avLst/>
          </a:prstGeom>
          <a:solidFill>
            <a:srgbClr val="FB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0000" y="1450000"/>
            <a:ext cx="3500000" cy="100000"/>
          </a:xfrm>
          <a:prstGeom prst="rect">
            <a:avLst/>
          </a:prstGeom>
          <a:solidFill>
            <a:srgbClr val="1C1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0000" y="1650000"/>
            <a:ext cx="31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1C1B1A"/>
                </a:solidFill>
                <a:latin typeface="Poppins"/>
              </a:rPr>
              <a:t>M. Bamba, 50 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0000" y="2050000"/>
            <a:ext cx="3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6E6A66"/>
                </a:solidFill>
                <a:latin typeface="Poppins"/>
              </a:rPr>
              <a:t>DIRECTEUR GÉNÉRAL, ENTREPRISE MOYENNE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0000" y="2650000"/>
            <a:ext cx="315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Décide seul et tard. Un anniversaire d'entreprise ou un lancement se décide souvent à trois semaines de l'échéance.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C1B1A"/>
                </a:solidFill>
                <a:latin typeface="Poppins"/>
              </a:rPr>
              <a:t>Ce qui le convainc :</a:t>
            </a:r>
            <a:r>
              <a:rPr sz="1200" b="0">
                <a:solidFill>
                  <a:srgbClr val="1C1B1A"/>
                </a:solidFill>
                <a:latin typeface="Poppins"/>
              </a:rPr>
              <a:t> la rapidité de réponse, un devis clair en 48 heures, des exemples concrets.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0000" y="1450000"/>
            <a:ext cx="3500000" cy="4450000"/>
          </a:xfrm>
          <a:prstGeom prst="roundRect">
            <a:avLst/>
          </a:prstGeom>
          <a:solidFill>
            <a:srgbClr val="FB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0000" y="1450000"/>
            <a:ext cx="3500000" cy="100000"/>
          </a:xfrm>
          <a:prstGeom prst="rect">
            <a:avLst/>
          </a:prstGeom>
          <a:solidFill>
            <a:srgbClr val="B85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70000" y="1650000"/>
            <a:ext cx="31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B8561A"/>
                </a:solidFill>
                <a:latin typeface="Poppins"/>
              </a:rPr>
              <a:t>Mme Koné, 45 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0000" y="2050000"/>
            <a:ext cx="3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6E6A66"/>
                </a:solidFill>
                <a:latin typeface="Poppins"/>
              </a:rPr>
              <a:t>RESPONSABLE D'UNE INSTITUTION OU D'UN ORGANISME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0000" y="2650000"/>
            <a:ext cx="315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Forums, conférences, cérémonies officielles. Procédures d'achat, protocole, présence de personnalités.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C1B1A"/>
                </a:solidFill>
                <a:latin typeface="Poppins"/>
              </a:rPr>
              <a:t>Ce qui la convainc :</a:t>
            </a:r>
            <a:r>
              <a:rPr sz="1200" b="0">
                <a:solidFill>
                  <a:srgbClr val="1C1B1A"/>
                </a:solidFill>
                <a:latin typeface="Poppins"/>
              </a:rPr>
              <a:t> l'expérience des grands formats, la maîtrise du protocole, la tenue des délais.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07F2A"/>
                </a:solidFill>
                <a:latin typeface="Poppins"/>
              </a:rPr>
              <a:t>PARTIE 2 | LE PLAN DU TRIMESTRE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1C1B1A"/>
                </a:solidFill>
                <a:latin typeface="Poppins"/>
              </a:rPr>
              <a:t>Le positionnement et le message</a:t>
            </a:r>
          </a:p>
        </p:txBody>
      </p:sp>
      <p:pic>
        <p:nvPicPr>
          <p:cNvPr id="5" name="Picture 4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00" y="260000"/>
            <a:ext cx="900000" cy="41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E6A66"/>
                </a:solidFill>
                <a:latin typeface="Poppins"/>
              </a:rPr>
              <a:t>Origin7  |  Plan marketing du 1er trimestre 2027 et campagne « Au 7e jour »  |  11</a:t>
            </a:r>
          </a:p>
        </p:txBody>
      </p:sp>
      <p:pic>
        <p:nvPicPr>
          <p:cNvPr id="7" name="Picture 6" descr="_c_network3.jpg_4000000_4450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000" y="1450000"/>
            <a:ext cx="4000000" cy="445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0000" y="1450000"/>
            <a:ext cx="6700000" cy="4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C1B1A"/>
                </a:solidFill>
                <a:latin typeface="Poppins"/>
              </a:rPr>
              <a:t>Positionnement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C1B1A"/>
                </a:solidFill>
                <a:latin typeface="Poppins"/>
              </a:rPr>
              <a:t>L'agence événementielle qui livre à temps, même quand tout se décide au dernier moment.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C1B1A"/>
                </a:solidFill>
                <a:latin typeface="Poppins"/>
              </a:rPr>
              <a:t>Promesse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C1B1A"/>
                </a:solidFill>
                <a:latin typeface="Poppins"/>
              </a:rPr>
              <a:t>« Votre événement est prêt le jour J, même quand tout s'est décidé la veille. »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C1B1A"/>
                </a:solidFill>
                <a:latin typeface="Poppins"/>
              </a:rPr>
              <a:t>Preuves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C1B1A"/>
                </a:solidFill>
                <a:latin typeface="Poppins"/>
              </a:rPr>
              <a:t>Des événements de grande taille déjà livrés ; une équipe qui produit en interne (création, digital, scène) ; des délais tenus, montrés en coulisses.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C1B1A"/>
                </a:solidFill>
                <a:latin typeface="Poppins"/>
              </a:rPr>
              <a:t>Ton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C1B1A"/>
                </a:solidFill>
                <a:latin typeface="Poppins"/>
              </a:rPr>
              <a:t>Sûr de lui, calme, concret. On montre plutôt qu'on affirme.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C1B1A"/>
                </a:solidFill>
                <a:latin typeface="Poppins"/>
              </a:rPr>
              <a:t>Signature de la campagne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C1B1A"/>
                </a:solidFill>
                <a:latin typeface="Poppins"/>
              </a:rPr>
              <a:t>« Au commencement, une idée. Au 7e jour, l'événement. 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07F2A"/>
                </a:solidFill>
                <a:latin typeface="Poppins"/>
              </a:rPr>
              <a:t>PARTIE 2 | LE PLAN DU TRIMESTRE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1C1B1A"/>
                </a:solidFill>
                <a:latin typeface="Poppins"/>
              </a:rPr>
              <a:t>Les canaux, et le rôle de chacun</a:t>
            </a:r>
          </a:p>
        </p:txBody>
      </p:sp>
      <p:pic>
        <p:nvPicPr>
          <p:cNvPr id="5" name="Picture 4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00" y="260000"/>
            <a:ext cx="900000" cy="41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E6A66"/>
                </a:solidFill>
                <a:latin typeface="Poppins"/>
              </a:rPr>
              <a:t>Origin7  |  Plan marketing du 1er trimestre 2027 et campagne « Au 7e jour »  | 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0000" y="1450000"/>
          <a:ext cx="11000000" cy="4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000"/>
                <a:gridCol w="3100000"/>
                <a:gridCol w="2700000"/>
                <a:gridCol w="2600000"/>
              </a:tblGrid>
              <a:tr h="5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Canal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Rôle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Rythme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Pour qui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LinkedIn (page et dirigeants)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Crédibilité, coulisses, cas clients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4 publications par semaine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Directions com et générales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Instagram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Images fortes des événements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3 publications et stories par semaine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Communicants, partenaires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Prospection directe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Rendez-vous avec les comptes ciblés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150 entreprises sur le trimestre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Grands comptes, institutions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Lettre mensuelle par e-mail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Rester présent dans l'esprit des clients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1 par mois (janvier, février, mars)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Clients et contacts existants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Petits-déjeuners Origin7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Rencontre physique, preuve par l'accueil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2 éditions de 25 invités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Décideurs ciblés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Site origin7.com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Recevoir les demandes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Page campagne et formulaire de devis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Tous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Relations presse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Notoriété du dirigeant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1 tribune par mois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Presse économique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07F2A"/>
                </a:solidFill>
                <a:latin typeface="Poppins"/>
              </a:rPr>
              <a:t>PARTIE 2 | LE PLAN DU TRIMESTRE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1C1B1A"/>
                </a:solidFill>
                <a:latin typeface="Poppins"/>
              </a:rPr>
              <a:t>Le trimestre, mois par mois</a:t>
            </a:r>
          </a:p>
        </p:txBody>
      </p:sp>
      <p:pic>
        <p:nvPicPr>
          <p:cNvPr id="5" name="Picture 4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00" y="260000"/>
            <a:ext cx="900000" cy="41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E6A66"/>
                </a:solidFill>
                <a:latin typeface="Poppins"/>
              </a:rPr>
              <a:t>Origin7  |  Plan marketing du 1er trimestre 2027 et campagne « Au 7e jour »  |  13</a:t>
            </a:r>
          </a:p>
        </p:txBody>
      </p:sp>
      <p:pic>
        <p:nvPicPr>
          <p:cNvPr id="7" name="Picture 6" descr="_c_gala5.jpg_3500000_1600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00" y="1450000"/>
            <a:ext cx="3500000" cy="160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0000" y="3050000"/>
            <a:ext cx="3500000" cy="2900000"/>
          </a:xfrm>
          <a:prstGeom prst="rect">
            <a:avLst/>
          </a:prstGeom>
          <a:solidFill>
            <a:srgbClr val="FB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0000" y="315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F07F2A"/>
                </a:solidFill>
                <a:latin typeface="Poppins"/>
              </a:rPr>
              <a:t>JANVIER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0000" y="3560000"/>
            <a:ext cx="3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6E6A66"/>
                </a:solidFill>
                <a:latin typeface="Poppins"/>
              </a:rPr>
              <a:t>Se faire voir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0000" y="3950000"/>
            <a:ext cx="3200000" cy="1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Vœux d'Origin7 en vidéo (lundi 4)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Lancement de la campagne (lundi 11)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Prise de contact avec les 50 premiers comptes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Lettre de janvier : « Vos dates 2027 »</a:t>
            </a:r>
          </a:p>
        </p:txBody>
      </p:sp>
      <p:pic>
        <p:nvPicPr>
          <p:cNvPr id="12" name="Picture 11" descr="_c_meeting4.jpg_3500000_16000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0000" y="1450000"/>
            <a:ext cx="3500000" cy="1600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300000" y="3050000"/>
            <a:ext cx="3500000" cy="2900000"/>
          </a:xfrm>
          <a:prstGeom prst="rect">
            <a:avLst/>
          </a:prstGeom>
          <a:solidFill>
            <a:srgbClr val="FB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0000" y="315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1C1B1A"/>
                </a:solidFill>
                <a:latin typeface="Poppins"/>
              </a:rPr>
              <a:t>FÉVRIER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0000" y="3560000"/>
            <a:ext cx="3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6E6A66"/>
                </a:solidFill>
                <a:latin typeface="Poppins"/>
              </a:rPr>
              <a:t>Faire venir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0000" y="3950000"/>
            <a:ext cx="3200000" cy="1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1er petit-déjeuner Origin7 (jeudi 18)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Série vidéo « La veille du jour J »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50 comptes de plus en prospection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Point de mi-parcours et réserve (lundi 15)</a:t>
            </a:r>
          </a:p>
        </p:txBody>
      </p:sp>
      <p:pic>
        <p:nvPicPr>
          <p:cNvPr id="17" name="Picture 16" descr="_c_network2.jpg_3500000_160000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0000" y="1450000"/>
            <a:ext cx="3500000" cy="16000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8000000" y="3050000"/>
            <a:ext cx="3500000" cy="2900000"/>
          </a:xfrm>
          <a:prstGeom prst="rect">
            <a:avLst/>
          </a:prstGeom>
          <a:solidFill>
            <a:srgbClr val="FB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0000" y="315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B8561A"/>
                </a:solidFill>
                <a:latin typeface="Poppins"/>
              </a:rPr>
              <a:t>MARS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0000" y="3560000"/>
            <a:ext cx="3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6E6A66"/>
                </a:solidFill>
                <a:latin typeface="Poppins"/>
              </a:rPr>
              <a:t>Faire signer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0000" y="3950000"/>
            <a:ext cx="3200000" cy="1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Contenus autour du 8 mars et de la fin du ramadan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2e petit-déjeuner (jeudi 25)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Relance de tous les devis en attente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Bilan le mercredi 31 mars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07F2A"/>
                </a:solidFill>
                <a:latin typeface="Poppins"/>
              </a:rPr>
              <a:t>PARTIE 2 | LE PLAN DU TRIMESTRE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1C1B1A"/>
                </a:solidFill>
                <a:latin typeface="Poppins"/>
              </a:rPr>
              <a:t>Le budget du trimestre : 6 000 000 F CFA</a:t>
            </a:r>
          </a:p>
        </p:txBody>
      </p:sp>
      <p:pic>
        <p:nvPicPr>
          <p:cNvPr id="5" name="Picture 4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00" y="260000"/>
            <a:ext cx="900000" cy="41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E6A66"/>
                </a:solidFill>
                <a:latin typeface="Poppins"/>
              </a:rPr>
              <a:t>Origin7  |  Plan marketing du 1er trimestre 2027 et campagne « Au 7e jour »  | 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0000" y="1350000"/>
          <a:ext cx="7400000" cy="41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000"/>
                <a:gridCol w="3500000"/>
                <a:gridCol w="1600000"/>
              </a:tblGrid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Poste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Ligne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Montant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Campagne « Au 7e jour »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Publicité LinkedIn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1 500 000 F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/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Publicité Facebook et Instagram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700 000 F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/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Vidéos et photos des coulisses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1 200 000 F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/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Deux petits-déjeuners Origin7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1 000 000 F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/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Page campagne sur le site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100 000 F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Fonctionnement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Plaquette et cartes imprimées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400 000 F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/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Outil d'e-mailing et suivi commercial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200 000 F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/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Relations presse et tribunes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200 000 F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Réserve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Débloquée le 15 février selon les résultats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700 000 F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Total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6 000 000 F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00000" y="1400000"/>
            <a:ext cx="33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C1B1A"/>
                </a:solidFill>
                <a:latin typeface="Poppins"/>
              </a:rPr>
              <a:t>Répartition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Campagne : 75 %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Fonctionnement : 13 %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Réserve : 12 %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C1B1A"/>
                </a:solidFill>
                <a:latin typeface="Poppins"/>
              </a:rPr>
              <a:t>Ce qui n'est pas compté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Le temps de l'équipe : 1 personne à mi-temps sur les réseaux et 1 personne à mi-temps sur la prospection.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C1B1A"/>
                </a:solidFill>
                <a:latin typeface="Poppins"/>
              </a:rPr>
              <a:t>Règle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La publicité s'arrête sur tout format qui coûte plus de 150 000 F par demande qualifiée.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B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c_gala3.jpg_5492000_6858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000" y="0"/>
            <a:ext cx="54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0000" y="2000000"/>
            <a:ext cx="5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F07F2A"/>
                </a:solidFill>
                <a:latin typeface="Poppins"/>
              </a:rPr>
              <a:t>PARTIE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2600000"/>
            <a:ext cx="58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Poppins"/>
              </a:rPr>
              <a:t>La campagne « Au 7e jour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3900000"/>
            <a:ext cx="58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Poppins"/>
              </a:rPr>
              <a:t>L'idée, le parcours du client, les contenus, la publicité, la prospection et le calendrier.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07F2A"/>
                </a:solidFill>
                <a:latin typeface="Poppins"/>
              </a:rPr>
              <a:t>PARTIE 3 | LA CAMPAGNE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1C1B1A"/>
                </a:solidFill>
                <a:latin typeface="Poppins"/>
              </a:rPr>
              <a:t>L'idée de campagne</a:t>
            </a:r>
          </a:p>
        </p:txBody>
      </p:sp>
      <p:pic>
        <p:nvPicPr>
          <p:cNvPr id="5" name="Picture 4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00" y="260000"/>
            <a:ext cx="900000" cy="41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E6A66"/>
                </a:solidFill>
                <a:latin typeface="Poppins"/>
              </a:rPr>
              <a:t>Origin7  |  Plan marketing du 1er trimestre 2027 et campagne « Au 7e jour »  |  16</a:t>
            </a:r>
          </a:p>
        </p:txBody>
      </p:sp>
      <p:pic>
        <p:nvPicPr>
          <p:cNvPr id="7" name="Picture 6" descr="_c_stage0.jpg_4300000_4450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000" y="1450000"/>
            <a:ext cx="4300000" cy="445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0000" y="1450000"/>
            <a:ext cx="6400000" cy="4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C1B1A"/>
                </a:solidFill>
                <a:latin typeface="Poppins"/>
              </a:rPr>
              <a:t>Le point de départ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C1B1A"/>
                </a:solidFill>
                <a:latin typeface="Poppins"/>
              </a:rPr>
              <a:t>Chez Origin7, la création se fait en 7 jours, comme le dit la signature de la marque. Dans la réalité, l'événement se décide souvent à J-7, et les supports arrivent à J-1.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C1B1A"/>
                </a:solidFill>
                <a:latin typeface="Poppins"/>
              </a:rPr>
              <a:t>L'idée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C1B1A"/>
                </a:solidFill>
                <a:latin typeface="Poppins"/>
              </a:rPr>
              <a:t>On assume. On raconte les 7 derniers jours avant un événement : l'appel du client, la création, l'impression de nuit, le montage, l'arrivée des invités. Le spectateur voit que tout est prêt, à l'heure.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C1B1A"/>
                </a:solidFill>
                <a:latin typeface="Poppins"/>
              </a:rPr>
              <a:t>La signature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C1B1A"/>
                </a:solidFill>
                <a:latin typeface="Poppins"/>
              </a:rPr>
              <a:t>« Au commencement, une idée. Au 7e jour, l'événement. »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C1B1A"/>
                </a:solidFill>
                <a:latin typeface="Poppins"/>
              </a:rPr>
              <a:t>L'appel à l'action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C1B1A"/>
                </a:solidFill>
                <a:latin typeface="Poppins"/>
              </a:rPr>
              <a:t>Réserver 45 minutes avec Origin7 pour bâtir son calendrier d'événements 2027.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07F2A"/>
                </a:solidFill>
                <a:latin typeface="Poppins"/>
              </a:rPr>
              <a:t>PARTIE 3 | LA CAMPAGNE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1C1B1A"/>
                </a:solidFill>
                <a:latin typeface="Poppins"/>
              </a:rPr>
              <a:t>Le parcours du client</a:t>
            </a:r>
          </a:p>
        </p:txBody>
      </p:sp>
      <p:pic>
        <p:nvPicPr>
          <p:cNvPr id="5" name="Picture 4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00" y="260000"/>
            <a:ext cx="900000" cy="41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E6A66"/>
                </a:solidFill>
                <a:latin typeface="Poppins"/>
              </a:rPr>
              <a:t>Origin7  |  Plan marketing du 1er trimestre 2027 et campagne « Au 7e jour »  |  17</a:t>
            </a:r>
          </a:p>
        </p:txBody>
      </p:sp>
      <p:sp>
        <p:nvSpPr>
          <p:cNvPr id="7" name="Chevron 6"/>
          <p:cNvSpPr/>
          <p:nvPr/>
        </p:nvSpPr>
        <p:spPr>
          <a:xfrm>
            <a:off x="600000" y="1700000"/>
            <a:ext cx="2600000" cy="1300000"/>
          </a:xfrm>
          <a:prstGeom prst="chevron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2150000"/>
            <a:ext cx="2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Poppins"/>
              </a:rPr>
              <a:t>VOIR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3250000"/>
            <a:ext cx="24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Vidéos des coulisses, publicité LinkedIn et Instagram, tribunes du dirigeant</a:t>
            </a:r>
          </a:p>
        </p:txBody>
      </p:sp>
      <p:sp>
        <p:nvSpPr>
          <p:cNvPr id="10" name="Chevron 9"/>
          <p:cNvSpPr/>
          <p:nvPr/>
        </p:nvSpPr>
        <p:spPr>
          <a:xfrm>
            <a:off x="3380000" y="1700000"/>
            <a:ext cx="2600000" cy="1300000"/>
          </a:xfrm>
          <a:prstGeom prst="chevron">
            <a:avLst/>
          </a:prstGeom>
          <a:solidFill>
            <a:srgbClr val="1C1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0000" y="2150000"/>
            <a:ext cx="2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Poppins"/>
              </a:rPr>
              <a:t>CROIRE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0000" y="3250000"/>
            <a:ext cx="24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Cas clients, chiffres des événements livrés, témoignages filmés</a:t>
            </a:r>
          </a:p>
        </p:txBody>
      </p:sp>
      <p:sp>
        <p:nvSpPr>
          <p:cNvPr id="13" name="Chevron 12"/>
          <p:cNvSpPr/>
          <p:nvPr/>
        </p:nvSpPr>
        <p:spPr>
          <a:xfrm>
            <a:off x="6160000" y="1700000"/>
            <a:ext cx="2600000" cy="1300000"/>
          </a:xfrm>
          <a:prstGeom prst="chevron">
            <a:avLst/>
          </a:prstGeom>
          <a:solidFill>
            <a:srgbClr val="B85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0000" y="2150000"/>
            <a:ext cx="2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Poppins"/>
              </a:rPr>
              <a:t>DEMANDER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0000" y="3250000"/>
            <a:ext cx="24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Page campagne, rendez-vous de 45 minutes, devis sous 48 heures</a:t>
            </a:r>
          </a:p>
        </p:txBody>
      </p:sp>
      <p:sp>
        <p:nvSpPr>
          <p:cNvPr id="16" name="Chevron 15"/>
          <p:cNvSpPr/>
          <p:nvPr/>
        </p:nvSpPr>
        <p:spPr>
          <a:xfrm>
            <a:off x="8940000" y="1700000"/>
            <a:ext cx="2600000" cy="1300000"/>
          </a:xfrm>
          <a:prstGeom prst="chevron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40000" y="2150000"/>
            <a:ext cx="2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Poppins"/>
              </a:rPr>
              <a:t>SIGNER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0000" y="3250000"/>
            <a:ext cx="24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Proposition chiffrée, petit-déjeuner, relance à J+3 et J+10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0000" y="4900000"/>
            <a:ext cx="11000000" cy="900000"/>
          </a:xfrm>
          <a:prstGeom prst="roundRect">
            <a:avLst/>
          </a:prstGeom>
          <a:solidFill>
            <a:srgbClr val="FB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000" y="5000000"/>
            <a:ext cx="1060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C1B1A"/>
                </a:solidFill>
                <a:latin typeface="Poppins"/>
              </a:rPr>
              <a:t>Le principe :</a:t>
            </a:r>
            <a:r>
              <a:rPr sz="1300" b="0">
                <a:solidFill>
                  <a:srgbClr val="1C1B1A"/>
                </a:solidFill>
                <a:latin typeface="Poppins"/>
              </a:rPr>
              <a:t> chaque contenu renvoie vers une seule action, le rendez-vous de 45 minutes. On mesure combien de personnes passent d'une étape à l'autre, chaque lundi.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07F2A"/>
                </a:solidFill>
                <a:latin typeface="Poppins"/>
              </a:rPr>
              <a:t>PARTIE 3 | LA CAMPAGNE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1C1B1A"/>
                </a:solidFill>
                <a:latin typeface="Poppins"/>
              </a:rPr>
              <a:t>Les contenus de la campagne</a:t>
            </a:r>
          </a:p>
        </p:txBody>
      </p:sp>
      <p:pic>
        <p:nvPicPr>
          <p:cNvPr id="5" name="Picture 4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00" y="260000"/>
            <a:ext cx="900000" cy="41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E6A66"/>
                </a:solidFill>
                <a:latin typeface="Poppins"/>
              </a:rPr>
              <a:t>Origin7  |  Plan marketing du 1er trimestre 2027 et campagne « Au 7e jour »  | 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0000" y="1450000"/>
          <a:ext cx="1100000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4600000"/>
                <a:gridCol w="1300000"/>
                <a:gridCol w="2400000"/>
              </a:tblGrid>
              <a:tr h="6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Format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Contenu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Quantité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Canal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Série vidéo « La veille du jour J »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60 à 90 secondes dans les coulisses d'un événement réel, de J-7 au jour J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6 épisodes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LinkedIn, Instagram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Cas client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Le besoin, le délai, ce qui a été livré, le résultat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4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LinkedIn, site, plaquette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Témoignage filmé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Un client explique pourquoi il a rappelé Origin7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3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LinkedIn, petits-déjeuners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Carrousel pratique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« 7 décisions à prendre 30 jours avant votre lancement », etc.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6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LinkedIn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Tribune du dirigeant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L'événement d'entreprise, investissement ou dépense ?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3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Presse économique, LinkedIn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Lettre mensuelle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Coulisses du mois, conseil, invitation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3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E-mail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0000" y="5800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B8561A"/>
                </a:solidFill>
                <a:latin typeface="Poppins"/>
              </a:rPr>
              <a:t>Toute vidéo tournée chez un client passe par son accord écrit avant publication.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07F2A"/>
                </a:solidFill>
                <a:latin typeface="Poppins"/>
              </a:rPr>
              <a:t>PARTIE 3 | LA CAMPAGNE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1C1B1A"/>
                </a:solidFill>
                <a:latin typeface="Poppins"/>
              </a:rPr>
              <a:t>Trois exemples de publications</a:t>
            </a:r>
          </a:p>
        </p:txBody>
      </p:sp>
      <p:pic>
        <p:nvPicPr>
          <p:cNvPr id="5" name="Picture 4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00" y="260000"/>
            <a:ext cx="900000" cy="41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E6A66"/>
                </a:solidFill>
                <a:latin typeface="Poppins"/>
              </a:rPr>
              <a:t>Origin7  |  Plan marketing du 1er trimestre 2027 et campagne « Au 7e jour »  | 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450000"/>
            <a:ext cx="3500000" cy="4450000"/>
          </a:xfrm>
          <a:prstGeom prst="roundRect">
            <a:avLst/>
          </a:prstGeom>
          <a:solidFill>
            <a:srgbClr val="FB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0000" y="1450000"/>
            <a:ext cx="3500000" cy="100000"/>
          </a:xfrm>
          <a:prstGeom prst="rect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0000" y="1650000"/>
            <a:ext cx="3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F07F2A"/>
                </a:solidFill>
                <a:latin typeface="Poppins"/>
              </a:rPr>
              <a:t>Épisode 1 de la série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000" y="2250000"/>
            <a:ext cx="315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« Mardi, 18 h. Le client appelle : la convention est jeudi, 300 invités. Voici ce qui s'est passé en 48 heures. »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Vidéo de 75 secondes, chrono à l'écran. Fin : « Au 7e jour, l'événement. 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0000" y="1450000"/>
            <a:ext cx="3500000" cy="4450000"/>
          </a:xfrm>
          <a:prstGeom prst="roundRect">
            <a:avLst/>
          </a:prstGeom>
          <a:solidFill>
            <a:srgbClr val="FB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00000" y="1450000"/>
            <a:ext cx="3500000" cy="100000"/>
          </a:xfrm>
          <a:prstGeom prst="rect">
            <a:avLst/>
          </a:prstGeom>
          <a:solidFill>
            <a:srgbClr val="1C1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0000" y="1650000"/>
            <a:ext cx="3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1C1B1A"/>
                </a:solidFill>
                <a:latin typeface="Poppins"/>
              </a:rPr>
              <a:t>Carrousel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0000" y="2250000"/>
            <a:ext cx="315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« Votre lancement est dans 30 jours ? Les 7 décisions à prendre cette semaine. »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7 pages : date, lieu, invités, message, supports, presse, plan B. Dernière page : le rendez-vous de 45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0000" y="1450000"/>
            <a:ext cx="3500000" cy="4450000"/>
          </a:xfrm>
          <a:prstGeom prst="roundRect">
            <a:avLst/>
          </a:prstGeom>
          <a:solidFill>
            <a:srgbClr val="FB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0" y="1450000"/>
            <a:ext cx="3500000" cy="100000"/>
          </a:xfrm>
          <a:prstGeom prst="rect">
            <a:avLst/>
          </a:prstGeom>
          <a:solidFill>
            <a:srgbClr val="B85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0000" y="1650000"/>
            <a:ext cx="3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B8561A"/>
                </a:solidFill>
                <a:latin typeface="Poppins"/>
              </a:rPr>
              <a:t>Publicité LinkedIn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0000" y="2250000"/>
            <a:ext cx="315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« Vos événements 2027 se décident ce mois-ci. Réservez 45 minutes avec Origin7 pour bâtir votre calendrier. »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Visuel : une scène prête, salle vide, la veille au soir.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07F2A"/>
                </a:solidFill>
                <a:latin typeface="Poppins"/>
              </a:rPr>
              <a:t>PARTIE 3 | LA CAMPAGNE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1C1B1A"/>
                </a:solidFill>
                <a:latin typeface="Poppins"/>
              </a:rPr>
              <a:t>La publicité payante</a:t>
            </a:r>
          </a:p>
        </p:txBody>
      </p:sp>
      <p:pic>
        <p:nvPicPr>
          <p:cNvPr id="5" name="Picture 4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00" y="260000"/>
            <a:ext cx="900000" cy="41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E6A66"/>
                </a:solidFill>
                <a:latin typeface="Poppins"/>
              </a:rPr>
              <a:t>Origin7  |  Plan marketing du 1er trimestre 2027 et campagne « Au 7e jour »  | 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0000" y="1450000"/>
          <a:ext cx="11000000" cy="30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/>
                <a:gridCol w="3900000"/>
                <a:gridCol w="2600000"/>
                <a:gridCol w="1300000"/>
                <a:gridCol w="1300000"/>
              </a:tblGrid>
              <a:tr h="7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Plateforme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Ciblage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Format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Budget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Période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LinkedIn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Fonctions communication, marketing, direction générale ; entreprises de plus de 50 salariés ; Abidjan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Vidéos de la série, publicité pour le rendez-vous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1 500 000 F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11 janv. au 26 mars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Instagram et Facebook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Professionnels de la communication et de l'événementiel, Abidjan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Vidéos courtes, carrousels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700 000 F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18 janv. au 26 mars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Reciblage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Personnes ayant vu 50 % d'une vidéo ou visité la page campagne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Témoignages filmés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Inclus ci-dessus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À partir du 1er fév.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0000" y="4700000"/>
            <a:ext cx="11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C1B1A"/>
                </a:solidFill>
                <a:latin typeface="Poppins"/>
              </a:rPr>
              <a:t>Règles de pilotage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C1B1A"/>
                </a:solidFill>
                <a:latin typeface="Poppins"/>
              </a:rPr>
              <a:t>Trois versions de chaque publicité au départ ; on garde la meilleure après 7 jours.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C1B1A"/>
                </a:solidFill>
                <a:latin typeface="Poppins"/>
              </a:rPr>
              <a:t>Coût par demande qualifiée suivi chaque lundi ; plafond fixé à 150 000 F.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C1B1A"/>
                </a:solidFill>
                <a:latin typeface="Poppins"/>
              </a:rPr>
              <a:t>Aucune publicité n'est lancée sans validation de la direction.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07F2A"/>
                </a:solidFill>
                <a:latin typeface="Poppins"/>
              </a:rPr>
              <a:t>PARTIE 3 | LA CAMPAGNE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1C1B1A"/>
                </a:solidFill>
                <a:latin typeface="Poppins"/>
              </a:rPr>
              <a:t>La prospection directe</a:t>
            </a:r>
          </a:p>
        </p:txBody>
      </p:sp>
      <p:pic>
        <p:nvPicPr>
          <p:cNvPr id="5" name="Picture 4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00" y="260000"/>
            <a:ext cx="900000" cy="41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E6A66"/>
                </a:solidFill>
                <a:latin typeface="Poppins"/>
              </a:rPr>
              <a:t>Origin7  |  Plan marketing du 1er trimestre 2027 et campagne « Au 7e jour »  |  21</a:t>
            </a:r>
          </a:p>
        </p:txBody>
      </p:sp>
      <p:pic>
        <p:nvPicPr>
          <p:cNvPr id="7" name="Picture 6" descr="_c_meeting0.jpg_4000000_4450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000" y="1450000"/>
            <a:ext cx="4000000" cy="445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0000" y="1450000"/>
            <a:ext cx="6800000" cy="4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C1B1A"/>
                </a:solidFill>
                <a:latin typeface="Poppins"/>
              </a:rPr>
              <a:t>La liste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150 entreprises et institutions d'Abidjan qui organisent au moins deux événements par an, réparties en trois vagues de 50 (janvier, février, mars). Pour chacune : le bon interlocuteur, ses derniers événements, un angle d'approche.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C1B1A"/>
                </a:solidFill>
                <a:latin typeface="Poppins"/>
              </a:rPr>
              <a:t>La séquence pour chaque contact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Jour 1 : message LinkedIn personnalisé.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Jour 3 : e-mail avec un cas client proche de son secteur.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Jour 7 : appel pour proposer le rendez-vous de 45 minutes.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Jour 14 : invitation au petit-déjeuner Origin7.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C1B1A"/>
                </a:solidFill>
                <a:latin typeface="Poppins"/>
              </a:rPr>
              <a:t>Les petits-déjeuners Origin7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C1B1A"/>
                </a:solidFill>
                <a:latin typeface="Poppins"/>
              </a:rPr>
              <a:t>Jeudis 18 février et 25 mars, de 8 h à 10 h, 25 invités. Un retour d'expérience de 20 minutes, puis des échanges. Mis en scène par l'équipe : c'est une démonstration.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07F2A"/>
                </a:solidFill>
                <a:latin typeface="Poppins"/>
              </a:rPr>
              <a:t>PARTIE 3 | LA CAMPAGNE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1C1B1A"/>
                </a:solidFill>
                <a:latin typeface="Poppins"/>
              </a:rPr>
              <a:t>Le calendrier de la campagne</a:t>
            </a:r>
          </a:p>
        </p:txBody>
      </p:sp>
      <p:pic>
        <p:nvPicPr>
          <p:cNvPr id="5" name="Picture 4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00" y="260000"/>
            <a:ext cx="900000" cy="41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E6A66"/>
                </a:solidFill>
                <a:latin typeface="Poppins"/>
              </a:rPr>
              <a:t>Origin7  |  Plan marketing du 1er trimestre 2027 et campagne « Au 7e jour »  |  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0000" y="1350000"/>
          <a:ext cx="11000000" cy="4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000"/>
                <a:gridCol w="8700000"/>
              </a:tblGrid>
              <a:tr h="4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Semaine du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Ce qui se passe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lundi 4 janvier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Vidéo de vœux, page campagne en ligne, liste des 150 comptes terminée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lundi 11 janvier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Lancement : épisode 1, publicité LinkedIn, première vague de prospection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lundi 18 janvier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Carrousel 1, publicité Instagram, lettre de janvier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lundi 25 janvier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Épisode 2, cas client 1, invitations au 1er petit-déjeuner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lundi 1er février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Reciblage, deuxième vague de prospection, tribune 1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lundi 15 février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Point de mi-parcours, décision sur la réserve ; petit-déjeuner jeudi 18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lundi 1er mars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Troisième vague, contenus autour du 8 mars, lettre de mars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lundi 22 mars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2e petit-déjeuner jeudi 25, relance de tous les devis ; fin de la publicité vendredi 26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mercredi 31 mars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Bilan de la campagne et proposition pour le deuxième trimestre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07F2A"/>
                </a:solidFill>
                <a:latin typeface="Poppins"/>
              </a:rPr>
              <a:t>PARTIE 3 | LA CAMPAGNE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1C1B1A"/>
                </a:solidFill>
                <a:latin typeface="Poppins"/>
              </a:rPr>
              <a:t>Ce qu'il faut préparer avant le 4 janvier</a:t>
            </a:r>
          </a:p>
        </p:txBody>
      </p:sp>
      <p:pic>
        <p:nvPicPr>
          <p:cNvPr id="5" name="Picture 4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00" y="260000"/>
            <a:ext cx="900000" cy="41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E6A66"/>
                </a:solidFill>
                <a:latin typeface="Poppins"/>
              </a:rPr>
              <a:t>Origin7  |  Plan marketing du 1er trimestre 2027 et campagne « Au 7e jour »  | 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600000" y="1450000"/>
            <a:ext cx="120000" cy="760000"/>
          </a:xfrm>
          <a:prstGeom prst="rect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1530000"/>
            <a:ext cx="3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F07F2A"/>
                </a:solidFill>
                <a:latin typeface="Poppins"/>
              </a:rPr>
              <a:t>Avant le 13 novembre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0000" y="1530000"/>
            <a:ext cx="760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C1B1A"/>
                </a:solidFill>
                <a:latin typeface="Poppins"/>
              </a:rPr>
              <a:t>Valider ce plan, le budget et la signature de campagne.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0000" y="2330000"/>
            <a:ext cx="120000" cy="760000"/>
          </a:xfrm>
          <a:prstGeom prst="rect">
            <a:avLst/>
          </a:prstGeom>
          <a:solidFill>
            <a:srgbClr val="1C1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000" y="2410000"/>
            <a:ext cx="3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1C1B1A"/>
                </a:solidFill>
                <a:latin typeface="Poppins"/>
              </a:rPr>
              <a:t>Avant le 27 novembre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0000" y="2410000"/>
            <a:ext cx="760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C1B1A"/>
                </a:solidFill>
                <a:latin typeface="Poppins"/>
              </a:rPr>
              <a:t>Choisir 3 clients pour les témoignages et 6 événements pour la série vidéo ; obtenir leur accord écrit.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0000" y="3210000"/>
            <a:ext cx="120000" cy="760000"/>
          </a:xfrm>
          <a:prstGeom prst="rect">
            <a:avLst/>
          </a:prstGeom>
          <a:solidFill>
            <a:srgbClr val="B85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000" y="3290000"/>
            <a:ext cx="3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B8561A"/>
                </a:solidFill>
                <a:latin typeface="Poppins"/>
              </a:rPr>
              <a:t>Décembre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0000" y="3290000"/>
            <a:ext cx="760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C1B1A"/>
                </a:solidFill>
                <a:latin typeface="Poppins"/>
              </a:rPr>
              <a:t>Tourner pendant les événements de fin d'année, qui sont nombreux : c'est la matière de toute la campagne.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0000" y="4090000"/>
            <a:ext cx="120000" cy="760000"/>
          </a:xfrm>
          <a:prstGeom prst="rect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000" y="4170000"/>
            <a:ext cx="3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F07F2A"/>
                </a:solidFill>
                <a:latin typeface="Poppins"/>
              </a:rPr>
              <a:t>Avant le 18 décembre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0000" y="4170000"/>
            <a:ext cx="760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C1B1A"/>
                </a:solidFill>
                <a:latin typeface="Poppins"/>
              </a:rPr>
              <a:t>Liste des 150 comptes, page campagne, plaquette, outil d'e-mailing en place.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0000" y="4970000"/>
            <a:ext cx="120000" cy="760000"/>
          </a:xfrm>
          <a:prstGeom prst="rect">
            <a:avLst/>
          </a:prstGeom>
          <a:solidFill>
            <a:srgbClr val="1C1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" y="5050000"/>
            <a:ext cx="3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1C1B1A"/>
                </a:solidFill>
                <a:latin typeface="Poppins"/>
              </a:rPr>
              <a:t>Semaine du 28 décembre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0000" y="5050000"/>
            <a:ext cx="760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C1B1A"/>
                </a:solidFill>
                <a:latin typeface="Poppins"/>
              </a:rPr>
              <a:t>Montage des 2 premiers épisodes, programmation des publications de janvier.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B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c_audience4.jpg_5492000_6858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000" y="0"/>
            <a:ext cx="54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0000" y="2000000"/>
            <a:ext cx="5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F07F2A"/>
                </a:solidFill>
                <a:latin typeface="Poppins"/>
              </a:rPr>
              <a:t>PARTIE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2600000"/>
            <a:ext cx="58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Poppins"/>
              </a:rPr>
              <a:t>Le pilotage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3900000"/>
            <a:ext cx="58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Poppins"/>
              </a:rPr>
              <a:t>Tableau de bord, organisation, risques et décisions à prendre.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07F2A"/>
                </a:solidFill>
                <a:latin typeface="Poppins"/>
              </a:rPr>
              <a:t>PARTIE 4 | LE PILOTAGE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1C1B1A"/>
                </a:solidFill>
                <a:latin typeface="Poppins"/>
              </a:rPr>
              <a:t>Le tableau de bord</a:t>
            </a:r>
          </a:p>
        </p:txBody>
      </p:sp>
      <p:pic>
        <p:nvPicPr>
          <p:cNvPr id="5" name="Picture 4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00" y="260000"/>
            <a:ext cx="900000" cy="41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E6A66"/>
                </a:solidFill>
                <a:latin typeface="Poppins"/>
              </a:rPr>
              <a:t>Origin7  |  Plan marketing du 1er trimestre 2027 et campagne « Au 7e jour »  | 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0000" y="1450000"/>
          <a:ext cx="1100000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1600000"/>
                <a:gridCol w="2200000"/>
                <a:gridCol w="4500000"/>
              </a:tblGrid>
              <a:tr h="6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Indicateur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Fréquence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Responsable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Seuil d'alerte et réaction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Demandes de devis qualifiées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Chaque lundi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Direction commerciale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Moins de 12 au 15 février : renforcer la prospection et la réserve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Rendez-vous tenus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Chaque lundi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Direction commerciale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Moins de 8 au 15 février : relancer les contacts chauds par téléphone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Coût par demande qualifiée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Chaque lundi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Responsable digital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Plus de 150 000 F : couper le format, garder le meilleur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Vues complètes des vidéos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Chaque semaine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Responsable digital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Moins de 20 % de vues complètes : raccourcir le montage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Taux de réponse en prospection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Chaque vague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Cheffe de projet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Moins de 15 % : revoir le message d'approche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8561A"/>
                          </a:solidFill>
                          <a:latin typeface="Poppins"/>
                        </a:rPr>
                        <a:t>Dépenses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Chaque lundi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Cheffe de projet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B1A"/>
                          </a:solidFill>
                          <a:latin typeface="Poppins"/>
                        </a:rPr>
                        <a:t>Écart de 10 % : point avec la direction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07F2A"/>
                </a:solidFill>
                <a:latin typeface="Poppins"/>
              </a:rPr>
              <a:t>PARTIE 4 | LE PILOTAGE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1C1B1A"/>
                </a:solidFill>
                <a:latin typeface="Poppins"/>
              </a:rPr>
              <a:t>Qui fait quoi</a:t>
            </a:r>
          </a:p>
        </p:txBody>
      </p:sp>
      <p:pic>
        <p:nvPicPr>
          <p:cNvPr id="5" name="Picture 4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00" y="260000"/>
            <a:ext cx="900000" cy="41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E6A66"/>
                </a:solidFill>
                <a:latin typeface="Poppins"/>
              </a:rPr>
              <a:t>Origin7  |  Plan marketing du 1er trimestre 2027 et campagne « Au 7e jour »  |  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0000" y="1450000"/>
          <a:ext cx="7400000" cy="38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000"/>
                <a:gridCol w="4800000"/>
              </a:tblGrid>
              <a:tr h="6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oppins"/>
                        </a:rPr>
                        <a:t>Rôle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oppins"/>
                        </a:rPr>
                        <a:t>Ce qu'il fait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61A"/>
                          </a:solidFill>
                          <a:latin typeface="Poppins"/>
                        </a:rPr>
                        <a:t>Direction générale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B1A"/>
                          </a:solidFill>
                          <a:latin typeface="Poppins"/>
                        </a:rPr>
                        <a:t>Valide le plan et les dépenses, signe les tribunes, accueille les petits-déjeuners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61A"/>
                          </a:solidFill>
                          <a:latin typeface="Poppins"/>
                        </a:rPr>
                        <a:t>Cheffe de projet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B1A"/>
                          </a:solidFill>
                          <a:latin typeface="Poppins"/>
                        </a:rPr>
                        <a:t>Pilote le plan, le budget et le calendrier ; anime le point du lundi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61A"/>
                          </a:solidFill>
                          <a:latin typeface="Poppins"/>
                        </a:rPr>
                        <a:t>Direction commerciale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B1A"/>
                          </a:solidFill>
                          <a:latin typeface="Poppins"/>
                        </a:rPr>
                        <a:t>Rendez-vous, devis sous 48 heures, relances, suivi des contrats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61A"/>
                          </a:solidFill>
                          <a:latin typeface="Poppins"/>
                        </a:rPr>
                        <a:t>Responsable digital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B1A"/>
                          </a:solidFill>
                          <a:latin typeface="Poppins"/>
                        </a:rPr>
                        <a:t>Publications, publicité, page campagne, statistiques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61A"/>
                          </a:solidFill>
                          <a:latin typeface="Poppins"/>
                        </a:rPr>
                        <a:t>Équipe création et production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B1A"/>
                          </a:solidFill>
                          <a:latin typeface="Poppins"/>
                        </a:rPr>
                        <a:t>Tournages, montage, visuels, plaquette, mise en scène des petits-déjeuners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_c_network4.jpg_3300000_4450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000" y="1450000"/>
            <a:ext cx="3300000" cy="4450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07F2A"/>
                </a:solidFill>
                <a:latin typeface="Poppins"/>
              </a:rPr>
              <a:t>PARTIE 4 | LE PILOTAGE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1C1B1A"/>
                </a:solidFill>
                <a:latin typeface="Poppins"/>
              </a:rPr>
              <a:t>Les risques, et ce qu'on prévoit</a:t>
            </a:r>
          </a:p>
        </p:txBody>
      </p:sp>
      <p:pic>
        <p:nvPicPr>
          <p:cNvPr id="5" name="Picture 4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00" y="260000"/>
            <a:ext cx="900000" cy="41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E6A66"/>
                </a:solidFill>
                <a:latin typeface="Poppins"/>
              </a:rPr>
              <a:t>Origin7  |  Plan marketing du 1er trimestre 2027 et campagne « Au 7e jour »  |  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0000" y="1450000"/>
          <a:ext cx="11000000" cy="38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500000"/>
                <a:gridCol w="5900000"/>
              </a:tblGrid>
              <a:tr h="6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oppins"/>
                        </a:rPr>
                        <a:t>Risque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oppins"/>
                        </a:rPr>
                        <a:t>Probabilité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oppins"/>
                        </a:rPr>
                        <a:t>Ce qu'on prévoit</a:t>
                      </a:r>
                    </a:p>
                  </a:txBody>
                  <a:tcPr marT="40000" marB="40000">
                    <a:solidFill>
                      <a:srgbClr val="1C1B1A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61A"/>
                          </a:solidFill>
                          <a:latin typeface="Poppins"/>
                        </a:rPr>
                        <a:t>L'équipe, prise par la production, abandonne la campagne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B1A"/>
                          </a:solidFill>
                          <a:latin typeface="Poppins"/>
                        </a:rPr>
                        <a:t>Forte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B1A"/>
                          </a:solidFill>
                          <a:latin typeface="Poppins"/>
                        </a:rPr>
                        <a:t>Contenus de janvier et février prêts avant le 4 janvier ; une personne dédiée à la prospection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61A"/>
                          </a:solidFill>
                          <a:latin typeface="Poppins"/>
                        </a:rPr>
                        <a:t>Les clients refusent d'apparaître en vidéo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B1A"/>
                          </a:solidFill>
                          <a:latin typeface="Poppins"/>
                        </a:rPr>
                        <a:t>Moyenne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B1A"/>
                          </a:solidFill>
                          <a:latin typeface="Poppins"/>
                        </a:rPr>
                        <a:t>Coulisses sans visage ni logo client ; témoignages écrits en remplacement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61A"/>
                          </a:solidFill>
                          <a:latin typeface="Poppins"/>
                        </a:rPr>
                        <a:t>Afflux de demandes urgentes à petit budget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B1A"/>
                          </a:solidFill>
                          <a:latin typeface="Poppins"/>
                        </a:rPr>
                        <a:t>Moyenne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B1A"/>
                          </a:solidFill>
                          <a:latin typeface="Poppins"/>
                        </a:rPr>
                        <a:t>Seuil de budget minimum fixé avant la campagne ; frais d'urgence affichés dans les devis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61A"/>
                          </a:solidFill>
                          <a:latin typeface="Poppins"/>
                        </a:rPr>
                        <a:t>Publicité LinkedIn trop chère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B1A"/>
                          </a:solidFill>
                          <a:latin typeface="Poppins"/>
                        </a:rPr>
                        <a:t>Moyenne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B1A"/>
                          </a:solidFill>
                          <a:latin typeface="Poppins"/>
                        </a:rPr>
                        <a:t>Plafond de 150 000 F par demande ; bascule vers la prospection directe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61A"/>
                          </a:solidFill>
                          <a:latin typeface="Poppins"/>
                        </a:rPr>
                        <a:t>Calendrier perturbé par le ramadan et les fêtes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B1A"/>
                          </a:solidFill>
                          <a:latin typeface="Poppins"/>
                        </a:rPr>
                        <a:t>Faible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B1A"/>
                          </a:solidFill>
                          <a:latin typeface="Poppins"/>
                        </a:rPr>
                        <a:t>Petits-déjeuners le matin, dates vérifiées début février</a:t>
                      </a:r>
                    </a:p>
                  </a:txBody>
                  <a:tcPr marT="40000" marB="40000">
                    <a:solidFill>
                      <a:srgbClr val="FBF5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F0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07F2A"/>
                </a:solidFill>
                <a:latin typeface="Poppins"/>
              </a:rPr>
              <a:t>PARTIE 4 | AVANT LE VENDREDI 13 NOVEMBRE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1C1B1A"/>
                </a:solidFill>
                <a:latin typeface="Poppins"/>
              </a:rPr>
              <a:t>Les décisions à prendre</a:t>
            </a:r>
          </a:p>
        </p:txBody>
      </p:sp>
      <p:pic>
        <p:nvPicPr>
          <p:cNvPr id="5" name="Picture 4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00" y="260000"/>
            <a:ext cx="900000" cy="41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E6A66"/>
                </a:solidFill>
                <a:latin typeface="Poppins"/>
              </a:rPr>
              <a:t>Origin7  |  Plan marketing du 1er trimestre 2027 et campagne « Au 7e jour »  | 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1500000"/>
            <a:ext cx="69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0">
                <a:solidFill>
                  <a:srgbClr val="1C1B1A"/>
                </a:solidFill>
                <a:latin typeface="Poppins"/>
              </a:rPr>
              <a:t>1. Valider le budget de 6 000 000 F CFA et sa répartition.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C1B1A"/>
                </a:solidFill>
                <a:latin typeface="Poppins"/>
              </a:rPr>
              <a:t>2. Valider l'idée « Au 7e jour » et la signature de campagne.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C1B1A"/>
                </a:solidFill>
                <a:latin typeface="Poppins"/>
              </a:rPr>
              <a:t>3. Choisir les 6 événements filmés et les 3 clients témoins.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C1B1A"/>
                </a:solidFill>
                <a:latin typeface="Poppins"/>
              </a:rPr>
              <a:t>4. Désigner la personne chargée de la prospection.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C1B1A"/>
                </a:solidFill>
                <a:latin typeface="Poppins"/>
              </a:rPr>
              <a:t>5. Fixer le budget minimum d'un événement et les frais d'urgence.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C1B1A"/>
                </a:solidFill>
                <a:latin typeface="Poppins"/>
              </a:rPr>
              <a:t>6. Valider les dates des petits-déjeuners : jeudis 18 février et 25 mars.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51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B8561A"/>
                </a:solidFill>
                <a:latin typeface="Poppins"/>
              </a:rPr>
              <a:t>Aucune publicité, aucun envoi et aucune dépense sans accord écrit de la direction.</a:t>
            </a:r>
          </a:p>
        </p:txBody>
      </p:sp>
      <p:pic>
        <p:nvPicPr>
          <p:cNvPr id="9" name="Picture 8" descr="_c_gala5.jpg_3700000_3400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000" y="1500000"/>
            <a:ext cx="3700000" cy="34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