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3.png"/><Relationship Id="rId6" Type="http://schemas.openxmlformats.org/officeDocument/2006/relationships/image" Target="../media/image19.png"/><Relationship Id="rId7" Type="http://schemas.openxmlformats.org/officeDocument/2006/relationships/image" Target="../media/image4.png"/><Relationship Id="rId8" Type="http://schemas.openxmlformats.org/officeDocument/2006/relationships/image" Target="../media/image5.png"/><Relationship Id="rId9" Type="http://schemas.openxmlformats.org/officeDocument/2006/relationships/image" Target="../media/image28.png"/><Relationship Id="rId10" Type="http://schemas.openxmlformats.org/officeDocument/2006/relationships/image" Target="../media/image6.png"/><Relationship Id="rId11" Type="http://schemas.openxmlformats.org/officeDocument/2006/relationships/image" Target="../media/image33.png"/><Relationship Id="rId12" Type="http://schemas.openxmlformats.org/officeDocument/2006/relationships/image" Target="../media/image7.png"/><Relationship Id="rId13" Type="http://schemas.openxmlformats.org/officeDocument/2006/relationships/image" Target="../media/image36.png"/><Relationship Id="rId14" Type="http://schemas.openxmlformats.org/officeDocument/2006/relationships/image" Target="../media/image8.png"/><Relationship Id="rId15" Type="http://schemas.openxmlformats.org/officeDocument/2006/relationships/image" Target="../media/image3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11.jpg"/><Relationship Id="rId5" Type="http://schemas.openxmlformats.org/officeDocument/2006/relationships/hyperlink" Target="https://drive.google.com/file/d/1aARZYlYxsVnz9iH8WAdHj7iVM_kLxFHO/view" TargetMode="External"/><Relationship Id="rId6" Type="http://schemas.openxmlformats.org/officeDocument/2006/relationships/image" Target="../media/image12.jpg"/><Relationship Id="rId7" Type="http://schemas.openxmlformats.org/officeDocument/2006/relationships/hyperlink" Target="https://docs.google.com/presentation/d/1caaCPbRg_AW8r75otNONy2vskejANo1Tmrab6Gm1Qfg/edit" TargetMode="External"/><Relationship Id="rId8" Type="http://schemas.openxmlformats.org/officeDocument/2006/relationships/image" Target="../media/image13.jpg"/><Relationship Id="rId9" Type="http://schemas.openxmlformats.org/officeDocument/2006/relationships/hyperlink" Target="https://docs.google.com/document/d/1Wjkgvqp701vj0zl6u0k9RnQCG2-vz3GfxaMjUStSIuY/edit" TargetMode="External"/><Relationship Id="rId10" Type="http://schemas.openxmlformats.org/officeDocument/2006/relationships/image" Target="../media/image14.jpg"/><Relationship Id="rId11" Type="http://schemas.openxmlformats.org/officeDocument/2006/relationships/hyperlink" Target="https://docs.google.com/document/d/1ebudIJr_IU3Y3y9JEipEhxeoLYirDzZt89hohfgJVGk/edit" TargetMode="External"/><Relationship Id="rId12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15.jpg"/><Relationship Id="rId5" Type="http://schemas.openxmlformats.org/officeDocument/2006/relationships/hyperlink" Target="https://docs.google.com/document/d/1JdeSNp0vkhxC58VsRBkWLh4BW82UeI5-36y6L4UpBr0/edit" TargetMode="External"/><Relationship Id="rId6" Type="http://schemas.openxmlformats.org/officeDocument/2006/relationships/image" Target="../media/image16.jpg"/><Relationship Id="rId7" Type="http://schemas.openxmlformats.org/officeDocument/2006/relationships/hyperlink" Target="https://docs.google.com/document/d/1nTUut_mIIocGXHLNiGEQfKSpsedaPoOry727-5RvMfI/edit" TargetMode="External"/><Relationship Id="rId8" Type="http://schemas.openxmlformats.org/officeDocument/2006/relationships/image" Target="../media/image17.jpg"/><Relationship Id="rId9" Type="http://schemas.openxmlformats.org/officeDocument/2006/relationships/hyperlink" Target="https://docs.google.com/presentation/d/1C25pJHZiKVPMZY_ej6sM1HA_Ud6b7EOOydEnveAWgE8/edit" TargetMode="External"/><Relationship Id="rId10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20.jpg"/><Relationship Id="rId5" Type="http://schemas.openxmlformats.org/officeDocument/2006/relationships/hyperlink" Target="https://leslita06.github.io/proline-maquette/medium/" TargetMode="External"/><Relationship Id="rId6" Type="http://schemas.openxmlformats.org/officeDocument/2006/relationships/image" Target="../media/image21.jpg"/><Relationship Id="rId7" Type="http://schemas.openxmlformats.org/officeDocument/2006/relationships/hyperlink" Target="https://leslita06.github.io/proline-maquette/premium/" TargetMode="External"/><Relationship Id="rId8" Type="http://schemas.openxmlformats.org/officeDocument/2006/relationships/image" Target="../media/image22.jpg"/><Relationship Id="rId9" Type="http://schemas.openxmlformats.org/officeDocument/2006/relationships/hyperlink" Target="https://drive.google.com/drive/folders/1CoZ31cOR0dQIioSwdVdZHWToTMH-mqvl" TargetMode="External"/><Relationship Id="rId10" Type="http://schemas.openxmlformats.org/officeDocument/2006/relationships/image" Target="../media/image1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19.png"/><Relationship Id="rId4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24.jpg"/><Relationship Id="rId5" Type="http://schemas.openxmlformats.org/officeDocument/2006/relationships/hyperlink" Target="https://drive.google.com/file/d/1NbxV3MSakwW2fiKborNf7Bpq98z5wDXS/view" TargetMode="External"/><Relationship Id="rId6" Type="http://schemas.openxmlformats.org/officeDocument/2006/relationships/image" Target="../media/image25.jpg"/><Relationship Id="rId7" Type="http://schemas.openxmlformats.org/officeDocument/2006/relationships/hyperlink" Target="https://drive.google.com/file/d/1vU3Gle4EVzXZKH14NzmhftstvXlmAGKO/view" TargetMode="External"/><Relationship Id="rId8" Type="http://schemas.openxmlformats.org/officeDocument/2006/relationships/image" Target="../media/image26.jpg"/><Relationship Id="rId9" Type="http://schemas.openxmlformats.org/officeDocument/2006/relationships/hyperlink" Target="https://drive.google.com/file/d/1ToXMg6s2MQJVKcPjU7kqm_VlC1cpWMSh/view" TargetMode="External"/><Relationship Id="rId10" Type="http://schemas.openxmlformats.org/officeDocument/2006/relationships/hyperlink" Target="https://drive.google.com/drive/folders/14VK3rR3qF4dILwBFXivy9oaqbuijp-wC" TargetMode="External"/><Relationship Id="rId11" Type="http://schemas.openxmlformats.org/officeDocument/2006/relationships/image" Target="../media/image1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29.jpg"/><Relationship Id="rId5" Type="http://schemas.openxmlformats.org/officeDocument/2006/relationships/hyperlink" Target="https://docs.google.com/document/d/1te9LL3r7e0ygFa-C9m4TxPkujV9vOooxtgzmjeAhAKI/edit" TargetMode="External"/><Relationship Id="rId6" Type="http://schemas.openxmlformats.org/officeDocument/2006/relationships/image" Target="../media/image30.jpg"/><Relationship Id="rId7" Type="http://schemas.openxmlformats.org/officeDocument/2006/relationships/hyperlink" Target="https://docs.google.com/document/d/19ARo5BO1E4AwPsykPWy3BwmSRRpwrD4GYfRux0nMBRc/edit" TargetMode="External"/><Relationship Id="rId8" Type="http://schemas.openxmlformats.org/officeDocument/2006/relationships/image" Target="../media/image31.jpg"/><Relationship Id="rId9" Type="http://schemas.openxmlformats.org/officeDocument/2006/relationships/hyperlink" Target="https://docs.google.com/spreadsheets/d/1jadyIrqEmy2H39GfTf8kL22rHHbKhKVIsES9Ngjp5yE/edit" TargetMode="External"/><Relationship Id="rId10" Type="http://schemas.openxmlformats.org/officeDocument/2006/relationships/image" Target="../media/image2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34.jpg"/><Relationship Id="rId5" Type="http://schemas.openxmlformats.org/officeDocument/2006/relationships/hyperlink" Target="https://docs.google.com/spreadsheets/d/1xs8qwJrKlrQ-qB9mJpXMJ2_AIm7A2rnWbLoPAoGt6Kc/edit" TargetMode="External"/><Relationship Id="rId6" Type="http://schemas.openxmlformats.org/officeDocument/2006/relationships/image" Target="../media/image3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.png"/><Relationship Id="rId4" Type="http://schemas.openxmlformats.org/officeDocument/2006/relationships/image" Target="../media/image37.jpg"/><Relationship Id="rId5" Type="http://schemas.openxmlformats.org/officeDocument/2006/relationships/hyperlink" Target="https://docs.google.com/document/d/1spQxtLP7uZn7Gg92TN47cFQMxQbh8GANjH-OX6AUVrM/edit" TargetMode="External"/><Relationship Id="rId6" Type="http://schemas.openxmlformats.org/officeDocument/2006/relationships/image" Target="../media/image3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1.png"/><Relationship Id="rId4" Type="http://schemas.openxmlformats.org/officeDocument/2006/relationships/image" Target="../media/image40.jpg"/><Relationship Id="rId5" Type="http://schemas.openxmlformats.org/officeDocument/2006/relationships/hyperlink" Target="https://docs.google.com/spreadsheets/d/1g1sOMkmfDHbjMAp2Q0NOLFfcwU2g4lyx4FJJKzFhIL8/edit" TargetMode="External"/><Relationship Id="rId6" Type="http://schemas.openxmlformats.org/officeDocument/2006/relationships/image" Target="../media/image41.jpg"/><Relationship Id="rId7" Type="http://schemas.openxmlformats.org/officeDocument/2006/relationships/hyperlink" Target="https://docs.google.com/spreadsheets/d/19pBhkYQHRdx8EDIOJEgd-AV6iWoRhKghc7D5xMBKvFk/edit" TargetMode="External"/><Relationship Id="rId8" Type="http://schemas.openxmlformats.org/officeDocument/2006/relationships/image" Target="../media/image42.jpg"/><Relationship Id="rId9" Type="http://schemas.openxmlformats.org/officeDocument/2006/relationships/hyperlink" Target="https://docs.google.com/spreadsheets/d/1UnKrOQAfX4vpdlSzutqjQfekPnKoHavXsG7zPkdsYj8/edit" TargetMode="External"/><Relationship Id="rId10" Type="http://schemas.openxmlformats.org/officeDocument/2006/relationships/image" Target="../media/image43.jpg"/><Relationship Id="rId11" Type="http://schemas.openxmlformats.org/officeDocument/2006/relationships/hyperlink" Target="https://docs.google.com/spreadsheets/d/1nFLzhwwucPdffs4kosEZ-MNRy1XsUlKyo3DLFp9aljY/edit" TargetMode="External"/><Relationship Id="rId12" Type="http://schemas.openxmlformats.org/officeDocument/2006/relationships/image" Target="../media/image3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1.png"/><Relationship Id="rId4" Type="http://schemas.openxmlformats.org/officeDocument/2006/relationships/image" Target="../media/image44.jpg"/><Relationship Id="rId5" Type="http://schemas.openxmlformats.org/officeDocument/2006/relationships/hyperlink" Target="https://docs.google.com/document/d/1h2EVh3WOXpAVbN4hQr2lTZiMKzSc45Agv6bDsIFd8ew/edit" TargetMode="External"/><Relationship Id="rId6" Type="http://schemas.openxmlformats.org/officeDocument/2006/relationships/image" Target="../media/image45.jpg"/><Relationship Id="rId7" Type="http://schemas.openxmlformats.org/officeDocument/2006/relationships/hyperlink" Target="https://docs.google.com/document/d/1rwEMqniTT7it-eOXicFbBXQPF0DXs07iG1DfpkiP5xo/edit" TargetMode="External"/><Relationship Id="rId8" Type="http://schemas.openxmlformats.org/officeDocument/2006/relationships/image" Target="../media/image46.jpg"/><Relationship Id="rId9" Type="http://schemas.openxmlformats.org/officeDocument/2006/relationships/hyperlink" Target="https://docs.google.com/spreadsheets/d/1UHNMx-52DURRxF80Dt1BDnUr1V5P2bgttnMXULpq9zo/edit" TargetMode="External"/><Relationship Id="rId10" Type="http://schemas.openxmlformats.org/officeDocument/2006/relationships/image" Target="../media/image47.jpg"/><Relationship Id="rId11" Type="http://schemas.openxmlformats.org/officeDocument/2006/relationships/hyperlink" Target="https://docs.google.com/spreadsheets/d/1nMB5PiOZvEad_lKwigImMSB2QhZlkVFFQ7Ix8Me1dhA/edit" TargetMode="External"/><Relationship Id="rId12" Type="http://schemas.openxmlformats.org/officeDocument/2006/relationships/image" Target="../media/image3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1.png"/><Relationship Id="rId4" Type="http://schemas.openxmlformats.org/officeDocument/2006/relationships/image" Target="../media/image48.jpg"/><Relationship Id="rId5" Type="http://schemas.openxmlformats.org/officeDocument/2006/relationships/hyperlink" Target="https://docs.google.com/spreadsheets/d/1d5yn2efubOAYuZuF-QREyMzO2F3HhqTshdqCAwEtVKQ/edit" TargetMode="External"/><Relationship Id="rId6" Type="http://schemas.openxmlformats.org/officeDocument/2006/relationships/image" Target="../media/image3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drive.google.com/drive/folders/12puGQBVYOn3QknWMbu6dIKPbB07D37Q8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128016"/>
          </a:xfrm>
          <a:prstGeom prst="rect">
            <a:avLst/>
          </a:prstGeom>
          <a:solidFill>
            <a:srgbClr val="E95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128016"/>
          </a:xfrm>
          <a:prstGeom prst="rect">
            <a:avLst/>
          </a:prstGeom>
          <a:solidFill>
            <a:srgbClr val="5656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128016"/>
          </a:xfrm>
          <a:prstGeom prst="rect">
            <a:avLst/>
          </a:prstGeom>
          <a:solidFill>
            <a:srgbClr val="F3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685800"/>
            <a:ext cx="3657600" cy="1508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ro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841248"/>
            <a:ext cx="3200400" cy="114681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260604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ontserrat"/>
              </a:rPr>
              <a:t>Ce que nos Experts ont produit</a:t>
            </a:r>
          </a:p>
          <a:p>
            <a:pPr algn="l"/>
            <a:r>
              <a:rPr sz="4400" b="1">
                <a:solidFill>
                  <a:srgbClr val="E9510E"/>
                </a:solidFill>
                <a:latin typeface="Montserrat"/>
              </a:rPr>
              <a:t>pour PROLINE LOGISTICS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062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Open Sans"/>
              </a:rPr>
              <a:t>27 livrables  ·  7 métiers  ·  27 au 29 octobre 2026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4983480"/>
            <a:ext cx="566928" cy="566928"/>
          </a:xfrm>
          <a:prstGeom prst="ellipse">
            <a:avLst/>
          </a:prstGeom>
          <a:solidFill>
            <a:srgbClr val="E95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mk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5111496"/>
            <a:ext cx="310896" cy="31089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417320" y="5010912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Open Sans"/>
              </a:rPr>
              <a:t>Marketing et contenu</a:t>
            </a:r>
          </a:p>
          <a:p>
            <a:pPr algn="l"/>
            <a:r>
              <a:rPr sz="1100" b="0">
                <a:solidFill>
                  <a:srgbClr val="BBBBBB"/>
                </a:solidFill>
                <a:latin typeface="Open Sans"/>
              </a:rPr>
              <a:t>Fatima</a:t>
            </a:r>
          </a:p>
        </p:txBody>
      </p:sp>
      <p:sp>
        <p:nvSpPr>
          <p:cNvPr id="13" name="Oval 12"/>
          <p:cNvSpPr/>
          <p:nvPr/>
        </p:nvSpPr>
        <p:spPr>
          <a:xfrm>
            <a:off x="3474720" y="4983480"/>
            <a:ext cx="566928" cy="566928"/>
          </a:xfrm>
          <a:prstGeom prst="ellipse">
            <a:avLst/>
          </a:prstGeom>
          <a:solidFill>
            <a:srgbClr val="F3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des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2736" y="5111496"/>
            <a:ext cx="310896" cy="31089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160520" y="5010912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Open Sans"/>
              </a:rPr>
              <a:t>Design de marque</a:t>
            </a:r>
          </a:p>
          <a:p>
            <a:pPr algn="l"/>
            <a:r>
              <a:rPr sz="1100" b="0">
                <a:solidFill>
                  <a:srgbClr val="BBBBBB"/>
                </a:solidFill>
                <a:latin typeface="Open Sans"/>
              </a:rPr>
              <a:t>Koffi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0" y="4983480"/>
            <a:ext cx="566928" cy="566928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vid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5936" y="5111496"/>
            <a:ext cx="310896" cy="31089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903720" y="5010912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Open Sans"/>
              </a:rPr>
              <a:t>Vidéos</a:t>
            </a:r>
          </a:p>
          <a:p>
            <a:pPr algn="l"/>
            <a:r>
              <a:rPr sz="1100" b="0">
                <a:solidFill>
                  <a:srgbClr val="BBBBBB"/>
                </a:solidFill>
                <a:latin typeface="Open Sans"/>
              </a:rPr>
              <a:t>Koffi</a:t>
            </a:r>
          </a:p>
        </p:txBody>
      </p:sp>
      <p:sp>
        <p:nvSpPr>
          <p:cNvPr id="19" name="Oval 18"/>
          <p:cNvSpPr/>
          <p:nvPr/>
        </p:nvSpPr>
        <p:spPr>
          <a:xfrm>
            <a:off x="8961120" y="4983480"/>
            <a:ext cx="566928" cy="566928"/>
          </a:xfrm>
          <a:prstGeom prst="ellipse">
            <a:avLst/>
          </a:prstGeom>
          <a:solidFill>
            <a:srgbClr val="C443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om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89136" y="5111496"/>
            <a:ext cx="310896" cy="31089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646920" y="5010912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Open Sans"/>
              </a:rPr>
              <a:t>Commercial et ventes</a:t>
            </a:r>
          </a:p>
          <a:p>
            <a:pPr algn="l"/>
            <a:r>
              <a:rPr sz="1100" b="0">
                <a:solidFill>
                  <a:srgbClr val="BBBBBB"/>
                </a:solidFill>
                <a:latin typeface="Open Sans"/>
              </a:rPr>
              <a:t>Kouassi</a:t>
            </a:r>
          </a:p>
        </p:txBody>
      </p:sp>
      <p:sp>
        <p:nvSpPr>
          <p:cNvPr id="22" name="Oval 21"/>
          <p:cNvSpPr/>
          <p:nvPr/>
        </p:nvSpPr>
        <p:spPr>
          <a:xfrm>
            <a:off x="731520" y="5715000"/>
            <a:ext cx="566928" cy="566928"/>
          </a:xfrm>
          <a:prstGeom prst="ellipse">
            <a:avLst/>
          </a:prstGeom>
          <a:solidFill>
            <a:srgbClr val="5656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doc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9536" y="5843016"/>
            <a:ext cx="310896" cy="31089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417320" y="5742432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Open Sans"/>
              </a:rPr>
              <a:t>Finance</a:t>
            </a:r>
          </a:p>
          <a:p>
            <a:pPr algn="l"/>
            <a:r>
              <a:rPr sz="1100" b="0">
                <a:solidFill>
                  <a:srgbClr val="BBBBBB"/>
                </a:solidFill>
                <a:latin typeface="Open Sans"/>
              </a:rPr>
              <a:t>Mamadou</a:t>
            </a:r>
          </a:p>
        </p:txBody>
      </p:sp>
      <p:sp>
        <p:nvSpPr>
          <p:cNvPr id="25" name="Oval 24"/>
          <p:cNvSpPr/>
          <p:nvPr/>
        </p:nvSpPr>
        <p:spPr>
          <a:xfrm>
            <a:off x="3474720" y="5715000"/>
            <a:ext cx="566928" cy="566928"/>
          </a:xfrm>
          <a:prstGeom prst="ellipse">
            <a:avLst/>
          </a:prstGeom>
          <a:solidFill>
            <a:srgbClr val="D97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rec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02736" y="5843016"/>
            <a:ext cx="310896" cy="31089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160520" y="5742432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Open Sans"/>
              </a:rPr>
              <a:t>Relation client</a:t>
            </a:r>
          </a:p>
          <a:p>
            <a:pPr algn="l"/>
            <a:r>
              <a:rPr sz="1100" b="0">
                <a:solidFill>
                  <a:srgbClr val="BBBBBB"/>
                </a:solidFill>
                <a:latin typeface="Open Sans"/>
              </a:rPr>
              <a:t>Awa</a:t>
            </a:r>
          </a:p>
        </p:txBody>
      </p:sp>
      <p:sp>
        <p:nvSpPr>
          <p:cNvPr id="28" name="Oval 27"/>
          <p:cNvSpPr/>
          <p:nvPr/>
        </p:nvSpPr>
        <p:spPr>
          <a:xfrm>
            <a:off x="6217920" y="5715000"/>
            <a:ext cx="566928" cy="566928"/>
          </a:xfrm>
          <a:prstGeom prst="ellipse">
            <a:avLst/>
          </a:prstGeom>
          <a:solidFill>
            <a:srgbClr val="3D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ops_FFFF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45936" y="5843016"/>
            <a:ext cx="310896" cy="31089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903720" y="5742432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Open Sans"/>
              </a:rPr>
              <a:t>Opérations et logistique</a:t>
            </a:r>
          </a:p>
          <a:p>
            <a:pPr algn="l"/>
            <a:r>
              <a:rPr sz="1100" b="0">
                <a:solidFill>
                  <a:srgbClr val="BBBBBB"/>
                </a:solidFill>
                <a:latin typeface="Open Sans"/>
              </a:rPr>
              <a:t>Salif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729984"/>
            <a:ext cx="4063898" cy="128016"/>
          </a:xfrm>
          <a:prstGeom prst="rect">
            <a:avLst/>
          </a:prstGeom>
          <a:solidFill>
            <a:srgbClr val="E95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063898" y="6729984"/>
            <a:ext cx="4063898" cy="128016"/>
          </a:xfrm>
          <a:prstGeom prst="rect">
            <a:avLst/>
          </a:prstGeom>
          <a:solidFill>
            <a:srgbClr val="5656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27796" y="6729984"/>
            <a:ext cx="4073042" cy="128016"/>
          </a:xfrm>
          <a:prstGeom prst="rect">
            <a:avLst/>
          </a:prstGeom>
          <a:solidFill>
            <a:srgbClr val="F3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82296"/>
          </a:xfrm>
          <a:prstGeom prst="rect">
            <a:avLst/>
          </a:prstGeom>
          <a:solidFill>
            <a:srgbClr val="E95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82296"/>
          </a:xfrm>
          <a:prstGeom prst="rect">
            <a:avLst/>
          </a:prstGeom>
          <a:solidFill>
            <a:srgbClr val="5656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82296"/>
          </a:xfrm>
          <a:prstGeom prst="rect">
            <a:avLst/>
          </a:prstGeom>
          <a:solidFill>
            <a:srgbClr val="F3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ro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5749" y="347472"/>
            <a:ext cx="1837306" cy="6583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1148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Montserrat"/>
              </a:rPr>
              <a:t>Sommaire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Open Sans"/>
              </a:rPr>
              <a:t>Un chapitre par métier. Chaque vignette du recueil ouvre le document.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PROLINE LOGISTICS  ·  Recueil des livrables des Experts  ·  octobre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1091672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691640"/>
            <a:ext cx="82296" cy="512064"/>
          </a:xfrm>
          <a:prstGeom prst="rect">
            <a:avLst/>
          </a:prstGeom>
          <a:solidFill>
            <a:srgbClr val="E95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1691640"/>
            <a:ext cx="512064" cy="512064"/>
          </a:xfrm>
          <a:prstGeom prst="ellipse">
            <a:avLst/>
          </a:prstGeom>
          <a:solidFill>
            <a:srgbClr val="E95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mk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1810512"/>
            <a:ext cx="274320" cy="274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600200" y="1691640"/>
            <a:ext cx="40233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Montserrat"/>
              </a:rPr>
              <a:t>Marketing et contenu</a:t>
            </a:r>
          </a:p>
        </p:txBody>
      </p:sp>
      <p:pic>
        <p:nvPicPr>
          <p:cNvPr id="15" name="Picture 14" descr="fatim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0" y="1719072"/>
            <a:ext cx="457200" cy="457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217920" y="1691640"/>
            <a:ext cx="18288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Open Sans"/>
              </a:rPr>
              <a:t>Fatima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1691640"/>
            <a:ext cx="20116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Open Sans"/>
              </a:rPr>
              <a:t>7 livrables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60" y="1691640"/>
            <a:ext cx="14630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E9510E"/>
                </a:solidFill>
                <a:latin typeface="Open Sans"/>
              </a:rPr>
              <a:t>page 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267712"/>
            <a:ext cx="11091672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2267712"/>
            <a:ext cx="82296" cy="512064"/>
          </a:xfrm>
          <a:prstGeom prst="rect">
            <a:avLst/>
          </a:prstGeom>
          <a:solidFill>
            <a:srgbClr val="F3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68680" y="2267712"/>
            <a:ext cx="512064" cy="512064"/>
          </a:xfrm>
          <a:prstGeom prst="ellipse">
            <a:avLst/>
          </a:prstGeom>
          <a:solidFill>
            <a:srgbClr val="F3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des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" y="2386584"/>
            <a:ext cx="274320" cy="2743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600200" y="2267712"/>
            <a:ext cx="40233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Montserrat"/>
              </a:rPr>
              <a:t>Design de marque</a:t>
            </a:r>
          </a:p>
        </p:txBody>
      </p:sp>
      <p:pic>
        <p:nvPicPr>
          <p:cNvPr id="24" name="Picture 23" descr="koff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3560" y="2295144"/>
            <a:ext cx="457200" cy="4572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217920" y="2267712"/>
            <a:ext cx="18288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Open Sans"/>
              </a:rPr>
              <a:t>Koffi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2267712"/>
            <a:ext cx="20116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Open Sans"/>
              </a:rPr>
              <a:t>3 livrables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2267712"/>
            <a:ext cx="14630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E9510E"/>
                </a:solidFill>
                <a:latin typeface="Open Sans"/>
              </a:rPr>
              <a:t>page 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2843784"/>
            <a:ext cx="11091672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2843784"/>
            <a:ext cx="82296" cy="512064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68680" y="2843784"/>
            <a:ext cx="512064" cy="512064"/>
          </a:xfrm>
          <a:prstGeom prst="ellipse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vid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7552" y="2962656"/>
            <a:ext cx="274320" cy="27432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600200" y="2843784"/>
            <a:ext cx="40233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Montserrat"/>
              </a:rPr>
              <a:t>Vidéos</a:t>
            </a:r>
          </a:p>
        </p:txBody>
      </p:sp>
      <p:pic>
        <p:nvPicPr>
          <p:cNvPr id="33" name="Picture 32" descr="koff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3560" y="2871216"/>
            <a:ext cx="457200" cy="4572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217920" y="2843784"/>
            <a:ext cx="18288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Open Sans"/>
              </a:rPr>
              <a:t>Koffi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2843784"/>
            <a:ext cx="20116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Open Sans"/>
              </a:rPr>
              <a:t>3 livrables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66960" y="2843784"/>
            <a:ext cx="14630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E9510E"/>
                </a:solidFill>
                <a:latin typeface="Open Sans"/>
              </a:rPr>
              <a:t>page 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3419856"/>
            <a:ext cx="11091672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48640" y="3419856"/>
            <a:ext cx="82296" cy="512064"/>
          </a:xfrm>
          <a:prstGeom prst="rect">
            <a:avLst/>
          </a:prstGeom>
          <a:solidFill>
            <a:srgbClr val="C443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68680" y="3419856"/>
            <a:ext cx="512064" cy="512064"/>
          </a:xfrm>
          <a:prstGeom prst="ellipse">
            <a:avLst/>
          </a:prstGeom>
          <a:solidFill>
            <a:srgbClr val="C443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com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7552" y="3538728"/>
            <a:ext cx="274320" cy="27432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600200" y="3419856"/>
            <a:ext cx="40233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Montserrat"/>
              </a:rPr>
              <a:t>Commercial et ventes</a:t>
            </a:r>
          </a:p>
        </p:txBody>
      </p:sp>
      <p:pic>
        <p:nvPicPr>
          <p:cNvPr id="42" name="Picture 41" descr="kouassi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23560" y="3447288"/>
            <a:ext cx="457200" cy="45720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217920" y="3419856"/>
            <a:ext cx="18288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Open Sans"/>
              </a:rPr>
              <a:t>Kouassi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63840" y="3419856"/>
            <a:ext cx="20116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Open Sans"/>
              </a:rPr>
              <a:t>3 livrables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66960" y="3419856"/>
            <a:ext cx="14630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E9510E"/>
                </a:solidFill>
                <a:latin typeface="Open Sans"/>
              </a:rPr>
              <a:t>page 10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3995928"/>
            <a:ext cx="11091672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48640" y="3995928"/>
            <a:ext cx="82296" cy="512064"/>
          </a:xfrm>
          <a:prstGeom prst="rect">
            <a:avLst/>
          </a:prstGeom>
          <a:solidFill>
            <a:srgbClr val="5656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68680" y="3995928"/>
            <a:ext cx="512064" cy="512064"/>
          </a:xfrm>
          <a:prstGeom prst="ellipse">
            <a:avLst/>
          </a:prstGeom>
          <a:solidFill>
            <a:srgbClr val="5656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doc_FFFFFF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7552" y="4114800"/>
            <a:ext cx="274320" cy="27432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1600200" y="3995928"/>
            <a:ext cx="40233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Montserrat"/>
              </a:rPr>
              <a:t>Finance</a:t>
            </a:r>
          </a:p>
        </p:txBody>
      </p:sp>
      <p:pic>
        <p:nvPicPr>
          <p:cNvPr id="51" name="Picture 50" descr="mamadou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23560" y="4023360"/>
            <a:ext cx="457200" cy="45720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6217920" y="3995928"/>
            <a:ext cx="18288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Open Sans"/>
              </a:rPr>
              <a:t>Mamadou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63840" y="3995928"/>
            <a:ext cx="20116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Open Sans"/>
              </a:rPr>
              <a:t>1 livrable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966960" y="3995928"/>
            <a:ext cx="14630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E9510E"/>
                </a:solidFill>
                <a:latin typeface="Open Sans"/>
              </a:rPr>
              <a:t>page 12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8640" y="4572000"/>
            <a:ext cx="11091672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48640" y="4572000"/>
            <a:ext cx="82296" cy="512064"/>
          </a:xfrm>
          <a:prstGeom prst="rect">
            <a:avLst/>
          </a:prstGeom>
          <a:solidFill>
            <a:srgbClr val="D97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68680" y="4572000"/>
            <a:ext cx="512064" cy="512064"/>
          </a:xfrm>
          <a:prstGeom prst="ellipse">
            <a:avLst/>
          </a:prstGeom>
          <a:solidFill>
            <a:srgbClr val="D97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rec_FFFFFF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7552" y="4690872"/>
            <a:ext cx="274320" cy="274320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1600200" y="4572000"/>
            <a:ext cx="40233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Montserrat"/>
              </a:rPr>
              <a:t>Relation client</a:t>
            </a:r>
          </a:p>
        </p:txBody>
      </p:sp>
      <p:pic>
        <p:nvPicPr>
          <p:cNvPr id="60" name="Picture 59" descr="awa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23560" y="4599432"/>
            <a:ext cx="457200" cy="457200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6217920" y="4572000"/>
            <a:ext cx="18288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Open Sans"/>
              </a:rPr>
              <a:t>Awa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863840" y="4572000"/>
            <a:ext cx="20116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Open Sans"/>
              </a:rPr>
              <a:t>1 livrable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966960" y="4572000"/>
            <a:ext cx="14630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E9510E"/>
                </a:solidFill>
                <a:latin typeface="Open Sans"/>
              </a:rPr>
              <a:t>page 14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8640" y="5148072"/>
            <a:ext cx="11091672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48640" y="5148072"/>
            <a:ext cx="82296" cy="512064"/>
          </a:xfrm>
          <a:prstGeom prst="rect">
            <a:avLst/>
          </a:prstGeom>
          <a:solidFill>
            <a:srgbClr val="3D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68680" y="5148072"/>
            <a:ext cx="512064" cy="512064"/>
          </a:xfrm>
          <a:prstGeom prst="ellipse">
            <a:avLst/>
          </a:prstGeom>
          <a:solidFill>
            <a:srgbClr val="3D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7" name="Picture 66" descr="ops_FFFFFF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87552" y="5266944"/>
            <a:ext cx="274320" cy="274320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1600200" y="5148072"/>
            <a:ext cx="40233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Montserrat"/>
              </a:rPr>
              <a:t>Opérations et logistique</a:t>
            </a:r>
          </a:p>
        </p:txBody>
      </p:sp>
      <p:pic>
        <p:nvPicPr>
          <p:cNvPr id="69" name="Picture 68" descr="salif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623560" y="5175504"/>
            <a:ext cx="457200" cy="457200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6217920" y="5148072"/>
            <a:ext cx="18288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Open Sans"/>
              </a:rPr>
              <a:t>Salif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863840" y="5148072"/>
            <a:ext cx="20116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Open Sans"/>
              </a:rPr>
              <a:t>9 livrables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966960" y="5148072"/>
            <a:ext cx="14630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E9510E"/>
                </a:solidFill>
                <a:latin typeface="Open Sans"/>
              </a:rPr>
              <a:t>page 16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1A1A1A"/>
                </a:solidFill>
                <a:latin typeface="Open Sans"/>
              </a:rPr>
              <a:t>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5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82296"/>
          </a:xfrm>
          <a:prstGeom prst="rect">
            <a:avLst/>
          </a:prstGeom>
          <a:solidFill>
            <a:srgbClr val="E95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82296"/>
          </a:xfrm>
          <a:prstGeom prst="rect">
            <a:avLst/>
          </a:prstGeom>
          <a:solidFill>
            <a:srgbClr val="5656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82296"/>
          </a:xfrm>
          <a:prstGeom prst="rect">
            <a:avLst/>
          </a:prstGeom>
          <a:solidFill>
            <a:srgbClr val="F3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371600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kt_1A1A1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1627632"/>
            <a:ext cx="676656" cy="6766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29260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ontserrat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29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Montserrat"/>
              </a:rPr>
              <a:t>Marketing et contenu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348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Open Sans"/>
              </a:rPr>
              <a:t>7 livrables  ·  préparés par Fatima, Expert IA marketing et contenu</a:t>
            </a:r>
          </a:p>
        </p:txBody>
      </p:sp>
      <p:pic>
        <p:nvPicPr>
          <p:cNvPr id="11" name="Picture 10" descr="fati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7055" y="3017520"/>
            <a:ext cx="2011680" cy="20116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037015" y="457200"/>
            <a:ext cx="260604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prol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5514" y="662940"/>
            <a:ext cx="2169042" cy="7772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BBBBB"/>
                </a:solidFill>
                <a:latin typeface="Open Sans"/>
              </a:rPr>
              <a:t>PROLINE LOGISTICS  ·  Recueil des livrables des Experts  ·  octobre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Open Sans"/>
              </a:rPr>
              <a:t>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82296"/>
          </a:xfrm>
          <a:prstGeom prst="rect">
            <a:avLst/>
          </a:prstGeom>
          <a:solidFill>
            <a:srgbClr val="E95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82296"/>
          </a:xfrm>
          <a:prstGeom prst="rect">
            <a:avLst/>
          </a:prstGeom>
          <a:solidFill>
            <a:srgbClr val="5656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82296"/>
          </a:xfrm>
          <a:prstGeom prst="rect">
            <a:avLst/>
          </a:prstGeom>
          <a:solidFill>
            <a:srgbClr val="F3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384048"/>
            <a:ext cx="548640" cy="548640"/>
          </a:xfrm>
          <a:prstGeom prst="ellipse">
            <a:avLst/>
          </a:prstGeom>
          <a:solidFill>
            <a:srgbClr val="E95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kt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502920"/>
            <a:ext cx="310896" cy="310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61872" y="347472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Montserrat"/>
              </a:rPr>
              <a:t>Marketing et contenu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82296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Open Sans"/>
              </a:rPr>
              <a:t>1 sur 2</a:t>
            </a:r>
          </a:p>
        </p:txBody>
      </p:sp>
      <p:pic>
        <p:nvPicPr>
          <p:cNvPr id="10" name="Picture 9" descr="pro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5749" y="347472"/>
            <a:ext cx="1837306" cy="65836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48640" y="1371600"/>
            <a:ext cx="2514600" cy="54864"/>
          </a:xfrm>
          <a:prstGeom prst="rect">
            <a:avLst/>
          </a:prstGeom>
          <a:solidFill>
            <a:srgbClr val="E95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m1.jp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26464"/>
            <a:ext cx="2514600" cy="3017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Logo et couleurs relevés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Planche d’identité à valider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Open Sans"/>
                <a:hlinkClick r:id="rId5"/>
              </a:rPr>
              <a:t>Ouvrir le document  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8578" y="1371600"/>
            <a:ext cx="2514600" cy="54864"/>
          </a:xfrm>
          <a:prstGeom prst="rect">
            <a:avLst/>
          </a:prstGeom>
          <a:solidFill>
            <a:srgbClr val="E95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m2.jpg">
            <a:hlinkClick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8578" y="1426464"/>
            <a:ext cx="2514600" cy="30175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408578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Concurrents à Abidjan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8578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Qui fait quoi, et où se placer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8578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Open Sans"/>
                <a:hlinkClick r:id="rId7"/>
              </a:rPr>
              <a:t>Ouvrir le document  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8516" y="1371600"/>
            <a:ext cx="2514600" cy="54864"/>
          </a:xfrm>
          <a:prstGeom prst="rect">
            <a:avLst/>
          </a:prstGeom>
          <a:solidFill>
            <a:srgbClr val="E95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m3.jpg">
            <a:hlinkClick r:id="rId9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8516" y="1426464"/>
            <a:ext cx="2514600" cy="30175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268516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Plan marketing 2027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8516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Objectifs, actions et budget proposés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8516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Open Sans"/>
                <a:hlinkClick r:id="rId9"/>
              </a:rPr>
              <a:t>Ouvrir le document  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28455" y="1371600"/>
            <a:ext cx="2514600" cy="54864"/>
          </a:xfrm>
          <a:prstGeom prst="rect">
            <a:avLst/>
          </a:prstGeom>
          <a:solidFill>
            <a:srgbClr val="E95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m4.jpg">
            <a:hlinkClick r:id="rId11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8455" y="1426464"/>
            <a:ext cx="2514600" cy="30175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128455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Nouvelle page Entreposage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28455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Le texte de la page du site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28455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Open Sans"/>
                <a:hlinkClick r:id="rId11"/>
              </a:rPr>
              <a:t>Ouvrir le document  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PROLINE LOGISTICS  ·  Recueil des livrables des Experts  ·  octobre 2026</a:t>
            </a:r>
          </a:p>
        </p:txBody>
      </p:sp>
      <p:pic>
        <p:nvPicPr>
          <p:cNvPr id="32" name="Picture 31" descr="fatima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20840" y="6309360"/>
            <a:ext cx="457200" cy="4572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269480" y="6336792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Open Sans"/>
              </a:rPr>
              <a:t>Réalisé par Fatima</a:t>
            </a:r>
          </a:p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Expert IA, marketing et contenu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1A1A1A"/>
                </a:solidFill>
                <a:latin typeface="Open Sans"/>
              </a:rPr>
              <a:t>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82296"/>
          </a:xfrm>
          <a:prstGeom prst="rect">
            <a:avLst/>
          </a:prstGeom>
          <a:solidFill>
            <a:srgbClr val="E95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82296"/>
          </a:xfrm>
          <a:prstGeom prst="rect">
            <a:avLst/>
          </a:prstGeom>
          <a:solidFill>
            <a:srgbClr val="5656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82296"/>
          </a:xfrm>
          <a:prstGeom prst="rect">
            <a:avLst/>
          </a:prstGeom>
          <a:solidFill>
            <a:srgbClr val="F3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384048"/>
            <a:ext cx="548640" cy="548640"/>
          </a:xfrm>
          <a:prstGeom prst="ellipse">
            <a:avLst/>
          </a:prstGeom>
          <a:solidFill>
            <a:srgbClr val="E95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kt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502920"/>
            <a:ext cx="310896" cy="310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61872" y="347472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Montserrat"/>
              </a:rPr>
              <a:t>Marketing et contenu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82296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Open Sans"/>
              </a:rPr>
              <a:t>2 sur 2</a:t>
            </a:r>
          </a:p>
        </p:txBody>
      </p:sp>
      <p:pic>
        <p:nvPicPr>
          <p:cNvPr id="10" name="Picture 9" descr="pro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5749" y="347472"/>
            <a:ext cx="1837306" cy="65836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48640" y="1371600"/>
            <a:ext cx="2514600" cy="54864"/>
          </a:xfrm>
          <a:prstGeom prst="rect">
            <a:avLst/>
          </a:prstGeom>
          <a:solidFill>
            <a:srgbClr val="E95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m5.jp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26464"/>
            <a:ext cx="2514600" cy="3017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Trois posts LinkedIn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L’entrepôt et le sérieux de la maison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Open Sans"/>
                <a:hlinkClick r:id="rId5"/>
              </a:rPr>
              <a:t>Ouvrir le document  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8578" y="1371600"/>
            <a:ext cx="2514600" cy="54864"/>
          </a:xfrm>
          <a:prstGeom prst="rect">
            <a:avLst/>
          </a:prstGeom>
          <a:solidFill>
            <a:srgbClr val="E95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m6.jpg">
            <a:hlinkClick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8578" y="1426464"/>
            <a:ext cx="2514600" cy="30175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408578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Campagne transporteurs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8578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Recruter des transporteurs partenaires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8578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Open Sans"/>
                <a:hlinkClick r:id="rId7"/>
              </a:rPr>
              <a:t>Ouvrir le document  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8516" y="1371600"/>
            <a:ext cx="2514600" cy="54864"/>
          </a:xfrm>
          <a:prstGeom prst="rect">
            <a:avLst/>
          </a:prstGeom>
          <a:solidFill>
            <a:srgbClr val="E95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m7.jpg">
            <a:hlinkClick r:id="rId9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8516" y="1426464"/>
            <a:ext cx="2514600" cy="30175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268516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Audit LinkedIn et Facebook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8516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Comptes, concurrents et flyers proposés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8516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Open Sans"/>
                <a:hlinkClick r:id="rId9"/>
              </a:rPr>
              <a:t>Ouvrir le document  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PROLINE LOGISTICS  ·  Recueil des livrables des Experts  ·  octobre 2026</a:t>
            </a:r>
          </a:p>
        </p:txBody>
      </p:sp>
      <p:pic>
        <p:nvPicPr>
          <p:cNvPr id="27" name="Picture 26" descr="fatima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20840" y="6309360"/>
            <a:ext cx="457200" cy="4572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269480" y="6336792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Open Sans"/>
              </a:rPr>
              <a:t>Réalisé par Fatima</a:t>
            </a:r>
          </a:p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Expert IA, marketing et contenu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1A1A1A"/>
                </a:solidFill>
                <a:latin typeface="Open Sans"/>
              </a:rPr>
              <a:t>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82296"/>
          </a:xfrm>
          <a:prstGeom prst="rect">
            <a:avLst/>
          </a:prstGeom>
          <a:solidFill>
            <a:srgbClr val="E95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82296"/>
          </a:xfrm>
          <a:prstGeom prst="rect">
            <a:avLst/>
          </a:prstGeom>
          <a:solidFill>
            <a:srgbClr val="5656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82296"/>
          </a:xfrm>
          <a:prstGeom prst="rect">
            <a:avLst/>
          </a:prstGeom>
          <a:solidFill>
            <a:srgbClr val="F3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371600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es_1A1A1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1627632"/>
            <a:ext cx="676656" cy="6766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29260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ontserrat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29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Montserrat"/>
              </a:rPr>
              <a:t>Design de marque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348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Open Sans"/>
              </a:rPr>
              <a:t>3 livrables  ·  préparés par Koffi, Expert IA design de marque</a:t>
            </a:r>
          </a:p>
        </p:txBody>
      </p:sp>
      <p:pic>
        <p:nvPicPr>
          <p:cNvPr id="11" name="Picture 10" descr="koff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7055" y="3017520"/>
            <a:ext cx="2011680" cy="20116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037015" y="457200"/>
            <a:ext cx="260604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prol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5514" y="662940"/>
            <a:ext cx="2169042" cy="7772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BBBBB"/>
                </a:solidFill>
                <a:latin typeface="Open Sans"/>
              </a:rPr>
              <a:t>PROLINE LOGISTICS  ·  Recueil des livrables des Experts  ·  octobre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Open Sans"/>
              </a:rPr>
              <a:t>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82296"/>
          </a:xfrm>
          <a:prstGeom prst="rect">
            <a:avLst/>
          </a:prstGeom>
          <a:solidFill>
            <a:srgbClr val="E95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82296"/>
          </a:xfrm>
          <a:prstGeom prst="rect">
            <a:avLst/>
          </a:prstGeom>
          <a:solidFill>
            <a:srgbClr val="5656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82296"/>
          </a:xfrm>
          <a:prstGeom prst="rect">
            <a:avLst/>
          </a:prstGeom>
          <a:solidFill>
            <a:srgbClr val="F3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384048"/>
            <a:ext cx="548640" cy="548640"/>
          </a:xfrm>
          <a:prstGeom prst="ellipse">
            <a:avLst/>
          </a:prstGeom>
          <a:solidFill>
            <a:srgbClr val="F3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es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502920"/>
            <a:ext cx="310896" cy="310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61872" y="347472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Montserrat"/>
              </a:rPr>
              <a:t>Design de marque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82296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Open Sans"/>
              </a:rPr>
              <a:t>1 sur 1</a:t>
            </a:r>
          </a:p>
        </p:txBody>
      </p:sp>
      <p:pic>
        <p:nvPicPr>
          <p:cNvPr id="10" name="Picture 9" descr="pro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5749" y="347472"/>
            <a:ext cx="1837306" cy="65836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48640" y="1371600"/>
            <a:ext cx="2514600" cy="54864"/>
          </a:xfrm>
          <a:prstGeom prst="rect">
            <a:avLst/>
          </a:prstGeom>
          <a:solidFill>
            <a:srgbClr val="F3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1.jp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26464"/>
            <a:ext cx="2514600" cy="3017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Site web, version médium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Maquette de la page d’accueil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9510E"/>
                </a:solidFill>
                <a:latin typeface="Open Sans"/>
                <a:hlinkClick r:id="rId5"/>
              </a:rPr>
              <a:t>Voir le site en ligne  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8578" y="1371600"/>
            <a:ext cx="2514600" cy="54864"/>
          </a:xfrm>
          <a:prstGeom prst="rect">
            <a:avLst/>
          </a:prstGeom>
          <a:solidFill>
            <a:srgbClr val="F3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d2.jpg">
            <a:hlinkClick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8578" y="1426464"/>
            <a:ext cx="2514600" cy="30175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408578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Site web, version premium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8578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La même page, en plus haut de gamme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8578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9510E"/>
                </a:solidFill>
                <a:latin typeface="Open Sans"/>
                <a:hlinkClick r:id="rId7"/>
              </a:rPr>
              <a:t>Voir le site en ligne  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8516" y="1371600"/>
            <a:ext cx="2514600" cy="54864"/>
          </a:xfrm>
          <a:prstGeom prst="rect">
            <a:avLst/>
          </a:prstGeom>
          <a:solidFill>
            <a:srgbClr val="F3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d3.jpg">
            <a:hlinkClick r:id="rId9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8516" y="1426464"/>
            <a:ext cx="2514600" cy="30175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268516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Autocollants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8516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22 autocollants, de basique à premium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8516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9510E"/>
                </a:solidFill>
                <a:latin typeface="Open Sans"/>
                <a:hlinkClick r:id="rId9"/>
              </a:rPr>
              <a:t>Ouvrir le dossier  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PROLINE LOGISTICS  ·  Recueil des livrables des Experts  ·  octobre 2026</a:t>
            </a:r>
          </a:p>
        </p:txBody>
      </p:sp>
      <p:pic>
        <p:nvPicPr>
          <p:cNvPr id="27" name="Picture 26" descr="koffi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20840" y="6309360"/>
            <a:ext cx="457200" cy="4572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269480" y="6336792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Open Sans"/>
              </a:rPr>
              <a:t>Réalisé par Koffi</a:t>
            </a:r>
          </a:p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Expert IA, design de marque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1A1A1A"/>
                </a:solidFill>
                <a:latin typeface="Open Sans"/>
              </a:rPr>
              <a:t>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82296"/>
          </a:xfrm>
          <a:prstGeom prst="rect">
            <a:avLst/>
          </a:prstGeom>
          <a:solidFill>
            <a:srgbClr val="E95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82296"/>
          </a:xfrm>
          <a:prstGeom prst="rect">
            <a:avLst/>
          </a:prstGeom>
          <a:solidFill>
            <a:srgbClr val="5656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82296"/>
          </a:xfrm>
          <a:prstGeom prst="rect">
            <a:avLst/>
          </a:prstGeom>
          <a:solidFill>
            <a:srgbClr val="F3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371600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vid_1A1A1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1627632"/>
            <a:ext cx="676656" cy="6766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29260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E9510E"/>
                </a:solidFill>
                <a:latin typeface="Montserrat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29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Montserrat"/>
              </a:rPr>
              <a:t>Vidéos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348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Open Sans"/>
              </a:rPr>
              <a:t>3 livrables  ·  préparés par Koffi, Expert IA design de marque</a:t>
            </a:r>
          </a:p>
        </p:txBody>
      </p:sp>
      <p:pic>
        <p:nvPicPr>
          <p:cNvPr id="11" name="Picture 10" descr="koff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7055" y="3017520"/>
            <a:ext cx="2011680" cy="20116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037015" y="457200"/>
            <a:ext cx="260604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prol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5514" y="662940"/>
            <a:ext cx="2169042" cy="7772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BBBBB"/>
                </a:solidFill>
                <a:latin typeface="Open Sans"/>
              </a:rPr>
              <a:t>PROLINE LOGISTICS  ·  Recueil des livrables des Experts  ·  octobre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Open Sans"/>
              </a:rPr>
              <a:t>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82296"/>
          </a:xfrm>
          <a:prstGeom prst="rect">
            <a:avLst/>
          </a:prstGeom>
          <a:solidFill>
            <a:srgbClr val="E95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82296"/>
          </a:xfrm>
          <a:prstGeom prst="rect">
            <a:avLst/>
          </a:prstGeom>
          <a:solidFill>
            <a:srgbClr val="5656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82296"/>
          </a:xfrm>
          <a:prstGeom prst="rect">
            <a:avLst/>
          </a:prstGeom>
          <a:solidFill>
            <a:srgbClr val="F3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384048"/>
            <a:ext cx="548640" cy="548640"/>
          </a:xfrm>
          <a:prstGeom prst="ellipse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vid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502920"/>
            <a:ext cx="310896" cy="310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61872" y="347472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Montserrat"/>
              </a:rPr>
              <a:t>Vidéos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82296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Open Sans"/>
              </a:rPr>
              <a:t>1 sur 1</a:t>
            </a:r>
          </a:p>
        </p:txBody>
      </p:sp>
      <p:pic>
        <p:nvPicPr>
          <p:cNvPr id="10" name="Picture 9" descr="pro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5749" y="347472"/>
            <a:ext cx="1837306" cy="65836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48640" y="1371600"/>
            <a:ext cx="2514600" cy="54864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v1.jp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26464"/>
            <a:ext cx="2514600" cy="3017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Vidéo « Motion 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15 secondes, photos des entrepôts et du 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9510E"/>
                </a:solidFill>
                <a:latin typeface="Open Sans"/>
                <a:hlinkClick r:id="rId5"/>
              </a:rPr>
              <a:t>Regarder la vidéo  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8578" y="1371600"/>
            <a:ext cx="2514600" cy="54864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v2.jpg">
            <a:hlinkClick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8578" y="1426464"/>
            <a:ext cx="2514600" cy="30175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408578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Vidéo « Dessin animé 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8578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15 secondes, la logistique racontée en dessin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8578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9510E"/>
                </a:solidFill>
                <a:latin typeface="Open Sans"/>
                <a:hlinkClick r:id="rId7"/>
              </a:rPr>
              <a:t>Regarder la vidéo  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8516" y="1371600"/>
            <a:ext cx="2514600" cy="54864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v3.jpg">
            <a:hlinkClick r:id="rId9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8516" y="1426464"/>
            <a:ext cx="2514600" cy="30175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268516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Vidéo « Chiffres 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8516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15 secondes, la maison en chiffres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8516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9510E"/>
                </a:solidFill>
                <a:latin typeface="Open Sans"/>
                <a:hlinkClick r:id="rId9"/>
              </a:rPr>
              <a:t>Regarder la vidéo  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28455" y="2377440"/>
            <a:ext cx="2514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Les trois vidéos, dans un seul dossier</a:t>
            </a:r>
          </a:p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Format téléphone, 15 secondes, sans son.</a:t>
            </a:r>
          </a:p>
          <a:p>
            <a:pPr algn="l"/>
            <a:r>
              <a:rPr sz="1300" b="1">
                <a:solidFill>
                  <a:srgbClr val="E9510E"/>
                </a:solidFill>
                <a:latin typeface="Open Sans"/>
                <a:hlinkClick r:id="rId10"/>
              </a:rPr>
              <a:t>Ouvrir le dossier des vidéos  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PROLINE LOGISTICS  ·  Recueil des livrables des Experts  ·  octobre 2026</a:t>
            </a:r>
          </a:p>
        </p:txBody>
      </p:sp>
      <p:pic>
        <p:nvPicPr>
          <p:cNvPr id="28" name="Picture 27" descr="koffi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20840" y="6309360"/>
            <a:ext cx="457200" cy="4572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269480" y="6336792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Open Sans"/>
              </a:rPr>
              <a:t>Réalisé par Koffi</a:t>
            </a:r>
          </a:p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Expert IA, design de marque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1A1A1A"/>
                </a:solidFill>
                <a:latin typeface="Open Sans"/>
              </a:rPr>
              <a:t>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443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82296"/>
          </a:xfrm>
          <a:prstGeom prst="rect">
            <a:avLst/>
          </a:prstGeom>
          <a:solidFill>
            <a:srgbClr val="E95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82296"/>
          </a:xfrm>
          <a:prstGeom prst="rect">
            <a:avLst/>
          </a:prstGeom>
          <a:solidFill>
            <a:srgbClr val="5656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82296"/>
          </a:xfrm>
          <a:prstGeom prst="rect">
            <a:avLst/>
          </a:prstGeom>
          <a:solidFill>
            <a:srgbClr val="F3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371600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om_1A1A1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1627632"/>
            <a:ext cx="676656" cy="6766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29260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ontserrat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29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Montserrat"/>
              </a:rPr>
              <a:t>Commercial et ventes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348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Open Sans"/>
              </a:rPr>
              <a:t>3 livrables  ·  préparés par Kouassi, Expert IA commercial et ventes</a:t>
            </a:r>
          </a:p>
        </p:txBody>
      </p:sp>
      <p:pic>
        <p:nvPicPr>
          <p:cNvPr id="11" name="Picture 10" descr="kouass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7055" y="3017520"/>
            <a:ext cx="2011680" cy="20116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037015" y="457200"/>
            <a:ext cx="260604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prol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5514" y="662940"/>
            <a:ext cx="2169042" cy="7772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BBBBB"/>
                </a:solidFill>
                <a:latin typeface="Open Sans"/>
              </a:rPr>
              <a:t>PROLINE LOGISTICS  ·  Recueil des livrables des Experts  ·  octobre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Open Sans"/>
              </a:rP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82296"/>
          </a:xfrm>
          <a:prstGeom prst="rect">
            <a:avLst/>
          </a:prstGeom>
          <a:solidFill>
            <a:srgbClr val="E95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82296"/>
          </a:xfrm>
          <a:prstGeom prst="rect">
            <a:avLst/>
          </a:prstGeom>
          <a:solidFill>
            <a:srgbClr val="5656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82296"/>
          </a:xfrm>
          <a:prstGeom prst="rect">
            <a:avLst/>
          </a:prstGeom>
          <a:solidFill>
            <a:srgbClr val="F3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384048"/>
            <a:ext cx="548640" cy="548640"/>
          </a:xfrm>
          <a:prstGeom prst="ellipse">
            <a:avLst/>
          </a:prstGeom>
          <a:solidFill>
            <a:srgbClr val="C443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om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502920"/>
            <a:ext cx="310896" cy="310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61872" y="347472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Montserrat"/>
              </a:rPr>
              <a:t>Commercial et ventes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82296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Open Sans"/>
              </a:rPr>
              <a:t>1 sur 1</a:t>
            </a:r>
          </a:p>
        </p:txBody>
      </p:sp>
      <p:pic>
        <p:nvPicPr>
          <p:cNvPr id="10" name="Picture 9" descr="pro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5749" y="347472"/>
            <a:ext cx="1837306" cy="65836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48640" y="1371600"/>
            <a:ext cx="2514600" cy="54864"/>
          </a:xfrm>
          <a:prstGeom prst="rect">
            <a:avLst/>
          </a:prstGeom>
          <a:solidFill>
            <a:srgbClr val="C443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1.jp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26464"/>
            <a:ext cx="2514600" cy="3017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Argumentaire face aux concurrents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Ce qu’on répond quand on nous compare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9510E"/>
                </a:solidFill>
                <a:latin typeface="Open Sans"/>
                <a:hlinkClick r:id="rId5"/>
              </a:rPr>
              <a:t>Ouvrir le document  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8578" y="1371600"/>
            <a:ext cx="2514600" cy="54864"/>
          </a:xfrm>
          <a:prstGeom prst="rect">
            <a:avLst/>
          </a:prstGeom>
          <a:solidFill>
            <a:srgbClr val="C443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2.jpg">
            <a:hlinkClick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8578" y="1426464"/>
            <a:ext cx="2514600" cy="30175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408578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Préparer San-Pédro et Korhogo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8578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Les rendez-vous commerciaux du déplacement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8578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9510E"/>
                </a:solidFill>
                <a:latin typeface="Open Sans"/>
                <a:hlinkClick r:id="rId7"/>
              </a:rPr>
              <a:t>Ouvrir le document  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8516" y="1371600"/>
            <a:ext cx="2514600" cy="54864"/>
          </a:xfrm>
          <a:prstGeom prst="rect">
            <a:avLst/>
          </a:prstGeom>
          <a:solidFill>
            <a:srgbClr val="C443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c3.jpg">
            <a:hlinkClick r:id="rId9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8516" y="1426464"/>
            <a:ext cx="2514600" cy="30175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268516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Prospects et suivi des affaires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8516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Chaque piste, son étape et sa prochaine action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8516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9510E"/>
                </a:solidFill>
                <a:latin typeface="Open Sans"/>
                <a:hlinkClick r:id="rId9"/>
              </a:rPr>
              <a:t>Ouvrir le document  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PROLINE LOGISTICS  ·  Recueil des livrables des Experts  ·  octobre 2026</a:t>
            </a:r>
          </a:p>
        </p:txBody>
      </p:sp>
      <p:pic>
        <p:nvPicPr>
          <p:cNvPr id="27" name="Picture 26" descr="kouassi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20840" y="6309360"/>
            <a:ext cx="457200" cy="4572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269480" y="6336792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Open Sans"/>
              </a:rPr>
              <a:t>Réalisé par Kouassi</a:t>
            </a:r>
          </a:p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Expert IA, commercial et ventes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1A1A1A"/>
                </a:solidFill>
                <a:latin typeface="Open Sans"/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656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82296"/>
          </a:xfrm>
          <a:prstGeom prst="rect">
            <a:avLst/>
          </a:prstGeom>
          <a:solidFill>
            <a:srgbClr val="E95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82296"/>
          </a:xfrm>
          <a:prstGeom prst="rect">
            <a:avLst/>
          </a:prstGeom>
          <a:solidFill>
            <a:srgbClr val="5656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82296"/>
          </a:xfrm>
          <a:prstGeom prst="rect">
            <a:avLst/>
          </a:prstGeom>
          <a:solidFill>
            <a:srgbClr val="F3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371600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oc_1A1A1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1627632"/>
            <a:ext cx="676656" cy="6766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29260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ontserrat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29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Montserrat"/>
              </a:rPr>
              <a:t>Finance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348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Open Sans"/>
              </a:rPr>
              <a:t>1 livrable  ·  préparé par Mamadou, Expert IA finance</a:t>
            </a:r>
          </a:p>
        </p:txBody>
      </p:sp>
      <p:pic>
        <p:nvPicPr>
          <p:cNvPr id="11" name="Picture 10" descr="mamado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7055" y="3017520"/>
            <a:ext cx="2011680" cy="20116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037015" y="457200"/>
            <a:ext cx="260604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prol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5514" y="662940"/>
            <a:ext cx="2169042" cy="7772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BBBBB"/>
                </a:solidFill>
                <a:latin typeface="Open Sans"/>
              </a:rPr>
              <a:t>PROLINE LOGISTICS  ·  Recueil des livrables des Experts  ·  octobre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Open Sans"/>
              </a:rP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82296"/>
          </a:xfrm>
          <a:prstGeom prst="rect">
            <a:avLst/>
          </a:prstGeom>
          <a:solidFill>
            <a:srgbClr val="E95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82296"/>
          </a:xfrm>
          <a:prstGeom prst="rect">
            <a:avLst/>
          </a:prstGeom>
          <a:solidFill>
            <a:srgbClr val="5656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82296"/>
          </a:xfrm>
          <a:prstGeom prst="rect">
            <a:avLst/>
          </a:prstGeom>
          <a:solidFill>
            <a:srgbClr val="F3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384048"/>
            <a:ext cx="548640" cy="548640"/>
          </a:xfrm>
          <a:prstGeom prst="ellipse">
            <a:avLst/>
          </a:prstGeom>
          <a:solidFill>
            <a:srgbClr val="5656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oc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502920"/>
            <a:ext cx="310896" cy="310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61872" y="347472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Montserrat"/>
              </a:rPr>
              <a:t>Finance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82296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Open Sans"/>
              </a:rPr>
              <a:t>1 sur 1</a:t>
            </a:r>
          </a:p>
        </p:txBody>
      </p:sp>
      <p:pic>
        <p:nvPicPr>
          <p:cNvPr id="10" name="Picture 9" descr="pro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5749" y="347472"/>
            <a:ext cx="1837306" cy="65836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48640" y="1371600"/>
            <a:ext cx="2514600" cy="54864"/>
          </a:xfrm>
          <a:prstGeom prst="rect">
            <a:avLst/>
          </a:prstGeom>
          <a:solidFill>
            <a:srgbClr val="5656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f1.jp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26464"/>
            <a:ext cx="2514600" cy="3017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Rentabilité, impayés et parc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Ce que rapporte chaque client, ce qui reste dû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9510E"/>
                </a:solidFill>
                <a:latin typeface="Open Sans"/>
                <a:hlinkClick r:id="rId5"/>
              </a:rPr>
              <a:t>Ouvrir le document  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PROLINE LOGISTICS  ·  Recueil des livrables des Experts  ·  octobre 2026</a:t>
            </a:r>
          </a:p>
        </p:txBody>
      </p:sp>
      <p:pic>
        <p:nvPicPr>
          <p:cNvPr id="17" name="Picture 16" descr="mamadou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0840" y="6309360"/>
            <a:ext cx="457200" cy="4572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269480" y="6336792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Open Sans"/>
              </a:rPr>
              <a:t>Réalisé par Mamadou</a:t>
            </a:r>
          </a:p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Expert IA, finance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1A1A1A"/>
                </a:solidFill>
                <a:latin typeface="Open Sans"/>
              </a:rP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7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82296"/>
          </a:xfrm>
          <a:prstGeom prst="rect">
            <a:avLst/>
          </a:prstGeom>
          <a:solidFill>
            <a:srgbClr val="E95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82296"/>
          </a:xfrm>
          <a:prstGeom prst="rect">
            <a:avLst/>
          </a:prstGeom>
          <a:solidFill>
            <a:srgbClr val="5656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82296"/>
          </a:xfrm>
          <a:prstGeom prst="rect">
            <a:avLst/>
          </a:prstGeom>
          <a:solidFill>
            <a:srgbClr val="F3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371600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ec_1A1A1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1627632"/>
            <a:ext cx="676656" cy="6766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29260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ontserrat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29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Montserrat"/>
              </a:rPr>
              <a:t>Relation client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348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Open Sans"/>
              </a:rPr>
              <a:t>1 livrable  ·  préparé par Awa, Expert IA relation client</a:t>
            </a:r>
          </a:p>
        </p:txBody>
      </p:sp>
      <p:pic>
        <p:nvPicPr>
          <p:cNvPr id="11" name="Picture 10" descr="aw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7055" y="3017520"/>
            <a:ext cx="2011680" cy="20116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037015" y="457200"/>
            <a:ext cx="260604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prol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5514" y="662940"/>
            <a:ext cx="2169042" cy="7772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BBBBB"/>
                </a:solidFill>
                <a:latin typeface="Open Sans"/>
              </a:rPr>
              <a:t>PROLINE LOGISTICS  ·  Recueil des livrables des Experts  ·  octobre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Open Sans"/>
              </a:rP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82296"/>
          </a:xfrm>
          <a:prstGeom prst="rect">
            <a:avLst/>
          </a:prstGeom>
          <a:solidFill>
            <a:srgbClr val="E95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82296"/>
          </a:xfrm>
          <a:prstGeom prst="rect">
            <a:avLst/>
          </a:prstGeom>
          <a:solidFill>
            <a:srgbClr val="5656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82296"/>
          </a:xfrm>
          <a:prstGeom prst="rect">
            <a:avLst/>
          </a:prstGeom>
          <a:solidFill>
            <a:srgbClr val="F3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384048"/>
            <a:ext cx="548640" cy="548640"/>
          </a:xfrm>
          <a:prstGeom prst="ellipse">
            <a:avLst/>
          </a:prstGeom>
          <a:solidFill>
            <a:srgbClr val="D97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ec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502920"/>
            <a:ext cx="310896" cy="310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61872" y="347472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Montserrat"/>
              </a:rPr>
              <a:t>Relation 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82296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Open Sans"/>
              </a:rPr>
              <a:t>1 sur 1</a:t>
            </a:r>
          </a:p>
        </p:txBody>
      </p:sp>
      <p:pic>
        <p:nvPicPr>
          <p:cNvPr id="10" name="Picture 9" descr="pro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5749" y="347472"/>
            <a:ext cx="1837306" cy="65836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48640" y="1371600"/>
            <a:ext cx="2514600" cy="54864"/>
          </a:xfrm>
          <a:prstGeom prst="rect">
            <a:avLst/>
          </a:prstGeom>
          <a:solidFill>
            <a:srgbClr val="D97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1.jp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26464"/>
            <a:ext cx="2514600" cy="3017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Organisation du centre d’appels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Qui répond, comment, et ce qu’on suit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9510E"/>
                </a:solidFill>
                <a:latin typeface="Open Sans"/>
                <a:hlinkClick r:id="rId5"/>
              </a:rPr>
              <a:t>Ouvrir le document  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PROLINE LOGISTICS  ·  Recueil des livrables des Experts  ·  octobre 2026</a:t>
            </a:r>
          </a:p>
        </p:txBody>
      </p:sp>
      <p:pic>
        <p:nvPicPr>
          <p:cNvPr id="17" name="Picture 16" descr="aw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0840" y="6309360"/>
            <a:ext cx="457200" cy="4572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269480" y="6336792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Open Sans"/>
              </a:rPr>
              <a:t>Réalisé par Awa</a:t>
            </a:r>
          </a:p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Expert IA, relation client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1A1A1A"/>
                </a:solidFill>
                <a:latin typeface="Open Sans"/>
              </a:rP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82296"/>
          </a:xfrm>
          <a:prstGeom prst="rect">
            <a:avLst/>
          </a:prstGeom>
          <a:solidFill>
            <a:srgbClr val="E95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82296"/>
          </a:xfrm>
          <a:prstGeom prst="rect">
            <a:avLst/>
          </a:prstGeom>
          <a:solidFill>
            <a:srgbClr val="5656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82296"/>
          </a:xfrm>
          <a:prstGeom prst="rect">
            <a:avLst/>
          </a:prstGeom>
          <a:solidFill>
            <a:srgbClr val="F3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371600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ops_1A1A1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1627632"/>
            <a:ext cx="676656" cy="6766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29260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ontserrat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29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Montserrat"/>
              </a:rPr>
              <a:t>Opérations et logistique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348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Open Sans"/>
              </a:rPr>
              <a:t>9 livrables  ·  préparés par Salif, Expert IA opérations et logistique</a:t>
            </a:r>
          </a:p>
        </p:txBody>
      </p:sp>
      <p:pic>
        <p:nvPicPr>
          <p:cNvPr id="11" name="Picture 10" descr="sali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7055" y="3017520"/>
            <a:ext cx="2011680" cy="20116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037015" y="457200"/>
            <a:ext cx="260604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prol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5514" y="662940"/>
            <a:ext cx="2169042" cy="7772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BBBBB"/>
                </a:solidFill>
                <a:latin typeface="Open Sans"/>
              </a:rPr>
              <a:t>PROLINE LOGISTICS  ·  Recueil des livrables des Experts  ·  octobre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Open Sans"/>
              </a:rP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82296"/>
          </a:xfrm>
          <a:prstGeom prst="rect">
            <a:avLst/>
          </a:prstGeom>
          <a:solidFill>
            <a:srgbClr val="E95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82296"/>
          </a:xfrm>
          <a:prstGeom prst="rect">
            <a:avLst/>
          </a:prstGeom>
          <a:solidFill>
            <a:srgbClr val="5656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82296"/>
          </a:xfrm>
          <a:prstGeom prst="rect">
            <a:avLst/>
          </a:prstGeom>
          <a:solidFill>
            <a:srgbClr val="F3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384048"/>
            <a:ext cx="548640" cy="548640"/>
          </a:xfrm>
          <a:prstGeom prst="ellipse">
            <a:avLst/>
          </a:prstGeom>
          <a:solidFill>
            <a:srgbClr val="3D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ops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502920"/>
            <a:ext cx="310896" cy="310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61872" y="347472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Montserrat"/>
              </a:rPr>
              <a:t>Opérations et logistique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82296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Open Sans"/>
              </a:rPr>
              <a:t>1 sur 3</a:t>
            </a:r>
          </a:p>
        </p:txBody>
      </p:sp>
      <p:pic>
        <p:nvPicPr>
          <p:cNvPr id="10" name="Picture 9" descr="pro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5749" y="347472"/>
            <a:ext cx="1837306" cy="65836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48640" y="1371600"/>
            <a:ext cx="2514600" cy="54864"/>
          </a:xfrm>
          <a:prstGeom prst="rect">
            <a:avLst/>
          </a:prstGeom>
          <a:solidFill>
            <a:srgbClr val="3D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o1.jp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26464"/>
            <a:ext cx="2514600" cy="3017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Tournées et coût au km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Les tournées de demain, chiffrées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9510E"/>
                </a:solidFill>
                <a:latin typeface="Open Sans"/>
                <a:hlinkClick r:id="rId5"/>
              </a:rPr>
              <a:t>Ouvrir le document  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8578" y="1371600"/>
            <a:ext cx="2514600" cy="54864"/>
          </a:xfrm>
          <a:prstGeom prst="rect">
            <a:avLst/>
          </a:prstGeom>
          <a:solidFill>
            <a:srgbClr val="3D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o2.jpg">
            <a:hlinkClick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8578" y="1426464"/>
            <a:ext cx="2514600" cy="30175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408578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Parc de 20 véhicules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8578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Conformité et consommation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8578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9510E"/>
                </a:solidFill>
                <a:latin typeface="Open Sans"/>
                <a:hlinkClick r:id="rId7"/>
              </a:rPr>
              <a:t>Ouvrir le document  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8516" y="1371600"/>
            <a:ext cx="2514600" cy="54864"/>
          </a:xfrm>
          <a:prstGeom prst="rect">
            <a:avLst/>
          </a:prstGeom>
          <a:solidFill>
            <a:srgbClr val="3D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o3.jpg">
            <a:hlinkClick r:id="rId9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8516" y="1426464"/>
            <a:ext cx="2514600" cy="30175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268516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Erreurs de préparation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8516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30 réclamations et ce qu’on change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8516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9510E"/>
                </a:solidFill>
                <a:latin typeface="Open Sans"/>
                <a:hlinkClick r:id="rId9"/>
              </a:rPr>
              <a:t>Ouvrir le document  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28455" y="1371600"/>
            <a:ext cx="2514600" cy="54864"/>
          </a:xfrm>
          <a:prstGeom prst="rect">
            <a:avLst/>
          </a:prstGeom>
          <a:solidFill>
            <a:srgbClr val="3D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o4.jpg">
            <a:hlinkClick r:id="rId11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8455" y="1426464"/>
            <a:ext cx="2514600" cy="30175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128455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Rapprochement des encaissements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28455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La journée du 27 octobre, pointée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28455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9510E"/>
                </a:solidFill>
                <a:latin typeface="Open Sans"/>
                <a:hlinkClick r:id="rId11"/>
              </a:rPr>
              <a:t>Ouvrir le document  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PROLINE LOGISTICS  ·  Recueil des livrables des Experts  ·  octobre 2026</a:t>
            </a:r>
          </a:p>
        </p:txBody>
      </p:sp>
      <p:pic>
        <p:nvPicPr>
          <p:cNvPr id="32" name="Picture 31" descr="salif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20840" y="6309360"/>
            <a:ext cx="457200" cy="4572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269480" y="6336792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Open Sans"/>
              </a:rPr>
              <a:t>Réalisé par Salif</a:t>
            </a:r>
          </a:p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Expert IA, opérations et logistique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1A1A1A"/>
                </a:solidFill>
                <a:latin typeface="Open Sans"/>
              </a:rP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82296"/>
          </a:xfrm>
          <a:prstGeom prst="rect">
            <a:avLst/>
          </a:prstGeom>
          <a:solidFill>
            <a:srgbClr val="E95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82296"/>
          </a:xfrm>
          <a:prstGeom prst="rect">
            <a:avLst/>
          </a:prstGeom>
          <a:solidFill>
            <a:srgbClr val="5656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82296"/>
          </a:xfrm>
          <a:prstGeom prst="rect">
            <a:avLst/>
          </a:prstGeom>
          <a:solidFill>
            <a:srgbClr val="F3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384048"/>
            <a:ext cx="548640" cy="548640"/>
          </a:xfrm>
          <a:prstGeom prst="ellipse">
            <a:avLst/>
          </a:prstGeom>
          <a:solidFill>
            <a:srgbClr val="3D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ops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502920"/>
            <a:ext cx="310896" cy="310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61872" y="347472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Montserrat"/>
              </a:rPr>
              <a:t>Opérations et logistique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82296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Open Sans"/>
              </a:rPr>
              <a:t>2 sur 3</a:t>
            </a:r>
          </a:p>
        </p:txBody>
      </p:sp>
      <p:pic>
        <p:nvPicPr>
          <p:cNvPr id="10" name="Picture 9" descr="pro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5749" y="347472"/>
            <a:ext cx="1837306" cy="65836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48640" y="1371600"/>
            <a:ext cx="2514600" cy="54864"/>
          </a:xfrm>
          <a:prstGeom prst="rect">
            <a:avLst/>
          </a:prstGeom>
          <a:solidFill>
            <a:srgbClr val="3D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o5.jp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26464"/>
            <a:ext cx="2514600" cy="3017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Déplacement San-Pédro et Korhogo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Programme du 2 au 7 novembre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9510E"/>
                </a:solidFill>
                <a:latin typeface="Open Sans"/>
                <a:hlinkClick r:id="rId5"/>
              </a:rPr>
              <a:t>Ouvrir le document  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8578" y="1371600"/>
            <a:ext cx="2514600" cy="54864"/>
          </a:xfrm>
          <a:prstGeom prst="rect">
            <a:avLst/>
          </a:prstGeom>
          <a:solidFill>
            <a:srgbClr val="3D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o6.jpg">
            <a:hlinkClick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8578" y="1426464"/>
            <a:ext cx="2514600" cy="30175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408578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Mode opératoire de préparation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8578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Les étapes, du bon de commande au quai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8578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9510E"/>
                </a:solidFill>
                <a:latin typeface="Open Sans"/>
                <a:hlinkClick r:id="rId7"/>
              </a:rPr>
              <a:t>Ouvrir le document  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8516" y="1371600"/>
            <a:ext cx="2514600" cy="54864"/>
          </a:xfrm>
          <a:prstGeom prst="rect">
            <a:avLst/>
          </a:prstGeom>
          <a:solidFill>
            <a:srgbClr val="3D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o7.jpg">
            <a:hlinkClick r:id="rId9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8516" y="1426464"/>
            <a:ext cx="2514600" cy="30175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268516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Arrêté de caisse des livreurs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8516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Ce que chaque livreur rend, chaque soir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8516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9510E"/>
                </a:solidFill>
                <a:latin typeface="Open Sans"/>
                <a:hlinkClick r:id="rId9"/>
              </a:rPr>
              <a:t>Ouvrir le document  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28455" y="1371600"/>
            <a:ext cx="2514600" cy="54864"/>
          </a:xfrm>
          <a:prstGeom prst="rect">
            <a:avLst/>
          </a:prstGeom>
          <a:solidFill>
            <a:srgbClr val="3D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o8.jpg">
            <a:hlinkClick r:id="rId11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8455" y="1426464"/>
            <a:ext cx="2514600" cy="30175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128455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Entretien de la flotte et carburant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28455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Vidanges, pannes et litres par camion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28455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9510E"/>
                </a:solidFill>
                <a:latin typeface="Open Sans"/>
                <a:hlinkClick r:id="rId11"/>
              </a:rPr>
              <a:t>Ouvrir le document  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PROLINE LOGISTICS  ·  Recueil des livrables des Experts  ·  octobre 2026</a:t>
            </a:r>
          </a:p>
        </p:txBody>
      </p:sp>
      <p:pic>
        <p:nvPicPr>
          <p:cNvPr id="32" name="Picture 31" descr="salif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20840" y="6309360"/>
            <a:ext cx="457200" cy="4572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269480" y="6336792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Open Sans"/>
              </a:rPr>
              <a:t>Réalisé par Salif</a:t>
            </a:r>
          </a:p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Expert IA, opérations et logistique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1A1A1A"/>
                </a:solidFill>
                <a:latin typeface="Open Sans"/>
              </a:rP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82296"/>
          </a:xfrm>
          <a:prstGeom prst="rect">
            <a:avLst/>
          </a:prstGeom>
          <a:solidFill>
            <a:srgbClr val="E95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82296"/>
          </a:xfrm>
          <a:prstGeom prst="rect">
            <a:avLst/>
          </a:prstGeom>
          <a:solidFill>
            <a:srgbClr val="5656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82296"/>
          </a:xfrm>
          <a:prstGeom prst="rect">
            <a:avLst/>
          </a:prstGeom>
          <a:solidFill>
            <a:srgbClr val="F3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384048"/>
            <a:ext cx="548640" cy="548640"/>
          </a:xfrm>
          <a:prstGeom prst="ellipse">
            <a:avLst/>
          </a:prstGeom>
          <a:solidFill>
            <a:srgbClr val="3D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ops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502920"/>
            <a:ext cx="310896" cy="310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61872" y="347472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Montserrat"/>
              </a:rPr>
              <a:t>Opérations et logistique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82296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Open Sans"/>
              </a:rPr>
              <a:t>3 sur 3</a:t>
            </a:r>
          </a:p>
        </p:txBody>
      </p:sp>
      <p:pic>
        <p:nvPicPr>
          <p:cNvPr id="10" name="Picture 9" descr="pro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5749" y="347472"/>
            <a:ext cx="1837306" cy="65836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48640" y="1371600"/>
            <a:ext cx="2514600" cy="54864"/>
          </a:xfrm>
          <a:prstGeom prst="rect">
            <a:avLst/>
          </a:prstGeom>
          <a:solidFill>
            <a:srgbClr val="3D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o9.jp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26464"/>
            <a:ext cx="2514600" cy="3017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Preuve de livraison et ponctualité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Chaque livraison signée, à l’heure ou non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9510E"/>
                </a:solidFill>
                <a:latin typeface="Open Sans"/>
                <a:hlinkClick r:id="rId5"/>
              </a:rPr>
              <a:t>Ouvrir le document  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PROLINE LOGISTICS  ·  Recueil des livrables des Experts  ·  octobre 2026</a:t>
            </a:r>
          </a:p>
        </p:txBody>
      </p:sp>
      <p:pic>
        <p:nvPicPr>
          <p:cNvPr id="17" name="Picture 16" descr="sali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0840" y="6309360"/>
            <a:ext cx="457200" cy="4572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269480" y="6336792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Open Sans"/>
              </a:rPr>
              <a:t>Réalisé par Salif</a:t>
            </a:r>
          </a:p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Expert IA, opérations et logistique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1A1A1A"/>
                </a:solidFill>
                <a:latin typeface="Open Sans"/>
              </a:rP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128016"/>
          </a:xfrm>
          <a:prstGeom prst="rect">
            <a:avLst/>
          </a:prstGeom>
          <a:solidFill>
            <a:srgbClr val="E95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128016"/>
          </a:xfrm>
          <a:prstGeom prst="rect">
            <a:avLst/>
          </a:prstGeom>
          <a:solidFill>
            <a:srgbClr val="5656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128016"/>
          </a:xfrm>
          <a:prstGeom prst="rect">
            <a:avLst/>
          </a:prstGeom>
          <a:solidFill>
            <a:srgbClr val="F3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640080"/>
            <a:ext cx="310896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ro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777240"/>
            <a:ext cx="2651760" cy="95021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233172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ontserrat"/>
              </a:rPr>
              <a:t>Et maintenant ?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429000"/>
            <a:ext cx="640080" cy="640080"/>
          </a:xfrm>
          <a:prstGeom prst="ellipse">
            <a:avLst/>
          </a:prstGeom>
          <a:solidFill>
            <a:srgbClr val="E95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4290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42900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ontserrat"/>
              </a:rPr>
              <a:t>Vous parcourez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840480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  <a:latin typeface="Open Sans"/>
              </a:rPr>
              <a:t>Chaque vignette ouvre le document ou la vidéo.</a:t>
            </a:r>
          </a:p>
        </p:txBody>
      </p:sp>
      <p:sp>
        <p:nvSpPr>
          <p:cNvPr id="13" name="Oval 12"/>
          <p:cNvSpPr/>
          <p:nvPr/>
        </p:nvSpPr>
        <p:spPr>
          <a:xfrm>
            <a:off x="4389120" y="3429000"/>
            <a:ext cx="640080" cy="640080"/>
          </a:xfrm>
          <a:prstGeom prst="ellipse">
            <a:avLst/>
          </a:prstGeom>
          <a:solidFill>
            <a:srgbClr val="5656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34290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342900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ontserrat"/>
              </a:rPr>
              <a:t>Vous annotez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840480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  <a:latin typeface="Open Sans"/>
              </a:rPr>
              <a:t>Vos commentaires directement dans les documents.</a:t>
            </a:r>
          </a:p>
        </p:txBody>
      </p:sp>
      <p:sp>
        <p:nvSpPr>
          <p:cNvPr id="17" name="Oval 16"/>
          <p:cNvSpPr/>
          <p:nvPr/>
        </p:nvSpPr>
        <p:spPr>
          <a:xfrm>
            <a:off x="8046720" y="3429000"/>
            <a:ext cx="640080" cy="640080"/>
          </a:xfrm>
          <a:prstGeom prst="ellipse">
            <a:avLst/>
          </a:prstGeom>
          <a:solidFill>
            <a:srgbClr val="F3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0" y="34290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342900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ontserrat"/>
              </a:rPr>
              <a:t>Nous ajustons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3840480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  <a:latin typeface="Open Sans"/>
              </a:rPr>
              <a:t>Chaque Expert reprend son livrable avec vos retours.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2120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  <a:latin typeface="Open Sans"/>
              </a:rPr>
              <a:t>Le recueil et les fichiers qui n’avaient pas encore de lien sont rangés dans son dossier Drive.</a:t>
            </a:r>
          </a:p>
          <a:p>
            <a:pPr algn="l"/>
            <a:r>
              <a:rPr sz="1400" b="1">
                <a:solidFill>
                  <a:srgbClr val="E9510E"/>
                </a:solidFill>
                <a:latin typeface="Open Sans"/>
                <a:hlinkClick r:id="rId3"/>
              </a:rPr>
              <a:t>Ouvrir le dossier  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729984"/>
            <a:ext cx="4063898" cy="128016"/>
          </a:xfrm>
          <a:prstGeom prst="rect">
            <a:avLst/>
          </a:prstGeom>
          <a:solidFill>
            <a:srgbClr val="E95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063898" y="6729984"/>
            <a:ext cx="4063898" cy="128016"/>
          </a:xfrm>
          <a:prstGeom prst="rect">
            <a:avLst/>
          </a:prstGeom>
          <a:solidFill>
            <a:srgbClr val="5656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27796" y="6729984"/>
            <a:ext cx="4073042" cy="128016"/>
          </a:xfrm>
          <a:prstGeom prst="rect">
            <a:avLst/>
          </a:prstGeom>
          <a:solidFill>
            <a:srgbClr val="F3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Open Sans"/>
              </a:rPr>
              <a:t>20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E9510E"/>
      </a:hlink>
      <a:folHlink>
        <a:srgbClr val="E9510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