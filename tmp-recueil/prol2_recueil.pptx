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3.png"/><Relationship Id="rId6" Type="http://schemas.openxmlformats.org/officeDocument/2006/relationships/image" Target="../media/image19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28.png"/><Relationship Id="rId10" Type="http://schemas.openxmlformats.org/officeDocument/2006/relationships/image" Target="../media/image6.png"/><Relationship Id="rId11" Type="http://schemas.openxmlformats.org/officeDocument/2006/relationships/image" Target="../media/image34.png"/><Relationship Id="rId12" Type="http://schemas.openxmlformats.org/officeDocument/2006/relationships/image" Target="../media/image7.png"/><Relationship Id="rId13" Type="http://schemas.openxmlformats.org/officeDocument/2006/relationships/image" Target="../media/image37.png"/><Relationship Id="rId14" Type="http://schemas.openxmlformats.org/officeDocument/2006/relationships/image" Target="../media/image8.png"/><Relationship Id="rId15" Type="http://schemas.openxmlformats.org/officeDocument/2006/relationships/image" Target="../media/image4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1.jpg"/><Relationship Id="rId5" Type="http://schemas.openxmlformats.org/officeDocument/2006/relationships/hyperlink" Target="https://drive.google.com/file/d/1aARZYlYxsVnz9iH8WAdHj7iVM_kLxFHO/view" TargetMode="External"/><Relationship Id="rId6" Type="http://schemas.openxmlformats.org/officeDocument/2006/relationships/image" Target="../media/image12.jpg"/><Relationship Id="rId7" Type="http://schemas.openxmlformats.org/officeDocument/2006/relationships/hyperlink" Target="https://docs.google.com/presentation/d/1caaCPbRg_AW8r75otNONy2vskejANo1Tmrab6Gm1Qfg/edit" TargetMode="External"/><Relationship Id="rId8" Type="http://schemas.openxmlformats.org/officeDocument/2006/relationships/image" Target="../media/image13.jpg"/><Relationship Id="rId9" Type="http://schemas.openxmlformats.org/officeDocument/2006/relationships/hyperlink" Target="https://docs.google.com/document/d/1Wjkgvqp701vj0zl6u0k9RnQCG2-vz3GfxaMjUStSIuY/edit" TargetMode="External"/><Relationship Id="rId10" Type="http://schemas.openxmlformats.org/officeDocument/2006/relationships/image" Target="../media/image14.jpg"/><Relationship Id="rId11" Type="http://schemas.openxmlformats.org/officeDocument/2006/relationships/hyperlink" Target="https://docs.google.com/document/d/1ebudIJr_IU3Y3y9JEipEhxeoLYirDzZt89hohfgJVGk/edit" TargetMode="External"/><Relationship Id="rId1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5.jpg"/><Relationship Id="rId5" Type="http://schemas.openxmlformats.org/officeDocument/2006/relationships/hyperlink" Target="https://docs.google.com/document/d/1JdeSNp0vkhxC58VsRBkWLh4BW82UeI5-36y6L4UpBr0/edit" TargetMode="External"/><Relationship Id="rId6" Type="http://schemas.openxmlformats.org/officeDocument/2006/relationships/image" Target="../media/image16.jpg"/><Relationship Id="rId7" Type="http://schemas.openxmlformats.org/officeDocument/2006/relationships/hyperlink" Target="https://docs.google.com/document/d/1nTUut_mIIocGXHLNiGEQfKSpsedaPoOry727-5RvMfI/edit" TargetMode="External"/><Relationship Id="rId8" Type="http://schemas.openxmlformats.org/officeDocument/2006/relationships/image" Target="../media/image17.jpg"/><Relationship Id="rId9" Type="http://schemas.openxmlformats.org/officeDocument/2006/relationships/hyperlink" Target="https://docs.google.com/presentation/d/1C25pJHZiKVPMZY_ej6sM1HA_Ud6b7EOOydEnveAWgE8/edit" TargetMode="External"/><Relationship Id="rId10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0.jpg"/><Relationship Id="rId5" Type="http://schemas.openxmlformats.org/officeDocument/2006/relationships/hyperlink" Target="https://leslita06.github.io/proline-maquette/medium/" TargetMode="External"/><Relationship Id="rId6" Type="http://schemas.openxmlformats.org/officeDocument/2006/relationships/image" Target="../media/image21.jpg"/><Relationship Id="rId7" Type="http://schemas.openxmlformats.org/officeDocument/2006/relationships/hyperlink" Target="https://leslita06.github.io/proline-maquette/premium/" TargetMode="External"/><Relationship Id="rId8" Type="http://schemas.openxmlformats.org/officeDocument/2006/relationships/image" Target="../media/image22.jpg"/><Relationship Id="rId9" Type="http://schemas.openxmlformats.org/officeDocument/2006/relationships/hyperlink" Target="https://drive.google.com/drive/folders/1CoZ31cOR0dQIioSwdVdZHWToTMH-mqvl" TargetMode="External"/><Relationship Id="rId10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9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24.jpg"/><Relationship Id="rId5" Type="http://schemas.openxmlformats.org/officeDocument/2006/relationships/hyperlink" Target="https://drive.google.com/file/d/1NbxV3MSakwW2fiKborNf7Bpq98z5wDXS/view" TargetMode="External"/><Relationship Id="rId6" Type="http://schemas.openxmlformats.org/officeDocument/2006/relationships/image" Target="../media/image25.jpg"/><Relationship Id="rId7" Type="http://schemas.openxmlformats.org/officeDocument/2006/relationships/hyperlink" Target="https://drive.google.com/file/d/1vU3Gle4EVzXZKH14NzmhftstvXlmAGKO/view" TargetMode="External"/><Relationship Id="rId8" Type="http://schemas.openxmlformats.org/officeDocument/2006/relationships/image" Target="../media/image26.jpg"/><Relationship Id="rId9" Type="http://schemas.openxmlformats.org/officeDocument/2006/relationships/hyperlink" Target="https://drive.google.com/file/d/1ToXMg6s2MQJVKcPjU7kqm_VlC1cpWMSh/view" TargetMode="External"/><Relationship Id="rId10" Type="http://schemas.openxmlformats.org/officeDocument/2006/relationships/hyperlink" Target="https://drive.google.com/drive/folders/14VK3rR3qF4dILwBFXivy9oaqbuijp-wC" TargetMode="External"/><Relationship Id="rId11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9.jpg"/><Relationship Id="rId5" Type="http://schemas.openxmlformats.org/officeDocument/2006/relationships/hyperlink" Target="https://docs.google.com/document/d/1te9LL3r7e0ygFa-C9m4TxPkujV9vOooxtgzmjeAhAKI/edit" TargetMode="External"/><Relationship Id="rId6" Type="http://schemas.openxmlformats.org/officeDocument/2006/relationships/image" Target="../media/image30.jpg"/><Relationship Id="rId7" Type="http://schemas.openxmlformats.org/officeDocument/2006/relationships/hyperlink" Target="https://docs.google.com/document/d/19ARo5BO1E4AwPsykPWy3BwmSRRpwrD4GYfRux0nMBRc/edit" TargetMode="External"/><Relationship Id="rId8" Type="http://schemas.openxmlformats.org/officeDocument/2006/relationships/image" Target="../media/image31.jpg"/><Relationship Id="rId9" Type="http://schemas.openxmlformats.org/officeDocument/2006/relationships/hyperlink" Target="https://docs.google.com/spreadsheets/d/1jadyIrqEmy2H39GfTf8kL22rHHbKhKVIsES9Ngjp5yE/edit" TargetMode="External"/><Relationship Id="rId10" Type="http://schemas.openxmlformats.org/officeDocument/2006/relationships/image" Target="../media/image32.jpg"/><Relationship Id="rId11" Type="http://schemas.openxmlformats.org/officeDocument/2006/relationships/hyperlink" Target="https://leslita06.github.io/proline-prospection-linkedin/" TargetMode="External"/><Relationship Id="rId12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image" Target="../media/image35.jpg"/><Relationship Id="rId5" Type="http://schemas.openxmlformats.org/officeDocument/2006/relationships/hyperlink" Target="https://docs.google.com/spreadsheets/d/1xs8qwJrKlrQ-qB9mJpXMJ2_AIm7A2rnWbLoPAoGt6Kc/edit" TargetMode="External"/><Relationship Id="rId6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38.jpg"/><Relationship Id="rId5" Type="http://schemas.openxmlformats.org/officeDocument/2006/relationships/hyperlink" Target="https://docs.google.com/document/d/1spQxtLP7uZn7Gg92TN47cFQMxQbh8GANjH-OX6AUVrM/edit" TargetMode="External"/><Relationship Id="rId6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41.jpg"/><Relationship Id="rId5" Type="http://schemas.openxmlformats.org/officeDocument/2006/relationships/hyperlink" Target="https://docs.google.com/spreadsheets/d/1g1sOMkmfDHbjMAp2Q0NOLFfcwU2g4lyx4FJJKzFhIL8/edit" TargetMode="External"/><Relationship Id="rId6" Type="http://schemas.openxmlformats.org/officeDocument/2006/relationships/image" Target="../media/image42.jpg"/><Relationship Id="rId7" Type="http://schemas.openxmlformats.org/officeDocument/2006/relationships/hyperlink" Target="https://docs.google.com/spreadsheets/d/19pBhkYQHRdx8EDIOJEgd-AV6iWoRhKghc7D5xMBKvFk/edit" TargetMode="External"/><Relationship Id="rId8" Type="http://schemas.openxmlformats.org/officeDocument/2006/relationships/image" Target="../media/image43.jpg"/><Relationship Id="rId9" Type="http://schemas.openxmlformats.org/officeDocument/2006/relationships/hyperlink" Target="https://docs.google.com/spreadsheets/d/1UnKrOQAfX4vpdlSzutqjQfekPnKoHavXsG7zPkdsYj8/edit" TargetMode="External"/><Relationship Id="rId10" Type="http://schemas.openxmlformats.org/officeDocument/2006/relationships/image" Target="../media/image44.jpg"/><Relationship Id="rId11" Type="http://schemas.openxmlformats.org/officeDocument/2006/relationships/hyperlink" Target="https://docs.google.com/spreadsheets/d/1nFLzhwwucPdffs4kosEZ-MNRy1XsUlKyo3DLFp9aljY/edit" TargetMode="External"/><Relationship Id="rId12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45.jpg"/><Relationship Id="rId5" Type="http://schemas.openxmlformats.org/officeDocument/2006/relationships/hyperlink" Target="https://docs.google.com/document/d/1h2EVh3WOXpAVbN4hQr2lTZiMKzSc45Agv6bDsIFd8ew/edit" TargetMode="External"/><Relationship Id="rId6" Type="http://schemas.openxmlformats.org/officeDocument/2006/relationships/image" Target="../media/image46.jpg"/><Relationship Id="rId7" Type="http://schemas.openxmlformats.org/officeDocument/2006/relationships/hyperlink" Target="https://docs.google.com/document/d/1rwEMqniTT7it-eOXicFbBXQPF0DXs07iG1DfpkiP5xo/edit" TargetMode="External"/><Relationship Id="rId8" Type="http://schemas.openxmlformats.org/officeDocument/2006/relationships/image" Target="../media/image47.jpg"/><Relationship Id="rId9" Type="http://schemas.openxmlformats.org/officeDocument/2006/relationships/hyperlink" Target="https://docs.google.com/spreadsheets/d/1UHNMx-52DURRxF80Dt1BDnUr1V5P2bgttnMXULpq9zo/edit" TargetMode="External"/><Relationship Id="rId10" Type="http://schemas.openxmlformats.org/officeDocument/2006/relationships/image" Target="../media/image48.jpg"/><Relationship Id="rId11" Type="http://schemas.openxmlformats.org/officeDocument/2006/relationships/hyperlink" Target="https://docs.google.com/spreadsheets/d/1nMB5PiOZvEad_lKwigImMSB2QhZlkVFFQ7Ix8Me1dhA/edit" TargetMode="External"/><Relationship Id="rId12" Type="http://schemas.openxmlformats.org/officeDocument/2006/relationships/image" Target="../media/image4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49.jpg"/><Relationship Id="rId5" Type="http://schemas.openxmlformats.org/officeDocument/2006/relationships/hyperlink" Target="https://docs.google.com/spreadsheets/d/1d5yn2efubOAYuZuF-QREyMzO2F3HhqTshdqCAwEtVKQ/edit" TargetMode="External"/><Relationship Id="rId6" Type="http://schemas.openxmlformats.org/officeDocument/2006/relationships/image" Target="../media/image4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rive.google.com/drive/folders/12puGQBVYOn3QknWMbu6dIKPbB07D37Q8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85800"/>
            <a:ext cx="3657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o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841248"/>
            <a:ext cx="3200400" cy="11468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ontserrat"/>
              </a:rPr>
              <a:t>Ce que nos Experts ont produit</a:t>
            </a:r>
          </a:p>
          <a:p>
            <a:pPr algn="l"/>
            <a:r>
              <a:rPr sz="4400" b="1">
                <a:solidFill>
                  <a:srgbClr val="E9510E"/>
                </a:solidFill>
                <a:latin typeface="Montserrat"/>
              </a:rPr>
              <a:t>pour PROLINE LOGISTICS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28 livrables  ·  7 métiers  ·  27 au 29 octobre 2026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983480"/>
            <a:ext cx="566928" cy="566928"/>
          </a:xfrm>
          <a:prstGeom prst="ellipse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111496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17320" y="501091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Marketing et contenu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Fatima</a:t>
            </a:r>
          </a:p>
        </p:txBody>
      </p:sp>
      <p:sp>
        <p:nvSpPr>
          <p:cNvPr id="13" name="Oval 12"/>
          <p:cNvSpPr/>
          <p:nvPr/>
        </p:nvSpPr>
        <p:spPr>
          <a:xfrm>
            <a:off x="3474720" y="4983480"/>
            <a:ext cx="566928" cy="566928"/>
          </a:xfrm>
          <a:prstGeom prst="ellipse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736" y="5111496"/>
            <a:ext cx="310896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60520" y="501091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Design de marque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Koffi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4983480"/>
            <a:ext cx="566928" cy="566928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vid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511149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03720" y="501091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Vidéos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Koffi</a:t>
            </a:r>
          </a:p>
        </p:txBody>
      </p:sp>
      <p:sp>
        <p:nvSpPr>
          <p:cNvPr id="19" name="Oval 18"/>
          <p:cNvSpPr/>
          <p:nvPr/>
        </p:nvSpPr>
        <p:spPr>
          <a:xfrm>
            <a:off x="8961120" y="4983480"/>
            <a:ext cx="566928" cy="566928"/>
          </a:xfrm>
          <a:prstGeom prst="ellipse">
            <a:avLst/>
          </a:prstGeom>
          <a:solidFill>
            <a:srgbClr val="C44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9136" y="5111496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46920" y="501091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Commercial et ventes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Kouassi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5715000"/>
            <a:ext cx="566928" cy="566928"/>
          </a:xfrm>
          <a:prstGeom prst="ellipse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oc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536" y="5843016"/>
            <a:ext cx="310896" cy="3108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17320" y="574243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Finance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Mamadou</a:t>
            </a:r>
          </a:p>
        </p:txBody>
      </p:sp>
      <p:sp>
        <p:nvSpPr>
          <p:cNvPr id="25" name="Oval 24"/>
          <p:cNvSpPr/>
          <p:nvPr/>
        </p:nvSpPr>
        <p:spPr>
          <a:xfrm>
            <a:off x="3474720" y="5715000"/>
            <a:ext cx="566928" cy="566928"/>
          </a:xfrm>
          <a:prstGeom prst="ellipse">
            <a:avLst/>
          </a:prstGeom>
          <a:solidFill>
            <a:srgbClr val="D97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ec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02736" y="5843016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60520" y="574243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Relation client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Awa</a:t>
            </a:r>
          </a:p>
        </p:txBody>
      </p:sp>
      <p:sp>
        <p:nvSpPr>
          <p:cNvPr id="28" name="Oval 27"/>
          <p:cNvSpPr/>
          <p:nvPr/>
        </p:nvSpPr>
        <p:spPr>
          <a:xfrm>
            <a:off x="6217920" y="5715000"/>
            <a:ext cx="566928" cy="566928"/>
          </a:xfrm>
          <a:prstGeom prst="ellipse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ops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5936" y="5843016"/>
            <a:ext cx="310896" cy="31089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903720" y="574243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Opérations et logistique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Salif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o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1148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Montserrat"/>
              </a:rPr>
              <a:t>Sommaire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Un chapitre par métier. Chaque vignette du recueil ouvre le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82296" cy="512064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1691640"/>
            <a:ext cx="512064" cy="512064"/>
          </a:xfrm>
          <a:prstGeom prst="ellipse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1810512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00200" y="1691640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pic>
        <p:nvPicPr>
          <p:cNvPr id="15" name="Picture 14" descr="fati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719072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17920" y="1691640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Fatima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691640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7 livrables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1691640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9510E"/>
                </a:solidFill>
                <a:latin typeface="Open Sans"/>
              </a:rPr>
              <a:t>page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267712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267712"/>
            <a:ext cx="82296" cy="512064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2267712"/>
            <a:ext cx="512064" cy="512064"/>
          </a:xfrm>
          <a:prstGeom prst="ellipse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e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2386584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00200" y="2267712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pic>
        <p:nvPicPr>
          <p:cNvPr id="24" name="Picture 23" descr="kof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2295144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17920" y="2267712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Koffi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267712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3 livrables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267712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9510E"/>
                </a:solidFill>
                <a:latin typeface="Open Sans"/>
              </a:rPr>
              <a:t>page 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843784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2843784"/>
            <a:ext cx="82296" cy="5120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8680" y="2843784"/>
            <a:ext cx="512064" cy="512064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vid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2962656"/>
            <a:ext cx="274320" cy="2743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00200" y="2843784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Vidéos</a:t>
            </a:r>
          </a:p>
        </p:txBody>
      </p:sp>
      <p:pic>
        <p:nvPicPr>
          <p:cNvPr id="33" name="Picture 32" descr="kof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2871216"/>
            <a:ext cx="45720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17920" y="2843784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Koffi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2843784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3 livrables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843784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9510E"/>
                </a:solidFill>
                <a:latin typeface="Open Sans"/>
              </a:rPr>
              <a:t>page 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419856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419856"/>
            <a:ext cx="82296" cy="512064"/>
          </a:xfrm>
          <a:prstGeom prst="rect">
            <a:avLst/>
          </a:prstGeom>
          <a:solidFill>
            <a:srgbClr val="C44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68680" y="3419856"/>
            <a:ext cx="512064" cy="512064"/>
          </a:xfrm>
          <a:prstGeom prst="ellipse">
            <a:avLst/>
          </a:prstGeom>
          <a:solidFill>
            <a:srgbClr val="C44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om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552" y="3538728"/>
            <a:ext cx="274320" cy="2743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600200" y="3419856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pic>
        <p:nvPicPr>
          <p:cNvPr id="42" name="Picture 41" descr="kouass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3560" y="3447288"/>
            <a:ext cx="457200" cy="4572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217920" y="3419856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Kouassi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3419856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4 livrables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419856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9510E"/>
                </a:solidFill>
                <a:latin typeface="Open Sans"/>
              </a:rPr>
              <a:t>page 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995928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8640" y="3995928"/>
            <a:ext cx="82296" cy="512064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68680" y="3995928"/>
            <a:ext cx="512064" cy="512064"/>
          </a:xfrm>
          <a:prstGeom prst="ellipse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doc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7552" y="4114800"/>
            <a:ext cx="274320" cy="2743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600200" y="3995928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Finance</a:t>
            </a:r>
          </a:p>
        </p:txBody>
      </p:sp>
      <p:pic>
        <p:nvPicPr>
          <p:cNvPr id="51" name="Picture 50" descr="mamado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23560" y="4023360"/>
            <a:ext cx="457200" cy="457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217920" y="3995928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Mamadou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0" y="3995928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1 livrable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6960" y="3995928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9510E"/>
                </a:solidFill>
                <a:latin typeface="Open Sans"/>
              </a:rPr>
              <a:t>page 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4572000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8640" y="4572000"/>
            <a:ext cx="82296" cy="512064"/>
          </a:xfrm>
          <a:prstGeom prst="rect">
            <a:avLst/>
          </a:prstGeom>
          <a:solidFill>
            <a:srgbClr val="D97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68680" y="4572000"/>
            <a:ext cx="512064" cy="512064"/>
          </a:xfrm>
          <a:prstGeom prst="ellipse">
            <a:avLst/>
          </a:prstGeom>
          <a:solidFill>
            <a:srgbClr val="D97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ec_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7552" y="4690872"/>
            <a:ext cx="274320" cy="27432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600200" y="4572000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Relation client</a:t>
            </a:r>
          </a:p>
        </p:txBody>
      </p:sp>
      <p:pic>
        <p:nvPicPr>
          <p:cNvPr id="60" name="Picture 59" descr="aw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23560" y="4599432"/>
            <a:ext cx="457200" cy="4572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217920" y="4572000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Awa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0" y="4572000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1 livrable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960" y="4572000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9510E"/>
                </a:solidFill>
                <a:latin typeface="Open Sans"/>
              </a:rPr>
              <a:t>page 14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5148072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48640" y="5148072"/>
            <a:ext cx="82296" cy="512064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8680" y="5148072"/>
            <a:ext cx="512064" cy="512064"/>
          </a:xfrm>
          <a:prstGeom prst="ellipse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ops_FFFFFF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7552" y="5266944"/>
            <a:ext cx="274320" cy="2743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5148072"/>
            <a:ext cx="40233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Opérations et logistique</a:t>
            </a:r>
          </a:p>
        </p:txBody>
      </p:sp>
      <p:pic>
        <p:nvPicPr>
          <p:cNvPr id="69" name="Picture 68" descr="sali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23560" y="5175504"/>
            <a:ext cx="457200" cy="4572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217920" y="5148072"/>
            <a:ext cx="18288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Salif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148072"/>
            <a:ext cx="201168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9 livrables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66960" y="5148072"/>
            <a:ext cx="1463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9510E"/>
                </a:solidFill>
                <a:latin typeface="Open Sans"/>
              </a:rPr>
              <a:t>page 16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Marketing et contenu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7 livrables  ·  préparés par Fatima, Expert IA marketing et contenu</a:t>
            </a:r>
          </a:p>
        </p:txBody>
      </p:sp>
      <p:pic>
        <p:nvPicPr>
          <p:cNvPr id="11" name="Picture 10" descr="fati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5514" y="662940"/>
            <a:ext cx="2169042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2</a:t>
            </a:r>
          </a:p>
        </p:txBody>
      </p:sp>
      <p:pic>
        <p:nvPicPr>
          <p:cNvPr id="10" name="Picture 9" descr="pro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Logo et couleurs relevés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Planche d’identité à valider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Concurrents à Abidjan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Qui fait quoi, et où se placer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marketing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Objectifs, actions et budget proposés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Nouvelle page Entreposage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 texte de la page du site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pic>
        <p:nvPicPr>
          <p:cNvPr id="32" name="Picture 31" descr="fatim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Fatima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marketing et contenu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2</a:t>
            </a:r>
          </a:p>
        </p:txBody>
      </p:sp>
      <p:pic>
        <p:nvPicPr>
          <p:cNvPr id="10" name="Picture 9" descr="pro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Trois posts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L’entrepôt et le sérieux de la maison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Campagne transporteurs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Recruter des transporteurs partenaires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Audit LinkedIn et Facebook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Comptes, concurrents et flyers proposés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pic>
        <p:nvPicPr>
          <p:cNvPr id="27" name="Picture 26" descr="fati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Fatima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marketing et contenu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Design de marque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3 livrables  ·  préparés par Koffi, Expert IA design de marque</a:t>
            </a:r>
          </a:p>
        </p:txBody>
      </p:sp>
      <p:pic>
        <p:nvPicPr>
          <p:cNvPr id="11" name="Picture 10" descr="kof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5514" y="662940"/>
            <a:ext cx="2169042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pro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Site web, version médium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Maquette de la page d’accueil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5"/>
              </a:rPr>
              <a:t>Voir le site en ligne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Site web, version premium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La même page, en plus haut de gamme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7"/>
              </a:rPr>
              <a:t>Voir le site en ligne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Autocollants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22 autocollants, de basique à premium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9"/>
              </a:rPr>
              <a:t>Ouvrir le dossier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pic>
        <p:nvPicPr>
          <p:cNvPr id="27" name="Picture 26" descr="koffi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d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E9510E"/>
                </a:solidFill>
                <a:latin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Vidéos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3 livrables  ·  préparés par Koffi, Expert IA design de marque</a:t>
            </a:r>
          </a:p>
        </p:txBody>
      </p:sp>
      <p:pic>
        <p:nvPicPr>
          <p:cNvPr id="11" name="Picture 10" descr="kof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5514" y="662940"/>
            <a:ext cx="2169042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Vidéos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pro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Vidéo « Motion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15 secondes, photos des entrepôts et du 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5"/>
              </a:rPr>
              <a:t>Regarder la vidéo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v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Vidéo « Dessin animé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15 secondes, la logistique racontée en dessin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7"/>
              </a:rPr>
              <a:t>Regarder la vidéo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v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Vidéo « Chiffres 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15 secondes, la maison en chiffres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9"/>
              </a:rPr>
              <a:t>Regarder la vidéo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8455" y="2377440"/>
            <a:ext cx="2514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Les trois vidéos, dans un seul dossier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Format téléphone, 15 secondes, sans son.</a:t>
            </a:r>
          </a:p>
          <a:p>
            <a:pPr algn="l"/>
            <a:r>
              <a:rPr sz="1300" b="1">
                <a:solidFill>
                  <a:srgbClr val="E9510E"/>
                </a:solidFill>
                <a:latin typeface="Open Sans"/>
                <a:hlinkClick r:id="rId10"/>
              </a:rPr>
              <a:t>Ouvrir le dossier des vidéos 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pic>
        <p:nvPicPr>
          <p:cNvPr id="28" name="Picture 27" descr="koff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44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Commercial et ventes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4 livrables  ·  préparés par Kouassi, Expert IA commercial et ventes</a:t>
            </a:r>
          </a:p>
        </p:txBody>
      </p:sp>
      <p:pic>
        <p:nvPicPr>
          <p:cNvPr id="11" name="Picture 10" descr="kouas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5514" y="662940"/>
            <a:ext cx="2169042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C44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pro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C44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Argumentaire face aux concurrents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qu’on répond quand on nous compare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C44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Préparer San-Pédro et Korhogo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Les rendez-vous commerciaux du déplacement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C44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Prospects et suivi des affaires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Chaque piste, son étape et sa prochaine 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C443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Prospection LinkedIn à Abidjan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42 décideurs notés sur 100, avec leur profil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11"/>
              </a:rPr>
              <a:t>Voir le site en ligne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pic>
        <p:nvPicPr>
          <p:cNvPr id="32" name="Picture 31" descr="kouassi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Kouassi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commercial et ventes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oc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1 livrable  ·  préparé par Mamadou, Expert IA finance</a:t>
            </a:r>
          </a:p>
        </p:txBody>
      </p:sp>
      <p:pic>
        <p:nvPicPr>
          <p:cNvPr id="11" name="Picture 10" descr="mamado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5514" y="662940"/>
            <a:ext cx="2169042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oc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pro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Rentabilité, impayés et parc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que rapporte chaque client, ce qui reste dû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pic>
        <p:nvPicPr>
          <p:cNvPr id="17" name="Picture 16" descr="mamado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Mamadou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97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c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Relation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1 livrable  ·  préparé par Awa, Expert IA relation client</a:t>
            </a:r>
          </a:p>
        </p:txBody>
      </p:sp>
      <p:pic>
        <p:nvPicPr>
          <p:cNvPr id="11" name="Picture 10" descr="aw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5514" y="662940"/>
            <a:ext cx="2169042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D97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c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Relation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pro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D97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Organisation du centre d’appels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Qui répond, comment, et ce qu’on suit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pic>
        <p:nvPicPr>
          <p:cNvPr id="17" name="Picture 16" descr="aw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Awa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relation 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Opérations et logistique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9 livrables  ·  préparés par Salif, Expert IA opérations et logistique</a:t>
            </a:r>
          </a:p>
        </p:txBody>
      </p:sp>
      <p:pic>
        <p:nvPicPr>
          <p:cNvPr id="11" name="Picture 10" descr="sal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l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5514" y="662940"/>
            <a:ext cx="2169042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logistique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3</a:t>
            </a:r>
          </a:p>
        </p:txBody>
      </p:sp>
      <p:pic>
        <p:nvPicPr>
          <p:cNvPr id="10" name="Picture 9" descr="pro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Tournées et coût au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Les tournées de demain, chiffrées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Parc de 20 véhicules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Conformité et consommation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Erreurs de préparation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30 réclamations et ce qu’on 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Rapprochement des encaissements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La journée du 27 octobre, pointée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pic>
        <p:nvPicPr>
          <p:cNvPr id="32" name="Picture 31" descr="sali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logistique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logistique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3</a:t>
            </a:r>
          </a:p>
        </p:txBody>
      </p:sp>
      <p:pic>
        <p:nvPicPr>
          <p:cNvPr id="10" name="Picture 9" descr="pro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Déplacement San-Pédro et Korhogo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Programme du 2 au 7 novembre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Mode opératoire de préparation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Les étapes, du bon de commande au quai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Arrêté de caisse des livreurs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que chaque livreur rend, chaque soir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Entretien de la flotte et carburant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Vidanges, pannes et litres par camion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pic>
        <p:nvPicPr>
          <p:cNvPr id="32" name="Picture 31" descr="sali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logistique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logistique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3 sur 3</a:t>
            </a:r>
          </a:p>
        </p:txBody>
      </p:sp>
      <p:pic>
        <p:nvPicPr>
          <p:cNvPr id="10" name="Picture 9" descr="pro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5749" y="347472"/>
            <a:ext cx="1837306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9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Preuve de livraison et ponctualité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Chaque livraison signée, à l’heure ou non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951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PROLINE LOGISTICS  ·  Recueil des livrables des Experts  ·  octobre 2026</a:t>
            </a:r>
          </a:p>
        </p:txBody>
      </p:sp>
      <p:pic>
        <p:nvPicPr>
          <p:cNvPr id="17" name="Picture 16" descr="sali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logistique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40080"/>
            <a:ext cx="31089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o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2651760" cy="9502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3317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ontserrat"/>
              </a:rPr>
              <a:t>Et maintenant ?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429000"/>
            <a:ext cx="640080" cy="640080"/>
          </a:xfrm>
          <a:prstGeom prst="ellipse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parcourez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vignette ouvre le document ou la vidéo.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3429000"/>
            <a:ext cx="640080" cy="640080"/>
          </a:xfrm>
          <a:prstGeom prst="ellipse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annotez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Vos commentaires directement dans les documents.</a:t>
            </a:r>
          </a:p>
        </p:txBody>
      </p:sp>
      <p:sp>
        <p:nvSpPr>
          <p:cNvPr id="17" name="Oval 16"/>
          <p:cNvSpPr/>
          <p:nvPr/>
        </p:nvSpPr>
        <p:spPr>
          <a:xfrm>
            <a:off x="8046720" y="3429000"/>
            <a:ext cx="640080" cy="640080"/>
          </a:xfrm>
          <a:prstGeom prst="ellipse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Nous ajustons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Expert reprend son livrable avec vos retours.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Open Sans"/>
              </a:rPr>
              <a:t>Le recueil et les fichiers qui n’avaient pas encore de lien sont rangés dans son dossier Drive.</a:t>
            </a:r>
          </a:p>
          <a:p>
            <a:pPr algn="l"/>
            <a:r>
              <a:rPr sz="1400" b="1">
                <a:solidFill>
                  <a:srgbClr val="E9510E"/>
                </a:solidFill>
                <a:latin typeface="Open Sans"/>
                <a:hlinkClick r:id="rId3"/>
              </a:rPr>
              <a:t>Ouvrir le dossier  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E951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56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F39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E9510E"/>
      </a:hlink>
      <a:folHlink>
        <a:srgbClr val="E9510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