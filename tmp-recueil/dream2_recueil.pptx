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26.png"/><Relationship Id="rId10" Type="http://schemas.openxmlformats.org/officeDocument/2006/relationships/image" Target="../media/image6.png"/><Relationship Id="rId11" Type="http://schemas.openxmlformats.org/officeDocument/2006/relationships/image" Target="../media/image37.png"/><Relationship Id="rId12" Type="http://schemas.openxmlformats.org/officeDocument/2006/relationships/image" Target="../media/image7.png"/><Relationship Id="rId13" Type="http://schemas.openxmlformats.org/officeDocument/2006/relationships/image" Target="../media/image4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0.jpg"/><Relationship Id="rId5" Type="http://schemas.openxmlformats.org/officeDocument/2006/relationships/hyperlink" Target="https://docs.google.com/presentation/d/1Ye4tvNPew4vuyWYA8hLnxZPSo9rJCz97-lfUf-xnElc/edit" TargetMode="External"/><Relationship Id="rId6" Type="http://schemas.openxmlformats.org/officeDocument/2006/relationships/image" Target="../media/image11.jpg"/><Relationship Id="rId7" Type="http://schemas.openxmlformats.org/officeDocument/2006/relationships/hyperlink" Target="https://drive.google.com/drive/folders/1QvXwBKVfA9VOa2IHbbLlD939QS_7AxSr" TargetMode="External"/><Relationship Id="rId8" Type="http://schemas.openxmlformats.org/officeDocument/2006/relationships/image" Target="../media/image12.jpg"/><Relationship Id="rId9" Type="http://schemas.openxmlformats.org/officeDocument/2006/relationships/hyperlink" Target="https://docs.google.com/presentation/d/1bc0ki2wMIhg2llO5URM2DNo6chxKUpDEaACOGhs_RS8/edit" TargetMode="External"/><Relationship Id="rId10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5.jpg"/><Relationship Id="rId5" Type="http://schemas.openxmlformats.org/officeDocument/2006/relationships/hyperlink" Target="https://leslita06.github.io/dreamcosmetics-maquette/" TargetMode="External"/><Relationship Id="rId6" Type="http://schemas.openxmlformats.org/officeDocument/2006/relationships/image" Target="../media/image16.jpg"/><Relationship Id="rId7" Type="http://schemas.openxmlformats.org/officeDocument/2006/relationships/hyperlink" Target="https://leslita06.github.io/dreamcosmetics-maquette/premium/" TargetMode="External"/><Relationship Id="rId8" Type="http://schemas.openxmlformats.org/officeDocument/2006/relationships/image" Target="../media/image17.jpg"/><Relationship Id="rId9" Type="http://schemas.openxmlformats.org/officeDocument/2006/relationships/hyperlink" Target="https://docs.google.com/presentation/d/1z1WbQZ6rEMOgppz1xrI_eSTz5bV14oU2wSV86yv38Y8/edit" TargetMode="External"/><Relationship Id="rId10" Type="http://schemas.openxmlformats.org/officeDocument/2006/relationships/image" Target="../media/image18.jpg"/><Relationship Id="rId11" Type="http://schemas.openxmlformats.org/officeDocument/2006/relationships/hyperlink" Target="https://drive.google.com/drive/folders/1B9y1mo0SOd2lsabeVhEliCtIA74O7AD7" TargetMode="External"/><Relationship Id="rId12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9.jpg"/><Relationship Id="rId5" Type="http://schemas.openxmlformats.org/officeDocument/2006/relationships/hyperlink" Target="https://drive.google.com/drive/folders/1mNdL39w5trXSoh1BMIdKHk2Z3vLy5fZF" TargetMode="External"/><Relationship Id="rId6" Type="http://schemas.openxmlformats.org/officeDocument/2006/relationships/image" Target="../media/image20.jpg"/><Relationship Id="rId7" Type="http://schemas.openxmlformats.org/officeDocument/2006/relationships/hyperlink" Target="https://docs.google.com/spreadsheets/d/1umgyfCFhGof9775WI5K0XwvCMkCV8QWZCqt18ocd_IU/edit" TargetMode="External"/><Relationship Id="rId8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2.jpg"/><Relationship Id="rId5" Type="http://schemas.openxmlformats.org/officeDocument/2006/relationships/hyperlink" Target="https://drive.google.com/file/d/1gOOdh0zu_SVs9u1z6lCdX6cGno1uvvjT/view" TargetMode="External"/><Relationship Id="rId6" Type="http://schemas.openxmlformats.org/officeDocument/2006/relationships/image" Target="../media/image23.jpg"/><Relationship Id="rId7" Type="http://schemas.openxmlformats.org/officeDocument/2006/relationships/hyperlink" Target="https://drive.google.com/file/d/1k6lUpmIFAwf0B_RZ3tsK9HlQA6mh4g5q/view" TargetMode="External"/><Relationship Id="rId8" Type="http://schemas.openxmlformats.org/officeDocument/2006/relationships/image" Target="../media/image24.jpg"/><Relationship Id="rId9" Type="http://schemas.openxmlformats.org/officeDocument/2006/relationships/hyperlink" Target="https://drive.google.com/file/d/1MuuGbs5-EAOSKtnUBaM2yO06AfOk0yXK/view" TargetMode="External"/><Relationship Id="rId10" Type="http://schemas.openxmlformats.org/officeDocument/2006/relationships/hyperlink" Target="https://drive.google.com/drive/folders/1XrR7levo_M2KwT4si3dF7iYynEV-i_IV" TargetMode="External"/><Relationship Id="rId11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7.jpg"/><Relationship Id="rId5" Type="http://schemas.openxmlformats.org/officeDocument/2006/relationships/hyperlink" Target="https://docs.google.com/presentation/d/1mE7PlnfC6JNeWgFhTAKktvRK8o1fytKr-JNGECDZ-hk/edit" TargetMode="External"/><Relationship Id="rId6" Type="http://schemas.openxmlformats.org/officeDocument/2006/relationships/image" Target="../media/image28.jpg"/><Relationship Id="rId7" Type="http://schemas.openxmlformats.org/officeDocument/2006/relationships/hyperlink" Target="https://docs.google.com/document/d/1FPx2WI5LSsGsiRqJ-p3iSt8e2mNwEi7YgHiscu5DmkQ/edit" TargetMode="External"/><Relationship Id="rId8" Type="http://schemas.openxmlformats.org/officeDocument/2006/relationships/image" Target="../media/image29.jpg"/><Relationship Id="rId9" Type="http://schemas.openxmlformats.org/officeDocument/2006/relationships/hyperlink" Target="https://docs.google.com/document/d/1F-trMmzsCfHke0omVESjgijXnNkV3ka_04Jtlm6e6SU/edit" TargetMode="External"/><Relationship Id="rId10" Type="http://schemas.openxmlformats.org/officeDocument/2006/relationships/image" Target="../media/image30.jpg"/><Relationship Id="rId11" Type="http://schemas.openxmlformats.org/officeDocument/2006/relationships/hyperlink" Target="https://docs.google.com/document/d/1UjB76LhDMUe21E3FxN84QS2PDuy71bBIgO-L6ndzC4k/edit" TargetMode="External"/><Relationship Id="rId12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1.jpg"/><Relationship Id="rId5" Type="http://schemas.openxmlformats.org/officeDocument/2006/relationships/hyperlink" Target="https://docs.google.com/spreadsheets/d/1niZzJy51e8XmBAq6qGYPEjZMh4-TzOlT2-xofYVvykg/edit" TargetMode="External"/><Relationship Id="rId6" Type="http://schemas.openxmlformats.org/officeDocument/2006/relationships/image" Target="../media/image32.jpg"/><Relationship Id="rId7" Type="http://schemas.openxmlformats.org/officeDocument/2006/relationships/hyperlink" Target="https://docs.google.com/spreadsheets/d/1sMa3MIN_GMA36WX9CEfAiw96qefXkrN1ajZ8DDHNdT4/edit" TargetMode="External"/><Relationship Id="rId8" Type="http://schemas.openxmlformats.org/officeDocument/2006/relationships/image" Target="../media/image33.jpg"/><Relationship Id="rId9" Type="http://schemas.openxmlformats.org/officeDocument/2006/relationships/hyperlink" Target="https://docs.google.com/presentation/d/1mIW43MRhhAm5eyRdZp5iLHYL7HiDrzsNrHZhnsgWMtw/edit" TargetMode="External"/><Relationship Id="rId10" Type="http://schemas.openxmlformats.org/officeDocument/2006/relationships/image" Target="../media/image34.jpg"/><Relationship Id="rId11" Type="http://schemas.openxmlformats.org/officeDocument/2006/relationships/hyperlink" Target="https://docs.google.com/presentation/d/1TP6jn7XLXqM_RKQOJ36gVnngSvRjfZieTgZp9XEBFLU/edit" TargetMode="External"/><Relationship Id="rId12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5.jpg"/><Relationship Id="rId5" Type="http://schemas.openxmlformats.org/officeDocument/2006/relationships/hyperlink" Target="https://docs.google.com/document/d/15eIpz4hC9rQniB41ahCaRAFh6IMOPoFQ0-Qr3iuMHqI/edit" TargetMode="External"/><Relationship Id="rId6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8.jpg"/><Relationship Id="rId5" Type="http://schemas.openxmlformats.org/officeDocument/2006/relationships/hyperlink" Target="https://docs.google.com/spreadsheets/d/1rv0uT8_Kdnr5XU1wXjGfR0r84GEEoWa0PEkGE4w5Zaw/edit" TargetMode="External"/><Relationship Id="rId6" Type="http://schemas.openxmlformats.org/officeDocument/2006/relationships/image" Target="../media/image3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41.jpg"/><Relationship Id="rId5" Type="http://schemas.openxmlformats.org/officeDocument/2006/relationships/hyperlink" Target="https://docs.google.com/presentation/d/1BVUBAoTy5xGWNENcWaYXixLhw80FlsPOAWLSqvmKqbY/edit" TargetMode="External"/><Relationship Id="rId6" Type="http://schemas.openxmlformats.org/officeDocument/2006/relationships/image" Target="../media/image42.jpg"/><Relationship Id="rId7" Type="http://schemas.openxmlformats.org/officeDocument/2006/relationships/hyperlink" Target="https://docs.google.com/spreadsheets/d/1ZedCXfQ0rJSS3l6f6VVgRR4wNoh2HbVYBxHcOC8og6E/edit" TargetMode="External"/><Relationship Id="rId8" Type="http://schemas.openxmlformats.org/officeDocument/2006/relationships/image" Target="../media/image43.jpg"/><Relationship Id="rId9" Type="http://schemas.openxmlformats.org/officeDocument/2006/relationships/hyperlink" Target="https://docs.google.com/spreadsheets/d/1sKfrp5RjYq0dqf1_GsheNK7XSaCw5A4vrmkgfjiAaKU/edit" TargetMode="External"/><Relationship Id="rId10" Type="http://schemas.openxmlformats.org/officeDocument/2006/relationships/image" Target="../media/image44.jpg"/><Relationship Id="rId11" Type="http://schemas.openxmlformats.org/officeDocument/2006/relationships/hyperlink" Target="https://docs.google.com/document/d/14NJ64nCOSUUDEn_q3rWxZYSnsnXv-Su5yRGsTDWYh1Q/edit" TargetMode="External"/><Relationship Id="rId12" Type="http://schemas.openxmlformats.org/officeDocument/2006/relationships/image" Target="../media/image4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45.jpg"/><Relationship Id="rId5" Type="http://schemas.openxmlformats.org/officeDocument/2006/relationships/hyperlink" Target="https://docs.google.com/document/d/1NLMG7afIYlk2TiPUPY065JDzkvGCEhzwtxkkUOF9KFo/edit" TargetMode="External"/><Relationship Id="rId6" Type="http://schemas.openxmlformats.org/officeDocument/2006/relationships/image" Target="../media/image46.jpg"/><Relationship Id="rId7" Type="http://schemas.openxmlformats.org/officeDocument/2006/relationships/hyperlink" Target="https://docs.google.com/document/d/1sbUKfBOQFYksBzaDI4xKPK5Ok44tVsCIFmNUX1cVPZs/edit" TargetMode="External"/><Relationship Id="rId8" Type="http://schemas.openxmlformats.org/officeDocument/2006/relationships/image" Target="../media/image47.jpg"/><Relationship Id="rId9" Type="http://schemas.openxmlformats.org/officeDocument/2006/relationships/hyperlink" Target="https://docs.google.com/document/d/1CVQSQJihn_4kzT-zsg6I_zkoCQhdiuNoJm7Gwo4poEc/edit" TargetMode="External"/><Relationship Id="rId10" Type="http://schemas.openxmlformats.org/officeDocument/2006/relationships/image" Target="../media/image48.jpg"/><Relationship Id="rId11" Type="http://schemas.openxmlformats.org/officeDocument/2006/relationships/hyperlink" Target="https://docs.google.com/document/d/1QUuar4PADmQfloRMp8EZg6tToia07OQWucllsS-aAyw/edit" TargetMode="External"/><Relationship Id="rId12" Type="http://schemas.openxmlformats.org/officeDocument/2006/relationships/image" Target="../media/image4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drive.google.com/drive/folders/1TetDHgatYTFetAedUfHKIPf33l00O5a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12801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12801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12801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685800"/>
            <a:ext cx="3657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r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841248"/>
            <a:ext cx="3200400" cy="9955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7432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ontserrat"/>
              </a:rPr>
              <a:t>Ce que nos Experts ont produit</a:t>
            </a:r>
          </a:p>
          <a:p>
            <a:pPr algn="l"/>
            <a:r>
              <a:rPr sz="4400" b="1">
                <a:solidFill>
                  <a:srgbClr val="FF8087"/>
                </a:solidFill>
                <a:latin typeface="Montserrat"/>
              </a:rPr>
              <a:t>pour DREAM COSMETICS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30 livrables  ·  6 métiers  ·  19 au 29 octobre 2026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5257800"/>
            <a:ext cx="566928" cy="566928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k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385816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17320" y="5285232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Marketing et contenu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Fatima</a:t>
            </a:r>
          </a:p>
        </p:txBody>
      </p:sp>
      <p:sp>
        <p:nvSpPr>
          <p:cNvPr id="13" name="Oval 12"/>
          <p:cNvSpPr/>
          <p:nvPr/>
        </p:nvSpPr>
        <p:spPr>
          <a:xfrm>
            <a:off x="2560320" y="5257800"/>
            <a:ext cx="566928" cy="566928"/>
          </a:xfrm>
          <a:prstGeom prst="ellipse">
            <a:avLst/>
          </a:prstGeom>
          <a:solidFill>
            <a:srgbClr val="C9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8336" y="5385816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46120" y="5285232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Design de marque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Koffi</a:t>
            </a:r>
          </a:p>
        </p:txBody>
      </p:sp>
      <p:sp>
        <p:nvSpPr>
          <p:cNvPr id="16" name="Oval 15"/>
          <p:cNvSpPr/>
          <p:nvPr/>
        </p:nvSpPr>
        <p:spPr>
          <a:xfrm>
            <a:off x="4389120" y="5257800"/>
            <a:ext cx="566928" cy="566928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i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136" y="5385816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74920" y="5285232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Vidéos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Koffi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5257800"/>
            <a:ext cx="566928" cy="566928"/>
          </a:xfrm>
          <a:prstGeom prst="ellipse">
            <a:avLst/>
          </a:prstGeom>
          <a:solidFill>
            <a:srgbClr val="8C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om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5385816"/>
            <a:ext cx="310896" cy="3108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03720" y="5285232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Commercial et ventes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Kouassi</a:t>
            </a:r>
          </a:p>
        </p:txBody>
      </p:sp>
      <p:sp>
        <p:nvSpPr>
          <p:cNvPr id="22" name="Oval 21"/>
          <p:cNvSpPr/>
          <p:nvPr/>
        </p:nvSpPr>
        <p:spPr>
          <a:xfrm>
            <a:off x="8046720" y="5257800"/>
            <a:ext cx="566928" cy="566928"/>
          </a:xfrm>
          <a:prstGeom prst="ellipse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oc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4736" y="5385816"/>
            <a:ext cx="310896" cy="3108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32520" y="5285232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Finance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Mamadou</a:t>
            </a:r>
          </a:p>
        </p:txBody>
      </p:sp>
      <p:sp>
        <p:nvSpPr>
          <p:cNvPr id="25" name="Oval 24"/>
          <p:cNvSpPr/>
          <p:nvPr/>
        </p:nvSpPr>
        <p:spPr>
          <a:xfrm>
            <a:off x="9875520" y="5257800"/>
            <a:ext cx="566928" cy="566928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ops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3536" y="5385816"/>
            <a:ext cx="310896" cy="3108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561320" y="5285232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Opérations et usine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Salif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7796" y="6729984"/>
            <a:ext cx="4073042" cy="12801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r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935" y="347472"/>
            <a:ext cx="2103119" cy="6541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Montserrat"/>
              </a:rPr>
              <a:t>Sommaire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Un chapitre par métier. Chaque vignette du recueil ouvre le document.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82296" cy="64008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1755648"/>
            <a:ext cx="512064" cy="512064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k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874520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00200" y="169164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pic>
        <p:nvPicPr>
          <p:cNvPr id="15" name="Picture 14" descr="fati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78308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16916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Fatima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6916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3 livrables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69164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AE172A"/>
                </a:solidFill>
                <a:latin typeface="Open Sans"/>
              </a:rPr>
              <a:t>page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23160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423160"/>
            <a:ext cx="82296" cy="640080"/>
          </a:xfrm>
          <a:prstGeom prst="rect">
            <a:avLst/>
          </a:prstGeom>
          <a:solidFill>
            <a:srgbClr val="C9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2487168"/>
            <a:ext cx="512064" cy="512064"/>
          </a:xfrm>
          <a:prstGeom prst="ellipse">
            <a:avLst/>
          </a:prstGeom>
          <a:solidFill>
            <a:srgbClr val="C9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2606040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00200" y="242316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Design de marque</a:t>
            </a:r>
          </a:p>
        </p:txBody>
      </p:sp>
      <p:pic>
        <p:nvPicPr>
          <p:cNvPr id="24" name="Picture 23" descr="kof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2514600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17920" y="242316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Koffi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4231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6 livrables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42316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AE172A"/>
                </a:solidFill>
                <a:latin typeface="Open Sans"/>
              </a:rPr>
              <a:t>page 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54680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154680"/>
            <a:ext cx="82296" cy="640080"/>
          </a:xfrm>
          <a:prstGeom prst="rect">
            <a:avLst/>
          </a:prstGeom>
          <a:solidFill>
            <a:srgbClr val="2A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8680" y="3218688"/>
            <a:ext cx="512064" cy="512064"/>
          </a:xfrm>
          <a:prstGeom prst="ellipse">
            <a:avLst/>
          </a:prstGeom>
          <a:solidFill>
            <a:srgbClr val="2A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vi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3337560"/>
            <a:ext cx="274320" cy="274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600200" y="315468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Vidéos</a:t>
            </a:r>
          </a:p>
        </p:txBody>
      </p:sp>
      <p:pic>
        <p:nvPicPr>
          <p:cNvPr id="33" name="Picture 32" descr="koff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246120"/>
            <a:ext cx="457200" cy="457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17920" y="31546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Koffi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1546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3 livrables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31546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AE172A"/>
                </a:solidFill>
                <a:latin typeface="Open Sans"/>
              </a:rPr>
              <a:t>page 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886200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886200"/>
            <a:ext cx="82296" cy="640080"/>
          </a:xfrm>
          <a:prstGeom prst="rect">
            <a:avLst/>
          </a:prstGeom>
          <a:solidFill>
            <a:srgbClr val="8C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8680" y="3950208"/>
            <a:ext cx="512064" cy="512064"/>
          </a:xfrm>
          <a:prstGeom prst="ellipse">
            <a:avLst/>
          </a:prstGeom>
          <a:solidFill>
            <a:srgbClr val="8C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om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552" y="4069080"/>
            <a:ext cx="274320" cy="2743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600200" y="388620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Commercial et ventes</a:t>
            </a:r>
          </a:p>
        </p:txBody>
      </p:sp>
      <p:pic>
        <p:nvPicPr>
          <p:cNvPr id="42" name="Picture 41" descr="kouass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3560" y="3977639"/>
            <a:ext cx="457200" cy="4572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17920" y="38862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Kouassi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38862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9 livrables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388620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AE172A"/>
                </a:solidFill>
                <a:latin typeface="Open Sans"/>
              </a:rPr>
              <a:t>page 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617720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4617720"/>
            <a:ext cx="82296" cy="64008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8680" y="4681728"/>
            <a:ext cx="512064" cy="512064"/>
          </a:xfrm>
          <a:prstGeom prst="ellipse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doc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552" y="4800600"/>
            <a:ext cx="274320" cy="27432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600200" y="461772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Finance</a:t>
            </a:r>
          </a:p>
        </p:txBody>
      </p:sp>
      <p:pic>
        <p:nvPicPr>
          <p:cNvPr id="51" name="Picture 50" descr="mamadou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23560" y="4709159"/>
            <a:ext cx="457200" cy="4572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217920" y="46177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Mamadou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461772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1 livrable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66960" y="46177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AE172A"/>
                </a:solidFill>
                <a:latin typeface="Open Sans"/>
              </a:rPr>
              <a:t>page 14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5349240"/>
            <a:ext cx="82296" cy="64008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68680" y="5413248"/>
            <a:ext cx="512064" cy="512064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ops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7552" y="5532120"/>
            <a:ext cx="274320" cy="27432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600200" y="534924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Opérations et usine</a:t>
            </a:r>
          </a:p>
        </p:txBody>
      </p:sp>
      <p:pic>
        <p:nvPicPr>
          <p:cNvPr id="60" name="Picture 59" descr="sali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23560" y="5440679"/>
            <a:ext cx="457200" cy="4572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217920" y="53492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Salif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63840" y="53492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8 livrables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66960" y="534924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AE172A"/>
                </a:solidFill>
                <a:latin typeface="Open Sans"/>
              </a:rPr>
              <a:t>page 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Marketing et contenu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3 livrables  ·  préparés par Fatima, Expert IA marketing et contenu</a:t>
            </a:r>
          </a:p>
        </p:txBody>
      </p:sp>
      <p:pic>
        <p:nvPicPr>
          <p:cNvPr id="11" name="Picture 10" descr="fati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ea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7035" y="696018"/>
            <a:ext cx="2285997" cy="7110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1</a:t>
            </a:r>
          </a:p>
        </p:txBody>
      </p:sp>
      <p:pic>
        <p:nvPicPr>
          <p:cNvPr id="10" name="Picture 9" descr="drea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935" y="347472"/>
            <a:ext cx="2103119" cy="65419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Audit Facebook et Instagram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Comptes, concurrents et flyers comparés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Flyers produits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Deux directions, dix flyers prêts à publier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7"/>
              </a:rPr>
              <a:t>Ouvrir le dossier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Campagne d’influence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Créatrices ivoiriennes, déroulé et budget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pic>
        <p:nvPicPr>
          <p:cNvPr id="27" name="Picture 26" descr="fatim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Fatima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marketing et contenu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Design de marque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6 livrables  ·  préparés par Koffi, Expert IA design de marque</a:t>
            </a:r>
          </a:p>
        </p:txBody>
      </p:sp>
      <p:pic>
        <p:nvPicPr>
          <p:cNvPr id="11" name="Picture 10" descr="kof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ea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7035" y="696018"/>
            <a:ext cx="2285997" cy="7110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C9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Design de marque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2</a:t>
            </a:r>
          </a:p>
        </p:txBody>
      </p:sp>
      <p:pic>
        <p:nvPicPr>
          <p:cNvPr id="10" name="Picture 9" descr="drea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935" y="347472"/>
            <a:ext cx="2103119" cy="65419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C9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Site web, version médium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Maquette de la page d’accueil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5"/>
              </a:rPr>
              <a:t>Voir le site en ligne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C9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Site web, version premium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La même page, en plus haut de gamme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7"/>
              </a:rPr>
              <a:t>Voir le site en ligne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C9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Planche packaging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Les emballages des marques, côte à côte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C9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4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Visuels Instagram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Cinq publications Day by Day et Paw Paw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11"/>
              </a:rPr>
              <a:t>Ouvrir le dossier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pic>
        <p:nvPicPr>
          <p:cNvPr id="32" name="Picture 31" descr="koff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Koffi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design de marque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C9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Design de marque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2 sur 2</a:t>
            </a:r>
          </a:p>
        </p:txBody>
      </p:sp>
      <p:pic>
        <p:nvPicPr>
          <p:cNvPr id="10" name="Picture 9" descr="drea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935" y="347472"/>
            <a:ext cx="2103119" cy="65419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C9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5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Autocollants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22 autocollants, de basique à 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5"/>
              </a:rPr>
              <a:t>Ouvrir le dossier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C9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6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Liste des produits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444 références du site et 30 revendeurs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pic>
        <p:nvPicPr>
          <p:cNvPr id="22" name="Picture 21" descr="koff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Koffi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design de marque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d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E172A"/>
                </a:solidFill>
                <a:latin typeface="Montserrat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Vidéos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3 livrables  ·  préparés par Koffi, Expert IA design de marque</a:t>
            </a:r>
          </a:p>
        </p:txBody>
      </p:sp>
      <p:pic>
        <p:nvPicPr>
          <p:cNvPr id="11" name="Picture 10" descr="kof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ea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7035" y="696018"/>
            <a:ext cx="2285997" cy="7110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2A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Vidéos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1</a:t>
            </a:r>
          </a:p>
        </p:txBody>
      </p:sp>
      <p:pic>
        <p:nvPicPr>
          <p:cNvPr id="10" name="Picture 9" descr="drea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935" y="347472"/>
            <a:ext cx="2103119" cy="65419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2A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Vidéo « Motion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15 secondes, photos réelles des produits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5"/>
              </a:rPr>
              <a:t>Regarder la vidéo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2A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Vidéo « Dessin animé 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15 secondes, la famille et les gammes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7"/>
              </a:rPr>
              <a:t>Regarder la vidéo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2A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v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Vidéo « Chiffres 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15 secondes, les marques en typographie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9"/>
              </a:rPr>
              <a:t>Regarder la vidéo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8455" y="2377440"/>
            <a:ext cx="2514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Les trois vidéos, dans un seul dossier</a:t>
            </a:r>
          </a:p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Format téléphone, 15 secondes, sans son.</a:t>
            </a:r>
          </a:p>
          <a:p>
            <a:pPr algn="l"/>
            <a:r>
              <a:rPr sz="1300" b="1">
                <a:solidFill>
                  <a:srgbClr val="AE172A"/>
                </a:solidFill>
                <a:latin typeface="Open Sans"/>
                <a:hlinkClick r:id="rId10"/>
              </a:rPr>
              <a:t>Ouvrir le dossier des vidéos 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pic>
        <p:nvPicPr>
          <p:cNvPr id="28" name="Picture 27" descr="koff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Koffi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design de marque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C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Commercial et ventes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9 livrables  ·  préparés par Kouassi, Expert IA commercial et ventes</a:t>
            </a:r>
          </a:p>
        </p:txBody>
      </p:sp>
      <p:pic>
        <p:nvPicPr>
          <p:cNvPr id="11" name="Picture 10" descr="kouas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ea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7035" y="696018"/>
            <a:ext cx="2285997" cy="7110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8C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Commercial et ventes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3</a:t>
            </a:r>
          </a:p>
        </p:txBody>
      </p:sp>
      <p:pic>
        <p:nvPicPr>
          <p:cNvPr id="10" name="Picture 9" descr="drea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935" y="347472"/>
            <a:ext cx="2103119" cy="65419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8C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Carte de la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Où les produits se vendent aujourd’hui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8C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Comparatif des concurrents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Marques locales et importées face à Dream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8C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Argumentaire et messages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Ce qu’on dit aux revendeurs, mot pour mot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8C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4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Plan de prospection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30 jours pour ouvrir de nouveaux points de vente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pic>
        <p:nvPicPr>
          <p:cNvPr id="32" name="Picture 31" descr="kouass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Kouassi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commercial et ventes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8C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Commercial et ventes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2 sur 3</a:t>
            </a:r>
          </a:p>
        </p:txBody>
      </p:sp>
      <p:pic>
        <p:nvPicPr>
          <p:cNvPr id="10" name="Picture 9" descr="drea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935" y="347472"/>
            <a:ext cx="2103119" cy="65419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8C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5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Liste de prospects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Distributeurs et revendeurs à démarcher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8C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6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Suivi des affaires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Chaque piste, son étape et sa prochaine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8C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7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Pitch distributeur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Présentation pour un distributeur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8C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8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Pitch grossistes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Présentation pour les grossistes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pic>
        <p:nvPicPr>
          <p:cNvPr id="32" name="Picture 31" descr="kouass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Kouassi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commercial et ventes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8C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Commercial et ventes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3 sur 3</a:t>
            </a:r>
          </a:p>
        </p:txBody>
      </p:sp>
      <p:pic>
        <p:nvPicPr>
          <p:cNvPr id="10" name="Picture 9" descr="drea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935" y="347472"/>
            <a:ext cx="2103119" cy="65419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8C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9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Pistes à l’export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Sous-région et diaspora : par où commencer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pic>
        <p:nvPicPr>
          <p:cNvPr id="17" name="Picture 16" descr="kouass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Kouassi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commercial et ventes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oc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1 livrable  ·  préparé par Mamadou, Expert IA finance</a:t>
            </a:r>
          </a:p>
        </p:txBody>
      </p:sp>
      <p:pic>
        <p:nvPicPr>
          <p:cNvPr id="11" name="Picture 10" descr="mamad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ea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7035" y="696018"/>
            <a:ext cx="2285997" cy="7110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oc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1</a:t>
            </a:r>
          </a:p>
        </p:txBody>
      </p:sp>
      <p:pic>
        <p:nvPicPr>
          <p:cNvPr id="10" name="Picture 9" descr="drea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935" y="347472"/>
            <a:ext cx="2103119" cy="65419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Coût des campagnes et de l’export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Budget chiffré, scénario par scénario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pic>
        <p:nvPicPr>
          <p:cNvPr id="17" name="Picture 16" descr="mamado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Mamadou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Opérations et usine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8 livrables  ·  préparés par Salif, Expert IA opérations et usine</a:t>
            </a:r>
          </a:p>
        </p:txBody>
      </p:sp>
      <p:pic>
        <p:nvPicPr>
          <p:cNvPr id="11" name="Picture 10" descr="sal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ea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7035" y="696018"/>
            <a:ext cx="2285997" cy="7110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Opérations et usine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2</a:t>
            </a:r>
          </a:p>
        </p:txBody>
      </p:sp>
      <p:pic>
        <p:nvPicPr>
          <p:cNvPr id="10" name="Picture 9" descr="drea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935" y="347472"/>
            <a:ext cx="2103119" cy="65419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Chaîne de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De la matière première au client, en onze étapes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Stocks et ruptures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Matières, emballages et produits finis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Premier périmé, premier sorti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Sortir les lots dans le bon ordre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o4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Contrôle à la réception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Matières et emballages, avant l’entrée en stock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pic>
        <p:nvPicPr>
          <p:cNvPr id="32" name="Picture 31" descr="sali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Salif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opérations et usine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Opérations et usine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2 sur 2</a:t>
            </a:r>
          </a:p>
        </p:txBody>
      </p:sp>
      <p:pic>
        <p:nvPicPr>
          <p:cNvPr id="10" name="Picture 9" descr="drea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935" y="347472"/>
            <a:ext cx="2103119" cy="65419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5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Plan de nettoyage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Cuves et mélangeurs, qui fait quoi et quand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6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Traçabilité et qualité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Fiche de suivi de lot et procédure de rappel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7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Indicateurs des opérations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Cinq indicateurs pour piloter l’usine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o8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Liste de contrôle 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Un conteneur vers les États-Unis ou la sous-région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E172A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DREAM COSMETICS  ·  Recueil des livrables des Experts  ·  octobre 2026</a:t>
            </a:r>
          </a:p>
        </p:txBody>
      </p:sp>
      <p:pic>
        <p:nvPicPr>
          <p:cNvPr id="32" name="Picture 31" descr="sali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Salif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opérations et usine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12801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12801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12801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640080"/>
            <a:ext cx="31089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r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777240"/>
            <a:ext cx="2651760" cy="8248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3317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ontserrat"/>
              </a:rPr>
              <a:t>Et maintenant ?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429000"/>
            <a:ext cx="640080" cy="64008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Vous parcourez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Chaque vignette ouvre le document ou la vidéo.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0" y="3429000"/>
            <a:ext cx="640080" cy="64008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Vous annotez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Vos commentaires directement dans les documents.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0" y="3429000"/>
            <a:ext cx="640080" cy="640080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Nous ajustons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Chaque Expert reprend son livrable avec vos retours.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Open Sans"/>
              </a:rPr>
              <a:t>Le recueil et les fichiers qui n’avaient pas encore de lien sont rangés dans son dossier Drive.</a:t>
            </a:r>
          </a:p>
          <a:p>
            <a:pPr algn="l"/>
            <a:r>
              <a:rPr sz="1400" b="1">
                <a:solidFill>
                  <a:srgbClr val="FF8087"/>
                </a:solidFill>
                <a:latin typeface="Open Sans"/>
                <a:hlinkClick r:id="rId3"/>
              </a:rPr>
              <a:t>Ouvrir le dossier  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7796" y="6729984"/>
            <a:ext cx="4073042" cy="128016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E172A"/>
      </a:hlink>
      <a:folHlink>
        <a:srgbClr val="AE172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