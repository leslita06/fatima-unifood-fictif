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3.png"/><Relationship Id="rId6" Type="http://schemas.openxmlformats.org/officeDocument/2006/relationships/image" Target="../media/image18.png"/><Relationship Id="rId7" Type="http://schemas.openxmlformats.org/officeDocument/2006/relationships/image" Target="../media/image4.png"/><Relationship Id="rId8" Type="http://schemas.openxmlformats.org/officeDocument/2006/relationships/image" Target="../media/image28.png"/><Relationship Id="rId9" Type="http://schemas.openxmlformats.org/officeDocument/2006/relationships/image" Target="../media/image5.png"/><Relationship Id="rId10" Type="http://schemas.openxmlformats.org/officeDocument/2006/relationships/image" Target="../media/image32.png"/><Relationship Id="rId11" Type="http://schemas.openxmlformats.org/officeDocument/2006/relationships/image" Target="../media/image6.png"/><Relationship Id="rId12" Type="http://schemas.openxmlformats.org/officeDocument/2006/relationships/image" Target="../media/image4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9.jpg"/><Relationship Id="rId5" Type="http://schemas.openxmlformats.org/officeDocument/2006/relationships/hyperlink" Target="https://docs.google.com/document/d/1s1C-AsVHiM3Qt5KUIc7p7_noE82ZHJBgvmRF4AAaHOk/edit" TargetMode="External"/><Relationship Id="rId6" Type="http://schemas.openxmlformats.org/officeDocument/2006/relationships/image" Target="../media/image10.jpg"/><Relationship Id="rId7" Type="http://schemas.openxmlformats.org/officeDocument/2006/relationships/hyperlink" Target="https://docs.google.com/presentation/d/1WvFDoQTEHiw9JSa9lILKKSVmnj6n035Xyg95FwVpB1s/edit" TargetMode="External"/><Relationship Id="rId8" Type="http://schemas.openxmlformats.org/officeDocument/2006/relationships/image" Target="../media/image11.jpg"/><Relationship Id="rId9" Type="http://schemas.openxmlformats.org/officeDocument/2006/relationships/hyperlink" Target="https://docs.google.com/document/d/1UwFq8Le73lbVKdAOrRz29I_OZzpz2vb4TffY-zRgtFY/edit" TargetMode="External"/><Relationship Id="rId10" Type="http://schemas.openxmlformats.org/officeDocument/2006/relationships/image" Target="../media/image12.jpg"/><Relationship Id="rId11" Type="http://schemas.openxmlformats.org/officeDocument/2006/relationships/hyperlink" Target="https://docs.google.com/spreadsheets/d/1Iq1hS2Hi12_XjdUAw8N7QESvdSlSzRLAA08bdyRlnOs/edit" TargetMode="External"/><Relationship Id="rId12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13.jpg"/><Relationship Id="rId5" Type="http://schemas.openxmlformats.org/officeDocument/2006/relationships/hyperlink" Target="https://docs.google.com/document/d/1gfrItc8WcUdxZbtTcqUMbE1_hBT5udSR9a3X13lf8XU/edit" TargetMode="External"/><Relationship Id="rId6" Type="http://schemas.openxmlformats.org/officeDocument/2006/relationships/image" Target="../media/image14.jpg"/><Relationship Id="rId7" Type="http://schemas.openxmlformats.org/officeDocument/2006/relationships/hyperlink" Target="https://docs.google.com/document/d/1iZs9o_DWWs3-GxB-7WjBN1wTslfmjzpLz5-6eha5Z4s/edit" TargetMode="External"/><Relationship Id="rId8" Type="http://schemas.openxmlformats.org/officeDocument/2006/relationships/image" Target="../media/image15.jpg"/><Relationship Id="rId9" Type="http://schemas.openxmlformats.org/officeDocument/2006/relationships/hyperlink" Target="https://docs.google.com/spreadsheets/d/1HkeLb0hyR6e4ZouilNiAhUyM1joEHCpX75XGsEOHRgE/edit" TargetMode="External"/><Relationship Id="rId10" Type="http://schemas.openxmlformats.org/officeDocument/2006/relationships/image" Target="../media/image16.jpg"/><Relationship Id="rId11" Type="http://schemas.openxmlformats.org/officeDocument/2006/relationships/hyperlink" Target="https://docs.google.com/document/d/14czTzR8PMBgH5D9K_Krr-0MCSWMOevSg97_rKjHvd3Y/edit" TargetMode="External"/><Relationship Id="rId12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19.jpg"/><Relationship Id="rId5" Type="http://schemas.openxmlformats.org/officeDocument/2006/relationships/hyperlink" Target="https://drive.google.com/drive/folders/1-UOR4Bei9YB3nYFWtFn9F-0s1fRthaJ8" TargetMode="External"/><Relationship Id="rId6" Type="http://schemas.openxmlformats.org/officeDocument/2006/relationships/image" Target="../media/image20.jpg"/><Relationship Id="rId7" Type="http://schemas.openxmlformats.org/officeDocument/2006/relationships/hyperlink" Target="https://drive.google.com/file/d/1Btpbj5xOOsEJpKBjsgcU4WbQJhGrM8r5/view" TargetMode="External"/><Relationship Id="rId8" Type="http://schemas.openxmlformats.org/officeDocument/2006/relationships/image" Target="../media/image21.jpg"/><Relationship Id="rId9" Type="http://schemas.openxmlformats.org/officeDocument/2006/relationships/hyperlink" Target="https://drive.google.com/file/d/1v9o9wK0ddC5ZCPa_5mo5DGuHzzh2NY7c/view" TargetMode="External"/><Relationship Id="rId10" Type="http://schemas.openxmlformats.org/officeDocument/2006/relationships/image" Target="../media/image22.jpg"/><Relationship Id="rId11" Type="http://schemas.openxmlformats.org/officeDocument/2006/relationships/hyperlink" Target="https://drive.google.com/file/d/11VL3UDdzKMo6DdBFU6dApmcX2di-BM87/view" TargetMode="External"/><Relationship Id="rId12" Type="http://schemas.openxmlformats.org/officeDocument/2006/relationships/image" Target="../media/image1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23.jpg"/><Relationship Id="rId5" Type="http://schemas.openxmlformats.org/officeDocument/2006/relationships/hyperlink" Target="https://drive.google.com/drive/folders/1SzQMbj6XlXnHGQWCq9AMhAcJW_oAC1EW" TargetMode="External"/><Relationship Id="rId6" Type="http://schemas.openxmlformats.org/officeDocument/2006/relationships/image" Target="../media/image24.jpg"/><Relationship Id="rId7" Type="http://schemas.openxmlformats.org/officeDocument/2006/relationships/hyperlink" Target="https://drive.google.com/drive/folders/1ocy7VIfm_oBMccCqoGK75zrU1ZAZ0FOP" TargetMode="External"/><Relationship Id="rId8" Type="http://schemas.openxmlformats.org/officeDocument/2006/relationships/image" Target="../media/image25.jpg"/><Relationship Id="rId9" Type="http://schemas.openxmlformats.org/officeDocument/2006/relationships/hyperlink" Target="https://drive.google.com/drive/folders/1eMRAamjcfmBdEzF_g4j3EfbfKANpWdLA" TargetMode="External"/><Relationship Id="rId10" Type="http://schemas.openxmlformats.org/officeDocument/2006/relationships/image" Target="../media/image26.jpg"/><Relationship Id="rId11" Type="http://schemas.openxmlformats.org/officeDocument/2006/relationships/hyperlink" Target="https://leslita06.github.io/yelema-tests-koffi/cotiplast-site/" TargetMode="External"/><Relationship Id="rId12" Type="http://schemas.openxmlformats.org/officeDocument/2006/relationships/image" Target="../media/image1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29.jpg"/><Relationship Id="rId5" Type="http://schemas.openxmlformats.org/officeDocument/2006/relationships/hyperlink" Target="https://drive.google.com/drive/folders/13DdGXesIBopqU6CElCdJaN0DCcRqQUC5" TargetMode="External"/><Relationship Id="rId6" Type="http://schemas.openxmlformats.org/officeDocument/2006/relationships/image" Target="../media/image30.jpg"/><Relationship Id="rId7" Type="http://schemas.openxmlformats.org/officeDocument/2006/relationships/hyperlink" Target="https://docs.google.com/spreadsheets/d/1SEP_BjS2hdxqNx22ZeQ1tghDAEp77zk2wzBoLTH4Jzk/edit" TargetMode="External"/><Relationship Id="rId8" Type="http://schemas.openxmlformats.org/officeDocument/2006/relationships/image" Target="../media/image2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33.jpg"/><Relationship Id="rId5" Type="http://schemas.openxmlformats.org/officeDocument/2006/relationships/hyperlink" Target="https://docs.google.com/spreadsheets/d/1COonkJOKovevGE0wGWY2vhzU5uasisl81xdKu8iKJt0/edit" TargetMode="External"/><Relationship Id="rId6" Type="http://schemas.openxmlformats.org/officeDocument/2006/relationships/image" Target="../media/image34.jpg"/><Relationship Id="rId7" Type="http://schemas.openxmlformats.org/officeDocument/2006/relationships/hyperlink" Target="https://docs.google.com/spreadsheets/d/1SxAhNhJhX7qld1uTqoZtlxzqVl6cQFAGNd7lFSz73u4/edit" TargetMode="External"/><Relationship Id="rId8" Type="http://schemas.openxmlformats.org/officeDocument/2006/relationships/image" Target="../media/image35.jpg"/><Relationship Id="rId9" Type="http://schemas.openxmlformats.org/officeDocument/2006/relationships/hyperlink" Target="https://docs.google.com/spreadsheets/d/1_aDf_MwDtC8fq7ngLjhboqnYxJdxVQ5Z-f7XwziUkjw/edit" TargetMode="External"/><Relationship Id="rId10" Type="http://schemas.openxmlformats.org/officeDocument/2006/relationships/image" Target="../media/image36.jpg"/><Relationship Id="rId11" Type="http://schemas.openxmlformats.org/officeDocument/2006/relationships/hyperlink" Target="https://docs.google.com/document/d/1FKVY7bYAO7RPEFTCV0nLblkMkipvalubth_tg6UeMv0/edit" TargetMode="External"/><Relationship Id="rId12" Type="http://schemas.openxmlformats.org/officeDocument/2006/relationships/image" Target="../media/image3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37.jpg"/><Relationship Id="rId5" Type="http://schemas.openxmlformats.org/officeDocument/2006/relationships/hyperlink" Target="https://docs.google.com/document/d/1WR9mxBMR7RGJgDZg8bmG2iTLtCt1Wq0cBZyJon6WEg0/edit" TargetMode="External"/><Relationship Id="rId6" Type="http://schemas.openxmlformats.org/officeDocument/2006/relationships/image" Target="../media/image38.jpg"/><Relationship Id="rId7" Type="http://schemas.openxmlformats.org/officeDocument/2006/relationships/hyperlink" Target="https://docs.google.com/document/d/1NdprMNlJko0OTwuywec5IDNDIlmk4Vh1iXrAslMGHxc/edit" TargetMode="External"/><Relationship Id="rId8" Type="http://schemas.openxmlformats.org/officeDocument/2006/relationships/image" Target="../media/image39.jpg"/><Relationship Id="rId9" Type="http://schemas.openxmlformats.org/officeDocument/2006/relationships/hyperlink" Target="https://docs.google.com/spreadsheets/d/1s1uma2XwwOnhiqDU2PR0DtI04Iyzg9oCP6jMwtfrlhg/edit" TargetMode="External"/><Relationship Id="rId10" Type="http://schemas.openxmlformats.org/officeDocument/2006/relationships/image" Target="../media/image3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42.jpg"/><Relationship Id="rId5" Type="http://schemas.openxmlformats.org/officeDocument/2006/relationships/hyperlink" Target="https://docs.google.com/document/d/1UdjmgEURkQtbkJAoAXYFD77zZjzZIU3Hve6YjMQAElw/edit" TargetMode="External"/><Relationship Id="rId6" Type="http://schemas.openxmlformats.org/officeDocument/2006/relationships/image" Target="../media/image43.jpg"/><Relationship Id="rId7" Type="http://schemas.openxmlformats.org/officeDocument/2006/relationships/hyperlink" Target="https://docs.google.com/spreadsheets/d/1YlI-xeFMtwZQ6lLyHsLTPTAu3XdoS7_PXa4BKIVlwS4/edit" TargetMode="External"/><Relationship Id="rId8" Type="http://schemas.openxmlformats.org/officeDocument/2006/relationships/image" Target="../media/image44.jpg"/><Relationship Id="rId9" Type="http://schemas.openxmlformats.org/officeDocument/2006/relationships/hyperlink" Target="https://docs.google.com/document/d/1fut9mecf1VGgAcs_OMP2fyIvJjcQLborww9ltvhlHw0/edit" TargetMode="External"/><Relationship Id="rId10" Type="http://schemas.openxmlformats.org/officeDocument/2006/relationships/image" Target="../media/image45.jpg"/><Relationship Id="rId11" Type="http://schemas.openxmlformats.org/officeDocument/2006/relationships/hyperlink" Target="https://docs.google.com/document/d/1t4w0y0giWhLhjAVJb9HX0fweNnLmfoc3A4oX8F6pMTQ/edit" TargetMode="External"/><Relationship Id="rId12" Type="http://schemas.openxmlformats.org/officeDocument/2006/relationships/image" Target="../media/image4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46.jpg"/><Relationship Id="rId5" Type="http://schemas.openxmlformats.org/officeDocument/2006/relationships/hyperlink" Target="https://docs.google.com/spreadsheets/d/1d1tqeNROdZkTb4mh6AEdmEr0oVqThsgp5Du-3J53GZU/edit" TargetMode="External"/><Relationship Id="rId6" Type="http://schemas.openxmlformats.org/officeDocument/2006/relationships/image" Target="../media/image47.jpg"/><Relationship Id="rId7" Type="http://schemas.openxmlformats.org/officeDocument/2006/relationships/hyperlink" Target="https://docs.google.com/document/d/184YSWA93yGNgVH-0KfX_tnMndLU-lqv75h70h32DktY/edit" TargetMode="External"/><Relationship Id="rId8" Type="http://schemas.openxmlformats.org/officeDocument/2006/relationships/image" Target="../media/image48.jpg"/><Relationship Id="rId9" Type="http://schemas.openxmlformats.org/officeDocument/2006/relationships/hyperlink" Target="https://drive.google.com/file/d/1Xl1jxcVDUlZMFpqWBlTfUdLG4msQC02M/view" TargetMode="External"/><Relationship Id="rId10" Type="http://schemas.openxmlformats.org/officeDocument/2006/relationships/image" Target="../media/image49.jpg"/><Relationship Id="rId11" Type="http://schemas.openxmlformats.org/officeDocument/2006/relationships/hyperlink" Target="https://docs.google.com/document/d/1qa0geZSw-G7SMFsoAoQJ6qGk9uDMxUMzWwXFgISAmR8/edit" TargetMode="External"/><Relationship Id="rId12" Type="http://schemas.openxmlformats.org/officeDocument/2006/relationships/image" Target="../media/image4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drive.google.com/drive/folders/19P-ddXqwwFyz7yO947YRCSUF3Lp-2-su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128016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128016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128016"/>
          </a:xfrm>
          <a:prstGeom prst="rect">
            <a:avLst/>
          </a:prstGeom>
          <a:solidFill>
            <a:srgbClr val="F0A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685800"/>
            <a:ext cx="3200400" cy="1600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t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822960"/>
            <a:ext cx="1988820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274320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ontserrat"/>
              </a:rPr>
              <a:t>Ce que nos Experts ont produit</a:t>
            </a:r>
          </a:p>
          <a:p>
            <a:pPr algn="l"/>
            <a:r>
              <a:rPr sz="4400" b="1">
                <a:solidFill>
                  <a:srgbClr val="FD8103"/>
                </a:solidFill>
                <a:latin typeface="Montserrat"/>
              </a:rPr>
              <a:t>pour COTIPLAST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4348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Open Sans"/>
              </a:rPr>
              <a:t>33 livrables  ·  5 métiers  ·  22 au 28 octobre 2026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5257800"/>
            <a:ext cx="566928" cy="566928"/>
          </a:xfrm>
          <a:prstGeom prst="ellipse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mk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5385816"/>
            <a:ext cx="310896" cy="31089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417320" y="5285232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Open Sans"/>
              </a:rPr>
              <a:t>Marketing et contenu</a:t>
            </a:r>
          </a:p>
          <a:p>
            <a:pPr algn="l"/>
            <a:r>
              <a:rPr sz="1100" b="0">
                <a:solidFill>
                  <a:srgbClr val="BBBBBB"/>
                </a:solidFill>
                <a:latin typeface="Open Sans"/>
              </a:rPr>
              <a:t>Fatima</a:t>
            </a:r>
          </a:p>
        </p:txBody>
      </p:sp>
      <p:sp>
        <p:nvSpPr>
          <p:cNvPr id="13" name="Oval 12"/>
          <p:cNvSpPr/>
          <p:nvPr/>
        </p:nvSpPr>
        <p:spPr>
          <a:xfrm>
            <a:off x="2971800" y="5257800"/>
            <a:ext cx="566928" cy="566928"/>
          </a:xfrm>
          <a:prstGeom prst="ellipse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de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9816" y="5385816"/>
            <a:ext cx="310896" cy="31089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657600" y="5285232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Open Sans"/>
              </a:rPr>
              <a:t>Design de marque</a:t>
            </a:r>
          </a:p>
          <a:p>
            <a:pPr algn="l"/>
            <a:r>
              <a:rPr sz="1100" b="0">
                <a:solidFill>
                  <a:srgbClr val="BBBBBB"/>
                </a:solidFill>
                <a:latin typeface="Open Sans"/>
              </a:rPr>
              <a:t>Koffi</a:t>
            </a:r>
          </a:p>
        </p:txBody>
      </p:sp>
      <p:sp>
        <p:nvSpPr>
          <p:cNvPr id="16" name="Oval 15"/>
          <p:cNvSpPr/>
          <p:nvPr/>
        </p:nvSpPr>
        <p:spPr>
          <a:xfrm>
            <a:off x="5212080" y="5257800"/>
            <a:ext cx="566928" cy="566928"/>
          </a:xfrm>
          <a:prstGeom prst="ellipse">
            <a:avLst/>
          </a:prstGeom>
          <a:solidFill>
            <a:srgbClr val="2B2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rec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0096" y="5385816"/>
            <a:ext cx="310896" cy="31089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97880" y="5285232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Open Sans"/>
              </a:rPr>
              <a:t>Recrutement</a:t>
            </a:r>
          </a:p>
          <a:p>
            <a:pPr algn="l"/>
            <a:r>
              <a:rPr sz="1100" b="0">
                <a:solidFill>
                  <a:srgbClr val="BBBBBB"/>
                </a:solidFill>
                <a:latin typeface="Open Sans"/>
              </a:rPr>
              <a:t>Adjoua</a:t>
            </a:r>
          </a:p>
        </p:txBody>
      </p:sp>
      <p:sp>
        <p:nvSpPr>
          <p:cNvPr id="19" name="Oval 18"/>
          <p:cNvSpPr/>
          <p:nvPr/>
        </p:nvSpPr>
        <p:spPr>
          <a:xfrm>
            <a:off x="7452360" y="5257800"/>
            <a:ext cx="566928" cy="566928"/>
          </a:xfrm>
          <a:prstGeom prst="ellipse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rh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0376" y="5385816"/>
            <a:ext cx="310896" cy="31089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138160" y="5285232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Open Sans"/>
              </a:rPr>
              <a:t>Ressources humaines</a:t>
            </a:r>
          </a:p>
          <a:p>
            <a:pPr algn="l"/>
            <a:r>
              <a:rPr sz="1100" b="0">
                <a:solidFill>
                  <a:srgbClr val="BBBBBB"/>
                </a:solidFill>
                <a:latin typeface="Open Sans"/>
              </a:rPr>
              <a:t>Fatou</a:t>
            </a:r>
          </a:p>
        </p:txBody>
      </p:sp>
      <p:sp>
        <p:nvSpPr>
          <p:cNvPr id="22" name="Oval 21"/>
          <p:cNvSpPr/>
          <p:nvPr/>
        </p:nvSpPr>
        <p:spPr>
          <a:xfrm>
            <a:off x="9692640" y="5257800"/>
            <a:ext cx="566928" cy="566928"/>
          </a:xfrm>
          <a:prstGeom prst="ellipse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ops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20656" y="5385816"/>
            <a:ext cx="310896" cy="31089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378440" y="5285232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Open Sans"/>
              </a:rPr>
              <a:t>Opérations et achats</a:t>
            </a:r>
          </a:p>
          <a:p>
            <a:pPr algn="l"/>
            <a:r>
              <a:rPr sz="1100" b="0">
                <a:solidFill>
                  <a:srgbClr val="BBBBBB"/>
                </a:solidFill>
                <a:latin typeface="Open Sans"/>
              </a:rPr>
              <a:t>Salif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729984"/>
            <a:ext cx="4063898" cy="128016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063898" y="6729984"/>
            <a:ext cx="4063898" cy="128016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27796" y="6729984"/>
            <a:ext cx="4073042" cy="128016"/>
          </a:xfrm>
          <a:prstGeom prst="rect">
            <a:avLst/>
          </a:prstGeom>
          <a:solidFill>
            <a:srgbClr val="F0A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82296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82296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82296"/>
          </a:xfrm>
          <a:prstGeom prst="rect">
            <a:avLst/>
          </a:prstGeom>
          <a:solidFill>
            <a:srgbClr val="F0A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ot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5503" y="347472"/>
            <a:ext cx="987552" cy="6583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1148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Montserrat"/>
              </a:rPr>
              <a:t>Sommaire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Open Sans"/>
              </a:rPr>
              <a:t>Un chapitre par métier. Chaque vignette du recueil ouvre le document.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COTIPLAST  ·  Recueil des livrables des Experts  ·  octobre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1091672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691640"/>
            <a:ext cx="82296" cy="749808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1810512"/>
            <a:ext cx="512064" cy="512064"/>
          </a:xfrm>
          <a:prstGeom prst="ellipse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mk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1929384"/>
            <a:ext cx="274320" cy="274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600200" y="1691640"/>
            <a:ext cx="402336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Montserrat"/>
              </a:rPr>
              <a:t>Marketing et contenu</a:t>
            </a:r>
          </a:p>
        </p:txBody>
      </p:sp>
      <p:pic>
        <p:nvPicPr>
          <p:cNvPr id="15" name="Picture 14" descr="fatim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0" y="1837944"/>
            <a:ext cx="457200" cy="457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217920" y="1691640"/>
            <a:ext cx="182880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Open Sans"/>
              </a:rPr>
              <a:t>Fatima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1691640"/>
            <a:ext cx="201168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Open Sans"/>
              </a:rPr>
              <a:t>8 livrables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60" y="1691640"/>
            <a:ext cx="146304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FD8103"/>
                </a:solidFill>
                <a:latin typeface="Open Sans"/>
              </a:rPr>
              <a:t>page 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587752"/>
            <a:ext cx="11091672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2587752"/>
            <a:ext cx="82296" cy="749808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68680" y="2706624"/>
            <a:ext cx="512064" cy="512064"/>
          </a:xfrm>
          <a:prstGeom prst="ellipse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des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" y="2825496"/>
            <a:ext cx="274320" cy="2743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600200" y="2587752"/>
            <a:ext cx="402336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Montserrat"/>
              </a:rPr>
              <a:t>Design de marque</a:t>
            </a:r>
          </a:p>
        </p:txBody>
      </p:sp>
      <p:pic>
        <p:nvPicPr>
          <p:cNvPr id="24" name="Picture 23" descr="koff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3560" y="2734056"/>
            <a:ext cx="457200" cy="4572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217920" y="2587752"/>
            <a:ext cx="182880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Open Sans"/>
              </a:rPr>
              <a:t>Koffi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2587752"/>
            <a:ext cx="201168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Open Sans"/>
              </a:rPr>
              <a:t>8 livrables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2587752"/>
            <a:ext cx="146304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FD8103"/>
                </a:solidFill>
                <a:latin typeface="Open Sans"/>
              </a:rPr>
              <a:t>page 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483864"/>
            <a:ext cx="11091672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3483864"/>
            <a:ext cx="82296" cy="749808"/>
          </a:xfrm>
          <a:prstGeom prst="rect">
            <a:avLst/>
          </a:prstGeom>
          <a:solidFill>
            <a:srgbClr val="2B2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68680" y="3602736"/>
            <a:ext cx="512064" cy="512064"/>
          </a:xfrm>
          <a:prstGeom prst="ellipse">
            <a:avLst/>
          </a:prstGeom>
          <a:solidFill>
            <a:srgbClr val="2B2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rec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7552" y="3721608"/>
            <a:ext cx="274320" cy="27432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600200" y="3483864"/>
            <a:ext cx="402336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Montserrat"/>
              </a:rPr>
              <a:t>Recrutement</a:t>
            </a:r>
          </a:p>
        </p:txBody>
      </p:sp>
      <p:pic>
        <p:nvPicPr>
          <p:cNvPr id="33" name="Picture 32" descr="adjou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23560" y="3630168"/>
            <a:ext cx="457200" cy="4572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217920" y="3483864"/>
            <a:ext cx="182880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Open Sans"/>
              </a:rPr>
              <a:t>Adjoua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3483864"/>
            <a:ext cx="201168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Open Sans"/>
              </a:rPr>
              <a:t>2 livrables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66960" y="3483864"/>
            <a:ext cx="146304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FD8103"/>
                </a:solidFill>
                <a:latin typeface="Open Sans"/>
              </a:rPr>
              <a:t>page 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379976"/>
            <a:ext cx="11091672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48640" y="4379976"/>
            <a:ext cx="82296" cy="749808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68680" y="4498848"/>
            <a:ext cx="512064" cy="512064"/>
          </a:xfrm>
          <a:prstGeom prst="ellipse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rh_FFFF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7552" y="4617720"/>
            <a:ext cx="274320" cy="27432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600200" y="4379976"/>
            <a:ext cx="402336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Montserrat"/>
              </a:rPr>
              <a:t>Ressources humaines</a:t>
            </a:r>
          </a:p>
        </p:txBody>
      </p:sp>
      <p:pic>
        <p:nvPicPr>
          <p:cNvPr id="42" name="Picture 41" descr="fatou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23560" y="4526280"/>
            <a:ext cx="457200" cy="45720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217920" y="4379976"/>
            <a:ext cx="182880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Open Sans"/>
              </a:rPr>
              <a:t>Fatou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63840" y="4379976"/>
            <a:ext cx="201168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Open Sans"/>
              </a:rPr>
              <a:t>7 livrables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66960" y="4379976"/>
            <a:ext cx="146304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FD8103"/>
                </a:solidFill>
                <a:latin typeface="Open Sans"/>
              </a:rPr>
              <a:t>page 11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5276088"/>
            <a:ext cx="11091672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48640" y="5276088"/>
            <a:ext cx="82296" cy="749808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68680" y="5394959"/>
            <a:ext cx="512064" cy="512064"/>
          </a:xfrm>
          <a:prstGeom prst="ellipse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ops_FFFFFF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7552" y="5513831"/>
            <a:ext cx="274320" cy="27432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1600200" y="5276088"/>
            <a:ext cx="402336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Montserrat"/>
              </a:rPr>
              <a:t>Opérations et achats</a:t>
            </a:r>
          </a:p>
        </p:txBody>
      </p:sp>
      <p:pic>
        <p:nvPicPr>
          <p:cNvPr id="51" name="Picture 50" descr="salif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23560" y="5422392"/>
            <a:ext cx="457200" cy="45720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6217920" y="5276088"/>
            <a:ext cx="182880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Open Sans"/>
              </a:rPr>
              <a:t>Salif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63840" y="5276088"/>
            <a:ext cx="201168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Open Sans"/>
              </a:rPr>
              <a:t>8 livrables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966960" y="5276088"/>
            <a:ext cx="146304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FD8103"/>
                </a:solidFill>
                <a:latin typeface="Open Sans"/>
              </a:rPr>
              <a:t>page 14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1A1A1A"/>
                </a:solidFill>
                <a:latin typeface="Open Sans"/>
              </a:rPr>
              <a:t>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82296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82296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82296"/>
          </a:xfrm>
          <a:prstGeom prst="rect">
            <a:avLst/>
          </a:prstGeom>
          <a:solidFill>
            <a:srgbClr val="F0A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37160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kt_1A1A1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1627632"/>
            <a:ext cx="676656" cy="6766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29260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ontserrat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29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Montserrat"/>
              </a:rPr>
              <a:t>Marketing et contenu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348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Open Sans"/>
              </a:rPr>
              <a:t>8 livrables  ·  préparés par Fatima, Expert IA marketing et contenu</a:t>
            </a:r>
          </a:p>
        </p:txBody>
      </p:sp>
      <p:pic>
        <p:nvPicPr>
          <p:cNvPr id="11" name="Picture 10" descr="fati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7055" y="3017520"/>
            <a:ext cx="2011680" cy="20116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037015" y="457200"/>
            <a:ext cx="260604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oti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4235" y="594360"/>
            <a:ext cx="1371600" cy="914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BBBBB"/>
                </a:solidFill>
                <a:latin typeface="Open Sans"/>
              </a:rPr>
              <a:t>COTIPLAST  ·  Recueil des livrables des Experts  ·  octobre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Open Sans"/>
              </a:rPr>
              <a:t>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82296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82296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82296"/>
          </a:xfrm>
          <a:prstGeom prst="rect">
            <a:avLst/>
          </a:prstGeom>
          <a:solidFill>
            <a:srgbClr val="F0A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384048"/>
            <a:ext cx="548640" cy="548640"/>
          </a:xfrm>
          <a:prstGeom prst="ellipse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kt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502920"/>
            <a:ext cx="310896" cy="310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61872" y="347472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Montserrat"/>
              </a:rPr>
              <a:t>Marketing et contenu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82296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Open Sans"/>
              </a:rPr>
              <a:t>1 sur 2</a:t>
            </a:r>
          </a:p>
        </p:txBody>
      </p:sp>
      <p:pic>
        <p:nvPicPr>
          <p:cNvPr id="10" name="Picture 9" descr="cot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5503" y="347472"/>
            <a:ext cx="987552" cy="65836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48640" y="1371600"/>
            <a:ext cx="2514600" cy="54864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m1.jp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26464"/>
            <a:ext cx="2514600" cy="3017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Fiche de vérification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Ce que nous savons de Cotiplast, à valider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FB58B"/>
                </a:solidFill>
                <a:latin typeface="Open Sans"/>
                <a:hlinkClick r:id="rId5"/>
              </a:rPr>
              <a:t>Ouvrir le document  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8578" y="1371600"/>
            <a:ext cx="2514600" cy="54864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m2.jpg">
            <a:hlinkClick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8578" y="1426464"/>
            <a:ext cx="2514600" cy="30175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408578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Stratégie réseaux sociaux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8578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Trouver des clients industriels en ligne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8578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FB58B"/>
                </a:solidFill>
                <a:latin typeface="Open Sans"/>
                <a:hlinkClick r:id="rId7"/>
              </a:rPr>
              <a:t>Ouvrir le document  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8516" y="1371600"/>
            <a:ext cx="2514600" cy="54864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m3.jpg">
            <a:hlinkClick r:id="rId9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8516" y="1426464"/>
            <a:ext cx="2514600" cy="30175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268516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Cinq publications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8516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Facebook et LinkedIn, avec leurs visuels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8516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FB58B"/>
                </a:solidFill>
                <a:latin typeface="Open Sans"/>
                <a:hlinkClick r:id="rId9"/>
              </a:rPr>
              <a:t>Ouvrir le document  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28455" y="1371600"/>
            <a:ext cx="2514600" cy="54864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m4.jpg">
            <a:hlinkClick r:id="rId11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8455" y="1426464"/>
            <a:ext cx="2514600" cy="30175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128455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Calendrier LinkedIn de novembre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28455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12 publications rédigées et illustrées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28455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FB58B"/>
                </a:solidFill>
                <a:latin typeface="Open Sans"/>
                <a:hlinkClick r:id="rId11"/>
              </a:rPr>
              <a:t>Ouvrir le document  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COTIPLAST  ·  Recueil des livrables des Experts  ·  octobre 2026</a:t>
            </a:r>
          </a:p>
        </p:txBody>
      </p:sp>
      <p:pic>
        <p:nvPicPr>
          <p:cNvPr id="32" name="Picture 31" descr="fatima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20840" y="6309360"/>
            <a:ext cx="457200" cy="4572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269480" y="6336792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Open Sans"/>
              </a:rPr>
              <a:t>Réalisé par Fatima</a:t>
            </a:r>
          </a:p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Expert IA, marketing et contenu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1A1A1A"/>
                </a:solidFill>
                <a:latin typeface="Open Sans"/>
              </a:rPr>
              <a:t>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82296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82296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82296"/>
          </a:xfrm>
          <a:prstGeom prst="rect">
            <a:avLst/>
          </a:prstGeom>
          <a:solidFill>
            <a:srgbClr val="F0A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384048"/>
            <a:ext cx="548640" cy="548640"/>
          </a:xfrm>
          <a:prstGeom prst="ellipse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kt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502920"/>
            <a:ext cx="310896" cy="310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61872" y="347472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Montserrat"/>
              </a:rPr>
              <a:t>Marketing et contenu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82296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Open Sans"/>
              </a:rPr>
              <a:t>2 sur 2</a:t>
            </a:r>
          </a:p>
        </p:txBody>
      </p:sp>
      <p:pic>
        <p:nvPicPr>
          <p:cNvPr id="10" name="Picture 9" descr="cot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5503" y="347472"/>
            <a:ext cx="987552" cy="65836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48640" y="1371600"/>
            <a:ext cx="2514600" cy="54864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m5.jp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26464"/>
            <a:ext cx="2514600" cy="3017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Page « Emballages pour l’industrie 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Le texte de la page devis du site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FB58B"/>
                </a:solidFill>
                <a:latin typeface="Open Sans"/>
                <a:hlinkClick r:id="rId5"/>
              </a:rPr>
              <a:t>Ouvrir le document  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8578" y="1371600"/>
            <a:ext cx="2514600" cy="54864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m6.jpg">
            <a:hlinkClick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8578" y="1426464"/>
            <a:ext cx="2514600" cy="30175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408578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Lancement de l’emballage agro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8578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Plan de lancement du nouveau produit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8578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FB58B"/>
                </a:solidFill>
                <a:latin typeface="Open Sans"/>
                <a:hlinkClick r:id="rId7"/>
              </a:rPr>
              <a:t>Ouvrir le document  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8516" y="1371600"/>
            <a:ext cx="2514600" cy="54864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m7.jpg">
            <a:hlinkClick r:id="rId9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8516" y="1426464"/>
            <a:ext cx="2514600" cy="30175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268516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Plan média 2027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8516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Industriels et acheteurs, mois par mois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8516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FB58B"/>
                </a:solidFill>
                <a:latin typeface="Open Sans"/>
                <a:hlinkClick r:id="rId9"/>
              </a:rPr>
              <a:t>Ouvrir le document  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28455" y="1371600"/>
            <a:ext cx="2514600" cy="54864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m8.jpg">
            <a:hlinkClick r:id="rId11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8455" y="1426464"/>
            <a:ext cx="2514600" cy="30175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128455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Relance des prospects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28455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Séquence e-mail et WhatsApp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28455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FB58B"/>
                </a:solidFill>
                <a:latin typeface="Open Sans"/>
                <a:hlinkClick r:id="rId11"/>
              </a:rPr>
              <a:t>Ouvrir le document  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COTIPLAST  ·  Recueil des livrables des Experts  ·  octobre 2026</a:t>
            </a:r>
          </a:p>
        </p:txBody>
      </p:sp>
      <p:pic>
        <p:nvPicPr>
          <p:cNvPr id="32" name="Picture 31" descr="fatima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20840" y="6309360"/>
            <a:ext cx="457200" cy="4572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269480" y="6336792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Open Sans"/>
              </a:rPr>
              <a:t>Réalisé par Fatima</a:t>
            </a:r>
          </a:p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Expert IA, marketing et contenu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1A1A1A"/>
                </a:solidFill>
                <a:latin typeface="Open Sans"/>
              </a:rPr>
              <a:t>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82296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82296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82296"/>
          </a:xfrm>
          <a:prstGeom prst="rect">
            <a:avLst/>
          </a:prstGeom>
          <a:solidFill>
            <a:srgbClr val="F0A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37160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es_1A1A1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1627632"/>
            <a:ext cx="676656" cy="6766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29260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ontserrat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29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Montserrat"/>
              </a:rPr>
              <a:t>Design de marque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348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Open Sans"/>
              </a:rPr>
              <a:t>8 livrables  ·  préparés par Koffi, Expert IA design de marque</a:t>
            </a:r>
          </a:p>
        </p:txBody>
      </p:sp>
      <p:pic>
        <p:nvPicPr>
          <p:cNvPr id="11" name="Picture 10" descr="koff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7055" y="3017520"/>
            <a:ext cx="2011680" cy="20116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037015" y="457200"/>
            <a:ext cx="260604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oti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4235" y="594360"/>
            <a:ext cx="1371600" cy="914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BBBBB"/>
                </a:solidFill>
                <a:latin typeface="Open Sans"/>
              </a:rPr>
              <a:t>COTIPLAST  ·  Recueil des livrables des Experts  ·  octobre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Open Sans"/>
              </a:rPr>
              <a:t>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82296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82296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82296"/>
          </a:xfrm>
          <a:prstGeom prst="rect">
            <a:avLst/>
          </a:prstGeom>
          <a:solidFill>
            <a:srgbClr val="F0A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384048"/>
            <a:ext cx="548640" cy="548640"/>
          </a:xfrm>
          <a:prstGeom prst="ellipse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es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502920"/>
            <a:ext cx="310896" cy="310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61872" y="347472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Montserrat"/>
              </a:rPr>
              <a:t>Design de marque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82296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Open Sans"/>
              </a:rPr>
              <a:t>1 sur 2</a:t>
            </a:r>
          </a:p>
        </p:txBody>
      </p:sp>
      <p:pic>
        <p:nvPicPr>
          <p:cNvPr id="10" name="Picture 9" descr="cot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5503" y="347472"/>
            <a:ext cx="987552" cy="65836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48640" y="1371600"/>
            <a:ext cx="2514600" cy="54864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1.jp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26464"/>
            <a:ext cx="2514600" cy="3017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Logo et couleurs relevés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Planche d’identité à valider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D8103"/>
                </a:solidFill>
                <a:latin typeface="Open Sans"/>
                <a:hlinkClick r:id="rId5"/>
              </a:rPr>
              <a:t>Ouvrir le dossier  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8578" y="1371600"/>
            <a:ext cx="2514600" cy="54864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d2.jpg">
            <a:hlinkClick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8578" y="1426464"/>
            <a:ext cx="2514600" cy="30175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408578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Affiche B2B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8578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Pour les acheteurs industriels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8578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D8103"/>
                </a:solidFill>
                <a:latin typeface="Open Sans"/>
                <a:hlinkClick r:id="rId7"/>
              </a:rPr>
              <a:t>Ouvrir le document  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8516" y="1371600"/>
            <a:ext cx="2514600" cy="54864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d3.jpg">
            <a:hlinkClick r:id="rId9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8516" y="1426464"/>
            <a:ext cx="2514600" cy="30175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268516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Catalogue produits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8516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Films, sacs, big bags et emballages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8516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D8103"/>
                </a:solidFill>
                <a:latin typeface="Open Sans"/>
                <a:hlinkClick r:id="rId9"/>
              </a:rPr>
              <a:t>Ouvrir le document  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28455" y="1371600"/>
            <a:ext cx="2514600" cy="54864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d4.jpg">
            <a:hlinkClick r:id="rId11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8455" y="1426464"/>
            <a:ext cx="2514600" cy="30175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128455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Visuels LinkedIn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28455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Deux formats 1080 x 1350 et un carrousel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28455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D8103"/>
                </a:solidFill>
                <a:latin typeface="Open Sans"/>
                <a:hlinkClick r:id="rId11"/>
              </a:rPr>
              <a:t>Ouvrir le document  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COTIPLAST  ·  Recueil des livrables des Experts  ·  octobre 2026</a:t>
            </a:r>
          </a:p>
        </p:txBody>
      </p:sp>
      <p:pic>
        <p:nvPicPr>
          <p:cNvPr id="32" name="Picture 31" descr="koffi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20840" y="6309360"/>
            <a:ext cx="457200" cy="4572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269480" y="6336792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Open Sans"/>
              </a:rPr>
              <a:t>Réalisé par Koffi</a:t>
            </a:r>
          </a:p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Expert IA, design de marque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1A1A1A"/>
                </a:solidFill>
                <a:latin typeface="Open Sans"/>
              </a:rPr>
              <a:t>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82296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82296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82296"/>
          </a:xfrm>
          <a:prstGeom prst="rect">
            <a:avLst/>
          </a:prstGeom>
          <a:solidFill>
            <a:srgbClr val="F0A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384048"/>
            <a:ext cx="548640" cy="548640"/>
          </a:xfrm>
          <a:prstGeom prst="ellipse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es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502920"/>
            <a:ext cx="310896" cy="310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61872" y="347472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Montserrat"/>
              </a:rPr>
              <a:t>Design de marque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82296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Open Sans"/>
              </a:rPr>
              <a:t>2 sur 2</a:t>
            </a:r>
          </a:p>
        </p:txBody>
      </p:sp>
      <p:pic>
        <p:nvPicPr>
          <p:cNvPr id="10" name="Picture 9" descr="cot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5503" y="347472"/>
            <a:ext cx="987552" cy="65836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48640" y="1371600"/>
            <a:ext cx="2514600" cy="54864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5.jp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26464"/>
            <a:ext cx="2514600" cy="3017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Carrousel « fabrication 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Trois niveaux : basique, médium, premium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D8103"/>
                </a:solidFill>
                <a:latin typeface="Open Sans"/>
                <a:hlinkClick r:id="rId5"/>
              </a:rPr>
              <a:t>Ouvrir le dossier  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8578" y="1371600"/>
            <a:ext cx="2514600" cy="54864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d6.jpg">
            <a:hlinkClick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8578" y="1426464"/>
            <a:ext cx="2514600" cy="30175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408578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Kakémonos du salon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8578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Entreprise, gammes, qualité, trois niveaux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8578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D8103"/>
                </a:solidFill>
                <a:latin typeface="Open Sans"/>
                <a:hlinkClick r:id="rId7"/>
              </a:rPr>
              <a:t>Ouvrir le dossier  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8516" y="1371600"/>
            <a:ext cx="2514600" cy="54864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d7.jpg">
            <a:hlinkClick r:id="rId9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8516" y="1426464"/>
            <a:ext cx="2514600" cy="30175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268516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Signalétique sécurité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8516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Panneaux pour les ateliers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8516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D8103"/>
                </a:solidFill>
                <a:latin typeface="Open Sans"/>
                <a:hlinkClick r:id="rId9"/>
              </a:rPr>
              <a:t>Ouvrir le dossier  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28455" y="1371600"/>
            <a:ext cx="2514600" cy="54864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d8.jpg">
            <a:hlinkClick r:id="rId11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8455" y="1426464"/>
            <a:ext cx="2514600" cy="30175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128455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Site en trois niveaux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28455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Quatre pages : accueil, produits, qualité, contact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28455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D8103"/>
                </a:solidFill>
                <a:latin typeface="Open Sans"/>
                <a:hlinkClick r:id="rId11"/>
              </a:rPr>
              <a:t>Voir le site en ligne  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COTIPLAST  ·  Recueil des livrables des Experts  ·  octobre 2026</a:t>
            </a:r>
          </a:p>
        </p:txBody>
      </p:sp>
      <p:pic>
        <p:nvPicPr>
          <p:cNvPr id="32" name="Picture 31" descr="koffi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20840" y="6309360"/>
            <a:ext cx="457200" cy="4572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269480" y="6336792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Open Sans"/>
              </a:rPr>
              <a:t>Réalisé par Koffi</a:t>
            </a:r>
          </a:p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Expert IA, design de marque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1A1A1A"/>
                </a:solidFill>
                <a:latin typeface="Open Sans"/>
              </a:rPr>
              <a:t>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82296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82296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82296"/>
          </a:xfrm>
          <a:prstGeom prst="rect">
            <a:avLst/>
          </a:prstGeom>
          <a:solidFill>
            <a:srgbClr val="F0A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37160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ec_1A1A1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1627632"/>
            <a:ext cx="676656" cy="6766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29260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ontserrat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29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Montserrat"/>
              </a:rPr>
              <a:t>Recrutement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348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Open Sans"/>
              </a:rPr>
              <a:t>2 livrables  ·  préparés par Adjoua, Expert IA recrutement</a:t>
            </a:r>
          </a:p>
        </p:txBody>
      </p:sp>
      <p:pic>
        <p:nvPicPr>
          <p:cNvPr id="11" name="Picture 10" descr="adjou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7055" y="3017520"/>
            <a:ext cx="2011680" cy="20116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037015" y="457200"/>
            <a:ext cx="260604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oti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4235" y="594360"/>
            <a:ext cx="1371600" cy="914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BBBBB"/>
                </a:solidFill>
                <a:latin typeface="Open Sans"/>
              </a:rPr>
              <a:t>COTIPLAST  ·  Recueil des livrables des Experts  ·  octobre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Open Sans"/>
              </a:rPr>
              <a:t>9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82296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82296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82296"/>
          </a:xfrm>
          <a:prstGeom prst="rect">
            <a:avLst/>
          </a:prstGeom>
          <a:solidFill>
            <a:srgbClr val="F0A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384048"/>
            <a:ext cx="548640" cy="548640"/>
          </a:xfrm>
          <a:prstGeom prst="ellipse">
            <a:avLst/>
          </a:prstGeom>
          <a:solidFill>
            <a:srgbClr val="2B2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ec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502920"/>
            <a:ext cx="310896" cy="310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61872" y="347472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Montserrat"/>
              </a:rPr>
              <a:t>Recrutement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82296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Open Sans"/>
              </a:rPr>
              <a:t>1 sur 1</a:t>
            </a:r>
          </a:p>
        </p:txBody>
      </p:sp>
      <p:pic>
        <p:nvPicPr>
          <p:cNvPr id="10" name="Picture 9" descr="cot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5503" y="347472"/>
            <a:ext cx="987552" cy="65836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48640" y="1371600"/>
            <a:ext cx="2514600" cy="54864"/>
          </a:xfrm>
          <a:prstGeom prst="rect">
            <a:avLst/>
          </a:prstGeom>
          <a:solidFill>
            <a:srgbClr val="2B2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1.jp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26464"/>
            <a:ext cx="2514600" cy="3017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Annonce conducteur d’extrusion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Trois versions à choisir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D8103"/>
                </a:solidFill>
                <a:latin typeface="Open Sans"/>
                <a:hlinkClick r:id="rId5"/>
              </a:rPr>
              <a:t>Ouvrir le dossier  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8578" y="1371600"/>
            <a:ext cx="2514600" cy="54864"/>
          </a:xfrm>
          <a:prstGeom prst="rect">
            <a:avLst/>
          </a:prstGeom>
          <a:solidFill>
            <a:srgbClr val="2B2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a2.jpg">
            <a:hlinkClick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8578" y="1426464"/>
            <a:ext cx="2514600" cy="30175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408578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Pré-tri des CV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8578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Opérateurs de production, notés et classés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8578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D8103"/>
                </a:solidFill>
                <a:latin typeface="Open Sans"/>
                <a:hlinkClick r:id="rId7"/>
              </a:rPr>
              <a:t>Ouvrir le document  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COTIPLAST  ·  Recueil des livrables des Experts  ·  octobre 2026</a:t>
            </a:r>
          </a:p>
        </p:txBody>
      </p:sp>
      <p:pic>
        <p:nvPicPr>
          <p:cNvPr id="22" name="Picture 21" descr="adjou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20840" y="6309360"/>
            <a:ext cx="457200" cy="4572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269480" y="6336792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Open Sans"/>
              </a:rPr>
              <a:t>Réalisé par Adjoua</a:t>
            </a:r>
          </a:p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Expert IA, recrutement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1A1A1A"/>
                </a:solidFill>
                <a:latin typeface="Open Sans"/>
              </a:rPr>
              <a:t>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82296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82296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82296"/>
          </a:xfrm>
          <a:prstGeom prst="rect">
            <a:avLst/>
          </a:prstGeom>
          <a:solidFill>
            <a:srgbClr val="F0A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37160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h_1A1A1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1627632"/>
            <a:ext cx="676656" cy="6766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29260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ontserrat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29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Montserrat"/>
              </a:rPr>
              <a:t>Ressources humaines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348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Open Sans"/>
              </a:rPr>
              <a:t>7 livrables  ·  préparés par Fatou, Expert IA ressources humaines</a:t>
            </a:r>
          </a:p>
        </p:txBody>
      </p:sp>
      <p:pic>
        <p:nvPicPr>
          <p:cNvPr id="11" name="Picture 10" descr="fato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7055" y="3017520"/>
            <a:ext cx="2011680" cy="20116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037015" y="457200"/>
            <a:ext cx="260604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oti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4235" y="594360"/>
            <a:ext cx="1371600" cy="914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BBBBB"/>
                </a:solidFill>
                <a:latin typeface="Open Sans"/>
              </a:rPr>
              <a:t>COTIPLAST  ·  Recueil des livrables des Experts  ·  octobre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Open Sans"/>
              </a:rP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82296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82296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82296"/>
          </a:xfrm>
          <a:prstGeom prst="rect">
            <a:avLst/>
          </a:prstGeom>
          <a:solidFill>
            <a:srgbClr val="F0A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384048"/>
            <a:ext cx="548640" cy="548640"/>
          </a:xfrm>
          <a:prstGeom prst="ellipse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h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502920"/>
            <a:ext cx="310896" cy="310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61872" y="347472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Montserrat"/>
              </a:rPr>
              <a:t>Ressources humaines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82296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Open Sans"/>
              </a:rPr>
              <a:t>1 sur 2</a:t>
            </a:r>
          </a:p>
        </p:txBody>
      </p:sp>
      <p:pic>
        <p:nvPicPr>
          <p:cNvPr id="10" name="Picture 9" descr="cot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5503" y="347472"/>
            <a:ext cx="987552" cy="65836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48640" y="1371600"/>
            <a:ext cx="2514600" cy="54864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r1.jp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26464"/>
            <a:ext cx="2514600" cy="3017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Bulletin de paie commenté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Conducteur de ligne, octobre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FB58B"/>
                </a:solidFill>
                <a:latin typeface="Open Sans"/>
                <a:hlinkClick r:id="rId5"/>
              </a:rPr>
              <a:t>Ouvrir le document  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8578" y="1371600"/>
            <a:ext cx="2514600" cy="54864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r2.jpg">
            <a:hlinkClick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8578" y="1426464"/>
            <a:ext cx="2514600" cy="30175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408578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Pointage et journal de paie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8578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Exemple d’usine, octobre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8578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FB58B"/>
                </a:solidFill>
                <a:latin typeface="Open Sans"/>
                <a:hlinkClick r:id="rId7"/>
              </a:rPr>
              <a:t>Ouvrir le document  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8516" y="1371600"/>
            <a:ext cx="2514600" cy="54864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r3.jpg">
            <a:hlinkClick r:id="rId9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8516" y="1426464"/>
            <a:ext cx="2514600" cy="30175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268516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Écarts pointage et paie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8516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Les écarts repérés, ligne par ligne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8516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FB58B"/>
                </a:solidFill>
                <a:latin typeface="Open Sans"/>
                <a:hlinkClick r:id="rId9"/>
              </a:rPr>
              <a:t>Ouvrir le document  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28455" y="1371600"/>
            <a:ext cx="2514600" cy="54864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r4.jpg">
            <a:hlinkClick r:id="rId11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8455" y="1426464"/>
            <a:ext cx="2514600" cy="30175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128455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Note de service EPI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28455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Gants et protections auditives aux extrudeuses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28455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FB58B"/>
                </a:solidFill>
                <a:latin typeface="Open Sans"/>
                <a:hlinkClick r:id="rId11"/>
              </a:rPr>
              <a:t>Ouvrir le document  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COTIPLAST  ·  Recueil des livrables des Experts  ·  octobre 2026</a:t>
            </a:r>
          </a:p>
        </p:txBody>
      </p:sp>
      <p:pic>
        <p:nvPicPr>
          <p:cNvPr id="32" name="Picture 31" descr="fatou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20840" y="6309360"/>
            <a:ext cx="457200" cy="4572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269480" y="6336792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Open Sans"/>
              </a:rPr>
              <a:t>Réalisé par Fatou</a:t>
            </a:r>
          </a:p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Expert IA, ressources humaines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1A1A1A"/>
                </a:solidFill>
                <a:latin typeface="Open Sans"/>
              </a:rP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82296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82296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82296"/>
          </a:xfrm>
          <a:prstGeom prst="rect">
            <a:avLst/>
          </a:prstGeom>
          <a:solidFill>
            <a:srgbClr val="F0A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384048"/>
            <a:ext cx="548640" cy="548640"/>
          </a:xfrm>
          <a:prstGeom prst="ellipse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h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502920"/>
            <a:ext cx="310896" cy="310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61872" y="347472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Montserrat"/>
              </a:rPr>
              <a:t>Ressources humaines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82296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Open Sans"/>
              </a:rPr>
              <a:t>2 sur 2</a:t>
            </a:r>
          </a:p>
        </p:txBody>
      </p:sp>
      <p:pic>
        <p:nvPicPr>
          <p:cNvPr id="10" name="Picture 9" descr="cot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5503" y="347472"/>
            <a:ext cx="987552" cy="65836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48640" y="1371600"/>
            <a:ext cx="2514600" cy="54864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r5.jp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26464"/>
            <a:ext cx="2514600" cy="3017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Embauche d’un technicien qualité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Les formalités dans l’ordre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FB58B"/>
                </a:solidFill>
                <a:latin typeface="Open Sans"/>
                <a:hlinkClick r:id="rId5"/>
              </a:rPr>
              <a:t>Ouvrir le document  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8578" y="1371600"/>
            <a:ext cx="2514600" cy="54864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r6.jpg">
            <a:hlinkClick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8578" y="1426464"/>
            <a:ext cx="2514600" cy="30175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408578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Entretiens annuels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8578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Support et guide pour les chefs d’équipe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8578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FB58B"/>
                </a:solidFill>
                <a:latin typeface="Open Sans"/>
                <a:hlinkClick r:id="rId7"/>
              </a:rPr>
              <a:t>Ouvrir le document  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8516" y="1371600"/>
            <a:ext cx="2514600" cy="54864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r7.jpg">
            <a:hlinkClick r:id="rId9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8516" y="1426464"/>
            <a:ext cx="2514600" cy="30175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268516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Fins de contrat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8516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Suivi des CDD et des intérimaires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8516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FB58B"/>
                </a:solidFill>
                <a:latin typeface="Open Sans"/>
                <a:hlinkClick r:id="rId9"/>
              </a:rPr>
              <a:t>Ouvrir le document  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COTIPLAST  ·  Recueil des livrables des Experts  ·  octobre 2026</a:t>
            </a:r>
          </a:p>
        </p:txBody>
      </p:sp>
      <p:pic>
        <p:nvPicPr>
          <p:cNvPr id="27" name="Picture 26" descr="fatou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20840" y="6309360"/>
            <a:ext cx="457200" cy="4572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269480" y="6336792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Open Sans"/>
              </a:rPr>
              <a:t>Réalisé par Fatou</a:t>
            </a:r>
          </a:p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Expert IA, ressources humaines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1A1A1A"/>
                </a:solidFill>
                <a:latin typeface="Open Sans"/>
              </a:rP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82296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82296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82296"/>
          </a:xfrm>
          <a:prstGeom prst="rect">
            <a:avLst/>
          </a:prstGeom>
          <a:solidFill>
            <a:srgbClr val="F0A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37160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ops_1A1A1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1627632"/>
            <a:ext cx="676656" cy="6766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29260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ontserrat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29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Montserrat"/>
              </a:rPr>
              <a:t>Opérations et achats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348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Open Sans"/>
              </a:rPr>
              <a:t>8 livrables  ·  préparés par Salif, Expert IA opérations et achats</a:t>
            </a:r>
          </a:p>
        </p:txBody>
      </p:sp>
      <p:pic>
        <p:nvPicPr>
          <p:cNvPr id="11" name="Picture 10" descr="sali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7055" y="3017520"/>
            <a:ext cx="2011680" cy="20116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037015" y="457200"/>
            <a:ext cx="260604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oti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4235" y="594360"/>
            <a:ext cx="1371600" cy="914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BBBBB"/>
                </a:solidFill>
                <a:latin typeface="Open Sans"/>
              </a:rPr>
              <a:t>COTIPLAST  ·  Recueil des livrables des Experts  ·  octobre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Open Sans"/>
              </a:rP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82296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82296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82296"/>
          </a:xfrm>
          <a:prstGeom prst="rect">
            <a:avLst/>
          </a:prstGeom>
          <a:solidFill>
            <a:srgbClr val="F0A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384048"/>
            <a:ext cx="548640" cy="548640"/>
          </a:xfrm>
          <a:prstGeom prst="ellipse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ops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502920"/>
            <a:ext cx="310896" cy="310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61872" y="347472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Montserrat"/>
              </a:rPr>
              <a:t>Opérations et achats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82296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Open Sans"/>
              </a:rPr>
              <a:t>1 sur 2</a:t>
            </a:r>
          </a:p>
        </p:txBody>
      </p:sp>
      <p:pic>
        <p:nvPicPr>
          <p:cNvPr id="10" name="Picture 9" descr="cot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5503" y="347472"/>
            <a:ext cx="987552" cy="65836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48640" y="1371600"/>
            <a:ext cx="2514600" cy="54864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o1.jp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26464"/>
            <a:ext cx="2514600" cy="3017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Fiche de l’entreprise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Ce que Salif sait de Cotiplast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D8103"/>
                </a:solidFill>
                <a:latin typeface="Open Sans"/>
                <a:hlinkClick r:id="rId5"/>
              </a:rPr>
              <a:t>Ouvrir le document  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8578" y="1371600"/>
            <a:ext cx="2514600" cy="54864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o2.jpg">
            <a:hlinkClick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8578" y="1426464"/>
            <a:ext cx="2514600" cy="30175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408578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Comparatif des offres PEHD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8578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Trois offres de 40 t, rendues usine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8578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D8103"/>
                </a:solidFill>
                <a:latin typeface="Open Sans"/>
                <a:hlinkClick r:id="rId7"/>
              </a:rPr>
              <a:t>Ouvrir le document  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8516" y="1371600"/>
            <a:ext cx="2514600" cy="54864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o3.jpg">
            <a:hlinkClick r:id="rId9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8516" y="1426464"/>
            <a:ext cx="2514600" cy="30175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268516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Cotation des transitaires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8516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Demande pour un conteneur de granulés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8516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D8103"/>
                </a:solidFill>
                <a:latin typeface="Open Sans"/>
                <a:hlinkClick r:id="rId9"/>
              </a:rPr>
              <a:t>Ouvrir le document  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28455" y="1371600"/>
            <a:ext cx="2514600" cy="54864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o4.jpg">
            <a:hlinkClick r:id="rId11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8455" y="1426464"/>
            <a:ext cx="2514600" cy="30175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128455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Première importation en direct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28455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Le dossier de dédouanement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28455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D8103"/>
                </a:solidFill>
                <a:latin typeface="Open Sans"/>
                <a:hlinkClick r:id="rId11"/>
              </a:rPr>
              <a:t>Ouvrir le document  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COTIPLAST  ·  Recueil des livrables des Experts  ·  octobre 2026</a:t>
            </a:r>
          </a:p>
        </p:txBody>
      </p:sp>
      <p:pic>
        <p:nvPicPr>
          <p:cNvPr id="32" name="Picture 31" descr="salif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20840" y="6309360"/>
            <a:ext cx="457200" cy="4572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269480" y="6336792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Open Sans"/>
              </a:rPr>
              <a:t>Réalisé par Salif</a:t>
            </a:r>
          </a:p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Expert IA, opérations et achats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1A1A1A"/>
                </a:solidFill>
                <a:latin typeface="Open Sans"/>
              </a:rPr>
              <a:t>15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82296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82296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82296"/>
          </a:xfrm>
          <a:prstGeom prst="rect">
            <a:avLst/>
          </a:prstGeom>
          <a:solidFill>
            <a:srgbClr val="F0A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384048"/>
            <a:ext cx="548640" cy="548640"/>
          </a:xfrm>
          <a:prstGeom prst="ellipse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ops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502920"/>
            <a:ext cx="310896" cy="310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61872" y="347472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Montserrat"/>
              </a:rPr>
              <a:t>Opérations et achats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82296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Open Sans"/>
              </a:rPr>
              <a:t>2 sur 2</a:t>
            </a:r>
          </a:p>
        </p:txBody>
      </p:sp>
      <p:pic>
        <p:nvPicPr>
          <p:cNvPr id="10" name="Picture 9" descr="cot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5503" y="347472"/>
            <a:ext cx="987552" cy="65836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48640" y="1371600"/>
            <a:ext cx="2514600" cy="54864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o5.jp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26464"/>
            <a:ext cx="2514600" cy="3017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Stock de film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Suivi rouleau par rouleau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D8103"/>
                </a:solidFill>
                <a:latin typeface="Open Sans"/>
                <a:hlinkClick r:id="rId5"/>
              </a:rPr>
              <a:t>Ouvrir le document  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8578" y="1371600"/>
            <a:ext cx="2514600" cy="54864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o6.jpg">
            <a:hlinkClick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8578" y="1426464"/>
            <a:ext cx="2514600" cy="30175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408578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Changement de bobine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8578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Mode opératoire, ligne de soufflage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8578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D8103"/>
                </a:solidFill>
                <a:latin typeface="Open Sans"/>
                <a:hlinkClick r:id="rId7"/>
              </a:rPr>
              <a:t>Ouvrir le document  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8516" y="1371600"/>
            <a:ext cx="2514600" cy="54864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o7.jpg">
            <a:hlinkClick r:id="rId9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8516" y="1426464"/>
            <a:ext cx="2514600" cy="30175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268516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Flyer sécurité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8516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Ligne de soufflage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8516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D8103"/>
                </a:solidFill>
                <a:latin typeface="Open Sans"/>
                <a:hlinkClick r:id="rId9"/>
              </a:rPr>
              <a:t>Ouvrir le document  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28455" y="1371600"/>
            <a:ext cx="2514600" cy="54864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o8.jpg">
            <a:hlinkClick r:id="rId11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8455" y="1426464"/>
            <a:ext cx="2514600" cy="30175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128455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S’outiller : par où commencer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28455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Le plan d’outillage, par priorité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28455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D8103"/>
                </a:solidFill>
                <a:latin typeface="Open Sans"/>
                <a:hlinkClick r:id="rId11"/>
              </a:rPr>
              <a:t>Ouvrir le document  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COTIPLAST  ·  Recueil des livrables des Experts  ·  octobre 2026</a:t>
            </a:r>
          </a:p>
        </p:txBody>
      </p:sp>
      <p:pic>
        <p:nvPicPr>
          <p:cNvPr id="32" name="Picture 31" descr="salif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20840" y="6309360"/>
            <a:ext cx="457200" cy="4572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269480" y="6336792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Open Sans"/>
              </a:rPr>
              <a:t>Réalisé par Salif</a:t>
            </a:r>
          </a:p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Expert IA, opérations et achats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1A1A1A"/>
                </a:solidFill>
                <a:latin typeface="Open Sans"/>
              </a:rPr>
              <a:t>16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128016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128016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128016"/>
          </a:xfrm>
          <a:prstGeom prst="rect">
            <a:avLst/>
          </a:prstGeom>
          <a:solidFill>
            <a:srgbClr val="F0A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640080"/>
            <a:ext cx="196596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t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749808"/>
            <a:ext cx="1577340" cy="1051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233172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ontserrat"/>
              </a:rPr>
              <a:t>Et maintenant ?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429000"/>
            <a:ext cx="640080" cy="640080"/>
          </a:xfrm>
          <a:prstGeom prst="ellipse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4290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42900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ontserrat"/>
              </a:rPr>
              <a:t>Vous parcourez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840480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  <a:latin typeface="Open Sans"/>
              </a:rPr>
              <a:t>Chaque vignette ouvre le document dans Google.</a:t>
            </a:r>
          </a:p>
        </p:txBody>
      </p:sp>
      <p:sp>
        <p:nvSpPr>
          <p:cNvPr id="13" name="Oval 12"/>
          <p:cNvSpPr/>
          <p:nvPr/>
        </p:nvSpPr>
        <p:spPr>
          <a:xfrm>
            <a:off x="4389120" y="3429000"/>
            <a:ext cx="640080" cy="640080"/>
          </a:xfrm>
          <a:prstGeom prst="ellipse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34290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342900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ontserrat"/>
              </a:rPr>
              <a:t>Vous annotez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840480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  <a:latin typeface="Open Sans"/>
              </a:rPr>
              <a:t>Vos commentaires directement dans les documents.</a:t>
            </a:r>
          </a:p>
        </p:txBody>
      </p:sp>
      <p:sp>
        <p:nvSpPr>
          <p:cNvPr id="17" name="Oval 16"/>
          <p:cNvSpPr/>
          <p:nvPr/>
        </p:nvSpPr>
        <p:spPr>
          <a:xfrm>
            <a:off x="8046720" y="3429000"/>
            <a:ext cx="640080" cy="640080"/>
          </a:xfrm>
          <a:prstGeom prst="ellipse">
            <a:avLst/>
          </a:prstGeom>
          <a:solidFill>
            <a:srgbClr val="F0A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34290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342900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ontserrat"/>
              </a:rPr>
              <a:t>Nous ajustons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3840480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  <a:latin typeface="Open Sans"/>
              </a:rPr>
              <a:t>Chaque Expert reprend son livrable avec vos retours.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2120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  <a:latin typeface="Open Sans"/>
              </a:rPr>
              <a:t>Les fichiers sans lien Google sont réunis dans le dossier Drive du recueil.</a:t>
            </a:r>
          </a:p>
          <a:p>
            <a:pPr algn="l"/>
            <a:r>
              <a:rPr sz="1400" b="1">
                <a:solidFill>
                  <a:srgbClr val="FD8103"/>
                </a:solidFill>
                <a:latin typeface="Open Sans"/>
                <a:hlinkClick r:id="rId3"/>
              </a:rPr>
              <a:t>Ouvrir le dossier  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729984"/>
            <a:ext cx="4063898" cy="128016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063898" y="6729984"/>
            <a:ext cx="4063898" cy="128016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27796" y="6729984"/>
            <a:ext cx="4073042" cy="128016"/>
          </a:xfrm>
          <a:prstGeom prst="rect">
            <a:avLst/>
          </a:prstGeom>
          <a:solidFill>
            <a:srgbClr val="F0A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Open Sans"/>
              </a:rPr>
              <a:t>17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D8103"/>
      </a:hlink>
      <a:folHlink>
        <a:srgbClr val="FD8103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