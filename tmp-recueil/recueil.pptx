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png"/><Relationship Id="rId4" Type="http://schemas.openxmlformats.org/officeDocument/2006/relationships/image" Target="../media/image9.jpg"/><Relationship Id="rId5" Type="http://schemas.openxmlformats.org/officeDocument/2006/relationships/hyperlink" Target="https://docs.google.com/document/d/1hUmOkeDr9JOFcfrv8Ze9VQxIAqvqAyKBrLRzGv_hEgI/edit" TargetMode="External"/><Relationship Id="rId6" Type="http://schemas.openxmlformats.org/officeDocument/2006/relationships/image" Target="../media/image10.jpg"/><Relationship Id="rId7" Type="http://schemas.openxmlformats.org/officeDocument/2006/relationships/hyperlink" Target="https://docs.google.com/document/d/1mDRZRld_D1SHJzjR2MfHb-Hsgzeo7kIckj3tPZ8wi1Q/edit" TargetMode="External"/><Relationship Id="rId8" Type="http://schemas.openxmlformats.org/officeDocument/2006/relationships/image" Target="../media/image11.jpg"/><Relationship Id="rId9" Type="http://schemas.openxmlformats.org/officeDocument/2006/relationships/hyperlink" Target="https://docs.google.com/presentation/d/1NS9gcKnZE7slaUQ49WJ7dFrkGuIh00gtMeVYjgKxtq4/edit" TargetMode="External"/><Relationship Id="rId10" Type="http://schemas.openxmlformats.org/officeDocument/2006/relationships/image" Target="../media/image12.jpg"/><Relationship Id="rId11" Type="http://schemas.openxmlformats.org/officeDocument/2006/relationships/hyperlink" Target="https://docs.google.com/document/d/1dGzm2zeX-RqWzdme978DM3R2e2pyaryKfL9SJ_m0QcM/edit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png"/><Relationship Id="rId4" Type="http://schemas.openxmlformats.org/officeDocument/2006/relationships/image" Target="../media/image13.jpg"/><Relationship Id="rId5" Type="http://schemas.openxmlformats.org/officeDocument/2006/relationships/hyperlink" Target="https://docs.google.com/document/d/1bkYkSQZzl_taOK99BFMmoo0StSNeUKdJIuWl88XRnjM/edit" TargetMode="External"/><Relationship Id="rId6" Type="http://schemas.openxmlformats.org/officeDocument/2006/relationships/image" Target="../media/image14.jpg"/><Relationship Id="rId7" Type="http://schemas.openxmlformats.org/officeDocument/2006/relationships/hyperlink" Target="https://docs.google.com/document/d/1Xe1ilwsfZ_cjf46rhufdjPtEzO_UMgYUhageW8vnl20/edit" TargetMode="External"/><Relationship Id="rId8" Type="http://schemas.openxmlformats.org/officeDocument/2006/relationships/image" Target="../media/image15.jpg"/><Relationship Id="rId9" Type="http://schemas.openxmlformats.org/officeDocument/2006/relationships/hyperlink" Target="https://docs.google.com/document/d/1GCvEdxffvUThpQHel9AzXYbt8nb3kvLBggt_zeyajIg/edit" TargetMode="External"/><Relationship Id="rId10" Type="http://schemas.openxmlformats.org/officeDocument/2006/relationships/image" Target="../media/image16.jpg"/><Relationship Id="rId11" Type="http://schemas.openxmlformats.org/officeDocument/2006/relationships/hyperlink" Target="https://docs.google.com/presentation/d/11ZKX6nvVn5AiWw5HIQw5uK_fiD0mFQv-2Tz2jaDR_6w/edit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png"/><Relationship Id="rId4" Type="http://schemas.openxmlformats.org/officeDocument/2006/relationships/image" Target="../media/image17.jpg"/><Relationship Id="rId5" Type="http://schemas.openxmlformats.org/officeDocument/2006/relationships/hyperlink" Target="https://docs.google.com/spreadsheets/d/1vWeDA7mK1k4aGjjGQlzDsJBZJyJYAz4gBk-oprWPmI8/edit" TargetMode="External"/><Relationship Id="rId6" Type="http://schemas.openxmlformats.org/officeDocument/2006/relationships/image" Target="../media/image18.jpg"/><Relationship Id="rId7" Type="http://schemas.openxmlformats.org/officeDocument/2006/relationships/hyperlink" Target="https://docs.google.com/document/d/12_oNz-CpUGsGI9_hx4FlS-ofG9L5mSPDvWDFPRBtRJw/edit" TargetMode="External"/><Relationship Id="rId8" Type="http://schemas.openxmlformats.org/officeDocument/2006/relationships/image" Target="../media/image19.jpg"/><Relationship Id="rId9" Type="http://schemas.openxmlformats.org/officeDocument/2006/relationships/hyperlink" Target="https://docs.google.com/document/d/1cnzHY2nG65_fRHn_UQ_BMk0TiGWhJyId6lqQvnlMSJA/edit" TargetMode="External"/><Relationship Id="rId10" Type="http://schemas.openxmlformats.org/officeDocument/2006/relationships/image" Target="../media/image20.jpg"/><Relationship Id="rId11" Type="http://schemas.openxmlformats.org/officeDocument/2006/relationships/hyperlink" Target="https://drive.google.com/file/d/1H7fSMPa1YnI6z0jAXwPTu0fbZxEWNpGZ/view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7.png"/><Relationship Id="rId4" Type="http://schemas.openxmlformats.org/officeDocument/2006/relationships/image" Target="../media/image22.jpg"/><Relationship Id="rId5" Type="http://schemas.openxmlformats.org/officeDocument/2006/relationships/hyperlink" Target="https://drive.google.com/file/d/1uvZTL6ROwydcvNOJ1iSyPXIvDAUAAJYs/view" TargetMode="External"/><Relationship Id="rId6" Type="http://schemas.openxmlformats.org/officeDocument/2006/relationships/image" Target="../media/image23.jpg"/><Relationship Id="rId7" Type="http://schemas.openxmlformats.org/officeDocument/2006/relationships/hyperlink" Target="https://docs.google.com/presentation/d/1wK4l1ts6-9h8RKdABjLrHtfLbBdpOR9uPlLkCmG9950/edit" TargetMode="External"/><Relationship Id="rId8" Type="http://schemas.openxmlformats.org/officeDocument/2006/relationships/image" Target="../media/image24.jpg"/><Relationship Id="rId9" Type="http://schemas.openxmlformats.org/officeDocument/2006/relationships/hyperlink" Target="https://drive.google.com/drive/folders/1XmfMJ-lnGJ2IafsFceQbN_bW4NSTMXSs" TargetMode="External"/><Relationship Id="rId10" Type="http://schemas.openxmlformats.org/officeDocument/2006/relationships/image" Target="../media/image25.jpg"/><Relationship Id="rId11" Type="http://schemas.openxmlformats.org/officeDocument/2006/relationships/hyperlink" Target="https://drive.google.com/drive/folders/1Ml8npsgPJwKkKPB-rWj6bcEWXaNtgHet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7.png"/><Relationship Id="rId4" Type="http://schemas.openxmlformats.org/officeDocument/2006/relationships/image" Target="../media/image26.jpg"/><Relationship Id="rId5" Type="http://schemas.openxmlformats.org/officeDocument/2006/relationships/hyperlink" Target="https://drive.google.com/drive/folders/145Lqqf-Tm9Yaw71JMyY2uwOSISPaClxS" TargetMode="External"/><Relationship Id="rId6" Type="http://schemas.openxmlformats.org/officeDocument/2006/relationships/image" Target="../media/image27.jpg"/><Relationship Id="rId7" Type="http://schemas.openxmlformats.org/officeDocument/2006/relationships/hyperlink" Target="https://drive.google.com/drive/folders/1vsxv29TcHv_-f6Q568wqX-81PYNtMfgK" TargetMode="External"/><Relationship Id="rId8" Type="http://schemas.openxmlformats.org/officeDocument/2006/relationships/image" Target="../media/image28.jpg"/><Relationship Id="rId9" Type="http://schemas.openxmlformats.org/officeDocument/2006/relationships/hyperlink" Target="https://leslita06.github.io/yelema-tests-koffi/tajplast-accueil/" TargetMode="External"/><Relationship Id="rId10" Type="http://schemas.openxmlformats.org/officeDocument/2006/relationships/image" Target="../media/image29.jpg"/><Relationship Id="rId11" Type="http://schemas.openxmlformats.org/officeDocument/2006/relationships/hyperlink" Target="https://drive.google.com/file/d/1fWEEfYOF55CNguHY5BVVt7StCxY722GI/view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7.png"/><Relationship Id="rId4" Type="http://schemas.openxmlformats.org/officeDocument/2006/relationships/image" Target="../media/image30.jpg"/><Relationship Id="rId5" Type="http://schemas.openxmlformats.org/officeDocument/2006/relationships/hyperlink" Target="https://drive.google.com/file/d/1xY65UIm-6wkWtTSLAfhQX0Hm3c6it2sm/view" TargetMode="External"/><Relationship Id="rId6" Type="http://schemas.openxmlformats.org/officeDocument/2006/relationships/image" Target="../media/image31.jpg"/><Relationship Id="rId7" Type="http://schemas.openxmlformats.org/officeDocument/2006/relationships/hyperlink" Target="https://drive.google.com/file/d/1Pc0hi_VWt1wmrOoxrKykpG3xXgb-hWzp/view" TargetMode="External"/><Relationship Id="rId8" Type="http://schemas.openxmlformats.org/officeDocument/2006/relationships/image" Target="../media/image32.jpg"/><Relationship Id="rId9" Type="http://schemas.openxmlformats.org/officeDocument/2006/relationships/hyperlink" Target="https://drive.google.com/file/d/1nwV39ZBCE9ALEanz7xNGYlPmJNvpflKR/view" TargetMode="External"/><Relationship Id="rId10" Type="http://schemas.openxmlformats.org/officeDocument/2006/relationships/image" Target="../media/image33.jpg"/><Relationship Id="rId11" Type="http://schemas.openxmlformats.org/officeDocument/2006/relationships/hyperlink" Target="https://drive.google.com/file/d/1kK2x6Zm3pkKHjheV7f9mzlulo7Xi4DBs/view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7.png"/><Relationship Id="rId4" Type="http://schemas.openxmlformats.org/officeDocument/2006/relationships/image" Target="../media/image35.jpg"/><Relationship Id="rId5" Type="http://schemas.openxmlformats.org/officeDocument/2006/relationships/hyperlink" Target="https://docs.google.com/document/d/1PzmnZTle7dwR53KTRR4Kj_NCtDvprAXXtcWnsv4qmUk/edit" TargetMode="External"/><Relationship Id="rId6" Type="http://schemas.openxmlformats.org/officeDocument/2006/relationships/image" Target="../media/image36.jpg"/><Relationship Id="rId7" Type="http://schemas.openxmlformats.org/officeDocument/2006/relationships/hyperlink" Target="https://docs.google.com/document/d/1jN037t09U1yA4Y0SgfN2rOMbtFEqhHbZbEFs_lXEU58/edit" TargetMode="External"/><Relationship Id="rId8" Type="http://schemas.openxmlformats.org/officeDocument/2006/relationships/image" Target="../media/image37.jpg"/><Relationship Id="rId9" Type="http://schemas.openxmlformats.org/officeDocument/2006/relationships/hyperlink" Target="https://docs.google.com/spreadsheets/d/1rIOea7f2TxvrfTFnihmorjxPIaajEWT9r5NLccFquUA/edit" TargetMode="External"/><Relationship Id="rId10" Type="http://schemas.openxmlformats.org/officeDocument/2006/relationships/image" Target="../media/image38.jpg"/><Relationship Id="rId11" Type="http://schemas.openxmlformats.org/officeDocument/2006/relationships/hyperlink" Target="https://docs.google.com/spreadsheets/d/1Te_k1SYE2_rWmYF2GvUcSb3MP-AKd4YEfwHdf4DoXIk/edit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7.png"/><Relationship Id="rId4" Type="http://schemas.openxmlformats.org/officeDocument/2006/relationships/image" Target="../media/image40.jpg"/><Relationship Id="rId5" Type="http://schemas.openxmlformats.org/officeDocument/2006/relationships/hyperlink" Target="https://docs.google.com/document/d/1zbmjb2gZUsCF-i1BP4Y4y4TvTQRFipdJAWeEbehXJWc/edit" TargetMode="External"/><Relationship Id="rId6" Type="http://schemas.openxmlformats.org/officeDocument/2006/relationships/image" Target="../media/image41.jpg"/><Relationship Id="rId7" Type="http://schemas.openxmlformats.org/officeDocument/2006/relationships/hyperlink" Target="https://docs.google.com/spreadsheets/d/1VHtBIdP8zxu2B3JNyCF8TC6xCyXcZqBVaYOCa2Jnicw/edit" TargetMode="External"/><Relationship Id="rId8" Type="http://schemas.openxmlformats.org/officeDocument/2006/relationships/image" Target="../media/image42.jpg"/><Relationship Id="rId9" Type="http://schemas.openxmlformats.org/officeDocument/2006/relationships/hyperlink" Target="https://docs.google.com/spreadsheets/d/1zmCbE2hE4Bl3TEZNZ5R1jJKpN-_hqiF_6WaImk771sg/edit" TargetMode="External"/><Relationship Id="rId10" Type="http://schemas.openxmlformats.org/officeDocument/2006/relationships/image" Target="../media/image43.jpg"/><Relationship Id="rId11" Type="http://schemas.openxmlformats.org/officeDocument/2006/relationships/hyperlink" Target="https://docs.google.com/document/d/1krOOLnQQ46Cme3QAaPWc9bT8xarTulVPPQTr3jIKVEg/edit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7.png"/><Relationship Id="rId4" Type="http://schemas.openxmlformats.org/officeDocument/2006/relationships/image" Target="../media/image44.jpg"/><Relationship Id="rId5" Type="http://schemas.openxmlformats.org/officeDocument/2006/relationships/hyperlink" Target="https://docs.google.com/spreadsheets/d/1FgDvpR1G2vjtZts-J8jtC-JKS_8ifUDNUTKwoxcqMnE/edit" TargetMode="External"/><Relationship Id="rId6" Type="http://schemas.openxmlformats.org/officeDocument/2006/relationships/image" Target="../media/image45.jpg"/><Relationship Id="rId7" Type="http://schemas.openxmlformats.org/officeDocument/2006/relationships/hyperlink" Target="https://docs.google.com/document/d/1cpkSOxfND5SRHk7Ng9poND28g3t-ych2jKVkLCe9AS8/edit" TargetMode="External"/><Relationship Id="rId8" Type="http://schemas.openxmlformats.org/officeDocument/2006/relationships/image" Target="../media/image46.jpg"/><Relationship Id="rId9" Type="http://schemas.openxmlformats.org/officeDocument/2006/relationships/hyperlink" Target="https://docs.google.com/spreadsheets/d/1fVk3ZutoyUyts2ZdgcAbsyQiH4a1hIP4olh8he9yWZQ/edit" TargetMode="External"/><Relationship Id="rId10" Type="http://schemas.openxmlformats.org/officeDocument/2006/relationships/image" Target="../media/image47.jpg"/><Relationship Id="rId11" Type="http://schemas.openxmlformats.org/officeDocument/2006/relationships/hyperlink" Target="https://docs.google.com/spreadsheets/d/1k2BK_L9AaI-QKBqfEEnHYqCxaqTvhCIxK8uKDl1tQFI/edit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Relationship Id="rId3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49.jpg"/><Relationship Id="rId5" Type="http://schemas.openxmlformats.org/officeDocument/2006/relationships/hyperlink" Target="https://docs.google.com/spreadsheets/d/1xjl14lXdQsMriK8Ldw5IpUJ_D9sIQ10RTU9cnIOdBsU/edit" TargetMode="External"/><Relationship Id="rId6" Type="http://schemas.openxmlformats.org/officeDocument/2006/relationships/image" Target="../media/image50.jpg"/><Relationship Id="rId7" Type="http://schemas.openxmlformats.org/officeDocument/2006/relationships/hyperlink" Target="https://docs.google.com/document/d/1xUH5iPHMDjdgz5858e2lU9O3ayCkQkaozJ71Wbq8Dl0/edit" TargetMode="External"/><Relationship Id="rId8" Type="http://schemas.openxmlformats.org/officeDocument/2006/relationships/image" Target="../media/image51.jpg"/><Relationship Id="rId9" Type="http://schemas.openxmlformats.org/officeDocument/2006/relationships/hyperlink" Target="https://docs.google.com/document/d/1lnWgQIr-4wKandNZJdXiNOpfYKyBIh3tNkChWQ4NBKo/edit" TargetMode="External"/><Relationship Id="rId10" Type="http://schemas.openxmlformats.org/officeDocument/2006/relationships/image" Target="../media/image52.jpg"/><Relationship Id="rId11" Type="http://schemas.openxmlformats.org/officeDocument/2006/relationships/hyperlink" Target="https://docs.google.com/spreadsheets/d/1bg9JM2jXWuEXkblL71Gb5zL-mNEAMVRPj7R-1wQBM8c/edit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53.jpg"/><Relationship Id="rId5" Type="http://schemas.openxmlformats.org/officeDocument/2006/relationships/hyperlink" Target="https://docs.google.com/spreadsheets/d/1ILrDg9V-GFob_48_HlJol903I7I0aKSgkoCK39Etjp8/edit" TargetMode="External"/><Relationship Id="rId6" Type="http://schemas.openxmlformats.org/officeDocument/2006/relationships/image" Target="../media/image54.jpg"/><Relationship Id="rId7" Type="http://schemas.openxmlformats.org/officeDocument/2006/relationships/hyperlink" Target="https://docs.google.com/spreadsheets/d/1loM2oBp4Uh0R752ylR6IJLOZr0_TVuz7dFuxPR9-dT4/edit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drive.google.com/drive/folders/1dvRI15CCwATcLYTlY9kcGRvD5cL7Xmql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63898" cy="128016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3898" y="0"/>
            <a:ext cx="4063898" cy="128016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7796" y="0"/>
            <a:ext cx="4073042" cy="128016"/>
          </a:xfrm>
          <a:prstGeom prst="rect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822960"/>
            <a:ext cx="3649012" cy="1417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2743200"/>
            <a:ext cx="105156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Montserrat"/>
              </a:rPr>
              <a:t>Ce que nos Experts ont produit</a:t>
            </a:r>
          </a:p>
          <a:p>
            <a:pPr algn="l"/>
            <a:r>
              <a:rPr sz="4400" b="1">
                <a:solidFill>
                  <a:srgbClr val="E84E0E"/>
                </a:solidFill>
                <a:latin typeface="Montserrat"/>
              </a:rPr>
              <a:t>pour TAJ PLAST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4348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Open Sans"/>
              </a:rPr>
              <a:t>42 livrables  ·  5 métiers  ·  27 et 28 octobre 2026</a:t>
            </a:r>
          </a:p>
        </p:txBody>
      </p:sp>
      <p:sp>
        <p:nvSpPr>
          <p:cNvPr id="9" name="Oval 8"/>
          <p:cNvSpPr/>
          <p:nvPr/>
        </p:nvSpPr>
        <p:spPr>
          <a:xfrm>
            <a:off x="731520" y="5257800"/>
            <a:ext cx="566928" cy="566928"/>
          </a:xfrm>
          <a:prstGeom prst="ellipse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k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5385816"/>
            <a:ext cx="310896" cy="31089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417320" y="5285232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Open Sans"/>
              </a:rPr>
              <a:t>Marketing et contenu</a:t>
            </a:r>
          </a:p>
          <a:p>
            <a:pPr algn="l"/>
            <a:r>
              <a:rPr sz="1100" b="0">
                <a:solidFill>
                  <a:srgbClr val="BBBBBB"/>
                </a:solidFill>
                <a:latin typeface="Open Sans"/>
              </a:rPr>
              <a:t>Fatima</a:t>
            </a:r>
          </a:p>
        </p:txBody>
      </p:sp>
      <p:sp>
        <p:nvSpPr>
          <p:cNvPr id="12" name="Oval 11"/>
          <p:cNvSpPr/>
          <p:nvPr/>
        </p:nvSpPr>
        <p:spPr>
          <a:xfrm>
            <a:off x="2971800" y="5257800"/>
            <a:ext cx="566928" cy="566928"/>
          </a:xfrm>
          <a:prstGeom prst="ellipse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des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99816" y="5385816"/>
            <a:ext cx="310896" cy="31089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657600" y="5285232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Open Sans"/>
              </a:rPr>
              <a:t>Design de marque</a:t>
            </a:r>
          </a:p>
          <a:p>
            <a:pPr algn="l"/>
            <a:r>
              <a:rPr sz="1100" b="0">
                <a:solidFill>
                  <a:srgbClr val="BBBBBB"/>
                </a:solidFill>
                <a:latin typeface="Open Sans"/>
              </a:rPr>
              <a:t>Koffi</a:t>
            </a:r>
          </a:p>
        </p:txBody>
      </p:sp>
      <p:sp>
        <p:nvSpPr>
          <p:cNvPr id="15" name="Oval 14"/>
          <p:cNvSpPr/>
          <p:nvPr/>
        </p:nvSpPr>
        <p:spPr>
          <a:xfrm>
            <a:off x="5212080" y="5257800"/>
            <a:ext cx="566928" cy="566928"/>
          </a:xfrm>
          <a:prstGeom prst="ellipse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com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40096" y="5385816"/>
            <a:ext cx="310896" cy="31089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897880" y="5285232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Open Sans"/>
              </a:rPr>
              <a:t>Commercial et ventes</a:t>
            </a:r>
          </a:p>
          <a:p>
            <a:pPr algn="l"/>
            <a:r>
              <a:rPr sz="1100" b="0">
                <a:solidFill>
                  <a:srgbClr val="BBBBBB"/>
                </a:solidFill>
                <a:latin typeface="Open Sans"/>
              </a:rPr>
              <a:t>Kouassi</a:t>
            </a:r>
          </a:p>
        </p:txBody>
      </p:sp>
      <p:sp>
        <p:nvSpPr>
          <p:cNvPr id="18" name="Oval 17"/>
          <p:cNvSpPr/>
          <p:nvPr/>
        </p:nvSpPr>
        <p:spPr>
          <a:xfrm>
            <a:off x="7452360" y="5257800"/>
            <a:ext cx="566928" cy="566928"/>
          </a:xfrm>
          <a:prstGeom prst="ellipse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rh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80376" y="5385816"/>
            <a:ext cx="310896" cy="31089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38160" y="5285232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Open Sans"/>
              </a:rPr>
              <a:t>Ressources humaines</a:t>
            </a:r>
          </a:p>
          <a:p>
            <a:pPr algn="l"/>
            <a:r>
              <a:rPr sz="1100" b="0">
                <a:solidFill>
                  <a:srgbClr val="BBBBBB"/>
                </a:solidFill>
                <a:latin typeface="Open Sans"/>
              </a:rPr>
              <a:t>Fatou</a:t>
            </a:r>
          </a:p>
        </p:txBody>
      </p:sp>
      <p:sp>
        <p:nvSpPr>
          <p:cNvPr id="21" name="Oval 20"/>
          <p:cNvSpPr/>
          <p:nvPr/>
        </p:nvSpPr>
        <p:spPr>
          <a:xfrm>
            <a:off x="9692640" y="5257800"/>
            <a:ext cx="566928" cy="566928"/>
          </a:xfrm>
          <a:prstGeom prst="ellipse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ops_FFFFF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20656" y="5385816"/>
            <a:ext cx="310896" cy="31089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0378440" y="5285232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Open Sans"/>
              </a:rPr>
              <a:t>Opérations et achats</a:t>
            </a:r>
          </a:p>
          <a:p>
            <a:pPr algn="l"/>
            <a:r>
              <a:rPr sz="1100" b="0">
                <a:solidFill>
                  <a:srgbClr val="BBBBBB"/>
                </a:solidFill>
                <a:latin typeface="Open Sans"/>
              </a:rPr>
              <a:t>Salif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729984"/>
            <a:ext cx="4063898" cy="128016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063898" y="6729984"/>
            <a:ext cx="4063898" cy="128016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127796" y="6729984"/>
            <a:ext cx="4073042" cy="128016"/>
          </a:xfrm>
          <a:prstGeom prst="rect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63898" cy="82296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3898" y="0"/>
            <a:ext cx="4063898" cy="82296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7796" y="0"/>
            <a:ext cx="4073042" cy="82296"/>
          </a:xfrm>
          <a:prstGeom prst="rect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51415" y="320040"/>
            <a:ext cx="1699720" cy="65836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11480"/>
            <a:ext cx="8229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1A1A1A"/>
                </a:solidFill>
                <a:latin typeface="Montserrat"/>
              </a:rPr>
              <a:t>Sommaire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05156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6B6B6B"/>
                </a:solidFill>
                <a:latin typeface="Open Sans"/>
              </a:rPr>
              <a:t>Un chapitre par métier. Chaque vignette du recueil ouvre le document.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Open Sans"/>
              </a:rPr>
              <a:t>TAJ PLAST  ·  Recueil des livrables des Experts  ·  octobre 2026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11091672" cy="749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1691640"/>
            <a:ext cx="82296" cy="749808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68680" y="1810512"/>
            <a:ext cx="512064" cy="512064"/>
          </a:xfrm>
          <a:prstGeom prst="ellipse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mk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1929384"/>
            <a:ext cx="274320" cy="2743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600200" y="1691640"/>
            <a:ext cx="457200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1A1A1A"/>
                </a:solidFill>
                <a:latin typeface="Montserrat"/>
              </a:rPr>
              <a:t>Marketing et contenu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60720" y="1691640"/>
            <a:ext cx="274320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6B6B6B"/>
                </a:solidFill>
                <a:latin typeface="Open Sans"/>
              </a:rPr>
              <a:t>Fatima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0" y="1691640"/>
            <a:ext cx="201168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Open Sans"/>
              </a:rPr>
              <a:t>12 livrables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66960" y="1691640"/>
            <a:ext cx="14630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400" b="1">
                <a:solidFill>
                  <a:srgbClr val="E84E0E"/>
                </a:solidFill>
                <a:latin typeface="Open Sans"/>
              </a:rPr>
              <a:t>page 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2587752"/>
            <a:ext cx="11091672" cy="749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2587752"/>
            <a:ext cx="82296" cy="749808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68680" y="2706624"/>
            <a:ext cx="512064" cy="512064"/>
          </a:xfrm>
          <a:prstGeom prst="ellipse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des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" y="2825496"/>
            <a:ext cx="274320" cy="27432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600200" y="2587752"/>
            <a:ext cx="457200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1A1A1A"/>
                </a:solidFill>
                <a:latin typeface="Montserrat"/>
              </a:rPr>
              <a:t>Design de marque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60720" y="2587752"/>
            <a:ext cx="274320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6B6B6B"/>
                </a:solidFill>
                <a:latin typeface="Open Sans"/>
              </a:rPr>
              <a:t>Koffi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63840" y="2587752"/>
            <a:ext cx="201168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Open Sans"/>
              </a:rPr>
              <a:t>12 livrables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966960" y="2587752"/>
            <a:ext cx="14630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400" b="1">
                <a:solidFill>
                  <a:srgbClr val="E84E0E"/>
                </a:solidFill>
                <a:latin typeface="Open Sans"/>
              </a:rPr>
              <a:t>page 7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3483864"/>
            <a:ext cx="11091672" cy="749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48640" y="3483864"/>
            <a:ext cx="82296" cy="749808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68680" y="3602736"/>
            <a:ext cx="512064" cy="512064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com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7552" y="3721608"/>
            <a:ext cx="274320" cy="27432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600200" y="3483864"/>
            <a:ext cx="457200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1A1A1A"/>
                </a:solidFill>
                <a:latin typeface="Montserrat"/>
              </a:rPr>
              <a:t>Commercial et ventes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60720" y="3483864"/>
            <a:ext cx="274320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6B6B6B"/>
                </a:solidFill>
                <a:latin typeface="Open Sans"/>
              </a:rPr>
              <a:t>Kouassi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63840" y="3483864"/>
            <a:ext cx="201168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Open Sans"/>
              </a:rPr>
              <a:t>4 livrables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66960" y="3483864"/>
            <a:ext cx="14630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400" b="1">
                <a:solidFill>
                  <a:srgbClr val="E84E0E"/>
                </a:solidFill>
                <a:latin typeface="Open Sans"/>
              </a:rPr>
              <a:t>page 11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4379976"/>
            <a:ext cx="11091672" cy="749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48640" y="4379976"/>
            <a:ext cx="82296" cy="749808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868680" y="4498848"/>
            <a:ext cx="512064" cy="512064"/>
          </a:xfrm>
          <a:prstGeom prst="ellipse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7" name="Picture 36" descr="rh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7552" y="4617720"/>
            <a:ext cx="274320" cy="27432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1600200" y="4379976"/>
            <a:ext cx="457200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1A1A1A"/>
                </a:solidFill>
                <a:latin typeface="Montserrat"/>
              </a:rPr>
              <a:t>Ressources humaines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760720" y="4379976"/>
            <a:ext cx="274320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6B6B6B"/>
                </a:solidFill>
                <a:latin typeface="Open Sans"/>
              </a:rPr>
              <a:t>Fatou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863840" y="4379976"/>
            <a:ext cx="201168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Open Sans"/>
              </a:rPr>
              <a:t>8 livrables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966960" y="4379976"/>
            <a:ext cx="14630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400" b="1">
                <a:solidFill>
                  <a:srgbClr val="E84E0E"/>
                </a:solidFill>
                <a:latin typeface="Open Sans"/>
              </a:rPr>
              <a:t>page 13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48640" y="5276088"/>
            <a:ext cx="11091672" cy="749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48640" y="5276088"/>
            <a:ext cx="82296" cy="749808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868680" y="5394959"/>
            <a:ext cx="512064" cy="512064"/>
          </a:xfrm>
          <a:prstGeom prst="ellipse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5" name="Picture 44" descr="ops_FFFFF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7552" y="5513831"/>
            <a:ext cx="274320" cy="274320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1600200" y="5276088"/>
            <a:ext cx="457200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1A1A1A"/>
                </a:solidFill>
                <a:latin typeface="Montserrat"/>
              </a:rPr>
              <a:t>Opérations et achats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760720" y="5276088"/>
            <a:ext cx="274320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6B6B6B"/>
                </a:solidFill>
                <a:latin typeface="Open Sans"/>
              </a:rPr>
              <a:t>Salif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863840" y="5276088"/>
            <a:ext cx="201168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Open Sans"/>
              </a:rPr>
              <a:t>6 livrables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6960" y="5276088"/>
            <a:ext cx="14630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400" b="1">
                <a:solidFill>
                  <a:srgbClr val="E84E0E"/>
                </a:solidFill>
                <a:latin typeface="Open Sans"/>
              </a:rPr>
              <a:t>page 16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728655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1A1A1A"/>
                </a:solidFill>
                <a:latin typeface="Open Sans"/>
              </a:rPr>
              <a:t>2 / 19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63898" cy="82296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3898" y="0"/>
            <a:ext cx="4063898" cy="82296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7796" y="0"/>
            <a:ext cx="4073042" cy="82296"/>
          </a:xfrm>
          <a:prstGeom prst="rect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1371600"/>
            <a:ext cx="1188720" cy="11887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mkt_1A1A1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" y="1627632"/>
            <a:ext cx="676656" cy="67665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292608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ontserrat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42900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Montserrat"/>
              </a:rPr>
              <a:t>Marketing et contenu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348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Open Sans"/>
              </a:rPr>
              <a:t>12 livrables  ·  préparés par Fatima, Expert IA marketing et contenu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37015" y="457200"/>
            <a:ext cx="2606040" cy="11887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8692" y="617220"/>
            <a:ext cx="2242686" cy="8686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BBBBBB"/>
                </a:solidFill>
                <a:latin typeface="Open Sans"/>
              </a:rPr>
              <a:t>TAJ PLAST  ·  Recueil des livrables des Experts  ·  octobre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28655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Open Sans"/>
              </a:rPr>
              <a:t>3 / 19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63898" cy="82296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3898" y="0"/>
            <a:ext cx="4063898" cy="82296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7796" y="0"/>
            <a:ext cx="4073042" cy="82296"/>
          </a:xfrm>
          <a:prstGeom prst="rect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48640" y="384048"/>
            <a:ext cx="548640" cy="548640"/>
          </a:xfrm>
          <a:prstGeom prst="ellipse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mkt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502920"/>
            <a:ext cx="310896" cy="31089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261872" y="347472"/>
            <a:ext cx="7772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A1A1A"/>
                </a:solidFill>
                <a:latin typeface="Montserrat"/>
              </a:rPr>
              <a:t>Marketing et contenu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1872" y="822960"/>
            <a:ext cx="7772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Open Sans"/>
              </a:rPr>
              <a:t>Par Fatima  ·  1 sur 3</a:t>
            </a:r>
          </a:p>
        </p:txBody>
      </p:sp>
      <p:pic>
        <p:nvPicPr>
          <p:cNvPr id="10" name="Picture 9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51415" y="320040"/>
            <a:ext cx="1699720" cy="658368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48640" y="1371600"/>
            <a:ext cx="2514600" cy="54864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m1.jp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426464"/>
            <a:ext cx="2514600" cy="3017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48640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Fiche de vérification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Ce que nous savons de Taj Plast, à valider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84E0E"/>
                </a:solidFill>
                <a:latin typeface="Open Sans"/>
                <a:hlinkClick r:id="rId5"/>
              </a:rPr>
              <a:t>Ouvrir le document  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08578" y="1371600"/>
            <a:ext cx="2514600" cy="54864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m2.jp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08578" y="1426464"/>
            <a:ext cx="2514600" cy="30175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408578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Plan marketing 2027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08578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Objectifs, calendrier et budget proposés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08578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84E0E"/>
                </a:solidFill>
                <a:latin typeface="Open Sans"/>
                <a:hlinkClick r:id="rId7"/>
              </a:rPr>
              <a:t>Ouvrir le document  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8516" y="1371600"/>
            <a:ext cx="2514600" cy="54864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m3.jpg">
            <a:hlinkClick r:id="rId9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68516" y="1426464"/>
            <a:ext cx="2514600" cy="30175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268516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Étude de la concurrence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8516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Six plasturgistes d'Abidjan comparés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8516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84E0E"/>
                </a:solidFill>
                <a:latin typeface="Open Sans"/>
                <a:hlinkClick r:id="rId9"/>
              </a:rPr>
              <a:t>Ouvrir le document  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28455" y="1371600"/>
            <a:ext cx="2514600" cy="54864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m4.jpg">
            <a:hlinkClick r:id="rId11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128455" y="1426464"/>
            <a:ext cx="2514600" cy="301752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128455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Argumentaire supermarchés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28455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Une page pour les acheteurs de la grande distribution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28455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84E0E"/>
                </a:solidFill>
                <a:latin typeface="Open Sans"/>
                <a:hlinkClick r:id="rId11"/>
              </a:rPr>
              <a:t>Ouvrir le document  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Open Sans"/>
              </a:rPr>
              <a:t>TAJ PLAST  ·  Recueil des livrables des Experts  ·  octobre 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28655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1A1A1A"/>
                </a:solidFill>
                <a:latin typeface="Open Sans"/>
              </a:rPr>
              <a:t>4 / 19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63898" cy="82296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3898" y="0"/>
            <a:ext cx="4063898" cy="82296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7796" y="0"/>
            <a:ext cx="4073042" cy="82296"/>
          </a:xfrm>
          <a:prstGeom prst="rect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48640" y="384048"/>
            <a:ext cx="548640" cy="548640"/>
          </a:xfrm>
          <a:prstGeom prst="ellipse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mkt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502920"/>
            <a:ext cx="310896" cy="31089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261872" y="347472"/>
            <a:ext cx="7772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A1A1A"/>
                </a:solidFill>
                <a:latin typeface="Montserrat"/>
              </a:rPr>
              <a:t>Marketing et contenu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1872" y="822960"/>
            <a:ext cx="7772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Open Sans"/>
              </a:rPr>
              <a:t>Par Fatima  ·  2 sur 3</a:t>
            </a:r>
          </a:p>
        </p:txBody>
      </p:sp>
      <p:pic>
        <p:nvPicPr>
          <p:cNvPr id="10" name="Picture 9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51415" y="320040"/>
            <a:ext cx="1699720" cy="658368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48640" y="1371600"/>
            <a:ext cx="2514600" cy="54864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m5.jp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426464"/>
            <a:ext cx="2514600" cy="3017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48640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Plan de campagne salon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Rétroplanning de J-60 à J+90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84E0E"/>
                </a:solidFill>
                <a:latin typeface="Open Sans"/>
                <a:hlinkClick r:id="rId5"/>
              </a:rPr>
              <a:t>Ouvrir le document  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08578" y="1371600"/>
            <a:ext cx="2514600" cy="54864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m6.jp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08578" y="1426464"/>
            <a:ext cx="2514600" cy="30175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408578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Lettre d'information n° 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08578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Trimestrielle, pour les clients professionnels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08578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84E0E"/>
                </a:solidFill>
                <a:latin typeface="Open Sans"/>
                <a:hlinkClick r:id="rId7"/>
              </a:rPr>
              <a:t>Ouvrir le document  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8516" y="1371600"/>
            <a:ext cx="2514600" cy="54864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m7.jpg">
            <a:hlinkClick r:id="rId9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68516" y="1426464"/>
            <a:ext cx="2514600" cy="30175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268516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Trois posts LinkedIn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8516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Le savoir-faire de l'usine raconté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8516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84E0E"/>
                </a:solidFill>
                <a:latin typeface="Open Sans"/>
                <a:hlinkClick r:id="rId9"/>
              </a:rPr>
              <a:t>Ouvrir le document  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28455" y="1371600"/>
            <a:ext cx="2514600" cy="54864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m8.jpg">
            <a:hlinkClick r:id="rId11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128455" y="1426464"/>
            <a:ext cx="2514600" cy="301752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128455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Audit de la présence en ligne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28455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Facebook, Instagram, LinkedIn et site, relevés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28455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84E0E"/>
                </a:solidFill>
                <a:latin typeface="Open Sans"/>
                <a:hlinkClick r:id="rId11"/>
              </a:rPr>
              <a:t>Ouvrir le document  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Open Sans"/>
              </a:rPr>
              <a:t>TAJ PLAST  ·  Recueil des livrables des Experts  ·  octobre 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28655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1A1A1A"/>
                </a:solidFill>
                <a:latin typeface="Open Sans"/>
              </a:rPr>
              <a:t>5 / 19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63898" cy="82296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3898" y="0"/>
            <a:ext cx="4063898" cy="82296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7796" y="0"/>
            <a:ext cx="4073042" cy="82296"/>
          </a:xfrm>
          <a:prstGeom prst="rect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48640" y="384048"/>
            <a:ext cx="548640" cy="548640"/>
          </a:xfrm>
          <a:prstGeom prst="ellipse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mkt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502920"/>
            <a:ext cx="310896" cy="31089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261872" y="347472"/>
            <a:ext cx="7772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A1A1A"/>
                </a:solidFill>
                <a:latin typeface="Montserrat"/>
              </a:rPr>
              <a:t>Marketing et contenu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1872" y="822960"/>
            <a:ext cx="7772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Open Sans"/>
              </a:rPr>
              <a:t>Par Fatima  ·  3 sur 3</a:t>
            </a:r>
          </a:p>
        </p:txBody>
      </p:sp>
      <p:pic>
        <p:nvPicPr>
          <p:cNvPr id="10" name="Picture 9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51415" y="320040"/>
            <a:ext cx="1699720" cy="658368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48640" y="1371600"/>
            <a:ext cx="2514600" cy="54864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m9.jp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426464"/>
            <a:ext cx="2514600" cy="3017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48640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Calendrier éditorial de décembre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12 posts rédigés, avec leurs visuels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84E0E"/>
                </a:solidFill>
                <a:latin typeface="Open Sans"/>
                <a:hlinkClick r:id="rId5"/>
              </a:rPr>
              <a:t>Ouvrir le document  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08578" y="1371600"/>
            <a:ext cx="2514600" cy="54864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m10.jp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08578" y="1426464"/>
            <a:ext cx="2514600" cy="30175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408578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Plan de contenu RSE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08578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Taj Recyclage : le fil des publications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08578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84E0E"/>
                </a:solidFill>
                <a:latin typeface="Open Sans"/>
                <a:hlinkClick r:id="rId7"/>
              </a:rPr>
              <a:t>Ouvrir le document  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8516" y="1371600"/>
            <a:ext cx="2514600" cy="54864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m11.jpg">
            <a:hlinkClick r:id="rId9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68516" y="1426464"/>
            <a:ext cx="2514600" cy="30175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268516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Lancement de la Table Choco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8516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Plan de lancement du produit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8516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84E0E"/>
                </a:solidFill>
                <a:latin typeface="Open Sans"/>
                <a:hlinkClick r:id="rId9"/>
              </a:rPr>
              <a:t>Ouvrir le document  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28455" y="1371600"/>
            <a:ext cx="2514600" cy="54864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m12.jpg">
            <a:hlinkClick r:id="rId11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128455" y="1426464"/>
            <a:ext cx="2514600" cy="301752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128455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Six flyers A5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28455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Choco, Ibiza, rangement, cuves, recyclage, revendeurs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28455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84E0E"/>
                </a:solidFill>
                <a:latin typeface="Open Sans"/>
                <a:hlinkClick r:id="rId11"/>
              </a:rPr>
              <a:t>Ouvrir le document  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Open Sans"/>
              </a:rPr>
              <a:t>TAJ PLAST  ·  Recueil des livrables des Experts  ·  octobre 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28655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1A1A1A"/>
                </a:solidFill>
                <a:latin typeface="Open Sans"/>
              </a:rPr>
              <a:t>6 / 19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63898" cy="82296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3898" y="0"/>
            <a:ext cx="4063898" cy="82296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7796" y="0"/>
            <a:ext cx="4073042" cy="82296"/>
          </a:xfrm>
          <a:prstGeom prst="rect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1371600"/>
            <a:ext cx="1188720" cy="11887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es_1A1A1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" y="1627632"/>
            <a:ext cx="676656" cy="67665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292608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ontserrat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42900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Montserrat"/>
              </a:rPr>
              <a:t>Design de marque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348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Open Sans"/>
              </a:rPr>
              <a:t>12 livrables  ·  préparés par Koffi, Expert IA design de marque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37015" y="457200"/>
            <a:ext cx="2606040" cy="11887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8692" y="617220"/>
            <a:ext cx="2242686" cy="8686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BBBBBB"/>
                </a:solidFill>
                <a:latin typeface="Open Sans"/>
              </a:rPr>
              <a:t>TAJ PLAST  ·  Recueil des livrables des Experts  ·  octobre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28655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Open Sans"/>
              </a:rPr>
              <a:t>7 / 19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63898" cy="82296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3898" y="0"/>
            <a:ext cx="4063898" cy="82296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7796" y="0"/>
            <a:ext cx="4073042" cy="82296"/>
          </a:xfrm>
          <a:prstGeom prst="rect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48640" y="384048"/>
            <a:ext cx="548640" cy="548640"/>
          </a:xfrm>
          <a:prstGeom prst="ellipse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es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502920"/>
            <a:ext cx="310896" cy="31089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261872" y="347472"/>
            <a:ext cx="7772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A1A1A"/>
                </a:solidFill>
                <a:latin typeface="Montserrat"/>
              </a:rPr>
              <a:t>Design de marque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1872" y="822960"/>
            <a:ext cx="7772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Open Sans"/>
              </a:rPr>
              <a:t>Par Koffi  ·  1 sur 3</a:t>
            </a:r>
          </a:p>
        </p:txBody>
      </p:sp>
      <p:pic>
        <p:nvPicPr>
          <p:cNvPr id="10" name="Picture 9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51415" y="320040"/>
            <a:ext cx="1699720" cy="658368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48640" y="1371600"/>
            <a:ext cx="2514600" cy="54864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d1.jp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426464"/>
            <a:ext cx="2514600" cy="3017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48640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Logo et couleurs relevés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Planche d'identité à valider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84E0E"/>
                </a:solidFill>
                <a:latin typeface="Open Sans"/>
                <a:hlinkClick r:id="rId5"/>
              </a:rPr>
              <a:t>Ouvrir le document  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08578" y="1371600"/>
            <a:ext cx="2514600" cy="54864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d2.jp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08578" y="1426464"/>
            <a:ext cx="2514600" cy="30175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408578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Logo : trois pistes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08578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Continuité, sceau, trois savoir-faire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08578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84E0E"/>
                </a:solidFill>
                <a:latin typeface="Open Sans"/>
                <a:hlinkClick r:id="rId7"/>
              </a:rPr>
              <a:t>Ouvrir le document  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8516" y="1371600"/>
            <a:ext cx="2514600" cy="54864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d3.jpg">
            <a:hlinkClick r:id="rId9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68516" y="1426464"/>
            <a:ext cx="2514600" cy="30175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268516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Étiquettes bidon et flacon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8516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Maquettes et fichiers imprimeur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8516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84E0E"/>
                </a:solidFill>
                <a:latin typeface="Open Sans"/>
                <a:hlinkClick r:id="rId9"/>
              </a:rPr>
              <a:t>Ouvrir le document  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28455" y="1371600"/>
            <a:ext cx="2514600" cy="54864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d4.jpg">
            <a:hlinkClick r:id="rId11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128455" y="1426464"/>
            <a:ext cx="2514600" cy="301752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128455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Plaquette commerciale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28455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Quatre pages A4, écran et imprimeur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28455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84E0E"/>
                </a:solidFill>
                <a:latin typeface="Open Sans"/>
                <a:hlinkClick r:id="rId11"/>
              </a:rPr>
              <a:t>Ouvrir le document  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Open Sans"/>
              </a:rPr>
              <a:t>TAJ PLAST  ·  Recueil des livrables des Experts  ·  octobre 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28655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1A1A1A"/>
                </a:solidFill>
                <a:latin typeface="Open Sans"/>
              </a:rPr>
              <a:t>8 / 19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63898" cy="82296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3898" y="0"/>
            <a:ext cx="4063898" cy="82296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7796" y="0"/>
            <a:ext cx="4073042" cy="82296"/>
          </a:xfrm>
          <a:prstGeom prst="rect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48640" y="384048"/>
            <a:ext cx="548640" cy="548640"/>
          </a:xfrm>
          <a:prstGeom prst="ellipse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es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502920"/>
            <a:ext cx="310896" cy="31089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261872" y="347472"/>
            <a:ext cx="7772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A1A1A"/>
                </a:solidFill>
                <a:latin typeface="Montserrat"/>
              </a:rPr>
              <a:t>Design de marque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1872" y="822960"/>
            <a:ext cx="7772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Open Sans"/>
              </a:rPr>
              <a:t>Par Koffi  ·  2 sur 3</a:t>
            </a:r>
          </a:p>
        </p:txBody>
      </p:sp>
      <p:pic>
        <p:nvPicPr>
          <p:cNvPr id="10" name="Picture 9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51415" y="320040"/>
            <a:ext cx="1699720" cy="658368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48640" y="1371600"/>
            <a:ext cx="2514600" cy="54864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d5.jp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426464"/>
            <a:ext cx="2514600" cy="3017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48640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Stand du salon de l'industrie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Trois niveaux : basique, médium, premium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84E0E"/>
                </a:solidFill>
                <a:latin typeface="Open Sans"/>
                <a:hlinkClick r:id="rId5"/>
              </a:rPr>
              <a:t>Ouvrir le document  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08578" y="1371600"/>
            <a:ext cx="2514600" cy="54864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d6.jp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08578" y="1426464"/>
            <a:ext cx="2514600" cy="30175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408578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Recrutement conducteurs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08578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Affiches A3 et carrés WhatsApp, trois niveaux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08578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84E0E"/>
                </a:solidFill>
                <a:latin typeface="Open Sans"/>
                <a:hlinkClick r:id="rId7"/>
              </a:rPr>
              <a:t>Ouvrir le document  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8516" y="1371600"/>
            <a:ext cx="2514600" cy="54864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d7.jpg">
            <a:hlinkClick r:id="rId9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68516" y="1426464"/>
            <a:ext cx="2514600" cy="30175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268516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Page d'accueil du site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8516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Maquette ordinateur et téléphone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8516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84E0E"/>
                </a:solidFill>
                <a:latin typeface="Open Sans"/>
                <a:hlinkClick r:id="rId9"/>
              </a:rPr>
              <a:t>Ouvrir le document  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28455" y="1371600"/>
            <a:ext cx="2514600" cy="54864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d8.jpg">
            <a:hlinkClick r:id="rId11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128455" y="1426464"/>
            <a:ext cx="2514600" cy="301752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128455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Site moderne en trois niveaux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28455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Basique, médium, premium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28455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84E0E"/>
                </a:solidFill>
                <a:latin typeface="Open Sans"/>
                <a:hlinkClick r:id="rId11"/>
              </a:rPr>
              <a:t>Ouvrir le document  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Open Sans"/>
              </a:rPr>
              <a:t>TAJ PLAST  ·  Recueil des livrables des Experts  ·  octobre 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28655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1A1A1A"/>
                </a:solidFill>
                <a:latin typeface="Open Sans"/>
              </a:rPr>
              <a:t>9 / 19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63898" cy="82296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3898" y="0"/>
            <a:ext cx="4063898" cy="82296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7796" y="0"/>
            <a:ext cx="4073042" cy="82296"/>
          </a:xfrm>
          <a:prstGeom prst="rect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48640" y="384048"/>
            <a:ext cx="548640" cy="548640"/>
          </a:xfrm>
          <a:prstGeom prst="ellipse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es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502920"/>
            <a:ext cx="310896" cy="31089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261872" y="347472"/>
            <a:ext cx="7772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A1A1A"/>
                </a:solidFill>
                <a:latin typeface="Montserrat"/>
              </a:rPr>
              <a:t>Design de marque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1872" y="822960"/>
            <a:ext cx="7772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Open Sans"/>
              </a:rPr>
              <a:t>Par Koffi  ·  3 sur 3</a:t>
            </a:r>
          </a:p>
        </p:txBody>
      </p:sp>
      <p:pic>
        <p:nvPicPr>
          <p:cNvPr id="10" name="Picture 9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51415" y="320040"/>
            <a:ext cx="1699720" cy="658368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48640" y="1371600"/>
            <a:ext cx="2514600" cy="54864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d9.jp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426464"/>
            <a:ext cx="2514600" cy="3017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48640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Catalogue mobilier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Double page armoires et tables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84E0E"/>
                </a:solidFill>
                <a:latin typeface="Open Sans"/>
                <a:hlinkClick r:id="rId5"/>
              </a:rPr>
              <a:t>Ouvrir le document  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08578" y="1371600"/>
            <a:ext cx="2514600" cy="54864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d10.jp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08578" y="1426464"/>
            <a:ext cx="2514600" cy="30175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408578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Affiche toboggan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08578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A3 et carré Facebook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08578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84E0E"/>
                </a:solidFill>
                <a:latin typeface="Open Sans"/>
                <a:hlinkClick r:id="rId7"/>
              </a:rPr>
              <a:t>Ouvrir le document  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8516" y="1371600"/>
            <a:ext cx="2514600" cy="54864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d11.jpg">
            <a:hlinkClick r:id="rId9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68516" y="1426464"/>
            <a:ext cx="2514600" cy="30175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268516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Fiches revendeurs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8516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Cuve et fosse septique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8516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84E0E"/>
                </a:solidFill>
                <a:latin typeface="Open Sans"/>
                <a:hlinkClick r:id="rId9"/>
              </a:rPr>
              <a:t>Ouvrir le document  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28455" y="1371600"/>
            <a:ext cx="2514600" cy="54864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d12.jpg">
            <a:hlinkClick r:id="rId11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128455" y="1426464"/>
            <a:ext cx="2514600" cy="301752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128455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Affiche Taj Recyclage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28455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A3, avec la mascotte bouteille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28455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84E0E"/>
                </a:solidFill>
                <a:latin typeface="Open Sans"/>
                <a:hlinkClick r:id="rId11"/>
              </a:rPr>
              <a:t>Ouvrir le document  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Open Sans"/>
              </a:rPr>
              <a:t>TAJ PLAST  ·  Recueil des livrables des Experts  ·  octobre 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28655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1A1A1A"/>
                </a:solidFill>
                <a:latin typeface="Open Sans"/>
              </a:rPr>
              <a:t>10 / 19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63898" cy="82296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3898" y="0"/>
            <a:ext cx="4063898" cy="82296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7796" y="0"/>
            <a:ext cx="4073042" cy="82296"/>
          </a:xfrm>
          <a:prstGeom prst="rect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1371600"/>
            <a:ext cx="1188720" cy="11887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om_1A1A1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" y="1627632"/>
            <a:ext cx="676656" cy="67665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292608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E84E0E"/>
                </a:solidFill>
                <a:latin typeface="Montserrat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42900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Montserrat"/>
              </a:rPr>
              <a:t>Commercial et ventes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348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Open Sans"/>
              </a:rPr>
              <a:t>4 livrables  ·  préparés par Kouassi, Expert IA commercial et ventes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37015" y="457200"/>
            <a:ext cx="2606040" cy="11887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8692" y="617220"/>
            <a:ext cx="2242686" cy="8686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BBBBBB"/>
                </a:solidFill>
                <a:latin typeface="Open Sans"/>
              </a:rPr>
              <a:t>TAJ PLAST  ·  Recueil des livrables des Experts  ·  octobre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28655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Open Sans"/>
              </a:rPr>
              <a:t>11 / 19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63898" cy="82296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3898" y="0"/>
            <a:ext cx="4063898" cy="82296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7796" y="0"/>
            <a:ext cx="4073042" cy="82296"/>
          </a:xfrm>
          <a:prstGeom prst="rect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48640" y="384048"/>
            <a:ext cx="548640" cy="54864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om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502920"/>
            <a:ext cx="310896" cy="31089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261872" y="347472"/>
            <a:ext cx="7772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A1A1A"/>
                </a:solidFill>
                <a:latin typeface="Montserrat"/>
              </a:rPr>
              <a:t>Commercial et ventes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1872" y="822960"/>
            <a:ext cx="7772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Open Sans"/>
              </a:rPr>
              <a:t>Par Kouassi  ·  1 sur 1</a:t>
            </a:r>
          </a:p>
        </p:txBody>
      </p:sp>
      <p:pic>
        <p:nvPicPr>
          <p:cNvPr id="10" name="Picture 9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51415" y="320040"/>
            <a:ext cx="1699720" cy="658368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48640" y="1371600"/>
            <a:ext cx="2514600" cy="54864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c1.jp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426464"/>
            <a:ext cx="2514600" cy="3017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48640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Argumentaire BTP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Cuves et fosses septiques pour les chantiers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84E0E"/>
                </a:solidFill>
                <a:latin typeface="Open Sans"/>
                <a:hlinkClick r:id="rId5"/>
              </a:rPr>
              <a:t>Ouvrir le document  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08578" y="1371600"/>
            <a:ext cx="2514600" cy="54864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c2.jp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08578" y="1426464"/>
            <a:ext cx="2514600" cy="30175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408578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Séquence de prospection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08578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Les étapes pour gagner un revendeur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08578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84E0E"/>
                </a:solidFill>
                <a:latin typeface="Open Sans"/>
                <a:hlinkClick r:id="rId7"/>
              </a:rPr>
              <a:t>Ouvrir le document  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8516" y="1371600"/>
            <a:ext cx="2514600" cy="54864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c3.jpg">
            <a:hlinkClick r:id="rId9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68516" y="1426464"/>
            <a:ext cx="2514600" cy="30175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268516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Cartographie des cibles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8516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Qui viser, par segment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8516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84E0E"/>
                </a:solidFill>
                <a:latin typeface="Open Sans"/>
                <a:hlinkClick r:id="rId9"/>
              </a:rPr>
              <a:t>Ouvrir le document  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28455" y="1371600"/>
            <a:ext cx="2514600" cy="54864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c4.jpg">
            <a:hlinkClick r:id="rId11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128455" y="1426464"/>
            <a:ext cx="2514600" cy="301752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128455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Suivi des commandes revendeurs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28455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Modèle prêt à remplir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28455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84E0E"/>
                </a:solidFill>
                <a:latin typeface="Open Sans"/>
                <a:hlinkClick r:id="rId11"/>
              </a:rPr>
              <a:t>Ouvrir le document  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Open Sans"/>
              </a:rPr>
              <a:t>TAJ PLAST  ·  Recueil des livrables des Experts  ·  octobre 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28655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1A1A1A"/>
                </a:solidFill>
                <a:latin typeface="Open Sans"/>
              </a:rPr>
              <a:t>12 / 19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63898" cy="82296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3898" y="0"/>
            <a:ext cx="4063898" cy="82296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7796" y="0"/>
            <a:ext cx="4073042" cy="82296"/>
          </a:xfrm>
          <a:prstGeom prst="rect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1371600"/>
            <a:ext cx="1188720" cy="11887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h_1A1A1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" y="1627632"/>
            <a:ext cx="676656" cy="67665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292608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ontserrat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42900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Montserrat"/>
              </a:rPr>
              <a:t>Ressources humaines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348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Open Sans"/>
              </a:rPr>
              <a:t>8 livrables  ·  préparés par Fatou, Expert IA ressources humaines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37015" y="457200"/>
            <a:ext cx="2606040" cy="11887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8692" y="617220"/>
            <a:ext cx="2242686" cy="8686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BBBBBB"/>
                </a:solidFill>
                <a:latin typeface="Open Sans"/>
              </a:rPr>
              <a:t>TAJ PLAST  ·  Recueil des livrables des Experts  ·  octobre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28655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Open Sans"/>
              </a:rPr>
              <a:t>13 / 19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63898" cy="82296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3898" y="0"/>
            <a:ext cx="4063898" cy="82296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7796" y="0"/>
            <a:ext cx="4073042" cy="82296"/>
          </a:xfrm>
          <a:prstGeom prst="rect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48640" y="384048"/>
            <a:ext cx="548640" cy="548640"/>
          </a:xfrm>
          <a:prstGeom prst="ellipse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h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502920"/>
            <a:ext cx="310896" cy="31089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261872" y="347472"/>
            <a:ext cx="7772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A1A1A"/>
                </a:solidFill>
                <a:latin typeface="Montserrat"/>
              </a:rPr>
              <a:t>Ressources humaines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1872" y="822960"/>
            <a:ext cx="7772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Open Sans"/>
              </a:rPr>
              <a:t>Par Fatou  ·  1 sur 2</a:t>
            </a:r>
          </a:p>
        </p:txBody>
      </p:sp>
      <p:pic>
        <p:nvPicPr>
          <p:cNvPr id="10" name="Picture 9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51415" y="320040"/>
            <a:ext cx="1699720" cy="658368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48640" y="1371600"/>
            <a:ext cx="2514600" cy="54864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r1.jp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426464"/>
            <a:ext cx="2514600" cy="3017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48640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Contrat CDD opérateur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Opérateur de production, six mois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84E0E"/>
                </a:solidFill>
                <a:latin typeface="Open Sans"/>
                <a:hlinkClick r:id="rId5"/>
              </a:rPr>
              <a:t>Ouvrir le document  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08578" y="1371600"/>
            <a:ext cx="2514600" cy="54864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r2.jp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08578" y="1426464"/>
            <a:ext cx="2514600" cy="30175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408578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Planning du soufflage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08578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Équipes en 3 x 8, novembre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08578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84E0E"/>
                </a:solidFill>
                <a:latin typeface="Open Sans"/>
                <a:hlinkClick r:id="rId7"/>
              </a:rPr>
              <a:t>Ouvrir le document  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8516" y="1371600"/>
            <a:ext cx="2514600" cy="54864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r3.jpg">
            <a:hlinkClick r:id="rId9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68516" y="1426464"/>
            <a:ext cx="2514600" cy="30175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268516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Heures sup et heures de nuit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8516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Calcul du soufflage, novembre 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8516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84E0E"/>
                </a:solidFill>
                <a:latin typeface="Open Sans"/>
                <a:hlinkClick r:id="rId9"/>
              </a:rPr>
              <a:t>Ouvrir le document  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28455" y="1371600"/>
            <a:ext cx="2514600" cy="54864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r4.jpg">
            <a:hlinkClick r:id="rId11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128455" y="1426464"/>
            <a:ext cx="2514600" cy="301752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128455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Règlement intérieur, sécurité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28455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Le chapitre sécurité des ateliers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28455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84E0E"/>
                </a:solidFill>
                <a:latin typeface="Open Sans"/>
                <a:hlinkClick r:id="rId11"/>
              </a:rPr>
              <a:t>Ouvrir le document  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Open Sans"/>
              </a:rPr>
              <a:t>TAJ PLAST  ·  Recueil des livrables des Experts  ·  octobre 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28655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1A1A1A"/>
                </a:solidFill>
                <a:latin typeface="Open Sans"/>
              </a:rPr>
              <a:t>14 / 19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63898" cy="82296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3898" y="0"/>
            <a:ext cx="4063898" cy="82296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7796" y="0"/>
            <a:ext cx="4073042" cy="82296"/>
          </a:xfrm>
          <a:prstGeom prst="rect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48640" y="384048"/>
            <a:ext cx="548640" cy="548640"/>
          </a:xfrm>
          <a:prstGeom prst="ellipse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h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502920"/>
            <a:ext cx="310896" cy="31089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261872" y="347472"/>
            <a:ext cx="7772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A1A1A"/>
                </a:solidFill>
                <a:latin typeface="Montserrat"/>
              </a:rPr>
              <a:t>Ressources humaines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1872" y="822960"/>
            <a:ext cx="7772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Open Sans"/>
              </a:rPr>
              <a:t>Par Fatou  ·  2 sur 2</a:t>
            </a:r>
          </a:p>
        </p:txBody>
      </p:sp>
      <p:pic>
        <p:nvPicPr>
          <p:cNvPr id="10" name="Picture 9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51415" y="320040"/>
            <a:ext cx="1699720" cy="658368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48640" y="1371600"/>
            <a:ext cx="2514600" cy="54864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r5.jp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426464"/>
            <a:ext cx="2514600" cy="3017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48640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Plan de formation sécurité 2027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Opérateurs et techniciens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84E0E"/>
                </a:solidFill>
                <a:latin typeface="Open Sans"/>
                <a:hlinkClick r:id="rId5"/>
              </a:rPr>
              <a:t>Ouvrir le document  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08578" y="1371600"/>
            <a:ext cx="2514600" cy="54864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r6.jp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08578" y="1426464"/>
            <a:ext cx="2514600" cy="30175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408578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Règles des journaliers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08578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Note sur l'emploi des journaliers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08578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84E0E"/>
                </a:solidFill>
                <a:latin typeface="Open Sans"/>
                <a:hlinkClick r:id="rId7"/>
              </a:rPr>
              <a:t>Ouvrir le document  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8516" y="1371600"/>
            <a:ext cx="2514600" cy="54864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r7.jpg">
            <a:hlinkClick r:id="rId9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68516" y="1426464"/>
            <a:ext cx="2514600" cy="30175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268516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Registre des journaliers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8516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Conditionnement, jour par jour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8516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84E0E"/>
                </a:solidFill>
                <a:latin typeface="Open Sans"/>
                <a:hlinkClick r:id="rId9"/>
              </a:rPr>
              <a:t>Ouvrir le document  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28455" y="1371600"/>
            <a:ext cx="2514600" cy="54864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r8.jpg">
            <a:hlinkClick r:id="rId11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128455" y="1426464"/>
            <a:ext cx="2514600" cy="301752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128455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Déclarations CNPS et ITS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28455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Checklist de novembre 2026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28455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84E0E"/>
                </a:solidFill>
                <a:latin typeface="Open Sans"/>
                <a:hlinkClick r:id="rId11"/>
              </a:rPr>
              <a:t>Ouvrir le document  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Open Sans"/>
              </a:rPr>
              <a:t>TAJ PLAST  ·  Recueil des livrables des Experts  ·  octobre 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28655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1A1A1A"/>
                </a:solidFill>
                <a:latin typeface="Open Sans"/>
              </a:rPr>
              <a:t>15 / 19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63898" cy="82296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3898" y="0"/>
            <a:ext cx="4063898" cy="82296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7796" y="0"/>
            <a:ext cx="4073042" cy="82296"/>
          </a:xfrm>
          <a:prstGeom prst="rect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1371600"/>
            <a:ext cx="1188720" cy="11887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ops_1A1A1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" y="1627632"/>
            <a:ext cx="676656" cy="67665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292608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ontserrat"/>
              </a:rP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42900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Montserrat"/>
              </a:rPr>
              <a:t>Opérations et achats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348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Open Sans"/>
              </a:rPr>
              <a:t>6 livrables  ·  préparés par Salif, Expert IA opérations et achats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37015" y="457200"/>
            <a:ext cx="2606040" cy="11887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8692" y="617220"/>
            <a:ext cx="2242686" cy="8686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BBBBBB"/>
                </a:solidFill>
                <a:latin typeface="Open Sans"/>
              </a:rPr>
              <a:t>TAJ PLAST  ·  Recueil des livrables des Experts  ·  octobre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28655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Open Sans"/>
              </a:rPr>
              <a:t>16 / 19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63898" cy="82296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3898" y="0"/>
            <a:ext cx="4063898" cy="82296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7796" y="0"/>
            <a:ext cx="4073042" cy="82296"/>
          </a:xfrm>
          <a:prstGeom prst="rect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48640" y="384048"/>
            <a:ext cx="548640" cy="548640"/>
          </a:xfrm>
          <a:prstGeom prst="ellipse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ops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502920"/>
            <a:ext cx="310896" cy="31089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261872" y="347472"/>
            <a:ext cx="7772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A1A1A"/>
                </a:solidFill>
                <a:latin typeface="Montserrat"/>
              </a:rPr>
              <a:t>Opérations et achats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1872" y="822960"/>
            <a:ext cx="7772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Open Sans"/>
              </a:rPr>
              <a:t>Par Salif  ·  1 sur 2</a:t>
            </a:r>
          </a:p>
        </p:txBody>
      </p:sp>
      <p:pic>
        <p:nvPicPr>
          <p:cNvPr id="10" name="Picture 9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51415" y="320040"/>
            <a:ext cx="1699720" cy="658368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48640" y="1371600"/>
            <a:ext cx="2514600" cy="54864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o1.jp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426464"/>
            <a:ext cx="2514600" cy="3017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48640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Plan d’entretien préventif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Machines d'injection et de soufflage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84E0E"/>
                </a:solidFill>
                <a:latin typeface="Open Sans"/>
                <a:hlinkClick r:id="rId5"/>
              </a:rPr>
              <a:t>Ouvrir le document  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08578" y="1371600"/>
            <a:ext cx="2514600" cy="54864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o2.jp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08578" y="1426464"/>
            <a:ext cx="2514600" cy="30175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408578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Vérification avant paiement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08578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Bon de commande, livraison, facture rapprochés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08578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84E0E"/>
                </a:solidFill>
                <a:latin typeface="Open Sans"/>
                <a:hlinkClick r:id="rId7"/>
              </a:rPr>
              <a:t>Ouvrir le document  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8516" y="1371600"/>
            <a:ext cx="2514600" cy="54864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o3.jpg">
            <a:hlinkClick r:id="rId9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68516" y="1426464"/>
            <a:ext cx="2514600" cy="30175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268516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Consultation des assurances 2027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8516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Cahier pour mettre les assureurs en concurrence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8516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84E0E"/>
                </a:solidFill>
                <a:latin typeface="Open Sans"/>
                <a:hlinkClick r:id="rId9"/>
              </a:rPr>
              <a:t>Ouvrir le document  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28455" y="1371600"/>
            <a:ext cx="2514600" cy="54864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o4.jpg">
            <a:hlinkClick r:id="rId11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128455" y="1426464"/>
            <a:ext cx="2514600" cy="301752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128455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Tableau de bord des opérations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28455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La revue du lundi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28455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84E0E"/>
                </a:solidFill>
                <a:latin typeface="Open Sans"/>
                <a:hlinkClick r:id="rId11"/>
              </a:rPr>
              <a:t>Ouvrir le document  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Open Sans"/>
              </a:rPr>
              <a:t>TAJ PLAST  ·  Recueil des livrables des Experts  ·  octobre 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28655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1A1A1A"/>
                </a:solidFill>
                <a:latin typeface="Open Sans"/>
              </a:rPr>
              <a:t>17 / 19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63898" cy="82296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3898" y="0"/>
            <a:ext cx="4063898" cy="82296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7796" y="0"/>
            <a:ext cx="4073042" cy="82296"/>
          </a:xfrm>
          <a:prstGeom prst="rect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48640" y="384048"/>
            <a:ext cx="548640" cy="548640"/>
          </a:xfrm>
          <a:prstGeom prst="ellipse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ops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502920"/>
            <a:ext cx="310896" cy="31089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261872" y="347472"/>
            <a:ext cx="7772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A1A1A"/>
                </a:solidFill>
                <a:latin typeface="Montserrat"/>
              </a:rPr>
              <a:t>Opérations et achats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1872" y="822960"/>
            <a:ext cx="7772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Open Sans"/>
              </a:rPr>
              <a:t>Par Salif  ·  2 sur 2</a:t>
            </a:r>
          </a:p>
        </p:txBody>
      </p:sp>
      <p:pic>
        <p:nvPicPr>
          <p:cNvPr id="10" name="Picture 9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51415" y="320040"/>
            <a:ext cx="1699720" cy="658368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48640" y="1371600"/>
            <a:ext cx="2514600" cy="54864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o5.jp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426464"/>
            <a:ext cx="2514600" cy="3017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48640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Couverture du stock matières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Trois semaines d'avance, matière par matière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84E0E"/>
                </a:solidFill>
                <a:latin typeface="Open Sans"/>
                <a:hlinkClick r:id="rId5"/>
              </a:rPr>
              <a:t>Ouvrir le document  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08578" y="1371600"/>
            <a:ext cx="2514600" cy="54864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o6.jp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08578" y="1426464"/>
            <a:ext cx="2514600" cy="30175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408578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Analyse des dépenses d'achat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08578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Prête à recevoir l'export de Sage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08578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84E0E"/>
                </a:solidFill>
                <a:latin typeface="Open Sans"/>
                <a:hlinkClick r:id="rId7"/>
              </a:rPr>
              <a:t>Ouvrir le document  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Open Sans"/>
              </a:rPr>
              <a:t>TAJ PLAST  ·  Recueil des livrables des Experts  ·  octobre 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28655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1A1A1A"/>
                </a:solidFill>
                <a:latin typeface="Open Sans"/>
              </a:rPr>
              <a:t>18 / 19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63898" cy="128016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3898" y="0"/>
            <a:ext cx="4063898" cy="128016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7796" y="0"/>
            <a:ext cx="4073042" cy="128016"/>
          </a:xfrm>
          <a:prstGeom prst="rect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731520"/>
            <a:ext cx="2589621" cy="10058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2148840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Montserrat"/>
              </a:rPr>
              <a:t>Et maintenant ?</a:t>
            </a:r>
          </a:p>
        </p:txBody>
      </p:sp>
      <p:sp>
        <p:nvSpPr>
          <p:cNvPr id="8" name="Oval 7"/>
          <p:cNvSpPr/>
          <p:nvPr/>
        </p:nvSpPr>
        <p:spPr>
          <a:xfrm>
            <a:off x="731520" y="3291840"/>
            <a:ext cx="640080" cy="640080"/>
          </a:xfrm>
          <a:prstGeom prst="ellipse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329184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Montserrat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329184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Montserrat"/>
              </a:rPr>
              <a:t>Vous parcourez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3703320"/>
            <a:ext cx="26517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CCCCCC"/>
                </a:solidFill>
                <a:latin typeface="Open Sans"/>
              </a:rPr>
              <a:t>Chaque vignette ouvre le document dans Google.</a:t>
            </a:r>
          </a:p>
        </p:txBody>
      </p:sp>
      <p:sp>
        <p:nvSpPr>
          <p:cNvPr id="12" name="Oval 11"/>
          <p:cNvSpPr/>
          <p:nvPr/>
        </p:nvSpPr>
        <p:spPr>
          <a:xfrm>
            <a:off x="4389120" y="3291840"/>
            <a:ext cx="640080" cy="640080"/>
          </a:xfrm>
          <a:prstGeom prst="ellipse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89120" y="329184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Montserrat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329184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Montserrat"/>
              </a:rPr>
              <a:t>Vous annotez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12080" y="3703320"/>
            <a:ext cx="26517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CCCCCC"/>
                </a:solidFill>
                <a:latin typeface="Open Sans"/>
              </a:rPr>
              <a:t>Vos commentaires directement dans les documents.</a:t>
            </a:r>
          </a:p>
        </p:txBody>
      </p:sp>
      <p:sp>
        <p:nvSpPr>
          <p:cNvPr id="16" name="Oval 15"/>
          <p:cNvSpPr/>
          <p:nvPr/>
        </p:nvSpPr>
        <p:spPr>
          <a:xfrm>
            <a:off x="8046720" y="3291840"/>
            <a:ext cx="640080" cy="640080"/>
          </a:xfrm>
          <a:prstGeom prst="ellipse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0" y="329184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>
                <a:solidFill>
                  <a:srgbClr val="1A1A1A"/>
                </a:solidFill>
                <a:latin typeface="Montserrat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680" y="329184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Montserrat"/>
              </a:rPr>
              <a:t>Nous ajustons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3703320"/>
            <a:ext cx="26517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CCCCCC"/>
                </a:solidFill>
                <a:latin typeface="Open Sans"/>
              </a:rPr>
              <a:t>Chaque Expert reprend son livrable avec vos retours.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12064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CCCCCC"/>
                </a:solidFill>
                <a:latin typeface="Open Sans"/>
              </a:rPr>
              <a:t>Tous les fichiers sont réunis dans le dossier Drive du recueil.</a:t>
            </a:r>
          </a:p>
          <a:p>
            <a:pPr algn="l"/>
            <a:r>
              <a:rPr sz="1400" b="1">
                <a:solidFill>
                  <a:srgbClr val="E84E0E"/>
                </a:solidFill>
                <a:latin typeface="Open Sans"/>
                <a:hlinkClick r:id="rId3"/>
              </a:rPr>
              <a:t>Ouvrir le dossier  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729984"/>
            <a:ext cx="4063898" cy="128016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063898" y="6729984"/>
            <a:ext cx="4063898" cy="128016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127796" y="6729984"/>
            <a:ext cx="4073042" cy="128016"/>
          </a:xfrm>
          <a:prstGeom prst="rect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728655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Open Sans"/>
              </a:rPr>
              <a:t>19 / 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E84E0E"/>
      </a:hlink>
      <a:folHlink>
        <a:srgbClr val="159641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