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6.jpg"/><Relationship Id="rId5" Type="http://schemas.openxmlformats.org/officeDocument/2006/relationships/hyperlink" Target="https://drive.google.com/file/d/1aARZYlYxsVnz9iH8WAdHj7iVM_kLxFHO/view" TargetMode="External"/><Relationship Id="rId6" Type="http://schemas.openxmlformats.org/officeDocument/2006/relationships/image" Target="../media/image7.jpg"/><Relationship Id="rId7" Type="http://schemas.openxmlformats.org/officeDocument/2006/relationships/hyperlink" Target="https://docs.google.com/presentation/d/1caaCPbRg_AW8r75otNONy2vskejANo1Tmrab6Gm1Qfg/edit" TargetMode="External"/><Relationship Id="rId8" Type="http://schemas.openxmlformats.org/officeDocument/2006/relationships/image" Target="../media/image8.jpg"/><Relationship Id="rId9" Type="http://schemas.openxmlformats.org/officeDocument/2006/relationships/hyperlink" Target="https://docs.google.com/document/d/1Wjkgvqp701vj0zl6u0k9RnQCG2-vz3GfxaMjUStSIuY/edit" TargetMode="External"/><Relationship Id="rId10" Type="http://schemas.openxmlformats.org/officeDocument/2006/relationships/image" Target="../media/image9.jpg"/><Relationship Id="rId11" Type="http://schemas.openxmlformats.org/officeDocument/2006/relationships/hyperlink" Target="https://docs.google.com/document/d/1ebudIJr_IU3Y3y9JEipEhxeoLYirDzZt89hohfgJVGk/edit" TargetMode="External"/><Relationship Id="rId1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10.jpg"/><Relationship Id="rId5" Type="http://schemas.openxmlformats.org/officeDocument/2006/relationships/hyperlink" Target="https://docs.google.com/document/d/1JdeSNp0vkhxC58VsRBkWLh4BW82UeI5-36y6L4UpBr0/edit" TargetMode="External"/><Relationship Id="rId6" Type="http://schemas.openxmlformats.org/officeDocument/2006/relationships/image" Target="../media/image11.jpg"/><Relationship Id="rId7" Type="http://schemas.openxmlformats.org/officeDocument/2006/relationships/hyperlink" Target="https://docs.google.com/document/d/1nTUut_mIIocGXHLNiGEQfKSpsedaPoOry727-5RvMfI/edit" TargetMode="External"/><Relationship Id="rId8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4.jpg"/><Relationship Id="rId5" Type="http://schemas.openxmlformats.org/officeDocument/2006/relationships/hyperlink" Target="https://docs.google.com/spreadsheets/d/1g1sOMkmfDHbjMAp2Q0NOLFfcwU2g4lyx4FJJKzFhIL8/edit" TargetMode="External"/><Relationship Id="rId6" Type="http://schemas.openxmlformats.org/officeDocument/2006/relationships/image" Target="../media/image15.jpg"/><Relationship Id="rId7" Type="http://schemas.openxmlformats.org/officeDocument/2006/relationships/hyperlink" Target="https://docs.google.com/spreadsheets/d/19pBhkYQHRdx8EDIOJEgd-AV6iWoRhKghc7D5xMBKvFk/edit" TargetMode="External"/><Relationship Id="rId8" Type="http://schemas.openxmlformats.org/officeDocument/2006/relationships/image" Target="../media/image16.jpg"/><Relationship Id="rId9" Type="http://schemas.openxmlformats.org/officeDocument/2006/relationships/hyperlink" Target="https://docs.google.com/spreadsheets/d/1UnKrOQAfX4vpdlSzutqjQfekPnKoHavXsG7zPkdsYj8/edit" TargetMode="External"/><Relationship Id="rId10" Type="http://schemas.openxmlformats.org/officeDocument/2006/relationships/image" Target="../media/image17.jpg"/><Relationship Id="rId11" Type="http://schemas.openxmlformats.org/officeDocument/2006/relationships/hyperlink" Target="https://docs.google.com/spreadsheets/d/1nFLzhwwucPdffs4kosEZ-MNRy1XsUlKyo3DLFp9aljY/edit" TargetMode="External"/><Relationship Id="rId12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8.jpg"/><Relationship Id="rId5" Type="http://schemas.openxmlformats.org/officeDocument/2006/relationships/hyperlink" Target="https://docs.google.com/document/d/1h2EVh3WOXpAVbN4hQr2lTZiMKzSc45Agv6bDsIFd8ew/edit" TargetMode="External"/><Relationship Id="rId6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rive.google.com/drive/folders/12puGQBVYOn3QknWMbu6dIKPbB07D37Q8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128016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12801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128016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685800"/>
            <a:ext cx="3657600" cy="1508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ro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841248"/>
            <a:ext cx="3200400" cy="11468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74320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ontserrat"/>
              </a:rPr>
              <a:t>Ce que nos Experts ont produit</a:t>
            </a:r>
          </a:p>
          <a:p>
            <a:pPr algn="l"/>
            <a:r>
              <a:rPr sz="4400" b="1">
                <a:solidFill>
                  <a:srgbClr val="E9510E"/>
                </a:solidFill>
                <a:latin typeface="Montserrat"/>
              </a:rPr>
              <a:t>pour PROLINE LOGISTICS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11 livrables  ·  2 métiers  ·  27 et 28 octobre 2026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5257800"/>
            <a:ext cx="566928" cy="566928"/>
          </a:xfrm>
          <a:prstGeom prst="ellipse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k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385816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17320" y="528523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Marketing et contenu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Fatima</a:t>
            </a:r>
          </a:p>
        </p:txBody>
      </p:sp>
      <p:sp>
        <p:nvSpPr>
          <p:cNvPr id="13" name="Oval 12"/>
          <p:cNvSpPr/>
          <p:nvPr/>
        </p:nvSpPr>
        <p:spPr>
          <a:xfrm>
            <a:off x="2971800" y="5257800"/>
            <a:ext cx="566928" cy="566928"/>
          </a:xfrm>
          <a:prstGeom prst="ellipse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p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9816" y="5385816"/>
            <a:ext cx="310896" cy="3108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657600" y="528523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Opérations et logistique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Salif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729984"/>
            <a:ext cx="4063898" cy="128016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63898" y="6729984"/>
            <a:ext cx="4063898" cy="12801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27796" y="6729984"/>
            <a:ext cx="4073042" cy="128016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o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5749" y="347472"/>
            <a:ext cx="1837306" cy="6583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1148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Montserrat"/>
              </a:rPr>
              <a:t>Sommaire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Un chapitre par métier. Chaque vignette du recueil ouvre le document.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PROLINE LOGISTICS  ·  Recueil des livrables des Experts  ·  octobre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109167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691640"/>
            <a:ext cx="82296" cy="1005840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1938528"/>
            <a:ext cx="512064" cy="512064"/>
          </a:xfrm>
          <a:prstGeom prst="ellipse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k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057400"/>
            <a:ext cx="274320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00200" y="16916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Marketing et contenu</a:t>
            </a:r>
          </a:p>
        </p:txBody>
      </p:sp>
      <p:pic>
        <p:nvPicPr>
          <p:cNvPr id="15" name="Picture 14" descr="fati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1965960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17920" y="169164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Fatima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1691640"/>
            <a:ext cx="201168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6 livrables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1691640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E9510E"/>
                </a:solidFill>
                <a:latin typeface="Open Sans"/>
              </a:rPr>
              <a:t>page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843784"/>
            <a:ext cx="1109167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843784"/>
            <a:ext cx="82296" cy="1005840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68680" y="3090672"/>
            <a:ext cx="512064" cy="512064"/>
          </a:xfrm>
          <a:prstGeom prst="ellipse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ops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3209544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600200" y="2843784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Opérations et logistique</a:t>
            </a:r>
          </a:p>
        </p:txBody>
      </p:sp>
      <p:pic>
        <p:nvPicPr>
          <p:cNvPr id="24" name="Picture 23" descr="sali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3560" y="3118104"/>
            <a:ext cx="457200" cy="457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217920" y="2843784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Salif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2843784"/>
            <a:ext cx="201168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5 livrables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2843784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E9510E"/>
                </a:solidFill>
                <a:latin typeface="Open Sans"/>
              </a:rPr>
              <a:t>page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kt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Marketing et contenu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6 livrables  ·  préparés par Fatima, Expert IA marketing et contenu</a:t>
            </a:r>
          </a:p>
        </p:txBody>
      </p:sp>
      <p:pic>
        <p:nvPicPr>
          <p:cNvPr id="11" name="Picture 10" descr="fati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rol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5514" y="662940"/>
            <a:ext cx="2169042" cy="7772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PROLINE LOGISTICS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k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Marketing et contenu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2</a:t>
            </a:r>
          </a:p>
        </p:txBody>
      </p:sp>
      <p:pic>
        <p:nvPicPr>
          <p:cNvPr id="10" name="Picture 9" descr="pro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5749" y="347472"/>
            <a:ext cx="1837306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Logo et couleurs relevés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Planche d’identité à valider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Concurrents à Abidjan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Qui fait quoi, et où se placer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Plan marketing 2027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Objectifs, actions et budget proposés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m4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Nouvelle page Entreposage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Le texte de la page du site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PROLINE LOGISTICS  ·  Recueil des livrables des Experts  ·  octobre 2026</a:t>
            </a:r>
          </a:p>
        </p:txBody>
      </p:sp>
      <p:pic>
        <p:nvPicPr>
          <p:cNvPr id="32" name="Picture 31" descr="fatim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Fatima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marketing et contenu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k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Marketing et contenu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2 sur 2</a:t>
            </a:r>
          </a:p>
        </p:txBody>
      </p:sp>
      <p:pic>
        <p:nvPicPr>
          <p:cNvPr id="10" name="Picture 9" descr="pro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5749" y="347472"/>
            <a:ext cx="1837306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5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Trois posts LinkedIn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L’entrepôt et le sérieux de la maison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6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Campagne transporteurs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Recruter des transporteurs partenaires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PROLINE LOGISTICS  ·  Recueil des livrables des Experts  ·  octobre 2026</a:t>
            </a:r>
          </a:p>
        </p:txBody>
      </p:sp>
      <p:pic>
        <p:nvPicPr>
          <p:cNvPr id="22" name="Picture 21" descr="fatim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Fatima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marketing et contenu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ps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Opérations et logistique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5 livrables  ·  préparés par Salif, Expert IA opérations et logistique</a:t>
            </a:r>
          </a:p>
        </p:txBody>
      </p:sp>
      <p:pic>
        <p:nvPicPr>
          <p:cNvPr id="11" name="Picture 10" descr="sali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rol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5514" y="662940"/>
            <a:ext cx="2169042" cy="7772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PROLINE LOGISTICS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p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Opérations et logistique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2</a:t>
            </a:r>
          </a:p>
        </p:txBody>
      </p:sp>
      <p:pic>
        <p:nvPicPr>
          <p:cNvPr id="10" name="Picture 9" descr="pro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5749" y="347472"/>
            <a:ext cx="1837306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Tournées et coût au km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Les tournées de demain, chiffrées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9510E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Parc de 20 véhicules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Conformité et consommation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9510E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o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Erreurs de préparation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30 réclamations et ce qu’on change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9510E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o4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Rapprochement des encaissements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La journée du 27 octobre, pointée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9510E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PROLINE LOGISTICS  ·  Recueil des livrables des Experts  ·  octobre 2026</a:t>
            </a:r>
          </a:p>
        </p:txBody>
      </p:sp>
      <p:pic>
        <p:nvPicPr>
          <p:cNvPr id="32" name="Picture 31" descr="sali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Salif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opérations et logistique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p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Opérations et logistique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2 sur 2</a:t>
            </a:r>
          </a:p>
        </p:txBody>
      </p:sp>
      <p:pic>
        <p:nvPicPr>
          <p:cNvPr id="10" name="Picture 9" descr="pro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5749" y="347472"/>
            <a:ext cx="1837306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5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Déplacement San-Pédro et Korhogo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Programme du 2 au 7 novembre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9510E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PROLINE LOGISTICS  ·  Recueil des livrables des Experts  ·  octobre 2026</a:t>
            </a:r>
          </a:p>
        </p:txBody>
      </p:sp>
      <p:pic>
        <p:nvPicPr>
          <p:cNvPr id="17" name="Picture 16" descr="sali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Salif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opérations et logistique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128016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12801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128016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640080"/>
            <a:ext cx="31089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ro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777240"/>
            <a:ext cx="2651760" cy="9502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33172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ontserrat"/>
              </a:rPr>
              <a:t>Et maintenant ?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3429000"/>
            <a:ext cx="640080" cy="640080"/>
          </a:xfrm>
          <a:prstGeom prst="ellipse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ontserrat"/>
              </a:rPr>
              <a:t>Vous parcourez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8404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Open Sans"/>
              </a:rPr>
              <a:t>Chaque vignette ouvre le document dans Google.</a:t>
            </a:r>
          </a:p>
        </p:txBody>
      </p:sp>
      <p:sp>
        <p:nvSpPr>
          <p:cNvPr id="13" name="Oval 12"/>
          <p:cNvSpPr/>
          <p:nvPr/>
        </p:nvSpPr>
        <p:spPr>
          <a:xfrm>
            <a:off x="4389120" y="3429000"/>
            <a:ext cx="640080" cy="640080"/>
          </a:xfrm>
          <a:prstGeom prst="ellipse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3429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ontserrat"/>
              </a:rPr>
              <a:t>Vous annotez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8404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Open Sans"/>
              </a:rPr>
              <a:t>Vos commentaires directement dans les documents.</a:t>
            </a:r>
          </a:p>
        </p:txBody>
      </p:sp>
      <p:sp>
        <p:nvSpPr>
          <p:cNvPr id="17" name="Oval 16"/>
          <p:cNvSpPr/>
          <p:nvPr/>
        </p:nvSpPr>
        <p:spPr>
          <a:xfrm>
            <a:off x="8046720" y="3429000"/>
            <a:ext cx="640080" cy="640080"/>
          </a:xfrm>
          <a:prstGeom prst="ellipse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3429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ontserrat"/>
              </a:rPr>
              <a:t>Nous ajustons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38404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Open Sans"/>
              </a:rPr>
              <a:t>Chaque Expert reprend son livrable avec vos retours.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2120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  <a:latin typeface="Open Sans"/>
              </a:rPr>
              <a:t>Les fichiers sans lien Google sont réunis dans le dossier Drive du recueil.</a:t>
            </a:r>
          </a:p>
          <a:p>
            <a:pPr algn="l"/>
            <a:r>
              <a:rPr sz="1400" b="1">
                <a:solidFill>
                  <a:srgbClr val="E9510E"/>
                </a:solidFill>
                <a:latin typeface="Open Sans"/>
                <a:hlinkClick r:id="rId3"/>
              </a:rPr>
              <a:t>Ouvrir le dossier  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29984"/>
            <a:ext cx="4063898" cy="128016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63898" y="6729984"/>
            <a:ext cx="4063898" cy="12801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27796" y="6729984"/>
            <a:ext cx="4073042" cy="128016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E9510E"/>
      </a:hlink>
      <a:folHlink>
        <a:srgbClr val="E9510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