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hyperlink" Target="https://drive.google.com/file/d/1aARZYlYxsVnz9iH8WAdHj7iVM_kLxFHO/view" TargetMode="External"/><Relationship Id="rId6" Type="http://schemas.openxmlformats.org/officeDocument/2006/relationships/image" Target="../media/image7.jpg"/><Relationship Id="rId7" Type="http://schemas.openxmlformats.org/officeDocument/2006/relationships/hyperlink" Target="https://docs.google.com/presentation/d/1caaCPbRg_AW8r75otNONy2vskejANo1Tmrab6Gm1Qfg/edit" TargetMode="External"/><Relationship Id="rId8" Type="http://schemas.openxmlformats.org/officeDocument/2006/relationships/image" Target="../media/image8.jpg"/><Relationship Id="rId9" Type="http://schemas.openxmlformats.org/officeDocument/2006/relationships/hyperlink" Target="https://docs.google.com/document/d/1Wjkgvqp701vj0zl6u0k9RnQCG2-vz3GfxaMjUStSIuY/edit" TargetMode="External"/><Relationship Id="rId10" Type="http://schemas.openxmlformats.org/officeDocument/2006/relationships/image" Target="../media/image9.jpg"/><Relationship Id="rId11" Type="http://schemas.openxmlformats.org/officeDocument/2006/relationships/hyperlink" Target="https://docs.google.com/document/d/1ebudIJr_IU3Y3y9JEipEhxeoLYirDzZt89hohfgJVGk/edit" TargetMode="External"/><Relationship Id="rId1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hyperlink" Target="https://docs.google.com/document/d/1JdeSNp0vkhxC58VsRBkWLh4BW82UeI5-36y6L4UpBr0/edit" TargetMode="External"/><Relationship Id="rId6" Type="http://schemas.openxmlformats.org/officeDocument/2006/relationships/image" Target="../media/image11.jpg"/><Relationship Id="rId7" Type="http://schemas.openxmlformats.org/officeDocument/2006/relationships/hyperlink" Target="https://docs.google.com/document/d/1nTUut_mIIocGXHLNiGEQfKSpsedaPoOry727-5RvMfI/edit" TargetMode="External"/><Relationship Id="rId8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hyperlink" Target="https://docs.google.com/spreadsheets/d/1g1sOMkmfDHbjMAp2Q0NOLFfcwU2g4lyx4FJJKzFhIL8/edit" TargetMode="External"/><Relationship Id="rId6" Type="http://schemas.openxmlformats.org/officeDocument/2006/relationships/image" Target="../media/image15.jpg"/><Relationship Id="rId7" Type="http://schemas.openxmlformats.org/officeDocument/2006/relationships/hyperlink" Target="https://docs.google.com/spreadsheets/d/19pBhkYQHRdx8EDIOJEgd-AV6iWoRhKghc7D5xMBKvFk/edit" TargetMode="External"/><Relationship Id="rId8" Type="http://schemas.openxmlformats.org/officeDocument/2006/relationships/image" Target="../media/image16.jpg"/><Relationship Id="rId9" Type="http://schemas.openxmlformats.org/officeDocument/2006/relationships/hyperlink" Target="https://docs.google.com/spreadsheets/d/1UnKrOQAfX4vpdlSzutqjQfekPnKoHavXsG7zPkdsYj8/edit" TargetMode="External"/><Relationship Id="rId10" Type="http://schemas.openxmlformats.org/officeDocument/2006/relationships/image" Target="../media/image17.jpg"/><Relationship Id="rId11" Type="http://schemas.openxmlformats.org/officeDocument/2006/relationships/hyperlink" Target="https://docs.google.com/spreadsheets/d/1nFLzhwwucPdffs4kosEZ-MNRy1XsUlKyo3DLFp9aljY/edit" TargetMode="External"/><Relationship Id="rId1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8.jpg"/><Relationship Id="rId5" Type="http://schemas.openxmlformats.org/officeDocument/2006/relationships/hyperlink" Target="https://docs.google.com/document/d/1h2EVh3WOXpAVbN4hQr2lTZiMKzSc45Agv6bDsIFd8ew/edit" TargetMode="External"/><Relationship Id="rId6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drive.google.com/drive/folders/12puGQBVYOn3QknWMbu6dIKPbB07D37Q8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85800"/>
            <a:ext cx="365760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841248"/>
            <a:ext cx="3200400" cy="11468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ontserrat"/>
              </a:rPr>
              <a:t>Ce que nos Experts ont produit</a:t>
            </a:r>
          </a:p>
          <a:p>
            <a:pPr algn="l"/>
            <a:r>
              <a:rPr sz="4400" b="1">
                <a:solidFill>
                  <a:srgbClr val="E9510E"/>
                </a:solidFill>
                <a:latin typeface="Montserrat"/>
              </a:rPr>
              <a:t>pour PROLINE 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11 livrables  ·  2 métiers  ·  27 et 28 octobre 2026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257800"/>
            <a:ext cx="566928" cy="566928"/>
          </a:xfrm>
          <a:prstGeom prst="ellipse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38581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1732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Marketing et contenu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Fatima</a:t>
            </a:r>
          </a:p>
        </p:txBody>
      </p:sp>
      <p:sp>
        <p:nvSpPr>
          <p:cNvPr id="13" name="Oval 12"/>
          <p:cNvSpPr/>
          <p:nvPr/>
        </p:nvSpPr>
        <p:spPr>
          <a:xfrm>
            <a:off x="2971800" y="5257800"/>
            <a:ext cx="566928" cy="566928"/>
          </a:xfrm>
          <a:prstGeom prst="ellips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p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5385816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0" y="52852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Open Sans"/>
              </a:rPr>
              <a:t>Opérations et logistique</a:t>
            </a:r>
          </a:p>
          <a:p>
            <a:pPr algn="l"/>
            <a:r>
              <a:rPr sz="1100" b="0">
                <a:solidFill>
                  <a:srgbClr val="BBBBBB"/>
                </a:solidFill>
                <a:latin typeface="Open Sans"/>
              </a:rPr>
              <a:t>Salif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Montserrat"/>
              </a:rPr>
              <a:t>Sommaire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Un chapitre par métier. Chaque vignette du recueil ouvre le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10916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82296" cy="1005840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1938528"/>
            <a:ext cx="512064" cy="512064"/>
          </a:xfrm>
          <a:prstGeom prst="ellipse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k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57400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200" y="169164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pic>
        <p:nvPicPr>
          <p:cNvPr id="15" name="Picture 14" descr="fati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96596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169164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Fatima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69164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6 livrables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691640"/>
            <a:ext cx="1463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9510E"/>
                </a:solidFill>
                <a:latin typeface="Open Sans"/>
              </a:rPr>
              <a:t>page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43784"/>
            <a:ext cx="11091672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43784"/>
            <a:ext cx="82296" cy="1005840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090672"/>
            <a:ext cx="512064" cy="512064"/>
          </a:xfrm>
          <a:prstGeom prst="ellips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p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209544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00200" y="2843784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Montserrat"/>
              </a:rPr>
              <a:t>Opérations et logistique</a:t>
            </a:r>
          </a:p>
        </p:txBody>
      </p:sp>
      <p:pic>
        <p:nvPicPr>
          <p:cNvPr id="24" name="Picture 23" descr="sali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118104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17920" y="2843784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Open Sans"/>
              </a:rPr>
              <a:t>Salif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843784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Open Sans"/>
              </a:rPr>
              <a:t>5 livrables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843784"/>
            <a:ext cx="1463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E9510E"/>
                </a:solidFill>
                <a:latin typeface="Open Sans"/>
              </a:rPr>
              <a:t>page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Marketing et 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6 livrables  ·  préparés par Fatima, Expert IA marketing et contenu</a:t>
            </a:r>
          </a:p>
        </p:txBody>
      </p:sp>
      <p:pic>
        <p:nvPicPr>
          <p:cNvPr id="11" name="Picture 10" descr="fat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514" y="662940"/>
            <a:ext cx="2169042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2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Logo et couleurs relevés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Planche d’identité à valider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Concurrents à Abidjan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Qui fait quoi, et où se placer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Plan marketing 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Objectifs, actions et budget proposés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Nouvelle page Entreposage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 texte de la page du 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32" name="Picture 31" descr="fatim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Fatima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marketing et contenu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k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Marketing et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2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Trois posts LinkedIn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L’entrepôt et le sérieux de la maison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6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Campagne transporteurs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Recruter des transporteurs partenaires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22" name="Picture 21" descr="fatim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Fatima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marketing et contenu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1A1A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676656" cy="676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ontserrat"/>
              </a:rPr>
              <a:t>Opérations et logistique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Open Sans"/>
              </a:rPr>
              <a:t>5 livrables  ·  préparés par Salif, Expert IA opérations et logistique</a:t>
            </a:r>
          </a:p>
        </p:txBody>
      </p:sp>
      <p:pic>
        <p:nvPicPr>
          <p:cNvPr id="11" name="Picture 10" descr="sal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055" y="3017520"/>
            <a:ext cx="2011680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37015" y="4572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514" y="662940"/>
            <a:ext cx="2169042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logistique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1 sur 2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1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Tournées et coût au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Les tournées de demain, chiffrées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8578" y="1371600"/>
            <a:ext cx="2514600" cy="54864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2.jp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578" y="1426464"/>
            <a:ext cx="2514600" cy="3017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8578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Parc de 20 véhicules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8578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Conformité et consommation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8578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7"/>
              </a:rPr>
              <a:t>Ouvrir le document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8516" y="1371600"/>
            <a:ext cx="2514600" cy="54864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3.jp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516" y="1426464"/>
            <a:ext cx="251460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8516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Erreurs de préparation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8516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30 réclamations et ce qu’on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8516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9"/>
              </a:rPr>
              <a:t>Ouvrir le document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8455" y="1371600"/>
            <a:ext cx="2514600" cy="54864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4.jpg">
            <a:hlinkClick r:id="rId11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8455" y="1426464"/>
            <a:ext cx="2514600" cy="3017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28455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Rapprochement des encaissements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8455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La journée du 27 octobre, pointée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8455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11"/>
              </a:rPr>
              <a:t>Ouvrir le document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32" name="Picture 31" descr="sali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logistique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8229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8229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8229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384048"/>
            <a:ext cx="548640" cy="548640"/>
          </a:xfrm>
          <a:prstGeom prst="ellips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5029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1872" y="347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Montserrat"/>
              </a:rPr>
              <a:t>Opérations et logistique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82296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Open Sans"/>
              </a:rPr>
              <a:t>2 sur 2</a:t>
            </a:r>
          </a:p>
        </p:txBody>
      </p:sp>
      <p:pic>
        <p:nvPicPr>
          <p:cNvPr id="10" name="Picture 9" descr="pr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49" y="347472"/>
            <a:ext cx="1837306" cy="65836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1371600"/>
            <a:ext cx="2514600" cy="54864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5.jp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6464"/>
            <a:ext cx="2514600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57200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ontserrat"/>
              </a:rPr>
              <a:t>Déplacement San-Pédro et Korhogo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389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Open Sans"/>
              </a:rPr>
              <a:t>Programme du 2 au 7 novembre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79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510E"/>
                </a:solidFill>
                <a:latin typeface="Open Sans"/>
                <a:hlinkClick r:id="rId5"/>
              </a:rPr>
              <a:t>Ouvrir le document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PROLINE LOGISTICS  ·  Recueil des livrables des Experts  ·  octobre 2026</a:t>
            </a:r>
          </a:p>
        </p:txBody>
      </p:sp>
      <p:pic>
        <p:nvPicPr>
          <p:cNvPr id="17" name="Picture 16" descr="sali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630936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69480" y="63367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Open Sans"/>
              </a:rPr>
              <a:t>Réalisé par Salif</a:t>
            </a:r>
          </a:p>
          <a:p>
            <a:pPr algn="l"/>
            <a:r>
              <a:rPr sz="1000" b="0">
                <a:solidFill>
                  <a:srgbClr val="6B6B6B"/>
                </a:solidFill>
                <a:latin typeface="Open Sans"/>
              </a:rPr>
              <a:t>Expert IA, opérations et logistique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Open Sans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2801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2801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73042" cy="12801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31089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77240"/>
            <a:ext cx="2651760" cy="9502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331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ontserrat"/>
              </a:rPr>
              <a:t>Et maintenant ?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29000"/>
            <a:ext cx="640080" cy="640080"/>
          </a:xfrm>
          <a:prstGeom prst="ellipse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parcourez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vignette ouvre le document dans Google.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3429000"/>
            <a:ext cx="640080" cy="640080"/>
          </a:xfrm>
          <a:prstGeom prst="ellipse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Vous annotez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Vos commentaires directement dans les documents.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0" y="3429000"/>
            <a:ext cx="640080" cy="640080"/>
          </a:xfrm>
          <a:prstGeom prst="ellipse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429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Nous ajustons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8404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Open Sans"/>
              </a:rPr>
              <a:t>Chaque Expert reprend son livrable avec vos retours.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Open Sans"/>
              </a:rPr>
              <a:t>Le recueil et les fichiers qui n’avaient pas encore de lien sont rangés dans son dossier Drive.</a:t>
            </a:r>
          </a:p>
          <a:p>
            <a:pPr algn="l"/>
            <a:r>
              <a:rPr sz="1400" b="1">
                <a:solidFill>
                  <a:srgbClr val="E9510E"/>
                </a:solidFill>
                <a:latin typeface="Open Sans"/>
                <a:hlinkClick r:id="rId3"/>
              </a:rPr>
              <a:t>Ouvrir le dossier  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9984"/>
            <a:ext cx="4063898" cy="128016"/>
          </a:xfrm>
          <a:prstGeom prst="rect">
            <a:avLst/>
          </a:prstGeom>
          <a:solidFill>
            <a:srgbClr val="E95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3898" y="6729984"/>
            <a:ext cx="4063898" cy="12801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6729984"/>
            <a:ext cx="4073042" cy="128016"/>
          </a:xfrm>
          <a:prstGeom prst="rect">
            <a:avLst/>
          </a:prstGeom>
          <a:solidFill>
            <a:srgbClr val="F3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Open Sans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9510E"/>
      </a:hlink>
      <a:folHlink>
        <a:srgbClr val="E9510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