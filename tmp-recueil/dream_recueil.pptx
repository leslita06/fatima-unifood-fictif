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hyperlink" Target="https://docs.google.com/presentation/d/1soMv70nQAm8h5z0qmDqKxh-FkxTtTjsjX-YAYoayXvg/edit" TargetMode="External"/><Relationship Id="rId6" Type="http://schemas.openxmlformats.org/officeDocument/2006/relationships/image" Target="../media/image8.jpg"/><Relationship Id="rId7" Type="http://schemas.openxmlformats.org/officeDocument/2006/relationships/hyperlink" Target="https://docs.google.com/spreadsheets/d/1a0g8rlsK9MNqGHo2d2N041CWIxKojrar4C2eXxPW_C8/edit" TargetMode="External"/><Relationship Id="rId8" Type="http://schemas.openxmlformats.org/officeDocument/2006/relationships/image" Target="../media/image9.jpg"/><Relationship Id="rId9" Type="http://schemas.openxmlformats.org/officeDocument/2006/relationships/hyperlink" Target="https://docs.google.com/spreadsheets/d/1i5m2U7R78nE0lm4k65s-igeEwgRbrMekL3igxefhb74/edit" TargetMode="External"/><Relationship Id="rId10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hyperlink" Target="https://drive.google.com/drive/folders/1zHpB0NJHozikddQsUJYa2EY4W9OQQvKU" TargetMode="External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hyperlink" Target="https://docs.google.com/presentation/d/1BVUBAoTy5xGWNENcWaYXixLhw80FlsPOAWLSqvmKqbY/edit" TargetMode="External"/><Relationship Id="rId6" Type="http://schemas.openxmlformats.org/officeDocument/2006/relationships/image" Target="../media/image16.jpg"/><Relationship Id="rId7" Type="http://schemas.openxmlformats.org/officeDocument/2006/relationships/hyperlink" Target="https://docs.google.com/spreadsheets/d/1ZedCXfQ0rJSS3l6f6VVgRR4wNoh2HbVYBxHcOC8og6E/edit" TargetMode="External"/><Relationship Id="rId8" Type="http://schemas.openxmlformats.org/officeDocument/2006/relationships/image" Target="../media/image17.jpg"/><Relationship Id="rId9" Type="http://schemas.openxmlformats.org/officeDocument/2006/relationships/hyperlink" Target="https://docs.google.com/document/d/1sbUKfBOQFYksBzaDI4xKPK5Ok44tVsCIFmNUX1cVPZs/edit" TargetMode="External"/><Relationship Id="rId10" Type="http://schemas.openxmlformats.org/officeDocument/2006/relationships/image" Target="../media/image18.jpg"/><Relationship Id="rId11" Type="http://schemas.openxmlformats.org/officeDocument/2006/relationships/hyperlink" Target="https://docs.google.com/document/d/1CVQSQJihn_4kzT-zsg6I_zkoCQhdiuNoJm7Gwo4poEc/edit" TargetMode="External"/><Relationship Id="rId1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9.jpg"/><Relationship Id="rId5" Type="http://schemas.openxmlformats.org/officeDocument/2006/relationships/hyperlink" Target="https://docs.google.com/document/d/1QUuar4PADmQfloRMp8EZg6tToia07OQWucllsS-aAyw/edit" TargetMode="External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rive.google.com/drive/folders/1TetDHgatYTFetAedUfHKIPf33l00O5a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3657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841248"/>
            <a:ext cx="3200400" cy="9955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Ce que nos Experts ont produit</a:t>
            </a:r>
          </a:p>
          <a:p>
            <a:pPr algn="l"/>
            <a:r>
              <a:rPr sz="4400" b="1">
                <a:solidFill>
                  <a:srgbClr val="FF8087"/>
                </a:solidFill>
                <a:latin typeface="Montserrat"/>
              </a:rPr>
              <a:t>pour DREAM COSMETICS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9 livrables  ·  3 métiers  ·  19 au 28 octobre 2026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257800"/>
            <a:ext cx="566928" cy="566928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38581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Marketing et contenu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Fatima</a:t>
            </a:r>
          </a:p>
        </p:txBody>
      </p:sp>
      <p:sp>
        <p:nvSpPr>
          <p:cNvPr id="13" name="Oval 12"/>
          <p:cNvSpPr/>
          <p:nvPr/>
        </p:nvSpPr>
        <p:spPr>
          <a:xfrm>
            <a:off x="2971800" y="5257800"/>
            <a:ext cx="566928" cy="566928"/>
          </a:xfrm>
          <a:prstGeom prst="ellipse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538581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Design de marque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5257800"/>
            <a:ext cx="566928" cy="566928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p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538581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9788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Opérations et usine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Salif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Un chapitre par métier. Chaque vignette du recueil ouvre le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916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82296" cy="100584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5740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16916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pic>
        <p:nvPicPr>
          <p:cNvPr id="15" name="Picture 14" descr="fat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96596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16916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916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43784"/>
            <a:ext cx="110916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43784"/>
            <a:ext cx="82296" cy="1005840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090672"/>
            <a:ext cx="512064" cy="512064"/>
          </a:xfrm>
          <a:prstGeom prst="ellipse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209544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2843784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pic>
        <p:nvPicPr>
          <p:cNvPr id="24" name="Picture 23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118104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2843784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843784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1 livrable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843784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95928"/>
            <a:ext cx="110916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95928"/>
            <a:ext cx="82296" cy="100584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4242816"/>
            <a:ext cx="512064" cy="512064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op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4361688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00200" y="3995928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Opérations et usine</a:t>
            </a:r>
          </a:p>
        </p:txBody>
      </p:sp>
      <p:pic>
        <p:nvPicPr>
          <p:cNvPr id="33" name="Picture 32" descr="sali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3560" y="4270248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17920" y="3995928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Salif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995928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5 livrables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995928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Marketing et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Fatima, Expert IA marketing et contenu</a:t>
            </a:r>
          </a:p>
        </p:txBody>
      </p:sp>
      <p:pic>
        <p:nvPicPr>
          <p:cNvPr id="11" name="Picture 10" descr="fat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Audit Facebook et 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disent les comptes,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Données de l’audit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chiffres relevés, publication par publication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média de la nouvelle crème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Lancement en Côte d’Ivoire et au Sénégal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27" name="Picture 26" descr="fatim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Design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 livrable  ·  préparé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Charte de gamme Dermaskin Sensi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gamme peaux sensibles, en 8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17" name="Picture 16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Opérations et usine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5 livrables  ·  préparés par Salif, Expert IA opérations et usine</a:t>
            </a:r>
          </a:p>
        </p:txBody>
      </p:sp>
      <p:pic>
        <p:nvPicPr>
          <p:cNvPr id="11" name="Picture 10" descr="sal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usine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Chaîne de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De la matière première au client, en onze étapes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Stocks et ruptures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Matières, emballages et produits finis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Traçabilité et contrôle qualité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Fiche de suivi de lot et procédure de rappel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Indicateurs des opérations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Cinq indicateurs pour piloter l’usine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usine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usine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Liste de contrôle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Un conteneur vers les États-Unis ou la sous-région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17" name="Picture 16" descr="sali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usine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3108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2651760" cy="8248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Et maintenant 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parcourez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vignette ouvre le document dans Google.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3429000"/>
            <a:ext cx="640080" cy="64008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annotez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Vos commentaires directement dans les documents.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3429000"/>
            <a:ext cx="640080" cy="64008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Nous ajustons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Expert reprend son livrable avec vos retours.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en Sans"/>
              </a:rPr>
              <a:t>Le recueil et les fichiers qui n’avaient pas encore de lien sont rangés dans son dossier Drive.</a:t>
            </a:r>
          </a:p>
          <a:p>
            <a:pPr algn="l"/>
            <a:r>
              <a:rPr sz="1400" b="1">
                <a:solidFill>
                  <a:srgbClr val="FF8087"/>
                </a:solidFill>
                <a:latin typeface="Open Sans"/>
                <a:hlinkClick r:id="rId3"/>
              </a:rPr>
              <a:t>Ouvrir le dossier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172A"/>
      </a:hlink>
      <a:folHlink>
        <a:srgbClr val="AE172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