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0000" cy="6858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0000" y="0"/>
            <a:ext cx="90000" cy="6858000"/>
          </a:xfrm>
          <a:prstGeom prst="rect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" y="900000"/>
            <a:ext cx="2893333" cy="9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0000" y="2300000"/>
            <a:ext cx="10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3200" b="1">
                <a:solidFill>
                  <a:srgbClr val="2B2A2E"/>
                </a:solidFill>
                <a:latin typeface="Montserrat"/>
              </a:rPr>
              <a:t>Audit de nos pages Facebook et Instagram,</a:t>
            </a:r>
          </a:p>
          <a:p>
            <a:pPr>
              <a:spcAft>
                <a:spcPts val="500"/>
              </a:spcAft>
            </a:pPr>
            <a:r>
              <a:rPr sz="3200" b="1">
                <a:solidFill>
                  <a:srgbClr val="2B2A2E"/>
                </a:solidFill>
                <a:latin typeface="Montserrat"/>
              </a:rPr>
              <a:t>comparées à Gandour, SIVOP et Kaera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3900000"/>
            <a:ext cx="100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77737A"/>
                </a:solidFill>
                <a:latin typeface="Montserrat"/>
              </a:rPr>
              <a:t>Relevé du 19 octobre 2026 sur les publications publiques des quatre marques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77737A"/>
                </a:solidFill>
                <a:latin typeface="Montserrat"/>
              </a:rPr>
              <a:t>30 derniers posts Instagram et 25 derniers posts Facebook par marque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77737A"/>
                </a:solidFill>
                <a:latin typeface="Montserrat"/>
              </a:rPr>
              <a:t>Préparé pour la direction de la marque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L'essentiel en une page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500000"/>
            <a:ext cx="5350000" cy="225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90000" cy="225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62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Ce qui va bien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000" y="2060000"/>
            <a:ext cx="50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Sur Instagram, nous engageons le mieux : 0,26 % de nos abonnés aiment un post médian, contre 0,10 % chez SIVOP et 0,02 % chez Gandour.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Nos carrousels marchent trois fois mieux que nos images seules.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500000"/>
            <a:ext cx="5350000" cy="225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0000" y="1500000"/>
            <a:ext cx="90000" cy="2250000"/>
          </a:xfrm>
          <a:prstGeom prst="rect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162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8087"/>
                </a:solidFill>
                <a:latin typeface="Montserrat"/>
              </a:rPr>
              <a:t>Ce qui coince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2060000"/>
            <a:ext cx="50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Sur Facebook, nos 211 425 abonnés ne voient presque rien : réaction médiane 28 par post, contre 1 319 chez Gandour.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Nous sommes la seule des quatre marques sans publicité active en ce moment.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000" y="3950000"/>
            <a:ext cx="11000000" cy="215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0000" y="3950000"/>
            <a:ext cx="90000" cy="215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4070000"/>
            <a:ext cx="106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Ce que nous proposons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000" y="4510000"/>
            <a:ext cx="1065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1. Relancer une petite diffusion payante sur les deux formats qui ont prouvé leur force (déodorant Day by Day Women, crème PawPaw), avec un budget test.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2. Passer au carrousel et à la vidéo courte avec des créatrices ivoiriennes.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3. Écrire en français d'abord, et caler nos posts sur les temps forts locaux.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INSTAGRAM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Instagram : le plus petit compte, mais le plus engageant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3</a:t>
            </a:r>
          </a:p>
        </p:txBody>
      </p:sp>
      <p:pic>
        <p:nvPicPr>
          <p:cNvPr id="7" name="Picture 6" descr="c_ig_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450000"/>
            <a:ext cx="5500000" cy="3093750"/>
          </a:xfrm>
          <a:prstGeom prst="rect">
            <a:avLst/>
          </a:prstGeom>
        </p:spPr>
      </p:pic>
      <p:pic>
        <p:nvPicPr>
          <p:cNvPr id="8" name="Picture 7" descr="c_ig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000" y="1450000"/>
            <a:ext cx="5500000" cy="3093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" y="4700000"/>
            <a:ext cx="11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B2A2E"/>
                </a:solidFill>
                <a:latin typeface="Montserrat"/>
              </a:rPr>
              <a:t>Lecture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Gandour a 90 414 abonnés et un compte certifié, mais un post médian n'y recueille que 18 mentions J'aime. Nous en recueillons 42 avec cinq fois moins d'abonnés.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Notre rythme : 2,80 posts par semaine, contre 5,25 chez SIVOP, le plus régulier.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FACEBOOK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Facebook : une grande audience qui ne réagit plus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4</a:t>
            </a:r>
          </a:p>
        </p:txBody>
      </p:sp>
      <p:pic>
        <p:nvPicPr>
          <p:cNvPr id="7" name="Picture 6" descr="c_fb_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450000"/>
            <a:ext cx="5500000" cy="3093750"/>
          </a:xfrm>
          <a:prstGeom prst="rect">
            <a:avLst/>
          </a:prstGeom>
        </p:spPr>
      </p:pic>
      <p:pic>
        <p:nvPicPr>
          <p:cNvPr id="8" name="Picture 7" descr="c_fb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000" y="1450000"/>
            <a:ext cx="5500000" cy="3093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" y="4700000"/>
            <a:ext cx="11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B2A2E"/>
                </a:solidFill>
                <a:latin typeface="Montserrat"/>
              </a:rPr>
              <a:t>Lecture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Gandour, SIVOP et Kaera diffusent de la publicité en ce moment, d'après la bibliothèque publicitaire de Meta. Pas nous.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Gandour tire 1 319 réactions par post médian. Kaera, avec des vidéos, en tire 110. Nous, 28, un peu mieux que SIVOP (19).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CE QUI MARCHE CHEZ NOUS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Chez nous : trois posts ont fait le travail de vingt-cinq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5</a:t>
            </a:r>
          </a:p>
        </p:txBody>
      </p:sp>
      <p:pic>
        <p:nvPicPr>
          <p:cNvPr id="7" name="Picture 6" descr="c_dream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450000"/>
            <a:ext cx="6000000" cy="31875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00000" y="1450000"/>
            <a:ext cx="4800000" cy="45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000" y="1450000"/>
            <a:ext cx="90000" cy="450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30000" y="1570000"/>
            <a:ext cx="44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Les trois posts au-dessus de 9 000 réactions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0000" y="2010000"/>
            <a:ext cx="4450000" cy="3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Déodorant roll-on Day by Day Women (2 sept.) : 10 000 réactions et plus sur Facebook, 11 750 sur Instagram.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Crème PawPaw, « texture incroyable » (10 août) : 10 000 et plus sur Facebook, 6 812 sur Instagram.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Quiz « quelle team êtes-vous ? » (28 sept.) : 9 493 sur Facebook.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Un tel écart avec la médiane (28) signale en général une diffusion payante. Depuis, nos huit derniers posts Facebook tournent entre 1 et 24 réactions.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CONCURRENTS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Ce que font les concurrents, et ce qu'on peut leur reprendre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500000"/>
            <a:ext cx="3500000" cy="45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90000" cy="450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620000"/>
            <a:ext cx="31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Gandour (NPG)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000" y="2060000"/>
            <a:ext cx="3150000" cy="3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976 361 abonnés Facebook, publicité active.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S'appuie sur le football (Éléphants, Mondial 2026) et sur des marques ombrelles (Bébé Switz, Era, Feel).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À reprendre : l'actualité sportive comme rendez-vous.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0000" y="1500000"/>
            <a:ext cx="3500000" cy="45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0000" y="1500000"/>
            <a:ext cx="90000" cy="4500000"/>
          </a:xfrm>
          <a:prstGeom prst="rect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0000" y="1620000"/>
            <a:ext cx="31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8087"/>
                </a:solidFill>
                <a:latin typeface="Montserrat"/>
              </a:rPr>
              <a:t>SIVOP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000" y="2060000"/>
            <a:ext cx="3150000" cy="3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Le plus régulier : 5,25 posts par semaine sur Instagram, publiés vers 20 h.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Présent sur les temps forts : rentrée, Octobre rose, Wellness Days Abidjan.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À reprendre : le calendrier des temps forts locaux.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00" y="1500000"/>
            <a:ext cx="3500000" cy="45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0" y="1500000"/>
            <a:ext cx="90000" cy="450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0000" y="1620000"/>
            <a:ext cx="31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Kaera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0000" y="2060000"/>
            <a:ext cx="3150000" cy="3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Presque tout en vidéo (25 posts sur 26 sur Instagram), avec des créateurs comme BK Saliou.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Sa vidéo Ebony dépasse 1,1 million de vues sur Facebook.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À reprendre : la vidéo de démonstration incarnée.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Cinq décisions pour les 30 prochains jours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450000"/>
            <a:ext cx="110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B2A2E"/>
                </a:solidFill>
                <a:latin typeface="Montserrat"/>
              </a:rPr>
              <a:t>1. Un test de diffusion payante. Relancer les deux contenus champions sur deux semaines, budget à fixer par la direction, mesuré en coût par réaction et par message reçu.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B2A2E"/>
                </a:solidFill>
                <a:latin typeface="Montserrat"/>
              </a:rPr>
              <a:t>2. Plus de carrousels. Ils font 104 mentions J'aime médianes contre 33 pour une image seule : viser 4 posts sur 10 en carrousel.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B2A2E"/>
                </a:solidFill>
                <a:latin typeface="Montserrat"/>
              </a:rPr>
              <a:t>3. De la vidéo courte incarnée. Deux vidéos par mois avec une créatrice ivoirienne, en démonstration produit (texture, avant et après, routine du matin).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B2A2E"/>
                </a:solidFill>
                <a:latin typeface="Montserrat"/>
              </a:rPr>
              <a:t>4. Le français d'abord. 27 de nos 30 légendes Instagram sont bilingues français et anglais : le texte est deux fois plus long et l'accroche se perd. Garder l'anglais pour un compte export ou en commentaire.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B2A2E"/>
                </a:solidFill>
                <a:latin typeface="Montserrat"/>
              </a:rPr>
              <a:t>5. Un calendrier des temps forts. Rentrée, Octobre rose, fêtes, Saint-Valentin, matchs des Éléphants ; tester une publication en soirée (19 h à 20 h) contre notre créneau actuel de 15 h à 16 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MESURE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Comment on saura si ça marche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500000"/>
            <a:ext cx="5400000" cy="20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90000" cy="200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620000"/>
            <a:ext cx="50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Facebook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000" y="2060000"/>
            <a:ext cx="5050000" cy="1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Réactions médianes par post : de 28 à 150 en 30 jours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500000"/>
            <a:ext cx="5400000" cy="20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0000" y="1500000"/>
            <a:ext cx="90000" cy="2000000"/>
          </a:xfrm>
          <a:prstGeom prst="rect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000" y="1620000"/>
            <a:ext cx="50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8087"/>
                </a:solidFill>
                <a:latin typeface="Montserrat"/>
              </a:rPr>
              <a:t>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000" y="2060000"/>
            <a:ext cx="5050000" cy="1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Taux d'engagement médian : garder au moins 0,26 % des abonnés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000" y="3700000"/>
            <a:ext cx="5400000" cy="20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0000" y="3700000"/>
            <a:ext cx="90000" cy="200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820000"/>
            <a:ext cx="50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000" y="4260000"/>
            <a:ext cx="5050000" cy="1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Nombre de messages privés reçus par semaine : point de départ à relever dans Meta Business Suite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0" y="3700000"/>
            <a:ext cx="5400000" cy="20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0000" y="3700000"/>
            <a:ext cx="90000" cy="2000000"/>
          </a:xfrm>
          <a:prstGeom prst="rect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0000" y="3820000"/>
            <a:ext cx="50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8087"/>
                </a:solidFill>
                <a:latin typeface="Montserrat"/>
              </a:rPr>
              <a:t>Publicité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0000" y="4260000"/>
            <a:ext cx="5050000" cy="1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Coût par réaction et par message : fixé après la première semaine du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À SAVOIR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Méthode et limites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450000"/>
            <a:ext cx="110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2B2A2E"/>
                </a:solidFill>
                <a:latin typeface="Montserrat"/>
              </a:rPr>
              <a:t>Comptes analysés (liens publiés sur les sites officiels) : Instagram @dreamcosmetics_beauty, @gandourci, @sivop.ci, @kaera_cosmetics ; Facebook dreamcosmetics.net, Gandourci, sivop, kaeracosmetic.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B2A2E"/>
                </a:solidFill>
                <a:latin typeface="Montserrat"/>
              </a:rPr>
              <a:t>Échantillon : les 30 derniers posts Instagram par marque (26 pour Kaera) et les 25 derniers posts Facebook, relevés le 19 octobre 2026. Les périodes couvertes ne sont pas identiques : de 5 semaines (SIVOP) à 7 mois (Kaera sur Facebook).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B2A2E"/>
                </a:solidFill>
                <a:latin typeface="Montserrat"/>
              </a:rPr>
              <a:t>Calculs : médianes, jamais de moyennes, car un seul post sponsorisé fausse une moyenne. Taux = réactions médianes divisées par le nombre d'abonnés.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B2A2E"/>
                </a:solidFill>
                <a:latin typeface="Montserrat"/>
              </a:rPr>
              <a:t>Limites : données publiques seulement. Les portées, les clics, les messages reçus et les budgets publicitaires ne sont visibles que dans Meta Business Suite. Facebook arrondit l'affichage au-delà de 10 000 réactions.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B2A2E"/>
                </a:solidFill>
                <a:latin typeface="Montserrat"/>
              </a:rPr>
              <a:t>Pour aller plus loin : un accès en lecture à Meta Business Suite permet de mesurer la portée réelle et de séparer les résultats organiques des résultats payants.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