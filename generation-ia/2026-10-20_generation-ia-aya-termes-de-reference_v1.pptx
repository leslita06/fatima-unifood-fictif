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75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c_classeIT.jpg_5892000_6858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000" y="0"/>
            <a:ext cx="58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300000" y="0"/>
            <a:ext cx="90000" cy="6858000"/>
          </a:xfrm>
          <a:prstGeom prst="rect">
            <a:avLst/>
          </a:prstGeom>
          <a:solidFill>
            <a:srgbClr val="00A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mstudio_blanc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00" y="550000"/>
            <a:ext cx="1500000" cy="3925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0000" y="1500000"/>
            <a:ext cx="5500000" cy="4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00AED4"/>
                </a:solidFill>
                <a:latin typeface="Space Grotesk"/>
              </a:rPr>
              <a:t>TERMES DE RÉFÉRENCE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1950000"/>
            <a:ext cx="5500000" cy="11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4800" b="1">
                <a:solidFill>
                  <a:srgbClr val="FFFFFF"/>
                </a:solidFill>
                <a:latin typeface="Funnel Display"/>
              </a:rPr>
              <a:t>Génération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2950000"/>
            <a:ext cx="5500000" cy="1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Work Sans"/>
              </a:rPr>
              <a:t>Programme national de formation et d’insertion professionnelle de 100 000 jeunes Ivoiriens, porté par l’agent d’intelligence artificielle AYA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4700000"/>
            <a:ext cx="5400000" cy="12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C9CCDA"/>
                </a:solidFill>
                <a:latin typeface="Work Sans"/>
              </a:rPr>
              <a:t>Durée proposée : 3 ans, de janvier 2027 à décembre 2029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C9CCDA"/>
                </a:solidFill>
                <a:latin typeface="Work Sans"/>
              </a:rPr>
              <a:t>Version 1 du 20 octobre 2026, document de travail à valider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9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GÉNÉRATION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9800000" cy="7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Sommaire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2000" y="330000"/>
            <a:ext cx="1100000" cy="3614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0000" y="6338000"/>
            <a:ext cx="10992000" cy="9000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6408000"/>
            <a:ext cx="11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Génération IA · Termes de référence du programme national porté par AYA IA  |  Octobre 2026  | 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0000" y="1500000"/>
            <a:ext cx="700000" cy="560000"/>
          </a:xfrm>
          <a:prstGeom prst="roundRect">
            <a:avLst>
              <a:gd name="adj" fmla="val 6000"/>
            </a:avLst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0000" y="1580000"/>
            <a:ext cx="700000" cy="4200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Funnel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0000" y="1610000"/>
            <a:ext cx="7000000" cy="42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232754"/>
                </a:solidFill>
                <a:latin typeface="Work Sans"/>
              </a:rPr>
              <a:t>Contexte et justification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00000" y="1630000"/>
            <a:ext cx="1500000" cy="42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0">
                <a:solidFill>
                  <a:srgbClr val="8F8F9A"/>
                </a:solidFill>
                <a:latin typeface="Space Grotesk"/>
              </a:rPr>
              <a:t>page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0000" y="2180000"/>
            <a:ext cx="700000" cy="560000"/>
          </a:xfrm>
          <a:prstGeom prst="roundRect">
            <a:avLst>
              <a:gd name="adj" fmla="val 6000"/>
            </a:avLst>
          </a:prstGeom>
          <a:solidFill>
            <a:srgbClr val="00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0000" y="2260000"/>
            <a:ext cx="700000" cy="4200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Funnel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0000" y="2290000"/>
            <a:ext cx="7000000" cy="42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232754"/>
                </a:solidFill>
                <a:latin typeface="Work Sans"/>
              </a:rPr>
              <a:t>Objectifs et bénéficiaires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00000" y="2310000"/>
            <a:ext cx="1500000" cy="42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0">
                <a:solidFill>
                  <a:srgbClr val="8F8F9A"/>
                </a:solidFill>
                <a:latin typeface="Space Grotesk"/>
              </a:rPr>
              <a:t>page 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0000" y="2860000"/>
            <a:ext cx="700000" cy="560000"/>
          </a:xfrm>
          <a:prstGeom prst="roundRect">
            <a:avLst>
              <a:gd name="adj" fmla="val 6000"/>
            </a:avLst>
          </a:prstGeom>
          <a:solidFill>
            <a:srgbClr val="232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0000" y="2940000"/>
            <a:ext cx="700000" cy="4200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Funnel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0000" y="2970000"/>
            <a:ext cx="7000000" cy="42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232754"/>
                </a:solidFill>
                <a:latin typeface="Work Sans"/>
              </a:rPr>
              <a:t>AYA IA, l'agent qui porte le programme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00000" y="2990000"/>
            <a:ext cx="1500000" cy="42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0">
                <a:solidFill>
                  <a:srgbClr val="8F8F9A"/>
                </a:solidFill>
                <a:latin typeface="Space Grotesk"/>
              </a:rPr>
              <a:t>page 13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0000" y="3540000"/>
            <a:ext cx="700000" cy="560000"/>
          </a:xfrm>
          <a:prstGeom prst="roundRect">
            <a:avLst>
              <a:gd name="adj" fmla="val 6000"/>
            </a:avLst>
          </a:prstGeom>
          <a:solidFill>
            <a:srgbClr val="00A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000" y="3620000"/>
            <a:ext cx="700000" cy="4200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Funnel Display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0000" y="3650000"/>
            <a:ext cx="7000000" cy="42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232754"/>
                </a:solidFill>
                <a:latin typeface="Work Sans"/>
              </a:rPr>
              <a:t>Mise en œuvre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0000" y="3670000"/>
            <a:ext cx="1500000" cy="42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0">
                <a:solidFill>
                  <a:srgbClr val="8F8F9A"/>
                </a:solidFill>
                <a:latin typeface="Space Grotesk"/>
              </a:rPr>
              <a:t>page 17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0000" y="4220000"/>
            <a:ext cx="700000" cy="560000"/>
          </a:xfrm>
          <a:prstGeom prst="roundRect">
            <a:avLst>
              <a:gd name="adj" fmla="val 6000"/>
            </a:avLst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0000" y="4300000"/>
            <a:ext cx="700000" cy="4200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Funnel Display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0000" y="4330000"/>
            <a:ext cx="7000000" cy="42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232754"/>
                </a:solidFill>
                <a:latin typeface="Work Sans"/>
              </a:rPr>
              <a:t>Budget et financement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00000" y="4350000"/>
            <a:ext cx="1500000" cy="42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0">
                <a:solidFill>
                  <a:srgbClr val="8F8F9A"/>
                </a:solidFill>
                <a:latin typeface="Space Grotesk"/>
              </a:rPr>
              <a:t>page 22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0000" y="4900000"/>
            <a:ext cx="700000" cy="560000"/>
          </a:xfrm>
          <a:prstGeom prst="roundRect">
            <a:avLst>
              <a:gd name="adj" fmla="val 6000"/>
            </a:avLst>
          </a:prstGeom>
          <a:solidFill>
            <a:srgbClr val="00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0000" y="4980000"/>
            <a:ext cx="700000" cy="4200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Funnel Display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0000" y="5010000"/>
            <a:ext cx="7000000" cy="42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232754"/>
                </a:solidFill>
                <a:latin typeface="Work Sans"/>
              </a:rPr>
              <a:t>Pilotage, suivi et risques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00000" y="5030000"/>
            <a:ext cx="1500000" cy="42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0">
                <a:solidFill>
                  <a:srgbClr val="8F8F9A"/>
                </a:solidFill>
                <a:latin typeface="Space Grotesk"/>
              </a:rPr>
              <a:t>page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9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SYNTHÈSE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9800000" cy="7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L'essentiel en une page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2000" y="330000"/>
            <a:ext cx="1100000" cy="3614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0000" y="6338000"/>
            <a:ext cx="10992000" cy="9000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6408000"/>
            <a:ext cx="11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Génération IA · Termes de référence du programme national porté par AYA IA  |  Octobre 2026  | 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0000" y="1450000"/>
            <a:ext cx="2598000" cy="3450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0000" y="1450000"/>
            <a:ext cx="2598000" cy="90000"/>
          </a:xfrm>
          <a:prstGeom prst="rect">
            <a:avLst/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0000" y="1680000"/>
            <a:ext cx="2278000" cy="6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007ABB"/>
                </a:solidFill>
                <a:latin typeface="Funnel Display"/>
              </a:rPr>
              <a:t>Le problème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000" y="2300000"/>
            <a:ext cx="2278000" cy="25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Trois Ivoiriens sur quatre ont moins de 35 ans. Le chômage officiel est bas, mais il cache le sous-emploi et l'informel : 13,7 % de la main-d'œuvre est sans emploi ou sous-utilisée (ONEF, 2024).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8000" y="1450000"/>
            <a:ext cx="2598000" cy="3450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98000" y="1450000"/>
            <a:ext cx="2598000" cy="90000"/>
          </a:xfrm>
          <a:prstGeom prst="rect">
            <a:avLst/>
          </a:prstGeom>
          <a:solidFill>
            <a:srgbClr val="00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8000" y="1680000"/>
            <a:ext cx="2278000" cy="6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00ADA4"/>
                </a:solidFill>
                <a:latin typeface="Funnel Display"/>
              </a:rPr>
              <a:t>La réponse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8000" y="2300000"/>
            <a:ext cx="2278000" cy="25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Un parcours en 3 niveaux, de la culture IA pour tous jusqu'aux métiers techniques, encadré par AYA IA : un agent qui oriente, enseigne, évalue et met en relation avec les employeurs, 24 h/24, sur WhatsApp et au téléphone.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6000" y="1450000"/>
            <a:ext cx="2598000" cy="3450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6000" y="1450000"/>
            <a:ext cx="2598000" cy="90000"/>
          </a:xfrm>
          <a:prstGeom prst="rect">
            <a:avLst/>
          </a:prstGeom>
          <a:solidFill>
            <a:srgbClr val="232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6000" y="1680000"/>
            <a:ext cx="2278000" cy="6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232754"/>
                </a:solidFill>
                <a:latin typeface="Funnel Display"/>
              </a:rPr>
              <a:t>Les cibles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6000" y="2300000"/>
            <a:ext cx="2278000" cy="25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100 000 jeunes formés, 30 000 certifiés sur un métier, 3 000 spécialistes. 30 000 insertions en emploi, stage ou activité dans les 6 mois. 50 % de femmes, 40 % hors d'Abidjan.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4000" y="1450000"/>
            <a:ext cx="2598000" cy="3450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94000" y="1450000"/>
            <a:ext cx="2598000" cy="90000"/>
          </a:xfrm>
          <a:prstGeom prst="rect">
            <a:avLst/>
          </a:prstGeom>
          <a:solidFill>
            <a:srgbClr val="00A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54000" y="1680000"/>
            <a:ext cx="2278000" cy="6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00AED4"/>
                </a:solidFill>
                <a:latin typeface="Funnel Display"/>
              </a:rPr>
              <a:t>Le coût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4000" y="2300000"/>
            <a:ext cx="2278000" cy="25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29,2 milliards de F CFA sur 3 ans, soit environ 292 000 F par jeune formé. Financement mixte proposé : État, partenaires au développement, entreprises.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0000" y="5100000"/>
            <a:ext cx="10992000" cy="850000"/>
          </a:xfrm>
          <a:prstGeom prst="roundRect">
            <a:avLst>
              <a:gd name="adj" fmla="val 6000"/>
            </a:avLst>
          </a:prstGeom>
          <a:solidFill>
            <a:srgbClr val="232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000" y="5210000"/>
            <a:ext cx="10492000" cy="7000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Work Sans"/>
              </a:rPr>
              <a:t>L'idée en une phrase :</a:t>
            </a:r>
            <a:r>
              <a:rPr sz="1400" b="0">
                <a:solidFill>
                  <a:srgbClr val="FFFFFF"/>
                </a:solidFill>
                <a:latin typeface="Work Sans"/>
              </a:rPr>
              <a:t> utiliser l'intelligence artificielle pour former à l'intelligence artificielle, afin de passer à l'échelle de 100 000 jeunes sans multiplier les salles ni les formateurs par 100.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75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c_abidjan.jpg_5492000_6858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000" y="0"/>
            <a:ext cx="54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700000" y="0"/>
            <a:ext cx="90000" cy="6858000"/>
          </a:xfrm>
          <a:prstGeom prst="rect">
            <a:avLst/>
          </a:prstGeom>
          <a:solidFill>
            <a:srgbClr val="00A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1900000"/>
            <a:ext cx="5800000" cy="5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00AED4"/>
                </a:solidFill>
                <a:latin typeface="Space Grotesk"/>
              </a:rPr>
              <a:t>PARTIE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450000"/>
            <a:ext cx="5800000" cy="14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Funnel Display"/>
              </a:rPr>
              <a:t>Contexte et justification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3950000"/>
            <a:ext cx="5600000" cy="15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Work Sans"/>
              </a:rPr>
              <a:t>Pourquoi ce programme, pourquoi maintenant, et sur quoi il s'appuie.</a:t>
            </a:r>
          </a:p>
        </p:txBody>
      </p:sp>
      <p:pic>
        <p:nvPicPr>
          <p:cNvPr id="7" name="Picture 6" descr="logo_mstudio_blanc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00" y="5958000"/>
            <a:ext cx="1100000" cy="2878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9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PARTIE 1 | 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9800000" cy="7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Une jeunesse nombreuse, connectée et mal insérée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2000" y="330000"/>
            <a:ext cx="1100000" cy="3614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0000" y="6338000"/>
            <a:ext cx="10992000" cy="9000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6408000"/>
            <a:ext cx="11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Génération IA · Termes de référence du programme national porté par AYA IA  |  Octobre 2026  | 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0000" y="1450000"/>
            <a:ext cx="2600000" cy="2350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0000" y="1600000"/>
            <a:ext cx="2300000" cy="7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3600" b="1">
                <a:solidFill>
                  <a:srgbClr val="007ABB"/>
                </a:solidFill>
                <a:latin typeface="Funnel Display"/>
              </a:rPr>
              <a:t>75,6 %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000" y="2350000"/>
            <a:ext cx="2300000" cy="8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232754"/>
                </a:solidFill>
                <a:latin typeface="Work Sans"/>
              </a:rPr>
              <a:t>de la population a moins de 35 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000" y="3250000"/>
            <a:ext cx="2300000" cy="5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Source : RGPH 2021, portail de l'économie ivoirienne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0000" y="1450000"/>
            <a:ext cx="2600000" cy="2350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0000" y="1600000"/>
            <a:ext cx="2300000" cy="7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3600" b="1">
                <a:solidFill>
                  <a:srgbClr val="00ADA4"/>
                </a:solidFill>
                <a:latin typeface="Funnel Display"/>
              </a:rPr>
              <a:t>29,4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0000" y="2350000"/>
            <a:ext cx="2300000" cy="8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232754"/>
                </a:solidFill>
                <a:latin typeface="Work Sans"/>
              </a:rPr>
              <a:t>d'habitants recensés en 2021, 32,2 M estimés en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0000" y="3250000"/>
            <a:ext cx="2300000" cy="5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Source : RGPH 2021 et ANStat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0000" y="1450000"/>
            <a:ext cx="2600000" cy="2350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0000" y="1600000"/>
            <a:ext cx="2300000" cy="7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3600" b="1">
                <a:solidFill>
                  <a:srgbClr val="232754"/>
                </a:solidFill>
                <a:latin typeface="Funnel Display"/>
              </a:rPr>
              <a:t>13,4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0000" y="2350000"/>
            <a:ext cx="2300000" cy="8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232754"/>
                </a:solidFill>
                <a:latin typeface="Work Sans"/>
              </a:rPr>
              <a:t>d'internautes fin 2025, soit 40,7 % de la population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0000" y="3250000"/>
            <a:ext cx="2300000" cy="5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Source : DataReportal, Digital 2026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40000" y="1450000"/>
            <a:ext cx="2600000" cy="2350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00000" y="1600000"/>
            <a:ext cx="2300000" cy="7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3600" b="1">
                <a:solidFill>
                  <a:srgbClr val="00AED4"/>
                </a:solidFill>
                <a:latin typeface="Funnel Display"/>
              </a:rPr>
              <a:t>13,7 %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0000" y="2350000"/>
            <a:ext cx="2300000" cy="8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232754"/>
                </a:solidFill>
                <a:latin typeface="Work Sans"/>
              </a:rPr>
              <a:t>de la main-d'œuvre au chômage ou sous-utilisée (indicateur SU3)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0000" y="3250000"/>
            <a:ext cx="2300000" cy="5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Source : ONEF, 2024, données en cours de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000" y="4050000"/>
            <a:ext cx="6400000" cy="19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2B2A35"/>
                </a:solidFill>
                <a:latin typeface="Work Sans"/>
              </a:rPr>
              <a:t>Ce que disent ces chiffres.</a:t>
            </a:r>
            <a:r>
              <a:rPr sz="1200" b="0">
                <a:solidFill>
                  <a:srgbClr val="2B2A35"/>
                </a:solidFill>
                <a:latin typeface="Work Sans"/>
              </a:rPr>
              <a:t> Le taux de chômage officiel est faible (3,1 % en 2021 selon l'ANStat, 6,3 % à Abidjan) parce que la plupart des jeunes travaillent dans l'informel, souvent à temps partiel et sans contrat. Le problème n'est pas l'inactivité, c'est la qualité de l'emploi.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2B2A35"/>
                </a:solidFill>
                <a:latin typeface="Work Sans"/>
              </a:rPr>
              <a:t>Ce que cela implique.</a:t>
            </a:r>
            <a:r>
              <a:rPr sz="1200" b="0">
                <a:solidFill>
                  <a:srgbClr val="2B2A35"/>
                </a:solidFill>
                <a:latin typeface="Work Sans"/>
              </a:rPr>
              <a:t> Former à l'IA n'a de sens que si la formation débouche sur un revenu : l'insertion est le vrai résultat du programme, pas le certificat.</a:t>
            </a:r>
          </a:p>
        </p:txBody>
      </p:sp>
      <p:pic>
        <p:nvPicPr>
          <p:cNvPr id="25" name="Picture 24" descr="_c_smartphone.jpg_4300000_1900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000" y="4050000"/>
            <a:ext cx="4300000" cy="19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9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PARTIE 1 | 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9800000" cy="7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L'IA est déjà une priorité de l'État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2000" y="330000"/>
            <a:ext cx="1100000" cy="3614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0000" y="6338000"/>
            <a:ext cx="10992000" cy="9000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6408000"/>
            <a:ext cx="11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Génération IA · Termes de référence du programme national porté par AYA IA  |  Octobre 2026  |  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0000" y="1450000"/>
          <a:ext cx="11000000" cy="39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0000"/>
                <a:gridCol w="7700000"/>
              </a:tblGrid>
              <a:tr h="5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Cadre existant</a:t>
                      </a:r>
                    </a:p>
                  </a:txBody>
                  <a:tcPr marT="35000" marB="35000" marL="70000" marR="70000">
                    <a:solidFill>
                      <a:srgbClr val="2327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Ce qu'il apporte à Génération IA</a:t>
                      </a:r>
                    </a:p>
                  </a:txBody>
                  <a:tcPr marT="35000" marB="35000" marL="70000" marR="70000">
                    <a:solidFill>
                      <a:srgbClr val="232754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Stratégie nationale de l'IA, horizon 2030 (SNIA)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Le pilier 2 « Inclusion » prévoit des formations spécialisées et la sensibilisation des jeunes. Génération IA en est une mise en œuvre directe.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Feuille de route numérique 2026-2028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40 projets structurants, dont un pilier Intelligence artificielle piloté par le ministère de la Transition numérique.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Projet d'accélération digitale (PADCI)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Prêt de l'AID de 128,6 M€ (84,4 Md F CFA) ratifié en Conseil des ministres : il finance notamment les compétences numériques des jeunes et des femmes.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Programme jeunesse du Gouvernement (PJGouv)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Axe 1 : formation, insertion et entrepreneuriat des jeunes. L'Agence Emploi Jeunes en est l'opérateur.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Programme national de stage (PNSAR 2026)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Plus de 150 000 jeunes visés, dont 100 000 en stages d'immersion : un débouché naturel pour nos certifiés.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Formation des enseignants à l'IA (UNESCO)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3 000 enseignants de l'enseignement technique formés d'ici 2027 : de futurs formateurs du programme.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9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PARTIE 1 | 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9800000" cy="7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Des initiatives réelles, mais dispersées et petites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2000" y="330000"/>
            <a:ext cx="1100000" cy="3614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0000" y="6338000"/>
            <a:ext cx="10992000" cy="9000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6408000"/>
            <a:ext cx="11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Génération IA · Termes de référence du programme national porté par AYA IA  |  Octobre 2026  |  7</a:t>
            </a:r>
          </a:p>
        </p:txBody>
      </p:sp>
      <p:pic>
        <p:nvPicPr>
          <p:cNvPr id="8" name="Picture 7" descr="_c_reunion.jpg_4100000_2600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000" y="1450000"/>
            <a:ext cx="4100000" cy="260000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0000" y="1450000"/>
          <a:ext cx="6600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0000"/>
                <a:gridCol w="2000000"/>
              </a:tblGrid>
              <a:tr h="4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Initiative récente</a:t>
                      </a:r>
                    </a:p>
                  </a:txBody>
                  <a:tcPr marT="35000" marB="35000" marL="70000" marR="70000">
                    <a:solidFill>
                      <a:srgbClr val="2327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Échelle</a:t>
                      </a:r>
                    </a:p>
                  </a:txBody>
                  <a:tcPr marT="35000" marB="35000" marL="70000" marR="70000">
                    <a:solidFill>
                      <a:srgbClr val="232754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AEJ et PNUD, métiers du numérique avec IA (sept. 2025)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1 000 jeunes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Africa DigiEmpower (Cybastion, Cisco, État)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Des milliers d'ici 2030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UIT, IA et robotique pour les jeunes (sept. 2026)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200 enseignants, 10 000 élèves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Formation IA des enseignants techniques (UNESCO)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3 000 enseignants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0000" y="4050000"/>
            <a:ext cx="6600000" cy="18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2B2A35"/>
                </a:solidFill>
                <a:latin typeface="Work Sans"/>
              </a:rPr>
              <a:t>Le constat.</a:t>
            </a:r>
            <a:r>
              <a:rPr sz="1200" b="0">
                <a:solidFill>
                  <a:srgbClr val="2B2A35"/>
                </a:solidFill>
                <a:latin typeface="Work Sans"/>
              </a:rPr>
              <a:t> Chaque programme fonctionne, mais aucun ne dépasse quelques milliers de jeunes, aucun ne partage de suivi commun, et l'insertion est rarement mesurée.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2B2A35"/>
                </a:solidFill>
                <a:latin typeface="Work Sans"/>
              </a:rPr>
              <a:t>Le pari de Génération IA.</a:t>
            </a:r>
            <a:r>
              <a:rPr sz="1200" b="0">
                <a:solidFill>
                  <a:srgbClr val="2B2A35"/>
                </a:solidFill>
                <a:latin typeface="Work Sans"/>
              </a:rPr>
              <a:t> Fédérer ces acteurs sous une même bannière, une même certification et un même outil de suivi, plutôt que d'ajouter un programme de plus.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00000" y="4200000"/>
            <a:ext cx="4100000" cy="16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07ABB"/>
                </a:solidFill>
                <a:latin typeface="Work Sans"/>
              </a:rPr>
              <a:t>Génération IA ne remplace pas ces dispositifs : il les relie. Les opérateurs existants deviennent des centres de formation agréés du programme.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75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c_diplomes.jpg_5492000_6858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000" y="0"/>
            <a:ext cx="54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700000" y="0"/>
            <a:ext cx="90000" cy="6858000"/>
          </a:xfrm>
          <a:prstGeom prst="rect">
            <a:avLst/>
          </a:prstGeom>
          <a:solidFill>
            <a:srgbClr val="00A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1900000"/>
            <a:ext cx="5800000" cy="5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00AED4"/>
                </a:solidFill>
                <a:latin typeface="Space Grotesk"/>
              </a:rPr>
              <a:t>PARTIE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450000"/>
            <a:ext cx="5800000" cy="14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Funnel Display"/>
              </a:rPr>
              <a:t>Objectifs et bénéficiaires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3950000"/>
            <a:ext cx="5600000" cy="15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Work Sans"/>
              </a:rPr>
              <a:t>Ce que le programme doit produire, et pour qui.</a:t>
            </a:r>
          </a:p>
        </p:txBody>
      </p:sp>
      <p:pic>
        <p:nvPicPr>
          <p:cNvPr id="7" name="Picture 6" descr="logo_mstudio_blanc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00" y="5958000"/>
            <a:ext cx="1100000" cy="2878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9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PARTIE 2 | OBJECTIFS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9800000" cy="7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Objectifs du programme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2000" y="330000"/>
            <a:ext cx="1100000" cy="3614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0000" y="6338000"/>
            <a:ext cx="10992000" cy="9000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6408000"/>
            <a:ext cx="11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Génération IA · Termes de référence du programme national porté par AYA IA  |  Octobre 2026  | 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1400000"/>
            <a:ext cx="11000000" cy="6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32754"/>
                </a:solidFill>
                <a:latin typeface="Work Sans"/>
              </a:rPr>
              <a:t>Objectif général :</a:t>
            </a:r>
            <a:r>
              <a:rPr sz="1500" b="0">
                <a:solidFill>
                  <a:srgbClr val="232754"/>
                </a:solidFill>
                <a:latin typeface="Work Sans"/>
              </a:rPr>
              <a:t> former 100 000 jeunes Ivoiriens à l'intelligence artificielle et en insérer au moins 30 000 dans un emploi, un stage ou une activité génératrice de revenus d'ici fin 2029.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0000" y="2200000"/>
            <a:ext cx="2598000" cy="2600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0000" y="2200000"/>
            <a:ext cx="2598000" cy="90000"/>
          </a:xfrm>
          <a:prstGeom prst="rect">
            <a:avLst/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2430000"/>
            <a:ext cx="2278000" cy="6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007ABB"/>
                </a:solidFill>
                <a:latin typeface="Funnel Display"/>
              </a:rPr>
              <a:t>OS 1 · Former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000" y="3050000"/>
            <a:ext cx="2278000" cy="165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Donner à 100 000 jeunes une culture pratique de l'IA, certifiée, utile dans leur métier actuel ou futur.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8000" y="2200000"/>
            <a:ext cx="2598000" cy="2600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8000" y="2200000"/>
            <a:ext cx="2598000" cy="90000"/>
          </a:xfrm>
          <a:prstGeom prst="rect">
            <a:avLst/>
          </a:prstGeom>
          <a:solidFill>
            <a:srgbClr val="00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8000" y="2430000"/>
            <a:ext cx="2278000" cy="6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00ADA4"/>
                </a:solidFill>
                <a:latin typeface="Funnel Display"/>
              </a:rPr>
              <a:t>OS 2 · Qualifier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8000" y="3050000"/>
            <a:ext cx="2278000" cy="165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Certifier 30 000 jeunes sur un métier où l'IA crée de l'emploi, et former 3 000 spécialistes techniques.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6000" y="2200000"/>
            <a:ext cx="2598000" cy="2600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6000" y="2200000"/>
            <a:ext cx="2598000" cy="90000"/>
          </a:xfrm>
          <a:prstGeom prst="rect">
            <a:avLst/>
          </a:prstGeom>
          <a:solidFill>
            <a:srgbClr val="232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6000" y="2430000"/>
            <a:ext cx="2278000" cy="6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232754"/>
                </a:solidFill>
                <a:latin typeface="Funnel Display"/>
              </a:rPr>
              <a:t>OS 3 · Insérer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6000" y="3050000"/>
            <a:ext cx="2278000" cy="165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Placer 30 000 jeunes en emploi, stage ou activité dans les 6 mois suivant leur certification.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4000" y="2200000"/>
            <a:ext cx="2598000" cy="2600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94000" y="2200000"/>
            <a:ext cx="2598000" cy="90000"/>
          </a:xfrm>
          <a:prstGeom prst="rect">
            <a:avLst/>
          </a:prstGeom>
          <a:solidFill>
            <a:srgbClr val="00A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54000" y="2430000"/>
            <a:ext cx="2278000" cy="6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00AED4"/>
                </a:solidFill>
                <a:latin typeface="Funnel Display"/>
              </a:rPr>
              <a:t>OS 4 · Équiper le pays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4000" y="3050000"/>
            <a:ext cx="2278000" cy="165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Laisser après le programme un agent AYA IA, 50 espaces Génération IA et un réseau de formateurs.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0000" y="5050000"/>
            <a:ext cx="10992000" cy="650000"/>
          </a:xfrm>
          <a:prstGeom prst="roundRect">
            <a:avLst>
              <a:gd name="adj" fmla="val 6000"/>
            </a:avLst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000" y="5160000"/>
            <a:ext cx="10492000" cy="5000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Work Sans"/>
              </a:rPr>
              <a:t>Chaque objectif a un indicateur mesuré chaque mois et publié chaque trimestre (voir partie 6).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9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PARTIE 2 | BÉNÉFICIAIRES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9800000" cy="7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Qui sont les bénéficiaires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2000" y="330000"/>
            <a:ext cx="1100000" cy="3614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0000" y="6338000"/>
            <a:ext cx="10992000" cy="9000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6408000"/>
            <a:ext cx="11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Génération IA · Termes de référence du programme national porté par AYA IA  |  Octobre 2026  |  10</a:t>
            </a:r>
          </a:p>
        </p:txBody>
      </p:sp>
      <p:pic>
        <p:nvPicPr>
          <p:cNvPr id="8" name="Picture 7" descr="_c_entrepreneure.jpg_4000000_4450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0000" y="1450000"/>
            <a:ext cx="4000000" cy="445000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0000" y="1450000"/>
          <a:ext cx="6800000" cy="4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5000000"/>
              </a:tblGrid>
              <a:tr h="6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Critère</a:t>
                      </a:r>
                    </a:p>
                  </a:txBody>
                  <a:tcPr marT="35000" marB="35000" marL="70000" marR="70000">
                    <a:solidFill>
                      <a:srgbClr val="2327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Proposition</a:t>
                      </a:r>
                    </a:p>
                  </a:txBody>
                  <a:tcPr marT="35000" marB="35000" marL="70000" marR="70000">
                    <a:solidFill>
                      <a:srgbClr val="23275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Âge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18 à 35 ans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Nationalité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Ivoirienne, résidant en Côte d'Ivoire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Niveau minimal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Savoir lire et écrire en français ; niveau BEPC conseillé pour le niveau 2, licence ou BTS pour le niveau 3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Profils prioritaires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Diplômés sans emploi ou sous-employés, jeunes de l'informel, sortants de la formation professionnelle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Quotas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50 % de femmes, 40 % hors du district d'Abidjan, 5 % de jeunes en situation de handicap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Équipement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Un téléphone avec WhatsApp suffit pour le niveau 1 ; ordinateurs fournis dans les espaces Génération IA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0000" y="5800000"/>
            <a:ext cx="68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8F8F9A"/>
                </a:solidFill>
                <a:latin typeface="Work Sans"/>
              </a:rPr>
              <a:t>Pourquoi 50 % de femmes : elles ne représentent que 38,7 % des utilisateurs des réseaux sociaux en Côte d'Ivoire (DataReportal, 2026).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9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PARTIE 2 | BÉNÉFICIAIRES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9800000" cy="7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Un parcours en trois niveaux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2000" y="330000"/>
            <a:ext cx="1100000" cy="3614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0000" y="6338000"/>
            <a:ext cx="10992000" cy="9000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6408000"/>
            <a:ext cx="11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Génération IA · Termes de référence du programme national porté par AYA IA  |  Octobre 2026  | 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0000" y="1500000"/>
            <a:ext cx="3500000" cy="3900000"/>
          </a:xfrm>
          <a:prstGeom prst="roundRect">
            <a:avLst>
              <a:gd name="adj" fmla="val 6000"/>
            </a:avLst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000" y="1700000"/>
            <a:ext cx="3100000" cy="5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Work Sans"/>
              </a:rPr>
              <a:t>Niveau 1 · IA pour tous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2250000"/>
            <a:ext cx="3100000" cy="6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Funnel Display"/>
              </a:rPr>
              <a:t>100 000 jeunes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2900000"/>
            <a:ext cx="3100000" cy="8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DDF4F8"/>
                </a:solidFill>
                <a:latin typeface="Work Sans"/>
              </a:rPr>
              <a:t>6 semaines, à distance avec AYA IA, plus 2 journées d'atelier en espace Génération 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00" y="3650000"/>
            <a:ext cx="3100000" cy="12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Work Sans"/>
              </a:rPr>
              <a:t>Comprendre l'IA, s'en servir pour écrire, chercher, calculer, vendre, créer. Éthique et protection des données.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0000" y="1850000"/>
            <a:ext cx="3500000" cy="3200000"/>
          </a:xfrm>
          <a:prstGeom prst="roundRect">
            <a:avLst>
              <a:gd name="adj" fmla="val 6000"/>
            </a:avLst>
          </a:prstGeom>
          <a:solidFill>
            <a:srgbClr val="00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0000" y="2050000"/>
            <a:ext cx="3100000" cy="5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Work Sans"/>
              </a:rPr>
              <a:t>Niveau 2 · Métiers 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0000" y="2600000"/>
            <a:ext cx="3100000" cy="6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Funnel Display"/>
              </a:rPr>
              <a:t>30 000 jeunes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0000" y="3250000"/>
            <a:ext cx="3100000" cy="8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DDF4F8"/>
                </a:solidFill>
                <a:latin typeface="Work Sans"/>
              </a:rPr>
              <a:t>12 semaines en présentiel mixte, puis 8 semaines de stage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0000" y="4000000"/>
            <a:ext cx="3100000" cy="12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Work Sans"/>
              </a:rPr>
              <a:t>Une filière métier au choix (page suivante), un projet réel commandé par une entreprise ou une administration.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0000" y="2200000"/>
            <a:ext cx="3500000" cy="2500000"/>
          </a:xfrm>
          <a:prstGeom prst="roundRect">
            <a:avLst>
              <a:gd name="adj" fmla="val 6000"/>
            </a:avLst>
          </a:prstGeom>
          <a:solidFill>
            <a:srgbClr val="232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0" y="2400000"/>
            <a:ext cx="3100000" cy="5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Work Sans"/>
              </a:rPr>
              <a:t>Niveau 3 · Spécialistes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0000" y="2950000"/>
            <a:ext cx="3100000" cy="6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Funnel Display"/>
              </a:rPr>
              <a:t>3 000 jeunes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0000" y="3600000"/>
            <a:ext cx="3100000" cy="8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DDF4F8"/>
                </a:solidFill>
                <a:latin typeface="Work Sans"/>
              </a:rPr>
              <a:t>6 mois en partenariat avec les grandes écoles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0000" y="4350000"/>
            <a:ext cx="3100000" cy="12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Work Sans"/>
              </a:rPr>
              <a:t>Analyse de données, apprentissage automatique, cybersécurité, ingénierie de l'IA.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0000" y="5550000"/>
            <a:ext cx="10992000" cy="500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000" y="5660000"/>
            <a:ext cx="10492000" cy="3500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Work Sans"/>
              </a:rPr>
              <a:t>Chaque niveau donne un certificat. On n'accède au niveau 2 qu'avec le niveau 1, et au niveau 3 qu'avec le niveau 2 ou un diplôme scientifique.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9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PARTIE 2 | BÉNÉFICIAIRES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9800000" cy="7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Six filières métiers pour le niveau 2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2000" y="330000"/>
            <a:ext cx="1100000" cy="3614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0000" y="6338000"/>
            <a:ext cx="10992000" cy="9000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6408000"/>
            <a:ext cx="11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Génération IA · Termes de référence du programme national porté par AYA IA  |  Octobre 2026  |  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0000" y="1450000"/>
          <a:ext cx="11000000" cy="4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/>
                <a:gridCol w="3700000"/>
                <a:gridCol w="3600000"/>
                <a:gridCol w="1000000"/>
              </a:tblGrid>
              <a:tr h="5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Filière</a:t>
                      </a:r>
                    </a:p>
                  </a:txBody>
                  <a:tcPr marT="35000" marB="35000" marL="70000" marR="70000">
                    <a:solidFill>
                      <a:srgbClr val="2327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Ce que fait le jeune</a:t>
                      </a:r>
                    </a:p>
                  </a:txBody>
                  <a:tcPr marT="35000" marB="35000" marL="70000" marR="70000">
                    <a:solidFill>
                      <a:srgbClr val="2327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Qui recrute</a:t>
                      </a:r>
                    </a:p>
                  </a:txBody>
                  <a:tcPr marT="35000" marB="35000" marL="70000" marR="70000">
                    <a:solidFill>
                      <a:srgbClr val="2327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Places</a:t>
                      </a:r>
                    </a:p>
                  </a:txBody>
                  <a:tcPr marT="35000" marB="35000" marL="70000" marR="70000">
                    <a:solidFill>
                      <a:srgbClr val="232754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Données et annotation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Préparer, étiqueter et contrôler les données qui entraînent les IA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Entreprises de la tech, administrations qui numérisent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6 000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Contenus et marketing augmentés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Produire textes, visuels et vidéos avec l'IA pour les PME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PME, agences, commerçants en ligne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6 000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Relation client augmentée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Gérer les assistants conversationnels et les cas difficiles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Banques, opérateurs télécoms, centres d'appel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5 000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Automatisation sans code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Automatiser les tâches répétitives d'un bureau ou d'une PME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PME, cabinets, services publics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5 000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Agriculture et terrain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Collecter les données de terrain, conseiller par téléphone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Coopératives, exportateurs, projets agricoles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4 000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Bureautique IA pour l'administration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Rédiger, classer, synthétiser avec l'IA dans un service public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Ministères, collectivités, établissements publics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4 000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Work Sans"/>
                        </a:rPr>
                        <a:t>Total niveau 2</a:t>
                      </a:r>
                    </a:p>
                  </a:txBody>
                  <a:tcPr marT="35000" marB="35000" marL="70000" marR="70000">
                    <a:solidFill>
                      <a:srgbClr val="007AB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5000" marB="35000" marL="70000" marR="70000">
                    <a:solidFill>
                      <a:srgbClr val="007AB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5000" marB="35000" marL="70000" marR="70000">
                    <a:solidFill>
                      <a:srgbClr val="007AB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Work Sans"/>
                        </a:rPr>
                        <a:t>30 000</a:t>
                      </a:r>
                    </a:p>
                  </a:txBody>
                  <a:tcPr marT="35000" marB="35000" marL="70000" marR="70000">
                    <a:solidFill>
                      <a:srgbClr val="007AB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0000" y="5750000"/>
            <a:ext cx="11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8F8F9A"/>
                </a:solidFill>
                <a:latin typeface="Work Sans"/>
              </a:rPr>
              <a:t>Les volumes par filière sont une première hypothèse ; ils seront ajustés après l'enquête de besoins auprès des employeurs (phase de cadrage).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75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c_pros.jpg_5492000_6858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000" y="0"/>
            <a:ext cx="54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700000" y="0"/>
            <a:ext cx="90000" cy="6858000"/>
          </a:xfrm>
          <a:prstGeom prst="rect">
            <a:avLst/>
          </a:prstGeom>
          <a:solidFill>
            <a:srgbClr val="00A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1900000"/>
            <a:ext cx="5800000" cy="5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00AED4"/>
                </a:solidFill>
                <a:latin typeface="Space Grotesk"/>
              </a:rPr>
              <a:t>PARTIE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450000"/>
            <a:ext cx="5800000" cy="14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Funnel Display"/>
              </a:rPr>
              <a:t>AYA IA, l'agent qui porte le programme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3950000"/>
            <a:ext cx="5600000" cy="15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Work Sans"/>
              </a:rPr>
              <a:t>Ce que fait AYA, sur quels canaux, et avec quelles garanties.</a:t>
            </a:r>
          </a:p>
        </p:txBody>
      </p:sp>
      <p:pic>
        <p:nvPicPr>
          <p:cNvPr id="7" name="Picture 6" descr="logo_mstudio_blanc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00" y="5958000"/>
            <a:ext cx="1100000" cy="2878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9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PARTIE 3 | AYA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9800000" cy="7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AYA IA : un accompagnateur pour chaque jeune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2000" y="330000"/>
            <a:ext cx="1100000" cy="3614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0000" y="6338000"/>
            <a:ext cx="10992000" cy="9000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6408000"/>
            <a:ext cx="11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Génération IA · Termes de référence du programme national porté par AYA IA  |  Octobre 2026  |  14</a:t>
            </a:r>
          </a:p>
        </p:txBody>
      </p:sp>
      <p:pic>
        <p:nvPicPr>
          <p:cNvPr id="8" name="Picture 7" descr="_c_tutrice.jpg_3900000_4450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00" y="1450000"/>
            <a:ext cx="3900000" cy="445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0000" y="1450000"/>
            <a:ext cx="120000" cy="760000"/>
          </a:xfrm>
          <a:prstGeom prst="rect">
            <a:avLst/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000" y="1470000"/>
            <a:ext cx="1800000" cy="4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007ABB"/>
                </a:solidFill>
                <a:latin typeface="Funnel Display"/>
              </a:rPr>
              <a:t>Orienter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0000" y="1480000"/>
            <a:ext cx="4800000" cy="76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Un entretien de 15 minutes pour connaître le niveau, les envies et la région, puis une proposition de parcours.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0000" y="2330000"/>
            <a:ext cx="120000" cy="760000"/>
          </a:xfrm>
          <a:prstGeom prst="rect">
            <a:avLst/>
          </a:prstGeom>
          <a:solidFill>
            <a:srgbClr val="00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000" y="2350000"/>
            <a:ext cx="1800000" cy="4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00ADA4"/>
                </a:solidFill>
                <a:latin typeface="Funnel Display"/>
              </a:rPr>
              <a:t>Enseigner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0000" y="2360000"/>
            <a:ext cx="4800000" cy="76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Des leçons de 10 minutes, des exercices corrigés et des réponses à toute heure, en français simple.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0000" y="3210000"/>
            <a:ext cx="120000" cy="760000"/>
          </a:xfrm>
          <a:prstGeom prst="rect">
            <a:avLst/>
          </a:prstGeom>
          <a:solidFill>
            <a:srgbClr val="232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000" y="3230000"/>
            <a:ext cx="1800000" cy="4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232754"/>
                </a:solidFill>
                <a:latin typeface="Funnel Display"/>
              </a:rPr>
              <a:t>Évaluer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0000" y="3240000"/>
            <a:ext cx="4800000" cy="76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Des quiz, des mises en situation et un projet final ; AYA prépare la note, un formateur la valide.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0000" y="4090000"/>
            <a:ext cx="120000" cy="760000"/>
          </a:xfrm>
          <a:prstGeom prst="rect">
            <a:avLst/>
          </a:prstGeom>
          <a:solidFill>
            <a:srgbClr val="00A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000" y="4110000"/>
            <a:ext cx="1800000" cy="4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00AED4"/>
                </a:solidFill>
                <a:latin typeface="Funnel Display"/>
              </a:rPr>
              <a:t>Suivre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0000" y="4120000"/>
            <a:ext cx="4800000" cy="76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Rappels, relances en cas d'absence, alerte au formateur quand un jeune décroche.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0000" y="4970000"/>
            <a:ext cx="120000" cy="760000"/>
          </a:xfrm>
          <a:prstGeom prst="rect">
            <a:avLst/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000" y="4990000"/>
            <a:ext cx="1800000" cy="4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007ABB"/>
                </a:solidFill>
                <a:latin typeface="Funnel Display"/>
              </a:rPr>
              <a:t>Mettre en relation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0000" y="5000000"/>
            <a:ext cx="4800000" cy="76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Les offres de stage et d'emploi adaptées au profil, la préparation aux entretiens.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9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PARTIE 3 | AYA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9800000" cy="7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Sur les canaux que les jeunes utilisent déjà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2000" y="330000"/>
            <a:ext cx="1100000" cy="3614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0000" y="6338000"/>
            <a:ext cx="10992000" cy="9000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6408000"/>
            <a:ext cx="11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Génération IA · Termes de référence du programme national porté par AYA IA  |  Octobre 2026  | 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0000" y="1450000"/>
            <a:ext cx="2598000" cy="2400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0000" y="1450000"/>
            <a:ext cx="2598000" cy="90000"/>
          </a:xfrm>
          <a:prstGeom prst="rect">
            <a:avLst/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0000" y="1680000"/>
            <a:ext cx="2278000" cy="6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007ABB"/>
                </a:solidFill>
                <a:latin typeface="Funnel Display"/>
              </a:rPr>
              <a:t>WhatsApp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000" y="2300000"/>
            <a:ext cx="2278000" cy="145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Le canal principal : leçons, quiz, relances et offres. Aucune application à installer.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8000" y="1450000"/>
            <a:ext cx="2598000" cy="2400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98000" y="1450000"/>
            <a:ext cx="2598000" cy="90000"/>
          </a:xfrm>
          <a:prstGeom prst="rect">
            <a:avLst/>
          </a:prstGeom>
          <a:solidFill>
            <a:srgbClr val="00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8000" y="1680000"/>
            <a:ext cx="2278000" cy="6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00ADA4"/>
                </a:solidFill>
                <a:latin typeface="Funnel Display"/>
              </a:rPr>
              <a:t>Appel vocal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8000" y="2300000"/>
            <a:ext cx="2278000" cy="145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Un numéro court pour les jeunes sans smartphone ou peu à l'aise à l'écrit : AYA parle et écoute.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6000" y="1450000"/>
            <a:ext cx="2598000" cy="2400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6000" y="1450000"/>
            <a:ext cx="2598000" cy="90000"/>
          </a:xfrm>
          <a:prstGeom prst="rect">
            <a:avLst/>
          </a:prstGeom>
          <a:solidFill>
            <a:srgbClr val="232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6000" y="1680000"/>
            <a:ext cx="2278000" cy="6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232754"/>
                </a:solidFill>
                <a:latin typeface="Funnel Display"/>
              </a:rPr>
              <a:t>Site web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6000" y="2300000"/>
            <a:ext cx="2278000" cy="145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L'espace personnel : progression, certificats, offres, avec un accès simplifié depuis un téléphone.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4000" y="1450000"/>
            <a:ext cx="2598000" cy="2400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94000" y="1450000"/>
            <a:ext cx="2598000" cy="90000"/>
          </a:xfrm>
          <a:prstGeom prst="rect">
            <a:avLst/>
          </a:prstGeom>
          <a:solidFill>
            <a:srgbClr val="00A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54000" y="1680000"/>
            <a:ext cx="2278000" cy="6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00AED4"/>
                </a:solidFill>
                <a:latin typeface="Funnel Display"/>
              </a:rPr>
              <a:t>Espaces Génération 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4000" y="2300000"/>
            <a:ext cx="2278000" cy="145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50 lieux équipés dans les régions, avec des ordinateurs, une connexion et un animateur.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000" y="4100000"/>
            <a:ext cx="11000000" cy="17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2B2A35"/>
                </a:solidFill>
                <a:latin typeface="Work Sans"/>
              </a:rPr>
              <a:t>Pourquoi ce choix.</a:t>
            </a:r>
            <a:r>
              <a:rPr sz="1200" b="0">
                <a:solidFill>
                  <a:srgbClr val="2B2A35"/>
                </a:solidFill>
                <a:latin typeface="Work Sans"/>
              </a:rPr>
              <a:t> La Côte d'Ivoire compte 49,7 millions de lignes mobiles, soit 1,5 par habitant, mais seulement 40,7 % de la population utilise internet (DataReportal, 2026). Un programme qui exige un ordinateur ou une application exclut d'emblée la majorité des jeunes hors d'Abidjan.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2B2A35"/>
                </a:solidFill>
                <a:latin typeface="Work Sans"/>
              </a:rPr>
              <a:t>Langues.</a:t>
            </a:r>
            <a:r>
              <a:rPr sz="1200" b="0">
                <a:solidFill>
                  <a:srgbClr val="2B2A35"/>
                </a:solidFill>
                <a:latin typeface="Work Sans"/>
              </a:rPr>
              <a:t> AYA démarre en français. Le dioula et le baoulé à l'oral sont prévus en deuxième année, une fois les données vocales collectées avec des locuteurs rémunérés.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9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PARTIE 3 | AYA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9800000" cy="7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Comment AYA est construite et encadrée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2000" y="330000"/>
            <a:ext cx="1100000" cy="3614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0000" y="6338000"/>
            <a:ext cx="10992000" cy="9000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6408000"/>
            <a:ext cx="11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Génération IA · Termes de référence du programme national porté par AYA IA  |  Octobre 2026  |  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0000" y="1450000"/>
          <a:ext cx="11000000" cy="42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000"/>
                <a:gridCol w="8600000"/>
              </a:tblGrid>
              <a:tr h="61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Sujet</a:t>
                      </a:r>
                    </a:p>
                  </a:txBody>
                  <a:tcPr marT="35000" marB="35000" marL="70000" marR="70000">
                    <a:solidFill>
                      <a:srgbClr val="2327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Proposition</a:t>
                      </a:r>
                    </a:p>
                  </a:txBody>
                  <a:tcPr marT="35000" marB="35000" marL="70000" marR="70000">
                    <a:solidFill>
                      <a:srgbClr val="232754"/>
                    </a:solidFill>
                  </a:tcPr>
                </a:tc>
              </a:tr>
              <a:tr h="61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Technologie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Un modèle de langage existant, adapté au contexte ivoirien, et alimenté uniquement par les contenus validés du programme. Choix par appel d'offres ouvert.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</a:tr>
              <a:tr h="61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Hébergement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Données des jeunes hébergées en Côte d'Ivoire, conformément à la stratégie de souveraineté numérique de la SNIA.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</a:tr>
              <a:tr h="61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Données personnelles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Conformité à la loi n° 2013-450 sur la protection des données à caractère personnel, déclaration à l'ARTCI, consentement explicite de chaque jeune.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</a:tr>
              <a:tr h="61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Contrôle humain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Les certificats, les notes finales et les mises en relation sont validés par un formateur. AYA aide à décider, elle ne décide pas seule.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</a:tr>
              <a:tr h="61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Qualité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Un échantillon de conversations relu chaque semaine ; un taux d'erreur au-delà de 2 % suspend le module concerné.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</a:tr>
              <a:tr h="61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Propriété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Le code, les contenus et les données restent propriété de l'État ivoirien à la fin du programme.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75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c_classe.jpg_5492000_6858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000" y="0"/>
            <a:ext cx="54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700000" y="0"/>
            <a:ext cx="90000" cy="6858000"/>
          </a:xfrm>
          <a:prstGeom prst="rect">
            <a:avLst/>
          </a:prstGeom>
          <a:solidFill>
            <a:srgbClr val="00A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1900000"/>
            <a:ext cx="5800000" cy="5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00AED4"/>
                </a:solidFill>
                <a:latin typeface="Space Grotesk"/>
              </a:rPr>
              <a:t>PARTIE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450000"/>
            <a:ext cx="5800000" cy="14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Funnel Display"/>
              </a:rPr>
              <a:t>Mise en œuvre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3950000"/>
            <a:ext cx="5600000" cy="15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Work Sans"/>
              </a:rPr>
              <a:t>Calendrier, partenaires, insertion et mobilisation.</a:t>
            </a:r>
          </a:p>
        </p:txBody>
      </p:sp>
      <p:pic>
        <p:nvPicPr>
          <p:cNvPr id="7" name="Picture 6" descr="logo_mstudio_blanc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00" y="5958000"/>
            <a:ext cx="1100000" cy="28788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9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PARTIE 4 | MISE EN ŒUVRE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9800000" cy="7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Calendrier en trois phases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2000" y="330000"/>
            <a:ext cx="1100000" cy="3614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0000" y="6338000"/>
            <a:ext cx="10992000" cy="9000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6408000"/>
            <a:ext cx="11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Génération IA · Termes de référence du programme national porté par AYA IA  |  Octobre 2026  | 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600000" y="1500000"/>
            <a:ext cx="3500000" cy="650000"/>
          </a:xfrm>
          <a:prstGeom prst="rect">
            <a:avLst/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0000" y="1580000"/>
            <a:ext cx="3200000" cy="5000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Work Sans"/>
              </a:rPr>
              <a:t>Phase 0 · Cadrage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0000" y="2150000"/>
            <a:ext cx="3500000" cy="2300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0000" y="2280000"/>
            <a:ext cx="3200000" cy="4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07ABB"/>
                </a:solidFill>
                <a:latin typeface="Space Grotesk"/>
              </a:rPr>
              <a:t>Janvier à mars 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0000" y="2750000"/>
            <a:ext cx="3200000" cy="17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Enquête de besoins auprès de 300 employeurs, choix des opérateurs, construction d'AYA, contenus du niveau 1, recrutement de l'unité de gestion.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0000" y="1500000"/>
            <a:ext cx="3500000" cy="650000"/>
          </a:xfrm>
          <a:prstGeom prst="rect">
            <a:avLst/>
          </a:prstGeom>
          <a:solidFill>
            <a:srgbClr val="00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000" y="1580000"/>
            <a:ext cx="3200000" cy="5000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Work Sans"/>
              </a:rPr>
              <a:t>Phase 1 · Pilote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00000" y="2150000"/>
            <a:ext cx="3500000" cy="2300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000" y="2280000"/>
            <a:ext cx="3200000" cy="4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0ADA4"/>
                </a:solidFill>
                <a:latin typeface="Space Grotesk"/>
              </a:rPr>
              <a:t>Avril à septembre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000" y="2750000"/>
            <a:ext cx="3200000" cy="17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5 000 jeunes dans 5 régions (Abidjan, Gbêkê, Poro, Haut-Sassandra, San-Pédro). Évaluation indépendante avant d'aller plus loin.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0000" y="1500000"/>
            <a:ext cx="3500000" cy="650000"/>
          </a:xfrm>
          <a:prstGeom prst="rect">
            <a:avLst/>
          </a:prstGeom>
          <a:solidFill>
            <a:srgbClr val="232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0000" y="1580000"/>
            <a:ext cx="3200000" cy="5000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Work Sans"/>
              </a:rPr>
              <a:t>Phase 2 · Passage à l'échelle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0" y="2150000"/>
            <a:ext cx="3500000" cy="2300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0000" y="2280000"/>
            <a:ext cx="3200000" cy="4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232754"/>
                </a:solidFill>
                <a:latin typeface="Space Grotesk"/>
              </a:rPr>
              <a:t>Octobre 2027 à décembre 2029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0000" y="2750000"/>
            <a:ext cx="3200000" cy="17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95 000 jeunes, 50 espaces ouverts dans les 31 régions, cohortes tous les 2 mois, niveau 3 avec les grandes écoles.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00000" y="4650000"/>
          <a:ext cx="1100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0000"/>
                <a:gridCol w="1800000"/>
                <a:gridCol w="1800000"/>
                <a:gridCol w="1800000"/>
                <a:gridCol w="1800000"/>
              </a:tblGrid>
              <a:tr h="3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Jeunes formés (niveau 1)</a:t>
                      </a:r>
                    </a:p>
                  </a:txBody>
                  <a:tcPr marT="35000" marB="35000" marL="70000" marR="70000">
                    <a:solidFill>
                      <a:srgbClr val="2327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2027</a:t>
                      </a:r>
                    </a:p>
                  </a:txBody>
                  <a:tcPr marT="35000" marB="35000" marL="70000" marR="70000">
                    <a:solidFill>
                      <a:srgbClr val="2327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2028</a:t>
                      </a:r>
                    </a:p>
                  </a:txBody>
                  <a:tcPr marT="35000" marB="35000" marL="70000" marR="70000">
                    <a:solidFill>
                      <a:srgbClr val="2327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2029</a:t>
                      </a:r>
                    </a:p>
                  </a:txBody>
                  <a:tcPr marT="35000" marB="35000" marL="70000" marR="70000">
                    <a:solidFill>
                      <a:srgbClr val="2327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Total</a:t>
                      </a:r>
                    </a:p>
                  </a:txBody>
                  <a:tcPr marT="35000" marB="35000" marL="70000" marR="70000">
                    <a:solidFill>
                      <a:srgbClr val="232754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Cumul visé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12 000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55 000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100 000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100 000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Dont certifiés niveau 2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2 500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15 000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30 000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30 000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9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PARTIE 4 | MISE EN ŒUVRE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9800000" cy="7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Qui fait quoi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2000" y="330000"/>
            <a:ext cx="1100000" cy="3614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0000" y="6338000"/>
            <a:ext cx="10992000" cy="9000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6408000"/>
            <a:ext cx="11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Génération IA · Termes de référence du programme national porté par AYA IA  |  Octobre 2026  |  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0000" y="1450000"/>
          <a:ext cx="11000000" cy="44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000"/>
                <a:gridCol w="6000000"/>
              </a:tblGrid>
              <a:tr h="5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Acteur</a:t>
                      </a:r>
                    </a:p>
                  </a:txBody>
                  <a:tcPr marT="35000" marB="35000" marL="70000" marR="70000">
                    <a:solidFill>
                      <a:srgbClr val="2327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Rôle proposé</a:t>
                      </a:r>
                    </a:p>
                  </a:txBody>
                  <a:tcPr marT="35000" marB="35000" marL="70000" marR="70000">
                    <a:solidFill>
                      <a:srgbClr val="232754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Ministère de la Transition numérique et de l'Innovation technologique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Tutelle technique, pilotage d'AYA IA, lien avec la SNIA et le PADCI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Ministère de la Promotion de la jeunesse et Agence Emploi Jeunes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Mobilisation des jeunes, guichets emploi, suivi de l'insertion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Enseignement technique et formation professionnelle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Agrément des centres, reconnaissance des certificats, formateurs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Grandes écoles et universités (ESATIC, INP-HB, UVCI)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Contenus et encadrement du niveau 3, formation des formateurs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ANSUT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Connexion et équipement des espaces Génération IA dans les régions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Patronat et entreprises (CGECI)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Projets réels, stages, recrutements, cofinancement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Partenaires techniques et financiers (Banque mondiale, PNUD, UNESCO, UIT)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Financement, méthode, évaluation indépendante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0000" y="5950000"/>
            <a:ext cx="11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8F8F9A"/>
                </a:solidFill>
                <a:latin typeface="Work Sans"/>
              </a:rPr>
              <a:t>Ces rôles sont des propositions : aucun de ces acteurs n'est engagé à ce stade.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9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PARTIE 4 | MISE EN ŒUVRE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9800000" cy="7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L'insertion, le vrai résultat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2000" y="330000"/>
            <a:ext cx="1100000" cy="3614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0000" y="6338000"/>
            <a:ext cx="10992000" cy="9000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6408000"/>
            <a:ext cx="11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Génération IA · Termes de référence du programme national porté par AYA IA  |  Octobre 2026  |  20</a:t>
            </a:r>
          </a:p>
        </p:txBody>
      </p:sp>
      <p:pic>
        <p:nvPicPr>
          <p:cNvPr id="8" name="Picture 7" descr="_c_callcenter.jpg_3900000_4450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00" y="1450000"/>
            <a:ext cx="3900000" cy="445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0000" y="1450000"/>
            <a:ext cx="120000" cy="760000"/>
          </a:xfrm>
          <a:prstGeom prst="rect">
            <a:avLst/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000" y="1470000"/>
            <a:ext cx="2200000" cy="7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007ABB"/>
                </a:solidFill>
                <a:latin typeface="Funnel Display"/>
              </a:rPr>
              <a:t>Le pacte employeurs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0000" y="1480000"/>
            <a:ext cx="4400000" cy="76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500 entreprises signataires s'engagent chacune sur des stages ou des recrutements, en échange de profils formés à leurs besoins.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0000" y="2330000"/>
            <a:ext cx="120000" cy="760000"/>
          </a:xfrm>
          <a:prstGeom prst="rect">
            <a:avLst/>
          </a:prstGeom>
          <a:solidFill>
            <a:srgbClr val="00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000" y="2350000"/>
            <a:ext cx="2200000" cy="7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00ADA4"/>
                </a:solidFill>
                <a:latin typeface="Funnel Display"/>
              </a:rPr>
              <a:t>Les stages du PNSAR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0000" y="2360000"/>
            <a:ext cx="4400000" cy="76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Une part des stages d'immersion du programme national réservée aux certifiés Génération IA.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0000" y="3210000"/>
            <a:ext cx="120000" cy="760000"/>
          </a:xfrm>
          <a:prstGeom prst="rect">
            <a:avLst/>
          </a:prstGeom>
          <a:solidFill>
            <a:srgbClr val="232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000" y="3230000"/>
            <a:ext cx="2200000" cy="7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232754"/>
                </a:solidFill>
                <a:latin typeface="Funnel Display"/>
              </a:rPr>
              <a:t>La commande publique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0000" y="3240000"/>
            <a:ext cx="4400000" cy="76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Les administrations confient aux jeunes certifiés des travaux réels : numérisation d'archives, annotation de données, assistance aux usagers.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0000" y="4090000"/>
            <a:ext cx="120000" cy="760000"/>
          </a:xfrm>
          <a:prstGeom prst="rect">
            <a:avLst/>
          </a:prstGeom>
          <a:solidFill>
            <a:srgbClr val="00A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000" y="4110000"/>
            <a:ext cx="2200000" cy="7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00AED4"/>
                </a:solidFill>
                <a:latin typeface="Funnel Display"/>
              </a:rPr>
              <a:t>L'activité indépendante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0000" y="4120000"/>
            <a:ext cx="4400000" cy="76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Pour les jeunes qui créent leur activité : accompagnement de 6 mois, mise en relation avec les dispositifs de financement existants.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0000" y="4970000"/>
            <a:ext cx="120000" cy="760000"/>
          </a:xfrm>
          <a:prstGeom prst="rect">
            <a:avLst/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000" y="4990000"/>
            <a:ext cx="2200000" cy="7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007ABB"/>
                </a:solidFill>
                <a:latin typeface="Funnel Display"/>
              </a:rPr>
              <a:t>Le suivi à 6 et 12 mois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0000" y="5000000"/>
            <a:ext cx="4400000" cy="76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AYA recontacte chaque certifié pour mesurer l'emploi et le revenu, et relance ceux qui cherchent encore.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9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PARTIE 4 | MISE EN ŒUVRE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9800000" cy="7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Faire connaître le programme et recruter les jeunes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2000" y="330000"/>
            <a:ext cx="1100000" cy="3614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0000" y="6338000"/>
            <a:ext cx="10992000" cy="9000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6408000"/>
            <a:ext cx="11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Génération IA · Termes de référence du programme national porté par AYA IA  |  Octobre 2026  | 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0000" y="1450000"/>
            <a:ext cx="2598000" cy="2900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0000" y="1450000"/>
            <a:ext cx="2598000" cy="90000"/>
          </a:xfrm>
          <a:prstGeom prst="rect">
            <a:avLst/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0000" y="1680000"/>
            <a:ext cx="2278000" cy="6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007ABB"/>
                </a:solidFill>
                <a:latin typeface="Funnel Display"/>
              </a:rPr>
              <a:t>Lancement national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000" y="2300000"/>
            <a:ext cx="2278000" cy="195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Une cérémonie, un communiqué, une émission spéciale en radio et à la télévision, et l'ouverture des inscriptions sur WhatsApp le même jour.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8000" y="1450000"/>
            <a:ext cx="2598000" cy="2900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98000" y="1450000"/>
            <a:ext cx="2598000" cy="90000"/>
          </a:xfrm>
          <a:prstGeom prst="rect">
            <a:avLst/>
          </a:prstGeom>
          <a:solidFill>
            <a:srgbClr val="00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8000" y="1680000"/>
            <a:ext cx="2278000" cy="6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00ADA4"/>
                </a:solidFill>
                <a:latin typeface="Funnel Display"/>
              </a:rPr>
              <a:t>Réseaux sociaux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8000" y="2300000"/>
            <a:ext cx="2278000" cy="195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Facebook d'abord (8,4 millions d'utilisateurs en Côte d'Ivoire), puis TikTok et Instagram : témoignages de jeunes formés, défis IA, directs avec AYA.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6000" y="1450000"/>
            <a:ext cx="2598000" cy="2900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6000" y="1450000"/>
            <a:ext cx="2598000" cy="90000"/>
          </a:xfrm>
          <a:prstGeom prst="rect">
            <a:avLst/>
          </a:prstGeom>
          <a:solidFill>
            <a:srgbClr val="232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6000" y="1680000"/>
            <a:ext cx="2278000" cy="6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232754"/>
                </a:solidFill>
                <a:latin typeface="Funnel Display"/>
              </a:rPr>
              <a:t>Proximité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6000" y="2300000"/>
            <a:ext cx="2278000" cy="195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Radios locales, caravane dans les 31 régions, mairies, maisons des jeunes, églises et mosquées, associations de femmes.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4000" y="1450000"/>
            <a:ext cx="2598000" cy="2900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94000" y="1450000"/>
            <a:ext cx="2598000" cy="90000"/>
          </a:xfrm>
          <a:prstGeom prst="rect">
            <a:avLst/>
          </a:prstGeom>
          <a:solidFill>
            <a:srgbClr val="00A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54000" y="1680000"/>
            <a:ext cx="2278000" cy="6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00AED4"/>
                </a:solidFill>
                <a:latin typeface="Funnel Display"/>
              </a:rPr>
              <a:t>Ambassadeurs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4000" y="2300000"/>
            <a:ext cx="2278000" cy="195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Un réseau de 1 000 jeunes certifiés, un par commune ou quartier, qui inscrivent et accompagnent leurs pairs.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0000" y="4600000"/>
            <a:ext cx="10992000" cy="900000"/>
          </a:xfrm>
          <a:prstGeom prst="roundRect">
            <a:avLst>
              <a:gd name="adj" fmla="val 6000"/>
            </a:avLst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000" y="4710000"/>
            <a:ext cx="10492000" cy="7500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Work Sans"/>
              </a:rPr>
              <a:t>Message central proposé :</a:t>
            </a:r>
            <a:r>
              <a:rPr sz="1400" b="0">
                <a:solidFill>
                  <a:srgbClr val="FFFFFF"/>
                </a:solidFill>
                <a:latin typeface="Work Sans"/>
              </a:rPr>
              <a:t> « L'IA ne va pas prendre ton travail. Quelqu'un qui sait s'en servir, oui. Génération IA, c'est gratuit, et ça commence sur WhatsApp. »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75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c_lagune.jpg_5492000_6858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000" y="0"/>
            <a:ext cx="54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700000" y="0"/>
            <a:ext cx="90000" cy="6858000"/>
          </a:xfrm>
          <a:prstGeom prst="rect">
            <a:avLst/>
          </a:prstGeom>
          <a:solidFill>
            <a:srgbClr val="00A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1900000"/>
            <a:ext cx="5800000" cy="5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00AED4"/>
                </a:solidFill>
                <a:latin typeface="Space Grotesk"/>
              </a:rPr>
              <a:t>PARTIE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450000"/>
            <a:ext cx="5800000" cy="14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Funnel Display"/>
              </a:rPr>
              <a:t>Budget et financement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3950000"/>
            <a:ext cx="5600000" cy="15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Work Sans"/>
              </a:rPr>
              <a:t>Combien coûte le programme, poste par poste, et qui peut le financer.</a:t>
            </a:r>
          </a:p>
        </p:txBody>
      </p:sp>
      <p:pic>
        <p:nvPicPr>
          <p:cNvPr id="7" name="Picture 6" descr="logo_mstudio_blanc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00" y="5958000"/>
            <a:ext cx="1100000" cy="28788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9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PARTIE 5 |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9800000" cy="7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Budget estimatif sur 3 ans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2000" y="330000"/>
            <a:ext cx="1100000" cy="3614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0000" y="6338000"/>
            <a:ext cx="10992000" cy="9000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6408000"/>
            <a:ext cx="11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Génération IA · Termes de référence du programme national porté par AYA IA  |  Octobre 2026  |  23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0000" y="1400000"/>
          <a:ext cx="11000000" cy="434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/>
                <a:gridCol w="5200000"/>
                <a:gridCol w="2000000"/>
                <a:gridCol w="1100000"/>
              </a:tblGrid>
              <a:tr h="395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pace Grotesk"/>
                        </a:rPr>
                        <a:t>Poste</a:t>
                      </a:r>
                    </a:p>
                  </a:txBody>
                  <a:tcPr marT="35000" marB="35000" marL="70000" marR="70000">
                    <a:solidFill>
                      <a:srgbClr val="2327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pace Grotesk"/>
                        </a:rPr>
                        <a:t>Base de calcul</a:t>
                      </a:r>
                    </a:p>
                  </a:txBody>
                  <a:tcPr marT="35000" marB="35000" marL="70000" marR="70000">
                    <a:solidFill>
                      <a:srgbClr val="2327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pace Grotesk"/>
                        </a:rPr>
                        <a:t>Montant (F CFA)</a:t>
                      </a:r>
                    </a:p>
                  </a:txBody>
                  <a:tcPr marT="35000" marB="35000" marL="70000" marR="70000">
                    <a:solidFill>
                      <a:srgbClr val="2327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pace Grotesk"/>
                        </a:rPr>
                        <a:t>Part</a:t>
                      </a:r>
                    </a:p>
                  </a:txBody>
                  <a:tcPr marT="35000" marB="35000" marL="70000" marR="70000">
                    <a:solidFill>
                      <a:srgbClr val="232754"/>
                    </a:solidFill>
                  </a:tcPr>
                </a:tc>
              </a:tr>
              <a:tr h="395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7ABB"/>
                          </a:solidFill>
                          <a:latin typeface="Work Sans"/>
                        </a:rPr>
                        <a:t>Niveau 1 · IA pour tous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B2A35"/>
                          </a:solidFill>
                          <a:latin typeface="Work Sans"/>
                        </a:rPr>
                        <a:t>100 000 jeunes × 35 000 F (données mobiles, ateliers, certificat)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B2A35"/>
                          </a:solidFill>
                          <a:latin typeface="Work Sans"/>
                        </a:rPr>
                        <a:t>3 500 000 000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B2A35"/>
                          </a:solidFill>
                          <a:latin typeface="Work Sans"/>
                        </a:rPr>
                        <a:t>12 %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</a:tr>
              <a:tr h="395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7ABB"/>
                          </a:solidFill>
                          <a:latin typeface="Work Sans"/>
                        </a:rPr>
                        <a:t>Niveau 2 · Métiers IA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B2A35"/>
                          </a:solidFill>
                          <a:latin typeface="Work Sans"/>
                        </a:rPr>
                        <a:t>30 000 jeunes × 350 000 F (formateurs, salles, transport, stage)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B2A35"/>
                          </a:solidFill>
                          <a:latin typeface="Work Sans"/>
                        </a:rPr>
                        <a:t>10 500 000 000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B2A35"/>
                          </a:solidFill>
                          <a:latin typeface="Work Sans"/>
                        </a:rPr>
                        <a:t>36 %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</a:tr>
              <a:tr h="395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7ABB"/>
                          </a:solidFill>
                          <a:latin typeface="Work Sans"/>
                        </a:rPr>
                        <a:t>Niveau 3 · Spécialistes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B2A35"/>
                          </a:solidFill>
                          <a:latin typeface="Work Sans"/>
                        </a:rPr>
                        <a:t>3 000 jeunes × 1 500 000 F (grandes écoles, bourses)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B2A35"/>
                          </a:solidFill>
                          <a:latin typeface="Work Sans"/>
                        </a:rPr>
                        <a:t>4 500 000 000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B2A35"/>
                          </a:solidFill>
                          <a:latin typeface="Work Sans"/>
                        </a:rPr>
                        <a:t>15 %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</a:tr>
              <a:tr h="395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7ABB"/>
                          </a:solidFill>
                          <a:latin typeface="Work Sans"/>
                        </a:rPr>
                        <a:t>AYA IA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B2A35"/>
                          </a:solidFill>
                          <a:latin typeface="Work Sans"/>
                        </a:rPr>
                        <a:t>Construction, hébergement, maintenance et voix sur 3 ans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B2A35"/>
                          </a:solidFill>
                          <a:latin typeface="Work Sans"/>
                        </a:rPr>
                        <a:t>2 500 000 000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B2A35"/>
                          </a:solidFill>
                          <a:latin typeface="Work Sans"/>
                        </a:rPr>
                        <a:t>9 %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</a:tr>
              <a:tr h="395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7ABB"/>
                          </a:solidFill>
                          <a:latin typeface="Work Sans"/>
                        </a:rPr>
                        <a:t>50 espaces Génération IA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B2A35"/>
                          </a:solidFill>
                          <a:latin typeface="Work Sans"/>
                        </a:rPr>
                        <a:t>50 × 20 000 000 F (30 ordinateurs, connexion, aménagement)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B2A35"/>
                          </a:solidFill>
                          <a:latin typeface="Work Sans"/>
                        </a:rPr>
                        <a:t>1 000 000 000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B2A35"/>
                          </a:solidFill>
                          <a:latin typeface="Work Sans"/>
                        </a:rPr>
                        <a:t>3 %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</a:tr>
              <a:tr h="395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7ABB"/>
                          </a:solidFill>
                          <a:latin typeface="Work Sans"/>
                        </a:rPr>
                        <a:t>Insertion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B2A35"/>
                          </a:solidFill>
                          <a:latin typeface="Work Sans"/>
                        </a:rPr>
                        <a:t>Pacte employeurs, accompagnement, suivi à 12 mois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B2A35"/>
                          </a:solidFill>
                          <a:latin typeface="Work Sans"/>
                        </a:rPr>
                        <a:t>2 000 000 000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B2A35"/>
                          </a:solidFill>
                          <a:latin typeface="Work Sans"/>
                        </a:rPr>
                        <a:t>7 %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</a:tr>
              <a:tr h="395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7ABB"/>
                          </a:solidFill>
                          <a:latin typeface="Work Sans"/>
                        </a:rPr>
                        <a:t>Mobilisation et communication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B2A35"/>
                          </a:solidFill>
                          <a:latin typeface="Work Sans"/>
                        </a:rPr>
                        <a:t>Lancement, médias, caravane, ambassadeurs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B2A35"/>
                          </a:solidFill>
                          <a:latin typeface="Work Sans"/>
                        </a:rPr>
                        <a:t>1 000 000 000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B2A35"/>
                          </a:solidFill>
                          <a:latin typeface="Work Sans"/>
                        </a:rPr>
                        <a:t>3 %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</a:tr>
              <a:tr h="395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7ABB"/>
                          </a:solidFill>
                          <a:latin typeface="Work Sans"/>
                        </a:rPr>
                        <a:t>Pilotage, suivi et évaluation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B2A35"/>
                          </a:solidFill>
                          <a:latin typeface="Work Sans"/>
                        </a:rPr>
                        <a:t>Unité de gestion, évaluation d'impact indépendante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B2A35"/>
                          </a:solidFill>
                          <a:latin typeface="Work Sans"/>
                        </a:rPr>
                        <a:t>2 800 000 000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B2A35"/>
                          </a:solidFill>
                          <a:latin typeface="Work Sans"/>
                        </a:rPr>
                        <a:t>10 %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</a:tr>
              <a:tr h="395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7ABB"/>
                          </a:solidFill>
                          <a:latin typeface="Work Sans"/>
                        </a:rPr>
                        <a:t>Imprévus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B2A35"/>
                          </a:solidFill>
                          <a:latin typeface="Work Sans"/>
                        </a:rPr>
                        <a:t>5 % des postes ci-dessus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B2A35"/>
                          </a:solidFill>
                          <a:latin typeface="Work Sans"/>
                        </a:rPr>
                        <a:t>1 390 000 000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B2A35"/>
                          </a:solidFill>
                          <a:latin typeface="Work Sans"/>
                        </a:rPr>
                        <a:t>5 %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</a:tr>
              <a:tr h="395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Work Sans"/>
                        </a:rPr>
                        <a:t>Total</a:t>
                      </a:r>
                    </a:p>
                  </a:txBody>
                  <a:tcPr marT="35000" marB="35000" marL="70000" marR="70000">
                    <a:solidFill>
                      <a:srgbClr val="007AB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Work Sans"/>
                        </a:rPr>
                        <a:t>Soit 292 000 F par jeune formé, 973 000 F par jeune inséré</a:t>
                      </a:r>
                    </a:p>
                  </a:txBody>
                  <a:tcPr marT="35000" marB="35000" marL="70000" marR="70000">
                    <a:solidFill>
                      <a:srgbClr val="007AB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Work Sans"/>
                        </a:rPr>
                        <a:t>29 190 000 000</a:t>
                      </a:r>
                    </a:p>
                  </a:txBody>
                  <a:tcPr marT="35000" marB="35000" marL="70000" marR="70000">
                    <a:solidFill>
                      <a:srgbClr val="007AB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Work Sans"/>
                        </a:rPr>
                        <a:t>100 %</a:t>
                      </a:r>
                    </a:p>
                  </a:txBody>
                  <a:tcPr marT="35000" marB="35000" marL="70000" marR="70000">
                    <a:solidFill>
                      <a:srgbClr val="007AB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0000" y="5850000"/>
            <a:ext cx="11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8F8F9A"/>
                </a:solidFill>
                <a:latin typeface="Work Sans"/>
              </a:rPr>
              <a:t>Coûts unitaires estimés à partir des pratiques de formation professionnelle en Côte d'Ivoire ; ils seront confirmés par les devis des opérateurs pendant la phase de cadrage.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9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PARTIE 5 |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9800000" cy="7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Qui peut financer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2000" y="330000"/>
            <a:ext cx="1100000" cy="3614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0000" y="6338000"/>
            <a:ext cx="10992000" cy="9000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6408000"/>
            <a:ext cx="11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Génération IA · Termes de référence du programme national porté par AYA IA  |  Octobre 2026  |  24</a:t>
            </a:r>
          </a:p>
        </p:txBody>
      </p:sp>
      <p:pic>
        <p:nvPicPr>
          <p:cNvPr id="8" name="Picture 7" descr="_c_agri.jpg_3900000_4450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00" y="1450000"/>
            <a:ext cx="3900000" cy="445000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0000" y="1450000"/>
          <a:ext cx="6800000" cy="3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0000"/>
                <a:gridCol w="1300000"/>
                <a:gridCol w="1100000"/>
              </a:tblGrid>
              <a:tr h="5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Source envisagée</a:t>
                      </a:r>
                    </a:p>
                  </a:txBody>
                  <a:tcPr marT="35000" marB="35000" marL="70000" marR="70000">
                    <a:solidFill>
                      <a:srgbClr val="2327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Montant (Md F)</a:t>
                      </a:r>
                    </a:p>
                  </a:txBody>
                  <a:tcPr marT="35000" marB="35000" marL="70000" marR="70000">
                    <a:solidFill>
                      <a:srgbClr val="2327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Part</a:t>
                      </a:r>
                    </a:p>
                  </a:txBody>
                  <a:tcPr marT="35000" marB="35000" marL="70000" marR="70000">
                    <a:solidFill>
                      <a:srgbClr val="232754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État de Côte d'Ivoire (PJGouv, budget numérique)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11,7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40 %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Partenaires au développement (dont la composante compétences du PADCI)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11,7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40 %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Entreprises (pacte employeurs, mécénat de compétences, fondations)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4,4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15 %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Opérateurs télécoms (données mobiles, numéro court)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1,4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5 %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Work Sans"/>
                        </a:rPr>
                        <a:t>Total</a:t>
                      </a:r>
                    </a:p>
                  </a:txBody>
                  <a:tcPr marT="35000" marB="35000" marL="70000" marR="70000">
                    <a:solidFill>
                      <a:srgbClr val="007AB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Work Sans"/>
                        </a:rPr>
                        <a:t>29,2</a:t>
                      </a:r>
                    </a:p>
                  </a:txBody>
                  <a:tcPr marT="35000" marB="35000" marL="70000" marR="70000">
                    <a:solidFill>
                      <a:srgbClr val="007AB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Work Sans"/>
                        </a:rPr>
                        <a:t>100 %</a:t>
                      </a:r>
                    </a:p>
                  </a:txBody>
                  <a:tcPr marT="35000" marB="35000" marL="70000" marR="70000">
                    <a:solidFill>
                      <a:srgbClr val="007AB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0000" y="5000000"/>
            <a:ext cx="6800000" cy="9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2B2A35"/>
                </a:solidFill>
                <a:latin typeface="Work Sans"/>
              </a:rPr>
              <a:t>Pour l'État, le coût par jeune inséré (973 000 F) est à comparer au coût d'un jeune sans revenu stable sur toute une carrière.</a:t>
            </a:r>
            <a:r>
              <a:rPr sz="1200" b="0">
                <a:solidFill>
                  <a:srgbClr val="2B2A35"/>
                </a:solidFill>
                <a:latin typeface="Work Sans"/>
              </a:rPr>
              <a:t> Une évaluation d'impact indépendante mesurera ce rapport dès le pilote.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75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c_femmelap.jpg_5492000_6858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000" y="0"/>
            <a:ext cx="54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700000" y="0"/>
            <a:ext cx="90000" cy="6858000"/>
          </a:xfrm>
          <a:prstGeom prst="rect">
            <a:avLst/>
          </a:prstGeom>
          <a:solidFill>
            <a:srgbClr val="00A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1900000"/>
            <a:ext cx="5800000" cy="5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00AED4"/>
                </a:solidFill>
                <a:latin typeface="Space Grotesk"/>
              </a:rPr>
              <a:t>PARTIE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450000"/>
            <a:ext cx="5800000" cy="14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Funnel Display"/>
              </a:rPr>
              <a:t>Pilotage, suivi et risques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3950000"/>
            <a:ext cx="5600000" cy="15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Work Sans"/>
              </a:rPr>
              <a:t>Comment on décide, comment on mesure, ce qui peut mal tourner.</a:t>
            </a:r>
          </a:p>
        </p:txBody>
      </p:sp>
      <p:pic>
        <p:nvPicPr>
          <p:cNvPr id="7" name="Picture 6" descr="logo_mstudio_blanc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00" y="5958000"/>
            <a:ext cx="1100000" cy="28788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9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PARTIE 6 | PILOTAGE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9800000" cy="7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Gouvernance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2000" y="330000"/>
            <a:ext cx="1100000" cy="3614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0000" y="6338000"/>
            <a:ext cx="10992000" cy="9000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6408000"/>
            <a:ext cx="11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Génération IA · Termes de référence du programme national porté par AYA IA  |  Octobre 2026  |  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0000" y="1450000"/>
            <a:ext cx="3200000" cy="900000"/>
          </a:xfrm>
          <a:prstGeom prst="roundRect">
            <a:avLst>
              <a:gd name="adj" fmla="val 6000"/>
            </a:avLst>
          </a:prstGeom>
          <a:solidFill>
            <a:srgbClr val="232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0000" y="1550000"/>
            <a:ext cx="2900000" cy="7000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Work Sans"/>
              </a:rPr>
              <a:t>Comité de pilotage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0000" y="1570000"/>
            <a:ext cx="7600000" cy="8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Les ministères concernés et les principaux financeurs. Se réunit chaque trimestre, valide le budget et les grandes orientations.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000" y="2500000"/>
            <a:ext cx="3200000" cy="900000"/>
          </a:xfrm>
          <a:prstGeom prst="roundRect">
            <a:avLst>
              <a:gd name="adj" fmla="val 6000"/>
            </a:avLst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" y="2600000"/>
            <a:ext cx="2900000" cy="7000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Work Sans"/>
              </a:rPr>
              <a:t>Unité de gestion du programme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0000" y="2620000"/>
            <a:ext cx="7600000" cy="8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Une équipe dédiée d'environ 25 personnes : direction, pédagogie, AYA IA, insertion, communication, finances, suivi-évaluation.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0000" y="3550000"/>
            <a:ext cx="3200000" cy="900000"/>
          </a:xfrm>
          <a:prstGeom prst="roundRect">
            <a:avLst>
              <a:gd name="adj" fmla="val 6000"/>
            </a:avLst>
          </a:prstGeom>
          <a:solidFill>
            <a:srgbClr val="00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" y="3650000"/>
            <a:ext cx="2900000" cy="7000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Work Sans"/>
              </a:rPr>
              <a:t>Comité éthique et scientifique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0000" y="3670000"/>
            <a:ext cx="7600000" cy="8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Chercheurs, juristes, représentants des jeunes. Contrôle l'usage des données et la qualité d'AYA.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0000" y="4600000"/>
            <a:ext cx="3200000" cy="900000"/>
          </a:xfrm>
          <a:prstGeom prst="roundRect">
            <a:avLst>
              <a:gd name="adj" fmla="val 6000"/>
            </a:avLst>
          </a:prstGeom>
          <a:solidFill>
            <a:srgbClr val="00A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0000" y="4700000"/>
            <a:ext cx="2900000" cy="7000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Work Sans"/>
              </a:rPr>
              <a:t>Comités régionaux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0000" y="4720000"/>
            <a:ext cx="7600000" cy="8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Dans chaque région : la direction régionale de l'AEJ, la mairie, les employeurs locaux, les centres de formation.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9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PARTIE 6 | SUIVI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9800000" cy="7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Indicateurs de résultat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2000" y="330000"/>
            <a:ext cx="1100000" cy="3614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0000" y="6338000"/>
            <a:ext cx="10992000" cy="9000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6408000"/>
            <a:ext cx="11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Génération IA · Termes de référence du programme national porté par AYA IA  |  Octobre 2026  |  27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0000" y="1400000"/>
          <a:ext cx="11000000" cy="4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0000"/>
                <a:gridCol w="2200000"/>
                <a:gridCol w="2000000"/>
                <a:gridCol w="2400000"/>
              </a:tblGrid>
              <a:tr h="44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Indicateur</a:t>
                      </a:r>
                    </a:p>
                  </a:txBody>
                  <a:tcPr marT="35000" marB="35000" marL="70000" marR="70000">
                    <a:solidFill>
                      <a:srgbClr val="2327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Cible fin 2029</a:t>
                      </a:r>
                    </a:p>
                  </a:txBody>
                  <a:tcPr marT="35000" marB="35000" marL="70000" marR="70000">
                    <a:solidFill>
                      <a:srgbClr val="2327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Fréquence</a:t>
                      </a:r>
                    </a:p>
                  </a:txBody>
                  <a:tcPr marT="35000" marB="35000" marL="70000" marR="70000">
                    <a:solidFill>
                      <a:srgbClr val="2327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Source</a:t>
                      </a:r>
                    </a:p>
                  </a:txBody>
                  <a:tcPr marT="35000" marB="35000" marL="70000" marR="70000">
                    <a:solidFill>
                      <a:srgbClr val="232754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Jeunes inscrits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130 000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Hebdomadaire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AYA IA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Jeunes certifiés niveau 1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100 000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Mensuelle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AYA IA, formateurs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Taux d'achèvement du niveau 1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≥ 75 %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Par cohorte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AYA IA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Certifiés niveau 2 / niveau 3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30 000 / 3 000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Par cohorte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Centres agréés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Jeunes insérés à 6 mois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30 000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Trimestrielle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Enquête AYA, AEJ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Part de femmes parmi les certifiés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≥ 50 %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Mensuelle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AYA IA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Part de certifiés hors Abidjan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≥ 40 %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Mensuelle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AYA IA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Satisfaction des employeurs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≥ 80 % satisfaits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Semestrielle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Enquête employeurs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Revenu à 12 mois comparé à un groupe témoin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Hausse mesurée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Annuelle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Évaluation indépendante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9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PARTIE 6 | RISQUES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9800000" cy="7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Risques et réponses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2000" y="330000"/>
            <a:ext cx="1100000" cy="3614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0000" y="6338000"/>
            <a:ext cx="10992000" cy="9000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6408000"/>
            <a:ext cx="11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Génération IA · Termes de référence du programme national porté par AYA IA  |  Octobre 2026  |  28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0000" y="1450000"/>
          <a:ext cx="11000000" cy="4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000"/>
                <a:gridCol w="1400000"/>
                <a:gridCol w="6400000"/>
              </a:tblGrid>
              <a:tr h="6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Risque</a:t>
                      </a:r>
                    </a:p>
                  </a:txBody>
                  <a:tcPr marT="35000" marB="35000" marL="70000" marR="70000">
                    <a:solidFill>
                      <a:srgbClr val="2327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Probabilité</a:t>
                      </a:r>
                    </a:p>
                  </a:txBody>
                  <a:tcPr marT="35000" marB="35000" marL="70000" marR="70000">
                    <a:solidFill>
                      <a:srgbClr val="2327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Réponse prévue</a:t>
                      </a:r>
                    </a:p>
                  </a:txBody>
                  <a:tcPr marT="35000" marB="35000" marL="70000" marR="70000">
                    <a:solidFill>
                      <a:srgbClr val="23275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Abandon en cours de formation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Forte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Leçons courtes sur WhatsApp, relances d'AYA, forfait de données offert, certificat à chaque étape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Formés mais pas insérés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Forte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Filières choisies avec les employeurs, pacte employeurs signé avant le passage à l'échelle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Erreurs ou propos inadaptés d'AYA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Moyenne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Contenus validés uniquement, relecture hebdomadaire, suspension automatique d'un module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Fracture régionale et de genre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Moyenne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Quotas suivis chaque mois, canal vocal, espaces en région, ambassadrices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Fuite ou mauvais usage des données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Faible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Hébergement local, déclaration ARTCI, accès limités, audit annuel</a:t>
                      </a:r>
                    </a:p>
                  </a:txBody>
                  <a:tcPr marT="35000" marB="35000" marL="70000" marR="70000">
                    <a:solidFill>
                      <a:srgbClr val="F7F8FA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7ABB"/>
                          </a:solidFill>
                          <a:latin typeface="Work Sans"/>
                        </a:rPr>
                        <a:t>Retard de financement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Moyenne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Pilote finançable seul (environ 2 Md F), passage à l'échelle conditionné aux résultats</a:t>
                      </a:r>
                    </a:p>
                  </a:txBody>
                  <a:tcPr marT="35000" marB="35000" marL="70000" marR="7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9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9800000" cy="7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Prochaines étapes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2000" y="330000"/>
            <a:ext cx="1100000" cy="3614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0000" y="6338000"/>
            <a:ext cx="10992000" cy="9000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6408000"/>
            <a:ext cx="11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Génération IA · Termes de référence du programme national porté par AYA IA  |  Octobre 2026  |  29</a:t>
            </a:r>
          </a:p>
        </p:txBody>
      </p:sp>
      <p:pic>
        <p:nvPicPr>
          <p:cNvPr id="8" name="Picture 7" descr="_c_classeIT.jpg_3900000_4450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00" y="1450000"/>
            <a:ext cx="3900000" cy="445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00000" y="1450000"/>
            <a:ext cx="1900000" cy="700000"/>
          </a:xfrm>
          <a:prstGeom prst="roundRect">
            <a:avLst>
              <a:gd name="adj" fmla="val 6000"/>
            </a:avLst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0000" y="1530000"/>
            <a:ext cx="1700000" cy="5500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pace Grotesk"/>
              </a:rPr>
              <a:t>Novembre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0" y="1600000"/>
            <a:ext cx="4800000" cy="6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Valider ces termes de référence et le nom du programme.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0000" y="2330000"/>
            <a:ext cx="1900000" cy="700000"/>
          </a:xfrm>
          <a:prstGeom prst="roundRect">
            <a:avLst>
              <a:gd name="adj" fmla="val 6000"/>
            </a:avLst>
          </a:prstGeom>
          <a:solidFill>
            <a:srgbClr val="00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410000"/>
            <a:ext cx="1700000" cy="5500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pace Grotesk"/>
              </a:rPr>
              <a:t>Décembre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0" y="2480000"/>
            <a:ext cx="4800000" cy="6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Présenter le projet aux deux ministères de tutelle et aux premiers financeurs.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0000" y="3210000"/>
            <a:ext cx="1900000" cy="700000"/>
          </a:xfrm>
          <a:prstGeom prst="roundRect">
            <a:avLst>
              <a:gd name="adj" fmla="val 6000"/>
            </a:avLst>
          </a:prstGeom>
          <a:solidFill>
            <a:srgbClr val="232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0000" y="3290000"/>
            <a:ext cx="1700000" cy="5500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pace Grotesk"/>
              </a:rPr>
              <a:t>Janvier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00000" y="3360000"/>
            <a:ext cx="4800000" cy="6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Lancer l'enquête employeurs et l'appel d'offres pour la construction d'AYA IA.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0000" y="4090000"/>
            <a:ext cx="1900000" cy="700000"/>
          </a:xfrm>
          <a:prstGeom prst="roundRect">
            <a:avLst>
              <a:gd name="adj" fmla="val 6000"/>
            </a:avLst>
          </a:prstGeom>
          <a:solidFill>
            <a:srgbClr val="00A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0000" y="4170000"/>
            <a:ext cx="1700000" cy="5500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pace Grotesk"/>
              </a:rPr>
              <a:t>Mars 2027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00000" y="4240000"/>
            <a:ext cx="4800000" cy="6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Signer les conventions avec les 5 centres pilotes et ouvrir les inscriptions.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0000" y="4970000"/>
            <a:ext cx="1900000" cy="700000"/>
          </a:xfrm>
          <a:prstGeom prst="roundRect">
            <a:avLst>
              <a:gd name="adj" fmla="val 6000"/>
            </a:avLst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0000" y="5050000"/>
            <a:ext cx="1700000" cy="5500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pace Grotesk"/>
              </a:rPr>
              <a:t>Avril 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5120000"/>
            <a:ext cx="4800000" cy="6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Démarrer la première cohorte de 5 000 jeunes.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9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ANNEXE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60000"/>
            <a:ext cx="9800000" cy="7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Sources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2000" y="330000"/>
            <a:ext cx="1100000" cy="3614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0000" y="6338000"/>
            <a:ext cx="10992000" cy="9000"/>
          </a:xfrm>
          <a:prstGeom prst="rect">
            <a:avLst/>
          </a:prstGeom>
          <a:solidFill>
            <a:srgbClr val="E4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6408000"/>
            <a:ext cx="1100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Génération IA · Termes de référence du programme national porté par AYA IA  |  Octobre 2026  | 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1400000"/>
            <a:ext cx="11000000" cy="45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• Stratégie nationale de l'intelligence artificielle, horizon 2030 (SNIA), ministère de la Transition numérique : telecom.gouv.ci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• Partenariat ministère de la Transition numérique et Mistral, Feuille de route numérique 2026-2028, 1er septembre 2026 : telecom.gouv.ci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• Conseil des ministres, ratification de l'accord de prêt AID n° 7931-CI pour le PADCI phase 1 : sgg.gouv.ci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• Recensement général de la population et de l'habitat 2021 : plan.gouv.ci ; part des moins de 35 ans : economie-ivoirienne.ci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• ANStat, Chiffres clés de la Côte d'Ivoire 2025 (chômage 2021) : anstat.ci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• ONEF, tendances du marché du travail 2024 (SU3, données en cours de validation) : onef.ci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• DataReportal, Digital 2026 : Côte d'Ivoire (internautes, réseaux sociaux, lignes mobiles) : datareportal.com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• Agence Ecofin, 11 février 2026, Programme national de stage, d'apprentissage et de reconversion (PNSAR 2026) : agenceecofin.com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• Agence Emploi Jeunes, 29 septembre 2025, formation de 1 000 jeunes aux métiers du numérique avec le PNUD : agenceemploijeunes.ci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• Programme jeunesse du Gouvernement, axes stratégiques : pjgouv.ci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• Sika Finance et Burkina24, 17 et 24 septembre 2026, formation à l'IA de 3 000 enseignants avec l'UNESCO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• AIP, 25 septembre 2026, programme IA et robotique de l'UIT pour les jeunes ; Africa DigiEmpower : civ.africadigiempower.org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• Loi n° 2013-450 du 19 juin 2013 relative à la protection des données à caractère personnel ; ARTCI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• Photographies : Pexels (licence libre), dont Jean Marc Bonnel, Silvere Meya, Zeal Creative Studios, Adedire Abiodun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