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Réactions</c:v>
                </c:pt>
              </c:strCache>
            </c:strRef>
          </c:tx>
          <c:spPr>
            <a:solidFill>
              <a:srgbClr val="1D1D1B"/>
            </a:solidFill>
          </c:spPr>
          <c:dPt>
            <c:idx val="5"/>
            <c:spPr>
              <a:solidFill>
                <a:srgbClr val="FFCB05"/>
              </a:solidFill>
            </c:spPr>
          </c:dPt>
          <c:dPt>
            <c:idx val="6"/>
            <c:spPr>
              <a:solidFill>
                <a:srgbClr val="FFCB05"/>
              </a:solidFill>
            </c:spPr>
          </c:dPt>
          <c:dPt>
            <c:idx val="7"/>
            <c:spPr>
              <a:solidFill>
                <a:srgbClr val="FFCB05"/>
              </a:solidFill>
            </c:spPr>
          </c:dPt>
          <c:dPt>
            <c:idx val="8"/>
            <c:spPr>
              <a:solidFill>
                <a:srgbClr val="FFCB05"/>
              </a:solidFill>
            </c:spPr>
          </c:dPt>
          <c:dPt>
            <c:idx val="9"/>
            <c:spPr>
              <a:solidFill>
                <a:srgbClr val="FFCB05"/>
              </a:solidFill>
            </c:spPr>
          </c:dPt>
          <c:dPt>
            <c:idx val="10"/>
            <c:spPr>
              <a:solidFill>
                <a:srgbClr val="FFCB05"/>
              </a:solidFill>
            </c:spPr>
          </c:dPt>
          <c:cat>
            <c:strRef>
              <c:f>Sheet1!$A$2:$A$12</c:f>
              <c:strCache>
                <c:ptCount val="11"/>
                <c:pt idx="0">
                  <c:v>Moov · Octobre Rose</c:v>
                </c:pt>
                <c:pt idx="1">
                  <c:v>Moov · Bank to Wallet</c:v>
                </c:pt>
                <c:pt idx="2">
                  <c:v>Orange · Tik Tak Pro</c:v>
                </c:pt>
                <c:pt idx="3">
                  <c:v>Orange · Octobre Rose</c:v>
                </c:pt>
                <c:pt idx="4">
                  <c:v>Orange · PUSH</c:v>
                </c:pt>
                <c:pt idx="5">
                  <c:v>Wave · Bank to Wallet</c:v>
                </c:pt>
                <c:pt idx="6">
                  <c:v>Wave · Rentrée</c:v>
                </c:pt>
                <c:pt idx="7">
                  <c:v>Wave · BAL × FLEXX</c:v>
                </c:pt>
                <c:pt idx="8">
                  <c:v>Wave · Salon Épargne</c:v>
                </c:pt>
                <c:pt idx="9">
                  <c:v>Wave · Minute sécurité</c:v>
                </c:pt>
                <c:pt idx="10">
                  <c:v>Wave · Octobre Rose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</c:v>
                </c:pt>
                <c:pt idx="1">
                  <c:v>12</c:v>
                </c:pt>
                <c:pt idx="2">
                  <c:v>20</c:v>
                </c:pt>
                <c:pt idx="3">
                  <c:v>41</c:v>
                </c:pt>
                <c:pt idx="4">
                  <c:v>42</c:v>
                </c:pt>
                <c:pt idx="5">
                  <c:v>66</c:v>
                </c:pt>
                <c:pt idx="6">
                  <c:v>71</c:v>
                </c:pt>
                <c:pt idx="7">
                  <c:v>94</c:v>
                </c:pt>
                <c:pt idx="8">
                  <c:v>165</c:v>
                </c:pt>
                <c:pt idx="9">
                  <c:v>201</c:v>
                </c:pt>
                <c:pt idx="10">
                  <c:v>234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latin typeface="Montserra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jpg"/><Relationship Id="rId4" Type="http://schemas.openxmlformats.org/officeDocument/2006/relationships/hyperlink" Target="https://fr.linkedin.com/posts/orange-money-ci_orangemoneyci-octobrerose-d%C3%A9pistage-activity-7513256699802103809-wfnJ" TargetMode="External"/><Relationship Id="rId5" Type="http://schemas.openxmlformats.org/officeDocument/2006/relationships/hyperlink" Target="https://www.linkedin.com/posts/orange-money-ci_carte-virtuelle-visa-orange-money-pour-vos-activity-7516166412214673409-IIWN" TargetMode="External"/><Relationship Id="rId6" Type="http://schemas.openxmlformats.org/officeDocument/2006/relationships/hyperlink" Target="https://fr.linkedin.com/posts/orange-money-ci_orangemoneyci-ombusiness-tiktakpro-activity-7516878124320526336-cmHX" TargetMode="External"/><Relationship Id="rId7" Type="http://schemas.openxmlformats.org/officeDocument/2006/relationships/hyperlink" Target="https://fr.linkedin.com/posts/orange-money-ci_orangemoneyci-push-inclusionfinanci%C3%A8re-activity-7519090114178994177-bLrS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jpg"/><Relationship Id="rId4" Type="http://schemas.openxmlformats.org/officeDocument/2006/relationships/hyperlink" Target="https://fr.linkedin.com/posts/wave-civ_octobrerose-waveci-pr%C3%A9vention-activity-7512833763308011520-zb36" TargetMode="External"/><Relationship Id="rId5" Type="http://schemas.openxmlformats.org/officeDocument/2006/relationships/hyperlink" Target="https://fr.linkedin.com/posts/wave-civ_wavec%C3%B4tedivoire-laminutewave-s%C3%A9curit%C3%A9-activity-7513926608018161664-gXt2" TargetMode="External"/><Relationship Id="rId6" Type="http://schemas.openxmlformats.org/officeDocument/2006/relationships/hyperlink" Target="https://fr.linkedin.com/posts/wave-civ_wavec%C3%B4tedivoire-servicesfinanciers-banquedigitale-activity-7515771623489298433-S4L3" TargetMode="External"/><Relationship Id="rId7" Type="http://schemas.openxmlformats.org/officeDocument/2006/relationships/hyperlink" Target="https://fr.linkedin.com/posts/wave-civ_wave-basketballafricaleague-flexx-activity-7516921725750763520-CPiT" TargetMode="External"/><Relationship Id="rId8" Type="http://schemas.openxmlformats.org/officeDocument/2006/relationships/hyperlink" Target="https://fr.linkedin.com/posts/wave-civ_waveci-rentr%C3%A9e-paiementavecwave-activity-7517950788011347968-jSf6" TargetMode="External"/><Relationship Id="rId9" Type="http://schemas.openxmlformats.org/officeDocument/2006/relationships/hyperlink" Target="https://fr.linkedin.com/posts/wave-civ_wavecotedivoire-salondelepargne-%C3%A9pargne-activity-7518970010770247680-SAz1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jpg"/><Relationship Id="rId4" Type="http://schemas.openxmlformats.org/officeDocument/2006/relationships/hyperlink" Target="https://www.fratmat.info/article/2644966/societe/anniversaire-de-moov-africa-ci-50-abonnes-recompenses-dont-10-gagnants-de-2-millions-de-fcfa" TargetMode="External"/><Relationship Id="rId5" Type="http://schemas.openxmlformats.org/officeDocument/2006/relationships/hyperlink" Target="https://fr.linkedin.com/posts/moov-money-c%C3%B4te-d-ivoire_moovmoneyci-octobrerose-sant%C3%A9pourtous-activity-7511714705011503106-u16f" TargetMode="External"/><Relationship Id="rId6" Type="http://schemas.openxmlformats.org/officeDocument/2006/relationships/hyperlink" Target="https://fr.linkedin.com/posts/moov-money-c%C3%B4te-d-ivoire_moovmoney-moovafricaci-paiementmobile-activity-7513537509646344192-aa-c" TargetMode="External"/><Relationship Id="rId7" Type="http://schemas.openxmlformats.org/officeDocument/2006/relationships/hyperlink" Target="https://fr.linkedin.com/posts/moov-money-c%C3%B4te-d-ivoire_moovmoneyci-banktowallet-moovafricaci-activity-7514263384842747906-rDFZ" TargetMode="External"/><Relationship Id="rId8" Type="http://schemas.openxmlformats.org/officeDocument/2006/relationships/hyperlink" Target="https://fr.linkedin.com/posts/moov-money-c%C3%B4te-d-ivoire_moovmoneyci-transfertinternational-b%C3%A9nintogo-activity-7516819724127600640-FVP6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fr.linkedin.com/posts/orange-money-ci_orangemoneyci-octobrerose-d%C3%A9pistage-activity-7513256699802103809-wfnJ" TargetMode="External"/><Relationship Id="rId4" Type="http://schemas.openxmlformats.org/officeDocument/2006/relationships/hyperlink" Target="https://www.linkedin.com/posts/orange-money-ci_carte-virtuelle-visa-orange-money-pour-vos-activity-7516166412214673409-IIWN" TargetMode="External"/><Relationship Id="rId5" Type="http://schemas.openxmlformats.org/officeDocument/2006/relationships/hyperlink" Target="https://fr.linkedin.com/posts/orange-money-ci_orangemoneyci-ombusiness-tiktakpro-activity-7516878124320526336-cmHX" TargetMode="External"/><Relationship Id="rId6" Type="http://schemas.openxmlformats.org/officeDocument/2006/relationships/hyperlink" Target="https://fr.linkedin.com/posts/orange-money-ci_orangemoneyci-push-inclusionfinanci%C3%A8re-activity-7519090114178994177-bLrS" TargetMode="External"/><Relationship Id="rId7" Type="http://schemas.openxmlformats.org/officeDocument/2006/relationships/hyperlink" Target="https://fr.linkedin.com/posts/wave-civ_octobrerose-waveci-pr%C3%A9vention-activity-7512833763308011520-zb36" TargetMode="External"/><Relationship Id="rId8" Type="http://schemas.openxmlformats.org/officeDocument/2006/relationships/hyperlink" Target="https://fr.linkedin.com/posts/wave-civ_wavec%C3%B4tedivoire-laminutewave-s%C3%A9curit%C3%A9-activity-7513926608018161664-gXt2" TargetMode="External"/><Relationship Id="rId9" Type="http://schemas.openxmlformats.org/officeDocument/2006/relationships/hyperlink" Target="https://fr.linkedin.com/posts/wave-civ_wavec%C3%B4tedivoire-servicesfinanciers-banquedigitale-activity-7515771623489298433-S4L3" TargetMode="External"/><Relationship Id="rId10" Type="http://schemas.openxmlformats.org/officeDocument/2006/relationships/hyperlink" Target="https://fr.linkedin.com/posts/wave-civ_wave-basketballafricaleague-flexx-activity-7516921725750763520-CPiT" TargetMode="External"/><Relationship Id="rId11" Type="http://schemas.openxmlformats.org/officeDocument/2006/relationships/hyperlink" Target="https://fr.linkedin.com/posts/wave-civ_waveci-rentr%C3%A9e-paiementavecwave-activity-7517950788011347968-jSf6" TargetMode="External"/><Relationship Id="rId12" Type="http://schemas.openxmlformats.org/officeDocument/2006/relationships/hyperlink" Target="https://fr.linkedin.com/posts/wave-civ_wavecotedivoire-salondelepargne-%C3%A9pargne-activity-7518970010770247680-SAz1" TargetMode="External"/><Relationship Id="rId13" Type="http://schemas.openxmlformats.org/officeDocument/2006/relationships/hyperlink" Target="https://fr.linkedin.com/posts/moov-money-c%C3%B4te-d-ivoire_moovmoneyci-octobrerose-sant%C3%A9pourtous-activity-7511714705011503106-u16f" TargetMode="External"/><Relationship Id="rId14" Type="http://schemas.openxmlformats.org/officeDocument/2006/relationships/hyperlink" Target="https://fr.linkedin.com/posts/moov-money-c%C3%B4te-d-ivoire_moovmoney-moovafricaci-paiementmobile-activity-7513537509646344192-aa-c" TargetMode="External"/><Relationship Id="rId15" Type="http://schemas.openxmlformats.org/officeDocument/2006/relationships/hyperlink" Target="https://fr.linkedin.com/posts/moov-money-c%C3%B4te-d-ivoire_moovmoneyci-banktowallet-moovafricaci-activity-7514263384842747906-rDFZ" TargetMode="External"/><Relationship Id="rId16" Type="http://schemas.openxmlformats.org/officeDocument/2006/relationships/hyperlink" Target="https://fr.linkedin.com/posts/moov-money-c%C3%B4te-d-ivoire_moovmoneyci-transfertinternational-b%C3%A9nintogo-activity-7516819724127600640-FVP6" TargetMode="External"/><Relationship Id="rId17" Type="http://schemas.openxmlformats.org/officeDocument/2006/relationships/hyperlink" Target="https://www.fratmat.info/article/2644966/societe/anniversaire-de-moov-africa-ci-50-abonnes-recompenses-dont-10-gagnants-de-2-millions-de-fcfa" TargetMode="External"/><Relationship Id="rId18" Type="http://schemas.openxmlformats.org/officeDocument/2006/relationships/hyperlink" Target="https://www.bceao.int/fr/content/etablissements-de-monnaie-electronique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_mark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0"/>
            <a:ext cx="588233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309360" y="0"/>
            <a:ext cx="109728" cy="6858000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1309036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CB05"/>
                </a:solidFill>
                <a:latin typeface="Montserrat"/>
              </a:rPr>
              <a:t>VEILLE CONCURRENTIELLE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54864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Montserrat"/>
              </a:rPr>
              <a:t>Ce que disent Orange Money, Wave et Moov Money ce trimestre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60520"/>
            <a:ext cx="5394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D8D6CE"/>
                </a:solidFill>
                <a:latin typeface="Montserrat"/>
              </a:rPr>
              <a:t>Prises de parole publiques en Côte d’Ivoire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D8D6CE"/>
                </a:solidFill>
                <a:latin typeface="Montserrat"/>
              </a:rPr>
              <a:t>Du 1er au 27 octobre 2026 · 15 contenus analysés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35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F5F5A"/>
                </a:solidFill>
                <a:latin typeface="Montserrat"/>
              </a:rPr>
              <a:t>Préparé pour la direction de la communication · 27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60350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F5F5A"/>
                </a:solidFill>
                <a:latin typeface="Montserrat"/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92608"/>
            <a:ext cx="785421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F5F5A"/>
                </a:solidFill>
                <a:latin typeface="Montserrat"/>
              </a:rPr>
              <a:t>SYNTHÈSE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D1D1B"/>
                </a:solidFill>
                <a:latin typeface="Montserrat"/>
              </a:rPr>
              <a:t>Quatre choses à retenir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F5F5A"/>
                </a:solidFill>
                <a:latin typeface="Montserrat"/>
              </a:rPr>
              <a:t>MTN Côte d’Ivoire · Veille communication mobile money · octobre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F5F5A"/>
                </a:solidFill>
                <a:latin typeface="Montserrat"/>
              </a:rPr>
              <a:t>2 /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5440680" cy="2103120"/>
          </a:xfrm>
          <a:prstGeom prst="rect">
            <a:avLst/>
          </a:prstGeom>
          <a:solidFill>
            <a:srgbClr val="F4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91440" cy="2103120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D1D1B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874519"/>
            <a:ext cx="4297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D1D1B"/>
                </a:solidFill>
                <a:latin typeface="Montserrat"/>
              </a:rPr>
              <a:t>Tout le monde parle d’usage, plus de transfert seul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606040"/>
            <a:ext cx="4297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F5F5A"/>
                </a:solidFill>
                <a:latin typeface="Montserrat"/>
              </a:rPr>
              <a:t>Facture, boutique, banque, revenus agricoles : chaque acteur montre le portefeuille au service d’un geste du quotidien.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600200"/>
            <a:ext cx="5440680" cy="2103120"/>
          </a:xfrm>
          <a:prstGeom prst="rect">
            <a:avLst/>
          </a:prstGeom>
          <a:solidFill>
            <a:srgbClr val="F4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600200"/>
            <a:ext cx="91440" cy="2103120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8288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D1D1B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1874519"/>
            <a:ext cx="4297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D1D1B"/>
                </a:solidFill>
                <a:latin typeface="Montserrat"/>
              </a:rPr>
              <a:t>Wave mène la conversation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606040"/>
            <a:ext cx="4297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F5F5A"/>
                </a:solidFill>
                <a:latin typeface="Montserrat"/>
              </a:rPr>
              <a:t>Six contenus, les plus fortes réactions visibles (jusqu’à 234) et une présence physique : salon de l’épargne, soirée BAL × FLEXX.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931920"/>
            <a:ext cx="5440680" cy="2103120"/>
          </a:xfrm>
          <a:prstGeom prst="rect">
            <a:avLst/>
          </a:prstGeom>
          <a:solidFill>
            <a:srgbClr val="F4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931920"/>
            <a:ext cx="91440" cy="2103120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1605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D1D1B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206240"/>
            <a:ext cx="4297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D1D1B"/>
                </a:solidFill>
                <a:latin typeface="Montserrat"/>
              </a:rPr>
              <a:t>Orange Money vise les commerçants et les filières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937760"/>
            <a:ext cx="4297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F5F5A"/>
                </a:solidFill>
                <a:latin typeface="Montserrat"/>
              </a:rPr>
              <a:t>Financement Tik Tak Pro pour les marchands OM Business, partenariat PUSH pour payer les producteurs agricoles.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931920"/>
            <a:ext cx="5440680" cy="2103120"/>
          </a:xfrm>
          <a:prstGeom prst="rect">
            <a:avLst/>
          </a:prstGeom>
          <a:solidFill>
            <a:srgbClr val="F4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3931920"/>
            <a:ext cx="91440" cy="2103120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1605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D1D1B"/>
                </a:solidFill>
                <a:latin typeface="Montserrat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4206240"/>
            <a:ext cx="4297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D1D1B"/>
                </a:solidFill>
                <a:latin typeface="Montserrat"/>
              </a:rPr>
              <a:t>Moov Money parle surtout en bonus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4937760"/>
            <a:ext cx="4297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F5F5A"/>
                </a:solidFill>
                <a:latin typeface="Montserrat"/>
              </a:rPr>
              <a:t>Frais remboursés, minutes et data offertes, tirage des 20 ans : une communication de promotion, peu de pédagogie.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92608"/>
            <a:ext cx="785421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F5F5A"/>
                </a:solidFill>
                <a:latin typeface="Montserrat"/>
              </a:rPr>
              <a:t>PÉRIMÈTRE ET MÉTHODE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D1D1B"/>
                </a:solidFill>
                <a:latin typeface="Montserrat"/>
              </a:rPr>
              <a:t>Ce que couvre cette veille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F5F5A"/>
                </a:solidFill>
                <a:latin typeface="Montserrat"/>
              </a:rPr>
              <a:t>MTN Côte d’Ivoire · Veille communication mobile money · octobre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F5F5A"/>
                </a:solidFill>
                <a:latin typeface="Montserrat"/>
              </a:rPr>
              <a:t>3 / 11</a:t>
            </a:r>
          </a:p>
        </p:txBody>
      </p:sp>
      <p:pic>
        <p:nvPicPr>
          <p:cNvPr id="8" name="Picture 7" descr="v_phon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554480"/>
            <a:ext cx="3959352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6002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D1D1B"/>
                </a:solidFill>
                <a:latin typeface="Montserrat"/>
              </a:rPr>
              <a:t>ACTEURS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1673352"/>
            <a:ext cx="54864" cy="777240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1600200"/>
            <a:ext cx="4754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F5F5A"/>
                </a:solidFill>
                <a:latin typeface="Montserrat"/>
              </a:rPr>
              <a:t>Orange Money CI, Wave Côte d’Ivoire, Moov Money CI : les trois concurrents validés avec vous.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1576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D1D1B"/>
                </a:solidFill>
                <a:latin typeface="Montserrat"/>
              </a:rPr>
              <a:t>PÉRIODE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2788920"/>
            <a:ext cx="54864" cy="777240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0" y="2715768"/>
            <a:ext cx="4754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F5F5A"/>
                </a:solidFill>
                <a:latin typeface="Montserrat"/>
              </a:rPr>
              <a:t>Du 1er au 27 octobre 2026. Le trimestre est en cours : novembre et décembre restent à suivre.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31335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D1D1B"/>
                </a:solidFill>
                <a:latin typeface="Montserrat"/>
              </a:rPr>
              <a:t>SOURCES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3904487"/>
            <a:ext cx="54864" cy="777240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0" y="3831335"/>
            <a:ext cx="4754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F5F5A"/>
                </a:solidFill>
                <a:latin typeface="Montserrat"/>
              </a:rPr>
              <a:t>14 publications LinkedIn officielles et 1 article de Fraternité Matin, tous ouverts et datés.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94690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D1D1B"/>
                </a:solidFill>
                <a:latin typeface="Montserrat"/>
              </a:rPr>
              <a:t>LIMITES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0" y="5020056"/>
            <a:ext cx="54864" cy="777240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60320" y="4946904"/>
            <a:ext cx="4754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F5F5A"/>
                </a:solidFill>
                <a:latin typeface="Montserrat"/>
              </a:rPr>
              <a:t>Facebook, TikTok, affichage, radio et télévision ne sont pas couverts. Les réactions sont un relevé du 27 octobre, sans portée ni ventes.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92608"/>
            <a:ext cx="785421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F5F5A"/>
                </a:solidFill>
                <a:latin typeface="Montserrat"/>
              </a:rPr>
              <a:t>ACTEUR 1 · 4 CONTENUS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D1D1B"/>
                </a:solidFill>
                <a:latin typeface="Montserrat"/>
              </a:rPr>
              <a:t>Orange Money · commerçants et filières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F5F5A"/>
                </a:solidFill>
                <a:latin typeface="Montserrat"/>
              </a:rPr>
              <a:t>MTN Côte d’Ivoire · Veille communication mobile money · octobre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F5F5A"/>
                </a:solidFill>
                <a:latin typeface="Montserrat"/>
              </a:rPr>
              <a:t>4 / 11</a:t>
            </a:r>
          </a:p>
        </p:txBody>
      </p:sp>
      <p:pic>
        <p:nvPicPr>
          <p:cNvPr id="8" name="Picture 7" descr="v_sh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1600200"/>
            <a:ext cx="2862072" cy="3108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778240" y="4846320"/>
            <a:ext cx="2862072" cy="1280160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0" y="4956048"/>
            <a:ext cx="2560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CB05"/>
                </a:solidFill>
                <a:latin typeface="Montserrat"/>
              </a:rPr>
              <a:t>Lecture : </a:t>
            </a:r>
            <a:r>
              <a:rPr sz="1100" b="0">
                <a:solidFill>
                  <a:srgbClr val="FFFFFF"/>
                </a:solidFill>
                <a:latin typeface="Montserrat"/>
              </a:rPr>
              <a:t>Orange parle aux commerçants avec une offre de financement, pas seulement d’encaissement.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600200"/>
            <a:ext cx="8001000" cy="1074420"/>
          </a:xfrm>
          <a:prstGeom prst="rect">
            <a:avLst/>
          </a:prstGeom>
          <a:noFill/>
          <a:ln w="12700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91640"/>
            <a:ext cx="914400" cy="8915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D1D1B"/>
                </a:solidFill>
                <a:latin typeface="Montserrat"/>
              </a:rPr>
              <a:t>6 oct.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673352"/>
            <a:ext cx="5120640" cy="9372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D1D1B"/>
                </a:solidFill>
                <a:latin typeface="Montserrat"/>
              </a:rPr>
              <a:t>Octobre Rose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5F5F5A"/>
                </a:solidFill>
                <a:latin typeface="Montserrat"/>
              </a:rPr>
              <a:t>Rappel du dépistage du cancer du sein.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673352"/>
            <a:ext cx="1508760" cy="9372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100"/>
              </a:spcAft>
            </a:pPr>
            <a:r>
              <a:rPr sz="1000" b="1">
                <a:solidFill>
                  <a:srgbClr val="1D1D1B"/>
                </a:solidFill>
                <a:latin typeface="Montserrat"/>
              </a:rPr>
              <a:t>41 réactions</a:t>
            </a:r>
          </a:p>
          <a:p>
            <a:pPr algn="r">
              <a:spcAft>
                <a:spcPts val="100"/>
              </a:spcAft>
            </a:pPr>
            <a:r>
              <a:rPr sz="900" b="0">
                <a:solidFill>
                  <a:srgbClr val="005A9C"/>
                </a:solidFill>
                <a:latin typeface="Montserrat"/>
                <a:hlinkClick r:id="rId4"/>
              </a:rPr>
              <a:t>Voir la source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766060"/>
            <a:ext cx="8001000" cy="1074420"/>
          </a:xfrm>
          <a:prstGeom prst="rect">
            <a:avLst/>
          </a:prstGeom>
          <a:noFill/>
          <a:ln w="12700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857500"/>
            <a:ext cx="914400" cy="8915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D1D1B"/>
                </a:solidFill>
                <a:latin typeface="Montserrat"/>
              </a:rPr>
              <a:t>14 oct.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2839212"/>
            <a:ext cx="5120640" cy="9372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D1D1B"/>
                </a:solidFill>
                <a:latin typeface="Montserrat"/>
              </a:rPr>
              <a:t>Carte Visa virtuelle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5F5F5A"/>
                </a:solidFill>
                <a:latin typeface="Montserrat"/>
              </a:rPr>
              <a:t>Présentation de la carte virtuelle Visa Orange Money.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2839212"/>
            <a:ext cx="1508760" cy="9372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100"/>
              </a:spcAft>
            </a:pPr>
            <a:r>
              <a:rPr sz="1000" b="1">
                <a:solidFill>
                  <a:srgbClr val="1D1D1B"/>
                </a:solidFill>
                <a:latin typeface="Montserrat"/>
              </a:rPr>
              <a:t>non relevé</a:t>
            </a:r>
          </a:p>
          <a:p>
            <a:pPr algn="r">
              <a:spcAft>
                <a:spcPts val="100"/>
              </a:spcAft>
            </a:pPr>
            <a:r>
              <a:rPr sz="900" b="0">
                <a:solidFill>
                  <a:srgbClr val="005A9C"/>
                </a:solidFill>
                <a:latin typeface="Montserrat"/>
                <a:hlinkClick r:id="rId5"/>
              </a:rPr>
              <a:t>Voir la source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931920"/>
            <a:ext cx="8001000" cy="1074420"/>
          </a:xfrm>
          <a:prstGeom prst="rect">
            <a:avLst/>
          </a:prstGeom>
          <a:noFill/>
          <a:ln w="12700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023360"/>
            <a:ext cx="914400" cy="8915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D1D1B"/>
                </a:solidFill>
                <a:latin typeface="Montserrat"/>
              </a:rPr>
              <a:t>16 oct.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005072"/>
            <a:ext cx="5120640" cy="9372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D1D1B"/>
                </a:solidFill>
                <a:latin typeface="Montserrat"/>
              </a:rPr>
              <a:t>Tik Tak Pro · « Solution en Action »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5F5F5A"/>
                </a:solidFill>
                <a:latin typeface="Montserrat"/>
              </a:rPr>
              <a:t>Financement pour les marchands OM Business éligibles, en épisode vidéo.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4005072"/>
            <a:ext cx="1508760" cy="9372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100"/>
              </a:spcAft>
            </a:pPr>
            <a:r>
              <a:rPr sz="1000" b="1">
                <a:solidFill>
                  <a:srgbClr val="1D1D1B"/>
                </a:solidFill>
                <a:latin typeface="Montserrat"/>
              </a:rPr>
              <a:t>20 réactions</a:t>
            </a:r>
          </a:p>
          <a:p>
            <a:pPr algn="r">
              <a:spcAft>
                <a:spcPts val="100"/>
              </a:spcAft>
            </a:pPr>
            <a:r>
              <a:rPr sz="900" b="0">
                <a:solidFill>
                  <a:srgbClr val="005A9C"/>
                </a:solidFill>
                <a:latin typeface="Montserrat"/>
                <a:hlinkClick r:id="rId6"/>
              </a:rPr>
              <a:t>Voir la source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097780"/>
            <a:ext cx="8001000" cy="1074420"/>
          </a:xfrm>
          <a:prstGeom prst="rect">
            <a:avLst/>
          </a:prstGeom>
          <a:noFill/>
          <a:ln w="12700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189220"/>
            <a:ext cx="914400" cy="8915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D1D1B"/>
                </a:solidFill>
                <a:latin typeface="Montserrat"/>
              </a:rPr>
              <a:t>22 oct.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5170932"/>
            <a:ext cx="5120640" cy="9372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D1D1B"/>
                </a:solidFill>
                <a:latin typeface="Montserrat"/>
              </a:rPr>
              <a:t>Partenariat PUSH Côte d’Ivoire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5F5F5A"/>
                </a:solidFill>
                <a:latin typeface="Montserrat"/>
              </a:rPr>
              <a:t>Les producteurs agricoles reçoivent leurs revenus sur Orange Money.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5170932"/>
            <a:ext cx="1508760" cy="9372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100"/>
              </a:spcAft>
            </a:pPr>
            <a:r>
              <a:rPr sz="1000" b="1">
                <a:solidFill>
                  <a:srgbClr val="1D1D1B"/>
                </a:solidFill>
                <a:latin typeface="Montserrat"/>
              </a:rPr>
              <a:t>42 réactions</a:t>
            </a:r>
          </a:p>
          <a:p>
            <a:pPr algn="r">
              <a:spcAft>
                <a:spcPts val="100"/>
              </a:spcAft>
            </a:pPr>
            <a:r>
              <a:rPr sz="900" b="0">
                <a:solidFill>
                  <a:srgbClr val="005A9C"/>
                </a:solidFill>
                <a:latin typeface="Montserrat"/>
                <a:hlinkClick r:id="rId7"/>
              </a:rPr>
              <a:t>Voir la source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92608"/>
            <a:ext cx="785421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F5F5A"/>
                </a:solidFill>
                <a:latin typeface="Montserrat"/>
              </a:rPr>
              <a:t>ACTEUR 2 · 6 CONTENUS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D1D1B"/>
                </a:solidFill>
                <a:latin typeface="Montserrat"/>
              </a:rPr>
              <a:t>Wave · pédagogie et présence terrain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F5F5A"/>
                </a:solidFill>
                <a:latin typeface="Montserrat"/>
              </a:rPr>
              <a:t>MTN Côte d’Ivoire · Veille communication mobile money · octobre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F5F5A"/>
                </a:solidFill>
                <a:latin typeface="Montserrat"/>
              </a:rPr>
              <a:t>5 / 11</a:t>
            </a:r>
          </a:p>
        </p:txBody>
      </p:sp>
      <p:pic>
        <p:nvPicPr>
          <p:cNvPr id="8" name="Picture 7" descr="v_wom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1600200"/>
            <a:ext cx="2862072" cy="3108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778240" y="4846320"/>
            <a:ext cx="2862072" cy="1280160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0" y="4956048"/>
            <a:ext cx="2560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CB05"/>
                </a:solidFill>
                <a:latin typeface="Montserrat"/>
              </a:rPr>
              <a:t>Lecture : </a:t>
            </a:r>
            <a:r>
              <a:rPr sz="1100" b="0">
                <a:solidFill>
                  <a:srgbClr val="FFFFFF"/>
                </a:solidFill>
                <a:latin typeface="Montserrat"/>
              </a:rPr>
              <a:t>Un rendez-vous récurrent (La Minute Wave), des tutoriels et du terrain : Wave installe la confiance.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600200"/>
            <a:ext cx="8001000" cy="685800"/>
          </a:xfrm>
          <a:prstGeom prst="rect">
            <a:avLst/>
          </a:prstGeom>
          <a:noFill/>
          <a:ln w="12700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9164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D1D1B"/>
                </a:solidFill>
                <a:latin typeface="Montserrat"/>
              </a:rPr>
              <a:t>5 oct.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673352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D1D1B"/>
                </a:solidFill>
                <a:latin typeface="Montserrat"/>
              </a:rPr>
              <a:t>Octobre Rose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5F5F5A"/>
                </a:solidFill>
                <a:latin typeface="Montserrat"/>
              </a:rPr>
              <a:t>Sensibilisation au dépistage.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673352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100"/>
              </a:spcAft>
            </a:pPr>
            <a:r>
              <a:rPr sz="1000" b="1">
                <a:solidFill>
                  <a:srgbClr val="1D1D1B"/>
                </a:solidFill>
                <a:latin typeface="Montserrat"/>
              </a:rPr>
              <a:t>234 réactions</a:t>
            </a:r>
          </a:p>
          <a:p>
            <a:pPr algn="r">
              <a:spcAft>
                <a:spcPts val="100"/>
              </a:spcAft>
            </a:pPr>
            <a:r>
              <a:rPr sz="900" b="0">
                <a:solidFill>
                  <a:srgbClr val="005A9C"/>
                </a:solidFill>
                <a:latin typeface="Montserrat"/>
                <a:hlinkClick r:id="rId4"/>
              </a:rPr>
              <a:t>Voir la source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377440"/>
            <a:ext cx="8001000" cy="685800"/>
          </a:xfrm>
          <a:prstGeom prst="rect">
            <a:avLst/>
          </a:prstGeom>
          <a:noFill/>
          <a:ln w="12700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46888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D1D1B"/>
                </a:solidFill>
                <a:latin typeface="Montserrat"/>
              </a:rPr>
              <a:t>8 oct.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2450592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D1D1B"/>
                </a:solidFill>
                <a:latin typeface="Montserrat"/>
              </a:rPr>
              <a:t>La Minute Wave · sécurité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5F5F5A"/>
                </a:solidFill>
                <a:latin typeface="Montserrat"/>
              </a:rPr>
              <a:t>Vidéo : les bons réflexes face aux liens et lives douteux.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2450592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100"/>
              </a:spcAft>
            </a:pPr>
            <a:r>
              <a:rPr sz="1000" b="1">
                <a:solidFill>
                  <a:srgbClr val="1D1D1B"/>
                </a:solidFill>
                <a:latin typeface="Montserrat"/>
              </a:rPr>
              <a:t>201 réactions</a:t>
            </a:r>
          </a:p>
          <a:p>
            <a:pPr algn="r">
              <a:spcAft>
                <a:spcPts val="100"/>
              </a:spcAft>
            </a:pPr>
            <a:r>
              <a:rPr sz="900" b="0">
                <a:solidFill>
                  <a:srgbClr val="005A9C"/>
                </a:solidFill>
                <a:latin typeface="Montserrat"/>
                <a:hlinkClick r:id="rId5"/>
              </a:rPr>
              <a:t>Voir la source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154680"/>
            <a:ext cx="8001000" cy="685800"/>
          </a:xfrm>
          <a:prstGeom prst="rect">
            <a:avLst/>
          </a:prstGeom>
          <a:noFill/>
          <a:ln w="12700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24612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D1D1B"/>
                </a:solidFill>
                <a:latin typeface="Montserrat"/>
              </a:rPr>
              <a:t>13 oct.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227832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D1D1B"/>
                </a:solidFill>
                <a:latin typeface="Montserrat"/>
              </a:rPr>
              <a:t>Bank to Wallet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5F5F5A"/>
                </a:solidFill>
                <a:latin typeface="Montserrat"/>
              </a:rPr>
              <a:t>Tutoriel en 4 étapes pour relier son compte bancaire.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3227832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100"/>
              </a:spcAft>
            </a:pPr>
            <a:r>
              <a:rPr sz="1000" b="1">
                <a:solidFill>
                  <a:srgbClr val="1D1D1B"/>
                </a:solidFill>
                <a:latin typeface="Montserrat"/>
              </a:rPr>
              <a:t>66 réactions</a:t>
            </a:r>
          </a:p>
          <a:p>
            <a:pPr algn="r">
              <a:spcAft>
                <a:spcPts val="100"/>
              </a:spcAft>
            </a:pPr>
            <a:r>
              <a:rPr sz="900" b="0">
                <a:solidFill>
                  <a:srgbClr val="005A9C"/>
                </a:solidFill>
                <a:latin typeface="Montserrat"/>
                <a:hlinkClick r:id="rId6"/>
              </a:rPr>
              <a:t>Voir la source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931920"/>
            <a:ext cx="8001000" cy="685800"/>
          </a:xfrm>
          <a:prstGeom prst="rect">
            <a:avLst/>
          </a:prstGeom>
          <a:noFill/>
          <a:ln w="12700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023359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D1D1B"/>
                </a:solidFill>
                <a:latin typeface="Montserrat"/>
              </a:rPr>
              <a:t>16 oct.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005072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D1D1B"/>
                </a:solidFill>
                <a:latin typeface="Montserrat"/>
              </a:rPr>
              <a:t>Soirée BAL × FLEXX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5F5F5A"/>
                </a:solidFill>
                <a:latin typeface="Montserrat"/>
              </a:rPr>
              <a:t>Partenariat basket et collaboration mode, cible jeunes.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4005072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100"/>
              </a:spcAft>
            </a:pPr>
            <a:r>
              <a:rPr sz="1000" b="1">
                <a:solidFill>
                  <a:srgbClr val="1D1D1B"/>
                </a:solidFill>
                <a:latin typeface="Montserrat"/>
              </a:rPr>
              <a:t>94 réactions</a:t>
            </a:r>
          </a:p>
          <a:p>
            <a:pPr algn="r">
              <a:spcAft>
                <a:spcPts val="100"/>
              </a:spcAft>
            </a:pPr>
            <a:r>
              <a:rPr sz="900" b="0">
                <a:solidFill>
                  <a:srgbClr val="005A9C"/>
                </a:solidFill>
                <a:latin typeface="Montserrat"/>
                <a:hlinkClick r:id="rId7"/>
              </a:rPr>
              <a:t>Voir la source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709159"/>
            <a:ext cx="8001000" cy="685800"/>
          </a:xfrm>
          <a:prstGeom prst="rect">
            <a:avLst/>
          </a:prstGeom>
          <a:noFill/>
          <a:ln w="12700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800599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D1D1B"/>
                </a:solidFill>
                <a:latin typeface="Montserrat"/>
              </a:rPr>
              <a:t>19 oct.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4782312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D1D1B"/>
                </a:solidFill>
                <a:latin typeface="Montserrat"/>
              </a:rPr>
              <a:t>Rentrée chez les partenaires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5F5F5A"/>
                </a:solidFill>
                <a:latin typeface="Montserrat"/>
              </a:rPr>
              <a:t>Payer ses achats en boutique avec Wave.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4782312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100"/>
              </a:spcAft>
            </a:pPr>
            <a:r>
              <a:rPr sz="1000" b="1">
                <a:solidFill>
                  <a:srgbClr val="1D1D1B"/>
                </a:solidFill>
                <a:latin typeface="Montserrat"/>
              </a:rPr>
              <a:t>71 réactions</a:t>
            </a:r>
          </a:p>
          <a:p>
            <a:pPr algn="r">
              <a:spcAft>
                <a:spcPts val="100"/>
              </a:spcAft>
            </a:pPr>
            <a:r>
              <a:rPr sz="900" b="0">
                <a:solidFill>
                  <a:srgbClr val="005A9C"/>
                </a:solidFill>
                <a:latin typeface="Montserrat"/>
                <a:hlinkClick r:id="rId8"/>
              </a:rPr>
              <a:t>Voir la source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486399"/>
            <a:ext cx="8001000" cy="685800"/>
          </a:xfrm>
          <a:prstGeom prst="rect">
            <a:avLst/>
          </a:prstGeom>
          <a:noFill/>
          <a:ln w="12700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577839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D1D1B"/>
                </a:solidFill>
                <a:latin typeface="Montserrat"/>
              </a:rPr>
              <a:t>22 oct.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5559551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D1D1B"/>
                </a:solidFill>
                <a:latin typeface="Montserrat"/>
              </a:rPr>
              <a:t>Salon de l’Épargne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5F5F5A"/>
                </a:solidFill>
                <a:latin typeface="Montserrat"/>
              </a:rPr>
              <a:t>Stand et masterclass gratuite au Sofitel Hôtel Ivoire.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5559551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100"/>
              </a:spcAft>
            </a:pPr>
            <a:r>
              <a:rPr sz="1000" b="1">
                <a:solidFill>
                  <a:srgbClr val="1D1D1B"/>
                </a:solidFill>
                <a:latin typeface="Montserrat"/>
              </a:rPr>
              <a:t>165 réactions</a:t>
            </a:r>
          </a:p>
          <a:p>
            <a:pPr algn="r">
              <a:spcAft>
                <a:spcPts val="100"/>
              </a:spcAft>
            </a:pPr>
            <a:r>
              <a:rPr sz="900" b="0">
                <a:solidFill>
                  <a:srgbClr val="005A9C"/>
                </a:solidFill>
                <a:latin typeface="Montserrat"/>
                <a:hlinkClick r:id="rId9"/>
              </a:rPr>
              <a:t>Voir la source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92608"/>
            <a:ext cx="785421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F5F5A"/>
                </a:solidFill>
                <a:latin typeface="Montserrat"/>
              </a:rPr>
              <a:t>ACTEUR 3 · 5 CONTENUS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D1D1B"/>
                </a:solidFill>
                <a:latin typeface="Montserrat"/>
              </a:rPr>
              <a:t>Moov Money · bonus et promotions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F5F5A"/>
                </a:solidFill>
                <a:latin typeface="Montserrat"/>
              </a:rPr>
              <a:t>MTN Côte d’Ivoire · Veille communication mobile money · octobre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F5F5A"/>
                </a:solidFill>
                <a:latin typeface="Montserrat"/>
              </a:rPr>
              <a:t>6 / 11</a:t>
            </a:r>
          </a:p>
        </p:txBody>
      </p:sp>
      <p:pic>
        <p:nvPicPr>
          <p:cNvPr id="8" name="Picture 7" descr="v_marke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1600200"/>
            <a:ext cx="2862072" cy="3108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778240" y="4846320"/>
            <a:ext cx="2862072" cy="1280160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0" y="4956048"/>
            <a:ext cx="2560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CB05"/>
                </a:solidFill>
                <a:latin typeface="Montserrat"/>
              </a:rPr>
              <a:t>Lecture : </a:t>
            </a:r>
            <a:r>
              <a:rPr sz="1100" b="0">
                <a:solidFill>
                  <a:srgbClr val="FFFFFF"/>
                </a:solidFill>
                <a:latin typeface="Montserrat"/>
              </a:rPr>
              <a:t>Moov achète l’usage avec des bonus. Efficace à court terme, peu de récit de marque.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600200"/>
            <a:ext cx="8001000" cy="841247"/>
          </a:xfrm>
          <a:prstGeom prst="rect">
            <a:avLst/>
          </a:prstGeom>
          <a:noFill/>
          <a:ln w="12700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91640"/>
            <a:ext cx="9144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D1D1B"/>
                </a:solidFill>
                <a:latin typeface="Montserrat"/>
              </a:rPr>
              <a:t>2 oct.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673352"/>
            <a:ext cx="5120640" cy="7040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D1D1B"/>
                </a:solidFill>
                <a:latin typeface="Montserrat"/>
              </a:rPr>
              <a:t>Promo « Anniversaire 20 ans »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5F5F5A"/>
                </a:solidFill>
                <a:latin typeface="Montserrat"/>
              </a:rPr>
              <a:t>50 abonnés récompensés, dont 10 chèques de 2 M F CFA (Fraternité Matin).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673352"/>
            <a:ext cx="1508760" cy="7040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100"/>
              </a:spcAft>
            </a:pPr>
            <a:r>
              <a:rPr sz="1000" b="1">
                <a:solidFill>
                  <a:srgbClr val="1D1D1B"/>
                </a:solidFill>
                <a:latin typeface="Montserrat"/>
              </a:rPr>
              <a:t>presse</a:t>
            </a:r>
          </a:p>
          <a:p>
            <a:pPr algn="r">
              <a:spcAft>
                <a:spcPts val="100"/>
              </a:spcAft>
            </a:pPr>
            <a:r>
              <a:rPr sz="900" b="0">
                <a:solidFill>
                  <a:srgbClr val="005A9C"/>
                </a:solidFill>
                <a:latin typeface="Montserrat"/>
                <a:hlinkClick r:id="rId4"/>
              </a:rPr>
              <a:t>Voir la source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532888"/>
            <a:ext cx="8001000" cy="841247"/>
          </a:xfrm>
          <a:prstGeom prst="rect">
            <a:avLst/>
          </a:prstGeom>
          <a:noFill/>
          <a:ln w="12700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624328"/>
            <a:ext cx="9144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D1D1B"/>
                </a:solidFill>
                <a:latin typeface="Montserrat"/>
              </a:rPr>
              <a:t>2 oct.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2606040"/>
            <a:ext cx="5120640" cy="7040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D1D1B"/>
                </a:solidFill>
                <a:latin typeface="Montserrat"/>
              </a:rPr>
              <a:t>Octobre Rose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5F5F5A"/>
                </a:solidFill>
                <a:latin typeface="Montserrat"/>
              </a:rPr>
              <a:t>Sensibilisation au dépistage.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2606040"/>
            <a:ext cx="1508760" cy="7040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100"/>
              </a:spcAft>
            </a:pPr>
            <a:r>
              <a:rPr sz="1000" b="1">
                <a:solidFill>
                  <a:srgbClr val="1D1D1B"/>
                </a:solidFill>
                <a:latin typeface="Montserrat"/>
              </a:rPr>
              <a:t>9 réactions</a:t>
            </a:r>
          </a:p>
          <a:p>
            <a:pPr algn="r">
              <a:spcAft>
                <a:spcPts val="100"/>
              </a:spcAft>
            </a:pPr>
            <a:r>
              <a:rPr sz="900" b="0">
                <a:solidFill>
                  <a:srgbClr val="005A9C"/>
                </a:solidFill>
                <a:latin typeface="Montserrat"/>
                <a:hlinkClick r:id="rId5"/>
              </a:rPr>
              <a:t>Voir la source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465576"/>
            <a:ext cx="8001000" cy="841247"/>
          </a:xfrm>
          <a:prstGeom prst="rect">
            <a:avLst/>
          </a:prstGeom>
          <a:noFill/>
          <a:ln w="12700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557016"/>
            <a:ext cx="9144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D1D1B"/>
                </a:solidFill>
                <a:latin typeface="Montserrat"/>
              </a:rPr>
              <a:t>7 oct.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538728"/>
            <a:ext cx="5120640" cy="7040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D1D1B"/>
                </a:solidFill>
                <a:latin typeface="Montserrat"/>
              </a:rPr>
              <a:t>Facture CIE avec bonus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5F5F5A"/>
                </a:solidFill>
                <a:latin typeface="Montserrat"/>
              </a:rPr>
              <a:t>Jusqu’à 3 h d’appels et 300 Mo offerts, bonus renforcés jeudi et samedi.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3538728"/>
            <a:ext cx="1508760" cy="7040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100"/>
              </a:spcAft>
            </a:pPr>
            <a:r>
              <a:rPr sz="1000" b="1">
                <a:solidFill>
                  <a:srgbClr val="1D1D1B"/>
                </a:solidFill>
                <a:latin typeface="Montserrat"/>
              </a:rPr>
              <a:t>faible</a:t>
            </a:r>
          </a:p>
          <a:p>
            <a:pPr algn="r">
              <a:spcAft>
                <a:spcPts val="100"/>
              </a:spcAft>
            </a:pPr>
            <a:r>
              <a:rPr sz="900" b="0">
                <a:solidFill>
                  <a:srgbClr val="005A9C"/>
                </a:solidFill>
                <a:latin typeface="Montserrat"/>
                <a:hlinkClick r:id="rId6"/>
              </a:rPr>
              <a:t>Voir la source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398264"/>
            <a:ext cx="8001000" cy="841247"/>
          </a:xfrm>
          <a:prstGeom prst="rect">
            <a:avLst/>
          </a:prstGeom>
          <a:noFill/>
          <a:ln w="12700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489704"/>
            <a:ext cx="9144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D1D1B"/>
                </a:solidFill>
                <a:latin typeface="Montserrat"/>
              </a:rPr>
              <a:t>9 oct.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471416"/>
            <a:ext cx="5120640" cy="7040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D1D1B"/>
                </a:solidFill>
                <a:latin typeface="Montserrat"/>
              </a:rPr>
              <a:t>Bank to Wallet à 0 F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5F5F5A"/>
                </a:solidFill>
                <a:latin typeface="Montserrat"/>
              </a:rPr>
              <a:t>Avec BOA, AFG Bank CI, Mansa Bank et Banque Atlantique.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4471416"/>
            <a:ext cx="1508760" cy="7040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100"/>
              </a:spcAft>
            </a:pPr>
            <a:r>
              <a:rPr sz="1000" b="1">
                <a:solidFill>
                  <a:srgbClr val="1D1D1B"/>
                </a:solidFill>
                <a:latin typeface="Montserrat"/>
              </a:rPr>
              <a:t>12 réactions</a:t>
            </a:r>
          </a:p>
          <a:p>
            <a:pPr algn="r">
              <a:spcAft>
                <a:spcPts val="100"/>
              </a:spcAft>
            </a:pPr>
            <a:r>
              <a:rPr sz="900" b="0">
                <a:solidFill>
                  <a:srgbClr val="005A9C"/>
                </a:solidFill>
                <a:latin typeface="Montserrat"/>
                <a:hlinkClick r:id="rId7"/>
              </a:rPr>
              <a:t>Voir la source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330952"/>
            <a:ext cx="8001000" cy="841247"/>
          </a:xfrm>
          <a:prstGeom prst="rect">
            <a:avLst/>
          </a:prstGeom>
          <a:noFill/>
          <a:ln w="12700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422392"/>
            <a:ext cx="9144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D1D1B"/>
                </a:solidFill>
                <a:latin typeface="Montserrat"/>
              </a:rPr>
              <a:t>16 oct.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5404104"/>
            <a:ext cx="5120640" cy="7040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D1D1B"/>
                </a:solidFill>
                <a:latin typeface="Montserrat"/>
              </a:rPr>
              <a:t>Promo transfert international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5F5F5A"/>
                </a:solidFill>
                <a:latin typeface="Montserrat"/>
              </a:rPr>
              <a:t>50 % des frais remboursés (jusqu’à 5 000 F) vers six pays.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5404104"/>
            <a:ext cx="1508760" cy="7040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100"/>
              </a:spcAft>
            </a:pPr>
            <a:r>
              <a:rPr sz="1000" b="1">
                <a:solidFill>
                  <a:srgbClr val="1D1D1B"/>
                </a:solidFill>
                <a:latin typeface="Montserrat"/>
              </a:rPr>
              <a:t>faible</a:t>
            </a:r>
          </a:p>
          <a:p>
            <a:pPr algn="r">
              <a:spcAft>
                <a:spcPts val="100"/>
              </a:spcAft>
            </a:pPr>
            <a:r>
              <a:rPr sz="900" b="0">
                <a:solidFill>
                  <a:srgbClr val="005A9C"/>
                </a:solidFill>
                <a:latin typeface="Montserrat"/>
                <a:hlinkClick r:id="rId8"/>
              </a:rPr>
              <a:t>Voir la source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92608"/>
            <a:ext cx="785421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F5F5A"/>
                </a:solidFill>
                <a:latin typeface="Montserrat"/>
              </a:rPr>
              <a:t>COMPARAISON DES THÈMES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D1D1B"/>
                </a:solidFill>
                <a:latin typeface="Montserrat"/>
              </a:rPr>
              <a:t>Qui parle de quoi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F5F5A"/>
                </a:solidFill>
                <a:latin typeface="Montserrat"/>
              </a:rPr>
              <a:t>MTN Côte d’Ivoire · Veille communication mobile money · octobre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F5F5A"/>
                </a:solidFill>
                <a:latin typeface="Montserrat"/>
              </a:rPr>
              <a:t>7 / 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2103120"/>
                <a:gridCol w="2103120"/>
                <a:gridCol w="2103120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CB05"/>
                          </a:solidFill>
                          <a:latin typeface="Montserrat"/>
                        </a:rPr>
                        <a:t>Thème</a:t>
                      </a:r>
                    </a:p>
                  </a:txBody>
                  <a:tcPr>
                    <a:solidFill>
                      <a:srgbClr val="1D1D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CB05"/>
                          </a:solidFill>
                          <a:latin typeface="Montserrat"/>
                        </a:rPr>
                        <a:t>Orange Money</a:t>
                      </a:r>
                    </a:p>
                  </a:txBody>
                  <a:tcPr>
                    <a:solidFill>
                      <a:srgbClr val="1D1D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CB05"/>
                          </a:solidFill>
                          <a:latin typeface="Montserrat"/>
                        </a:rPr>
                        <a:t>Wave</a:t>
                      </a:r>
                    </a:p>
                  </a:txBody>
                  <a:tcPr>
                    <a:solidFill>
                      <a:srgbClr val="1D1D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CB05"/>
                          </a:solidFill>
                          <a:latin typeface="Montserrat"/>
                        </a:rPr>
                        <a:t>Moov Money</a:t>
                      </a:r>
                    </a:p>
                  </a:txBody>
                  <a:tcPr>
                    <a:solidFill>
                      <a:srgbClr val="1D1D1B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D1D1B"/>
                          </a:solidFill>
                          <a:latin typeface="Montserrat"/>
                        </a:rPr>
                        <a:t>Commerçants, boutiques</a:t>
                      </a:r>
                    </a:p>
                  </a:txBody>
                  <a:tcPr anchor="ctr"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D1D1B"/>
                          </a:solidFill>
                          <a:latin typeface="Montserrat"/>
                        </a:rPr>
                        <a:t>●</a:t>
                      </a:r>
                    </a:p>
                  </a:txBody>
                  <a:tcPr anchor="ctr"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D1D1B"/>
                          </a:solidFill>
                          <a:latin typeface="Montserrat"/>
                        </a:rPr>
                        <a:t>●</a:t>
                      </a:r>
                    </a:p>
                  </a:txBody>
                  <a:tcPr anchor="ctr"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0AEA6"/>
                          </a:solidFill>
                          <a:latin typeface="Montserrat"/>
                        </a:rPr>
                        <a:t>–</a:t>
                      </a:r>
                    </a:p>
                  </a:txBody>
                  <a:tcPr anchor="ctr">
                    <a:solidFill>
                      <a:srgbClr val="F4F2EC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D1D1B"/>
                          </a:solidFill>
                          <a:latin typeface="Montserrat"/>
                        </a:rPr>
                        <a:t>Tutoriel, mode d’emploi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0AEA6"/>
                          </a:solidFill>
                          <a:latin typeface="Montserrat"/>
                        </a:rPr>
                        <a:t>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D1D1B"/>
                          </a:solidFill>
                          <a:latin typeface="Montserrat"/>
                        </a:rPr>
                        <a:t>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0AEA6"/>
                          </a:solidFill>
                          <a:latin typeface="Montserrat"/>
                        </a:rPr>
                        <a:t>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D1D1B"/>
                          </a:solidFill>
                          <a:latin typeface="Montserrat"/>
                        </a:rPr>
                        <a:t>Sécurité, fraude</a:t>
                      </a:r>
                    </a:p>
                  </a:txBody>
                  <a:tcPr anchor="ctr"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0AEA6"/>
                          </a:solidFill>
                          <a:latin typeface="Montserrat"/>
                        </a:rPr>
                        <a:t>–</a:t>
                      </a:r>
                    </a:p>
                  </a:txBody>
                  <a:tcPr anchor="ctr"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D1D1B"/>
                          </a:solidFill>
                          <a:latin typeface="Montserrat"/>
                        </a:rPr>
                        <a:t>●</a:t>
                      </a:r>
                    </a:p>
                  </a:txBody>
                  <a:tcPr anchor="ctr"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0AEA6"/>
                          </a:solidFill>
                          <a:latin typeface="Montserrat"/>
                        </a:rPr>
                        <a:t>–</a:t>
                      </a:r>
                    </a:p>
                  </a:txBody>
                  <a:tcPr anchor="ctr">
                    <a:solidFill>
                      <a:srgbClr val="F4F2EC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D1D1B"/>
                          </a:solidFill>
                          <a:latin typeface="Montserrat"/>
                        </a:rPr>
                        <a:t>Banque ↔ portefeuille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0AEA6"/>
                          </a:solidFill>
                          <a:latin typeface="Montserrat"/>
                        </a:rPr>
                        <a:t>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D1D1B"/>
                          </a:solidFill>
                          <a:latin typeface="Montserrat"/>
                        </a:rPr>
                        <a:t>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D1D1B"/>
                          </a:solidFill>
                          <a:latin typeface="Montserrat"/>
                        </a:rPr>
                        <a:t>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D1D1B"/>
                          </a:solidFill>
                          <a:latin typeface="Montserrat"/>
                        </a:rPr>
                        <a:t>Bonus, frais remboursés</a:t>
                      </a:r>
                    </a:p>
                  </a:txBody>
                  <a:tcPr anchor="ctr"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0AEA6"/>
                          </a:solidFill>
                          <a:latin typeface="Montserrat"/>
                        </a:rPr>
                        <a:t>–</a:t>
                      </a:r>
                    </a:p>
                  </a:txBody>
                  <a:tcPr anchor="ctr"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0AEA6"/>
                          </a:solidFill>
                          <a:latin typeface="Montserrat"/>
                        </a:rPr>
                        <a:t>–</a:t>
                      </a:r>
                    </a:p>
                  </a:txBody>
                  <a:tcPr anchor="ctr"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D1D1B"/>
                          </a:solidFill>
                          <a:latin typeface="Montserrat"/>
                        </a:rPr>
                        <a:t>●</a:t>
                      </a:r>
                    </a:p>
                  </a:txBody>
                  <a:tcPr anchor="ctr">
                    <a:solidFill>
                      <a:srgbClr val="F4F2EC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D1D1B"/>
                          </a:solidFill>
                          <a:latin typeface="Montserrat"/>
                        </a:rPr>
                        <a:t>Partenariat de filière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D1D1B"/>
                          </a:solidFill>
                          <a:latin typeface="Montserrat"/>
                        </a:rPr>
                        <a:t>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0AEA6"/>
                          </a:solidFill>
                          <a:latin typeface="Montserrat"/>
                        </a:rPr>
                        <a:t>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0AEA6"/>
                          </a:solidFill>
                          <a:latin typeface="Montserrat"/>
                        </a:rPr>
                        <a:t>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D1D1B"/>
                          </a:solidFill>
                          <a:latin typeface="Montserrat"/>
                        </a:rPr>
                        <a:t>Événement physique</a:t>
                      </a:r>
                    </a:p>
                  </a:txBody>
                  <a:tcPr anchor="ctr"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0AEA6"/>
                          </a:solidFill>
                          <a:latin typeface="Montserrat"/>
                        </a:rPr>
                        <a:t>–</a:t>
                      </a:r>
                    </a:p>
                  </a:txBody>
                  <a:tcPr anchor="ctr"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D1D1B"/>
                          </a:solidFill>
                          <a:latin typeface="Montserrat"/>
                        </a:rPr>
                        <a:t>●</a:t>
                      </a:r>
                    </a:p>
                  </a:txBody>
                  <a:tcPr anchor="ctr"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D1D1B"/>
                          </a:solidFill>
                          <a:latin typeface="Montserrat"/>
                        </a:rPr>
                        <a:t>●</a:t>
                      </a:r>
                    </a:p>
                  </a:txBody>
                  <a:tcPr anchor="ctr">
                    <a:solidFill>
                      <a:srgbClr val="F4F2EC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D1D1B"/>
                          </a:solidFill>
                          <a:latin typeface="Montserrat"/>
                        </a:rPr>
                        <a:t>Octobre Rose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D1D1B"/>
                          </a:solidFill>
                          <a:latin typeface="Montserrat"/>
                        </a:rPr>
                        <a:t>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D1D1B"/>
                          </a:solidFill>
                          <a:latin typeface="Montserrat"/>
                        </a:rPr>
                        <a:t>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D1D1B"/>
                          </a:solidFill>
                          <a:latin typeface="Montserrat"/>
                        </a:rPr>
                        <a:t>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199632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F5F5A"/>
                </a:solidFill>
                <a:latin typeface="Montserrat"/>
              </a:rPr>
              <a:t>● = au moins un contenu sur le thème dans la période. Événement Moov : remise des lots des 20 ans, rapportée par la presse.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92608"/>
            <a:ext cx="785421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F5F5A"/>
                </a:solidFill>
                <a:latin typeface="Montserrat"/>
              </a:rPr>
              <a:t>RELEVÉ DU 27 OCTOBRE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D1D1B"/>
                </a:solidFill>
                <a:latin typeface="Montserrat"/>
              </a:rPr>
              <a:t>Réactions visibles sur LinkedIn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F5F5A"/>
                </a:solidFill>
                <a:latin typeface="Montserrat"/>
              </a:rPr>
              <a:t>MTN Côte d’Ivoire · Veille communication mobile money · octobre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F5F5A"/>
                </a:solidFill>
                <a:latin typeface="Montserrat"/>
              </a:rPr>
              <a:t>8 / 11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463040"/>
          <a:ext cx="7315200" cy="4754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8229600" y="1554480"/>
            <a:ext cx="3410712" cy="4572000"/>
          </a:xfrm>
          <a:prstGeom prst="rect">
            <a:avLst/>
          </a:prstGeom>
          <a:solidFill>
            <a:srgbClr val="F4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1783080"/>
            <a:ext cx="301752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D1D1B"/>
                </a:solidFill>
                <a:latin typeface="Montserrat"/>
              </a:rPr>
              <a:t>Wave capte l’attention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F5F5A"/>
                </a:solidFill>
                <a:latin typeface="Montserrat"/>
              </a:rPr>
              <a:t>Ses six contenus totalisent 831 réactions, contre 103 pour les trois contenus relevés d’Orange Money.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D1D1B"/>
                </a:solidFill>
                <a:latin typeface="Montserrat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1D1D1B"/>
                </a:solidFill>
                <a:latin typeface="Montserrat"/>
              </a:rPr>
              <a:t>La sécurité intéresse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F5F5A"/>
                </a:solidFill>
                <a:latin typeface="Montserrat"/>
              </a:rPr>
              <a:t>La vidéo de prévention de Wave fait 201 réactions : c’est son meilleur score hors Octobre Rose.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D1D1B"/>
                </a:solidFill>
                <a:latin typeface="Montserrat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1D1D1B"/>
                </a:solidFill>
                <a:latin typeface="Montserrat"/>
              </a:rPr>
              <a:t>À lire avec prudence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F5F5A"/>
                </a:solidFill>
                <a:latin typeface="Montserrat"/>
              </a:rPr>
              <a:t>Les réactions ne disent rien de la portée ni des ventes. Les compteurs de deux posts Moov n’étaient pas fiables : ils sont exclus.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92608"/>
            <a:ext cx="785421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F5F5A"/>
                </a:solidFill>
                <a:latin typeface="Montserrat"/>
              </a:rPr>
              <a:t>PISTES À VALIDER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D1D1B"/>
                </a:solidFill>
                <a:latin typeface="Montserrat"/>
              </a:rPr>
              <a:t>Ce que MTN peut en tirer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F5F5A"/>
                </a:solidFill>
                <a:latin typeface="Montserrat"/>
              </a:rPr>
              <a:t>MTN Côte d’Ivoire · Veille communication mobile money · octobre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F5F5A"/>
                </a:solidFill>
                <a:latin typeface="Montserrat"/>
              </a:rPr>
              <a:t>9 /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777240" cy="868680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777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1D1D1B"/>
                </a:solidFill>
                <a:latin typeface="Montserra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64592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D1D1B"/>
                </a:solidFill>
                <a:latin typeface="Montserrat"/>
              </a:rPr>
              <a:t>Montrer un vrai paiement MoMo chez un commerçant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39112"/>
            <a:ext cx="6035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F5F5A"/>
                </a:solidFill>
                <a:latin typeface="Montserrat"/>
              </a:rPr>
              <a:t>Une scène réelle, une confirmation à l’écran. Aucun des trois ne le montre au marché dans cet échantillon.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15768"/>
            <a:ext cx="777240" cy="868680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715768"/>
            <a:ext cx="777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1D1D1B"/>
                </a:solidFill>
                <a:latin typeface="Montserrat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761487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D1D1B"/>
                </a:solidFill>
                <a:latin typeface="Montserrat"/>
              </a:rPr>
              <a:t>Lancer un rendez-vous sécurité récurrent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154679"/>
            <a:ext cx="6035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F5F5A"/>
                </a:solidFill>
                <a:latin typeface="Montserrat"/>
              </a:rPr>
              <a:t>Un format court et régulier, comme La Minute Wave : un risque, un bon réflexe.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831335"/>
            <a:ext cx="777240" cy="868680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31335"/>
            <a:ext cx="777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1D1D1B"/>
                </a:solidFill>
                <a:latin typeface="Montserrat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77055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D1D1B"/>
                </a:solidFill>
                <a:latin typeface="Montserrat"/>
              </a:rPr>
              <a:t>Répondre au financement d’Orange côté commerçants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270248"/>
            <a:ext cx="6035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F5F5A"/>
                </a:solidFill>
                <a:latin typeface="Montserrat"/>
              </a:rPr>
              <a:t>Mettre en avant ce que MoMo apporte aux marchands, avec des avantages vérifiés.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946904"/>
            <a:ext cx="777240" cy="868680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946904"/>
            <a:ext cx="777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1D1D1B"/>
                </a:solidFill>
                <a:latin typeface="Montserrat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992624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D1D1B"/>
                </a:solidFill>
                <a:latin typeface="Montserrat"/>
              </a:rPr>
              <a:t>Ne pas suivre Moov sur le terrain du bonus seul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385816"/>
            <a:ext cx="6035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F5F5A"/>
                </a:solidFill>
                <a:latin typeface="Montserrat"/>
              </a:rPr>
              <a:t>Un bonus attire, mais il ne construit pas la marque : l’associer à un usage durable.</a:t>
            </a:r>
          </a:p>
        </p:txBody>
      </p:sp>
      <p:pic>
        <p:nvPicPr>
          <p:cNvPr id="24" name="Picture 23" descr="v_sh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600200"/>
            <a:ext cx="3685032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92608"/>
            <a:ext cx="785421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F5F5A"/>
                </a:solidFill>
                <a:latin typeface="Montserrat"/>
              </a:rPr>
              <a:t>SUITE DE LA VEILLE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D1D1B"/>
                </a:solidFill>
                <a:latin typeface="Montserrat"/>
              </a:rPr>
              <a:t>À surveiller d’ici fin décembre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F5F5A"/>
                </a:solidFill>
                <a:latin typeface="Montserrat"/>
              </a:rPr>
              <a:t>MTN Côte d’Ivoire · Veille communication mobile money · octobre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F5F5A"/>
                </a:solidFill>
                <a:latin typeface="Montserrat"/>
              </a:rPr>
              <a:t>10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D1D1B"/>
                </a:solidFill>
                <a:latin typeface="Montserrat"/>
              </a:rPr>
              <a:t>NOVEMBRE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691640"/>
            <a:ext cx="54864" cy="731520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645920"/>
            <a:ext cx="8778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F5F5A"/>
                </a:solidFill>
                <a:latin typeface="Montserrat"/>
              </a:rPr>
              <a:t>Fin annoncée de la promo « Anniversaire 20 ans » de Moov : 20 M F CFA redistribués chaque mois jusqu’en novembre, selon Fraternité Matin.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432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D1D1B"/>
                </a:solidFill>
                <a:latin typeface="Montserrat"/>
              </a:rPr>
              <a:t>NOVEMBRE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2788920"/>
            <a:ext cx="54864" cy="731520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2743200"/>
            <a:ext cx="8778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F5F5A"/>
                </a:solidFill>
                <a:latin typeface="Montserrat"/>
              </a:rPr>
              <a:t>La suite des épisodes « Solution en Action » d’Orange et de La Minute Wave.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D1D1B"/>
                </a:solidFill>
                <a:latin typeface="Montserrat"/>
              </a:rPr>
              <a:t>DÉCEMBRE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0" y="3886200"/>
            <a:ext cx="54864" cy="731520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3840480"/>
            <a:ext cx="8778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F5F5A"/>
                </a:solidFill>
                <a:latin typeface="Montserrat"/>
              </a:rPr>
              <a:t>Les campagnes de fin d’année : envois d’argent des fêtes, achats, promotions.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937759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D1D1B"/>
                </a:solidFill>
                <a:latin typeface="Montserrat"/>
              </a:rPr>
              <a:t>CHAQUE MOIS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0" y="4983479"/>
            <a:ext cx="54864" cy="731520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4937759"/>
            <a:ext cx="8778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F5F5A"/>
                </a:solidFill>
                <a:latin typeface="Montserrat"/>
              </a:rPr>
              <a:t>Étendre le relevé à Facebook, TikTok et à l’affichage pour couvrir le grand public.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92608"/>
            <a:ext cx="785421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F5F5A"/>
                </a:solidFill>
                <a:latin typeface="Montserrat"/>
              </a:rPr>
              <a:t>TOUTES OUVERTES ET DATÉES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D1D1B"/>
                </a:solidFill>
                <a:latin typeface="Montserrat"/>
              </a:rPr>
              <a:t>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F5F5A"/>
                </a:solidFill>
                <a:latin typeface="Montserrat"/>
              </a:rPr>
              <a:t>MTN Côte d’Ivoire · Veille communication mobile money · octobre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F5F5A"/>
                </a:solidFill>
                <a:latin typeface="Montserrat"/>
              </a:rPr>
              <a:t>11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D1D1B"/>
                </a:solidFill>
                <a:latin typeface="Montserrat"/>
              </a:rPr>
              <a:t>Orange Money CI (LinkedIn)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600200"/>
            <a:ext cx="7132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005A9C"/>
                </a:solidFill>
                <a:latin typeface="Montserrat"/>
                <a:hlinkClick r:id="rId3"/>
              </a:rPr>
              <a:t>6 oct.</a:t>
            </a:r>
            <a:r>
              <a:rPr sz="1200" b="0">
                <a:solidFill>
                  <a:srgbClr val="5F5F5A"/>
                </a:solidFill>
                <a:latin typeface="Montserrat"/>
              </a:rPr>
              <a:t>   ·   </a:t>
            </a:r>
            <a:r>
              <a:rPr sz="1200" b="0">
                <a:solidFill>
                  <a:srgbClr val="005A9C"/>
                </a:solidFill>
                <a:latin typeface="Montserrat"/>
                <a:hlinkClick r:id="rId4"/>
              </a:rPr>
              <a:t>14 oct.</a:t>
            </a:r>
            <a:r>
              <a:rPr sz="1200" b="0">
                <a:solidFill>
                  <a:srgbClr val="5F5F5A"/>
                </a:solidFill>
                <a:latin typeface="Montserrat"/>
              </a:rPr>
              <a:t>   ·   </a:t>
            </a:r>
            <a:r>
              <a:rPr sz="1200" b="0">
                <a:solidFill>
                  <a:srgbClr val="005A9C"/>
                </a:solidFill>
                <a:latin typeface="Montserrat"/>
                <a:hlinkClick r:id="rId5"/>
              </a:rPr>
              <a:t>16 oct.</a:t>
            </a:r>
            <a:r>
              <a:rPr sz="1200" b="0">
                <a:solidFill>
                  <a:srgbClr val="5F5F5A"/>
                </a:solidFill>
                <a:latin typeface="Montserrat"/>
              </a:rPr>
              <a:t>   ·   </a:t>
            </a:r>
            <a:r>
              <a:rPr sz="1200" b="0">
                <a:solidFill>
                  <a:srgbClr val="005A9C"/>
                </a:solidFill>
                <a:latin typeface="Montserrat"/>
                <a:hlinkClick r:id="rId6"/>
              </a:rPr>
              <a:t>22 oct.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D1D1B"/>
                </a:solidFill>
                <a:latin typeface="Montserrat"/>
              </a:rPr>
              <a:t>Wave Côte d’Ivoire (LinkedIn)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468880"/>
            <a:ext cx="7132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005A9C"/>
                </a:solidFill>
                <a:latin typeface="Montserrat"/>
                <a:hlinkClick r:id="rId7"/>
              </a:rPr>
              <a:t>5 oct.</a:t>
            </a:r>
            <a:r>
              <a:rPr sz="1200" b="0">
                <a:solidFill>
                  <a:srgbClr val="5F5F5A"/>
                </a:solidFill>
                <a:latin typeface="Montserrat"/>
              </a:rPr>
              <a:t>   ·   </a:t>
            </a:r>
            <a:r>
              <a:rPr sz="1200" b="0">
                <a:solidFill>
                  <a:srgbClr val="005A9C"/>
                </a:solidFill>
                <a:latin typeface="Montserrat"/>
                <a:hlinkClick r:id="rId8"/>
              </a:rPr>
              <a:t>8 oct.</a:t>
            </a:r>
            <a:r>
              <a:rPr sz="1200" b="0">
                <a:solidFill>
                  <a:srgbClr val="5F5F5A"/>
                </a:solidFill>
                <a:latin typeface="Montserrat"/>
              </a:rPr>
              <a:t>   ·   </a:t>
            </a:r>
            <a:r>
              <a:rPr sz="1200" b="0">
                <a:solidFill>
                  <a:srgbClr val="005A9C"/>
                </a:solidFill>
                <a:latin typeface="Montserrat"/>
                <a:hlinkClick r:id="rId9"/>
              </a:rPr>
              <a:t>13 oct.</a:t>
            </a:r>
            <a:r>
              <a:rPr sz="1200" b="0">
                <a:solidFill>
                  <a:srgbClr val="5F5F5A"/>
                </a:solidFill>
                <a:latin typeface="Montserrat"/>
              </a:rPr>
              <a:t>   ·   </a:t>
            </a:r>
            <a:r>
              <a:rPr sz="1200" b="0">
                <a:solidFill>
                  <a:srgbClr val="005A9C"/>
                </a:solidFill>
                <a:latin typeface="Montserrat"/>
                <a:hlinkClick r:id="rId10"/>
              </a:rPr>
              <a:t>16 oct.</a:t>
            </a:r>
            <a:r>
              <a:rPr sz="1200" b="0">
                <a:solidFill>
                  <a:srgbClr val="5F5F5A"/>
                </a:solidFill>
                <a:latin typeface="Montserrat"/>
              </a:rPr>
              <a:t>   ·   </a:t>
            </a:r>
            <a:r>
              <a:rPr sz="1200" b="0">
                <a:solidFill>
                  <a:srgbClr val="005A9C"/>
                </a:solidFill>
                <a:latin typeface="Montserrat"/>
                <a:hlinkClick r:id="rId11"/>
              </a:rPr>
              <a:t>19 oct.</a:t>
            </a:r>
            <a:r>
              <a:rPr sz="1200" b="0">
                <a:solidFill>
                  <a:srgbClr val="5F5F5A"/>
                </a:solidFill>
                <a:latin typeface="Montserrat"/>
              </a:rPr>
              <a:t>   ·   </a:t>
            </a:r>
            <a:r>
              <a:rPr sz="1200" b="0">
                <a:solidFill>
                  <a:srgbClr val="005A9C"/>
                </a:solidFill>
                <a:latin typeface="Montserrat"/>
                <a:hlinkClick r:id="rId12"/>
              </a:rPr>
              <a:t>22 oct.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3756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D1D1B"/>
                </a:solidFill>
                <a:latin typeface="Montserrat"/>
              </a:rPr>
              <a:t>Moov Money CI (LinkedIn)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337560"/>
            <a:ext cx="7132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005A9C"/>
                </a:solidFill>
                <a:latin typeface="Montserrat"/>
                <a:hlinkClick r:id="rId13"/>
              </a:rPr>
              <a:t>2 oct.</a:t>
            </a:r>
            <a:r>
              <a:rPr sz="1200" b="0">
                <a:solidFill>
                  <a:srgbClr val="5F5F5A"/>
                </a:solidFill>
                <a:latin typeface="Montserrat"/>
              </a:rPr>
              <a:t>   ·   </a:t>
            </a:r>
            <a:r>
              <a:rPr sz="1200" b="0">
                <a:solidFill>
                  <a:srgbClr val="005A9C"/>
                </a:solidFill>
                <a:latin typeface="Montserrat"/>
                <a:hlinkClick r:id="rId14"/>
              </a:rPr>
              <a:t>7 oct.</a:t>
            </a:r>
            <a:r>
              <a:rPr sz="1200" b="0">
                <a:solidFill>
                  <a:srgbClr val="5F5F5A"/>
                </a:solidFill>
                <a:latin typeface="Montserrat"/>
              </a:rPr>
              <a:t>   ·   </a:t>
            </a:r>
            <a:r>
              <a:rPr sz="1200" b="0">
                <a:solidFill>
                  <a:srgbClr val="005A9C"/>
                </a:solidFill>
                <a:latin typeface="Montserrat"/>
                <a:hlinkClick r:id="rId15"/>
              </a:rPr>
              <a:t>9 oct.</a:t>
            </a:r>
            <a:r>
              <a:rPr sz="1200" b="0">
                <a:solidFill>
                  <a:srgbClr val="5F5F5A"/>
                </a:solidFill>
                <a:latin typeface="Montserrat"/>
              </a:rPr>
              <a:t>   ·   </a:t>
            </a:r>
            <a:r>
              <a:rPr sz="1200" b="0">
                <a:solidFill>
                  <a:srgbClr val="005A9C"/>
                </a:solidFill>
                <a:latin typeface="Montserrat"/>
                <a:hlinkClick r:id="rId16"/>
              </a:rPr>
              <a:t>16 oct.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0624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D1D1B"/>
                </a:solidFill>
                <a:latin typeface="Montserrat"/>
              </a:rPr>
              <a:t>Presse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4206240"/>
            <a:ext cx="7132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005A9C"/>
                </a:solidFill>
                <a:latin typeface="Montserrat"/>
                <a:hlinkClick r:id="rId17"/>
              </a:rPr>
              <a:t>Fraternité Matin, 2 oct.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7492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D1D1B"/>
                </a:solidFill>
                <a:latin typeface="Montserrat"/>
              </a:rPr>
              <a:t>Régulateur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5074920"/>
            <a:ext cx="7132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005A9C"/>
                </a:solidFill>
                <a:latin typeface="Montserrat"/>
                <a:hlinkClick r:id="rId18"/>
              </a:rPr>
              <a:t>BCEAO, établissements de monnaie électronique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F5F5A"/>
                </a:solidFill>
                <a:latin typeface="Montserrat"/>
              </a:rPr>
              <a:t>Réactions relevées le 27 octobre 2026. Une publication absente de cet échantillon n’est pas une preuve d’absence de campagne.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