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factory.jpg_60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000" y="0"/>
            <a:ext cx="60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00000" cy="6858000"/>
          </a:xfrm>
          <a:prstGeom prst="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nif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500000"/>
            <a:ext cx="1262969" cy="13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0000" y="2100000"/>
            <a:ext cx="53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600" b="1">
                <a:solidFill>
                  <a:srgbClr val="E50046"/>
                </a:solidFill>
                <a:latin typeface="Baloo 2"/>
              </a:rPr>
              <a:t>Plan de communication du lancement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600000"/>
            <a:ext cx="5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2B1B22"/>
                </a:solidFill>
                <a:latin typeface="Nunito"/>
              </a:rPr>
              <a:t>« Le goût qui suit partout »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2B1B22"/>
                </a:solidFill>
                <a:latin typeface="Nunito"/>
              </a:rPr>
              <a:t>Sossa, Super Mint, Coupe du Monde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4700000"/>
            <a:ext cx="53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5560"/>
                </a:solidFill>
                <a:latin typeface="Nunito"/>
              </a:rPr>
              <a:t>Lundi 4 janvier 2027, 10 h à 12 h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5560"/>
                </a:solidFill>
                <a:latin typeface="Nunito"/>
              </a:rPr>
              <a:t>Usine Unifood, zone industrielle de Koumassi, Abidjan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5560"/>
                </a:solidFill>
                <a:latin typeface="Nunito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5560"/>
                </a:solidFill>
                <a:latin typeface="Nunito"/>
              </a:rPr>
              <a:t>Version du 19/10/2026, à valider par la direction marketing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8000"/>
            <a:ext cx="6100000" cy="120000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50046"/>
                </a:solidFill>
                <a:latin typeface="Nunito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2B1B22"/>
                </a:solidFill>
                <a:latin typeface="Baloo 2"/>
              </a:rPr>
              <a:t>L'essentiel en une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0000" y="1700000"/>
            <a:ext cx="2600000" cy="3900000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0000" y="1700000"/>
            <a:ext cx="2600000" cy="11000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0000" y="1950000"/>
            <a:ext cx="2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E50046"/>
                </a:solidFill>
                <a:latin typeface="Baloo 2"/>
              </a:rPr>
              <a:t>Quoi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000" y="2550000"/>
            <a:ext cx="225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Une matinée presse à l'usine pour lancer la campagne de janvier : présentation, visite de la production et du laboratoire, dégustation avec des commerçants.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0000" y="1700000"/>
            <a:ext cx="2600000" cy="3900000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0000" y="1700000"/>
            <a:ext cx="2600000" cy="110000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0000" y="1950000"/>
            <a:ext cx="2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E50046"/>
                </a:solidFill>
                <a:latin typeface="Baloo 2"/>
              </a:rPr>
              <a:t>Pour 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0000" y="2550000"/>
            <a:ext cx="225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Journalistes de la presse économique et généraliste, radios, télévisions, médias en ligne, et une dizaine de commerçants partenaires.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0" y="1700000"/>
            <a:ext cx="2600000" cy="3900000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000" y="1700000"/>
            <a:ext cx="2600000" cy="11000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0000" y="1950000"/>
            <a:ext cx="2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E50046"/>
                </a:solidFill>
                <a:latin typeface="Baloo 2"/>
              </a:rPr>
              <a:t>Pourquoi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0000" y="2550000"/>
            <a:ext cx="225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Faire parler de la campagne avant qu'elle n'arrive au comptoir, et montrer une entreprise ivoirienne qui fabrique à Koumassi depuis 1994.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0" y="1700000"/>
            <a:ext cx="2600000" cy="3900000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0000" y="1700000"/>
            <a:ext cx="2600000" cy="110000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000" y="1950000"/>
            <a:ext cx="2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E50046"/>
                </a:solidFill>
                <a:latin typeface="Baloo 2"/>
              </a:rPr>
              <a:t>Résultat attendu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000" y="2550000"/>
            <a:ext cx="225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Des articles et reportages la semaine du 4 janvier, des contenus pour nos réseaux, et des commerçants qui relaient la campagne.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000" y="6408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5560"/>
                </a:solidFill>
                <a:latin typeface="Nunito"/>
              </a:rPr>
              <a:t>Unifood  |  Plan de communication du lancement du 4 janvier 2027  |  2</a:t>
            </a:r>
          </a:p>
        </p:txBody>
      </p:sp>
      <p:pic>
        <p:nvPicPr>
          <p:cNvPr id="22" name="Picture 21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2000" y="6058000"/>
            <a:ext cx="582909" cy="6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50046"/>
                </a:solidFill>
                <a:latin typeface="Nunito"/>
              </a:rPr>
              <a:t>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2B1B22"/>
                </a:solidFill>
                <a:latin typeface="Baloo 2"/>
              </a:rPr>
              <a:t>Trois objectifs, chacun mesuré</a:t>
            </a:r>
          </a:p>
        </p:txBody>
      </p:sp>
      <p:pic>
        <p:nvPicPr>
          <p:cNvPr id="5" name="Picture 4" descr="_c_press.jpg_4300000_44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000" y="1500000"/>
            <a:ext cx="4300000" cy="44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1600000"/>
            <a:ext cx="6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E50046"/>
                </a:solidFill>
                <a:latin typeface="Baloo 2"/>
              </a:rPr>
              <a:t>1. Être repris par la presse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2080000"/>
            <a:ext cx="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Indicateur : nombre d'articles, de sujets radio et télé publiés du 4 au 15 janvier.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Objectif : à fixer après la liste des médias confirmés.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3050000"/>
            <a:ext cx="6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E50046"/>
                </a:solidFill>
                <a:latin typeface="Baloo 2"/>
              </a:rPr>
              <a:t>2. Faire venir les bons médias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3530000"/>
            <a:ext cx="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Indicateur : journalistes présents sur invités.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Objectif : au moins la moitié des invités confirmés présents.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4500000"/>
            <a:ext cx="6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E50046"/>
                </a:solidFill>
                <a:latin typeface="Baloo 2"/>
              </a:rPr>
              <a:t>3. Mobiliser les commerçants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4980000"/>
            <a:ext cx="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Indicateur : commerçants présents et messages WhatsApp de commande reçus la semaine du 4 janvier.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Objectif : suivi, base de comparaison pour la suite.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6408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5560"/>
                </a:solidFill>
                <a:latin typeface="Nunito"/>
              </a:rPr>
              <a:t>Unifood  |  Plan de communication du lancement du 4 janvier 2027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50046"/>
                </a:solidFill>
                <a:latin typeface="Nunito"/>
              </a:rPr>
              <a:t>CE QU'ON VEUT QUE LA PRESSE RETIENNE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2B1B22"/>
                </a:solidFill>
                <a:latin typeface="Baloo 2"/>
              </a:rPr>
              <a:t>Les messages clés</a:t>
            </a:r>
          </a:p>
        </p:txBody>
      </p:sp>
      <p:pic>
        <p:nvPicPr>
          <p:cNvPr id="5" name="Picture 4" descr="_c_street.jpg_4800000_44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500000"/>
            <a:ext cx="4800000" cy="44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0000" y="1500000"/>
            <a:ext cx="58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B1B22"/>
                </a:solidFill>
                <a:latin typeface="Nunito"/>
              </a:rPr>
              <a:t>Un fabricant ivoirien, qui fabrique ici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B1B22"/>
                </a:solidFill>
                <a:latin typeface="Nunito"/>
              </a:rPr>
              <a:t>Depuis 1994 à Koumassi, avec un laboratoire de contrôle qualité qui vérifie la production chaque jour.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B1B22"/>
                </a:solidFill>
                <a:latin typeface="Nunito"/>
              </a:rPr>
              <a:t>Une campagne qui va au comptoir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B1B22"/>
                </a:solidFill>
                <a:latin typeface="Nunito"/>
              </a:rPr>
              <a:t>Dégustations dans les maquis, garbadromes, gares routières et grandes surfaces, au plus près de ceux qui achètent.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B1B22"/>
                </a:solidFill>
                <a:latin typeface="Nunito"/>
              </a:rPr>
              <a:t>Les commerçants au centre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B1B22"/>
                </a:solidFill>
                <a:latin typeface="Nunito"/>
              </a:rPr>
              <a:t>Une ligne de commande WhatsApp pour les boutiquiers, demi-grossistes et restaurateurs.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B1B22"/>
                </a:solidFill>
                <a:latin typeface="Nunito"/>
              </a:rPr>
              <a:t>Trois marques, trois moments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B1B22"/>
                </a:solidFill>
                <a:latin typeface="Nunito"/>
              </a:rPr>
              <a:t>Sossa le matin, Super Mint sur la route, Coupe du Monde au goûter.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5560"/>
                </a:solidFill>
                <a:latin typeface="Nunito"/>
              </a:rPr>
              <a:t>Unifood  |  Plan de communication du lancement du 4 janvier 2027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50046"/>
                </a:solidFill>
                <a:latin typeface="Nunito"/>
              </a:rPr>
              <a:t>CIBLES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2B1B22"/>
                </a:solidFill>
                <a:latin typeface="Baloo 2"/>
              </a:rPr>
              <a:t>Les publics et ce qu'on leur dit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0000" y="1600000"/>
          <a:ext cx="110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666"/>
                <a:gridCol w="3666666"/>
                <a:gridCol w="3666668"/>
              </a:tblGrid>
              <a:tr h="7000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Nunito"/>
                        </a:rPr>
                        <a:t>Public</a:t>
                      </a:r>
                    </a:p>
                  </a:txBody>
                  <a:tcPr>
                    <a:solidFill>
                      <a:srgbClr val="2B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Nunito"/>
                        </a:rPr>
                        <a:t>Ce qui l'intéresse</a:t>
                      </a:r>
                    </a:p>
                  </a:txBody>
                  <a:tcPr>
                    <a:solidFill>
                      <a:srgbClr val="2B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Nunito"/>
                        </a:rPr>
                        <a:t>Ce qu'on lui donne</a:t>
                      </a:r>
                    </a:p>
                  </a:txBody>
                  <a:tcPr>
                    <a:solidFill>
                      <a:srgbClr val="2B1B22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1B22"/>
                          </a:solidFill>
                          <a:latin typeface="Nunito"/>
                        </a:rPr>
                        <a:t>Presse économique</a:t>
                      </a:r>
                    </a:p>
                  </a:txBody>
                  <a:tcPr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L'industrie locale, l'emploi, la distribution</a:t>
                      </a:r>
                    </a:p>
                  </a:txBody>
                  <a:tcPr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Visite de l'usine, interview de la direction</a:t>
                      </a:r>
                    </a:p>
                  </a:txBody>
                  <a:tcPr>
                    <a:solidFill>
                      <a:srgbClr val="FFF6E0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1B22"/>
                          </a:solidFill>
                          <a:latin typeface="Nunito"/>
                        </a:rPr>
                        <a:t>Radios et télévisions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Une campagne vivante, au plus près des gens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Images de production, dégustation, commerçants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1B22"/>
                          </a:solidFill>
                          <a:latin typeface="Nunito"/>
                        </a:rPr>
                        <a:t>Médias en ligne et influence</a:t>
                      </a:r>
                    </a:p>
                  </a:txBody>
                  <a:tcPr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Les sketchs, le goût, le pain-omelette du matin</a:t>
                      </a:r>
                    </a:p>
                  </a:txBody>
                  <a:tcPr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Vidéos courtes, coulisses</a:t>
                      </a:r>
                    </a:p>
                  </a:txBody>
                  <a:tcPr>
                    <a:solidFill>
                      <a:srgbClr val="FFF6E0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1B22"/>
                          </a:solidFill>
                          <a:latin typeface="Nunito"/>
                        </a:rPr>
                        <a:t>Commerçants partenaires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Une campagne qui fait venir des clients chez vous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Présentoirs, ligne 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1B22"/>
                          </a:solidFill>
                          <a:latin typeface="Nunito"/>
                        </a:rPr>
                        <a:t>Grand public (relais)</a:t>
                      </a:r>
                    </a:p>
                  </a:txBody>
                  <a:tcPr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Le goût qui suit partout</a:t>
                      </a:r>
                    </a:p>
                  </a:txBody>
                  <a:tcPr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Publications Unifood et Rio Pop</a:t>
                      </a:r>
                    </a:p>
                  </a:txBody>
                  <a:tcPr>
                    <a:solidFill>
                      <a:srgbClr val="FFF6E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0000" y="6408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5560"/>
                </a:solidFill>
                <a:latin typeface="Nunito"/>
              </a:rPr>
              <a:t>Unifood  |  Plan de communication du lancement du 4 janvier 2027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50046"/>
                </a:solidFill>
                <a:latin typeface="Nunito"/>
              </a:rPr>
              <a:t>DÉROULÉ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2B1B22"/>
                </a:solidFill>
                <a:latin typeface="Baloo 2"/>
              </a:rPr>
              <a:t>Le plan en trois temps</a:t>
            </a:r>
          </a:p>
        </p:txBody>
      </p:sp>
      <p:pic>
        <p:nvPicPr>
          <p:cNvPr id="5" name="Picture 4" descr="_c_team.jpg_3500000_17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500000"/>
            <a:ext cx="3500000" cy="17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3200000"/>
            <a:ext cx="3500000" cy="2700000"/>
          </a:xfrm>
          <a:prstGeom prst="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0000" y="33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E50046"/>
                </a:solidFill>
                <a:latin typeface="Baloo 2"/>
              </a:rPr>
              <a:t>AVANT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000" y="37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6B5560"/>
                </a:solidFill>
                <a:latin typeface="Nunito"/>
              </a:rPr>
              <a:t>du 23 novembre au 3 janvier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000" y="4150000"/>
            <a:ext cx="32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1B22"/>
                </a:solidFill>
                <a:latin typeface="Nunito"/>
              </a:rPr>
              <a:t>Liste des médias, invitation envoyée le 7 décembre, relance le 21 décembre, confirmations jusqu'au 30 décembre, dossier de presse, réseaux : teasing la dernière semaine.</a:t>
            </a:r>
          </a:p>
        </p:txBody>
      </p:sp>
      <p:pic>
        <p:nvPicPr>
          <p:cNvPr id="10" name="Picture 9" descr="_c_press.jpg_3500000_170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000" y="1500000"/>
            <a:ext cx="3500000" cy="1700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300000" y="3200000"/>
            <a:ext cx="3500000" cy="2700000"/>
          </a:xfrm>
          <a:prstGeom prst="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0000" y="33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E50046"/>
                </a:solidFill>
                <a:latin typeface="Baloo 2"/>
              </a:rPr>
              <a:t>PENDANT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000" y="37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6B5560"/>
                </a:solidFill>
                <a:latin typeface="Nunito"/>
              </a:rPr>
              <a:t>lundi 4 janvier, 10 h à 12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0000" y="4150000"/>
            <a:ext cx="32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1B22"/>
                </a:solidFill>
                <a:latin typeface="Nunito"/>
              </a:rPr>
              <a:t>Accueil, présentation, visite de l'usine, dégustation, interviews. Diffusion du communiqué à 10 h. Stories et vidéos en direct sur les réseaux.</a:t>
            </a:r>
          </a:p>
        </p:txBody>
      </p:sp>
      <p:pic>
        <p:nvPicPr>
          <p:cNvPr id="15" name="Picture 14" descr="_c_social.jpg_3500000_17000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000" y="1500000"/>
            <a:ext cx="3500000" cy="1700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000000" y="3200000"/>
            <a:ext cx="3500000" cy="2700000"/>
          </a:xfrm>
          <a:prstGeom prst="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0000" y="33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E50046"/>
                </a:solidFill>
                <a:latin typeface="Baloo 2"/>
              </a:rPr>
              <a:t>APRÈS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0000" y="37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6B5560"/>
                </a:solidFill>
                <a:latin typeface="Nunito"/>
              </a:rPr>
              <a:t>du 4 au 15 janvier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0000" y="4150000"/>
            <a:ext cx="32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1B22"/>
                </a:solidFill>
                <a:latin typeface="Nunito"/>
              </a:rPr>
              <a:t>Envoi des photos et du dossier aux médias, relance des absents, revue de presse, bilan le vendredi 15 janvier.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000" y="6408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5560"/>
                </a:solidFill>
                <a:latin typeface="Nunito"/>
              </a:rPr>
              <a:t>Unifood  |  Plan de communication du lancement du 4 janvier 2027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50046"/>
                </a:solidFill>
                <a:latin typeface="Nunito"/>
              </a:rPr>
              <a:t>DATES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2B1B22"/>
                </a:solidFill>
                <a:latin typeface="Baloo 2"/>
              </a:rPr>
              <a:t>Le rétroplanning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00000" y="3500000"/>
            <a:ext cx="11000000" cy="5000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0000" y="3420000"/>
            <a:ext cx="210000" cy="210000"/>
          </a:xfrm>
          <a:prstGeom prst="ellipse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65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50046"/>
                </a:solidFill>
                <a:latin typeface="Baloo 2"/>
              </a:rPr>
              <a:t>lun. 23 nov.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2050000"/>
            <a:ext cx="1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1B22"/>
                </a:solidFill>
                <a:latin typeface="Nunito"/>
              </a:rPr>
              <a:t>Validation du plan, du porte-parole et de la visite d'usine</a:t>
            </a:r>
          </a:p>
        </p:txBody>
      </p:sp>
      <p:sp>
        <p:nvSpPr>
          <p:cNvPr id="9" name="Oval 8"/>
          <p:cNvSpPr/>
          <p:nvPr/>
        </p:nvSpPr>
        <p:spPr>
          <a:xfrm>
            <a:off x="2320000" y="3420000"/>
            <a:ext cx="210000" cy="210000"/>
          </a:xfrm>
          <a:prstGeom prst="ellipse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4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50046"/>
                </a:solidFill>
                <a:latin typeface="Baloo 2"/>
              </a:rPr>
              <a:t>ven. 4 déc.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0000" y="4200000"/>
            <a:ext cx="1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1B22"/>
                </a:solidFill>
                <a:latin typeface="Nunito"/>
              </a:rPr>
              <a:t>Liste des médias validée, dossier de presse en relecture</a:t>
            </a:r>
          </a:p>
        </p:txBody>
      </p:sp>
      <p:sp>
        <p:nvSpPr>
          <p:cNvPr id="12" name="Oval 11"/>
          <p:cNvSpPr/>
          <p:nvPr/>
        </p:nvSpPr>
        <p:spPr>
          <a:xfrm>
            <a:off x="3560000" y="3420000"/>
            <a:ext cx="210000" cy="210000"/>
          </a:xfrm>
          <a:prstGeom prst="ellipse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0000" y="165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50046"/>
                </a:solidFill>
                <a:latin typeface="Baloo 2"/>
              </a:rPr>
              <a:t>lun. 7 déc.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0000" y="2050000"/>
            <a:ext cx="1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1B22"/>
                </a:solidFill>
                <a:latin typeface="Nunito"/>
              </a:rPr>
              <a:t>Envoi de l'invitation presse</a:t>
            </a:r>
          </a:p>
        </p:txBody>
      </p:sp>
      <p:sp>
        <p:nvSpPr>
          <p:cNvPr id="15" name="Oval 14"/>
          <p:cNvSpPr/>
          <p:nvPr/>
        </p:nvSpPr>
        <p:spPr>
          <a:xfrm>
            <a:off x="4800000" y="3420000"/>
            <a:ext cx="210000" cy="210000"/>
          </a:xfrm>
          <a:prstGeom prst="ellipse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50046"/>
                </a:solidFill>
                <a:latin typeface="Baloo 2"/>
              </a:rPr>
              <a:t>lun. 21 déc.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0" y="4200000"/>
            <a:ext cx="1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1B22"/>
                </a:solidFill>
                <a:latin typeface="Nunito"/>
              </a:rPr>
              <a:t>Relance des invités</a:t>
            </a:r>
          </a:p>
        </p:txBody>
      </p:sp>
      <p:sp>
        <p:nvSpPr>
          <p:cNvPr id="18" name="Oval 17"/>
          <p:cNvSpPr/>
          <p:nvPr/>
        </p:nvSpPr>
        <p:spPr>
          <a:xfrm>
            <a:off x="6040000" y="3420000"/>
            <a:ext cx="210000" cy="210000"/>
          </a:xfrm>
          <a:prstGeom prst="ellipse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60000" y="165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50046"/>
                </a:solidFill>
                <a:latin typeface="Baloo 2"/>
              </a:rPr>
              <a:t>mer. 30 déc.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0000" y="2050000"/>
            <a:ext cx="1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1B22"/>
                </a:solidFill>
                <a:latin typeface="Nunito"/>
              </a:rPr>
              <a:t>Fin des confirmations, badges et tenues de visite prêts</a:t>
            </a:r>
          </a:p>
        </p:txBody>
      </p:sp>
      <p:sp>
        <p:nvSpPr>
          <p:cNvPr id="21" name="Oval 20"/>
          <p:cNvSpPr/>
          <p:nvPr/>
        </p:nvSpPr>
        <p:spPr>
          <a:xfrm>
            <a:off x="7280000" y="3420000"/>
            <a:ext cx="210000" cy="210000"/>
          </a:xfrm>
          <a:prstGeom prst="ellipse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0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50046"/>
                </a:solidFill>
                <a:latin typeface="Baloo 2"/>
              </a:rPr>
              <a:t>jeu. 31 déc.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0000" y="4200000"/>
            <a:ext cx="1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1B22"/>
                </a:solidFill>
                <a:latin typeface="Nunito"/>
              </a:rPr>
              <a:t>Répétition de la présentation et de la visite</a:t>
            </a:r>
          </a:p>
        </p:txBody>
      </p:sp>
      <p:sp>
        <p:nvSpPr>
          <p:cNvPr id="24" name="Oval 23"/>
          <p:cNvSpPr/>
          <p:nvPr/>
        </p:nvSpPr>
        <p:spPr>
          <a:xfrm>
            <a:off x="8520000" y="3420000"/>
            <a:ext cx="210000" cy="210000"/>
          </a:xfrm>
          <a:prstGeom prst="ellipse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0000" y="165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50046"/>
                </a:solidFill>
                <a:latin typeface="Baloo 2"/>
              </a:rPr>
              <a:t>lun. 4 janv.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0000" y="2050000"/>
            <a:ext cx="1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1B22"/>
                </a:solidFill>
                <a:latin typeface="Nunito"/>
              </a:rPr>
              <a:t>Événement, 10 h à 12 h ; communiqué diffusé à 10 h</a:t>
            </a:r>
          </a:p>
        </p:txBody>
      </p:sp>
      <p:sp>
        <p:nvSpPr>
          <p:cNvPr id="27" name="Oval 26"/>
          <p:cNvSpPr/>
          <p:nvPr/>
        </p:nvSpPr>
        <p:spPr>
          <a:xfrm>
            <a:off x="9760000" y="3420000"/>
            <a:ext cx="210000" cy="210000"/>
          </a:xfrm>
          <a:prstGeom prst="ellipse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50046"/>
                </a:solidFill>
                <a:latin typeface="Baloo 2"/>
              </a:rPr>
              <a:t>mer. 6 janv.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0000" y="4200000"/>
            <a:ext cx="1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1B22"/>
                </a:solidFill>
                <a:latin typeface="Nunito"/>
              </a:rPr>
              <a:t>Photos et dossier envoyés aux médias</a:t>
            </a:r>
          </a:p>
        </p:txBody>
      </p:sp>
      <p:sp>
        <p:nvSpPr>
          <p:cNvPr id="30" name="Oval 29"/>
          <p:cNvSpPr/>
          <p:nvPr/>
        </p:nvSpPr>
        <p:spPr>
          <a:xfrm>
            <a:off x="11000000" y="3420000"/>
            <a:ext cx="210000" cy="210000"/>
          </a:xfrm>
          <a:prstGeom prst="ellipse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20000" y="165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50046"/>
                </a:solidFill>
                <a:latin typeface="Baloo 2"/>
              </a:rPr>
              <a:t>ven. 15 janv.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20000" y="2050000"/>
            <a:ext cx="1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1B22"/>
                </a:solidFill>
                <a:latin typeface="Nunito"/>
              </a:rPr>
              <a:t>Revue de presse et bilan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000" y="6408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5560"/>
                </a:solidFill>
                <a:latin typeface="Nunito"/>
              </a:rPr>
              <a:t>Unifood  |  Plan de communication du lancement du 4 janvier 2027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50046"/>
                </a:solidFill>
                <a:latin typeface="Nunito"/>
              </a:rPr>
              <a:t>LUNDI 4 JANVIER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2B1B22"/>
                </a:solidFill>
                <a:latin typeface="Baloo 2"/>
              </a:rPr>
              <a:t>Le programme de la matinée</a:t>
            </a:r>
          </a:p>
        </p:txBody>
      </p:sp>
      <p:pic>
        <p:nvPicPr>
          <p:cNvPr id="5" name="Picture 4" descr="_c_factory.jpg_4700000_44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000" y="1500000"/>
            <a:ext cx="4700000" cy="44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1500000"/>
            <a:ext cx="6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B1B22"/>
                </a:solidFill>
                <a:latin typeface="Nunito"/>
              </a:rPr>
              <a:t>10 h 00, accueil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Badges, tenue de visite (blouse, charlotte), dossier de presse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B1B22"/>
                </a:solidFill>
                <a:latin typeface="Nunito"/>
              </a:rPr>
              <a:t>10 h 15, présentation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Direction générale et direction marketing, 20 minutes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B1B22"/>
                </a:solidFill>
                <a:latin typeface="Nunito"/>
              </a:rPr>
              <a:t>10 h 45, visite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Ligne de production et laboratoire, par petits groupes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B1B22"/>
                </a:solidFill>
                <a:latin typeface="Nunito"/>
              </a:rPr>
              <a:t>11 h 15, dégustation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Avec des commerçants partenaires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B1B22"/>
                </a:solidFill>
                <a:latin typeface="Nunito"/>
              </a:rPr>
              <a:t>11 h 30, interviews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Créneaux individuels de 10 minutes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B1B22"/>
                </a:solidFill>
                <a:latin typeface="Nunito"/>
              </a:rPr>
              <a:t>12 h 00, 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5560"/>
                </a:solidFill>
                <a:latin typeface="Nunito"/>
              </a:rPr>
              <a:t>Unifood  |  Plan de communication du lancement du 4 janvier 2027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50046"/>
                </a:solidFill>
                <a:latin typeface="Nunito"/>
              </a:rPr>
              <a:t>DIFFUSION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2B1B22"/>
                </a:solidFill>
                <a:latin typeface="Baloo 2"/>
              </a:rPr>
              <a:t>Les canaux et les contenus</a:t>
            </a:r>
          </a:p>
        </p:txBody>
      </p:sp>
      <p:pic>
        <p:nvPicPr>
          <p:cNvPr id="5" name="Picture 4" descr="_c_phone.jpg_4300000_44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500000"/>
            <a:ext cx="4300000" cy="44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00000" y="1500000"/>
            <a:ext cx="120000" cy="95000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50000" y="1500000"/>
            <a:ext cx="6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E50046"/>
                </a:solidFill>
                <a:latin typeface="Baloo 2"/>
              </a:rPr>
              <a:t>Presse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0000" y="1920000"/>
            <a:ext cx="6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B1B22"/>
                </a:solidFill>
                <a:latin typeface="Nunito"/>
              </a:rPr>
              <a:t>Invitation, communiqué, dossier de presse, photos HD, relances par téléphone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0000" y="2620000"/>
            <a:ext cx="120000" cy="95000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50000" y="2620000"/>
            <a:ext cx="6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E50046"/>
                </a:solidFill>
                <a:latin typeface="Baloo 2"/>
              </a:rPr>
              <a:t>Réseaux sociaux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0000" y="3040000"/>
            <a:ext cx="6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B1B22"/>
                </a:solidFill>
                <a:latin typeface="Nunito"/>
              </a:rPr>
              <a:t>Teasing du 28 au 3 janvier, stories en direct le 4, vidéo récap le 5, Facebook Unifood et Rio Pop, TikTok TOMY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00000" y="3740000"/>
            <a:ext cx="120000" cy="95000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0000" y="3740000"/>
            <a:ext cx="6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E50046"/>
                </a:solidFill>
                <a:latin typeface="Baloo 2"/>
              </a:rPr>
              <a:t>Commerçants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0000" y="4160000"/>
            <a:ext cx="6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B1B22"/>
                </a:solidFill>
                <a:latin typeface="Nunito"/>
              </a:rPr>
              <a:t>Invitation de 10 commerçants partenaires, message WhatsApp le jour même, présentoirs installés la semaine suivante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00000" y="4860000"/>
            <a:ext cx="120000" cy="95000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50000" y="4860000"/>
            <a:ext cx="6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E50046"/>
                </a:solidFill>
                <a:latin typeface="Baloo 2"/>
              </a:rPr>
              <a:t>Interne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0000" y="5280000"/>
            <a:ext cx="6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B1B22"/>
                </a:solidFill>
                <a:latin typeface="Nunito"/>
              </a:rPr>
              <a:t>Note à tout le personnel le 21 décembre : qui reçoit qui, quelles zones sont visitées, consignes d'hygiène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000" y="6408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5560"/>
                </a:solidFill>
                <a:latin typeface="Nunito"/>
              </a:rPr>
              <a:t>Unifood  |  Plan de communication du lancement du 4 janvier 2027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50046"/>
                </a:solidFill>
                <a:latin typeface="Nunito"/>
              </a:rPr>
              <a:t>RÔLES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2B1B22"/>
                </a:solidFill>
                <a:latin typeface="Baloo 2"/>
              </a:rPr>
              <a:t>Qui fait quoi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0000" y="1600000"/>
          <a:ext cx="7000000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4300000"/>
              </a:tblGrid>
              <a:tr h="61428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50046"/>
                          </a:solidFill>
                          <a:latin typeface="Nunito"/>
                        </a:rPr>
                        <a:t>Direction générale</a:t>
                      </a:r>
                    </a:p>
                  </a:txBody>
                  <a:tcPr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Accueil, discours d'ouverture, interviews</a:t>
                      </a:r>
                    </a:p>
                  </a:txBody>
                  <a:tcPr>
                    <a:solidFill>
                      <a:srgbClr val="FFF6E0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50046"/>
                          </a:solidFill>
                          <a:latin typeface="Nunito"/>
                        </a:rPr>
                        <a:t>Direction 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Valide le plan, présente la campagne, porte-parole principal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50046"/>
                          </a:solidFill>
                          <a:latin typeface="Nunito"/>
                        </a:rPr>
                        <a:t>Chargée de communication</a:t>
                      </a:r>
                    </a:p>
                  </a:txBody>
                  <a:tcPr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Liste des médias, invitations, relances, accueil presse le jour J</a:t>
                      </a:r>
                    </a:p>
                  </a:txBody>
                  <a:tcPr>
                    <a:solidFill>
                      <a:srgbClr val="FFF6E0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50046"/>
                          </a:solidFill>
                          <a:latin typeface="Nunito"/>
                        </a:rPr>
                        <a:t>Responsable production et qualité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Guide la visite, explique le contrôle qualité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50046"/>
                          </a:solidFill>
                          <a:latin typeface="Nunito"/>
                        </a:rPr>
                        <a:t>Direction commerciale</a:t>
                      </a:r>
                    </a:p>
                  </a:txBody>
                  <a:tcPr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Invite et accompagne les commerçants partenaires</a:t>
                      </a:r>
                    </a:p>
                  </a:txBody>
                  <a:tcPr>
                    <a:solidFill>
                      <a:srgbClr val="FFF6E0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50046"/>
                          </a:solidFill>
                          <a:latin typeface="Nunito"/>
                        </a:rPr>
                        <a:t>Équipe créa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Photos, vidéos, stories en direct, vidéo récap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429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50046"/>
                          </a:solidFill>
                          <a:latin typeface="Nunito"/>
                        </a:rPr>
                        <a:t>Équipe marketing</a:t>
                      </a:r>
                    </a:p>
                  </a:txBody>
                  <a:tcPr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Documents presse, publications, revue de presse et bilan</a:t>
                      </a:r>
                    </a:p>
                  </a:txBody>
                  <a:tcPr>
                    <a:solidFill>
                      <a:srgbClr val="FFF6E0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_c_team.jpg_3700000_43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000" y="1600000"/>
            <a:ext cx="3700000" cy="43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0000" y="6408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5560"/>
                </a:solidFill>
                <a:latin typeface="Nunito"/>
              </a:rPr>
              <a:t>Unifood  |  Plan de communication du lancement du 4 janvier 2027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50046"/>
                </a:solidFill>
                <a:latin typeface="Nunito"/>
              </a:rPr>
              <a:t>PRÉVENTION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2B1B22"/>
                </a:solidFill>
                <a:latin typeface="Baloo 2"/>
              </a:rPr>
              <a:t>Les risques, et ce qu'on prévoit</a:t>
            </a:r>
          </a:p>
        </p:txBody>
      </p:sp>
      <p:sp>
        <p:nvSpPr>
          <p:cNvPr id="5" name="Oval 4"/>
          <p:cNvSpPr/>
          <p:nvPr/>
        </p:nvSpPr>
        <p:spPr>
          <a:xfrm>
            <a:off x="600000" y="1610000"/>
            <a:ext cx="220000" cy="220000"/>
          </a:xfrm>
          <a:prstGeom prst="ellipse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000" y="1550000"/>
            <a:ext cx="43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B1B22"/>
                </a:solidFill>
                <a:latin typeface="Nunito"/>
              </a:rPr>
              <a:t>Visite d'usine non autorisée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0" y="1550000"/>
            <a:ext cx="6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B1B22"/>
                </a:solidFill>
                <a:latin typeface="Nunito"/>
              </a:rPr>
              <a:t>Solution de repli : événement chez un commerçant partenaire ou dans un maquis, avec dégustation.</a:t>
            </a:r>
          </a:p>
        </p:txBody>
      </p:sp>
      <p:sp>
        <p:nvSpPr>
          <p:cNvPr id="8" name="Oval 7"/>
          <p:cNvSpPr/>
          <p:nvPr/>
        </p:nvSpPr>
        <p:spPr>
          <a:xfrm>
            <a:off x="600000" y="2470000"/>
            <a:ext cx="220000" cy="220000"/>
          </a:xfrm>
          <a:prstGeom prst="ellipse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000" y="2410000"/>
            <a:ext cx="43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B1B22"/>
                </a:solidFill>
                <a:latin typeface="Nunito"/>
              </a:rPr>
              <a:t>Peu de journalistes présents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0" y="2410000"/>
            <a:ext cx="6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B1B22"/>
                </a:solidFill>
                <a:latin typeface="Nunito"/>
              </a:rPr>
              <a:t>Relances téléphoniques le 21 et le 30 décembre ; dossier et photos envoyés à tous les absents le 6 janvier.</a:t>
            </a:r>
          </a:p>
        </p:txBody>
      </p:sp>
      <p:sp>
        <p:nvSpPr>
          <p:cNvPr id="11" name="Oval 10"/>
          <p:cNvSpPr/>
          <p:nvPr/>
        </p:nvSpPr>
        <p:spPr>
          <a:xfrm>
            <a:off x="600000" y="3330000"/>
            <a:ext cx="220000" cy="220000"/>
          </a:xfrm>
          <a:prstGeom prst="ellipse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000" y="3270000"/>
            <a:ext cx="43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B1B22"/>
                </a:solidFill>
                <a:latin typeface="Nunito"/>
              </a:rPr>
              <a:t>Question difficile d'un journaliste (prix, emploi, qualité)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0" y="3270000"/>
            <a:ext cx="6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B1B22"/>
                </a:solidFill>
                <a:latin typeface="Nunito"/>
              </a:rPr>
              <a:t>Questions-réponses préparées et relues par la direction avant le 31 décembre ; une seule personne répond.</a:t>
            </a:r>
          </a:p>
        </p:txBody>
      </p:sp>
      <p:sp>
        <p:nvSpPr>
          <p:cNvPr id="14" name="Oval 13"/>
          <p:cNvSpPr/>
          <p:nvPr/>
        </p:nvSpPr>
        <p:spPr>
          <a:xfrm>
            <a:off x="600000" y="4190000"/>
            <a:ext cx="220000" cy="220000"/>
          </a:xfrm>
          <a:prstGeom prst="ellipse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000" y="4130000"/>
            <a:ext cx="43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B1B22"/>
                </a:solidFill>
                <a:latin typeface="Nunito"/>
              </a:rPr>
              <a:t>Coupure ou souci technique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0" y="4130000"/>
            <a:ext cx="6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B1B22"/>
                </a:solidFill>
                <a:latin typeface="Nunito"/>
              </a:rPr>
              <a:t>Présentation imprimée en secours, micro de rechange.</a:t>
            </a:r>
          </a:p>
        </p:txBody>
      </p:sp>
      <p:sp>
        <p:nvSpPr>
          <p:cNvPr id="17" name="Oval 16"/>
          <p:cNvSpPr/>
          <p:nvPr/>
        </p:nvSpPr>
        <p:spPr>
          <a:xfrm>
            <a:off x="600000" y="5050000"/>
            <a:ext cx="220000" cy="220000"/>
          </a:xfrm>
          <a:prstGeom prst="ellipse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000" y="4990000"/>
            <a:ext cx="43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B1B22"/>
                </a:solidFill>
                <a:latin typeface="Nunito"/>
              </a:rPr>
              <a:t>Image non souhaitée en usine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0" y="4990000"/>
            <a:ext cx="6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B1B22"/>
                </a:solidFill>
                <a:latin typeface="Nunito"/>
              </a:rPr>
              <a:t>Parcours de visite défini à l'avance, zones interdites signalées.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000" y="6408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5560"/>
                </a:solidFill>
                <a:latin typeface="Nunito"/>
              </a:rPr>
              <a:t>Unifood  |  Plan de communication du lancement du 4 janvier 2027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50046"/>
                </a:solidFill>
                <a:latin typeface="Nunito"/>
              </a:rPr>
              <a:t>LOGISTIQUE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2B1B22"/>
                </a:solidFill>
                <a:latin typeface="Baloo 2"/>
              </a:rPr>
              <a:t>Moyens à prévoir</a:t>
            </a:r>
          </a:p>
        </p:txBody>
      </p:sp>
      <p:pic>
        <p:nvPicPr>
          <p:cNvPr id="5" name="Picture 4" descr="_c_tasting.jpg_4700000_44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000" y="1500000"/>
            <a:ext cx="4700000" cy="44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1500000"/>
            <a:ext cx="6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B1B22"/>
                </a:solidFill>
                <a:latin typeface="Nunito"/>
              </a:rPr>
              <a:t>Lieu et accueil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Salle de présentation, chaises pour 40 personnes, sonorisation, écran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B1B22"/>
                </a:solidFill>
                <a:latin typeface="Nunito"/>
              </a:rPr>
              <a:t>Visite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Blouses, charlottes et surchaussures pour 40 personnes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B1B22"/>
                </a:solidFill>
                <a:latin typeface="Nunito"/>
              </a:rPr>
              <a:t>Dégustation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Produits Sossa, Super Mint et Coupe du Monde, stand de dégustation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B1B22"/>
                </a:solidFill>
                <a:latin typeface="Nunito"/>
              </a:rPr>
              <a:t>Presse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Dossiers imprimés, clé ou lien avec photos HD, badges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B1B22"/>
                </a:solidFill>
                <a:latin typeface="Nunito"/>
              </a:rPr>
              <a:t>Accueil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Rafraîchissements, petit-déjeuner léger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Budget : sur devis, à valider par la direction avant tout engagement.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5560"/>
                </a:solidFill>
                <a:latin typeface="Nunito"/>
              </a:rPr>
              <a:t>Unifood  |  Plan de communication du lancement du 4 janvier 2027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50046"/>
                </a:solidFill>
                <a:latin typeface="Nunito"/>
              </a:rPr>
              <a:t>AVANT LE 23 NOVEMBRE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2B1B22"/>
                </a:solidFill>
                <a:latin typeface="Baloo 2"/>
              </a:rPr>
              <a:t>Les décisions à prendre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600000"/>
            <a:ext cx="70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B1B22"/>
                </a:solidFill>
                <a:latin typeface="Nunito"/>
              </a:rPr>
              <a:t>1. Qui est le porte-parole (nom et fonction) ?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B1B22"/>
                </a:solidFill>
                <a:latin typeface="Nunito"/>
              </a:rPr>
              <a:t>2. La visite de l'usine est-elle autorisée, et quel parcours ?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B1B22"/>
                </a:solidFill>
                <a:latin typeface="Nunito"/>
              </a:rPr>
              <a:t>3. La ligne WhatsApp de commande sera-t-elle ouverte le 4 janvier ?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B1B22"/>
                </a:solidFill>
                <a:latin typeface="Nunito"/>
              </a:rPr>
              <a:t>4. Qui est le contact presse (nom, téléphone, e-mail) ?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B1B22"/>
                </a:solidFill>
                <a:latin typeface="Nunito"/>
              </a:rPr>
              <a:t>5. Quels commerçants partenaires inviter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50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E50046"/>
                </a:solidFill>
                <a:latin typeface="Nunito"/>
              </a:rPr>
              <a:t>Rien n'est envoyé aux journalistes ni engagé sans accord écrit de la direction marketing.</a:t>
            </a:r>
          </a:p>
        </p:txBody>
      </p:sp>
      <p:pic>
        <p:nvPicPr>
          <p:cNvPr id="7" name="Picture 6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2000" y="1700000"/>
            <a:ext cx="1651574" cy="17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