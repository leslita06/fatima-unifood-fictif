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hyperlink" Target="https://www.instagram.com/p/Detw2jbs17O/" TargetMode="External"/><Relationship Id="rId5" Type="http://schemas.openxmlformats.org/officeDocument/2006/relationships/image" Target="../media/image4.jpg"/><Relationship Id="rId6" Type="http://schemas.openxmlformats.org/officeDocument/2006/relationships/hyperlink" Target="https://www.instagram.com/p/DezgIuyIpx_/" TargetMode="External"/><Relationship Id="rId7" Type="http://schemas.openxmlformats.org/officeDocument/2006/relationships/image" Target="../media/image5.jpg"/><Relationship Id="rId8" Type="http://schemas.openxmlformats.org/officeDocument/2006/relationships/hyperlink" Target="https://www.instagram.com/p/DdlXi7DOt5E/" TargetMode="External"/><Relationship Id="rId9" Type="http://schemas.openxmlformats.org/officeDocument/2006/relationships/image" Target="../media/image6.jpg"/><Relationship Id="rId10" Type="http://schemas.openxmlformats.org/officeDocument/2006/relationships/hyperlink" Target="https://www.instagram.com/p/DerzvackZBb/"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jpg"/><Relationship Id="rId4" Type="http://schemas.openxmlformats.org/officeDocument/2006/relationships/hyperlink" Target="https://www.instagram.com/p/Deg7Ys4CJLo/" TargetMode="External"/><Relationship Id="rId5" Type="http://schemas.openxmlformats.org/officeDocument/2006/relationships/image" Target="../media/image8.jpg"/><Relationship Id="rId6" Type="http://schemas.openxmlformats.org/officeDocument/2006/relationships/hyperlink" Target="https://www.instagram.com/p/Dembztyj81_/" TargetMode="External"/><Relationship Id="rId7" Type="http://schemas.openxmlformats.org/officeDocument/2006/relationships/image" Target="../media/image9.jpg"/><Relationship Id="rId8" Type="http://schemas.openxmlformats.org/officeDocument/2006/relationships/hyperlink" Target="https://www.instagram.com/p/Dd-r7aEt8Fb/" TargetMode="External"/><Relationship Id="rId9" Type="http://schemas.openxmlformats.org/officeDocument/2006/relationships/image" Target="../media/image10.jpg"/><Relationship Id="rId10" Type="http://schemas.openxmlformats.org/officeDocument/2006/relationships/hyperlink" Target="https://www.instagram.com/p/De1qWPgN1gV/"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jpg"/><Relationship Id="rId4" Type="http://schemas.openxmlformats.org/officeDocument/2006/relationships/hyperlink" Target="https://www.instagram.com/p/DejqRPXFuW2/" TargetMode="External"/><Relationship Id="rId5" Type="http://schemas.openxmlformats.org/officeDocument/2006/relationships/image" Target="../media/image12.jpg"/><Relationship Id="rId6" Type="http://schemas.openxmlformats.org/officeDocument/2006/relationships/hyperlink" Target="https://www.instagram.com/p/DeOYnUtIUQS/" TargetMode="External"/><Relationship Id="rId7" Type="http://schemas.openxmlformats.org/officeDocument/2006/relationships/image" Target="../media/image13.jpg"/><Relationship Id="rId8" Type="http://schemas.openxmlformats.org/officeDocument/2006/relationships/hyperlink" Target="https://www.instagram.com/p/DdFLagOiKah/" TargetMode="External"/><Relationship Id="rId9" Type="http://schemas.openxmlformats.org/officeDocument/2006/relationships/image" Target="../media/image14.jpg"/><Relationship Id="rId10" Type="http://schemas.openxmlformats.org/officeDocument/2006/relationships/hyperlink" Target="https://www.instagram.com/p/DeJ29qYuop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jpg"/><Relationship Id="rId4" Type="http://schemas.openxmlformats.org/officeDocument/2006/relationships/hyperlink" Target="https://www.instagram.com/p/DehymkQkuHY/" TargetMode="External"/><Relationship Id="rId5" Type="http://schemas.openxmlformats.org/officeDocument/2006/relationships/image" Target="../media/image16.jpg"/><Relationship Id="rId6" Type="http://schemas.openxmlformats.org/officeDocument/2006/relationships/hyperlink" Target="https://www.instagram.com/p/DerSAE2uPYr/" TargetMode="External"/><Relationship Id="rId7" Type="http://schemas.openxmlformats.org/officeDocument/2006/relationships/image" Target="../media/image17.jpg"/><Relationship Id="rId8" Type="http://schemas.openxmlformats.org/officeDocument/2006/relationships/hyperlink" Target="https://www.instagram.com/p/DexFxmgILVC/" TargetMode="External"/><Relationship Id="rId9" Type="http://schemas.openxmlformats.org/officeDocument/2006/relationships/image" Target="../media/image18.jpg"/><Relationship Id="rId10" Type="http://schemas.openxmlformats.org/officeDocument/2006/relationships/hyperlink" Target="https://www.instagram.com/p/DerRC9iIf3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9.jpg"/><Relationship Id="rId4" Type="http://schemas.openxmlformats.org/officeDocument/2006/relationships/hyperlink" Target="https://www.tiktok.com/@wave.senegal/video/7685787064834477328" TargetMode="External"/><Relationship Id="rId5" Type="http://schemas.openxmlformats.org/officeDocument/2006/relationships/image" Target="../media/image20.jpg"/><Relationship Id="rId6" Type="http://schemas.openxmlformats.org/officeDocument/2006/relationships/hyperlink" Target="https://www.tiktok.com/@yas_senegal/video/7688513459289459989" TargetMode="External"/><Relationship Id="rId7" Type="http://schemas.openxmlformats.org/officeDocument/2006/relationships/image" Target="../media/image21.jpg"/><Relationship Id="rId8" Type="http://schemas.openxmlformats.org/officeDocument/2006/relationships/hyperlink" Target="https://www.tiktok.com/@moovafricaci/video/7693857067173465352" TargetMode="External"/><Relationship Id="rId9" Type="http://schemas.openxmlformats.org/officeDocument/2006/relationships/image" Target="../media/image22.jpg"/><Relationship Id="rId10" Type="http://schemas.openxmlformats.org/officeDocument/2006/relationships/hyperlink" Target="https://www.tiktok.com/@waveci/video/7696852452313812244" TargetMode="External"/><Relationship Id="rId11" Type="http://schemas.openxmlformats.org/officeDocument/2006/relationships/image" Target="../media/image23.jpg"/><Relationship Id="rId12" Type="http://schemas.openxmlformats.org/officeDocument/2006/relationships/hyperlink" Target="https://www.facebook.com/reel/2980007419011556/" TargetMode="External"/><Relationship Id="rId13" Type="http://schemas.openxmlformats.org/officeDocument/2006/relationships/image" Target="../media/image24.jpg"/><Relationship Id="rId14" Type="http://schemas.openxmlformats.org/officeDocument/2006/relationships/hyperlink" Target="https://www.facebook.com/reel/2958877677794729/" TargetMode="External"/><Relationship Id="rId15" Type="http://schemas.openxmlformats.org/officeDocument/2006/relationships/image" Target="../media/image25.jpg"/><Relationship Id="rId16" Type="http://schemas.openxmlformats.org/officeDocument/2006/relationships/hyperlink" Target="https://www.facebook.com/WaveSenegal/posts/pfbid026Hknm59DZRqQDcLpMCakvCPBxaE41ZJgKC5QMzGpXXD98M6WDZC2njRrQYhB33Wxl" TargetMode="External"/><Relationship Id="rId17" Type="http://schemas.openxmlformats.org/officeDocument/2006/relationships/image" Target="../media/image26.jpg"/><Relationship Id="rId18" Type="http://schemas.openxmlformats.org/officeDocument/2006/relationships/hyperlink" Target="https://www.facebook.com/moovafricacotedivoire/posts/pfbid02Cq3REwLVnhKJnChGQT68YYtpAica5MEki64ei7yuM6znhh12o8qj9GFKS9GQ95LL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7.jpg"/><Relationship Id="rId4" Type="http://schemas.openxmlformats.org/officeDocument/2006/relationships/hyperlink" Target="https://www.tiktok.com/@chowdeck/video/7682863394323483911" TargetMode="External"/><Relationship Id="rId5" Type="http://schemas.openxmlformats.org/officeDocument/2006/relationships/image" Target="../media/image28.jpg"/><Relationship Id="rId6" Type="http://schemas.openxmlformats.org/officeDocument/2006/relationships/hyperlink" Target="https://www.tiktok.com/@theflutterwave/video/7686907394592443666" TargetMode="External"/><Relationship Id="rId7" Type="http://schemas.openxmlformats.org/officeDocument/2006/relationships/image" Target="../media/image29.jpg"/><Relationship Id="rId8" Type="http://schemas.openxmlformats.org/officeDocument/2006/relationships/hyperlink" Target="https://www.tiktok.com/@moniepointng/video/7671328139703880978" TargetMode="External"/><Relationship Id="rId9" Type="http://schemas.openxmlformats.org/officeDocument/2006/relationships/image" Target="../media/image30.jpg"/><Relationship Id="rId10" Type="http://schemas.openxmlformats.org/officeDocument/2006/relationships/hyperlink" Target="https://www.tiktok.com/@doctolib/video/7697285498238192929" TargetMode="External"/><Relationship Id="rId11" Type="http://schemas.openxmlformats.org/officeDocument/2006/relationships/image" Target="../media/image31.jpg"/><Relationship Id="rId12" Type="http://schemas.openxmlformats.org/officeDocument/2006/relationships/hyperlink" Target="https://www.tiktok.com/@moniepointng/video/7661933166382386440" TargetMode="External"/><Relationship Id="rId13" Type="http://schemas.openxmlformats.org/officeDocument/2006/relationships/image" Target="../media/image32.jpg"/><Relationship Id="rId14" Type="http://schemas.openxmlformats.org/officeDocument/2006/relationships/hyperlink" Target="https://www.tiktok.com/@qonto/video/7657573248200117526" TargetMode="External"/><Relationship Id="rId15" Type="http://schemas.openxmlformats.org/officeDocument/2006/relationships/image" Target="../media/image33.jpg"/><Relationship Id="rId16" Type="http://schemas.openxmlformats.org/officeDocument/2006/relationships/hyperlink" Target="https://www.facebook.com/reel/135181841702918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4.jpg"/><Relationship Id="rId4" Type="http://schemas.openxmlformats.org/officeDocument/2006/relationships/hyperlink" Target="https://www.instagram.com/p/Dd6r680N9Fx/" TargetMode="External"/><Relationship Id="rId5" Type="http://schemas.openxmlformats.org/officeDocument/2006/relationships/image" Target="../media/image35.jpg"/><Relationship Id="rId6" Type="http://schemas.openxmlformats.org/officeDocument/2006/relationships/hyperlink" Target="https://www.instagram.com/p/Del2CQilt3O/" TargetMode="External"/><Relationship Id="rId7" Type="http://schemas.openxmlformats.org/officeDocument/2006/relationships/image" Target="../media/image36.jpg"/><Relationship Id="rId8" Type="http://schemas.openxmlformats.org/officeDocument/2006/relationships/hyperlink" Target="https://www.instagram.com/p/DePPkBRIQc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754"/>
        </a:solidFill>
        <a:effectLst/>
      </p:bgPr>
    </p:bg>
    <p:spTree>
      <p:nvGrpSpPr>
        <p:cNvPr id="1" name=""/>
        <p:cNvGrpSpPr/>
        <p:nvPr/>
      </p:nvGrpSpPr>
      <p:grpSpPr/>
      <p:pic>
        <p:nvPicPr>
          <p:cNvPr id="2" name="Picture 1" descr="logo_mstudio_blanc_transparent.png"/>
          <p:cNvPicPr>
            <a:picLocks noChangeAspect="1"/>
          </p:cNvPicPr>
          <p:nvPr/>
        </p:nvPicPr>
        <p:blipFill>
          <a:blip r:embed="rId2"/>
          <a:stretch>
            <a:fillRect/>
          </a:stretch>
        </p:blipFill>
        <p:spPr>
          <a:xfrm>
            <a:off x="731520" y="640080"/>
            <a:ext cx="2096332" cy="548640"/>
          </a:xfrm>
          <a:prstGeom prst="rect">
            <a:avLst/>
          </a:prstGeom>
        </p:spPr>
      </p:pic>
      <p:sp>
        <p:nvSpPr>
          <p:cNvPr id="3" name="Rectangle 2"/>
          <p:cNvSpPr/>
          <p:nvPr/>
        </p:nvSpPr>
        <p:spPr>
          <a:xfrm>
            <a:off x="731520" y="2148840"/>
            <a:ext cx="109728" cy="18288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1188720"/>
          </a:xfrm>
          <a:prstGeom prst="rect">
            <a:avLst/>
          </a:prstGeom>
          <a:noFill/>
        </p:spPr>
        <p:txBody>
          <a:bodyPr wrap="square" anchor="t" lIns="45720" rIns="45720" tIns="27432" bIns="27432">
            <a:spAutoFit/>
          </a:bodyPr>
          <a:lstStyle/>
          <a:p>
            <a:pPr algn="l">
              <a:lnSpc>
                <a:spcPct val="110000"/>
              </a:lnSpc>
              <a:spcAft>
                <a:spcPts val="600"/>
              </a:spcAft>
            </a:pPr>
            <a:r>
              <a:rPr sz="4400" b="1">
                <a:solidFill>
                  <a:srgbClr val="FFFFFF"/>
                </a:solidFill>
                <a:latin typeface="Funnel Display"/>
              </a:rPr>
              <a:t>Visuels, vidéos et témoignages</a:t>
            </a:r>
          </a:p>
        </p:txBody>
      </p:sp>
      <p:sp>
        <p:nvSpPr>
          <p:cNvPr id="5" name="TextBox 4"/>
          <p:cNvSpPr txBox="1"/>
          <p:nvPr/>
        </p:nvSpPr>
        <p:spPr>
          <a:xfrm>
            <a:off x="1005840" y="2971800"/>
            <a:ext cx="10058400" cy="1097280"/>
          </a:xfrm>
          <a:prstGeom prst="rect">
            <a:avLst/>
          </a:prstGeom>
          <a:noFill/>
        </p:spPr>
        <p:txBody>
          <a:bodyPr wrap="square" anchor="t" lIns="45720" rIns="45720" tIns="27432" bIns="27432">
            <a:spAutoFit/>
          </a:bodyPr>
          <a:lstStyle/>
          <a:p>
            <a:pPr algn="l">
              <a:lnSpc>
                <a:spcPct val="110000"/>
              </a:lnSpc>
              <a:spcAft>
                <a:spcPts val="600"/>
              </a:spcAft>
            </a:pPr>
            <a:r>
              <a:rPr sz="2000" b="0">
                <a:solidFill>
                  <a:srgbClr val="CFE6F4"/>
                </a:solidFill>
                <a:latin typeface="Work Sans"/>
              </a:rPr>
              <a:t>Ce que publient les grandes marques B2C et B2B au Nigeria, en France, en Côte d'Ivoire et au Sénégal</a:t>
            </a:r>
          </a:p>
        </p:txBody>
      </p:sp>
      <p:sp>
        <p:nvSpPr>
          <p:cNvPr id="6" name="TextBox 5"/>
          <p:cNvSpPr txBox="1"/>
          <p:nvPr/>
        </p:nvSpPr>
        <p:spPr>
          <a:xfrm>
            <a:off x="1005840" y="5120640"/>
            <a:ext cx="10058400" cy="731520"/>
          </a:xfrm>
          <a:prstGeom prst="rect">
            <a:avLst/>
          </a:prstGeom>
          <a:noFill/>
        </p:spPr>
        <p:txBody>
          <a:bodyPr wrap="square" anchor="t" lIns="45720" rIns="45720" tIns="27432" bIns="27432">
            <a:spAutoFit/>
          </a:bodyPr>
          <a:lstStyle/>
          <a:p>
            <a:pPr algn="l">
              <a:lnSpc>
                <a:spcPct val="110000"/>
              </a:lnSpc>
              <a:spcAft>
                <a:spcPts val="600"/>
              </a:spcAft>
            </a:pPr>
            <a:r>
              <a:rPr sz="1300" b="0">
                <a:solidFill>
                  <a:srgbClr val="00AED4"/>
                </a:solidFill>
                <a:latin typeface="Space Grotesk"/>
              </a:rPr>
              <a:t>22 marques · 330 posts Instagram · 118 LinkedIn · 345 Facebook · 285 TikTok</a:t>
            </a:r>
          </a:p>
          <a:p>
            <a:pPr algn="l">
              <a:lnSpc>
                <a:spcPct val="110000"/>
              </a:lnSpc>
              <a:spcAft>
                <a:spcPts val="600"/>
              </a:spcAft>
            </a:pPr>
            <a:r>
              <a:rPr sz="1300" b="0">
                <a:solidFill>
                  <a:srgbClr val="00AED4"/>
                </a:solidFill>
                <a:latin typeface="Space Grotesk"/>
              </a:rPr>
              <a:t>Relevé du 24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Sommaire</a:t>
            </a:r>
          </a:p>
        </p:txBody>
      </p:sp>
      <p:pic>
        <p:nvPicPr>
          <p:cNvPr id="4" name="Picture 3"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5" name="Rectangle 4"/>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7" name="TextBox 6"/>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2</a:t>
            </a:r>
          </a:p>
        </p:txBody>
      </p:sp>
      <p:sp>
        <p:nvSpPr>
          <p:cNvPr id="8" name="Rectangle 7"/>
          <p:cNvSpPr/>
          <p:nvPr/>
        </p:nvSpPr>
        <p:spPr>
          <a:xfrm>
            <a:off x="822960" y="1417320"/>
            <a:ext cx="457200" cy="43891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417320"/>
            <a:ext cx="457200" cy="438912"/>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1</a:t>
            </a:r>
          </a:p>
        </p:txBody>
      </p:sp>
      <p:sp>
        <p:nvSpPr>
          <p:cNvPr id="10" name="TextBox 9"/>
          <p:cNvSpPr txBox="1"/>
          <p:nvPr/>
        </p:nvSpPr>
        <p:spPr>
          <a:xfrm>
            <a:off x="1463040" y="1453896"/>
            <a:ext cx="7315200" cy="411480"/>
          </a:xfrm>
          <a:prstGeom prst="rect">
            <a:avLst/>
          </a:prstGeom>
          <a:noFill/>
        </p:spPr>
        <p:txBody>
          <a:bodyPr wrap="square" anchor="t" lIns="45720" rIns="45720" tIns="27432" bIns="27432">
            <a:spAutoFit/>
          </a:bodyPr>
          <a:lstStyle/>
          <a:p>
            <a:pPr algn="l">
              <a:lnSpc>
                <a:spcPct val="110000"/>
              </a:lnSpc>
              <a:spcAft>
                <a:spcPts val="600"/>
              </a:spcAft>
            </a:pPr>
            <a:r>
              <a:rPr sz="1700" b="0">
                <a:solidFill>
                  <a:srgbClr val="232754"/>
                </a:solidFill>
                <a:latin typeface="Work Sans"/>
              </a:rPr>
              <a:t>L'essentiel en une page</a:t>
            </a:r>
          </a:p>
        </p:txBody>
      </p:sp>
      <p:sp>
        <p:nvSpPr>
          <p:cNvPr id="11" name="TextBox 10"/>
          <p:cNvSpPr txBox="1"/>
          <p:nvPr/>
        </p:nvSpPr>
        <p:spPr>
          <a:xfrm>
            <a:off x="9692640" y="1453896"/>
            <a:ext cx="1371600" cy="411480"/>
          </a:xfrm>
          <a:prstGeom prst="rect">
            <a:avLst/>
          </a:prstGeom>
          <a:noFill/>
        </p:spPr>
        <p:txBody>
          <a:bodyPr wrap="square" anchor="t" lIns="45720" rIns="45720" tIns="27432" bIns="27432">
            <a:spAutoFit/>
          </a:bodyPr>
          <a:lstStyle/>
          <a:p>
            <a:pPr algn="r">
              <a:lnSpc>
                <a:spcPct val="110000"/>
              </a:lnSpc>
              <a:spcAft>
                <a:spcPts val="600"/>
              </a:spcAft>
            </a:pPr>
            <a:r>
              <a:rPr sz="1400" b="0">
                <a:solidFill>
                  <a:srgbClr val="8F8F9A"/>
                </a:solidFill>
                <a:latin typeface="Space Grotesk"/>
              </a:rPr>
              <a:t>p. 3</a:t>
            </a:r>
          </a:p>
        </p:txBody>
      </p:sp>
      <p:sp>
        <p:nvSpPr>
          <p:cNvPr id="12" name="Rectangle 11"/>
          <p:cNvSpPr/>
          <p:nvPr/>
        </p:nvSpPr>
        <p:spPr>
          <a:xfrm>
            <a:off x="822960" y="1947672"/>
            <a:ext cx="457200" cy="43891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947672"/>
            <a:ext cx="457200" cy="438912"/>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2</a:t>
            </a:r>
          </a:p>
        </p:txBody>
      </p:sp>
      <p:sp>
        <p:nvSpPr>
          <p:cNvPr id="14" name="TextBox 13"/>
          <p:cNvSpPr txBox="1"/>
          <p:nvPr/>
        </p:nvSpPr>
        <p:spPr>
          <a:xfrm>
            <a:off x="1463040" y="1984248"/>
            <a:ext cx="7315200" cy="411480"/>
          </a:xfrm>
          <a:prstGeom prst="rect">
            <a:avLst/>
          </a:prstGeom>
          <a:noFill/>
        </p:spPr>
        <p:txBody>
          <a:bodyPr wrap="square" anchor="t" lIns="45720" rIns="45720" tIns="27432" bIns="27432">
            <a:spAutoFit/>
          </a:bodyPr>
          <a:lstStyle/>
          <a:p>
            <a:pPr algn="l">
              <a:lnSpc>
                <a:spcPct val="110000"/>
              </a:lnSpc>
              <a:spcAft>
                <a:spcPts val="600"/>
              </a:spcAft>
            </a:pPr>
            <a:r>
              <a:rPr sz="1700" b="0">
                <a:solidFill>
                  <a:srgbClr val="232754"/>
                </a:solidFill>
                <a:latin typeface="Work Sans"/>
              </a:rPr>
              <a:t>Méthode et panel</a:t>
            </a:r>
          </a:p>
        </p:txBody>
      </p:sp>
      <p:sp>
        <p:nvSpPr>
          <p:cNvPr id="15" name="TextBox 14"/>
          <p:cNvSpPr txBox="1"/>
          <p:nvPr/>
        </p:nvSpPr>
        <p:spPr>
          <a:xfrm>
            <a:off x="9692640" y="1984248"/>
            <a:ext cx="1371600" cy="411480"/>
          </a:xfrm>
          <a:prstGeom prst="rect">
            <a:avLst/>
          </a:prstGeom>
          <a:noFill/>
        </p:spPr>
        <p:txBody>
          <a:bodyPr wrap="square" anchor="t" lIns="45720" rIns="45720" tIns="27432" bIns="27432">
            <a:spAutoFit/>
          </a:bodyPr>
          <a:lstStyle/>
          <a:p>
            <a:pPr algn="r">
              <a:lnSpc>
                <a:spcPct val="110000"/>
              </a:lnSpc>
              <a:spcAft>
                <a:spcPts val="600"/>
              </a:spcAft>
            </a:pPr>
            <a:r>
              <a:rPr sz="1400" b="0">
                <a:solidFill>
                  <a:srgbClr val="8F8F9A"/>
                </a:solidFill>
                <a:latin typeface="Space Grotesk"/>
              </a:rPr>
              <a:t>p. 4</a:t>
            </a:r>
          </a:p>
        </p:txBody>
      </p:sp>
      <p:sp>
        <p:nvSpPr>
          <p:cNvPr id="16" name="Rectangle 15"/>
          <p:cNvSpPr/>
          <p:nvPr/>
        </p:nvSpPr>
        <p:spPr>
          <a:xfrm>
            <a:off x="822960" y="2478024"/>
            <a:ext cx="457200" cy="43891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478024"/>
            <a:ext cx="457200" cy="438912"/>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3</a:t>
            </a:r>
          </a:p>
        </p:txBody>
      </p:sp>
      <p:sp>
        <p:nvSpPr>
          <p:cNvPr id="18" name="TextBox 17"/>
          <p:cNvSpPr txBox="1"/>
          <p:nvPr/>
        </p:nvSpPr>
        <p:spPr>
          <a:xfrm>
            <a:off x="1463040" y="2514600"/>
            <a:ext cx="7315200" cy="411480"/>
          </a:xfrm>
          <a:prstGeom prst="rect">
            <a:avLst/>
          </a:prstGeom>
          <a:noFill/>
        </p:spPr>
        <p:txBody>
          <a:bodyPr wrap="square" anchor="t" lIns="45720" rIns="45720" tIns="27432" bIns="27432">
            <a:spAutoFit/>
          </a:bodyPr>
          <a:lstStyle/>
          <a:p>
            <a:pPr algn="l">
              <a:lnSpc>
                <a:spcPct val="110000"/>
              </a:lnSpc>
              <a:spcAft>
                <a:spcPts val="600"/>
              </a:spcAft>
            </a:pPr>
            <a:r>
              <a:rPr sz="1700" b="0">
                <a:solidFill>
                  <a:srgbClr val="232754"/>
                </a:solidFill>
                <a:latin typeface="Work Sans"/>
              </a:rPr>
              <a:t>Ce qui est publié, ce qui marche</a:t>
            </a:r>
          </a:p>
        </p:txBody>
      </p:sp>
      <p:sp>
        <p:nvSpPr>
          <p:cNvPr id="19" name="TextBox 18"/>
          <p:cNvSpPr txBox="1"/>
          <p:nvPr/>
        </p:nvSpPr>
        <p:spPr>
          <a:xfrm>
            <a:off x="9692640" y="2514600"/>
            <a:ext cx="1371600" cy="411480"/>
          </a:xfrm>
          <a:prstGeom prst="rect">
            <a:avLst/>
          </a:prstGeom>
          <a:noFill/>
        </p:spPr>
        <p:txBody>
          <a:bodyPr wrap="square" anchor="t" lIns="45720" rIns="45720" tIns="27432" bIns="27432">
            <a:spAutoFit/>
          </a:bodyPr>
          <a:lstStyle/>
          <a:p>
            <a:pPr algn="r">
              <a:lnSpc>
                <a:spcPct val="110000"/>
              </a:lnSpc>
              <a:spcAft>
                <a:spcPts val="600"/>
              </a:spcAft>
            </a:pPr>
            <a:r>
              <a:rPr sz="1400" b="0">
                <a:solidFill>
                  <a:srgbClr val="8F8F9A"/>
                </a:solidFill>
                <a:latin typeface="Space Grotesk"/>
              </a:rPr>
              <a:t>p. 6</a:t>
            </a:r>
          </a:p>
        </p:txBody>
      </p:sp>
      <p:sp>
        <p:nvSpPr>
          <p:cNvPr id="20" name="Rectangle 19"/>
          <p:cNvSpPr/>
          <p:nvPr/>
        </p:nvSpPr>
        <p:spPr>
          <a:xfrm>
            <a:off x="822960" y="3008376"/>
            <a:ext cx="457200" cy="43891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008376"/>
            <a:ext cx="457200" cy="438912"/>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4</a:t>
            </a:r>
          </a:p>
        </p:txBody>
      </p:sp>
      <p:sp>
        <p:nvSpPr>
          <p:cNvPr id="22" name="TextBox 21"/>
          <p:cNvSpPr txBox="1"/>
          <p:nvPr/>
        </p:nvSpPr>
        <p:spPr>
          <a:xfrm>
            <a:off x="1463040" y="3044952"/>
            <a:ext cx="7315200" cy="411480"/>
          </a:xfrm>
          <a:prstGeom prst="rect">
            <a:avLst/>
          </a:prstGeom>
          <a:noFill/>
        </p:spPr>
        <p:txBody>
          <a:bodyPr wrap="square" anchor="t" lIns="45720" rIns="45720" tIns="27432" bIns="27432">
            <a:spAutoFit/>
          </a:bodyPr>
          <a:lstStyle/>
          <a:p>
            <a:pPr algn="l">
              <a:lnSpc>
                <a:spcPct val="110000"/>
              </a:lnSpc>
              <a:spcAft>
                <a:spcPts val="600"/>
              </a:spcAft>
            </a:pPr>
            <a:r>
              <a:rPr sz="1700" b="0">
                <a:solidFill>
                  <a:srgbClr val="232754"/>
                </a:solidFill>
                <a:latin typeface="Work Sans"/>
              </a:rPr>
              <a:t>Pays par pays</a:t>
            </a:r>
          </a:p>
        </p:txBody>
      </p:sp>
      <p:sp>
        <p:nvSpPr>
          <p:cNvPr id="23" name="TextBox 22"/>
          <p:cNvSpPr txBox="1"/>
          <p:nvPr/>
        </p:nvSpPr>
        <p:spPr>
          <a:xfrm>
            <a:off x="9692640" y="3044952"/>
            <a:ext cx="1371600" cy="411480"/>
          </a:xfrm>
          <a:prstGeom prst="rect">
            <a:avLst/>
          </a:prstGeom>
          <a:noFill/>
        </p:spPr>
        <p:txBody>
          <a:bodyPr wrap="square" anchor="t" lIns="45720" rIns="45720" tIns="27432" bIns="27432">
            <a:spAutoFit/>
          </a:bodyPr>
          <a:lstStyle/>
          <a:p>
            <a:pPr algn="r">
              <a:lnSpc>
                <a:spcPct val="110000"/>
              </a:lnSpc>
              <a:spcAft>
                <a:spcPts val="600"/>
              </a:spcAft>
            </a:pPr>
            <a:r>
              <a:rPr sz="1400" b="0">
                <a:solidFill>
                  <a:srgbClr val="8F8F9A"/>
                </a:solidFill>
                <a:latin typeface="Space Grotesk"/>
              </a:rPr>
              <a:t>p. 8</a:t>
            </a:r>
          </a:p>
        </p:txBody>
      </p:sp>
      <p:sp>
        <p:nvSpPr>
          <p:cNvPr id="24" name="Rectangle 23"/>
          <p:cNvSpPr/>
          <p:nvPr/>
        </p:nvSpPr>
        <p:spPr>
          <a:xfrm>
            <a:off x="822960" y="3538728"/>
            <a:ext cx="457200" cy="43891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538728"/>
            <a:ext cx="457200" cy="438912"/>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5</a:t>
            </a:r>
          </a:p>
        </p:txBody>
      </p:sp>
      <p:sp>
        <p:nvSpPr>
          <p:cNvPr id="26" name="TextBox 25"/>
          <p:cNvSpPr txBox="1"/>
          <p:nvPr/>
        </p:nvSpPr>
        <p:spPr>
          <a:xfrm>
            <a:off x="1463040" y="3575304"/>
            <a:ext cx="7315200" cy="411480"/>
          </a:xfrm>
          <a:prstGeom prst="rect">
            <a:avLst/>
          </a:prstGeom>
          <a:noFill/>
        </p:spPr>
        <p:txBody>
          <a:bodyPr wrap="square" anchor="t" lIns="45720" rIns="45720" tIns="27432" bIns="27432">
            <a:spAutoFit/>
          </a:bodyPr>
          <a:lstStyle/>
          <a:p>
            <a:pPr algn="l">
              <a:lnSpc>
                <a:spcPct val="110000"/>
              </a:lnSpc>
              <a:spcAft>
                <a:spcPts val="600"/>
              </a:spcAft>
            </a:pPr>
            <a:r>
              <a:rPr sz="1700" b="0">
                <a:solidFill>
                  <a:srgbClr val="232754"/>
                </a:solidFill>
                <a:latin typeface="Work Sans"/>
              </a:rPr>
              <a:t>B2B : Instagram et LinkedIn</a:t>
            </a:r>
          </a:p>
        </p:txBody>
      </p:sp>
      <p:sp>
        <p:nvSpPr>
          <p:cNvPr id="27" name="TextBox 26"/>
          <p:cNvSpPr txBox="1"/>
          <p:nvPr/>
        </p:nvSpPr>
        <p:spPr>
          <a:xfrm>
            <a:off x="9692640" y="3575304"/>
            <a:ext cx="1371600" cy="411480"/>
          </a:xfrm>
          <a:prstGeom prst="rect">
            <a:avLst/>
          </a:prstGeom>
          <a:noFill/>
        </p:spPr>
        <p:txBody>
          <a:bodyPr wrap="square" anchor="t" lIns="45720" rIns="45720" tIns="27432" bIns="27432">
            <a:spAutoFit/>
          </a:bodyPr>
          <a:lstStyle/>
          <a:p>
            <a:pPr algn="r">
              <a:lnSpc>
                <a:spcPct val="110000"/>
              </a:lnSpc>
              <a:spcAft>
                <a:spcPts val="600"/>
              </a:spcAft>
            </a:pPr>
            <a:r>
              <a:rPr sz="1400" b="0">
                <a:solidFill>
                  <a:srgbClr val="8F8F9A"/>
                </a:solidFill>
                <a:latin typeface="Space Grotesk"/>
              </a:rPr>
              <a:t>p. 12</a:t>
            </a:r>
          </a:p>
        </p:txBody>
      </p:sp>
      <p:sp>
        <p:nvSpPr>
          <p:cNvPr id="28" name="Rectangle 27"/>
          <p:cNvSpPr/>
          <p:nvPr/>
        </p:nvSpPr>
        <p:spPr>
          <a:xfrm>
            <a:off x="822960" y="4069080"/>
            <a:ext cx="457200" cy="43891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069080"/>
            <a:ext cx="457200" cy="438912"/>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6</a:t>
            </a:r>
          </a:p>
        </p:txBody>
      </p:sp>
      <p:sp>
        <p:nvSpPr>
          <p:cNvPr id="30" name="TextBox 29"/>
          <p:cNvSpPr txBox="1"/>
          <p:nvPr/>
        </p:nvSpPr>
        <p:spPr>
          <a:xfrm>
            <a:off x="1463040" y="4105656"/>
            <a:ext cx="7315200" cy="411480"/>
          </a:xfrm>
          <a:prstGeom prst="rect">
            <a:avLst/>
          </a:prstGeom>
          <a:noFill/>
        </p:spPr>
        <p:txBody>
          <a:bodyPr wrap="square" anchor="t" lIns="45720" rIns="45720" tIns="27432" bIns="27432">
            <a:spAutoFit/>
          </a:bodyPr>
          <a:lstStyle/>
          <a:p>
            <a:pPr algn="l">
              <a:lnSpc>
                <a:spcPct val="110000"/>
              </a:lnSpc>
              <a:spcAft>
                <a:spcPts val="600"/>
              </a:spcAft>
            </a:pPr>
            <a:r>
              <a:rPr sz="1700" b="0">
                <a:solidFill>
                  <a:srgbClr val="232754"/>
                </a:solidFill>
                <a:latin typeface="Work Sans"/>
              </a:rPr>
              <a:t>Facebook et TikTok, quatre pays</a:t>
            </a:r>
          </a:p>
        </p:txBody>
      </p:sp>
      <p:sp>
        <p:nvSpPr>
          <p:cNvPr id="31" name="TextBox 30"/>
          <p:cNvSpPr txBox="1"/>
          <p:nvPr/>
        </p:nvSpPr>
        <p:spPr>
          <a:xfrm>
            <a:off x="9692640" y="4105656"/>
            <a:ext cx="1371600" cy="411480"/>
          </a:xfrm>
          <a:prstGeom prst="rect">
            <a:avLst/>
          </a:prstGeom>
          <a:noFill/>
        </p:spPr>
        <p:txBody>
          <a:bodyPr wrap="square" anchor="t" lIns="45720" rIns="45720" tIns="27432" bIns="27432">
            <a:spAutoFit/>
          </a:bodyPr>
          <a:lstStyle/>
          <a:p>
            <a:pPr algn="r">
              <a:lnSpc>
                <a:spcPct val="110000"/>
              </a:lnSpc>
              <a:spcAft>
                <a:spcPts val="600"/>
              </a:spcAft>
            </a:pPr>
            <a:r>
              <a:rPr sz="1400" b="0">
                <a:solidFill>
                  <a:srgbClr val="8F8F9A"/>
                </a:solidFill>
                <a:latin typeface="Space Grotesk"/>
              </a:rPr>
              <a:t>p. 13</a:t>
            </a:r>
          </a:p>
        </p:txBody>
      </p:sp>
      <p:sp>
        <p:nvSpPr>
          <p:cNvPr id="32" name="Rectangle 31"/>
          <p:cNvSpPr/>
          <p:nvPr/>
        </p:nvSpPr>
        <p:spPr>
          <a:xfrm>
            <a:off x="822960" y="4599431"/>
            <a:ext cx="457200" cy="43891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599431"/>
            <a:ext cx="457200" cy="438912"/>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7</a:t>
            </a:r>
          </a:p>
        </p:txBody>
      </p:sp>
      <p:sp>
        <p:nvSpPr>
          <p:cNvPr id="34" name="TextBox 33"/>
          <p:cNvSpPr txBox="1"/>
          <p:nvPr/>
        </p:nvSpPr>
        <p:spPr>
          <a:xfrm>
            <a:off x="1463040" y="4636007"/>
            <a:ext cx="7315200" cy="411480"/>
          </a:xfrm>
          <a:prstGeom prst="rect">
            <a:avLst/>
          </a:prstGeom>
          <a:noFill/>
        </p:spPr>
        <p:txBody>
          <a:bodyPr wrap="square" anchor="t" lIns="45720" rIns="45720" tIns="27432" bIns="27432">
            <a:spAutoFit/>
          </a:bodyPr>
          <a:lstStyle/>
          <a:p>
            <a:pPr algn="l">
              <a:lnSpc>
                <a:spcPct val="110000"/>
              </a:lnSpc>
              <a:spcAft>
                <a:spcPts val="600"/>
              </a:spcAft>
            </a:pPr>
            <a:r>
              <a:rPr sz="1700" b="0">
                <a:solidFill>
                  <a:srgbClr val="232754"/>
                </a:solidFill>
                <a:latin typeface="Work Sans"/>
              </a:rPr>
              <a:t>Les quatre familles de contenu</a:t>
            </a:r>
          </a:p>
        </p:txBody>
      </p:sp>
      <p:sp>
        <p:nvSpPr>
          <p:cNvPr id="35" name="TextBox 34"/>
          <p:cNvSpPr txBox="1"/>
          <p:nvPr/>
        </p:nvSpPr>
        <p:spPr>
          <a:xfrm>
            <a:off x="9692640" y="4636007"/>
            <a:ext cx="1371600" cy="411480"/>
          </a:xfrm>
          <a:prstGeom prst="rect">
            <a:avLst/>
          </a:prstGeom>
          <a:noFill/>
        </p:spPr>
        <p:txBody>
          <a:bodyPr wrap="square" anchor="t" lIns="45720" rIns="45720" tIns="27432" bIns="27432">
            <a:spAutoFit/>
          </a:bodyPr>
          <a:lstStyle/>
          <a:p>
            <a:pPr algn="r">
              <a:lnSpc>
                <a:spcPct val="110000"/>
              </a:lnSpc>
              <a:spcAft>
                <a:spcPts val="600"/>
              </a:spcAft>
            </a:pPr>
            <a:r>
              <a:rPr sz="1400" b="0">
                <a:solidFill>
                  <a:srgbClr val="8F8F9A"/>
                </a:solidFill>
                <a:latin typeface="Space Grotesk"/>
              </a:rPr>
              <a:t>p. 20</a:t>
            </a:r>
          </a:p>
        </p:txBody>
      </p:sp>
      <p:sp>
        <p:nvSpPr>
          <p:cNvPr id="36" name="Rectangle 35"/>
          <p:cNvSpPr/>
          <p:nvPr/>
        </p:nvSpPr>
        <p:spPr>
          <a:xfrm>
            <a:off x="822960" y="5129783"/>
            <a:ext cx="457200" cy="43891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5129783"/>
            <a:ext cx="457200" cy="438912"/>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8</a:t>
            </a:r>
          </a:p>
        </p:txBody>
      </p:sp>
      <p:sp>
        <p:nvSpPr>
          <p:cNvPr id="38" name="TextBox 37"/>
          <p:cNvSpPr txBox="1"/>
          <p:nvPr/>
        </p:nvSpPr>
        <p:spPr>
          <a:xfrm>
            <a:off x="1463040" y="5166359"/>
            <a:ext cx="7315200" cy="411480"/>
          </a:xfrm>
          <a:prstGeom prst="rect">
            <a:avLst/>
          </a:prstGeom>
          <a:noFill/>
        </p:spPr>
        <p:txBody>
          <a:bodyPr wrap="square" anchor="t" lIns="45720" rIns="45720" tIns="27432" bIns="27432">
            <a:spAutoFit/>
          </a:bodyPr>
          <a:lstStyle/>
          <a:p>
            <a:pPr algn="l">
              <a:lnSpc>
                <a:spcPct val="110000"/>
              </a:lnSpc>
              <a:spcAft>
                <a:spcPts val="600"/>
              </a:spcAft>
            </a:pPr>
            <a:r>
              <a:rPr sz="1700" b="0">
                <a:solidFill>
                  <a:srgbClr val="232754"/>
                </a:solidFill>
                <a:latin typeface="Work Sans"/>
              </a:rPr>
              <a:t>Ce qu'on en tire pour nos startups</a:t>
            </a:r>
          </a:p>
        </p:txBody>
      </p:sp>
      <p:sp>
        <p:nvSpPr>
          <p:cNvPr id="39" name="TextBox 38"/>
          <p:cNvSpPr txBox="1"/>
          <p:nvPr/>
        </p:nvSpPr>
        <p:spPr>
          <a:xfrm>
            <a:off x="9692640" y="5166359"/>
            <a:ext cx="1371600" cy="411480"/>
          </a:xfrm>
          <a:prstGeom prst="rect">
            <a:avLst/>
          </a:prstGeom>
          <a:noFill/>
        </p:spPr>
        <p:txBody>
          <a:bodyPr wrap="square" anchor="t" lIns="45720" rIns="45720" tIns="27432" bIns="27432">
            <a:spAutoFit/>
          </a:bodyPr>
          <a:lstStyle/>
          <a:p>
            <a:pPr algn="r">
              <a:lnSpc>
                <a:spcPct val="110000"/>
              </a:lnSpc>
              <a:spcAft>
                <a:spcPts val="600"/>
              </a:spcAft>
            </a:pPr>
            <a:r>
              <a:rPr sz="1400" b="0">
                <a:solidFill>
                  <a:srgbClr val="8F8F9A"/>
                </a:solidFill>
                <a:latin typeface="Space Grotesk"/>
              </a:rPr>
              <a:t>p. 22</a:t>
            </a:r>
          </a:p>
        </p:txBody>
      </p:sp>
      <p:sp>
        <p:nvSpPr>
          <p:cNvPr id="40" name="Rectangle 39"/>
          <p:cNvSpPr/>
          <p:nvPr/>
        </p:nvSpPr>
        <p:spPr>
          <a:xfrm>
            <a:off x="822960" y="5660136"/>
            <a:ext cx="457200" cy="43891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5660136"/>
            <a:ext cx="457200" cy="438912"/>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9</a:t>
            </a:r>
          </a:p>
        </p:txBody>
      </p:sp>
      <p:sp>
        <p:nvSpPr>
          <p:cNvPr id="42" name="TextBox 41"/>
          <p:cNvSpPr txBox="1"/>
          <p:nvPr/>
        </p:nvSpPr>
        <p:spPr>
          <a:xfrm>
            <a:off x="1463040" y="5696712"/>
            <a:ext cx="7315200" cy="411480"/>
          </a:xfrm>
          <a:prstGeom prst="rect">
            <a:avLst/>
          </a:prstGeom>
          <a:noFill/>
        </p:spPr>
        <p:txBody>
          <a:bodyPr wrap="square" anchor="t" lIns="45720" rIns="45720" tIns="27432" bIns="27432">
            <a:spAutoFit/>
          </a:bodyPr>
          <a:lstStyle/>
          <a:p>
            <a:pPr algn="l">
              <a:lnSpc>
                <a:spcPct val="110000"/>
              </a:lnSpc>
              <a:spcAft>
                <a:spcPts val="600"/>
              </a:spcAft>
            </a:pPr>
            <a:r>
              <a:rPr sz="1700" b="0">
                <a:solidFill>
                  <a:srgbClr val="232754"/>
                </a:solidFill>
                <a:latin typeface="Work Sans"/>
              </a:rPr>
              <a:t>Limites et suite</a:t>
            </a:r>
          </a:p>
        </p:txBody>
      </p:sp>
      <p:sp>
        <p:nvSpPr>
          <p:cNvPr id="43" name="TextBox 42"/>
          <p:cNvSpPr txBox="1"/>
          <p:nvPr/>
        </p:nvSpPr>
        <p:spPr>
          <a:xfrm>
            <a:off x="9692640" y="5696712"/>
            <a:ext cx="1371600" cy="411480"/>
          </a:xfrm>
          <a:prstGeom prst="rect">
            <a:avLst/>
          </a:prstGeom>
          <a:noFill/>
        </p:spPr>
        <p:txBody>
          <a:bodyPr wrap="square" anchor="t" lIns="45720" rIns="45720" tIns="27432" bIns="27432">
            <a:spAutoFit/>
          </a:bodyPr>
          <a:lstStyle/>
          <a:p>
            <a:pPr algn="r">
              <a:lnSpc>
                <a:spcPct val="110000"/>
              </a:lnSpc>
              <a:spcAft>
                <a:spcPts val="600"/>
              </a:spcAft>
            </a:pPr>
            <a:r>
              <a:rPr sz="1400" b="0">
                <a:solidFill>
                  <a:srgbClr val="8F8F9A"/>
                </a:solidFill>
                <a:latin typeface="Space Grotesk"/>
              </a:rPr>
              <a:t>p.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SYNTHÈSE</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L'essentiel en une page</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3</a:t>
            </a:r>
          </a:p>
        </p:txBody>
      </p:sp>
      <p:sp>
        <p:nvSpPr>
          <p:cNvPr id="9" name="Rectangle 8"/>
          <p:cNvSpPr/>
          <p:nvPr/>
        </p:nvSpPr>
        <p:spPr>
          <a:xfrm>
            <a:off x="548640" y="1417320"/>
            <a:ext cx="11091672" cy="484632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82296" cy="484632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554480"/>
            <a:ext cx="10607040" cy="475488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1. La vidéo verticale domine partout.</a:t>
            </a:r>
          </a:p>
          <a:p>
            <a:pPr algn="l">
              <a:lnSpc>
                <a:spcPct val="110000"/>
              </a:lnSpc>
              <a:spcAft>
                <a:spcPts val="900"/>
              </a:spcAft>
            </a:pPr>
            <a:r>
              <a:rPr sz="1100" b="0">
                <a:solidFill>
                  <a:srgbClr val="2B2A35"/>
                </a:solidFill>
                <a:latin typeface="Work Sans"/>
              </a:rPr>
              <a:t>Elle fait 52 % des publications relevées, de 40 % au Sénégal à 64 % en Côte d'Ivoire. C'est aussi le format qui fait le plus réagir : 1,15 fois la médiane de la marque, contre 0,79 pour une image fixe.</a:t>
            </a:r>
          </a:p>
          <a:p>
            <a:pPr algn="l">
              <a:lnSpc>
                <a:spcPct val="110000"/>
              </a:lnSpc>
              <a:spcAft>
                <a:spcPts val="100"/>
              </a:spcAft>
            </a:pPr>
            <a:r>
              <a:rPr sz="1200" b="1">
                <a:solidFill>
                  <a:srgbClr val="232754"/>
                </a:solidFill>
                <a:latin typeface="Work Sans"/>
              </a:rPr>
              <a:t>2. Le levier le plus fort, c'est le créateur.</a:t>
            </a:r>
          </a:p>
          <a:p>
            <a:pPr algn="l">
              <a:lnSpc>
                <a:spcPct val="110000"/>
              </a:lnSpc>
              <a:spcAft>
                <a:spcPts val="900"/>
              </a:spcAft>
            </a:pPr>
            <a:r>
              <a:rPr sz="1100" b="0">
                <a:solidFill>
                  <a:srgbClr val="2B2A35"/>
                </a:solidFill>
                <a:latin typeface="Work Sans"/>
              </a:rPr>
              <a:t>Une publication faite avec un créateur ou un influenceur fait en médiane 4,3 fois plus de réactions que la médiane de la marque. Moniepoint, Payfit, Decathlon, Back Market et Wave Sénégal font leurs meilleurs scores ainsi.</a:t>
            </a:r>
          </a:p>
          <a:p>
            <a:pPr algn="l">
              <a:lnSpc>
                <a:spcPct val="110000"/>
              </a:lnSpc>
              <a:spcAft>
                <a:spcPts val="100"/>
              </a:spcAft>
            </a:pPr>
            <a:r>
              <a:rPr sz="1200" b="1">
                <a:solidFill>
                  <a:srgbClr val="232754"/>
                </a:solidFill>
                <a:latin typeface="Work Sans"/>
              </a:rPr>
              <a:t>3. Sur Instagram, l'affiche promo chargée marche le moins.</a:t>
            </a:r>
          </a:p>
          <a:p>
            <a:pPr algn="l">
              <a:lnSpc>
                <a:spcPct val="110000"/>
              </a:lnSpc>
              <a:spcAft>
                <a:spcPts val="900"/>
              </a:spcAft>
            </a:pPr>
            <a:r>
              <a:rPr sz="1100" b="0">
                <a:solidFill>
                  <a:srgbClr val="2B2A35"/>
                </a:solidFill>
                <a:latin typeface="Work Sans"/>
              </a:rPr>
              <a:t>Expresso et Moov Africa y plafonnent à quelques dizaines de j'aime. Sur Facebook, la même offre peut faire des milliers de réactions (Moov Africa : 4 065).</a:t>
            </a:r>
          </a:p>
          <a:p>
            <a:pPr algn="l">
              <a:lnSpc>
                <a:spcPct val="110000"/>
              </a:lnSpc>
              <a:spcAft>
                <a:spcPts val="100"/>
              </a:spcAft>
            </a:pPr>
            <a:r>
              <a:rPr sz="1200" b="1">
                <a:solidFill>
                  <a:srgbClr val="232754"/>
                </a:solidFill>
                <a:latin typeface="Work Sans"/>
              </a:rPr>
              <a:t>4. TikTok fait les plus grosses audiences, mais pas pour les mêmes raisons.</a:t>
            </a:r>
          </a:p>
          <a:p>
            <a:pPr algn="l">
              <a:lnSpc>
                <a:spcPct val="110000"/>
              </a:lnSpc>
              <a:spcAft>
                <a:spcPts val="900"/>
              </a:spcAft>
            </a:pPr>
            <a:r>
              <a:rPr sz="1100" b="0">
                <a:solidFill>
                  <a:srgbClr val="2B2A35"/>
                </a:solidFill>
                <a:latin typeface="Work Sans"/>
              </a:rPr>
              <a:t>En Côte d'Ivoire et au Sénégal, c'est de l'organique : Wave Sénégal fait 51 500 vues médianes par vidéo. Au Nigeria et en France, les gros chiffres sont surtout payés : sans publicité, Moniepoint fait 9 590 vues médianes, contre 2,4 millions avec.</a:t>
            </a:r>
          </a:p>
          <a:p>
            <a:pPr algn="l">
              <a:lnSpc>
                <a:spcPct val="110000"/>
              </a:lnSpc>
              <a:spcAft>
                <a:spcPts val="100"/>
              </a:spcAft>
            </a:pPr>
            <a:r>
              <a:rPr sz="1200" b="1">
                <a:solidFill>
                  <a:srgbClr val="232754"/>
                </a:solidFill>
                <a:latin typeface="Work Sans"/>
              </a:rPr>
              <a:t>5. La langue et l'humour local paient.</a:t>
            </a:r>
          </a:p>
          <a:p>
            <a:pPr algn="l">
              <a:lnSpc>
                <a:spcPct val="110000"/>
              </a:lnSpc>
              <a:spcAft>
                <a:spcPts val="900"/>
              </a:spcAft>
            </a:pPr>
            <a:r>
              <a:rPr sz="1100" b="0">
                <a:solidFill>
                  <a:srgbClr val="2B2A35"/>
                </a:solidFill>
                <a:latin typeface="Work Sans"/>
              </a:rPr>
              <a:t>Les meilleures vidéos de Yas et de Wave Sénégal sont en wolof, celles de Chowdeck en pidgin, et Wave Côte d'Ivoire écrit en français ivoirien (« ton djè »).</a:t>
            </a:r>
          </a:p>
          <a:p>
            <a:pPr algn="l">
              <a:lnSpc>
                <a:spcPct val="110000"/>
              </a:lnSpc>
              <a:spcAft>
                <a:spcPts val="100"/>
              </a:spcAft>
            </a:pPr>
            <a:r>
              <a:rPr sz="1200" b="1">
                <a:solidFill>
                  <a:srgbClr val="232754"/>
                </a:solidFill>
                <a:latin typeface="Work Sans"/>
              </a:rPr>
              <a:t>6. Le témoignage qui marche, c'est la vidéo chez le client.</a:t>
            </a:r>
          </a:p>
          <a:p>
            <a:pPr algn="l">
              <a:lnSpc>
                <a:spcPct val="110000"/>
              </a:lnSpc>
              <a:spcAft>
                <a:spcPts val="900"/>
              </a:spcAft>
            </a:pPr>
            <a:r>
              <a:rPr sz="1100" b="0">
                <a:solidFill>
                  <a:srgbClr val="2B2A35"/>
                </a:solidFill>
                <a:latin typeface="Work Sans"/>
              </a:rPr>
              <a:t>Aucune « carte témoignage » classique. Wave Sénégal filme ses gagnants chez eux (jusqu'à 414 300 vues sur TikTok), Doctolib raconte des patients, Djamo fait parler une vraie personne (604 247 vues sur Facebook).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MÉTHODE ET PANEL</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Méthode</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4</a:t>
            </a:r>
          </a:p>
        </p:txBody>
      </p:sp>
      <p:sp>
        <p:nvSpPr>
          <p:cNvPr id="9" name="TextBox 8"/>
          <p:cNvSpPr txBox="1"/>
          <p:nvPr/>
        </p:nvSpPr>
        <p:spPr>
          <a:xfrm>
            <a:off x="548640" y="1417320"/>
            <a:ext cx="5669280" cy="4846320"/>
          </a:xfrm>
          <a:prstGeom prst="rect">
            <a:avLst/>
          </a:prstGeom>
          <a:noFill/>
        </p:spPr>
        <p:txBody>
          <a:bodyPr wrap="square" anchor="t" lIns="45720" rIns="45720" tIns="27432" bIns="27432">
            <a:spAutoFit/>
          </a:bodyPr>
          <a:lstStyle/>
          <a:p>
            <a:pPr algn="l">
              <a:lnSpc>
                <a:spcPct val="110000"/>
              </a:lnSpc>
              <a:spcAft>
                <a:spcPts val="100"/>
              </a:spcAft>
            </a:pPr>
            <a:r>
              <a:rPr sz="1300" b="1">
                <a:solidFill>
                  <a:srgbClr val="232754"/>
                </a:solidFill>
                <a:latin typeface="Work Sans"/>
              </a:rPr>
              <a:t>Ce qui a été relevé</a:t>
            </a:r>
          </a:p>
          <a:p>
            <a:pPr algn="l">
              <a:lnSpc>
                <a:spcPct val="110000"/>
              </a:lnSpc>
              <a:spcAft>
                <a:spcPts val="900"/>
              </a:spcAft>
            </a:pPr>
            <a:r>
              <a:rPr sz="1200" b="0">
                <a:solidFill>
                  <a:srgbClr val="2B2A35"/>
                </a:solidFill>
                <a:latin typeface="Work Sans"/>
              </a:rPr>
              <a:t>Les 15 dernières publications Instagram de 22 marques (330 au total), le 24/10/2026, avec le robot de collecte Apify. Pour 10 marques B2B, les 12 dernières publications LinkedIn (118). Pour les 4 pays, les 15 dernières publications Facebook de 23 pages (345) et TikTok de 19 comptes (285 ; vidéos épinglées exclues des médianes).</a:t>
            </a:r>
          </a:p>
          <a:p>
            <a:pPr algn="l">
              <a:lnSpc>
                <a:spcPct val="110000"/>
              </a:lnSpc>
              <a:spcAft>
                <a:spcPts val="100"/>
              </a:spcAft>
            </a:pPr>
            <a:r>
              <a:rPr sz="1300" b="1">
                <a:solidFill>
                  <a:srgbClr val="232754"/>
                </a:solidFill>
                <a:latin typeface="Work Sans"/>
              </a:rPr>
              <a:t>Ce qui a été mesuré</a:t>
            </a:r>
          </a:p>
          <a:p>
            <a:pPr algn="l">
              <a:lnSpc>
                <a:spcPct val="110000"/>
              </a:lnSpc>
              <a:spcAft>
                <a:spcPts val="900"/>
              </a:spcAft>
            </a:pPr>
            <a:r>
              <a:rPr sz="1200" b="0">
                <a:solidFill>
                  <a:srgbClr val="2B2A35"/>
                </a:solidFill>
                <a:latin typeface="Work Sans"/>
              </a:rPr>
              <a:t>Format (vidéo, carrousel, image), publication propre ou faite avec un créateur, j'aime et commentaires. On compare chaque post à la médiane de sa propre marque, pour ne pas comparer 800 000 abonnés à 2 000.</a:t>
            </a:r>
          </a:p>
          <a:p>
            <a:pPr algn="l">
              <a:lnSpc>
                <a:spcPct val="110000"/>
              </a:lnSpc>
              <a:spcAft>
                <a:spcPts val="100"/>
              </a:spcAft>
            </a:pPr>
            <a:r>
              <a:rPr sz="1300" b="1">
                <a:solidFill>
                  <a:srgbClr val="232754"/>
                </a:solidFill>
                <a:latin typeface="Work Sans"/>
              </a:rPr>
              <a:t>Ce qui a été regardé à l'œil</a:t>
            </a:r>
          </a:p>
          <a:p>
            <a:pPr algn="l">
              <a:lnSpc>
                <a:spcPct val="110000"/>
              </a:lnSpc>
              <a:spcAft>
                <a:spcPts val="900"/>
              </a:spcAft>
            </a:pPr>
            <a:r>
              <a:rPr sz="1200" b="0">
                <a:solidFill>
                  <a:srgbClr val="2B2A35"/>
                </a:solidFill>
                <a:latin typeface="Work Sans"/>
              </a:rPr>
              <a:t>Les 330 premières images, sur des planches par marque : style, texte, personnes, couleurs.</a:t>
            </a:r>
          </a:p>
        </p:txBody>
      </p:sp>
      <p:sp>
        <p:nvSpPr>
          <p:cNvPr id="10" name="Rectangle 9"/>
          <p:cNvSpPr/>
          <p:nvPr/>
        </p:nvSpPr>
        <p:spPr>
          <a:xfrm>
            <a:off x="6583680" y="1417320"/>
            <a:ext cx="5056632" cy="484632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12280" y="1554480"/>
            <a:ext cx="4663440" cy="365760"/>
          </a:xfrm>
          <a:prstGeom prst="rect">
            <a:avLst/>
          </a:prstGeom>
          <a:noFill/>
        </p:spPr>
        <p:txBody>
          <a:bodyPr wrap="square" anchor="t" lIns="45720" rIns="45720" tIns="27432" bIns="27432">
            <a:spAutoFit/>
          </a:bodyPr>
          <a:lstStyle/>
          <a:p>
            <a:pPr algn="l">
              <a:lnSpc>
                <a:spcPct val="110000"/>
              </a:lnSpc>
              <a:spcAft>
                <a:spcPts val="600"/>
              </a:spcAft>
            </a:pPr>
            <a:r>
              <a:rPr sz="1400" b="1">
                <a:solidFill>
                  <a:srgbClr val="232754"/>
                </a:solidFill>
                <a:latin typeface="Funnel Display"/>
              </a:rPr>
              <a:t>Comment les marques ont été choisies</a:t>
            </a:r>
          </a:p>
        </p:txBody>
      </p:sp>
      <p:sp>
        <p:nvSpPr>
          <p:cNvPr id="12" name="TextBox 11"/>
          <p:cNvSpPr txBox="1"/>
          <p:nvPr/>
        </p:nvSpPr>
        <p:spPr>
          <a:xfrm>
            <a:off x="6812280" y="2011680"/>
            <a:ext cx="4663440" cy="4206240"/>
          </a:xfrm>
          <a:prstGeom prst="rect">
            <a:avLst/>
          </a:prstGeom>
          <a:noFill/>
        </p:spPr>
        <p:txBody>
          <a:bodyPr wrap="square" anchor="t" lIns="45720" rIns="45720" tIns="27432" bIns="27432">
            <a:spAutoFit/>
          </a:bodyPr>
          <a:lstStyle/>
          <a:p>
            <a:pPr algn="l">
              <a:lnSpc>
                <a:spcPct val="110000"/>
              </a:lnSpc>
              <a:spcAft>
                <a:spcPts val="700"/>
              </a:spcAft>
            </a:pPr>
            <a:r>
              <a:rPr sz="1200" b="0">
                <a:solidFill>
                  <a:srgbClr val="2B2A35"/>
                </a:solidFill>
                <a:latin typeface="Work Sans"/>
              </a:rPr>
              <a:t>•  Les plus visibles de chaque pays dans trois secteurs comparables : télécoms, paiement et banque, consommation.</a:t>
            </a:r>
          </a:p>
          <a:p>
            <a:pPr algn="l">
              <a:lnSpc>
                <a:spcPct val="110000"/>
              </a:lnSpc>
              <a:spcAft>
                <a:spcPts val="700"/>
              </a:spcAft>
            </a:pPr>
            <a:r>
              <a:rPr sz="1200" b="0">
                <a:solidFill>
                  <a:srgbClr val="2B2A35"/>
                </a:solidFill>
                <a:latin typeface="Work Sans"/>
              </a:rPr>
              <a:t>•  Toujours un mélange B2C et B2B.</a:t>
            </a:r>
          </a:p>
          <a:p>
            <a:pPr algn="l">
              <a:lnSpc>
                <a:spcPct val="110000"/>
              </a:lnSpc>
              <a:spcAft>
                <a:spcPts val="700"/>
              </a:spcAft>
            </a:pPr>
            <a:r>
              <a:rPr sz="1200" b="0">
                <a:solidFill>
                  <a:srgbClr val="2B2A35"/>
                </a:solidFill>
                <a:latin typeface="Work Sans"/>
              </a:rPr>
              <a:t>•  Comptes officiels vérifiés depuis le site de la marque quand c'était possible.</a:t>
            </a:r>
          </a:p>
          <a:p>
            <a:pPr algn="l">
              <a:lnSpc>
                <a:spcPct val="110000"/>
              </a:lnSpc>
              <a:spcAft>
                <a:spcPts val="700"/>
              </a:spcAft>
            </a:pPr>
            <a:r>
              <a:rPr sz="1200" b="0">
                <a:solidFill>
                  <a:srgbClr val="2B2A35"/>
                </a:solidFill>
                <a:latin typeface="Work Sans"/>
              </a:rPr>
              <a:t>•  Écartées : MTN Côte d'Ivoire, Julaya et Orange Business, sans compte Instagram actif trouvé. MTN CI et Julaya sont suivis sur LinkedIn.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MÉTHODE ET PANEL</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Le panel : 22 marques</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5</a:t>
            </a:r>
          </a:p>
        </p:txBody>
      </p:sp>
      <p:graphicFrame>
        <p:nvGraphicFramePr>
          <p:cNvPr id="9" name="Table 8"/>
          <p:cNvGraphicFramePr>
            <a:graphicFrameLocks noGrp="1"/>
          </p:cNvGraphicFramePr>
          <p:nvPr/>
        </p:nvGraphicFramePr>
        <p:xfrm>
          <a:off x="548640" y="1508760"/>
          <a:ext cx="11091672" cy="3749040"/>
        </p:xfrm>
        <a:graphic>
          <a:graphicData uri="http://schemas.openxmlformats.org/drawingml/2006/table">
            <a:tbl>
              <a:tblPr firstRow="1" bandRow="1">
                <a:tableStyleId>{5C22544A-7EE6-4342-B048-85BDC9FD1C3A}</a:tableStyleId>
              </a:tblPr>
              <a:tblGrid>
                <a:gridCol w="1737360"/>
                <a:gridCol w="6035040"/>
                <a:gridCol w="3319272"/>
              </a:tblGrid>
              <a:tr h="749808">
                <a:tc>
                  <a:txBody>
                    <a:bodyPr/>
                    <a:lstStyle/>
                    <a:p>
                      <a:r>
                        <a:rPr sz="1200" b="1">
                          <a:solidFill>
                            <a:srgbClr val="FFFFFF"/>
                          </a:solidFill>
                          <a:latin typeface="Space Grotesk"/>
                        </a:rPr>
                        <a:t>Pays</a:t>
                      </a:r>
                    </a:p>
                  </a:txBody>
                  <a:tcPr marL="54864" marR="54864" marT="18288" marB="18288" anchor="ctr">
                    <a:solidFill>
                      <a:srgbClr val="232754"/>
                    </a:solidFill>
                  </a:tcPr>
                </a:tc>
                <a:tc>
                  <a:txBody>
                    <a:bodyPr/>
                    <a:lstStyle/>
                    <a:p>
                      <a:r>
                        <a:rPr sz="1200" b="1">
                          <a:solidFill>
                            <a:srgbClr val="FFFFFF"/>
                          </a:solidFill>
                          <a:latin typeface="Space Grotesk"/>
                        </a:rPr>
                        <a:t>B2C</a:t>
                      </a:r>
                    </a:p>
                  </a:txBody>
                  <a:tcPr marL="54864" marR="54864" marT="18288" marB="18288" anchor="ctr">
                    <a:solidFill>
                      <a:srgbClr val="232754"/>
                    </a:solidFill>
                  </a:tcPr>
                </a:tc>
                <a:tc>
                  <a:txBody>
                    <a:bodyPr/>
                    <a:lstStyle/>
                    <a:p>
                      <a:r>
                        <a:rPr sz="1200" b="1">
                          <a:solidFill>
                            <a:srgbClr val="FFFFFF"/>
                          </a:solidFill>
                          <a:latin typeface="Space Grotesk"/>
                        </a:rPr>
                        <a:t>B2B</a:t>
                      </a:r>
                    </a:p>
                  </a:txBody>
                  <a:tcPr marL="54864" marR="54864" marT="18288" marB="18288" anchor="ctr">
                    <a:solidFill>
                      <a:srgbClr val="232754"/>
                    </a:solidFill>
                  </a:tcPr>
                </a:tc>
              </a:tr>
              <a:tr h="749808">
                <a:tc>
                  <a:txBody>
                    <a:bodyPr/>
                    <a:lstStyle/>
                    <a:p>
                      <a:r>
                        <a:rPr sz="1200">
                          <a:solidFill>
                            <a:srgbClr val="2B2A35"/>
                          </a:solidFill>
                          <a:latin typeface="Work Sans"/>
                        </a:rPr>
                        <a:t>Nigeria</a:t>
                      </a:r>
                    </a:p>
                  </a:txBody>
                  <a:tcPr marL="54864" marR="54864" marT="18288" marB="18288" anchor="ctr">
                    <a:solidFill>
                      <a:srgbClr val="FFFFFF"/>
                    </a:solidFill>
                  </a:tcPr>
                </a:tc>
                <a:tc>
                  <a:txBody>
                    <a:bodyPr/>
                    <a:lstStyle/>
                    <a:p>
                      <a:r>
                        <a:rPr sz="1200">
                          <a:solidFill>
                            <a:srgbClr val="2B2A35"/>
                          </a:solidFill>
                          <a:latin typeface="Work Sans"/>
                        </a:rPr>
                        <a:t>MTN Nigeria (822 k) · Chowdeck (38 k) · GTBank (844 k) · Moniepoint (130 k)</a:t>
                      </a:r>
                    </a:p>
                  </a:txBody>
                  <a:tcPr marL="54864" marR="54864" marT="18288" marB="18288" anchor="ctr">
                    <a:solidFill>
                      <a:srgbClr val="FFFFFF"/>
                    </a:solidFill>
                  </a:tcPr>
                </a:tc>
                <a:tc>
                  <a:txBody>
                    <a:bodyPr/>
                    <a:lstStyle/>
                    <a:p>
                      <a:r>
                        <a:rPr sz="1200">
                          <a:solidFill>
                            <a:srgbClr val="2B2A35"/>
                          </a:solidFill>
                          <a:latin typeface="Work Sans"/>
                        </a:rPr>
                        <a:t>Paystack (43 k) · Flutterwave (69 k)</a:t>
                      </a:r>
                    </a:p>
                  </a:txBody>
                  <a:tcPr marL="54864" marR="54864" marT="18288" marB="18288" anchor="ctr">
                    <a:solidFill>
                      <a:srgbClr val="FFFFFF"/>
                    </a:solidFill>
                  </a:tcPr>
                </a:tc>
              </a:tr>
              <a:tr h="749808">
                <a:tc>
                  <a:txBody>
                    <a:bodyPr/>
                    <a:lstStyle/>
                    <a:p>
                      <a:r>
                        <a:rPr sz="1200">
                          <a:solidFill>
                            <a:srgbClr val="2B2A35"/>
                          </a:solidFill>
                          <a:latin typeface="Work Sans"/>
                        </a:rPr>
                        <a:t>France</a:t>
                      </a:r>
                    </a:p>
                  </a:txBody>
                  <a:tcPr marL="54864" marR="54864" marT="18288" marB="18288" anchor="ctr">
                    <a:solidFill>
                      <a:srgbClr val="EEF2F6"/>
                    </a:solidFill>
                  </a:tcPr>
                </a:tc>
                <a:tc>
                  <a:txBody>
                    <a:bodyPr/>
                    <a:lstStyle/>
                    <a:p>
                      <a:r>
                        <a:rPr sz="1200">
                          <a:solidFill>
                            <a:srgbClr val="2B2A35"/>
                          </a:solidFill>
                          <a:latin typeface="Work Sans"/>
                        </a:rPr>
                        <a:t>Burger King (416 k) · Decathlon (691 k) · Back Market (287 k)</a:t>
                      </a:r>
                    </a:p>
                  </a:txBody>
                  <a:tcPr marL="54864" marR="54864" marT="18288" marB="18288" anchor="ctr">
                    <a:solidFill>
                      <a:srgbClr val="EEF2F6"/>
                    </a:solidFill>
                  </a:tcPr>
                </a:tc>
                <a:tc>
                  <a:txBody>
                    <a:bodyPr/>
                    <a:lstStyle/>
                    <a:p>
                      <a:r>
                        <a:rPr sz="1200">
                          <a:solidFill>
                            <a:srgbClr val="2B2A35"/>
                          </a:solidFill>
                          <a:latin typeface="Work Sans"/>
                        </a:rPr>
                        <a:t>Qonto (58 k) · Payfit (8 k) · Doctolib (96 k, mixte)</a:t>
                      </a:r>
                    </a:p>
                  </a:txBody>
                  <a:tcPr marL="54864" marR="54864" marT="18288" marB="18288" anchor="ctr">
                    <a:solidFill>
                      <a:srgbClr val="EEF2F6"/>
                    </a:solidFill>
                  </a:tcPr>
                </a:tc>
              </a:tr>
              <a:tr h="749808">
                <a:tc>
                  <a:txBody>
                    <a:bodyPr/>
                    <a:lstStyle/>
                    <a:p>
                      <a:r>
                        <a:rPr sz="1200">
                          <a:solidFill>
                            <a:srgbClr val="2B2A35"/>
                          </a:solidFill>
                          <a:latin typeface="Work Sans"/>
                        </a:rPr>
                        <a:t>Côte d'Ivoire</a:t>
                      </a:r>
                    </a:p>
                  </a:txBody>
                  <a:tcPr marL="54864" marR="54864" marT="18288" marB="18288" anchor="ctr">
                    <a:solidFill>
                      <a:srgbClr val="FFFFFF"/>
                    </a:solidFill>
                  </a:tcPr>
                </a:tc>
                <a:tc>
                  <a:txBody>
                    <a:bodyPr/>
                    <a:lstStyle/>
                    <a:p>
                      <a:r>
                        <a:rPr sz="1200">
                          <a:solidFill>
                            <a:srgbClr val="2B2A35"/>
                          </a:solidFill>
                          <a:latin typeface="Work Sans"/>
                        </a:rPr>
                        <a:t>Orange CI (231 k) · Wave CI (106 k) · Moov Africa CI (241 k) · Djamo (25 k)</a:t>
                      </a:r>
                    </a:p>
                  </a:txBody>
                  <a:tcPr marL="54864" marR="54864" marT="18288" marB="18288" anchor="ctr">
                    <a:solidFill>
                      <a:srgbClr val="FFFFFF"/>
                    </a:solidFill>
                  </a:tcPr>
                </a:tc>
                <a:tc>
                  <a:txBody>
                    <a:bodyPr/>
                    <a:lstStyle/>
                    <a:p>
                      <a:r>
                        <a:rPr sz="1200">
                          <a:solidFill>
                            <a:srgbClr val="2B2A35"/>
                          </a:solidFill>
                          <a:latin typeface="Work Sans"/>
                        </a:rPr>
                        <a:t>Groupe InTouch (9 k)*</a:t>
                      </a:r>
                    </a:p>
                  </a:txBody>
                  <a:tcPr marL="54864" marR="54864" marT="18288" marB="18288" anchor="ctr">
                    <a:solidFill>
                      <a:srgbClr val="FFFFFF"/>
                    </a:solidFill>
                  </a:tcPr>
                </a:tc>
              </a:tr>
              <a:tr h="749808">
                <a:tc>
                  <a:txBody>
                    <a:bodyPr/>
                    <a:lstStyle/>
                    <a:p>
                      <a:r>
                        <a:rPr sz="1200">
                          <a:solidFill>
                            <a:srgbClr val="2B2A35"/>
                          </a:solidFill>
                          <a:latin typeface="Work Sans"/>
                        </a:rPr>
                        <a:t>Sénégal</a:t>
                      </a:r>
                    </a:p>
                  </a:txBody>
                  <a:tcPr marL="54864" marR="54864" marT="18288" marB="18288" anchor="ctr">
                    <a:solidFill>
                      <a:srgbClr val="EEF2F6"/>
                    </a:solidFill>
                  </a:tcPr>
                </a:tc>
                <a:tc>
                  <a:txBody>
                    <a:bodyPr/>
                    <a:lstStyle/>
                    <a:p>
                      <a:r>
                        <a:rPr sz="1200">
                          <a:solidFill>
                            <a:srgbClr val="2B2A35"/>
                          </a:solidFill>
                          <a:latin typeface="Work Sans"/>
                        </a:rPr>
                        <a:t>Orange Sénégal (333 k) · Wave Sénégal (197 k) · Yas (116 k) · Expresso (39 k)</a:t>
                      </a:r>
                    </a:p>
                  </a:txBody>
                  <a:tcPr marL="54864" marR="54864" marT="18288" marB="18288" anchor="ctr">
                    <a:solidFill>
                      <a:srgbClr val="EEF2F6"/>
                    </a:solidFill>
                  </a:tcPr>
                </a:tc>
                <a:tc>
                  <a:txBody>
                    <a:bodyPr/>
                    <a:lstStyle/>
                    <a:p>
                      <a:r>
                        <a:rPr sz="1200">
                          <a:solidFill>
                            <a:srgbClr val="2B2A35"/>
                          </a:solidFill>
                          <a:latin typeface="Work Sans"/>
                        </a:rPr>
                        <a:t>PayDunya (2,5 k)</a:t>
                      </a:r>
                    </a:p>
                  </a:txBody>
                  <a:tcPr marL="54864" marR="54864" marT="18288" marB="18288" anchor="ctr">
                    <a:solidFill>
                      <a:srgbClr val="EEF2F6"/>
                    </a:solidFill>
                  </a:tcPr>
                </a:tc>
              </a:tr>
            </a:tbl>
          </a:graphicData>
        </a:graphic>
      </p:graphicFrame>
      <p:sp>
        <p:nvSpPr>
          <p:cNvPr id="10" name="TextBox 9"/>
          <p:cNvSpPr txBox="1"/>
          <p:nvPr/>
        </p:nvSpPr>
        <p:spPr>
          <a:xfrm>
            <a:off x="548640" y="5486400"/>
            <a:ext cx="10972800" cy="731520"/>
          </a:xfrm>
          <a:prstGeom prst="rect">
            <a:avLst/>
          </a:prstGeom>
          <a:noFill/>
        </p:spPr>
        <p:txBody>
          <a:bodyPr wrap="square" anchor="t" lIns="45720" rIns="45720" tIns="27432" bIns="27432">
            <a:spAutoFit/>
          </a:bodyPr>
          <a:lstStyle/>
          <a:p>
            <a:pPr algn="l">
              <a:lnSpc>
                <a:spcPct val="110000"/>
              </a:lnSpc>
              <a:spcAft>
                <a:spcPts val="600"/>
              </a:spcAft>
            </a:pPr>
            <a:r>
              <a:rPr sz="1100" b="0">
                <a:solidFill>
                  <a:srgbClr val="8F8F9A"/>
                </a:solidFill>
                <a:latin typeface="Work Sans"/>
              </a:rPr>
              <a:t>Entre parenthèses : abonnés Instagram le 24/10/2026. Doctolib parle à la fois aux patients et aux soignants : il est classé B2B pour son offre payante, mais son Instagram s'adresse surtout au grand public. * Groupe InTouch est né à Dakar : il est rangé ici faute de compte Instagram B2B ivoirien actif (Julaya n'en a pas).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CE QUI EST PUBLIÉ, CE QUI MARCHE</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Ce qui est publié : la vidéo d'abord</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6</a:t>
            </a:r>
          </a:p>
        </p:txBody>
      </p:sp>
      <p:graphicFrame>
        <p:nvGraphicFramePr>
          <p:cNvPr id="9" name="Table 8"/>
          <p:cNvGraphicFramePr>
            <a:graphicFrameLocks noGrp="1"/>
          </p:cNvGraphicFramePr>
          <p:nvPr/>
        </p:nvGraphicFramePr>
        <p:xfrm>
          <a:off x="548640" y="1508760"/>
          <a:ext cx="6766560" cy="3520440"/>
        </p:xfrm>
        <a:graphic>
          <a:graphicData uri="http://schemas.openxmlformats.org/drawingml/2006/table">
            <a:tbl>
              <a:tblPr firstRow="1" bandRow="1">
                <a:tableStyleId>{5C22544A-7EE6-4342-B048-85BDC9FD1C3A}</a:tableStyleId>
              </a:tblPr>
              <a:tblGrid>
                <a:gridCol w="2011680"/>
                <a:gridCol w="1097280"/>
                <a:gridCol w="1188720"/>
                <a:gridCol w="1188720"/>
                <a:gridCol w="1280160"/>
              </a:tblGrid>
              <a:tr h="502920">
                <a:tc>
                  <a:txBody>
                    <a:bodyPr/>
                    <a:lstStyle/>
                    <a:p>
                      <a:r>
                        <a:rPr sz="1200" b="1">
                          <a:solidFill>
                            <a:srgbClr val="FFFFFF"/>
                          </a:solidFill>
                          <a:latin typeface="Space Grotesk"/>
                        </a:rPr>
                        <a:t/>
                      </a:r>
                    </a:p>
                  </a:txBody>
                  <a:tcPr marL="54864" marR="54864" marT="18288" marB="18288" anchor="ctr">
                    <a:solidFill>
                      <a:srgbClr val="232754"/>
                    </a:solidFill>
                  </a:tcPr>
                </a:tc>
                <a:tc>
                  <a:txBody>
                    <a:bodyPr/>
                    <a:lstStyle/>
                    <a:p>
                      <a:r>
                        <a:rPr sz="1200" b="1">
                          <a:solidFill>
                            <a:srgbClr val="FFFFFF"/>
                          </a:solidFill>
                          <a:latin typeface="Space Grotesk"/>
                        </a:rPr>
                        <a:t>Vidéo</a:t>
                      </a:r>
                    </a:p>
                  </a:txBody>
                  <a:tcPr marL="54864" marR="54864" marT="18288" marB="18288" anchor="ctr">
                    <a:solidFill>
                      <a:srgbClr val="232754"/>
                    </a:solidFill>
                  </a:tcPr>
                </a:tc>
                <a:tc>
                  <a:txBody>
                    <a:bodyPr/>
                    <a:lstStyle/>
                    <a:p>
                      <a:r>
                        <a:rPr sz="1200" b="1">
                          <a:solidFill>
                            <a:srgbClr val="FFFFFF"/>
                          </a:solidFill>
                          <a:latin typeface="Space Grotesk"/>
                        </a:rPr>
                        <a:t>Carrousel</a:t>
                      </a:r>
                    </a:p>
                  </a:txBody>
                  <a:tcPr marL="54864" marR="54864" marT="18288" marB="18288" anchor="ctr">
                    <a:solidFill>
                      <a:srgbClr val="232754"/>
                    </a:solidFill>
                  </a:tcPr>
                </a:tc>
                <a:tc>
                  <a:txBody>
                    <a:bodyPr/>
                    <a:lstStyle/>
                    <a:p>
                      <a:r>
                        <a:rPr sz="1200" b="1">
                          <a:solidFill>
                            <a:srgbClr val="FFFFFF"/>
                          </a:solidFill>
                          <a:latin typeface="Space Grotesk"/>
                        </a:rPr>
                        <a:t>Image fixe</a:t>
                      </a:r>
                    </a:p>
                  </a:txBody>
                  <a:tcPr marL="54864" marR="54864" marT="18288" marB="18288" anchor="ctr">
                    <a:solidFill>
                      <a:srgbClr val="232754"/>
                    </a:solidFill>
                  </a:tcPr>
                </a:tc>
                <a:tc>
                  <a:txBody>
                    <a:bodyPr/>
                    <a:lstStyle/>
                    <a:p>
                      <a:r>
                        <a:rPr sz="1200" b="1">
                          <a:solidFill>
                            <a:srgbClr val="FFFFFF"/>
                          </a:solidFill>
                          <a:latin typeface="Space Grotesk"/>
                        </a:rPr>
                        <a:t>Avec un créateur</a:t>
                      </a:r>
                    </a:p>
                  </a:txBody>
                  <a:tcPr marL="54864" marR="54864" marT="18288" marB="18288" anchor="ctr">
                    <a:solidFill>
                      <a:srgbClr val="232754"/>
                    </a:solidFill>
                  </a:tcPr>
                </a:tc>
              </a:tr>
              <a:tr h="502920">
                <a:tc>
                  <a:txBody>
                    <a:bodyPr/>
                    <a:lstStyle/>
                    <a:p>
                      <a:r>
                        <a:rPr sz="1200">
                          <a:solidFill>
                            <a:srgbClr val="2B2A35"/>
                          </a:solidFill>
                          <a:latin typeface="Work Sans"/>
                        </a:rPr>
                        <a:t>Nigeria (90 posts)</a:t>
                      </a:r>
                    </a:p>
                  </a:txBody>
                  <a:tcPr marL="54864" marR="54864" marT="18288" marB="18288" anchor="ctr">
                    <a:solidFill>
                      <a:srgbClr val="FFFFFF"/>
                    </a:solidFill>
                  </a:tcPr>
                </a:tc>
                <a:tc>
                  <a:txBody>
                    <a:bodyPr/>
                    <a:lstStyle/>
                    <a:p>
                      <a:pPr algn="ctr"/>
                      <a:r>
                        <a:rPr sz="1200">
                          <a:solidFill>
                            <a:srgbClr val="2B2A35"/>
                          </a:solidFill>
                          <a:latin typeface="Work Sans"/>
                        </a:rPr>
                        <a:t>57 %</a:t>
                      </a:r>
                    </a:p>
                  </a:txBody>
                  <a:tcPr marL="54864" marR="54864" marT="18288" marB="18288" anchor="ctr">
                    <a:solidFill>
                      <a:srgbClr val="FFFFFF"/>
                    </a:solidFill>
                  </a:tcPr>
                </a:tc>
                <a:tc>
                  <a:txBody>
                    <a:bodyPr/>
                    <a:lstStyle/>
                    <a:p>
                      <a:pPr algn="ctr"/>
                      <a:r>
                        <a:rPr sz="1200">
                          <a:solidFill>
                            <a:srgbClr val="2B2A35"/>
                          </a:solidFill>
                          <a:latin typeface="Work Sans"/>
                        </a:rPr>
                        <a:t>23 %</a:t>
                      </a:r>
                    </a:p>
                  </a:txBody>
                  <a:tcPr marL="54864" marR="54864" marT="18288" marB="18288" anchor="ctr">
                    <a:solidFill>
                      <a:srgbClr val="FFFFFF"/>
                    </a:solidFill>
                  </a:tcPr>
                </a:tc>
                <a:tc>
                  <a:txBody>
                    <a:bodyPr/>
                    <a:lstStyle/>
                    <a:p>
                      <a:pPr algn="ctr"/>
                      <a:r>
                        <a:rPr sz="1200">
                          <a:solidFill>
                            <a:srgbClr val="2B2A35"/>
                          </a:solidFill>
                          <a:latin typeface="Work Sans"/>
                        </a:rPr>
                        <a:t>20 %</a:t>
                      </a:r>
                    </a:p>
                  </a:txBody>
                  <a:tcPr marL="54864" marR="54864" marT="18288" marB="18288" anchor="ctr">
                    <a:solidFill>
                      <a:srgbClr val="FFFFFF"/>
                    </a:solidFill>
                  </a:tcPr>
                </a:tc>
                <a:tc>
                  <a:txBody>
                    <a:bodyPr/>
                    <a:lstStyle/>
                    <a:p>
                      <a:pPr algn="ctr"/>
                      <a:r>
                        <a:rPr sz="1200">
                          <a:solidFill>
                            <a:srgbClr val="2B2A35"/>
                          </a:solidFill>
                          <a:latin typeface="Work Sans"/>
                        </a:rPr>
                        <a:t>19 %</a:t>
                      </a:r>
                    </a:p>
                  </a:txBody>
                  <a:tcPr marL="54864" marR="54864" marT="18288" marB="18288" anchor="ctr">
                    <a:solidFill>
                      <a:srgbClr val="FFFFFF"/>
                    </a:solidFill>
                  </a:tcPr>
                </a:tc>
              </a:tr>
              <a:tr h="502920">
                <a:tc>
                  <a:txBody>
                    <a:bodyPr/>
                    <a:lstStyle/>
                    <a:p>
                      <a:r>
                        <a:rPr sz="1200">
                          <a:solidFill>
                            <a:srgbClr val="2B2A35"/>
                          </a:solidFill>
                          <a:latin typeface="Work Sans"/>
                        </a:rPr>
                        <a:t>France (90)</a:t>
                      </a:r>
                    </a:p>
                  </a:txBody>
                  <a:tcPr marL="54864" marR="54864" marT="18288" marB="18288" anchor="ctr">
                    <a:solidFill>
                      <a:srgbClr val="EEF2F6"/>
                    </a:solidFill>
                  </a:tcPr>
                </a:tc>
                <a:tc>
                  <a:txBody>
                    <a:bodyPr/>
                    <a:lstStyle/>
                    <a:p>
                      <a:pPr algn="ctr"/>
                      <a:r>
                        <a:rPr sz="1200">
                          <a:solidFill>
                            <a:srgbClr val="2B2A35"/>
                          </a:solidFill>
                          <a:latin typeface="Work Sans"/>
                        </a:rPr>
                        <a:t>48 %</a:t>
                      </a:r>
                    </a:p>
                  </a:txBody>
                  <a:tcPr marL="54864" marR="54864" marT="18288" marB="18288" anchor="ctr">
                    <a:solidFill>
                      <a:srgbClr val="EEF2F6"/>
                    </a:solidFill>
                  </a:tcPr>
                </a:tc>
                <a:tc>
                  <a:txBody>
                    <a:bodyPr/>
                    <a:lstStyle/>
                    <a:p>
                      <a:pPr algn="ctr"/>
                      <a:r>
                        <a:rPr sz="1200">
                          <a:solidFill>
                            <a:srgbClr val="2B2A35"/>
                          </a:solidFill>
                          <a:latin typeface="Work Sans"/>
                        </a:rPr>
                        <a:t>39 %</a:t>
                      </a:r>
                    </a:p>
                  </a:txBody>
                  <a:tcPr marL="54864" marR="54864" marT="18288" marB="18288" anchor="ctr">
                    <a:solidFill>
                      <a:srgbClr val="EEF2F6"/>
                    </a:solidFill>
                  </a:tcPr>
                </a:tc>
                <a:tc>
                  <a:txBody>
                    <a:bodyPr/>
                    <a:lstStyle/>
                    <a:p>
                      <a:pPr algn="ctr"/>
                      <a:r>
                        <a:rPr sz="1200">
                          <a:solidFill>
                            <a:srgbClr val="2B2A35"/>
                          </a:solidFill>
                          <a:latin typeface="Work Sans"/>
                        </a:rPr>
                        <a:t>13 %</a:t>
                      </a:r>
                    </a:p>
                  </a:txBody>
                  <a:tcPr marL="54864" marR="54864" marT="18288" marB="18288" anchor="ctr">
                    <a:solidFill>
                      <a:srgbClr val="EEF2F6"/>
                    </a:solidFill>
                  </a:tcPr>
                </a:tc>
                <a:tc>
                  <a:txBody>
                    <a:bodyPr/>
                    <a:lstStyle/>
                    <a:p>
                      <a:pPr algn="ctr"/>
                      <a:r>
                        <a:rPr sz="1200">
                          <a:solidFill>
                            <a:srgbClr val="2B2A35"/>
                          </a:solidFill>
                          <a:latin typeface="Work Sans"/>
                        </a:rPr>
                        <a:t>18 %</a:t>
                      </a:r>
                    </a:p>
                  </a:txBody>
                  <a:tcPr marL="54864" marR="54864" marT="18288" marB="18288" anchor="ctr">
                    <a:solidFill>
                      <a:srgbClr val="EEF2F6"/>
                    </a:solidFill>
                  </a:tcPr>
                </a:tc>
              </a:tr>
              <a:tr h="502920">
                <a:tc>
                  <a:txBody>
                    <a:bodyPr/>
                    <a:lstStyle/>
                    <a:p>
                      <a:r>
                        <a:rPr sz="1200">
                          <a:solidFill>
                            <a:srgbClr val="2B2A35"/>
                          </a:solidFill>
                          <a:latin typeface="Work Sans"/>
                        </a:rPr>
                        <a:t>Côte d'Ivoire (75)</a:t>
                      </a:r>
                    </a:p>
                  </a:txBody>
                  <a:tcPr marL="54864" marR="54864" marT="18288" marB="18288" anchor="ctr">
                    <a:solidFill>
                      <a:srgbClr val="FFFFFF"/>
                    </a:solidFill>
                  </a:tcPr>
                </a:tc>
                <a:tc>
                  <a:txBody>
                    <a:bodyPr/>
                    <a:lstStyle/>
                    <a:p>
                      <a:pPr algn="ctr"/>
                      <a:r>
                        <a:rPr sz="1200">
                          <a:solidFill>
                            <a:srgbClr val="2B2A35"/>
                          </a:solidFill>
                          <a:latin typeface="Work Sans"/>
                        </a:rPr>
                        <a:t>64 %</a:t>
                      </a:r>
                    </a:p>
                  </a:txBody>
                  <a:tcPr marL="54864" marR="54864" marT="18288" marB="18288" anchor="ctr">
                    <a:solidFill>
                      <a:srgbClr val="FFFFFF"/>
                    </a:solidFill>
                  </a:tcPr>
                </a:tc>
                <a:tc>
                  <a:txBody>
                    <a:bodyPr/>
                    <a:lstStyle/>
                    <a:p>
                      <a:pPr algn="ctr"/>
                      <a:r>
                        <a:rPr sz="1200">
                          <a:solidFill>
                            <a:srgbClr val="2B2A35"/>
                          </a:solidFill>
                          <a:latin typeface="Work Sans"/>
                        </a:rPr>
                        <a:t>8 %</a:t>
                      </a:r>
                    </a:p>
                  </a:txBody>
                  <a:tcPr marL="54864" marR="54864" marT="18288" marB="18288" anchor="ctr">
                    <a:solidFill>
                      <a:srgbClr val="FFFFFF"/>
                    </a:solidFill>
                  </a:tcPr>
                </a:tc>
                <a:tc>
                  <a:txBody>
                    <a:bodyPr/>
                    <a:lstStyle/>
                    <a:p>
                      <a:pPr algn="ctr"/>
                      <a:r>
                        <a:rPr sz="1200">
                          <a:solidFill>
                            <a:srgbClr val="2B2A35"/>
                          </a:solidFill>
                          <a:latin typeface="Work Sans"/>
                        </a:rPr>
                        <a:t>28 %</a:t>
                      </a:r>
                    </a:p>
                  </a:txBody>
                  <a:tcPr marL="54864" marR="54864" marT="18288" marB="18288" anchor="ctr">
                    <a:solidFill>
                      <a:srgbClr val="FFFFFF"/>
                    </a:solidFill>
                  </a:tcPr>
                </a:tc>
                <a:tc>
                  <a:txBody>
                    <a:bodyPr/>
                    <a:lstStyle/>
                    <a:p>
                      <a:pPr algn="ctr"/>
                      <a:r>
                        <a:rPr sz="1200">
                          <a:solidFill>
                            <a:srgbClr val="2B2A35"/>
                          </a:solidFill>
                          <a:latin typeface="Work Sans"/>
                        </a:rPr>
                        <a:t>7 %</a:t>
                      </a:r>
                    </a:p>
                  </a:txBody>
                  <a:tcPr marL="54864" marR="54864" marT="18288" marB="18288" anchor="ctr">
                    <a:solidFill>
                      <a:srgbClr val="FFFFFF"/>
                    </a:solidFill>
                  </a:tcPr>
                </a:tc>
              </a:tr>
              <a:tr h="502920">
                <a:tc>
                  <a:txBody>
                    <a:bodyPr/>
                    <a:lstStyle/>
                    <a:p>
                      <a:r>
                        <a:rPr sz="1200">
                          <a:solidFill>
                            <a:srgbClr val="2B2A35"/>
                          </a:solidFill>
                          <a:latin typeface="Work Sans"/>
                        </a:rPr>
                        <a:t>Sénégal (75)</a:t>
                      </a:r>
                    </a:p>
                  </a:txBody>
                  <a:tcPr marL="54864" marR="54864" marT="18288" marB="18288" anchor="ctr">
                    <a:solidFill>
                      <a:srgbClr val="EEF2F6"/>
                    </a:solidFill>
                  </a:tcPr>
                </a:tc>
                <a:tc>
                  <a:txBody>
                    <a:bodyPr/>
                    <a:lstStyle/>
                    <a:p>
                      <a:pPr algn="ctr"/>
                      <a:r>
                        <a:rPr sz="1200">
                          <a:solidFill>
                            <a:srgbClr val="2B2A35"/>
                          </a:solidFill>
                          <a:latin typeface="Work Sans"/>
                        </a:rPr>
                        <a:t>40 %</a:t>
                      </a:r>
                    </a:p>
                  </a:txBody>
                  <a:tcPr marL="54864" marR="54864" marT="18288" marB="18288" anchor="ctr">
                    <a:solidFill>
                      <a:srgbClr val="EEF2F6"/>
                    </a:solidFill>
                  </a:tcPr>
                </a:tc>
                <a:tc>
                  <a:txBody>
                    <a:bodyPr/>
                    <a:lstStyle/>
                    <a:p>
                      <a:pPr algn="ctr"/>
                      <a:r>
                        <a:rPr sz="1200">
                          <a:solidFill>
                            <a:srgbClr val="2B2A35"/>
                          </a:solidFill>
                          <a:latin typeface="Work Sans"/>
                        </a:rPr>
                        <a:t>11 %</a:t>
                      </a:r>
                    </a:p>
                  </a:txBody>
                  <a:tcPr marL="54864" marR="54864" marT="18288" marB="18288" anchor="ctr">
                    <a:solidFill>
                      <a:srgbClr val="EEF2F6"/>
                    </a:solidFill>
                  </a:tcPr>
                </a:tc>
                <a:tc>
                  <a:txBody>
                    <a:bodyPr/>
                    <a:lstStyle/>
                    <a:p>
                      <a:pPr algn="ctr"/>
                      <a:r>
                        <a:rPr sz="1200">
                          <a:solidFill>
                            <a:srgbClr val="2B2A35"/>
                          </a:solidFill>
                          <a:latin typeface="Work Sans"/>
                        </a:rPr>
                        <a:t>49 %</a:t>
                      </a:r>
                    </a:p>
                  </a:txBody>
                  <a:tcPr marL="54864" marR="54864" marT="18288" marB="18288" anchor="ctr">
                    <a:solidFill>
                      <a:srgbClr val="EEF2F6"/>
                    </a:solidFill>
                  </a:tcPr>
                </a:tc>
                <a:tc>
                  <a:txBody>
                    <a:bodyPr/>
                    <a:lstStyle/>
                    <a:p>
                      <a:pPr algn="ctr"/>
                      <a:r>
                        <a:rPr sz="1200">
                          <a:solidFill>
                            <a:srgbClr val="2B2A35"/>
                          </a:solidFill>
                          <a:latin typeface="Work Sans"/>
                        </a:rPr>
                        <a:t>29 %</a:t>
                      </a:r>
                    </a:p>
                  </a:txBody>
                  <a:tcPr marL="54864" marR="54864" marT="18288" marB="18288" anchor="ctr">
                    <a:solidFill>
                      <a:srgbClr val="EEF2F6"/>
                    </a:solidFill>
                  </a:tcPr>
                </a:tc>
              </a:tr>
              <a:tr h="502920">
                <a:tc>
                  <a:txBody>
                    <a:bodyPr/>
                    <a:lstStyle/>
                    <a:p>
                      <a:r>
                        <a:rPr sz="1200">
                          <a:solidFill>
                            <a:srgbClr val="2B2A35"/>
                          </a:solidFill>
                          <a:latin typeface="Work Sans"/>
                        </a:rPr>
                        <a:t>B2C (240)</a:t>
                      </a:r>
                    </a:p>
                  </a:txBody>
                  <a:tcPr marL="54864" marR="54864" marT="18288" marB="18288" anchor="ctr">
                    <a:solidFill>
                      <a:srgbClr val="FFFFFF"/>
                    </a:solidFill>
                  </a:tcPr>
                </a:tc>
                <a:tc>
                  <a:txBody>
                    <a:bodyPr/>
                    <a:lstStyle/>
                    <a:p>
                      <a:pPr algn="ctr"/>
                      <a:r>
                        <a:rPr sz="1200">
                          <a:solidFill>
                            <a:srgbClr val="2B2A35"/>
                          </a:solidFill>
                          <a:latin typeface="Work Sans"/>
                        </a:rPr>
                        <a:t>53 %</a:t>
                      </a:r>
                    </a:p>
                  </a:txBody>
                  <a:tcPr marL="54864" marR="54864" marT="18288" marB="18288" anchor="ctr">
                    <a:solidFill>
                      <a:srgbClr val="FFFFFF"/>
                    </a:solidFill>
                  </a:tcPr>
                </a:tc>
                <a:tc>
                  <a:txBody>
                    <a:bodyPr/>
                    <a:lstStyle/>
                    <a:p>
                      <a:pPr algn="ctr"/>
                      <a:r>
                        <a:rPr sz="1200">
                          <a:solidFill>
                            <a:srgbClr val="2B2A35"/>
                          </a:solidFill>
                          <a:latin typeface="Work Sans"/>
                        </a:rPr>
                        <a:t>18 %</a:t>
                      </a:r>
                    </a:p>
                  </a:txBody>
                  <a:tcPr marL="54864" marR="54864" marT="18288" marB="18288" anchor="ctr">
                    <a:solidFill>
                      <a:srgbClr val="FFFFFF"/>
                    </a:solidFill>
                  </a:tcPr>
                </a:tc>
                <a:tc>
                  <a:txBody>
                    <a:bodyPr/>
                    <a:lstStyle/>
                    <a:p>
                      <a:pPr algn="ctr"/>
                      <a:r>
                        <a:rPr sz="1200">
                          <a:solidFill>
                            <a:srgbClr val="2B2A35"/>
                          </a:solidFill>
                          <a:latin typeface="Work Sans"/>
                        </a:rPr>
                        <a:t>29 %</a:t>
                      </a:r>
                    </a:p>
                  </a:txBody>
                  <a:tcPr marL="54864" marR="54864" marT="18288" marB="18288" anchor="ctr">
                    <a:solidFill>
                      <a:srgbClr val="FFFFFF"/>
                    </a:solidFill>
                  </a:tcPr>
                </a:tc>
                <a:tc>
                  <a:txBody>
                    <a:bodyPr/>
                    <a:lstStyle/>
                    <a:p>
                      <a:pPr algn="ctr"/>
                      <a:r>
                        <a:rPr sz="1200">
                          <a:solidFill>
                            <a:srgbClr val="2B2A35"/>
                          </a:solidFill>
                          <a:latin typeface="Work Sans"/>
                        </a:rPr>
                        <a:t>21 %</a:t>
                      </a:r>
                    </a:p>
                  </a:txBody>
                  <a:tcPr marL="54864" marR="54864" marT="18288" marB="18288" anchor="ctr">
                    <a:solidFill>
                      <a:srgbClr val="FFFFFF"/>
                    </a:solidFill>
                  </a:tcPr>
                </a:tc>
              </a:tr>
              <a:tr h="502920">
                <a:tc>
                  <a:txBody>
                    <a:bodyPr/>
                    <a:lstStyle/>
                    <a:p>
                      <a:r>
                        <a:rPr sz="1200">
                          <a:solidFill>
                            <a:srgbClr val="2B2A35"/>
                          </a:solidFill>
                          <a:latin typeface="Work Sans"/>
                        </a:rPr>
                        <a:t>B2B (90)</a:t>
                      </a:r>
                    </a:p>
                  </a:txBody>
                  <a:tcPr marL="54864" marR="54864" marT="18288" marB="18288" anchor="ctr">
                    <a:solidFill>
                      <a:srgbClr val="EEF2F6"/>
                    </a:solidFill>
                  </a:tcPr>
                </a:tc>
                <a:tc>
                  <a:txBody>
                    <a:bodyPr/>
                    <a:lstStyle/>
                    <a:p>
                      <a:pPr algn="ctr"/>
                      <a:r>
                        <a:rPr sz="1200">
                          <a:solidFill>
                            <a:srgbClr val="2B2A35"/>
                          </a:solidFill>
                          <a:latin typeface="Work Sans"/>
                        </a:rPr>
                        <a:t>50 %</a:t>
                      </a:r>
                    </a:p>
                  </a:txBody>
                  <a:tcPr marL="54864" marR="54864" marT="18288" marB="18288" anchor="ctr">
                    <a:solidFill>
                      <a:srgbClr val="EEF2F6"/>
                    </a:solidFill>
                  </a:tcPr>
                </a:tc>
                <a:tc>
                  <a:txBody>
                    <a:bodyPr/>
                    <a:lstStyle/>
                    <a:p>
                      <a:pPr algn="ctr"/>
                      <a:r>
                        <a:rPr sz="1200">
                          <a:solidFill>
                            <a:srgbClr val="2B2A35"/>
                          </a:solidFill>
                          <a:latin typeface="Work Sans"/>
                        </a:rPr>
                        <a:t>30 %</a:t>
                      </a:r>
                    </a:p>
                  </a:txBody>
                  <a:tcPr marL="54864" marR="54864" marT="18288" marB="18288" anchor="ctr">
                    <a:solidFill>
                      <a:srgbClr val="EEF2F6"/>
                    </a:solidFill>
                  </a:tcPr>
                </a:tc>
                <a:tc>
                  <a:txBody>
                    <a:bodyPr/>
                    <a:lstStyle/>
                    <a:p>
                      <a:pPr algn="ctr"/>
                      <a:r>
                        <a:rPr sz="1200">
                          <a:solidFill>
                            <a:srgbClr val="2B2A35"/>
                          </a:solidFill>
                          <a:latin typeface="Work Sans"/>
                        </a:rPr>
                        <a:t>20 %</a:t>
                      </a:r>
                    </a:p>
                  </a:txBody>
                  <a:tcPr marL="54864" marR="54864" marT="18288" marB="18288" anchor="ctr">
                    <a:solidFill>
                      <a:srgbClr val="EEF2F6"/>
                    </a:solidFill>
                  </a:tcPr>
                </a:tc>
                <a:tc>
                  <a:txBody>
                    <a:bodyPr/>
                    <a:lstStyle/>
                    <a:p>
                      <a:pPr algn="ctr"/>
                      <a:r>
                        <a:rPr sz="1200">
                          <a:solidFill>
                            <a:srgbClr val="2B2A35"/>
                          </a:solidFill>
                          <a:latin typeface="Work Sans"/>
                        </a:rPr>
                        <a:t>11 %</a:t>
                      </a:r>
                    </a:p>
                  </a:txBody>
                  <a:tcPr marL="54864" marR="54864" marT="18288" marB="18288" anchor="ctr">
                    <a:solidFill>
                      <a:srgbClr val="EEF2F6"/>
                    </a:solidFill>
                  </a:tcPr>
                </a:tc>
              </a:tr>
            </a:tbl>
          </a:graphicData>
        </a:graphic>
      </p:graphicFrame>
      <p:sp>
        <p:nvSpPr>
          <p:cNvPr id="10" name="TextBox 9"/>
          <p:cNvSpPr txBox="1"/>
          <p:nvPr/>
        </p:nvSpPr>
        <p:spPr>
          <a:xfrm>
            <a:off x="7680960" y="1508760"/>
            <a:ext cx="3959352" cy="475488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La France fait des carrousels.</a:t>
            </a:r>
          </a:p>
          <a:p>
            <a:pPr algn="l">
              <a:lnSpc>
                <a:spcPct val="110000"/>
              </a:lnSpc>
              <a:spcAft>
                <a:spcPts val="900"/>
              </a:spcAft>
            </a:pPr>
            <a:r>
              <a:rPr sz="1100" b="0">
                <a:solidFill>
                  <a:srgbClr val="2B2A35"/>
                </a:solidFill>
                <a:latin typeface="Work Sans"/>
              </a:rPr>
              <a:t>39 % de ses posts, porté par Doctolib (10 sur 15) et Qonto (7 sur 15) : contenus à lire, pédagogiques.</a:t>
            </a:r>
          </a:p>
          <a:p>
            <a:pPr algn="l">
              <a:lnSpc>
                <a:spcPct val="110000"/>
              </a:lnSpc>
              <a:spcAft>
                <a:spcPts val="100"/>
              </a:spcAft>
            </a:pPr>
            <a:r>
              <a:rPr sz="1200" b="1">
                <a:solidFill>
                  <a:srgbClr val="232754"/>
                </a:solidFill>
                <a:latin typeface="Work Sans"/>
              </a:rPr>
              <a:t>La Côte d'Ivoire fait le plus de vidéo.</a:t>
            </a:r>
          </a:p>
          <a:p>
            <a:pPr algn="l">
              <a:lnSpc>
                <a:spcPct val="110000"/>
              </a:lnSpc>
              <a:spcAft>
                <a:spcPts val="900"/>
              </a:spcAft>
            </a:pPr>
            <a:r>
              <a:rPr sz="1100" b="0">
                <a:solidFill>
                  <a:srgbClr val="2B2A35"/>
                </a:solidFill>
                <a:latin typeface="Work Sans"/>
              </a:rPr>
              <a:t>Orange CI : 14 vidéos sur 15. Mais très peu de créateurs (7 %).</a:t>
            </a:r>
          </a:p>
          <a:p>
            <a:pPr algn="l">
              <a:lnSpc>
                <a:spcPct val="110000"/>
              </a:lnSpc>
              <a:spcAft>
                <a:spcPts val="100"/>
              </a:spcAft>
            </a:pPr>
            <a:r>
              <a:rPr sz="1200" b="1">
                <a:solidFill>
                  <a:srgbClr val="232754"/>
                </a:solidFill>
                <a:latin typeface="Work Sans"/>
              </a:rPr>
              <a:t>Le Sénégal reste à l'affiche.</a:t>
            </a:r>
          </a:p>
          <a:p>
            <a:pPr algn="l">
              <a:lnSpc>
                <a:spcPct val="110000"/>
              </a:lnSpc>
              <a:spcAft>
                <a:spcPts val="900"/>
              </a:spcAft>
            </a:pPr>
            <a:r>
              <a:rPr sz="1100" b="0">
                <a:solidFill>
                  <a:srgbClr val="2B2A35"/>
                </a:solidFill>
                <a:latin typeface="Work Sans"/>
              </a:rPr>
              <a:t>Une publication sur deux est une image fixe, souvent une promo. C'est aussi le pays qui travaille le plus avec des créateurs (29 %).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CE QUI EST PUBLIÉ, CE QUI MARCHE</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Ce qui fait réagir : le créateur, puis la vidéo</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7</a:t>
            </a:r>
          </a:p>
        </p:txBody>
      </p:sp>
      <p:sp>
        <p:nvSpPr>
          <p:cNvPr id="9" name="TextBox 8"/>
          <p:cNvSpPr txBox="1"/>
          <p:nvPr/>
        </p:nvSpPr>
        <p:spPr>
          <a:xfrm>
            <a:off x="548640" y="1847088"/>
            <a:ext cx="2377440" cy="457200"/>
          </a:xfrm>
          <a:prstGeom prst="rect">
            <a:avLst/>
          </a:prstGeom>
          <a:noFill/>
        </p:spPr>
        <p:txBody>
          <a:bodyPr wrap="square" anchor="t" lIns="45720" rIns="45720" tIns="27432" bIns="27432">
            <a:spAutoFit/>
          </a:bodyPr>
          <a:lstStyle/>
          <a:p>
            <a:pPr algn="l">
              <a:lnSpc>
                <a:spcPct val="110000"/>
              </a:lnSpc>
              <a:spcAft>
                <a:spcPts val="600"/>
              </a:spcAft>
            </a:pPr>
            <a:r>
              <a:rPr sz="1400" b="1">
                <a:solidFill>
                  <a:srgbClr val="232754"/>
                </a:solidFill>
                <a:latin typeface="Work Sans"/>
              </a:rPr>
              <a:t>Avec un créateur</a:t>
            </a:r>
          </a:p>
        </p:txBody>
      </p:sp>
      <p:sp>
        <p:nvSpPr>
          <p:cNvPr id="10" name="Rectangle 9"/>
          <p:cNvSpPr/>
          <p:nvPr/>
        </p:nvSpPr>
        <p:spPr>
          <a:xfrm>
            <a:off x="3017520" y="1737360"/>
            <a:ext cx="4206240" cy="640080"/>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199" y="1847088"/>
            <a:ext cx="1097280" cy="457200"/>
          </a:xfrm>
          <a:prstGeom prst="rect">
            <a:avLst/>
          </a:prstGeom>
          <a:noFill/>
        </p:spPr>
        <p:txBody>
          <a:bodyPr wrap="square" anchor="t" lIns="45720" rIns="45720" tIns="27432" bIns="27432">
            <a:spAutoFit/>
          </a:bodyPr>
          <a:lstStyle/>
          <a:p>
            <a:pPr algn="l">
              <a:lnSpc>
                <a:spcPct val="110000"/>
              </a:lnSpc>
              <a:spcAft>
                <a:spcPts val="600"/>
              </a:spcAft>
            </a:pPr>
            <a:r>
              <a:rPr sz="1600" b="1">
                <a:solidFill>
                  <a:srgbClr val="232754"/>
                </a:solidFill>
                <a:latin typeface="Space Grotesk"/>
              </a:rPr>
              <a:t>× 4,33</a:t>
            </a:r>
          </a:p>
        </p:txBody>
      </p:sp>
      <p:sp>
        <p:nvSpPr>
          <p:cNvPr id="12" name="TextBox 11"/>
          <p:cNvSpPr txBox="1"/>
          <p:nvPr/>
        </p:nvSpPr>
        <p:spPr>
          <a:xfrm>
            <a:off x="548640" y="2807208"/>
            <a:ext cx="2377440" cy="457200"/>
          </a:xfrm>
          <a:prstGeom prst="rect">
            <a:avLst/>
          </a:prstGeom>
          <a:noFill/>
        </p:spPr>
        <p:txBody>
          <a:bodyPr wrap="square" anchor="t" lIns="45720" rIns="45720" tIns="27432" bIns="27432">
            <a:spAutoFit/>
          </a:bodyPr>
          <a:lstStyle/>
          <a:p>
            <a:pPr algn="l">
              <a:lnSpc>
                <a:spcPct val="110000"/>
              </a:lnSpc>
              <a:spcAft>
                <a:spcPts val="600"/>
              </a:spcAft>
            </a:pPr>
            <a:r>
              <a:rPr sz="1400" b="1">
                <a:solidFill>
                  <a:srgbClr val="232754"/>
                </a:solidFill>
                <a:latin typeface="Work Sans"/>
              </a:rPr>
              <a:t>Vidéo de la marque</a:t>
            </a:r>
          </a:p>
        </p:txBody>
      </p:sp>
      <p:sp>
        <p:nvSpPr>
          <p:cNvPr id="13" name="Rectangle 12"/>
          <p:cNvSpPr/>
          <p:nvPr/>
        </p:nvSpPr>
        <p:spPr>
          <a:xfrm>
            <a:off x="3017520" y="2697480"/>
            <a:ext cx="1117130" cy="64008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26090" y="2807208"/>
            <a:ext cx="1097280" cy="457200"/>
          </a:xfrm>
          <a:prstGeom prst="rect">
            <a:avLst/>
          </a:prstGeom>
          <a:noFill/>
        </p:spPr>
        <p:txBody>
          <a:bodyPr wrap="square" anchor="t" lIns="45720" rIns="45720" tIns="27432" bIns="27432">
            <a:spAutoFit/>
          </a:bodyPr>
          <a:lstStyle/>
          <a:p>
            <a:pPr algn="l">
              <a:lnSpc>
                <a:spcPct val="110000"/>
              </a:lnSpc>
              <a:spcAft>
                <a:spcPts val="600"/>
              </a:spcAft>
            </a:pPr>
            <a:r>
              <a:rPr sz="1600" b="1">
                <a:solidFill>
                  <a:srgbClr val="232754"/>
                </a:solidFill>
                <a:latin typeface="Space Grotesk"/>
              </a:rPr>
              <a:t>× 1,15</a:t>
            </a:r>
          </a:p>
        </p:txBody>
      </p:sp>
      <p:sp>
        <p:nvSpPr>
          <p:cNvPr id="15" name="TextBox 14"/>
          <p:cNvSpPr txBox="1"/>
          <p:nvPr/>
        </p:nvSpPr>
        <p:spPr>
          <a:xfrm>
            <a:off x="548640" y="3767328"/>
            <a:ext cx="2377440" cy="457200"/>
          </a:xfrm>
          <a:prstGeom prst="rect">
            <a:avLst/>
          </a:prstGeom>
          <a:noFill/>
        </p:spPr>
        <p:txBody>
          <a:bodyPr wrap="square" anchor="t" lIns="45720" rIns="45720" tIns="27432" bIns="27432">
            <a:spAutoFit/>
          </a:bodyPr>
          <a:lstStyle/>
          <a:p>
            <a:pPr algn="l">
              <a:lnSpc>
                <a:spcPct val="110000"/>
              </a:lnSpc>
              <a:spcAft>
                <a:spcPts val="600"/>
              </a:spcAft>
            </a:pPr>
            <a:r>
              <a:rPr sz="1400" b="1">
                <a:solidFill>
                  <a:srgbClr val="232754"/>
                </a:solidFill>
                <a:latin typeface="Work Sans"/>
              </a:rPr>
              <a:t>Carrousel</a:t>
            </a:r>
          </a:p>
        </p:txBody>
      </p:sp>
      <p:sp>
        <p:nvSpPr>
          <p:cNvPr id="16" name="Rectangle 15"/>
          <p:cNvSpPr/>
          <p:nvPr/>
        </p:nvSpPr>
        <p:spPr>
          <a:xfrm>
            <a:off x="3017520" y="3657600"/>
            <a:ext cx="874276" cy="64008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83236" y="3767328"/>
            <a:ext cx="1097280" cy="457200"/>
          </a:xfrm>
          <a:prstGeom prst="rect">
            <a:avLst/>
          </a:prstGeom>
          <a:noFill/>
        </p:spPr>
        <p:txBody>
          <a:bodyPr wrap="square" anchor="t" lIns="45720" rIns="45720" tIns="27432" bIns="27432">
            <a:spAutoFit/>
          </a:bodyPr>
          <a:lstStyle/>
          <a:p>
            <a:pPr algn="l">
              <a:lnSpc>
                <a:spcPct val="110000"/>
              </a:lnSpc>
              <a:spcAft>
                <a:spcPts val="600"/>
              </a:spcAft>
            </a:pPr>
            <a:r>
              <a:rPr sz="1600" b="1">
                <a:solidFill>
                  <a:srgbClr val="232754"/>
                </a:solidFill>
                <a:latin typeface="Space Grotesk"/>
              </a:rPr>
              <a:t>× 0,90</a:t>
            </a:r>
          </a:p>
        </p:txBody>
      </p:sp>
      <p:sp>
        <p:nvSpPr>
          <p:cNvPr id="18" name="TextBox 17"/>
          <p:cNvSpPr txBox="1"/>
          <p:nvPr/>
        </p:nvSpPr>
        <p:spPr>
          <a:xfrm>
            <a:off x="548640" y="4727448"/>
            <a:ext cx="2377440" cy="457200"/>
          </a:xfrm>
          <a:prstGeom prst="rect">
            <a:avLst/>
          </a:prstGeom>
          <a:noFill/>
        </p:spPr>
        <p:txBody>
          <a:bodyPr wrap="square" anchor="t" lIns="45720" rIns="45720" tIns="27432" bIns="27432">
            <a:spAutoFit/>
          </a:bodyPr>
          <a:lstStyle/>
          <a:p>
            <a:pPr algn="l">
              <a:lnSpc>
                <a:spcPct val="110000"/>
              </a:lnSpc>
              <a:spcAft>
                <a:spcPts val="600"/>
              </a:spcAft>
            </a:pPr>
            <a:r>
              <a:rPr sz="1400" b="1">
                <a:solidFill>
                  <a:srgbClr val="232754"/>
                </a:solidFill>
                <a:latin typeface="Work Sans"/>
              </a:rPr>
              <a:t>Image fixe</a:t>
            </a:r>
          </a:p>
        </p:txBody>
      </p:sp>
      <p:sp>
        <p:nvSpPr>
          <p:cNvPr id="19" name="Rectangle 18"/>
          <p:cNvSpPr/>
          <p:nvPr/>
        </p:nvSpPr>
        <p:spPr>
          <a:xfrm>
            <a:off x="3017520" y="4617720"/>
            <a:ext cx="767420" cy="640080"/>
          </a:xfrm>
          <a:prstGeom prst="rect">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6380" y="4727448"/>
            <a:ext cx="1097280" cy="457200"/>
          </a:xfrm>
          <a:prstGeom prst="rect">
            <a:avLst/>
          </a:prstGeom>
          <a:noFill/>
        </p:spPr>
        <p:txBody>
          <a:bodyPr wrap="square" anchor="t" lIns="45720" rIns="45720" tIns="27432" bIns="27432">
            <a:spAutoFit/>
          </a:bodyPr>
          <a:lstStyle/>
          <a:p>
            <a:pPr algn="l">
              <a:lnSpc>
                <a:spcPct val="110000"/>
              </a:lnSpc>
              <a:spcAft>
                <a:spcPts val="600"/>
              </a:spcAft>
            </a:pPr>
            <a:r>
              <a:rPr sz="1600" b="1">
                <a:solidFill>
                  <a:srgbClr val="232754"/>
                </a:solidFill>
                <a:latin typeface="Space Grotesk"/>
              </a:rPr>
              <a:t>× 0,79</a:t>
            </a:r>
          </a:p>
        </p:txBody>
      </p:sp>
      <p:sp>
        <p:nvSpPr>
          <p:cNvPr id="21" name="TextBox 20"/>
          <p:cNvSpPr txBox="1"/>
          <p:nvPr/>
        </p:nvSpPr>
        <p:spPr>
          <a:xfrm>
            <a:off x="548640" y="5577840"/>
            <a:ext cx="7863840" cy="731520"/>
          </a:xfrm>
          <a:prstGeom prst="rect">
            <a:avLst/>
          </a:prstGeom>
          <a:noFill/>
        </p:spPr>
        <p:txBody>
          <a:bodyPr wrap="square" anchor="t" lIns="45720" rIns="45720" tIns="27432" bIns="27432">
            <a:spAutoFit/>
          </a:bodyPr>
          <a:lstStyle/>
          <a:p>
            <a:pPr algn="l">
              <a:lnSpc>
                <a:spcPct val="110000"/>
              </a:lnSpc>
              <a:spcAft>
                <a:spcPts val="600"/>
              </a:spcAft>
            </a:pPr>
            <a:r>
              <a:rPr sz="1100" b="0">
                <a:solidFill>
                  <a:srgbClr val="8F8F9A"/>
                </a:solidFill>
                <a:latin typeface="Work Sans"/>
              </a:rPr>
              <a:t>Réactions d'une publication divisées par la médiane de sa marque, puis médiane par format. 324 publications avec un nombre de j'aime visible.</a:t>
            </a:r>
          </a:p>
        </p:txBody>
      </p:sp>
      <p:sp>
        <p:nvSpPr>
          <p:cNvPr id="22" name="Rectangle 21"/>
          <p:cNvSpPr/>
          <p:nvPr/>
        </p:nvSpPr>
        <p:spPr>
          <a:xfrm>
            <a:off x="8778240" y="1600200"/>
            <a:ext cx="2862072" cy="448056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78240" y="1600200"/>
            <a:ext cx="2862072" cy="73152"/>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0" y="1783080"/>
            <a:ext cx="2560320" cy="420624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Exemples</a:t>
            </a:r>
          </a:p>
          <a:p>
            <a:pPr algn="l">
              <a:lnSpc>
                <a:spcPct val="110000"/>
              </a:lnSpc>
              <a:spcAft>
                <a:spcPts val="900"/>
              </a:spcAft>
            </a:pPr>
            <a:r>
              <a:rPr sz="1100" b="0">
                <a:solidFill>
                  <a:srgbClr val="2B2A35"/>
                </a:solidFill>
                <a:latin typeface="Work Sans"/>
              </a:rPr>
              <a:t/>
            </a:r>
          </a:p>
          <a:p>
            <a:pPr algn="l">
              <a:lnSpc>
                <a:spcPct val="110000"/>
              </a:lnSpc>
              <a:spcAft>
                <a:spcPts val="700"/>
              </a:spcAft>
            </a:pPr>
            <a:r>
              <a:rPr sz="1200" b="0">
                <a:solidFill>
                  <a:srgbClr val="2B2A35"/>
                </a:solidFill>
                <a:latin typeface="Work Sans"/>
              </a:rPr>
              <a:t>•  Moniepoint : 96 j'aime en médiane pour ses posts, 6 924 avec des créateurs.</a:t>
            </a:r>
          </a:p>
          <a:p>
            <a:pPr algn="l">
              <a:lnSpc>
                <a:spcPct val="110000"/>
              </a:lnSpc>
              <a:spcAft>
                <a:spcPts val="700"/>
              </a:spcAft>
            </a:pPr>
            <a:r>
              <a:rPr sz="1200" b="0">
                <a:solidFill>
                  <a:srgbClr val="2B2A35"/>
                </a:solidFill>
                <a:latin typeface="Work Sans"/>
              </a:rPr>
              <a:t>•  Payfit : 27 contre 8 364.</a:t>
            </a:r>
          </a:p>
          <a:p>
            <a:pPr algn="l">
              <a:lnSpc>
                <a:spcPct val="110000"/>
              </a:lnSpc>
              <a:spcAft>
                <a:spcPts val="700"/>
              </a:spcAft>
            </a:pPr>
            <a:r>
              <a:rPr sz="1200" b="0">
                <a:solidFill>
                  <a:srgbClr val="2B2A35"/>
                </a:solidFill>
                <a:latin typeface="Work Sans"/>
              </a:rPr>
              <a:t>•  Wave Sénégal : 207 contre 5 667.</a:t>
            </a:r>
          </a:p>
          <a:p>
            <a:pPr algn="l">
              <a:lnSpc>
                <a:spcPct val="110000"/>
              </a:lnSpc>
              <a:spcAft>
                <a:spcPts val="700"/>
              </a:spcAft>
            </a:pPr>
            <a:r>
              <a:rPr sz="1200" b="0">
                <a:solidFill>
                  <a:srgbClr val="2B2A35"/>
                </a:solidFill>
                <a:latin typeface="Work Sans"/>
              </a:rPr>
              <a:t>•  Decathlon : 2 224 contre 15 980.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PAYS PAR PAYS</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Nigeria : couleur, humour et créateurs</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8</a:t>
            </a:r>
          </a:p>
        </p:txBody>
      </p:sp>
      <p:sp>
        <p:nvSpPr>
          <p:cNvPr id="9" name="Rectangle 8"/>
          <p:cNvSpPr/>
          <p:nvPr/>
        </p:nvSpPr>
        <p:spPr>
          <a:xfrm>
            <a:off x="548640"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owdeck__Detw2jbs17O.jpg">
            <a:hlinkClick r:id="rId4"/>
          </p:cNvPr>
          <p:cNvPicPr>
            <a:picLocks noChangeAspect="1"/>
          </p:cNvPicPr>
          <p:nvPr/>
        </p:nvPicPr>
        <p:blipFill>
          <a:blip r:embed="rId3"/>
          <a:stretch>
            <a:fillRect/>
          </a:stretch>
        </p:blipFill>
        <p:spPr>
          <a:xfrm>
            <a:off x="548640" y="1523936"/>
            <a:ext cx="1508760" cy="1889887"/>
          </a:xfrm>
          <a:prstGeom prst="rect">
            <a:avLst/>
          </a:prstGeom>
        </p:spPr>
      </p:pic>
      <p:sp>
        <p:nvSpPr>
          <p:cNvPr id="11" name="TextBox 10"/>
          <p:cNvSpPr txBox="1"/>
          <p:nvPr/>
        </p:nvSpPr>
        <p:spPr>
          <a:xfrm>
            <a:off x="502919"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Chowdeck · 641 j'aime</a:t>
            </a:r>
          </a:p>
        </p:txBody>
      </p:sp>
      <p:sp>
        <p:nvSpPr>
          <p:cNvPr id="12" name="Rectangle 11"/>
          <p:cNvSpPr/>
          <p:nvPr/>
        </p:nvSpPr>
        <p:spPr>
          <a:xfrm>
            <a:off x="2212848"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owdeck__DezgIuyIpx_.jpg">
            <a:hlinkClick r:id="rId6"/>
          </p:cNvPr>
          <p:cNvPicPr>
            <a:picLocks noChangeAspect="1"/>
          </p:cNvPicPr>
          <p:nvPr/>
        </p:nvPicPr>
        <p:blipFill>
          <a:blip r:embed="rId5"/>
          <a:stretch>
            <a:fillRect/>
          </a:stretch>
        </p:blipFill>
        <p:spPr>
          <a:xfrm>
            <a:off x="2402281" y="1463040"/>
            <a:ext cx="1129893" cy="2011680"/>
          </a:xfrm>
          <a:prstGeom prst="rect">
            <a:avLst/>
          </a:prstGeom>
        </p:spPr>
      </p:pic>
      <p:sp>
        <p:nvSpPr>
          <p:cNvPr id="14" name="TextBox 13"/>
          <p:cNvSpPr txBox="1"/>
          <p:nvPr/>
        </p:nvSpPr>
        <p:spPr>
          <a:xfrm>
            <a:off x="2167128"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Chowdeck × créateur · 5 319</a:t>
            </a:r>
          </a:p>
        </p:txBody>
      </p:sp>
      <p:sp>
        <p:nvSpPr>
          <p:cNvPr id="15" name="Rectangle 14"/>
          <p:cNvSpPr/>
          <p:nvPr/>
        </p:nvSpPr>
        <p:spPr>
          <a:xfrm>
            <a:off x="3877056"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oniepointng__DdlXi7DOt5E.jpg">
            <a:hlinkClick r:id="rId8"/>
          </p:cNvPr>
          <p:cNvPicPr>
            <a:picLocks noChangeAspect="1"/>
          </p:cNvPicPr>
          <p:nvPr/>
        </p:nvPicPr>
        <p:blipFill>
          <a:blip r:embed="rId7"/>
          <a:stretch>
            <a:fillRect/>
          </a:stretch>
        </p:blipFill>
        <p:spPr>
          <a:xfrm>
            <a:off x="4066489" y="1463040"/>
            <a:ext cx="1129893" cy="2011680"/>
          </a:xfrm>
          <a:prstGeom prst="rect">
            <a:avLst/>
          </a:prstGeom>
        </p:spPr>
      </p:pic>
      <p:sp>
        <p:nvSpPr>
          <p:cNvPr id="17" name="TextBox 16"/>
          <p:cNvSpPr txBox="1"/>
          <p:nvPr/>
        </p:nvSpPr>
        <p:spPr>
          <a:xfrm>
            <a:off x="3831336"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Moniepoint × créateur · 11 250</a:t>
            </a:r>
          </a:p>
        </p:txBody>
      </p:sp>
      <p:sp>
        <p:nvSpPr>
          <p:cNvPr id="18" name="Rectangle 17"/>
          <p:cNvSpPr/>
          <p:nvPr/>
        </p:nvSpPr>
        <p:spPr>
          <a:xfrm>
            <a:off x="5541264"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gtbank__DerzvackZBb.jpg">
            <a:hlinkClick r:id="rId10"/>
          </p:cNvPr>
          <p:cNvPicPr>
            <a:picLocks noChangeAspect="1"/>
          </p:cNvPicPr>
          <p:nvPr/>
        </p:nvPicPr>
        <p:blipFill>
          <a:blip r:embed="rId9"/>
          <a:stretch>
            <a:fillRect/>
          </a:stretch>
        </p:blipFill>
        <p:spPr>
          <a:xfrm>
            <a:off x="5541264" y="1463040"/>
            <a:ext cx="1508760" cy="2011680"/>
          </a:xfrm>
          <a:prstGeom prst="rect">
            <a:avLst/>
          </a:prstGeom>
        </p:spPr>
      </p:pic>
      <p:sp>
        <p:nvSpPr>
          <p:cNvPr id="20" name="TextBox 19"/>
          <p:cNvSpPr txBox="1"/>
          <p:nvPr/>
        </p:nvSpPr>
        <p:spPr>
          <a:xfrm>
            <a:off x="5495544"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GTBank · 738</a:t>
            </a:r>
          </a:p>
        </p:txBody>
      </p:sp>
      <p:sp>
        <p:nvSpPr>
          <p:cNvPr id="21" name="TextBox 20"/>
          <p:cNvSpPr txBox="1"/>
          <p:nvPr/>
        </p:nvSpPr>
        <p:spPr>
          <a:xfrm>
            <a:off x="548640" y="4069080"/>
            <a:ext cx="6675120" cy="237744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Visuels de marque</a:t>
            </a:r>
          </a:p>
          <a:p>
            <a:pPr algn="l">
              <a:lnSpc>
                <a:spcPct val="110000"/>
              </a:lnSpc>
              <a:spcAft>
                <a:spcPts val="900"/>
              </a:spcAft>
            </a:pPr>
            <a:r>
              <a:rPr sz="1100" b="0">
                <a:solidFill>
                  <a:srgbClr val="2B2A35"/>
                </a:solidFill>
                <a:latin typeface="Work Sans"/>
              </a:rPr>
              <a:t>Chowdeck assume des visuels saturés (vert, jaune, rouge), illustrés, avec un code promo bien visible. MTN joue ses 25 ans et le football féminin (Flamingos), en jaune.</a:t>
            </a:r>
          </a:p>
          <a:p>
            <a:pPr algn="l">
              <a:lnSpc>
                <a:spcPct val="110000"/>
              </a:lnSpc>
              <a:spcAft>
                <a:spcPts val="100"/>
              </a:spcAft>
            </a:pPr>
            <a:r>
              <a:rPr sz="1200" b="1">
                <a:solidFill>
                  <a:srgbClr val="232754"/>
                </a:solidFill>
                <a:latin typeface="Work Sans"/>
              </a:rPr>
              <a:t>Vidéos</a:t>
            </a:r>
          </a:p>
          <a:p>
            <a:pPr algn="l">
              <a:lnSpc>
                <a:spcPct val="110000"/>
              </a:lnSpc>
              <a:spcAft>
                <a:spcPts val="900"/>
              </a:spcAft>
            </a:pPr>
            <a:r>
              <a:rPr sz="1100" b="0">
                <a:solidFill>
                  <a:srgbClr val="2B2A35"/>
                </a:solidFill>
                <a:latin typeface="Work Sans"/>
              </a:rPr>
              <a:t>Les créateurs font le score : sketchs en pidgin pour Chowdeck, vidéos sur l'achat d'actions de la raffinerie Dangote pour Moniepoint.</a:t>
            </a:r>
          </a:p>
        </p:txBody>
      </p:sp>
      <p:sp>
        <p:nvSpPr>
          <p:cNvPr id="22" name="Rectangle 21"/>
          <p:cNvSpPr/>
          <p:nvPr/>
        </p:nvSpPr>
        <p:spPr>
          <a:xfrm>
            <a:off x="7498079" y="1463040"/>
            <a:ext cx="4142232" cy="484632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0" y="1600200"/>
            <a:ext cx="3840480" cy="466344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Chiffres clés</a:t>
            </a:r>
          </a:p>
          <a:p>
            <a:pPr algn="l">
              <a:lnSpc>
                <a:spcPct val="110000"/>
              </a:lnSpc>
              <a:spcAft>
                <a:spcPts val="900"/>
              </a:spcAft>
            </a:pPr>
            <a:r>
              <a:rPr sz="1100" b="0">
                <a:solidFill>
                  <a:srgbClr val="2B2A35"/>
                </a:solidFill>
                <a:latin typeface="Work Sans"/>
              </a:rPr>
              <a:t>Chowdeck : 38 000 abonnés et 372 j'aime en médiane, autant que des comptes 20 fois plus gros. MTN Nigeria : 822 000 abonnés, 57 j'aime en médiane.</a:t>
            </a:r>
          </a:p>
          <a:p>
            <a:pPr algn="l">
              <a:lnSpc>
                <a:spcPct val="110000"/>
              </a:lnSpc>
              <a:spcAft>
                <a:spcPts val="100"/>
              </a:spcAft>
            </a:pPr>
            <a:r>
              <a:rPr sz="1200" b="1">
                <a:solidFill>
                  <a:srgbClr val="232754"/>
                </a:solidFill>
                <a:latin typeface="Work Sans"/>
              </a:rPr>
              <a:t>GTBank</a:t>
            </a:r>
          </a:p>
          <a:p>
            <a:pPr algn="l">
              <a:lnSpc>
                <a:spcPct val="110000"/>
              </a:lnSpc>
              <a:spcAft>
                <a:spcPts val="900"/>
              </a:spcAft>
            </a:pPr>
            <a:r>
              <a:rPr sz="1100" b="0">
                <a:solidFill>
                  <a:srgbClr val="2B2A35"/>
                </a:solidFill>
                <a:latin typeface="Work Sans"/>
              </a:rPr>
              <a:t>12 vidéos sur 15 autour de son Fashion Weekend et d'artistes (#CreativesWeLove). La marque parle culture plus que banque.</a:t>
            </a:r>
          </a:p>
          <a:p>
            <a:pPr algn="l">
              <a:lnSpc>
                <a:spcPct val="110000"/>
              </a:lnSpc>
              <a:spcAft>
                <a:spcPts val="100"/>
              </a:spcAft>
            </a:pPr>
            <a:r>
              <a:rPr sz="1200" b="1">
                <a:solidFill>
                  <a:srgbClr val="232754"/>
                </a:solidFill>
                <a:latin typeface="Work Sans"/>
              </a:rPr>
              <a:t>B2B</a:t>
            </a:r>
          </a:p>
          <a:p>
            <a:pPr algn="l">
              <a:lnSpc>
                <a:spcPct val="110000"/>
              </a:lnSpc>
              <a:spcAft>
                <a:spcPts val="900"/>
              </a:spcAft>
            </a:pPr>
            <a:r>
              <a:rPr sz="1100" b="0">
                <a:solidFill>
                  <a:srgbClr val="2B2A35"/>
                </a:solidFill>
                <a:latin typeface="Work Sans"/>
              </a:rPr>
              <a:t>Paystack et Flutterwave montrent leurs équipes, leurs événements et leurs clients commerçants. Chez Paystack, la vidéo fait 248 j'aime en médiane, l'image 62.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PAYS PAR PAYS</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France : la photo produit léchée et le récit</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9</a:t>
            </a:r>
          </a:p>
        </p:txBody>
      </p:sp>
      <p:sp>
        <p:nvSpPr>
          <p:cNvPr id="9" name="Rectangle 8"/>
          <p:cNvSpPr/>
          <p:nvPr/>
        </p:nvSpPr>
        <p:spPr>
          <a:xfrm>
            <a:off x="548640"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urgerkingfr__Deg7Ys4CJLo.jpg">
            <a:hlinkClick r:id="rId4"/>
          </p:cNvPr>
          <p:cNvPicPr>
            <a:picLocks noChangeAspect="1"/>
          </p:cNvPicPr>
          <p:nvPr/>
        </p:nvPicPr>
        <p:blipFill>
          <a:blip r:embed="rId3"/>
          <a:stretch>
            <a:fillRect/>
          </a:stretch>
        </p:blipFill>
        <p:spPr>
          <a:xfrm>
            <a:off x="548640" y="1525905"/>
            <a:ext cx="1508760" cy="1885950"/>
          </a:xfrm>
          <a:prstGeom prst="rect">
            <a:avLst/>
          </a:prstGeom>
        </p:spPr>
      </p:pic>
      <p:sp>
        <p:nvSpPr>
          <p:cNvPr id="11" name="TextBox 10"/>
          <p:cNvSpPr txBox="1"/>
          <p:nvPr/>
        </p:nvSpPr>
        <p:spPr>
          <a:xfrm>
            <a:off x="502919"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Burger King · 10 145</a:t>
            </a:r>
          </a:p>
        </p:txBody>
      </p:sp>
      <p:sp>
        <p:nvSpPr>
          <p:cNvPr id="12" name="Rectangle 11"/>
          <p:cNvSpPr/>
          <p:nvPr/>
        </p:nvSpPr>
        <p:spPr>
          <a:xfrm>
            <a:off x="2212848"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octolib__Dembztyj81_.jpg">
            <a:hlinkClick r:id="rId6"/>
          </p:cNvPr>
          <p:cNvPicPr>
            <a:picLocks noChangeAspect="1"/>
          </p:cNvPicPr>
          <p:nvPr/>
        </p:nvPicPr>
        <p:blipFill>
          <a:blip r:embed="rId5"/>
          <a:stretch>
            <a:fillRect/>
          </a:stretch>
        </p:blipFill>
        <p:spPr>
          <a:xfrm>
            <a:off x="2402281" y="1463040"/>
            <a:ext cx="1129893" cy="2011680"/>
          </a:xfrm>
          <a:prstGeom prst="rect">
            <a:avLst/>
          </a:prstGeom>
        </p:spPr>
      </p:pic>
      <p:sp>
        <p:nvSpPr>
          <p:cNvPr id="14" name="TextBox 13"/>
          <p:cNvSpPr txBox="1"/>
          <p:nvPr/>
        </p:nvSpPr>
        <p:spPr>
          <a:xfrm>
            <a:off x="2167128"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Doctolib · 17 897</a:t>
            </a:r>
          </a:p>
        </p:txBody>
      </p:sp>
      <p:sp>
        <p:nvSpPr>
          <p:cNvPr id="15" name="Rectangle 14"/>
          <p:cNvSpPr/>
          <p:nvPr/>
        </p:nvSpPr>
        <p:spPr>
          <a:xfrm>
            <a:off x="3877056"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ecathlon__Dd-r7aEt8Fb.jpg">
            <a:hlinkClick r:id="rId8"/>
          </p:cNvPr>
          <p:cNvPicPr>
            <a:picLocks noChangeAspect="1"/>
          </p:cNvPicPr>
          <p:nvPr/>
        </p:nvPicPr>
        <p:blipFill>
          <a:blip r:embed="rId7"/>
          <a:stretch>
            <a:fillRect/>
          </a:stretch>
        </p:blipFill>
        <p:spPr>
          <a:xfrm>
            <a:off x="4064812" y="1463040"/>
            <a:ext cx="1133246" cy="2011680"/>
          </a:xfrm>
          <a:prstGeom prst="rect">
            <a:avLst/>
          </a:prstGeom>
        </p:spPr>
      </p:pic>
      <p:sp>
        <p:nvSpPr>
          <p:cNvPr id="17" name="TextBox 16"/>
          <p:cNvSpPr txBox="1"/>
          <p:nvPr/>
        </p:nvSpPr>
        <p:spPr>
          <a:xfrm>
            <a:off x="3831336"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Decathlon × créateur · 29 234</a:t>
            </a:r>
          </a:p>
        </p:txBody>
      </p:sp>
      <p:sp>
        <p:nvSpPr>
          <p:cNvPr id="18" name="Rectangle 17"/>
          <p:cNvSpPr/>
          <p:nvPr/>
        </p:nvSpPr>
        <p:spPr>
          <a:xfrm>
            <a:off x="5541264"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backmarket__De1qWPgN1gV.jpg">
            <a:hlinkClick r:id="rId10"/>
          </p:cNvPr>
          <p:cNvPicPr>
            <a:picLocks noChangeAspect="1"/>
          </p:cNvPicPr>
          <p:nvPr/>
        </p:nvPicPr>
        <p:blipFill>
          <a:blip r:embed="rId9"/>
          <a:stretch>
            <a:fillRect/>
          </a:stretch>
        </p:blipFill>
        <p:spPr>
          <a:xfrm>
            <a:off x="5729020" y="1463040"/>
            <a:ext cx="1133246" cy="2011680"/>
          </a:xfrm>
          <a:prstGeom prst="rect">
            <a:avLst/>
          </a:prstGeom>
        </p:spPr>
      </p:pic>
      <p:sp>
        <p:nvSpPr>
          <p:cNvPr id="20" name="TextBox 19"/>
          <p:cNvSpPr txBox="1"/>
          <p:nvPr/>
        </p:nvSpPr>
        <p:spPr>
          <a:xfrm>
            <a:off x="5495544"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Back Market × créatrice · 23 443</a:t>
            </a:r>
          </a:p>
        </p:txBody>
      </p:sp>
      <p:sp>
        <p:nvSpPr>
          <p:cNvPr id="21" name="TextBox 20"/>
          <p:cNvSpPr txBox="1"/>
          <p:nvPr/>
        </p:nvSpPr>
        <p:spPr>
          <a:xfrm>
            <a:off x="548640" y="4069080"/>
            <a:ext cx="6675120" cy="237744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Visuels de marque</a:t>
            </a:r>
          </a:p>
          <a:p>
            <a:pPr algn="l">
              <a:lnSpc>
                <a:spcPct val="110000"/>
              </a:lnSpc>
              <a:spcAft>
                <a:spcPts val="900"/>
              </a:spcAft>
            </a:pPr>
            <a:r>
              <a:rPr sz="1100" b="0">
                <a:solidFill>
                  <a:srgbClr val="2B2A35"/>
                </a:solidFill>
                <a:latin typeface="Work Sans"/>
              </a:rPr>
              <a:t>Burger King : une photo produit très travaillée et un titre court à jeu de mots (« Froid dedans, chaud devant »). Médiane de 6 134 j'aime, la plus haute du panel.</a:t>
            </a:r>
          </a:p>
          <a:p>
            <a:pPr algn="l">
              <a:lnSpc>
                <a:spcPct val="110000"/>
              </a:lnSpc>
              <a:spcAft>
                <a:spcPts val="100"/>
              </a:spcAft>
            </a:pPr>
            <a:r>
              <a:rPr sz="1200" b="1">
                <a:solidFill>
                  <a:srgbClr val="232754"/>
                </a:solidFill>
                <a:latin typeface="Work Sans"/>
              </a:rPr>
              <a:t>Vidéos</a:t>
            </a:r>
          </a:p>
          <a:p>
            <a:pPr algn="l">
              <a:lnSpc>
                <a:spcPct val="110000"/>
              </a:lnSpc>
              <a:spcAft>
                <a:spcPts val="900"/>
              </a:spcAft>
            </a:pPr>
            <a:r>
              <a:rPr sz="1100" b="0">
                <a:solidFill>
                  <a:srgbClr val="2B2A35"/>
                </a:solidFill>
                <a:latin typeface="Work Sans"/>
              </a:rPr>
              <a:t>Doctolib raconte l'histoire de la médecine et des patients : ses vidéos font 14 033 j'aime en médiane, ses carrousels 114.</a:t>
            </a:r>
          </a:p>
        </p:txBody>
      </p:sp>
      <p:sp>
        <p:nvSpPr>
          <p:cNvPr id="22" name="Rectangle 21"/>
          <p:cNvSpPr/>
          <p:nvPr/>
        </p:nvSpPr>
        <p:spPr>
          <a:xfrm>
            <a:off x="7498079" y="1463040"/>
            <a:ext cx="4142232" cy="484632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0" y="1600200"/>
            <a:ext cx="3840480" cy="466344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Créateurs</a:t>
            </a:r>
          </a:p>
          <a:p>
            <a:pPr algn="l">
              <a:lnSpc>
                <a:spcPct val="110000"/>
              </a:lnSpc>
              <a:spcAft>
                <a:spcPts val="900"/>
              </a:spcAft>
            </a:pPr>
            <a:r>
              <a:rPr sz="1100" b="0">
                <a:solidFill>
                  <a:srgbClr val="2B2A35"/>
                </a:solidFill>
                <a:latin typeface="Work Sans"/>
              </a:rPr>
              <a:t>Decathlon (6 posts sur 15) et Back Market (4 sur 15) publient avec des créateurs, qui font leurs meilleurs scores.</a:t>
            </a:r>
          </a:p>
          <a:p>
            <a:pPr algn="l">
              <a:lnSpc>
                <a:spcPct val="110000"/>
              </a:lnSpc>
              <a:spcAft>
                <a:spcPts val="100"/>
              </a:spcAft>
            </a:pPr>
            <a:r>
              <a:rPr sz="1200" b="1">
                <a:solidFill>
                  <a:srgbClr val="232754"/>
                </a:solidFill>
                <a:latin typeface="Work Sans"/>
              </a:rPr>
              <a:t>B2B</a:t>
            </a:r>
          </a:p>
          <a:p>
            <a:pPr algn="l">
              <a:lnSpc>
                <a:spcPct val="110000"/>
              </a:lnSpc>
              <a:spcAft>
                <a:spcPts val="900"/>
              </a:spcAft>
            </a:pPr>
            <a:r>
              <a:rPr sz="1100" b="0">
                <a:solidFill>
                  <a:srgbClr val="2B2A35"/>
                </a:solidFill>
                <a:latin typeface="Work Sans"/>
              </a:rPr>
              <a:t>Qonto : fond noir, grosse typographie, phrases d'entrepreneur. Payfit : des salariés face caméra et des créateurs, dont une vidéo humoristique à 18 979 j'aime sur un compte de 8 000 abonnés.</a:t>
            </a:r>
          </a:p>
          <a:p>
            <a:pPr algn="l">
              <a:lnSpc>
                <a:spcPct val="110000"/>
              </a:lnSpc>
              <a:spcAft>
                <a:spcPts val="100"/>
              </a:spcAft>
            </a:pPr>
            <a:r>
              <a:rPr sz="1200" b="1">
                <a:solidFill>
                  <a:srgbClr val="232754"/>
                </a:solidFill>
                <a:latin typeface="Work Sans"/>
              </a:rPr>
              <a:t>À retenir</a:t>
            </a:r>
          </a:p>
          <a:p>
            <a:pPr algn="l">
              <a:lnSpc>
                <a:spcPct val="110000"/>
              </a:lnSpc>
              <a:spcAft>
                <a:spcPts val="900"/>
              </a:spcAft>
            </a:pPr>
            <a:r>
              <a:rPr sz="1100" b="0">
                <a:solidFill>
                  <a:srgbClr val="2B2A35"/>
                </a:solidFill>
                <a:latin typeface="Work Sans"/>
              </a:rPr>
              <a:t>En France, même le B2B fait de l'humour et du face caméra.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PAYS PAR PAYS</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Côte d'Ivoire : beaucoup de vidéo, peu de créateurs</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10</a:t>
            </a:r>
          </a:p>
        </p:txBody>
      </p:sp>
      <p:sp>
        <p:nvSpPr>
          <p:cNvPr id="9" name="Rectangle 8"/>
          <p:cNvSpPr/>
          <p:nvPr/>
        </p:nvSpPr>
        <p:spPr>
          <a:xfrm>
            <a:off x="548640"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wave.ci__DejqRPXFuW2.jpg">
            <a:hlinkClick r:id="rId4"/>
          </p:cNvPr>
          <p:cNvPicPr>
            <a:picLocks noChangeAspect="1"/>
          </p:cNvPicPr>
          <p:nvPr/>
        </p:nvPicPr>
        <p:blipFill>
          <a:blip r:embed="rId3"/>
          <a:stretch>
            <a:fillRect/>
          </a:stretch>
        </p:blipFill>
        <p:spPr>
          <a:xfrm>
            <a:off x="548640" y="1525905"/>
            <a:ext cx="1508760" cy="1885950"/>
          </a:xfrm>
          <a:prstGeom prst="rect">
            <a:avLst/>
          </a:prstGeom>
        </p:spPr>
      </p:pic>
      <p:sp>
        <p:nvSpPr>
          <p:cNvPr id="11" name="TextBox 10"/>
          <p:cNvSpPr txBox="1"/>
          <p:nvPr/>
        </p:nvSpPr>
        <p:spPr>
          <a:xfrm>
            <a:off x="502919"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Wave CI · 563</a:t>
            </a:r>
          </a:p>
        </p:txBody>
      </p:sp>
      <p:sp>
        <p:nvSpPr>
          <p:cNvPr id="12" name="Rectangle 11"/>
          <p:cNvSpPr/>
          <p:nvPr/>
        </p:nvSpPr>
        <p:spPr>
          <a:xfrm>
            <a:off x="2212848"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orangecotedivoire__DeOYnUtIUQS.jpg">
            <a:hlinkClick r:id="rId6"/>
          </p:cNvPr>
          <p:cNvPicPr>
            <a:picLocks noChangeAspect="1"/>
          </p:cNvPicPr>
          <p:nvPr/>
        </p:nvPicPr>
        <p:blipFill>
          <a:blip r:embed="rId5"/>
          <a:stretch>
            <a:fillRect/>
          </a:stretch>
        </p:blipFill>
        <p:spPr>
          <a:xfrm>
            <a:off x="2402281" y="1463040"/>
            <a:ext cx="1129893" cy="2011680"/>
          </a:xfrm>
          <a:prstGeom prst="rect">
            <a:avLst/>
          </a:prstGeom>
        </p:spPr>
      </p:pic>
      <p:sp>
        <p:nvSpPr>
          <p:cNvPr id="14" name="TextBox 13"/>
          <p:cNvSpPr txBox="1"/>
          <p:nvPr/>
        </p:nvSpPr>
        <p:spPr>
          <a:xfrm>
            <a:off x="2167128"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Orange CI · 466</a:t>
            </a:r>
          </a:p>
        </p:txBody>
      </p:sp>
      <p:sp>
        <p:nvSpPr>
          <p:cNvPr id="15" name="Rectangle 14"/>
          <p:cNvSpPr/>
          <p:nvPr/>
        </p:nvSpPr>
        <p:spPr>
          <a:xfrm>
            <a:off x="3877056"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groupeintouch__DdFLagOiKah.jpg">
            <a:hlinkClick r:id="rId8"/>
          </p:cNvPr>
          <p:cNvPicPr>
            <a:picLocks noChangeAspect="1"/>
          </p:cNvPicPr>
          <p:nvPr/>
        </p:nvPicPr>
        <p:blipFill>
          <a:blip r:embed="rId7"/>
          <a:stretch>
            <a:fillRect/>
          </a:stretch>
        </p:blipFill>
        <p:spPr>
          <a:xfrm>
            <a:off x="4066489" y="1463040"/>
            <a:ext cx="1129893" cy="2011680"/>
          </a:xfrm>
          <a:prstGeom prst="rect">
            <a:avLst/>
          </a:prstGeom>
        </p:spPr>
      </p:pic>
      <p:sp>
        <p:nvSpPr>
          <p:cNvPr id="17" name="TextBox 16"/>
          <p:cNvSpPr txBox="1"/>
          <p:nvPr/>
        </p:nvSpPr>
        <p:spPr>
          <a:xfrm>
            <a:off x="3831336"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InTouch · 337</a:t>
            </a:r>
          </a:p>
        </p:txBody>
      </p:sp>
      <p:sp>
        <p:nvSpPr>
          <p:cNvPr id="18" name="Rectangle 17"/>
          <p:cNvSpPr/>
          <p:nvPr/>
        </p:nvSpPr>
        <p:spPr>
          <a:xfrm>
            <a:off x="5541264"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djamoci__DeJ29qYuopG.jpg">
            <a:hlinkClick r:id="rId10"/>
          </p:cNvPr>
          <p:cNvPicPr>
            <a:picLocks noChangeAspect="1"/>
          </p:cNvPicPr>
          <p:nvPr/>
        </p:nvPicPr>
        <p:blipFill>
          <a:blip r:embed="rId9"/>
          <a:stretch>
            <a:fillRect/>
          </a:stretch>
        </p:blipFill>
        <p:spPr>
          <a:xfrm>
            <a:off x="5730697" y="1463040"/>
            <a:ext cx="1129893" cy="2011680"/>
          </a:xfrm>
          <a:prstGeom prst="rect">
            <a:avLst/>
          </a:prstGeom>
        </p:spPr>
      </p:pic>
      <p:sp>
        <p:nvSpPr>
          <p:cNvPr id="20" name="TextBox 19"/>
          <p:cNvSpPr txBox="1"/>
          <p:nvPr/>
        </p:nvSpPr>
        <p:spPr>
          <a:xfrm>
            <a:off x="5495544"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Djamo · 66</a:t>
            </a:r>
          </a:p>
        </p:txBody>
      </p:sp>
      <p:sp>
        <p:nvSpPr>
          <p:cNvPr id="21" name="TextBox 20"/>
          <p:cNvSpPr txBox="1"/>
          <p:nvPr/>
        </p:nvSpPr>
        <p:spPr>
          <a:xfrm>
            <a:off x="548640" y="4069080"/>
            <a:ext cx="6675120" cy="237744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Visuels de marque</a:t>
            </a:r>
          </a:p>
          <a:p>
            <a:pPr algn="l">
              <a:lnSpc>
                <a:spcPct val="110000"/>
              </a:lnSpc>
              <a:spcAft>
                <a:spcPts val="900"/>
              </a:spcAft>
            </a:pPr>
            <a:r>
              <a:rPr sz="1100" b="0">
                <a:solidFill>
                  <a:srgbClr val="2B2A35"/>
                </a:solidFill>
                <a:latin typeface="Work Sans"/>
              </a:rPr>
              <a:t>Wave CI garde une grille très reconnaissable : bleu ciel, pingouin, messages de clients mis en forme, français ivoirien. Moov Africa publie des affiches promo et des jeux-concours très chargés.</a:t>
            </a:r>
          </a:p>
          <a:p>
            <a:pPr algn="l">
              <a:lnSpc>
                <a:spcPct val="110000"/>
              </a:lnSpc>
              <a:spcAft>
                <a:spcPts val="100"/>
              </a:spcAft>
            </a:pPr>
            <a:r>
              <a:rPr sz="1200" b="1">
                <a:solidFill>
                  <a:srgbClr val="232754"/>
                </a:solidFill>
                <a:latin typeface="Work Sans"/>
              </a:rPr>
              <a:t>Vidéos</a:t>
            </a:r>
          </a:p>
          <a:p>
            <a:pPr algn="l">
              <a:lnSpc>
                <a:spcPct val="110000"/>
              </a:lnSpc>
              <a:spcAft>
                <a:spcPts val="900"/>
              </a:spcAft>
            </a:pPr>
            <a:r>
              <a:rPr sz="1100" b="0">
                <a:solidFill>
                  <a:srgbClr val="2B2A35"/>
                </a:solidFill>
                <a:latin typeface="Work Sans"/>
              </a:rPr>
              <a:t>Orange CI : 14 vidéos sur 15, dont « My Customer My Boss », ses dirigeants sur le terrain avec les clients (466 j'aime, son meilleur score).</a:t>
            </a:r>
          </a:p>
        </p:txBody>
      </p:sp>
      <p:sp>
        <p:nvSpPr>
          <p:cNvPr id="22" name="Rectangle 21"/>
          <p:cNvSpPr/>
          <p:nvPr/>
        </p:nvSpPr>
        <p:spPr>
          <a:xfrm>
            <a:off x="7498079" y="1463040"/>
            <a:ext cx="4142232" cy="484632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0" y="1600200"/>
            <a:ext cx="3840480" cy="466344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Chiffres clés</a:t>
            </a:r>
          </a:p>
          <a:p>
            <a:pPr algn="l">
              <a:lnSpc>
                <a:spcPct val="110000"/>
              </a:lnSpc>
              <a:spcAft>
                <a:spcPts val="900"/>
              </a:spcAft>
            </a:pPr>
            <a:r>
              <a:rPr sz="1100" b="0">
                <a:solidFill>
                  <a:srgbClr val="2B2A35"/>
                </a:solidFill>
                <a:latin typeface="Work Sans"/>
              </a:rPr>
              <a:t>Engagement faible partout : Orange CI 70 j'aime en médiane pour 231 000 abonnés, Moov Africa 11 pour 241 000, Djamo 15 pour 25 000.</a:t>
            </a:r>
          </a:p>
          <a:p>
            <a:pPr algn="l">
              <a:lnSpc>
                <a:spcPct val="110000"/>
              </a:lnSpc>
              <a:spcAft>
                <a:spcPts val="100"/>
              </a:spcAft>
            </a:pPr>
            <a:r>
              <a:rPr sz="1200" b="1">
                <a:solidFill>
                  <a:srgbClr val="232754"/>
                </a:solidFill>
                <a:latin typeface="Work Sans"/>
              </a:rPr>
              <a:t>B2B</a:t>
            </a:r>
          </a:p>
          <a:p>
            <a:pPr algn="l">
              <a:lnSpc>
                <a:spcPct val="110000"/>
              </a:lnSpc>
              <a:spcAft>
                <a:spcPts val="900"/>
              </a:spcAft>
            </a:pPr>
            <a:r>
              <a:rPr sz="1100" b="0">
                <a:solidFill>
                  <a:srgbClr val="2B2A35"/>
                </a:solidFill>
                <a:latin typeface="Work Sans"/>
              </a:rPr>
              <a:t>Groupe InTouch (groupe sénégalais) fait des sketchs de bureau en vidéo : ses vidéos font 70 j'aime en médiane contre 24 pour ses images.</a:t>
            </a:r>
          </a:p>
          <a:p>
            <a:pPr algn="l">
              <a:lnSpc>
                <a:spcPct val="110000"/>
              </a:lnSpc>
              <a:spcAft>
                <a:spcPts val="100"/>
              </a:spcAft>
            </a:pPr>
            <a:r>
              <a:rPr sz="1200" b="1">
                <a:solidFill>
                  <a:srgbClr val="232754"/>
                </a:solidFill>
                <a:latin typeface="Work Sans"/>
              </a:rPr>
              <a:t>L'occasion</a:t>
            </a:r>
          </a:p>
          <a:p>
            <a:pPr algn="l">
              <a:lnSpc>
                <a:spcPct val="110000"/>
              </a:lnSpc>
              <a:spcAft>
                <a:spcPts val="900"/>
              </a:spcAft>
            </a:pPr>
            <a:r>
              <a:rPr sz="1100" b="0">
                <a:solidFill>
                  <a:srgbClr val="2B2A35"/>
                </a:solidFill>
                <a:latin typeface="Work Sans"/>
              </a:rPr>
              <a:t>Les créateurs sont peu utilisés (7 % des posts) alors qu'ils sont le premier levier ailleurs.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PAYS PAR PAYS</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Sénégal : le wolof et la vidéo du quotidien</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11</a:t>
            </a:r>
          </a:p>
        </p:txBody>
      </p:sp>
      <p:sp>
        <p:nvSpPr>
          <p:cNvPr id="9" name="Rectangle 8"/>
          <p:cNvSpPr/>
          <p:nvPr/>
        </p:nvSpPr>
        <p:spPr>
          <a:xfrm>
            <a:off x="548640"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yas_senegal__DehymkQkuHY.jpg">
            <a:hlinkClick r:id="rId4"/>
          </p:cNvPr>
          <p:cNvPicPr>
            <a:picLocks noChangeAspect="1"/>
          </p:cNvPicPr>
          <p:nvPr/>
        </p:nvPicPr>
        <p:blipFill>
          <a:blip r:embed="rId3"/>
          <a:stretch>
            <a:fillRect/>
          </a:stretch>
        </p:blipFill>
        <p:spPr>
          <a:xfrm>
            <a:off x="548640" y="2043912"/>
            <a:ext cx="1508760" cy="849934"/>
          </a:xfrm>
          <a:prstGeom prst="rect">
            <a:avLst/>
          </a:prstGeom>
        </p:spPr>
      </p:pic>
      <p:sp>
        <p:nvSpPr>
          <p:cNvPr id="11" name="TextBox 10"/>
          <p:cNvSpPr txBox="1"/>
          <p:nvPr/>
        </p:nvSpPr>
        <p:spPr>
          <a:xfrm>
            <a:off x="502919"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Yas · 7 964</a:t>
            </a:r>
          </a:p>
        </p:txBody>
      </p:sp>
      <p:sp>
        <p:nvSpPr>
          <p:cNvPr id="12" name="Rectangle 11"/>
          <p:cNvSpPr/>
          <p:nvPr/>
        </p:nvSpPr>
        <p:spPr>
          <a:xfrm>
            <a:off x="2212848"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wavesenegal__DerSAE2uPYr.jpg">
            <a:hlinkClick r:id="rId6"/>
          </p:cNvPr>
          <p:cNvPicPr>
            <a:picLocks noChangeAspect="1"/>
          </p:cNvPicPr>
          <p:nvPr/>
        </p:nvPicPr>
        <p:blipFill>
          <a:blip r:embed="rId5"/>
          <a:stretch>
            <a:fillRect/>
          </a:stretch>
        </p:blipFill>
        <p:spPr>
          <a:xfrm>
            <a:off x="2402281" y="1463040"/>
            <a:ext cx="1129893" cy="2011680"/>
          </a:xfrm>
          <a:prstGeom prst="rect">
            <a:avLst/>
          </a:prstGeom>
        </p:spPr>
      </p:pic>
      <p:sp>
        <p:nvSpPr>
          <p:cNvPr id="14" name="TextBox 13"/>
          <p:cNvSpPr txBox="1"/>
          <p:nvPr/>
        </p:nvSpPr>
        <p:spPr>
          <a:xfrm>
            <a:off x="2167128"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Wave Sénégal · 7 663</a:t>
            </a:r>
          </a:p>
        </p:txBody>
      </p:sp>
      <p:sp>
        <p:nvSpPr>
          <p:cNvPr id="15" name="Rectangle 14"/>
          <p:cNvSpPr/>
          <p:nvPr/>
        </p:nvSpPr>
        <p:spPr>
          <a:xfrm>
            <a:off x="3877056"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orange_senegal__DexFxmgILVC.jpg">
            <a:hlinkClick r:id="rId8"/>
          </p:cNvPr>
          <p:cNvPicPr>
            <a:picLocks noChangeAspect="1"/>
          </p:cNvPicPr>
          <p:nvPr/>
        </p:nvPicPr>
        <p:blipFill>
          <a:blip r:embed="rId7"/>
          <a:stretch>
            <a:fillRect/>
          </a:stretch>
        </p:blipFill>
        <p:spPr>
          <a:xfrm>
            <a:off x="4066489" y="1463040"/>
            <a:ext cx="1129893" cy="2011680"/>
          </a:xfrm>
          <a:prstGeom prst="rect">
            <a:avLst/>
          </a:prstGeom>
        </p:spPr>
      </p:pic>
      <p:sp>
        <p:nvSpPr>
          <p:cNvPr id="17" name="TextBox 16"/>
          <p:cNvSpPr txBox="1"/>
          <p:nvPr/>
        </p:nvSpPr>
        <p:spPr>
          <a:xfrm>
            <a:off x="3831336"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Orange SN × créateur · 2 440</a:t>
            </a:r>
          </a:p>
        </p:txBody>
      </p:sp>
      <p:sp>
        <p:nvSpPr>
          <p:cNvPr id="18" name="Rectangle 17"/>
          <p:cNvSpPr/>
          <p:nvPr/>
        </p:nvSpPr>
        <p:spPr>
          <a:xfrm>
            <a:off x="5541264" y="1463040"/>
            <a:ext cx="1508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expresso_senegal__DerRC9iIf3L.jpg">
            <a:hlinkClick r:id="rId10"/>
          </p:cNvPr>
          <p:cNvPicPr>
            <a:picLocks noChangeAspect="1"/>
          </p:cNvPicPr>
          <p:nvPr/>
        </p:nvPicPr>
        <p:blipFill>
          <a:blip r:embed="rId9"/>
          <a:stretch>
            <a:fillRect/>
          </a:stretch>
        </p:blipFill>
        <p:spPr>
          <a:xfrm>
            <a:off x="5541264" y="1537546"/>
            <a:ext cx="1508760" cy="1862666"/>
          </a:xfrm>
          <a:prstGeom prst="rect">
            <a:avLst/>
          </a:prstGeom>
        </p:spPr>
      </p:pic>
      <p:sp>
        <p:nvSpPr>
          <p:cNvPr id="20" name="TextBox 19"/>
          <p:cNvSpPr txBox="1"/>
          <p:nvPr/>
        </p:nvSpPr>
        <p:spPr>
          <a:xfrm>
            <a:off x="5495544" y="3502152"/>
            <a:ext cx="160020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Expresso · 15</a:t>
            </a:r>
          </a:p>
        </p:txBody>
      </p:sp>
      <p:sp>
        <p:nvSpPr>
          <p:cNvPr id="21" name="TextBox 20"/>
          <p:cNvSpPr txBox="1"/>
          <p:nvPr/>
        </p:nvSpPr>
        <p:spPr>
          <a:xfrm>
            <a:off x="548640" y="4069080"/>
            <a:ext cx="6675120" cy="237744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Visuels de marque</a:t>
            </a:r>
          </a:p>
          <a:p>
            <a:pPr algn="l">
              <a:lnSpc>
                <a:spcPct val="110000"/>
              </a:lnSpc>
              <a:spcAft>
                <a:spcPts val="900"/>
              </a:spcAft>
            </a:pPr>
            <a:r>
              <a:rPr sz="1100" b="0">
                <a:solidFill>
                  <a:srgbClr val="2B2A35"/>
                </a:solidFill>
                <a:latin typeface="Work Sans"/>
              </a:rPr>
              <a:t>Expresso (12 images sur 15) et Orange Sénégal publient des affiches promo pleines de chiffres (« 600 % »). Résultat : 6 et 19 j'aime en médiane.</a:t>
            </a:r>
          </a:p>
          <a:p>
            <a:pPr algn="l">
              <a:lnSpc>
                <a:spcPct val="110000"/>
              </a:lnSpc>
              <a:spcAft>
                <a:spcPts val="100"/>
              </a:spcAft>
            </a:pPr>
            <a:r>
              <a:rPr sz="1200" b="1">
                <a:solidFill>
                  <a:srgbClr val="232754"/>
                </a:solidFill>
                <a:latin typeface="Work Sans"/>
              </a:rPr>
              <a:t>Vidéos</a:t>
            </a:r>
          </a:p>
          <a:p>
            <a:pPr algn="l">
              <a:lnSpc>
                <a:spcPct val="110000"/>
              </a:lnSpc>
              <a:spcAft>
                <a:spcPts val="900"/>
              </a:spcAft>
            </a:pPr>
            <a:r>
              <a:rPr sz="1100" b="0">
                <a:solidFill>
                  <a:srgbClr val="2B2A35"/>
                </a:solidFill>
                <a:latin typeface="Work Sans"/>
              </a:rPr>
              <a:t>Yas et Wave Sénégal tournent des scènes de vie en wolof. Yas : 1 748 j'aime en médiane pour ses vidéos, 154 pour ses images.</a:t>
            </a:r>
          </a:p>
        </p:txBody>
      </p:sp>
      <p:sp>
        <p:nvSpPr>
          <p:cNvPr id="22" name="Rectangle 21"/>
          <p:cNvSpPr/>
          <p:nvPr/>
        </p:nvSpPr>
        <p:spPr>
          <a:xfrm>
            <a:off x="7498079" y="1463040"/>
            <a:ext cx="4142232" cy="484632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0" y="1600200"/>
            <a:ext cx="3840480" cy="466344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Créateurs</a:t>
            </a:r>
          </a:p>
          <a:p>
            <a:pPr algn="l">
              <a:lnSpc>
                <a:spcPct val="110000"/>
              </a:lnSpc>
              <a:spcAft>
                <a:spcPts val="900"/>
              </a:spcAft>
            </a:pPr>
            <a:r>
              <a:rPr sz="1100" b="0">
                <a:solidFill>
                  <a:srgbClr val="2B2A35"/>
                </a:solidFill>
                <a:latin typeface="Work Sans"/>
              </a:rPr>
              <a:t>Yas publie 9 posts sur 15 avec des créateurs. Wave Sénégal en fait ses meilleurs scores (jusqu'à 9 313).</a:t>
            </a:r>
          </a:p>
          <a:p>
            <a:pPr algn="l">
              <a:lnSpc>
                <a:spcPct val="110000"/>
              </a:lnSpc>
              <a:spcAft>
                <a:spcPts val="100"/>
              </a:spcAft>
            </a:pPr>
            <a:r>
              <a:rPr sz="1200" b="1">
                <a:solidFill>
                  <a:srgbClr val="232754"/>
                </a:solidFill>
                <a:latin typeface="Work Sans"/>
              </a:rPr>
              <a:t>B2B</a:t>
            </a:r>
          </a:p>
          <a:p>
            <a:pPr algn="l">
              <a:lnSpc>
                <a:spcPct val="110000"/>
              </a:lnSpc>
              <a:spcAft>
                <a:spcPts val="900"/>
              </a:spcAft>
            </a:pPr>
            <a:r>
              <a:rPr sz="1100" b="0">
                <a:solidFill>
                  <a:srgbClr val="2B2A35"/>
                </a:solidFill>
                <a:latin typeface="Work Sans"/>
              </a:rPr>
              <a:t>PayDunya : affiches d'événement et photos de salle. 4 j'aime en médiane pour 2 500 abonnés.</a:t>
            </a:r>
          </a:p>
          <a:p>
            <a:pPr algn="l">
              <a:lnSpc>
                <a:spcPct val="110000"/>
              </a:lnSpc>
              <a:spcAft>
                <a:spcPts val="100"/>
              </a:spcAft>
            </a:pPr>
            <a:r>
              <a:rPr sz="1200" b="1">
                <a:solidFill>
                  <a:srgbClr val="232754"/>
                </a:solidFill>
                <a:latin typeface="Work Sans"/>
              </a:rPr>
              <a:t>À retenir</a:t>
            </a:r>
          </a:p>
          <a:p>
            <a:pPr algn="l">
              <a:lnSpc>
                <a:spcPct val="110000"/>
              </a:lnSpc>
              <a:spcAft>
                <a:spcPts val="900"/>
              </a:spcAft>
            </a:pPr>
            <a:r>
              <a:rPr sz="1100" b="0">
                <a:solidFill>
                  <a:srgbClr val="2B2A35"/>
                </a:solidFill>
                <a:latin typeface="Work Sans"/>
              </a:rPr>
              <a:t>Même marché, mêmes produits : Yas et Wave font 10 à 100 fois plus de réactions qu'Expresso en changeant de format.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B2B : INSTAGRAM ET LINKEDIN</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LinkedIn B2B : les gens et les étapes d'abord</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12</a:t>
            </a:r>
          </a:p>
        </p:txBody>
      </p:sp>
      <p:graphicFrame>
        <p:nvGraphicFramePr>
          <p:cNvPr id="9" name="Table 8"/>
          <p:cNvGraphicFramePr>
            <a:graphicFrameLocks noGrp="1"/>
          </p:cNvGraphicFramePr>
          <p:nvPr/>
        </p:nvGraphicFramePr>
        <p:xfrm>
          <a:off x="548640" y="1417320"/>
          <a:ext cx="7223760" cy="4224528"/>
        </p:xfrm>
        <a:graphic>
          <a:graphicData uri="http://schemas.openxmlformats.org/drawingml/2006/table">
            <a:tbl>
              <a:tblPr firstRow="1" bandRow="1">
                <a:tableStyleId>{5C22544A-7EE6-4342-B048-85BDC9FD1C3A}</a:tableStyleId>
              </a:tblPr>
              <a:tblGrid>
                <a:gridCol w="2103120"/>
                <a:gridCol w="1554480"/>
                <a:gridCol w="3566160"/>
              </a:tblGrid>
              <a:tr h="384048">
                <a:tc>
                  <a:txBody>
                    <a:bodyPr/>
                    <a:lstStyle/>
                    <a:p>
                      <a:r>
                        <a:rPr sz="1100" b="1">
                          <a:solidFill>
                            <a:srgbClr val="FFFFFF"/>
                          </a:solidFill>
                          <a:latin typeface="Space Grotesk"/>
                        </a:rPr>
                        <a:t>Page LinkedIn</a:t>
                      </a:r>
                    </a:p>
                  </a:txBody>
                  <a:tcPr marL="54864" marR="54864" marT="18288" marB="18288" anchor="ctr">
                    <a:solidFill>
                      <a:srgbClr val="232754"/>
                    </a:solidFill>
                  </a:tcPr>
                </a:tc>
                <a:tc>
                  <a:txBody>
                    <a:bodyPr/>
                    <a:lstStyle/>
                    <a:p>
                      <a:r>
                        <a:rPr sz="1100" b="1">
                          <a:solidFill>
                            <a:srgbClr val="FFFFFF"/>
                          </a:solidFill>
                          <a:latin typeface="Space Grotesk"/>
                        </a:rPr>
                        <a:t>Médiane réactions</a:t>
                      </a:r>
                    </a:p>
                  </a:txBody>
                  <a:tcPr marL="54864" marR="54864" marT="18288" marB="18288" anchor="ctr">
                    <a:solidFill>
                      <a:srgbClr val="232754"/>
                    </a:solidFill>
                  </a:tcPr>
                </a:tc>
                <a:tc>
                  <a:txBody>
                    <a:bodyPr/>
                    <a:lstStyle/>
                    <a:p>
                      <a:r>
                        <a:rPr sz="1100" b="1">
                          <a:solidFill>
                            <a:srgbClr val="FFFFFF"/>
                          </a:solidFill>
                          <a:latin typeface="Space Grotesk"/>
                        </a:rPr>
                        <a:t>Meilleur post</a:t>
                      </a:r>
                    </a:p>
                  </a:txBody>
                  <a:tcPr marL="54864" marR="54864" marT="18288" marB="18288" anchor="ctr">
                    <a:solidFill>
                      <a:srgbClr val="232754"/>
                    </a:solidFill>
                  </a:tcPr>
                </a:tc>
              </a:tr>
              <a:tr h="384048">
                <a:tc>
                  <a:txBody>
                    <a:bodyPr/>
                    <a:lstStyle/>
                    <a:p>
                      <a:r>
                        <a:rPr sz="1100">
                          <a:solidFill>
                            <a:srgbClr val="2B2A35"/>
                          </a:solidFill>
                          <a:latin typeface="Work Sans"/>
                        </a:rPr>
                        <a:t>Paystack (NG)</a:t>
                      </a:r>
                    </a:p>
                  </a:txBody>
                  <a:tcPr marL="54864" marR="54864" marT="18288" marB="18288" anchor="ctr">
                    <a:solidFill>
                      <a:srgbClr val="FFFFFF"/>
                    </a:solidFill>
                  </a:tcPr>
                </a:tc>
                <a:tc>
                  <a:txBody>
                    <a:bodyPr/>
                    <a:lstStyle/>
                    <a:p>
                      <a:pPr algn="ctr"/>
                      <a:r>
                        <a:rPr sz="1100">
                          <a:solidFill>
                            <a:srgbClr val="2B2A35"/>
                          </a:solidFill>
                          <a:latin typeface="Work Sans"/>
                        </a:rPr>
                        <a:t>155</a:t>
                      </a:r>
                    </a:p>
                  </a:txBody>
                  <a:tcPr marL="54864" marR="54864" marT="18288" marB="18288" anchor="ctr">
                    <a:solidFill>
                      <a:srgbClr val="FFFFFF"/>
                    </a:solidFill>
                  </a:tcPr>
                </a:tc>
                <a:tc>
                  <a:txBody>
                    <a:bodyPr/>
                    <a:lstStyle/>
                    <a:p>
                      <a:r>
                        <a:rPr sz="1100">
                          <a:solidFill>
                            <a:srgbClr val="2B2A35"/>
                          </a:solidFill>
                          <a:latin typeface="Work Sans"/>
                        </a:rPr>
                        <a:t>Lancement OpenAI × Paystack à Lagos (513)</a:t>
                      </a:r>
                    </a:p>
                  </a:txBody>
                  <a:tcPr marL="54864" marR="54864" marT="18288" marB="18288" anchor="ctr">
                    <a:solidFill>
                      <a:srgbClr val="FFFFFF"/>
                    </a:solidFill>
                  </a:tcPr>
                </a:tc>
              </a:tr>
              <a:tr h="384048">
                <a:tc>
                  <a:txBody>
                    <a:bodyPr/>
                    <a:lstStyle/>
                    <a:p>
                      <a:r>
                        <a:rPr sz="1100">
                          <a:solidFill>
                            <a:srgbClr val="2B2A35"/>
                          </a:solidFill>
                          <a:latin typeface="Work Sans"/>
                        </a:rPr>
                        <a:t>Doctolib (FR)</a:t>
                      </a:r>
                    </a:p>
                  </a:txBody>
                  <a:tcPr marL="54864" marR="54864" marT="18288" marB="18288" anchor="ctr">
                    <a:solidFill>
                      <a:srgbClr val="EEF2F6"/>
                    </a:solidFill>
                  </a:tcPr>
                </a:tc>
                <a:tc>
                  <a:txBody>
                    <a:bodyPr/>
                    <a:lstStyle/>
                    <a:p>
                      <a:pPr algn="ctr"/>
                      <a:r>
                        <a:rPr sz="1100">
                          <a:solidFill>
                            <a:srgbClr val="2B2A35"/>
                          </a:solidFill>
                          <a:latin typeface="Work Sans"/>
                        </a:rPr>
                        <a:t>153</a:t>
                      </a:r>
                    </a:p>
                  </a:txBody>
                  <a:tcPr marL="54864" marR="54864" marT="18288" marB="18288" anchor="ctr">
                    <a:solidFill>
                      <a:srgbClr val="EEF2F6"/>
                    </a:solidFill>
                  </a:tcPr>
                </a:tc>
                <a:tc>
                  <a:txBody>
                    <a:bodyPr/>
                    <a:lstStyle/>
                    <a:p>
                      <a:r>
                        <a:rPr sz="1100">
                          <a:solidFill>
                            <a:srgbClr val="2B2A35"/>
                          </a:solidFill>
                          <a:latin typeface="Work Sans"/>
                        </a:rPr>
                        <a:t>Coordination des soins (1 567)</a:t>
                      </a:r>
                    </a:p>
                  </a:txBody>
                  <a:tcPr marL="54864" marR="54864" marT="18288" marB="18288" anchor="ctr">
                    <a:solidFill>
                      <a:srgbClr val="EEF2F6"/>
                    </a:solidFill>
                  </a:tcPr>
                </a:tc>
              </a:tr>
              <a:tr h="384048">
                <a:tc>
                  <a:txBody>
                    <a:bodyPr/>
                    <a:lstStyle/>
                    <a:p>
                      <a:r>
                        <a:rPr sz="1100">
                          <a:solidFill>
                            <a:srgbClr val="2B2A35"/>
                          </a:solidFill>
                          <a:latin typeface="Work Sans"/>
                        </a:rPr>
                        <a:t>Moniepoint (NG)</a:t>
                      </a:r>
                    </a:p>
                  </a:txBody>
                  <a:tcPr marL="54864" marR="54864" marT="18288" marB="18288" anchor="ctr">
                    <a:solidFill>
                      <a:srgbClr val="FFFFFF"/>
                    </a:solidFill>
                  </a:tcPr>
                </a:tc>
                <a:tc>
                  <a:txBody>
                    <a:bodyPr/>
                    <a:lstStyle/>
                    <a:p>
                      <a:pPr algn="ctr"/>
                      <a:r>
                        <a:rPr sz="1100">
                          <a:solidFill>
                            <a:srgbClr val="2B2A35"/>
                          </a:solidFill>
                          <a:latin typeface="Work Sans"/>
                        </a:rPr>
                        <a:t>151</a:t>
                      </a:r>
                    </a:p>
                  </a:txBody>
                  <a:tcPr marL="54864" marR="54864" marT="18288" marB="18288" anchor="ctr">
                    <a:solidFill>
                      <a:srgbClr val="FFFFFF"/>
                    </a:solidFill>
                  </a:tcPr>
                </a:tc>
                <a:tc>
                  <a:txBody>
                    <a:bodyPr/>
                    <a:lstStyle/>
                    <a:p>
                      <a:r>
                        <a:rPr sz="1100">
                          <a:solidFill>
                            <a:srgbClr val="2B2A35"/>
                          </a:solidFill>
                          <a:latin typeface="Work Sans"/>
                        </a:rPr>
                        <a:t>Anniversaire du cofondateur (1 769)</a:t>
                      </a:r>
                    </a:p>
                  </a:txBody>
                  <a:tcPr marL="54864" marR="54864" marT="18288" marB="18288" anchor="ctr">
                    <a:solidFill>
                      <a:srgbClr val="FFFFFF"/>
                    </a:solidFill>
                  </a:tcPr>
                </a:tc>
              </a:tr>
              <a:tr h="384048">
                <a:tc>
                  <a:txBody>
                    <a:bodyPr/>
                    <a:lstStyle/>
                    <a:p>
                      <a:r>
                        <a:rPr sz="1100">
                          <a:solidFill>
                            <a:srgbClr val="2B2A35"/>
                          </a:solidFill>
                          <a:latin typeface="Work Sans"/>
                        </a:rPr>
                        <a:t>Flutterwave (NG)</a:t>
                      </a:r>
                    </a:p>
                  </a:txBody>
                  <a:tcPr marL="54864" marR="54864" marT="18288" marB="18288" anchor="ctr">
                    <a:solidFill>
                      <a:srgbClr val="EEF2F6"/>
                    </a:solidFill>
                  </a:tcPr>
                </a:tc>
                <a:tc>
                  <a:txBody>
                    <a:bodyPr/>
                    <a:lstStyle/>
                    <a:p>
                      <a:pPr algn="ctr"/>
                      <a:r>
                        <a:rPr sz="1100">
                          <a:solidFill>
                            <a:srgbClr val="2B2A35"/>
                          </a:solidFill>
                          <a:latin typeface="Work Sans"/>
                        </a:rPr>
                        <a:t>99</a:t>
                      </a:r>
                    </a:p>
                  </a:txBody>
                  <a:tcPr marL="54864" marR="54864" marT="18288" marB="18288" anchor="ctr">
                    <a:solidFill>
                      <a:srgbClr val="EEF2F6"/>
                    </a:solidFill>
                  </a:tcPr>
                </a:tc>
                <a:tc>
                  <a:txBody>
                    <a:bodyPr/>
                    <a:lstStyle/>
                    <a:p>
                      <a:r>
                        <a:rPr sz="1100">
                          <a:solidFill>
                            <a:srgbClr val="2B2A35"/>
                          </a:solidFill>
                          <a:latin typeface="Work Sans"/>
                        </a:rPr>
                        <a:t>Vidéo d'équipe humoristique (766)</a:t>
                      </a:r>
                    </a:p>
                  </a:txBody>
                  <a:tcPr marL="54864" marR="54864" marT="18288" marB="18288" anchor="ctr">
                    <a:solidFill>
                      <a:srgbClr val="EEF2F6"/>
                    </a:solidFill>
                  </a:tcPr>
                </a:tc>
              </a:tr>
              <a:tr h="384048">
                <a:tc>
                  <a:txBody>
                    <a:bodyPr/>
                    <a:lstStyle/>
                    <a:p>
                      <a:r>
                        <a:rPr sz="1100">
                          <a:solidFill>
                            <a:srgbClr val="2B2A35"/>
                          </a:solidFill>
                          <a:latin typeface="Work Sans"/>
                        </a:rPr>
                        <a:t>Qonto (FR)</a:t>
                      </a:r>
                    </a:p>
                  </a:txBody>
                  <a:tcPr marL="54864" marR="54864" marT="18288" marB="18288" anchor="ctr">
                    <a:solidFill>
                      <a:srgbClr val="FFFFFF"/>
                    </a:solidFill>
                  </a:tcPr>
                </a:tc>
                <a:tc>
                  <a:txBody>
                    <a:bodyPr/>
                    <a:lstStyle/>
                    <a:p>
                      <a:pPr algn="ctr"/>
                      <a:r>
                        <a:rPr sz="1100">
                          <a:solidFill>
                            <a:srgbClr val="2B2A35"/>
                          </a:solidFill>
                          <a:latin typeface="Work Sans"/>
                        </a:rPr>
                        <a:t>81</a:t>
                      </a:r>
                    </a:p>
                  </a:txBody>
                  <a:tcPr marL="54864" marR="54864" marT="18288" marB="18288" anchor="ctr">
                    <a:solidFill>
                      <a:srgbClr val="FFFFFF"/>
                    </a:solidFill>
                  </a:tcPr>
                </a:tc>
                <a:tc>
                  <a:txBody>
                    <a:bodyPr/>
                    <a:lstStyle/>
                    <a:p>
                      <a:r>
                        <a:rPr sz="1100">
                          <a:solidFill>
                            <a:srgbClr val="2B2A35"/>
                          </a:solidFill>
                          <a:latin typeface="Work Sans"/>
                        </a:rPr>
                        <a:t>Nouveau siège à Paris (344)</a:t>
                      </a:r>
                    </a:p>
                  </a:txBody>
                  <a:tcPr marL="54864" marR="54864" marT="18288" marB="18288" anchor="ctr">
                    <a:solidFill>
                      <a:srgbClr val="FFFFFF"/>
                    </a:solidFill>
                  </a:tcPr>
                </a:tc>
              </a:tr>
              <a:tr h="384048">
                <a:tc>
                  <a:txBody>
                    <a:bodyPr/>
                    <a:lstStyle/>
                    <a:p>
                      <a:r>
                        <a:rPr sz="1100">
                          <a:solidFill>
                            <a:srgbClr val="2B2A35"/>
                          </a:solidFill>
                          <a:latin typeface="Work Sans"/>
                        </a:rPr>
                        <a:t>Djamo (CI)</a:t>
                      </a:r>
                    </a:p>
                  </a:txBody>
                  <a:tcPr marL="54864" marR="54864" marT="18288" marB="18288" anchor="ctr">
                    <a:solidFill>
                      <a:srgbClr val="EEF2F6"/>
                    </a:solidFill>
                  </a:tcPr>
                </a:tc>
                <a:tc>
                  <a:txBody>
                    <a:bodyPr/>
                    <a:lstStyle/>
                    <a:p>
                      <a:pPr algn="ctr"/>
                      <a:r>
                        <a:rPr sz="1100">
                          <a:solidFill>
                            <a:srgbClr val="2B2A35"/>
                          </a:solidFill>
                          <a:latin typeface="Work Sans"/>
                        </a:rPr>
                        <a:t>68</a:t>
                      </a:r>
                    </a:p>
                  </a:txBody>
                  <a:tcPr marL="54864" marR="54864" marT="18288" marB="18288" anchor="ctr">
                    <a:solidFill>
                      <a:srgbClr val="EEF2F6"/>
                    </a:solidFill>
                  </a:tcPr>
                </a:tc>
                <a:tc>
                  <a:txBody>
                    <a:bodyPr/>
                    <a:lstStyle/>
                    <a:p>
                      <a:r>
                        <a:rPr sz="1100">
                          <a:solidFill>
                            <a:srgbClr val="2B2A35"/>
                          </a:solidFill>
                          <a:latin typeface="Work Sans"/>
                        </a:rPr>
                        <a:t>Sélection Norrsken100 (883)</a:t>
                      </a:r>
                    </a:p>
                  </a:txBody>
                  <a:tcPr marL="54864" marR="54864" marT="18288" marB="18288" anchor="ctr">
                    <a:solidFill>
                      <a:srgbClr val="EEF2F6"/>
                    </a:solidFill>
                  </a:tcPr>
                </a:tc>
              </a:tr>
              <a:tr h="384048">
                <a:tc>
                  <a:txBody>
                    <a:bodyPr/>
                    <a:lstStyle/>
                    <a:p>
                      <a:r>
                        <a:rPr sz="1100">
                          <a:solidFill>
                            <a:srgbClr val="2B2A35"/>
                          </a:solidFill>
                          <a:latin typeface="Work Sans"/>
                        </a:rPr>
                        <a:t>MTN Côte d'Ivoire</a:t>
                      </a:r>
                    </a:p>
                  </a:txBody>
                  <a:tcPr marL="54864" marR="54864" marT="18288" marB="18288" anchor="ctr">
                    <a:solidFill>
                      <a:srgbClr val="FFFFFF"/>
                    </a:solidFill>
                  </a:tcPr>
                </a:tc>
                <a:tc>
                  <a:txBody>
                    <a:bodyPr/>
                    <a:lstStyle/>
                    <a:p>
                      <a:pPr algn="ctr"/>
                      <a:r>
                        <a:rPr sz="1100">
                          <a:solidFill>
                            <a:srgbClr val="2B2A35"/>
                          </a:solidFill>
                          <a:latin typeface="Work Sans"/>
                        </a:rPr>
                        <a:t>46</a:t>
                      </a:r>
                    </a:p>
                  </a:txBody>
                  <a:tcPr marL="54864" marR="54864" marT="18288" marB="18288" anchor="ctr">
                    <a:solidFill>
                      <a:srgbClr val="FFFFFF"/>
                    </a:solidFill>
                  </a:tcPr>
                </a:tc>
                <a:tc>
                  <a:txBody>
                    <a:bodyPr/>
                    <a:lstStyle/>
                    <a:p>
                      <a:r>
                        <a:rPr sz="1100">
                          <a:solidFill>
                            <a:srgbClr val="2B2A35"/>
                          </a:solidFill>
                          <a:latin typeface="Work Sans"/>
                        </a:rPr>
                        <a:t>Nomination du directeur technique (1 414)</a:t>
                      </a:r>
                    </a:p>
                  </a:txBody>
                  <a:tcPr marL="54864" marR="54864" marT="18288" marB="18288" anchor="ctr">
                    <a:solidFill>
                      <a:srgbClr val="FFFFFF"/>
                    </a:solidFill>
                  </a:tcPr>
                </a:tc>
              </a:tr>
              <a:tr h="384048">
                <a:tc>
                  <a:txBody>
                    <a:bodyPr/>
                    <a:lstStyle/>
                    <a:p>
                      <a:r>
                        <a:rPr sz="1100">
                          <a:solidFill>
                            <a:srgbClr val="2B2A35"/>
                          </a:solidFill>
                          <a:latin typeface="Work Sans"/>
                        </a:rPr>
                        <a:t>InTouch (SN)</a:t>
                      </a:r>
                    </a:p>
                  </a:txBody>
                  <a:tcPr marL="54864" marR="54864" marT="18288" marB="18288" anchor="ctr">
                    <a:solidFill>
                      <a:srgbClr val="EEF2F6"/>
                    </a:solidFill>
                  </a:tcPr>
                </a:tc>
                <a:tc>
                  <a:txBody>
                    <a:bodyPr/>
                    <a:lstStyle/>
                    <a:p>
                      <a:pPr algn="ctr"/>
                      <a:r>
                        <a:rPr sz="1100">
                          <a:solidFill>
                            <a:srgbClr val="2B2A35"/>
                          </a:solidFill>
                          <a:latin typeface="Work Sans"/>
                        </a:rPr>
                        <a:t>37</a:t>
                      </a:r>
                    </a:p>
                  </a:txBody>
                  <a:tcPr marL="54864" marR="54864" marT="18288" marB="18288" anchor="ctr">
                    <a:solidFill>
                      <a:srgbClr val="EEF2F6"/>
                    </a:solidFill>
                  </a:tcPr>
                </a:tc>
                <a:tc>
                  <a:txBody>
                    <a:bodyPr/>
                    <a:lstStyle/>
                    <a:p>
                      <a:r>
                        <a:rPr sz="1100">
                          <a:solidFill>
                            <a:srgbClr val="2B2A35"/>
                          </a:solidFill>
                          <a:latin typeface="Work Sans"/>
                        </a:rPr>
                        <a:t>Homologation BCEAO (427)</a:t>
                      </a:r>
                    </a:p>
                  </a:txBody>
                  <a:tcPr marL="54864" marR="54864" marT="18288" marB="18288" anchor="ctr">
                    <a:solidFill>
                      <a:srgbClr val="EEF2F6"/>
                    </a:solidFill>
                  </a:tcPr>
                </a:tc>
              </a:tr>
              <a:tr h="384048">
                <a:tc>
                  <a:txBody>
                    <a:bodyPr/>
                    <a:lstStyle/>
                    <a:p>
                      <a:r>
                        <a:rPr sz="1100">
                          <a:solidFill>
                            <a:srgbClr val="2B2A35"/>
                          </a:solidFill>
                          <a:latin typeface="Work Sans"/>
                        </a:rPr>
                        <a:t>PayDunya (SN)</a:t>
                      </a:r>
                    </a:p>
                  </a:txBody>
                  <a:tcPr marL="54864" marR="54864" marT="18288" marB="18288" anchor="ctr">
                    <a:solidFill>
                      <a:srgbClr val="FFFFFF"/>
                    </a:solidFill>
                  </a:tcPr>
                </a:tc>
                <a:tc>
                  <a:txBody>
                    <a:bodyPr/>
                    <a:lstStyle/>
                    <a:p>
                      <a:pPr algn="ctr"/>
                      <a:r>
                        <a:rPr sz="1100">
                          <a:solidFill>
                            <a:srgbClr val="2B2A35"/>
                          </a:solidFill>
                          <a:latin typeface="Work Sans"/>
                        </a:rPr>
                        <a:t>26</a:t>
                      </a:r>
                    </a:p>
                  </a:txBody>
                  <a:tcPr marL="54864" marR="54864" marT="18288" marB="18288" anchor="ctr">
                    <a:solidFill>
                      <a:srgbClr val="FFFFFF"/>
                    </a:solidFill>
                  </a:tcPr>
                </a:tc>
                <a:tc>
                  <a:txBody>
                    <a:bodyPr/>
                    <a:lstStyle/>
                    <a:p>
                      <a:r>
                        <a:rPr sz="1100">
                          <a:solidFill>
                            <a:srgbClr val="2B2A35"/>
                          </a:solidFill>
                          <a:latin typeface="Work Sans"/>
                        </a:rPr>
                        <a:t>Afterwork Cotonou (77)</a:t>
                      </a:r>
                    </a:p>
                  </a:txBody>
                  <a:tcPr marL="54864" marR="54864" marT="18288" marB="18288" anchor="ctr">
                    <a:solidFill>
                      <a:srgbClr val="FFFFFF"/>
                    </a:solidFill>
                  </a:tcPr>
                </a:tc>
              </a:tr>
              <a:tr h="384048">
                <a:tc>
                  <a:txBody>
                    <a:bodyPr/>
                    <a:lstStyle/>
                    <a:p>
                      <a:r>
                        <a:rPr sz="1100">
                          <a:solidFill>
                            <a:srgbClr val="2B2A35"/>
                          </a:solidFill>
                          <a:latin typeface="Work Sans"/>
                        </a:rPr>
                        <a:t>Julaya (CI)</a:t>
                      </a:r>
                    </a:p>
                  </a:txBody>
                  <a:tcPr marL="54864" marR="54864" marT="18288" marB="18288" anchor="ctr">
                    <a:solidFill>
                      <a:srgbClr val="EEF2F6"/>
                    </a:solidFill>
                  </a:tcPr>
                </a:tc>
                <a:tc>
                  <a:txBody>
                    <a:bodyPr/>
                    <a:lstStyle/>
                    <a:p>
                      <a:pPr algn="ctr"/>
                      <a:r>
                        <a:rPr sz="1100">
                          <a:solidFill>
                            <a:srgbClr val="2B2A35"/>
                          </a:solidFill>
                          <a:latin typeface="Work Sans"/>
                        </a:rPr>
                        <a:t>19</a:t>
                      </a:r>
                    </a:p>
                  </a:txBody>
                  <a:tcPr marL="54864" marR="54864" marT="18288" marB="18288" anchor="ctr">
                    <a:solidFill>
                      <a:srgbClr val="EEF2F6"/>
                    </a:solidFill>
                  </a:tcPr>
                </a:tc>
                <a:tc>
                  <a:txBody>
                    <a:bodyPr/>
                    <a:lstStyle/>
                    <a:p>
                      <a:r>
                        <a:rPr sz="1100">
                          <a:solidFill>
                            <a:srgbClr val="2B2A35"/>
                          </a:solidFill>
                          <a:latin typeface="Work Sans"/>
                        </a:rPr>
                        <a:t>Offre d'emploi (150)</a:t>
                      </a:r>
                    </a:p>
                  </a:txBody>
                  <a:tcPr marL="54864" marR="54864" marT="18288" marB="18288" anchor="ctr">
                    <a:solidFill>
                      <a:srgbClr val="EEF2F6"/>
                    </a:solidFill>
                  </a:tcPr>
                </a:tc>
              </a:tr>
            </a:tbl>
          </a:graphicData>
        </a:graphic>
      </p:graphicFrame>
      <p:sp>
        <p:nvSpPr>
          <p:cNvPr id="10" name="TextBox 9"/>
          <p:cNvSpPr txBox="1"/>
          <p:nvPr/>
        </p:nvSpPr>
        <p:spPr>
          <a:xfrm>
            <a:off x="8138160" y="1417320"/>
            <a:ext cx="3502152" cy="484632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Les formats se valent.</a:t>
            </a:r>
          </a:p>
          <a:p>
            <a:pPr algn="l">
              <a:lnSpc>
                <a:spcPct val="110000"/>
              </a:lnSpc>
              <a:spcAft>
                <a:spcPts val="900"/>
              </a:spcAft>
            </a:pPr>
            <a:r>
              <a:rPr sz="1100" b="0">
                <a:solidFill>
                  <a:srgbClr val="2B2A35"/>
                </a:solidFill>
                <a:latin typeface="Work Sans"/>
              </a:rPr>
              <a:t>Image et vidéo font jeu égal (1,02 et 1,04 fois la médiane). Le carrousel en PDF fait moins (0,67), le texte seul beaucoup moins (0,28).</a:t>
            </a:r>
          </a:p>
          <a:p>
            <a:pPr algn="l">
              <a:lnSpc>
                <a:spcPct val="110000"/>
              </a:lnSpc>
              <a:spcAft>
                <a:spcPts val="100"/>
              </a:spcAft>
            </a:pPr>
            <a:r>
              <a:rPr sz="1200" b="1">
                <a:solidFill>
                  <a:srgbClr val="232754"/>
                </a:solidFill>
                <a:latin typeface="Work Sans"/>
              </a:rPr>
              <a:t>Ce qui fait réagir</a:t>
            </a:r>
          </a:p>
          <a:p>
            <a:pPr algn="l">
              <a:lnSpc>
                <a:spcPct val="110000"/>
              </a:lnSpc>
              <a:spcAft>
                <a:spcPts val="900"/>
              </a:spcAft>
            </a:pPr>
            <a:r>
              <a:rPr sz="1100" b="0">
                <a:solidFill>
                  <a:srgbClr val="2B2A35"/>
                </a:solidFill>
                <a:latin typeface="Work Sans"/>
              </a:rPr>
              <a:t>Une personne nommée (nomination, anniversaire, recrue), une étape franchie (agrément, distinction, nouveau siège), un partenaire connu.</a:t>
            </a:r>
          </a:p>
          <a:p>
            <a:pPr algn="l">
              <a:lnSpc>
                <a:spcPct val="110000"/>
              </a:lnSpc>
              <a:spcAft>
                <a:spcPts val="100"/>
              </a:spcAft>
            </a:pPr>
            <a:r>
              <a:rPr sz="1200" b="1">
                <a:solidFill>
                  <a:srgbClr val="232754"/>
                </a:solidFill>
                <a:latin typeface="Work Sans"/>
              </a:rPr>
              <a:t>Les pages qui piétinent</a:t>
            </a:r>
          </a:p>
          <a:p>
            <a:pPr algn="l">
              <a:lnSpc>
                <a:spcPct val="110000"/>
              </a:lnSpc>
              <a:spcAft>
                <a:spcPts val="900"/>
              </a:spcAft>
            </a:pPr>
            <a:r>
              <a:rPr sz="1100" b="0">
                <a:solidFill>
                  <a:srgbClr val="2B2A35"/>
                </a:solidFill>
                <a:latin typeface="Work Sans"/>
              </a:rPr>
              <a:t>publient surtout des offres d'emploi et des affiches d'événement.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FACEBOOK ET TIKTOK</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Facebook : là où les clients réagissent</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13</a:t>
            </a:r>
          </a:p>
        </p:txBody>
      </p:sp>
      <p:graphicFrame>
        <p:nvGraphicFramePr>
          <p:cNvPr id="9" name="Table 8"/>
          <p:cNvGraphicFramePr>
            <a:graphicFrameLocks noGrp="1"/>
          </p:cNvGraphicFramePr>
          <p:nvPr/>
        </p:nvGraphicFramePr>
        <p:xfrm>
          <a:off x="548640" y="1417320"/>
          <a:ext cx="6949440" cy="4718304"/>
        </p:xfrm>
        <a:graphic>
          <a:graphicData uri="http://schemas.openxmlformats.org/drawingml/2006/table">
            <a:tbl>
              <a:tblPr firstRow="1" bandRow="1">
                <a:tableStyleId>{5C22544A-7EE6-4342-B048-85BDC9FD1C3A}</a:tableStyleId>
              </a:tblPr>
              <a:tblGrid>
                <a:gridCol w="2011680"/>
                <a:gridCol w="1234440"/>
                <a:gridCol w="1234440"/>
                <a:gridCol w="1325880"/>
                <a:gridCol w="1143000"/>
              </a:tblGrid>
              <a:tr h="393192">
                <a:tc>
                  <a:txBody>
                    <a:bodyPr/>
                    <a:lstStyle/>
                    <a:p>
                      <a:r>
                        <a:rPr sz="1000" b="1">
                          <a:solidFill>
                            <a:srgbClr val="FFFFFF"/>
                          </a:solidFill>
                          <a:latin typeface="Space Grotesk"/>
                        </a:rPr>
                        <a:t>Page Facebook</a:t>
                      </a:r>
                    </a:p>
                  </a:txBody>
                  <a:tcPr marL="54864" marR="54864" marT="18288" marB="18288" anchor="ctr">
                    <a:solidFill>
                      <a:srgbClr val="232754"/>
                    </a:solidFill>
                  </a:tcPr>
                </a:tc>
                <a:tc>
                  <a:txBody>
                    <a:bodyPr/>
                    <a:lstStyle/>
                    <a:p>
                      <a:r>
                        <a:rPr sz="1000" b="1">
                          <a:solidFill>
                            <a:srgbClr val="FFFFFF"/>
                          </a:solidFill>
                          <a:latin typeface="Space Grotesk"/>
                        </a:rPr>
                        <a:t>Médiane réactions</a:t>
                      </a:r>
                    </a:p>
                  </a:txBody>
                  <a:tcPr marL="54864" marR="54864" marT="18288" marB="18288" anchor="ctr">
                    <a:solidFill>
                      <a:srgbClr val="232754"/>
                    </a:solidFill>
                  </a:tcPr>
                </a:tc>
                <a:tc>
                  <a:txBody>
                    <a:bodyPr/>
                    <a:lstStyle/>
                    <a:p>
                      <a:r>
                        <a:rPr sz="1000" b="1">
                          <a:solidFill>
                            <a:srgbClr val="FFFFFF"/>
                          </a:solidFill>
                          <a:latin typeface="Space Grotesk"/>
                        </a:rPr>
                        <a:t>Médiane comment.</a:t>
                      </a:r>
                    </a:p>
                  </a:txBody>
                  <a:tcPr marL="54864" marR="54864" marT="18288" marB="18288" anchor="ctr">
                    <a:solidFill>
                      <a:srgbClr val="232754"/>
                    </a:solidFill>
                  </a:tcPr>
                </a:tc>
                <a:tc>
                  <a:txBody>
                    <a:bodyPr/>
                    <a:lstStyle/>
                    <a:p>
                      <a:r>
                        <a:rPr sz="1000" b="1">
                          <a:solidFill>
                            <a:srgbClr val="FFFFFF"/>
                          </a:solidFill>
                          <a:latin typeface="Space Grotesk"/>
                        </a:rPr>
                        <a:t>Format le plus publié</a:t>
                      </a:r>
                    </a:p>
                  </a:txBody>
                  <a:tcPr marL="54864" marR="54864" marT="18288" marB="18288" anchor="ctr">
                    <a:solidFill>
                      <a:srgbClr val="232754"/>
                    </a:solidFill>
                  </a:tcPr>
                </a:tc>
                <a:tc>
                  <a:txBody>
                    <a:bodyPr/>
                    <a:lstStyle/>
                    <a:p>
                      <a:r>
                        <a:rPr sz="1000" b="1">
                          <a:solidFill>
                            <a:srgbClr val="FFFFFF"/>
                          </a:solidFill>
                          <a:latin typeface="Space Grotesk"/>
                        </a:rPr>
                        <a:t>Meilleur post</a:t>
                      </a:r>
                    </a:p>
                  </a:txBody>
                  <a:tcPr marL="54864" marR="54864" marT="18288" marB="18288" anchor="ctr">
                    <a:solidFill>
                      <a:srgbClr val="232754"/>
                    </a:solidFill>
                  </a:tcPr>
                </a:tc>
              </a:tr>
              <a:tr h="393192">
                <a:tc>
                  <a:txBody>
                    <a:bodyPr/>
                    <a:lstStyle/>
                    <a:p>
                      <a:r>
                        <a:rPr sz="1000">
                          <a:solidFill>
                            <a:srgbClr val="2B2A35"/>
                          </a:solidFill>
                          <a:latin typeface="Work Sans"/>
                        </a:rPr>
                        <a:t>Orange CI (CI)</a:t>
                      </a:r>
                    </a:p>
                  </a:txBody>
                  <a:tcPr marL="54864" marR="54864" marT="18288" marB="18288" anchor="ctr">
                    <a:solidFill>
                      <a:srgbClr val="FFFFFF"/>
                    </a:solidFill>
                  </a:tcPr>
                </a:tc>
                <a:tc>
                  <a:txBody>
                    <a:bodyPr/>
                    <a:lstStyle/>
                    <a:p>
                      <a:pPr algn="ctr"/>
                      <a:r>
                        <a:rPr sz="1000">
                          <a:solidFill>
                            <a:srgbClr val="2B2A35"/>
                          </a:solidFill>
                          <a:latin typeface="Work Sans"/>
                        </a:rPr>
                        <a:t>57</a:t>
                      </a:r>
                    </a:p>
                  </a:txBody>
                  <a:tcPr marL="54864" marR="54864" marT="18288" marB="18288" anchor="ctr">
                    <a:solidFill>
                      <a:srgbClr val="FFFFFF"/>
                    </a:solidFill>
                  </a:tcPr>
                </a:tc>
                <a:tc>
                  <a:txBody>
                    <a:bodyPr/>
                    <a:lstStyle/>
                    <a:p>
                      <a:pPr algn="ctr"/>
                      <a:r>
                        <a:rPr sz="1000">
                          <a:solidFill>
                            <a:srgbClr val="2B2A35"/>
                          </a:solidFill>
                          <a:latin typeface="Work Sans"/>
                        </a:rPr>
                        <a:t>23</a:t>
                      </a:r>
                    </a:p>
                  </a:txBody>
                  <a:tcPr marL="54864" marR="54864" marT="18288" marB="18288" anchor="ctr">
                    <a:solidFill>
                      <a:srgbClr val="FFFFFF"/>
                    </a:solidFill>
                  </a:tcPr>
                </a:tc>
                <a:tc>
                  <a:txBody>
                    <a:bodyPr/>
                    <a:lstStyle/>
                    <a:p>
                      <a:r>
                        <a:rPr sz="1000">
                          <a:solidFill>
                            <a:srgbClr val="2B2A35"/>
                          </a:solidFill>
                          <a:latin typeface="Work Sans"/>
                        </a:rPr>
                        <a:t>vidéo (7/15)</a:t>
                      </a:r>
                    </a:p>
                  </a:txBody>
                  <a:tcPr marL="54864" marR="54864" marT="18288" marB="18288" anchor="ctr">
                    <a:solidFill>
                      <a:srgbClr val="FFFFFF"/>
                    </a:solidFill>
                  </a:tcPr>
                </a:tc>
                <a:tc>
                  <a:txBody>
                    <a:bodyPr/>
                    <a:lstStyle/>
                    <a:p>
                      <a:r>
                        <a:rPr sz="1000">
                          <a:solidFill>
                            <a:srgbClr val="2B2A35"/>
                          </a:solidFill>
                          <a:latin typeface="Work Sans"/>
                        </a:rPr>
                        <a:t>texte · 3 856</a:t>
                      </a:r>
                    </a:p>
                  </a:txBody>
                  <a:tcPr marL="54864" marR="54864" marT="18288" marB="18288" anchor="ctr">
                    <a:solidFill>
                      <a:srgbClr val="FFFFFF"/>
                    </a:solidFill>
                  </a:tcPr>
                </a:tc>
              </a:tr>
              <a:tr h="393192">
                <a:tc>
                  <a:txBody>
                    <a:bodyPr/>
                    <a:lstStyle/>
                    <a:p>
                      <a:r>
                        <a:rPr sz="1000">
                          <a:solidFill>
                            <a:srgbClr val="2B2A35"/>
                          </a:solidFill>
                          <a:latin typeface="Work Sans"/>
                        </a:rPr>
                        <a:t>Wave CI (CI)</a:t>
                      </a:r>
                    </a:p>
                  </a:txBody>
                  <a:tcPr marL="54864" marR="54864" marT="18288" marB="18288" anchor="ctr">
                    <a:solidFill>
                      <a:srgbClr val="EEF2F6"/>
                    </a:solidFill>
                  </a:tcPr>
                </a:tc>
                <a:tc>
                  <a:txBody>
                    <a:bodyPr/>
                    <a:lstStyle/>
                    <a:p>
                      <a:pPr algn="ctr"/>
                      <a:r>
                        <a:rPr sz="1000">
                          <a:solidFill>
                            <a:srgbClr val="2B2A35"/>
                          </a:solidFill>
                          <a:latin typeface="Work Sans"/>
                        </a:rPr>
                        <a:t>324</a:t>
                      </a:r>
                    </a:p>
                  </a:txBody>
                  <a:tcPr marL="54864" marR="54864" marT="18288" marB="18288" anchor="ctr">
                    <a:solidFill>
                      <a:srgbClr val="EEF2F6"/>
                    </a:solidFill>
                  </a:tcPr>
                </a:tc>
                <a:tc>
                  <a:txBody>
                    <a:bodyPr/>
                    <a:lstStyle/>
                    <a:p>
                      <a:pPr algn="ctr"/>
                      <a:r>
                        <a:rPr sz="1000">
                          <a:solidFill>
                            <a:srgbClr val="2B2A35"/>
                          </a:solidFill>
                          <a:latin typeface="Work Sans"/>
                        </a:rPr>
                        <a:t>72</a:t>
                      </a:r>
                    </a:p>
                  </a:txBody>
                  <a:tcPr marL="54864" marR="54864" marT="18288" marB="18288" anchor="ctr">
                    <a:solidFill>
                      <a:srgbClr val="EEF2F6"/>
                    </a:solidFill>
                  </a:tcPr>
                </a:tc>
                <a:tc>
                  <a:txBody>
                    <a:bodyPr/>
                    <a:lstStyle/>
                    <a:p>
                      <a:r>
                        <a:rPr sz="1000">
                          <a:solidFill>
                            <a:srgbClr val="2B2A35"/>
                          </a:solidFill>
                          <a:latin typeface="Work Sans"/>
                        </a:rPr>
                        <a:t>image (9/15)</a:t>
                      </a:r>
                    </a:p>
                  </a:txBody>
                  <a:tcPr marL="54864" marR="54864" marT="18288" marB="18288" anchor="ctr">
                    <a:solidFill>
                      <a:srgbClr val="EEF2F6"/>
                    </a:solidFill>
                  </a:tcPr>
                </a:tc>
                <a:tc>
                  <a:txBody>
                    <a:bodyPr/>
                    <a:lstStyle/>
                    <a:p>
                      <a:r>
                        <a:rPr sz="1000">
                          <a:solidFill>
                            <a:srgbClr val="2B2A35"/>
                          </a:solidFill>
                          <a:latin typeface="Work Sans"/>
                        </a:rPr>
                        <a:t>image · 2 327</a:t>
                      </a:r>
                    </a:p>
                  </a:txBody>
                  <a:tcPr marL="54864" marR="54864" marT="18288" marB="18288" anchor="ctr">
                    <a:solidFill>
                      <a:srgbClr val="EEF2F6"/>
                    </a:solidFill>
                  </a:tcPr>
                </a:tc>
              </a:tr>
              <a:tr h="393192">
                <a:tc>
                  <a:txBody>
                    <a:bodyPr/>
                    <a:lstStyle/>
                    <a:p>
                      <a:r>
                        <a:rPr sz="1000">
                          <a:solidFill>
                            <a:srgbClr val="2B2A35"/>
                          </a:solidFill>
                          <a:latin typeface="Work Sans"/>
                        </a:rPr>
                        <a:t>Moov Africa CI (CI)</a:t>
                      </a:r>
                    </a:p>
                  </a:txBody>
                  <a:tcPr marL="54864" marR="54864" marT="18288" marB="18288" anchor="ctr">
                    <a:solidFill>
                      <a:srgbClr val="FFFFFF"/>
                    </a:solidFill>
                  </a:tcPr>
                </a:tc>
                <a:tc>
                  <a:txBody>
                    <a:bodyPr/>
                    <a:lstStyle/>
                    <a:p>
                      <a:pPr algn="ctr"/>
                      <a:r>
                        <a:rPr sz="1000">
                          <a:solidFill>
                            <a:srgbClr val="2B2A35"/>
                          </a:solidFill>
                          <a:latin typeface="Work Sans"/>
                        </a:rPr>
                        <a:t>409</a:t>
                      </a:r>
                    </a:p>
                  </a:txBody>
                  <a:tcPr marL="54864" marR="54864" marT="18288" marB="18288" anchor="ctr">
                    <a:solidFill>
                      <a:srgbClr val="FFFFFF"/>
                    </a:solidFill>
                  </a:tcPr>
                </a:tc>
                <a:tc>
                  <a:txBody>
                    <a:bodyPr/>
                    <a:lstStyle/>
                    <a:p>
                      <a:pPr algn="ctr"/>
                      <a:r>
                        <a:rPr sz="1000">
                          <a:solidFill>
                            <a:srgbClr val="2B2A35"/>
                          </a:solidFill>
                          <a:latin typeface="Work Sans"/>
                        </a:rPr>
                        <a:t>52</a:t>
                      </a:r>
                    </a:p>
                  </a:txBody>
                  <a:tcPr marL="54864" marR="54864" marT="18288" marB="18288" anchor="ctr">
                    <a:solidFill>
                      <a:srgbClr val="FFFFFF"/>
                    </a:solidFill>
                  </a:tcPr>
                </a:tc>
                <a:tc>
                  <a:txBody>
                    <a:bodyPr/>
                    <a:lstStyle/>
                    <a:p>
                      <a:r>
                        <a:rPr sz="1000">
                          <a:solidFill>
                            <a:srgbClr val="2B2A35"/>
                          </a:solidFill>
                          <a:latin typeface="Work Sans"/>
                        </a:rPr>
                        <a:t>texte (8/15)</a:t>
                      </a:r>
                    </a:p>
                  </a:txBody>
                  <a:tcPr marL="54864" marR="54864" marT="18288" marB="18288" anchor="ctr">
                    <a:solidFill>
                      <a:srgbClr val="FFFFFF"/>
                    </a:solidFill>
                  </a:tcPr>
                </a:tc>
                <a:tc>
                  <a:txBody>
                    <a:bodyPr/>
                    <a:lstStyle/>
                    <a:p>
                      <a:r>
                        <a:rPr sz="1000">
                          <a:solidFill>
                            <a:srgbClr val="2B2A35"/>
                          </a:solidFill>
                          <a:latin typeface="Work Sans"/>
                        </a:rPr>
                        <a:t>image · 4 065</a:t>
                      </a:r>
                    </a:p>
                  </a:txBody>
                  <a:tcPr marL="54864" marR="54864" marT="18288" marB="18288" anchor="ctr">
                    <a:solidFill>
                      <a:srgbClr val="FFFFFF"/>
                    </a:solidFill>
                  </a:tcPr>
                </a:tc>
              </a:tr>
              <a:tr h="393192">
                <a:tc>
                  <a:txBody>
                    <a:bodyPr/>
                    <a:lstStyle/>
                    <a:p>
                      <a:r>
                        <a:rPr sz="1000">
                          <a:solidFill>
                            <a:srgbClr val="2B2A35"/>
                          </a:solidFill>
                          <a:latin typeface="Work Sans"/>
                        </a:rPr>
                        <a:t>MTN CI (CI)</a:t>
                      </a:r>
                    </a:p>
                  </a:txBody>
                  <a:tcPr marL="54864" marR="54864" marT="18288" marB="18288" anchor="ctr">
                    <a:solidFill>
                      <a:srgbClr val="EEF2F6"/>
                    </a:solidFill>
                  </a:tcPr>
                </a:tc>
                <a:tc>
                  <a:txBody>
                    <a:bodyPr/>
                    <a:lstStyle/>
                    <a:p>
                      <a:pPr algn="ctr"/>
                      <a:r>
                        <a:rPr sz="1000">
                          <a:solidFill>
                            <a:srgbClr val="2B2A35"/>
                          </a:solidFill>
                          <a:latin typeface="Work Sans"/>
                        </a:rPr>
                        <a:t>55</a:t>
                      </a:r>
                    </a:p>
                  </a:txBody>
                  <a:tcPr marL="54864" marR="54864" marT="18288" marB="18288" anchor="ctr">
                    <a:solidFill>
                      <a:srgbClr val="EEF2F6"/>
                    </a:solidFill>
                  </a:tcPr>
                </a:tc>
                <a:tc>
                  <a:txBody>
                    <a:bodyPr/>
                    <a:lstStyle/>
                    <a:p>
                      <a:pPr algn="ctr"/>
                      <a:r>
                        <a:rPr sz="1000">
                          <a:solidFill>
                            <a:srgbClr val="2B2A35"/>
                          </a:solidFill>
                          <a:latin typeface="Work Sans"/>
                        </a:rPr>
                        <a:t>25</a:t>
                      </a:r>
                    </a:p>
                  </a:txBody>
                  <a:tcPr marL="54864" marR="54864" marT="18288" marB="18288" anchor="ctr">
                    <a:solidFill>
                      <a:srgbClr val="EEF2F6"/>
                    </a:solidFill>
                  </a:tcPr>
                </a:tc>
                <a:tc>
                  <a:txBody>
                    <a:bodyPr/>
                    <a:lstStyle/>
                    <a:p>
                      <a:r>
                        <a:rPr sz="1000">
                          <a:solidFill>
                            <a:srgbClr val="2B2A35"/>
                          </a:solidFill>
                          <a:latin typeface="Work Sans"/>
                        </a:rPr>
                        <a:t>image (8/15)</a:t>
                      </a:r>
                    </a:p>
                  </a:txBody>
                  <a:tcPr marL="54864" marR="54864" marT="18288" marB="18288" anchor="ctr">
                    <a:solidFill>
                      <a:srgbClr val="EEF2F6"/>
                    </a:solidFill>
                  </a:tcPr>
                </a:tc>
                <a:tc>
                  <a:txBody>
                    <a:bodyPr/>
                    <a:lstStyle/>
                    <a:p>
                      <a:r>
                        <a:rPr sz="1000">
                          <a:solidFill>
                            <a:srgbClr val="2B2A35"/>
                          </a:solidFill>
                          <a:latin typeface="Work Sans"/>
                        </a:rPr>
                        <a:t>image · 742</a:t>
                      </a:r>
                    </a:p>
                  </a:txBody>
                  <a:tcPr marL="54864" marR="54864" marT="18288" marB="18288" anchor="ctr">
                    <a:solidFill>
                      <a:srgbClr val="EEF2F6"/>
                    </a:solidFill>
                  </a:tcPr>
                </a:tc>
              </a:tr>
              <a:tr h="393192">
                <a:tc>
                  <a:txBody>
                    <a:bodyPr/>
                    <a:lstStyle/>
                    <a:p>
                      <a:r>
                        <a:rPr sz="1000">
                          <a:solidFill>
                            <a:srgbClr val="2B2A35"/>
                          </a:solidFill>
                          <a:latin typeface="Work Sans"/>
                        </a:rPr>
                        <a:t>Djamo (CI)</a:t>
                      </a:r>
                    </a:p>
                  </a:txBody>
                  <a:tcPr marL="54864" marR="54864" marT="18288" marB="18288" anchor="ctr">
                    <a:solidFill>
                      <a:srgbClr val="FFFFFF"/>
                    </a:solidFill>
                  </a:tcPr>
                </a:tc>
                <a:tc>
                  <a:txBody>
                    <a:bodyPr/>
                    <a:lstStyle/>
                    <a:p>
                      <a:pPr algn="ctr"/>
                      <a:r>
                        <a:rPr sz="1000">
                          <a:solidFill>
                            <a:srgbClr val="2B2A35"/>
                          </a:solidFill>
                          <a:latin typeface="Work Sans"/>
                        </a:rPr>
                        <a:t>99</a:t>
                      </a:r>
                    </a:p>
                  </a:txBody>
                  <a:tcPr marL="54864" marR="54864" marT="18288" marB="18288" anchor="ctr">
                    <a:solidFill>
                      <a:srgbClr val="FFFFFF"/>
                    </a:solidFill>
                  </a:tcPr>
                </a:tc>
                <a:tc>
                  <a:txBody>
                    <a:bodyPr/>
                    <a:lstStyle/>
                    <a:p>
                      <a:pPr algn="ctr"/>
                      <a:r>
                        <a:rPr sz="1000">
                          <a:solidFill>
                            <a:srgbClr val="2B2A35"/>
                          </a:solidFill>
                          <a:latin typeface="Work Sans"/>
                        </a:rPr>
                        <a:t>18</a:t>
                      </a:r>
                    </a:p>
                  </a:txBody>
                  <a:tcPr marL="54864" marR="54864" marT="18288" marB="18288" anchor="ctr">
                    <a:solidFill>
                      <a:srgbClr val="FFFFFF"/>
                    </a:solidFill>
                  </a:tcPr>
                </a:tc>
                <a:tc>
                  <a:txBody>
                    <a:bodyPr/>
                    <a:lstStyle/>
                    <a:p>
                      <a:r>
                        <a:rPr sz="1000">
                          <a:solidFill>
                            <a:srgbClr val="2B2A35"/>
                          </a:solidFill>
                          <a:latin typeface="Work Sans"/>
                        </a:rPr>
                        <a:t>vidéo (6/15)</a:t>
                      </a:r>
                    </a:p>
                  </a:txBody>
                  <a:tcPr marL="54864" marR="54864" marT="18288" marB="18288" anchor="ctr">
                    <a:solidFill>
                      <a:srgbClr val="FFFFFF"/>
                    </a:solidFill>
                  </a:tcPr>
                </a:tc>
                <a:tc>
                  <a:txBody>
                    <a:bodyPr/>
                    <a:lstStyle/>
                    <a:p>
                      <a:r>
                        <a:rPr sz="1000">
                          <a:solidFill>
                            <a:srgbClr val="2B2A35"/>
                          </a:solidFill>
                          <a:latin typeface="Work Sans"/>
                        </a:rPr>
                        <a:t>vidéo · 10 455</a:t>
                      </a:r>
                    </a:p>
                  </a:txBody>
                  <a:tcPr marL="54864" marR="54864" marT="18288" marB="18288" anchor="ctr">
                    <a:solidFill>
                      <a:srgbClr val="FFFFFF"/>
                    </a:solidFill>
                  </a:tcPr>
                </a:tc>
              </a:tr>
              <a:tr h="393192">
                <a:tc>
                  <a:txBody>
                    <a:bodyPr/>
                    <a:lstStyle/>
                    <a:p>
                      <a:r>
                        <a:rPr sz="1000">
                          <a:solidFill>
                            <a:srgbClr val="2B2A35"/>
                          </a:solidFill>
                          <a:latin typeface="Work Sans"/>
                        </a:rPr>
                        <a:t>Groupe InTouch (CI)</a:t>
                      </a:r>
                    </a:p>
                  </a:txBody>
                  <a:tcPr marL="54864" marR="54864" marT="18288" marB="18288" anchor="ctr">
                    <a:solidFill>
                      <a:srgbClr val="EEF2F6"/>
                    </a:solidFill>
                  </a:tcPr>
                </a:tc>
                <a:tc>
                  <a:txBody>
                    <a:bodyPr/>
                    <a:lstStyle/>
                    <a:p>
                      <a:pPr algn="ctr"/>
                      <a:r>
                        <a:rPr sz="1000">
                          <a:solidFill>
                            <a:srgbClr val="2B2A35"/>
                          </a:solidFill>
                          <a:latin typeface="Work Sans"/>
                        </a:rPr>
                        <a:t>5</a:t>
                      </a:r>
                    </a:p>
                  </a:txBody>
                  <a:tcPr marL="54864" marR="54864" marT="18288" marB="18288" anchor="ctr">
                    <a:solidFill>
                      <a:srgbClr val="EEF2F6"/>
                    </a:solidFill>
                  </a:tcPr>
                </a:tc>
                <a:tc>
                  <a:txBody>
                    <a:bodyPr/>
                    <a:lstStyle/>
                    <a:p>
                      <a:pPr algn="ctr"/>
                      <a:r>
                        <a:rPr sz="1000">
                          <a:solidFill>
                            <a:srgbClr val="2B2A35"/>
                          </a:solidFill>
                          <a:latin typeface="Work Sans"/>
                        </a:rPr>
                        <a:t>2</a:t>
                      </a:r>
                    </a:p>
                  </a:txBody>
                  <a:tcPr marL="54864" marR="54864" marT="18288" marB="18288" anchor="ctr">
                    <a:solidFill>
                      <a:srgbClr val="EEF2F6"/>
                    </a:solidFill>
                  </a:tcPr>
                </a:tc>
                <a:tc>
                  <a:txBody>
                    <a:bodyPr/>
                    <a:lstStyle/>
                    <a:p>
                      <a:r>
                        <a:rPr sz="1000">
                          <a:solidFill>
                            <a:srgbClr val="2B2A35"/>
                          </a:solidFill>
                          <a:latin typeface="Work Sans"/>
                        </a:rPr>
                        <a:t>vidéo (9/15)</a:t>
                      </a:r>
                    </a:p>
                  </a:txBody>
                  <a:tcPr marL="54864" marR="54864" marT="18288" marB="18288" anchor="ctr">
                    <a:solidFill>
                      <a:srgbClr val="EEF2F6"/>
                    </a:solidFill>
                  </a:tcPr>
                </a:tc>
                <a:tc>
                  <a:txBody>
                    <a:bodyPr/>
                    <a:lstStyle/>
                    <a:p>
                      <a:r>
                        <a:rPr sz="1000">
                          <a:solidFill>
                            <a:srgbClr val="2B2A35"/>
                          </a:solidFill>
                          <a:latin typeface="Work Sans"/>
                        </a:rPr>
                        <a:t>vidéo · 35</a:t>
                      </a:r>
                    </a:p>
                  </a:txBody>
                  <a:tcPr marL="54864" marR="54864" marT="18288" marB="18288" anchor="ctr">
                    <a:solidFill>
                      <a:srgbClr val="EEF2F6"/>
                    </a:solidFill>
                  </a:tcPr>
                </a:tc>
              </a:tr>
              <a:tr h="393192">
                <a:tc>
                  <a:txBody>
                    <a:bodyPr/>
                    <a:lstStyle/>
                    <a:p>
                      <a:r>
                        <a:rPr sz="1000">
                          <a:solidFill>
                            <a:srgbClr val="2B2A35"/>
                          </a:solidFill>
                          <a:latin typeface="Work Sans"/>
                        </a:rPr>
                        <a:t>Orange Sénégal (SN)</a:t>
                      </a:r>
                    </a:p>
                  </a:txBody>
                  <a:tcPr marL="54864" marR="54864" marT="18288" marB="18288" anchor="ctr">
                    <a:solidFill>
                      <a:srgbClr val="FFFFFF"/>
                    </a:solidFill>
                  </a:tcPr>
                </a:tc>
                <a:tc>
                  <a:txBody>
                    <a:bodyPr/>
                    <a:lstStyle/>
                    <a:p>
                      <a:pPr algn="ctr"/>
                      <a:r>
                        <a:rPr sz="1000">
                          <a:solidFill>
                            <a:srgbClr val="2B2A35"/>
                          </a:solidFill>
                          <a:latin typeface="Work Sans"/>
                        </a:rPr>
                        <a:t>51</a:t>
                      </a:r>
                    </a:p>
                  </a:txBody>
                  <a:tcPr marL="54864" marR="54864" marT="18288" marB="18288" anchor="ctr">
                    <a:solidFill>
                      <a:srgbClr val="FFFFFF"/>
                    </a:solidFill>
                  </a:tcPr>
                </a:tc>
                <a:tc>
                  <a:txBody>
                    <a:bodyPr/>
                    <a:lstStyle/>
                    <a:p>
                      <a:pPr algn="ctr"/>
                      <a:r>
                        <a:rPr sz="1000">
                          <a:solidFill>
                            <a:srgbClr val="2B2A35"/>
                          </a:solidFill>
                          <a:latin typeface="Work Sans"/>
                        </a:rPr>
                        <a:t>13</a:t>
                      </a:r>
                    </a:p>
                  </a:txBody>
                  <a:tcPr marL="54864" marR="54864" marT="18288" marB="18288" anchor="ctr">
                    <a:solidFill>
                      <a:srgbClr val="FFFFFF"/>
                    </a:solidFill>
                  </a:tcPr>
                </a:tc>
                <a:tc>
                  <a:txBody>
                    <a:bodyPr/>
                    <a:lstStyle/>
                    <a:p>
                      <a:r>
                        <a:rPr sz="1000">
                          <a:solidFill>
                            <a:srgbClr val="2B2A35"/>
                          </a:solidFill>
                          <a:latin typeface="Work Sans"/>
                        </a:rPr>
                        <a:t>image (12/15)</a:t>
                      </a:r>
                    </a:p>
                  </a:txBody>
                  <a:tcPr marL="54864" marR="54864" marT="18288" marB="18288" anchor="ctr">
                    <a:solidFill>
                      <a:srgbClr val="FFFFFF"/>
                    </a:solidFill>
                  </a:tcPr>
                </a:tc>
                <a:tc>
                  <a:txBody>
                    <a:bodyPr/>
                    <a:lstStyle/>
                    <a:p>
                      <a:r>
                        <a:rPr sz="1000">
                          <a:solidFill>
                            <a:srgbClr val="2B2A35"/>
                          </a:solidFill>
                          <a:latin typeface="Work Sans"/>
                        </a:rPr>
                        <a:t>image · 453</a:t>
                      </a:r>
                    </a:p>
                  </a:txBody>
                  <a:tcPr marL="54864" marR="54864" marT="18288" marB="18288" anchor="ctr">
                    <a:solidFill>
                      <a:srgbClr val="FFFFFF"/>
                    </a:solidFill>
                  </a:tcPr>
                </a:tc>
              </a:tr>
              <a:tr h="393192">
                <a:tc>
                  <a:txBody>
                    <a:bodyPr/>
                    <a:lstStyle/>
                    <a:p>
                      <a:r>
                        <a:rPr sz="1000">
                          <a:solidFill>
                            <a:srgbClr val="2B2A35"/>
                          </a:solidFill>
                          <a:latin typeface="Work Sans"/>
                        </a:rPr>
                        <a:t>Wave Sénégal (SN)</a:t>
                      </a:r>
                    </a:p>
                  </a:txBody>
                  <a:tcPr marL="54864" marR="54864" marT="18288" marB="18288" anchor="ctr">
                    <a:solidFill>
                      <a:srgbClr val="EEF2F6"/>
                    </a:solidFill>
                  </a:tcPr>
                </a:tc>
                <a:tc>
                  <a:txBody>
                    <a:bodyPr/>
                    <a:lstStyle/>
                    <a:p>
                      <a:pPr algn="ctr"/>
                      <a:r>
                        <a:rPr sz="1000">
                          <a:solidFill>
                            <a:srgbClr val="2B2A35"/>
                          </a:solidFill>
                          <a:latin typeface="Work Sans"/>
                        </a:rPr>
                        <a:t>525</a:t>
                      </a:r>
                    </a:p>
                  </a:txBody>
                  <a:tcPr marL="54864" marR="54864" marT="18288" marB="18288" anchor="ctr">
                    <a:solidFill>
                      <a:srgbClr val="EEF2F6"/>
                    </a:solidFill>
                  </a:tcPr>
                </a:tc>
                <a:tc>
                  <a:txBody>
                    <a:bodyPr/>
                    <a:lstStyle/>
                    <a:p>
                      <a:pPr algn="ctr"/>
                      <a:r>
                        <a:rPr sz="1000">
                          <a:solidFill>
                            <a:srgbClr val="2B2A35"/>
                          </a:solidFill>
                          <a:latin typeface="Work Sans"/>
                        </a:rPr>
                        <a:t>110</a:t>
                      </a:r>
                    </a:p>
                  </a:txBody>
                  <a:tcPr marL="54864" marR="54864" marT="18288" marB="18288" anchor="ctr">
                    <a:solidFill>
                      <a:srgbClr val="EEF2F6"/>
                    </a:solidFill>
                  </a:tcPr>
                </a:tc>
                <a:tc>
                  <a:txBody>
                    <a:bodyPr/>
                    <a:lstStyle/>
                    <a:p>
                      <a:r>
                        <a:rPr sz="1000">
                          <a:solidFill>
                            <a:srgbClr val="2B2A35"/>
                          </a:solidFill>
                          <a:latin typeface="Work Sans"/>
                        </a:rPr>
                        <a:t>image (10/15)</a:t>
                      </a:r>
                    </a:p>
                  </a:txBody>
                  <a:tcPr marL="54864" marR="54864" marT="18288" marB="18288" anchor="ctr">
                    <a:solidFill>
                      <a:srgbClr val="EEF2F6"/>
                    </a:solidFill>
                  </a:tcPr>
                </a:tc>
                <a:tc>
                  <a:txBody>
                    <a:bodyPr/>
                    <a:lstStyle/>
                    <a:p>
                      <a:r>
                        <a:rPr sz="1000">
                          <a:solidFill>
                            <a:srgbClr val="2B2A35"/>
                          </a:solidFill>
                          <a:latin typeface="Work Sans"/>
                        </a:rPr>
                        <a:t>image · 5 299</a:t>
                      </a:r>
                    </a:p>
                  </a:txBody>
                  <a:tcPr marL="54864" marR="54864" marT="18288" marB="18288" anchor="ctr">
                    <a:solidFill>
                      <a:srgbClr val="EEF2F6"/>
                    </a:solidFill>
                  </a:tcPr>
                </a:tc>
              </a:tr>
              <a:tr h="393192">
                <a:tc>
                  <a:txBody>
                    <a:bodyPr/>
                    <a:lstStyle/>
                    <a:p>
                      <a:r>
                        <a:rPr sz="1000">
                          <a:solidFill>
                            <a:srgbClr val="2B2A35"/>
                          </a:solidFill>
                          <a:latin typeface="Work Sans"/>
                        </a:rPr>
                        <a:t>Yas (SN)</a:t>
                      </a:r>
                    </a:p>
                  </a:txBody>
                  <a:tcPr marL="54864" marR="54864" marT="18288" marB="18288" anchor="ctr">
                    <a:solidFill>
                      <a:srgbClr val="FFFFFF"/>
                    </a:solidFill>
                  </a:tcPr>
                </a:tc>
                <a:tc>
                  <a:txBody>
                    <a:bodyPr/>
                    <a:lstStyle/>
                    <a:p>
                      <a:pPr algn="ctr"/>
                      <a:r>
                        <a:rPr sz="1000">
                          <a:solidFill>
                            <a:srgbClr val="2B2A35"/>
                          </a:solidFill>
                          <a:latin typeface="Work Sans"/>
                        </a:rPr>
                        <a:t>39</a:t>
                      </a:r>
                    </a:p>
                  </a:txBody>
                  <a:tcPr marL="54864" marR="54864" marT="18288" marB="18288" anchor="ctr">
                    <a:solidFill>
                      <a:srgbClr val="FFFFFF"/>
                    </a:solidFill>
                  </a:tcPr>
                </a:tc>
                <a:tc>
                  <a:txBody>
                    <a:bodyPr/>
                    <a:lstStyle/>
                    <a:p>
                      <a:pPr algn="ctr"/>
                      <a:r>
                        <a:rPr sz="1000">
                          <a:solidFill>
                            <a:srgbClr val="2B2A35"/>
                          </a:solidFill>
                          <a:latin typeface="Work Sans"/>
                        </a:rPr>
                        <a:t>16</a:t>
                      </a:r>
                    </a:p>
                  </a:txBody>
                  <a:tcPr marL="54864" marR="54864" marT="18288" marB="18288" anchor="ctr">
                    <a:solidFill>
                      <a:srgbClr val="FFFFFF"/>
                    </a:solidFill>
                  </a:tcPr>
                </a:tc>
                <a:tc>
                  <a:txBody>
                    <a:bodyPr/>
                    <a:lstStyle/>
                    <a:p>
                      <a:r>
                        <a:rPr sz="1000">
                          <a:solidFill>
                            <a:srgbClr val="2B2A35"/>
                          </a:solidFill>
                          <a:latin typeface="Work Sans"/>
                        </a:rPr>
                        <a:t>image (12/15)</a:t>
                      </a:r>
                    </a:p>
                  </a:txBody>
                  <a:tcPr marL="54864" marR="54864" marT="18288" marB="18288" anchor="ctr">
                    <a:solidFill>
                      <a:srgbClr val="FFFFFF"/>
                    </a:solidFill>
                  </a:tcPr>
                </a:tc>
                <a:tc>
                  <a:txBody>
                    <a:bodyPr/>
                    <a:lstStyle/>
                    <a:p>
                      <a:r>
                        <a:rPr sz="1000">
                          <a:solidFill>
                            <a:srgbClr val="2B2A35"/>
                          </a:solidFill>
                          <a:latin typeface="Work Sans"/>
                        </a:rPr>
                        <a:t>vidéo · 9 272</a:t>
                      </a:r>
                    </a:p>
                  </a:txBody>
                  <a:tcPr marL="54864" marR="54864" marT="18288" marB="18288" anchor="ctr">
                    <a:solidFill>
                      <a:srgbClr val="FFFFFF"/>
                    </a:solidFill>
                  </a:tcPr>
                </a:tc>
              </a:tr>
              <a:tr h="393192">
                <a:tc>
                  <a:txBody>
                    <a:bodyPr/>
                    <a:lstStyle/>
                    <a:p>
                      <a:r>
                        <a:rPr sz="1000">
                          <a:solidFill>
                            <a:srgbClr val="2B2A35"/>
                          </a:solidFill>
                          <a:latin typeface="Work Sans"/>
                        </a:rPr>
                        <a:t>Expresso (SN)</a:t>
                      </a:r>
                    </a:p>
                  </a:txBody>
                  <a:tcPr marL="54864" marR="54864" marT="18288" marB="18288" anchor="ctr">
                    <a:solidFill>
                      <a:srgbClr val="EEF2F6"/>
                    </a:solidFill>
                  </a:tcPr>
                </a:tc>
                <a:tc>
                  <a:txBody>
                    <a:bodyPr/>
                    <a:lstStyle/>
                    <a:p>
                      <a:pPr algn="ctr"/>
                      <a:r>
                        <a:rPr sz="1000">
                          <a:solidFill>
                            <a:srgbClr val="2B2A35"/>
                          </a:solidFill>
                          <a:latin typeface="Work Sans"/>
                        </a:rPr>
                        <a:t>22</a:t>
                      </a:r>
                    </a:p>
                  </a:txBody>
                  <a:tcPr marL="54864" marR="54864" marT="18288" marB="18288" anchor="ctr">
                    <a:solidFill>
                      <a:srgbClr val="EEF2F6"/>
                    </a:solidFill>
                  </a:tcPr>
                </a:tc>
                <a:tc>
                  <a:txBody>
                    <a:bodyPr/>
                    <a:lstStyle/>
                    <a:p>
                      <a:pPr algn="ctr"/>
                      <a:r>
                        <a:rPr sz="1000">
                          <a:solidFill>
                            <a:srgbClr val="2B2A35"/>
                          </a:solidFill>
                          <a:latin typeface="Work Sans"/>
                        </a:rPr>
                        <a:t>9</a:t>
                      </a:r>
                    </a:p>
                  </a:txBody>
                  <a:tcPr marL="54864" marR="54864" marT="18288" marB="18288" anchor="ctr">
                    <a:solidFill>
                      <a:srgbClr val="EEF2F6"/>
                    </a:solidFill>
                  </a:tcPr>
                </a:tc>
                <a:tc>
                  <a:txBody>
                    <a:bodyPr/>
                    <a:lstStyle/>
                    <a:p>
                      <a:r>
                        <a:rPr sz="1000">
                          <a:solidFill>
                            <a:srgbClr val="2B2A35"/>
                          </a:solidFill>
                          <a:latin typeface="Work Sans"/>
                        </a:rPr>
                        <a:t>image (12/15)</a:t>
                      </a:r>
                    </a:p>
                  </a:txBody>
                  <a:tcPr marL="54864" marR="54864" marT="18288" marB="18288" anchor="ctr">
                    <a:solidFill>
                      <a:srgbClr val="EEF2F6"/>
                    </a:solidFill>
                  </a:tcPr>
                </a:tc>
                <a:tc>
                  <a:txBody>
                    <a:bodyPr/>
                    <a:lstStyle/>
                    <a:p>
                      <a:r>
                        <a:rPr sz="1000">
                          <a:solidFill>
                            <a:srgbClr val="2B2A35"/>
                          </a:solidFill>
                          <a:latin typeface="Work Sans"/>
                        </a:rPr>
                        <a:t>vidéo · 63</a:t>
                      </a:r>
                    </a:p>
                  </a:txBody>
                  <a:tcPr marL="54864" marR="54864" marT="18288" marB="18288" anchor="ctr">
                    <a:solidFill>
                      <a:srgbClr val="EEF2F6"/>
                    </a:solidFill>
                  </a:tcPr>
                </a:tc>
              </a:tr>
              <a:tr h="393192">
                <a:tc>
                  <a:txBody>
                    <a:bodyPr/>
                    <a:lstStyle/>
                    <a:p>
                      <a:r>
                        <a:rPr sz="1000">
                          <a:solidFill>
                            <a:srgbClr val="2B2A35"/>
                          </a:solidFill>
                          <a:latin typeface="Work Sans"/>
                        </a:rPr>
                        <a:t>PayDunya (SN)</a:t>
                      </a:r>
                    </a:p>
                  </a:txBody>
                  <a:tcPr marL="54864" marR="54864" marT="18288" marB="18288" anchor="ctr">
                    <a:solidFill>
                      <a:srgbClr val="FFFFFF"/>
                    </a:solidFill>
                  </a:tcPr>
                </a:tc>
                <a:tc>
                  <a:txBody>
                    <a:bodyPr/>
                    <a:lstStyle/>
                    <a:p>
                      <a:pPr algn="ctr"/>
                      <a:r>
                        <a:rPr sz="1000">
                          <a:solidFill>
                            <a:srgbClr val="2B2A35"/>
                          </a:solidFill>
                          <a:latin typeface="Work Sans"/>
                        </a:rPr>
                        <a:t>7</a:t>
                      </a:r>
                    </a:p>
                  </a:txBody>
                  <a:tcPr marL="54864" marR="54864" marT="18288" marB="18288" anchor="ctr">
                    <a:solidFill>
                      <a:srgbClr val="FFFFFF"/>
                    </a:solidFill>
                  </a:tcPr>
                </a:tc>
                <a:tc>
                  <a:txBody>
                    <a:bodyPr/>
                    <a:lstStyle/>
                    <a:p>
                      <a:pPr algn="ctr"/>
                      <a:r>
                        <a:rPr sz="1000">
                          <a:solidFill>
                            <a:srgbClr val="2B2A35"/>
                          </a:solidFill>
                          <a:latin typeface="Work Sans"/>
                        </a:rPr>
                        <a:t>1</a:t>
                      </a:r>
                    </a:p>
                  </a:txBody>
                  <a:tcPr marL="54864" marR="54864" marT="18288" marB="18288" anchor="ctr">
                    <a:solidFill>
                      <a:srgbClr val="FFFFFF"/>
                    </a:solidFill>
                  </a:tcPr>
                </a:tc>
                <a:tc>
                  <a:txBody>
                    <a:bodyPr/>
                    <a:lstStyle/>
                    <a:p>
                      <a:r>
                        <a:rPr sz="1000">
                          <a:solidFill>
                            <a:srgbClr val="2B2A35"/>
                          </a:solidFill>
                          <a:latin typeface="Work Sans"/>
                        </a:rPr>
                        <a:t>image (10/15)</a:t>
                      </a:r>
                    </a:p>
                  </a:txBody>
                  <a:tcPr marL="54864" marR="54864" marT="18288" marB="18288" anchor="ctr">
                    <a:solidFill>
                      <a:srgbClr val="FFFFFF"/>
                    </a:solidFill>
                  </a:tcPr>
                </a:tc>
                <a:tc>
                  <a:txBody>
                    <a:bodyPr/>
                    <a:lstStyle/>
                    <a:p>
                      <a:r>
                        <a:rPr sz="1000">
                          <a:solidFill>
                            <a:srgbClr val="2B2A35"/>
                          </a:solidFill>
                          <a:latin typeface="Work Sans"/>
                        </a:rPr>
                        <a:t>image · 138</a:t>
                      </a:r>
                    </a:p>
                  </a:txBody>
                  <a:tcPr marL="54864" marR="54864" marT="18288" marB="18288" anchor="ctr">
                    <a:solidFill>
                      <a:srgbClr val="FFFFFF"/>
                    </a:solidFill>
                  </a:tcPr>
                </a:tc>
              </a:tr>
            </a:tbl>
          </a:graphicData>
        </a:graphic>
      </p:graphicFrame>
      <p:sp>
        <p:nvSpPr>
          <p:cNvPr id="10" name="TextBox 9"/>
          <p:cNvSpPr txBox="1"/>
          <p:nvPr/>
        </p:nvSpPr>
        <p:spPr>
          <a:xfrm>
            <a:off x="7818120" y="1417320"/>
            <a:ext cx="3822191" cy="4937760"/>
          </a:xfrm>
          <a:prstGeom prst="rect">
            <a:avLst/>
          </a:prstGeom>
          <a:noFill/>
        </p:spPr>
        <p:txBody>
          <a:bodyPr wrap="square" anchor="t" lIns="45720" rIns="45720" tIns="27432" bIns="27432">
            <a:spAutoFit/>
          </a:bodyPr>
          <a:lstStyle/>
          <a:p>
            <a:pPr algn="l">
              <a:lnSpc>
                <a:spcPct val="110000"/>
              </a:lnSpc>
              <a:spcAft>
                <a:spcPts val="100"/>
              </a:spcAft>
            </a:pPr>
            <a:r>
              <a:rPr sz="1100" b="1">
                <a:solidFill>
                  <a:srgbClr val="232754"/>
                </a:solidFill>
                <a:latin typeface="Work Sans"/>
              </a:rPr>
              <a:t>Plus de réactions qu'Instagram.</a:t>
            </a:r>
          </a:p>
          <a:p>
            <a:pPr algn="l">
              <a:lnSpc>
                <a:spcPct val="110000"/>
              </a:lnSpc>
              <a:spcAft>
                <a:spcPts val="900"/>
              </a:spcAft>
            </a:pPr>
            <a:r>
              <a:rPr sz="1000" b="0">
                <a:solidFill>
                  <a:srgbClr val="2B2A35"/>
                </a:solidFill>
                <a:latin typeface="Work Sans"/>
              </a:rPr>
              <a:t>Wave Sénégal : 525 réactions en médiane sur Facebook, 207 sur Instagram. Moov Africa CI : 409 contre 11.</a:t>
            </a:r>
          </a:p>
          <a:p>
            <a:pPr algn="l">
              <a:lnSpc>
                <a:spcPct val="110000"/>
              </a:lnSpc>
              <a:spcAft>
                <a:spcPts val="100"/>
              </a:spcAft>
            </a:pPr>
            <a:r>
              <a:rPr sz="1100" b="1">
                <a:solidFill>
                  <a:srgbClr val="232754"/>
                </a:solidFill>
                <a:latin typeface="Work Sans"/>
              </a:rPr>
              <a:t>L'image promo y marche mieux.</a:t>
            </a:r>
          </a:p>
          <a:p>
            <a:pPr algn="l">
              <a:lnSpc>
                <a:spcPct val="110000"/>
              </a:lnSpc>
              <a:spcAft>
                <a:spcPts val="900"/>
              </a:spcAft>
            </a:pPr>
            <a:r>
              <a:rPr sz="1000" b="0">
                <a:solidFill>
                  <a:srgbClr val="2B2A35"/>
                </a:solidFill>
                <a:latin typeface="Work Sans"/>
              </a:rPr>
              <a:t>La meilleure publication de Moov Africa est une offre liée au football (4 065 réactions). Sur Instagram, le même type d'affiche plafonne.</a:t>
            </a:r>
          </a:p>
          <a:p>
            <a:pPr algn="l">
              <a:lnSpc>
                <a:spcPct val="110000"/>
              </a:lnSpc>
              <a:spcAft>
                <a:spcPts val="100"/>
              </a:spcAft>
            </a:pPr>
            <a:r>
              <a:rPr sz="1100" b="1">
                <a:solidFill>
                  <a:srgbClr val="232754"/>
                </a:solidFill>
                <a:latin typeface="Work Sans"/>
              </a:rPr>
              <a:t>La question simple fait parler.</a:t>
            </a:r>
          </a:p>
          <a:p>
            <a:pPr algn="l">
              <a:lnSpc>
                <a:spcPct val="110000"/>
              </a:lnSpc>
              <a:spcAft>
                <a:spcPts val="900"/>
              </a:spcAft>
            </a:pPr>
            <a:r>
              <a:rPr sz="1000" b="0">
                <a:solidFill>
                  <a:srgbClr val="2B2A35"/>
                </a:solidFill>
                <a:latin typeface="Work Sans"/>
              </a:rPr>
              <a:t>Les posts en texte seul (pronostic de match, blague du jour) font 1,85 fois la médiane de la page, et beaucoup de commentaires.</a:t>
            </a:r>
          </a:p>
          <a:p>
            <a:pPr algn="l">
              <a:lnSpc>
                <a:spcPct val="110000"/>
              </a:lnSpc>
              <a:spcAft>
                <a:spcPts val="100"/>
              </a:spcAft>
            </a:pPr>
            <a:r>
              <a:rPr sz="1100" b="1">
                <a:solidFill>
                  <a:srgbClr val="232754"/>
                </a:solidFill>
                <a:latin typeface="Work Sans"/>
              </a:rPr>
              <a:t>La vidéo de vraie personne explose.</a:t>
            </a:r>
          </a:p>
          <a:p>
            <a:pPr algn="l">
              <a:lnSpc>
                <a:spcPct val="110000"/>
              </a:lnSpc>
              <a:spcAft>
                <a:spcPts val="900"/>
              </a:spcAft>
            </a:pPr>
            <a:r>
              <a:rPr sz="1000" b="0">
                <a:solidFill>
                  <a:srgbClr val="2B2A35"/>
                </a:solidFill>
                <a:latin typeface="Work Sans"/>
              </a:rPr>
              <a:t>« Vendredi Confession » de Djamo : 10 455 réactions et 604 247 vues. La vidéo en wolof de Yas : 919 266 vues.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FACEBOOK ET TIKTOK</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TikTok : les plus grosses audiences du relevé</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14</a:t>
            </a:r>
          </a:p>
        </p:txBody>
      </p:sp>
      <p:graphicFrame>
        <p:nvGraphicFramePr>
          <p:cNvPr id="9" name="Table 8"/>
          <p:cNvGraphicFramePr>
            <a:graphicFrameLocks noGrp="1"/>
          </p:cNvGraphicFramePr>
          <p:nvPr/>
        </p:nvGraphicFramePr>
        <p:xfrm>
          <a:off x="548640" y="1417320"/>
          <a:ext cx="7223760" cy="4526280"/>
        </p:xfrm>
        <a:graphic>
          <a:graphicData uri="http://schemas.openxmlformats.org/drawingml/2006/table">
            <a:tbl>
              <a:tblPr firstRow="1" bandRow="1">
                <a:tableStyleId>{5C22544A-7EE6-4342-B048-85BDC9FD1C3A}</a:tableStyleId>
              </a:tblPr>
              <a:tblGrid>
                <a:gridCol w="1920240"/>
                <a:gridCol w="1005840"/>
                <a:gridCol w="1143000"/>
                <a:gridCol w="1097280"/>
                <a:gridCol w="960120"/>
                <a:gridCol w="1097280"/>
              </a:tblGrid>
              <a:tr h="411480">
                <a:tc>
                  <a:txBody>
                    <a:bodyPr/>
                    <a:lstStyle/>
                    <a:p>
                      <a:r>
                        <a:rPr sz="1000" b="1">
                          <a:solidFill>
                            <a:srgbClr val="FFFFFF"/>
                          </a:solidFill>
                          <a:latin typeface="Space Grotesk"/>
                        </a:rPr>
                        <a:t>Compte TikTok</a:t>
                      </a:r>
                    </a:p>
                  </a:txBody>
                  <a:tcPr marL="54864" marR="54864" marT="18288" marB="18288" anchor="ctr">
                    <a:solidFill>
                      <a:srgbClr val="232754"/>
                    </a:solidFill>
                  </a:tcPr>
                </a:tc>
                <a:tc>
                  <a:txBody>
                    <a:bodyPr/>
                    <a:lstStyle/>
                    <a:p>
                      <a:r>
                        <a:rPr sz="1000" b="1">
                          <a:solidFill>
                            <a:srgbClr val="FFFFFF"/>
                          </a:solidFill>
                          <a:latin typeface="Space Grotesk"/>
                        </a:rPr>
                        <a:t>Abonnés</a:t>
                      </a:r>
                    </a:p>
                  </a:txBody>
                  <a:tcPr marL="54864" marR="54864" marT="18288" marB="18288" anchor="ctr">
                    <a:solidFill>
                      <a:srgbClr val="232754"/>
                    </a:solidFill>
                  </a:tcPr>
                </a:tc>
                <a:tc>
                  <a:txBody>
                    <a:bodyPr/>
                    <a:lstStyle/>
                    <a:p>
                      <a:r>
                        <a:rPr sz="1000" b="1">
                          <a:solidFill>
                            <a:srgbClr val="FFFFFF"/>
                          </a:solidFill>
                          <a:latin typeface="Space Grotesk"/>
                        </a:rPr>
                        <a:t>Vues médianes</a:t>
                      </a:r>
                    </a:p>
                  </a:txBody>
                  <a:tcPr marL="54864" marR="54864" marT="18288" marB="18288" anchor="ctr">
                    <a:solidFill>
                      <a:srgbClr val="232754"/>
                    </a:solidFill>
                  </a:tcPr>
                </a:tc>
                <a:tc>
                  <a:txBody>
                    <a:bodyPr/>
                    <a:lstStyle/>
                    <a:p>
                      <a:r>
                        <a:rPr sz="1000" b="1">
                          <a:solidFill>
                            <a:srgbClr val="FFFFFF"/>
                          </a:solidFill>
                          <a:latin typeface="Space Grotesk"/>
                        </a:rPr>
                        <a:t>J'aime médians</a:t>
                      </a:r>
                    </a:p>
                  </a:txBody>
                  <a:tcPr marL="54864" marR="54864" marT="18288" marB="18288" anchor="ctr">
                    <a:solidFill>
                      <a:srgbClr val="232754"/>
                    </a:solidFill>
                  </a:tcPr>
                </a:tc>
                <a:tc>
                  <a:txBody>
                    <a:bodyPr/>
                    <a:lstStyle/>
                    <a:p>
                      <a:r>
                        <a:rPr sz="1000" b="1">
                          <a:solidFill>
                            <a:srgbClr val="FFFFFF"/>
                          </a:solidFill>
                          <a:latin typeface="Space Grotesk"/>
                        </a:rPr>
                        <a:t>Durée médiane</a:t>
                      </a:r>
                    </a:p>
                  </a:txBody>
                  <a:tcPr marL="54864" marR="54864" marT="18288" marB="18288" anchor="ctr">
                    <a:solidFill>
                      <a:srgbClr val="232754"/>
                    </a:solidFill>
                  </a:tcPr>
                </a:tc>
                <a:tc>
                  <a:txBody>
                    <a:bodyPr/>
                    <a:lstStyle/>
                    <a:p>
                      <a:r>
                        <a:rPr sz="1000" b="1">
                          <a:solidFill>
                            <a:srgbClr val="FFFFFF"/>
                          </a:solidFill>
                          <a:latin typeface="Space Grotesk"/>
                        </a:rPr>
                        <a:t>Meilleure vidéo (vues)</a:t>
                      </a:r>
                    </a:p>
                  </a:txBody>
                  <a:tcPr marL="54864" marR="54864" marT="18288" marB="18288" anchor="ctr">
                    <a:solidFill>
                      <a:srgbClr val="232754"/>
                    </a:solidFill>
                  </a:tcPr>
                </a:tc>
              </a:tr>
              <a:tr h="411480">
                <a:tc>
                  <a:txBody>
                    <a:bodyPr/>
                    <a:lstStyle/>
                    <a:p>
                      <a:r>
                        <a:rPr sz="1000">
                          <a:solidFill>
                            <a:srgbClr val="2B2A35"/>
                          </a:solidFill>
                          <a:latin typeface="Work Sans"/>
                        </a:rPr>
                        <a:t>Wave CI (CI)</a:t>
                      </a:r>
                    </a:p>
                  </a:txBody>
                  <a:tcPr marL="54864" marR="54864" marT="18288" marB="18288" anchor="ctr">
                    <a:solidFill>
                      <a:srgbClr val="FFFFFF"/>
                    </a:solidFill>
                  </a:tcPr>
                </a:tc>
                <a:tc>
                  <a:txBody>
                    <a:bodyPr/>
                    <a:lstStyle/>
                    <a:p>
                      <a:pPr algn="ctr"/>
                      <a:r>
                        <a:rPr sz="1000">
                          <a:solidFill>
                            <a:srgbClr val="2B2A35"/>
                          </a:solidFill>
                          <a:latin typeface="Work Sans"/>
                        </a:rPr>
                        <a:t>337 500</a:t>
                      </a:r>
                    </a:p>
                  </a:txBody>
                  <a:tcPr marL="54864" marR="54864" marT="18288" marB="18288" anchor="ctr">
                    <a:solidFill>
                      <a:srgbClr val="FFFFFF"/>
                    </a:solidFill>
                  </a:tcPr>
                </a:tc>
                <a:tc>
                  <a:txBody>
                    <a:bodyPr/>
                    <a:lstStyle/>
                    <a:p>
                      <a:pPr algn="ctr"/>
                      <a:r>
                        <a:rPr sz="1000">
                          <a:solidFill>
                            <a:srgbClr val="2B2A35"/>
                          </a:solidFill>
                          <a:latin typeface="Work Sans"/>
                        </a:rPr>
                        <a:t>13 000</a:t>
                      </a:r>
                    </a:p>
                  </a:txBody>
                  <a:tcPr marL="54864" marR="54864" marT="18288" marB="18288" anchor="ctr">
                    <a:solidFill>
                      <a:srgbClr val="FFFFFF"/>
                    </a:solidFill>
                  </a:tcPr>
                </a:tc>
                <a:tc>
                  <a:txBody>
                    <a:bodyPr/>
                    <a:lstStyle/>
                    <a:p>
                      <a:pPr algn="ctr"/>
                      <a:r>
                        <a:rPr sz="1000">
                          <a:solidFill>
                            <a:srgbClr val="2B2A35"/>
                          </a:solidFill>
                          <a:latin typeface="Work Sans"/>
                        </a:rPr>
                        <a:t>1 481</a:t>
                      </a:r>
                    </a:p>
                  </a:txBody>
                  <a:tcPr marL="54864" marR="54864" marT="18288" marB="18288" anchor="ctr">
                    <a:solidFill>
                      <a:srgbClr val="FFFFFF"/>
                    </a:solidFill>
                  </a:tcPr>
                </a:tc>
                <a:tc>
                  <a:txBody>
                    <a:bodyPr/>
                    <a:lstStyle/>
                    <a:p>
                      <a:pPr algn="ctr"/>
                      <a:r>
                        <a:rPr sz="1000">
                          <a:solidFill>
                            <a:srgbClr val="2B2A35"/>
                          </a:solidFill>
                          <a:latin typeface="Work Sans"/>
                        </a:rPr>
                        <a:t>45 s</a:t>
                      </a:r>
                    </a:p>
                  </a:txBody>
                  <a:tcPr marL="54864" marR="54864" marT="18288" marB="18288" anchor="ctr">
                    <a:solidFill>
                      <a:srgbClr val="FFFFFF"/>
                    </a:solidFill>
                  </a:tcPr>
                </a:tc>
                <a:tc>
                  <a:txBody>
                    <a:bodyPr/>
                    <a:lstStyle/>
                    <a:p>
                      <a:pPr algn="ctr"/>
                      <a:r>
                        <a:rPr sz="1000">
                          <a:solidFill>
                            <a:srgbClr val="2B2A35"/>
                          </a:solidFill>
                          <a:latin typeface="Work Sans"/>
                        </a:rPr>
                        <a:t>169 700</a:t>
                      </a:r>
                    </a:p>
                  </a:txBody>
                  <a:tcPr marL="54864" marR="54864" marT="18288" marB="18288" anchor="ctr">
                    <a:solidFill>
                      <a:srgbClr val="FFFFFF"/>
                    </a:solidFill>
                  </a:tcPr>
                </a:tc>
              </a:tr>
              <a:tr h="411480">
                <a:tc>
                  <a:txBody>
                    <a:bodyPr/>
                    <a:lstStyle/>
                    <a:p>
                      <a:r>
                        <a:rPr sz="1000">
                          <a:solidFill>
                            <a:srgbClr val="2B2A35"/>
                          </a:solidFill>
                          <a:latin typeface="Work Sans"/>
                        </a:rPr>
                        <a:t>Orange CI (CI)</a:t>
                      </a:r>
                    </a:p>
                  </a:txBody>
                  <a:tcPr marL="54864" marR="54864" marT="18288" marB="18288" anchor="ctr">
                    <a:solidFill>
                      <a:srgbClr val="EEF2F6"/>
                    </a:solidFill>
                  </a:tcPr>
                </a:tc>
                <a:tc>
                  <a:txBody>
                    <a:bodyPr/>
                    <a:lstStyle/>
                    <a:p>
                      <a:pPr algn="ctr"/>
                      <a:r>
                        <a:rPr sz="1000">
                          <a:solidFill>
                            <a:srgbClr val="2B2A35"/>
                          </a:solidFill>
                          <a:latin typeface="Work Sans"/>
                        </a:rPr>
                        <a:t>438 200</a:t>
                      </a:r>
                    </a:p>
                  </a:txBody>
                  <a:tcPr marL="54864" marR="54864" marT="18288" marB="18288" anchor="ctr">
                    <a:solidFill>
                      <a:srgbClr val="EEF2F6"/>
                    </a:solidFill>
                  </a:tcPr>
                </a:tc>
                <a:tc>
                  <a:txBody>
                    <a:bodyPr/>
                    <a:lstStyle/>
                    <a:p>
                      <a:pPr algn="ctr"/>
                      <a:r>
                        <a:rPr sz="1000">
                          <a:solidFill>
                            <a:srgbClr val="2B2A35"/>
                          </a:solidFill>
                          <a:latin typeface="Work Sans"/>
                        </a:rPr>
                        <a:t>2 153</a:t>
                      </a:r>
                    </a:p>
                  </a:txBody>
                  <a:tcPr marL="54864" marR="54864" marT="18288" marB="18288" anchor="ctr">
                    <a:solidFill>
                      <a:srgbClr val="EEF2F6"/>
                    </a:solidFill>
                  </a:tcPr>
                </a:tc>
                <a:tc>
                  <a:txBody>
                    <a:bodyPr/>
                    <a:lstStyle/>
                    <a:p>
                      <a:pPr algn="ctr"/>
                      <a:r>
                        <a:rPr sz="1000">
                          <a:solidFill>
                            <a:srgbClr val="2B2A35"/>
                          </a:solidFill>
                          <a:latin typeface="Work Sans"/>
                        </a:rPr>
                        <a:t>172</a:t>
                      </a:r>
                    </a:p>
                  </a:txBody>
                  <a:tcPr marL="54864" marR="54864" marT="18288" marB="18288" anchor="ctr">
                    <a:solidFill>
                      <a:srgbClr val="EEF2F6"/>
                    </a:solidFill>
                  </a:tcPr>
                </a:tc>
                <a:tc>
                  <a:txBody>
                    <a:bodyPr/>
                    <a:lstStyle/>
                    <a:p>
                      <a:pPr algn="ctr"/>
                      <a:r>
                        <a:rPr sz="1000">
                          <a:solidFill>
                            <a:srgbClr val="2B2A35"/>
                          </a:solidFill>
                          <a:latin typeface="Work Sans"/>
                        </a:rPr>
                        <a:t>106 s</a:t>
                      </a:r>
                    </a:p>
                  </a:txBody>
                  <a:tcPr marL="54864" marR="54864" marT="18288" marB="18288" anchor="ctr">
                    <a:solidFill>
                      <a:srgbClr val="EEF2F6"/>
                    </a:solidFill>
                  </a:tcPr>
                </a:tc>
                <a:tc>
                  <a:txBody>
                    <a:bodyPr/>
                    <a:lstStyle/>
                    <a:p>
                      <a:pPr algn="ctr"/>
                      <a:r>
                        <a:rPr sz="1000">
                          <a:solidFill>
                            <a:srgbClr val="2B2A35"/>
                          </a:solidFill>
                          <a:latin typeface="Work Sans"/>
                        </a:rPr>
                        <a:t>603 700</a:t>
                      </a:r>
                    </a:p>
                  </a:txBody>
                  <a:tcPr marL="54864" marR="54864" marT="18288" marB="18288" anchor="ctr">
                    <a:solidFill>
                      <a:srgbClr val="EEF2F6"/>
                    </a:solidFill>
                  </a:tcPr>
                </a:tc>
              </a:tr>
              <a:tr h="411480">
                <a:tc>
                  <a:txBody>
                    <a:bodyPr/>
                    <a:lstStyle/>
                    <a:p>
                      <a:r>
                        <a:rPr sz="1000">
                          <a:solidFill>
                            <a:srgbClr val="2B2A35"/>
                          </a:solidFill>
                          <a:latin typeface="Work Sans"/>
                        </a:rPr>
                        <a:t>Moov Africa CI (CI)</a:t>
                      </a:r>
                    </a:p>
                  </a:txBody>
                  <a:tcPr marL="54864" marR="54864" marT="18288" marB="18288" anchor="ctr">
                    <a:solidFill>
                      <a:srgbClr val="FFFFFF"/>
                    </a:solidFill>
                  </a:tcPr>
                </a:tc>
                <a:tc>
                  <a:txBody>
                    <a:bodyPr/>
                    <a:lstStyle/>
                    <a:p>
                      <a:pPr algn="ctr"/>
                      <a:r>
                        <a:rPr sz="1000">
                          <a:solidFill>
                            <a:srgbClr val="2B2A35"/>
                          </a:solidFill>
                          <a:latin typeface="Work Sans"/>
                        </a:rPr>
                        <a:t>71 800</a:t>
                      </a:r>
                    </a:p>
                  </a:txBody>
                  <a:tcPr marL="54864" marR="54864" marT="18288" marB="18288" anchor="ctr">
                    <a:solidFill>
                      <a:srgbClr val="FFFFFF"/>
                    </a:solidFill>
                  </a:tcPr>
                </a:tc>
                <a:tc>
                  <a:txBody>
                    <a:bodyPr/>
                    <a:lstStyle/>
                    <a:p>
                      <a:pPr algn="ctr"/>
                      <a:r>
                        <a:rPr sz="1000">
                          <a:solidFill>
                            <a:srgbClr val="2B2A35"/>
                          </a:solidFill>
                          <a:latin typeface="Work Sans"/>
                        </a:rPr>
                        <a:t>2 788</a:t>
                      </a:r>
                    </a:p>
                  </a:txBody>
                  <a:tcPr marL="54864" marR="54864" marT="18288" marB="18288" anchor="ctr">
                    <a:solidFill>
                      <a:srgbClr val="FFFFFF"/>
                    </a:solidFill>
                  </a:tcPr>
                </a:tc>
                <a:tc>
                  <a:txBody>
                    <a:bodyPr/>
                    <a:lstStyle/>
                    <a:p>
                      <a:pPr algn="ctr"/>
                      <a:r>
                        <a:rPr sz="1000">
                          <a:solidFill>
                            <a:srgbClr val="2B2A35"/>
                          </a:solidFill>
                          <a:latin typeface="Work Sans"/>
                        </a:rPr>
                        <a:t>364</a:t>
                      </a:r>
                    </a:p>
                  </a:txBody>
                  <a:tcPr marL="54864" marR="54864" marT="18288" marB="18288" anchor="ctr">
                    <a:solidFill>
                      <a:srgbClr val="FFFFFF"/>
                    </a:solidFill>
                  </a:tcPr>
                </a:tc>
                <a:tc>
                  <a:txBody>
                    <a:bodyPr/>
                    <a:lstStyle/>
                    <a:p>
                      <a:pPr algn="ctr"/>
                      <a:r>
                        <a:rPr sz="1000">
                          <a:solidFill>
                            <a:srgbClr val="2B2A35"/>
                          </a:solidFill>
                          <a:latin typeface="Work Sans"/>
                        </a:rPr>
                        <a:t>54 s</a:t>
                      </a:r>
                    </a:p>
                  </a:txBody>
                  <a:tcPr marL="54864" marR="54864" marT="18288" marB="18288" anchor="ctr">
                    <a:solidFill>
                      <a:srgbClr val="FFFFFF"/>
                    </a:solidFill>
                  </a:tcPr>
                </a:tc>
                <a:tc>
                  <a:txBody>
                    <a:bodyPr/>
                    <a:lstStyle/>
                    <a:p>
                      <a:pPr algn="ctr"/>
                      <a:r>
                        <a:rPr sz="1000">
                          <a:solidFill>
                            <a:srgbClr val="2B2A35"/>
                          </a:solidFill>
                          <a:latin typeface="Work Sans"/>
                        </a:rPr>
                        <a:t>266 800</a:t>
                      </a:r>
                    </a:p>
                  </a:txBody>
                  <a:tcPr marL="54864" marR="54864" marT="18288" marB="18288" anchor="ctr">
                    <a:solidFill>
                      <a:srgbClr val="FFFFFF"/>
                    </a:solidFill>
                  </a:tcPr>
                </a:tc>
              </a:tr>
              <a:tr h="411480">
                <a:tc>
                  <a:txBody>
                    <a:bodyPr/>
                    <a:lstStyle/>
                    <a:p>
                      <a:r>
                        <a:rPr sz="1000">
                          <a:solidFill>
                            <a:srgbClr val="2B2A35"/>
                          </a:solidFill>
                          <a:latin typeface="Work Sans"/>
                        </a:rPr>
                        <a:t>MTN CI (CI)</a:t>
                      </a:r>
                    </a:p>
                  </a:txBody>
                  <a:tcPr marL="54864" marR="54864" marT="18288" marB="18288" anchor="ctr">
                    <a:solidFill>
                      <a:srgbClr val="EEF2F6"/>
                    </a:solidFill>
                  </a:tcPr>
                </a:tc>
                <a:tc>
                  <a:txBody>
                    <a:bodyPr/>
                    <a:lstStyle/>
                    <a:p>
                      <a:pPr algn="ctr"/>
                      <a:r>
                        <a:rPr sz="1000">
                          <a:solidFill>
                            <a:srgbClr val="2B2A35"/>
                          </a:solidFill>
                          <a:latin typeface="Work Sans"/>
                        </a:rPr>
                        <a:t>206 900</a:t>
                      </a:r>
                    </a:p>
                  </a:txBody>
                  <a:tcPr marL="54864" marR="54864" marT="18288" marB="18288" anchor="ctr">
                    <a:solidFill>
                      <a:srgbClr val="EEF2F6"/>
                    </a:solidFill>
                  </a:tcPr>
                </a:tc>
                <a:tc>
                  <a:txBody>
                    <a:bodyPr/>
                    <a:lstStyle/>
                    <a:p>
                      <a:pPr algn="ctr"/>
                      <a:r>
                        <a:rPr sz="1000">
                          <a:solidFill>
                            <a:srgbClr val="2B2A35"/>
                          </a:solidFill>
                          <a:latin typeface="Work Sans"/>
                        </a:rPr>
                        <a:t>1 436</a:t>
                      </a:r>
                    </a:p>
                  </a:txBody>
                  <a:tcPr marL="54864" marR="54864" marT="18288" marB="18288" anchor="ctr">
                    <a:solidFill>
                      <a:srgbClr val="EEF2F6"/>
                    </a:solidFill>
                  </a:tcPr>
                </a:tc>
                <a:tc>
                  <a:txBody>
                    <a:bodyPr/>
                    <a:lstStyle/>
                    <a:p>
                      <a:pPr algn="ctr"/>
                      <a:r>
                        <a:rPr sz="1000">
                          <a:solidFill>
                            <a:srgbClr val="2B2A35"/>
                          </a:solidFill>
                          <a:latin typeface="Work Sans"/>
                        </a:rPr>
                        <a:t>64</a:t>
                      </a:r>
                    </a:p>
                  </a:txBody>
                  <a:tcPr marL="54864" marR="54864" marT="18288" marB="18288" anchor="ctr">
                    <a:solidFill>
                      <a:srgbClr val="EEF2F6"/>
                    </a:solidFill>
                  </a:tcPr>
                </a:tc>
                <a:tc>
                  <a:txBody>
                    <a:bodyPr/>
                    <a:lstStyle/>
                    <a:p>
                      <a:pPr algn="ctr"/>
                      <a:r>
                        <a:rPr sz="1000">
                          <a:solidFill>
                            <a:srgbClr val="2B2A35"/>
                          </a:solidFill>
                          <a:latin typeface="Work Sans"/>
                        </a:rPr>
                        <a:t>49 s</a:t>
                      </a:r>
                    </a:p>
                  </a:txBody>
                  <a:tcPr marL="54864" marR="54864" marT="18288" marB="18288" anchor="ctr">
                    <a:solidFill>
                      <a:srgbClr val="EEF2F6"/>
                    </a:solidFill>
                  </a:tcPr>
                </a:tc>
                <a:tc>
                  <a:txBody>
                    <a:bodyPr/>
                    <a:lstStyle/>
                    <a:p>
                      <a:pPr algn="ctr"/>
                      <a:r>
                        <a:rPr sz="1000">
                          <a:solidFill>
                            <a:srgbClr val="2B2A35"/>
                          </a:solidFill>
                          <a:latin typeface="Work Sans"/>
                        </a:rPr>
                        <a:t>79 700</a:t>
                      </a:r>
                    </a:p>
                  </a:txBody>
                  <a:tcPr marL="54864" marR="54864" marT="18288" marB="18288" anchor="ctr">
                    <a:solidFill>
                      <a:srgbClr val="EEF2F6"/>
                    </a:solidFill>
                  </a:tcPr>
                </a:tc>
              </a:tr>
              <a:tr h="411480">
                <a:tc>
                  <a:txBody>
                    <a:bodyPr/>
                    <a:lstStyle/>
                    <a:p>
                      <a:r>
                        <a:rPr sz="1000">
                          <a:solidFill>
                            <a:srgbClr val="2B2A35"/>
                          </a:solidFill>
                          <a:latin typeface="Work Sans"/>
                        </a:rPr>
                        <a:t>Djamo (CI)</a:t>
                      </a:r>
                    </a:p>
                  </a:txBody>
                  <a:tcPr marL="54864" marR="54864" marT="18288" marB="18288" anchor="ctr">
                    <a:solidFill>
                      <a:srgbClr val="FFFFFF"/>
                    </a:solidFill>
                  </a:tcPr>
                </a:tc>
                <a:tc>
                  <a:txBody>
                    <a:bodyPr/>
                    <a:lstStyle/>
                    <a:p>
                      <a:pPr algn="ctr"/>
                      <a:r>
                        <a:rPr sz="1000">
                          <a:solidFill>
                            <a:srgbClr val="2B2A35"/>
                          </a:solidFill>
                          <a:latin typeface="Work Sans"/>
                        </a:rPr>
                        <a:t>47 400</a:t>
                      </a:r>
                    </a:p>
                  </a:txBody>
                  <a:tcPr marL="54864" marR="54864" marT="18288" marB="18288" anchor="ctr">
                    <a:solidFill>
                      <a:srgbClr val="FFFFFF"/>
                    </a:solidFill>
                  </a:tcPr>
                </a:tc>
                <a:tc>
                  <a:txBody>
                    <a:bodyPr/>
                    <a:lstStyle/>
                    <a:p>
                      <a:pPr algn="ctr"/>
                      <a:r>
                        <a:rPr sz="1000">
                          <a:solidFill>
                            <a:srgbClr val="2B2A35"/>
                          </a:solidFill>
                          <a:latin typeface="Work Sans"/>
                        </a:rPr>
                        <a:t>4 206</a:t>
                      </a:r>
                    </a:p>
                  </a:txBody>
                  <a:tcPr marL="54864" marR="54864" marT="18288" marB="18288" anchor="ctr">
                    <a:solidFill>
                      <a:srgbClr val="FFFFFF"/>
                    </a:solidFill>
                  </a:tcPr>
                </a:tc>
                <a:tc>
                  <a:txBody>
                    <a:bodyPr/>
                    <a:lstStyle/>
                    <a:p>
                      <a:pPr algn="ctr"/>
                      <a:r>
                        <a:rPr sz="1000">
                          <a:solidFill>
                            <a:srgbClr val="2B2A35"/>
                          </a:solidFill>
                          <a:latin typeface="Work Sans"/>
                        </a:rPr>
                        <a:t>174</a:t>
                      </a:r>
                    </a:p>
                  </a:txBody>
                  <a:tcPr marL="54864" marR="54864" marT="18288" marB="18288" anchor="ctr">
                    <a:solidFill>
                      <a:srgbClr val="FFFFFF"/>
                    </a:solidFill>
                  </a:tcPr>
                </a:tc>
                <a:tc>
                  <a:txBody>
                    <a:bodyPr/>
                    <a:lstStyle/>
                    <a:p>
                      <a:pPr algn="ctr"/>
                      <a:r>
                        <a:rPr sz="1000">
                          <a:solidFill>
                            <a:srgbClr val="2B2A35"/>
                          </a:solidFill>
                          <a:latin typeface="Work Sans"/>
                        </a:rPr>
                        <a:t>19 s</a:t>
                      </a:r>
                    </a:p>
                  </a:txBody>
                  <a:tcPr marL="54864" marR="54864" marT="18288" marB="18288" anchor="ctr">
                    <a:solidFill>
                      <a:srgbClr val="FFFFFF"/>
                    </a:solidFill>
                  </a:tcPr>
                </a:tc>
                <a:tc>
                  <a:txBody>
                    <a:bodyPr/>
                    <a:lstStyle/>
                    <a:p>
                      <a:pPr algn="ctr"/>
                      <a:r>
                        <a:rPr sz="1000">
                          <a:solidFill>
                            <a:srgbClr val="2B2A35"/>
                          </a:solidFill>
                          <a:latin typeface="Work Sans"/>
                        </a:rPr>
                        <a:t>74 100</a:t>
                      </a:r>
                    </a:p>
                  </a:txBody>
                  <a:tcPr marL="54864" marR="54864" marT="18288" marB="18288" anchor="ctr">
                    <a:solidFill>
                      <a:srgbClr val="FFFFFF"/>
                    </a:solidFill>
                  </a:tcPr>
                </a:tc>
              </a:tr>
              <a:tr h="411480">
                <a:tc>
                  <a:txBody>
                    <a:bodyPr/>
                    <a:lstStyle/>
                    <a:p>
                      <a:r>
                        <a:rPr sz="1000">
                          <a:solidFill>
                            <a:srgbClr val="2B2A35"/>
                          </a:solidFill>
                          <a:latin typeface="Work Sans"/>
                        </a:rPr>
                        <a:t>Groupe InTouch (CI)</a:t>
                      </a:r>
                    </a:p>
                  </a:txBody>
                  <a:tcPr marL="54864" marR="54864" marT="18288" marB="18288" anchor="ctr">
                    <a:solidFill>
                      <a:srgbClr val="EEF2F6"/>
                    </a:solidFill>
                  </a:tcPr>
                </a:tc>
                <a:tc>
                  <a:txBody>
                    <a:bodyPr/>
                    <a:lstStyle/>
                    <a:p>
                      <a:pPr algn="ctr"/>
                      <a:r>
                        <a:rPr sz="1000">
                          <a:solidFill>
                            <a:srgbClr val="2B2A35"/>
                          </a:solidFill>
                          <a:latin typeface="Work Sans"/>
                        </a:rPr>
                        <a:t>7 453</a:t>
                      </a:r>
                    </a:p>
                  </a:txBody>
                  <a:tcPr marL="54864" marR="54864" marT="18288" marB="18288" anchor="ctr">
                    <a:solidFill>
                      <a:srgbClr val="EEF2F6"/>
                    </a:solidFill>
                  </a:tcPr>
                </a:tc>
                <a:tc>
                  <a:txBody>
                    <a:bodyPr/>
                    <a:lstStyle/>
                    <a:p>
                      <a:pPr algn="ctr"/>
                      <a:r>
                        <a:rPr sz="1000">
                          <a:solidFill>
                            <a:srgbClr val="2B2A35"/>
                          </a:solidFill>
                          <a:latin typeface="Work Sans"/>
                        </a:rPr>
                        <a:t>679</a:t>
                      </a:r>
                    </a:p>
                  </a:txBody>
                  <a:tcPr marL="54864" marR="54864" marT="18288" marB="18288" anchor="ctr">
                    <a:solidFill>
                      <a:srgbClr val="EEF2F6"/>
                    </a:solidFill>
                  </a:tcPr>
                </a:tc>
                <a:tc>
                  <a:txBody>
                    <a:bodyPr/>
                    <a:lstStyle/>
                    <a:p>
                      <a:pPr algn="ctr"/>
                      <a:r>
                        <a:rPr sz="1000">
                          <a:solidFill>
                            <a:srgbClr val="2B2A35"/>
                          </a:solidFill>
                          <a:latin typeface="Work Sans"/>
                        </a:rPr>
                        <a:t>28</a:t>
                      </a:r>
                    </a:p>
                  </a:txBody>
                  <a:tcPr marL="54864" marR="54864" marT="18288" marB="18288" anchor="ctr">
                    <a:solidFill>
                      <a:srgbClr val="EEF2F6"/>
                    </a:solidFill>
                  </a:tcPr>
                </a:tc>
                <a:tc>
                  <a:txBody>
                    <a:bodyPr/>
                    <a:lstStyle/>
                    <a:p>
                      <a:pPr algn="ctr"/>
                      <a:r>
                        <a:rPr sz="1000">
                          <a:solidFill>
                            <a:srgbClr val="2B2A35"/>
                          </a:solidFill>
                          <a:latin typeface="Work Sans"/>
                        </a:rPr>
                        <a:t>5 s</a:t>
                      </a:r>
                    </a:p>
                  </a:txBody>
                  <a:tcPr marL="54864" marR="54864" marT="18288" marB="18288" anchor="ctr">
                    <a:solidFill>
                      <a:srgbClr val="EEF2F6"/>
                    </a:solidFill>
                  </a:tcPr>
                </a:tc>
                <a:tc>
                  <a:txBody>
                    <a:bodyPr/>
                    <a:lstStyle/>
                    <a:p>
                      <a:pPr algn="ctr"/>
                      <a:r>
                        <a:rPr sz="1000">
                          <a:solidFill>
                            <a:srgbClr val="2B2A35"/>
                          </a:solidFill>
                          <a:latin typeface="Work Sans"/>
                        </a:rPr>
                        <a:t>20 200</a:t>
                      </a:r>
                    </a:p>
                  </a:txBody>
                  <a:tcPr marL="54864" marR="54864" marT="18288" marB="18288" anchor="ctr">
                    <a:solidFill>
                      <a:srgbClr val="EEF2F6"/>
                    </a:solidFill>
                  </a:tcPr>
                </a:tc>
              </a:tr>
              <a:tr h="411480">
                <a:tc>
                  <a:txBody>
                    <a:bodyPr/>
                    <a:lstStyle/>
                    <a:p>
                      <a:r>
                        <a:rPr sz="1000">
                          <a:solidFill>
                            <a:srgbClr val="2B2A35"/>
                          </a:solidFill>
                          <a:latin typeface="Work Sans"/>
                        </a:rPr>
                        <a:t>Wave Sénégal (SN)</a:t>
                      </a:r>
                    </a:p>
                  </a:txBody>
                  <a:tcPr marL="54864" marR="54864" marT="18288" marB="18288" anchor="ctr">
                    <a:solidFill>
                      <a:srgbClr val="FFFFFF"/>
                    </a:solidFill>
                  </a:tcPr>
                </a:tc>
                <a:tc>
                  <a:txBody>
                    <a:bodyPr/>
                    <a:lstStyle/>
                    <a:p>
                      <a:pPr algn="ctr"/>
                      <a:r>
                        <a:rPr sz="1000">
                          <a:solidFill>
                            <a:srgbClr val="2B2A35"/>
                          </a:solidFill>
                          <a:latin typeface="Work Sans"/>
                        </a:rPr>
                        <a:t>540 200</a:t>
                      </a:r>
                    </a:p>
                  </a:txBody>
                  <a:tcPr marL="54864" marR="54864" marT="18288" marB="18288" anchor="ctr">
                    <a:solidFill>
                      <a:srgbClr val="FFFFFF"/>
                    </a:solidFill>
                  </a:tcPr>
                </a:tc>
                <a:tc>
                  <a:txBody>
                    <a:bodyPr/>
                    <a:lstStyle/>
                    <a:p>
                      <a:pPr algn="ctr"/>
                      <a:r>
                        <a:rPr sz="1000">
                          <a:solidFill>
                            <a:srgbClr val="2B2A35"/>
                          </a:solidFill>
                          <a:latin typeface="Work Sans"/>
                        </a:rPr>
                        <a:t>51 500</a:t>
                      </a:r>
                    </a:p>
                  </a:txBody>
                  <a:tcPr marL="54864" marR="54864" marT="18288" marB="18288" anchor="ctr">
                    <a:solidFill>
                      <a:srgbClr val="FFFFFF"/>
                    </a:solidFill>
                  </a:tcPr>
                </a:tc>
                <a:tc>
                  <a:txBody>
                    <a:bodyPr/>
                    <a:lstStyle/>
                    <a:p>
                      <a:pPr algn="ctr"/>
                      <a:r>
                        <a:rPr sz="1000">
                          <a:solidFill>
                            <a:srgbClr val="2B2A35"/>
                          </a:solidFill>
                          <a:latin typeface="Work Sans"/>
                        </a:rPr>
                        <a:t>5 584</a:t>
                      </a:r>
                    </a:p>
                  </a:txBody>
                  <a:tcPr marL="54864" marR="54864" marT="18288" marB="18288" anchor="ctr">
                    <a:solidFill>
                      <a:srgbClr val="FFFFFF"/>
                    </a:solidFill>
                  </a:tcPr>
                </a:tc>
                <a:tc>
                  <a:txBody>
                    <a:bodyPr/>
                    <a:lstStyle/>
                    <a:p>
                      <a:pPr algn="ctr"/>
                      <a:r>
                        <a:rPr sz="1000">
                          <a:solidFill>
                            <a:srgbClr val="2B2A35"/>
                          </a:solidFill>
                          <a:latin typeface="Work Sans"/>
                        </a:rPr>
                        <a:t>115 s</a:t>
                      </a:r>
                    </a:p>
                  </a:txBody>
                  <a:tcPr marL="54864" marR="54864" marT="18288" marB="18288" anchor="ctr">
                    <a:solidFill>
                      <a:srgbClr val="FFFFFF"/>
                    </a:solidFill>
                  </a:tcPr>
                </a:tc>
                <a:tc>
                  <a:txBody>
                    <a:bodyPr/>
                    <a:lstStyle/>
                    <a:p>
                      <a:pPr algn="ctr"/>
                      <a:r>
                        <a:rPr sz="1000">
                          <a:solidFill>
                            <a:srgbClr val="2B2A35"/>
                          </a:solidFill>
                          <a:latin typeface="Work Sans"/>
                        </a:rPr>
                        <a:t>414 300</a:t>
                      </a:r>
                    </a:p>
                  </a:txBody>
                  <a:tcPr marL="54864" marR="54864" marT="18288" marB="18288" anchor="ctr">
                    <a:solidFill>
                      <a:srgbClr val="FFFFFF"/>
                    </a:solidFill>
                  </a:tcPr>
                </a:tc>
              </a:tr>
              <a:tr h="411480">
                <a:tc>
                  <a:txBody>
                    <a:bodyPr/>
                    <a:lstStyle/>
                    <a:p>
                      <a:r>
                        <a:rPr sz="1000">
                          <a:solidFill>
                            <a:srgbClr val="2B2A35"/>
                          </a:solidFill>
                          <a:latin typeface="Work Sans"/>
                        </a:rPr>
                        <a:t>Yas (SN)</a:t>
                      </a:r>
                    </a:p>
                  </a:txBody>
                  <a:tcPr marL="54864" marR="54864" marT="18288" marB="18288" anchor="ctr">
                    <a:solidFill>
                      <a:srgbClr val="EEF2F6"/>
                    </a:solidFill>
                  </a:tcPr>
                </a:tc>
                <a:tc>
                  <a:txBody>
                    <a:bodyPr/>
                    <a:lstStyle/>
                    <a:p>
                      <a:pPr algn="ctr"/>
                      <a:r>
                        <a:rPr sz="1000">
                          <a:solidFill>
                            <a:srgbClr val="2B2A35"/>
                          </a:solidFill>
                          <a:latin typeface="Work Sans"/>
                        </a:rPr>
                        <a:t>34 400</a:t>
                      </a:r>
                    </a:p>
                  </a:txBody>
                  <a:tcPr marL="54864" marR="54864" marT="18288" marB="18288" anchor="ctr">
                    <a:solidFill>
                      <a:srgbClr val="EEF2F6"/>
                    </a:solidFill>
                  </a:tcPr>
                </a:tc>
                <a:tc>
                  <a:txBody>
                    <a:bodyPr/>
                    <a:lstStyle/>
                    <a:p>
                      <a:pPr algn="ctr"/>
                      <a:r>
                        <a:rPr sz="1000">
                          <a:solidFill>
                            <a:srgbClr val="2B2A35"/>
                          </a:solidFill>
                          <a:latin typeface="Work Sans"/>
                        </a:rPr>
                        <a:t>7 708</a:t>
                      </a:r>
                    </a:p>
                  </a:txBody>
                  <a:tcPr marL="54864" marR="54864" marT="18288" marB="18288" anchor="ctr">
                    <a:solidFill>
                      <a:srgbClr val="EEF2F6"/>
                    </a:solidFill>
                  </a:tcPr>
                </a:tc>
                <a:tc>
                  <a:txBody>
                    <a:bodyPr/>
                    <a:lstStyle/>
                    <a:p>
                      <a:pPr algn="ctr"/>
                      <a:r>
                        <a:rPr sz="1000">
                          <a:solidFill>
                            <a:srgbClr val="2B2A35"/>
                          </a:solidFill>
                          <a:latin typeface="Work Sans"/>
                        </a:rPr>
                        <a:t>446</a:t>
                      </a:r>
                    </a:p>
                  </a:txBody>
                  <a:tcPr marL="54864" marR="54864" marT="18288" marB="18288" anchor="ctr">
                    <a:solidFill>
                      <a:srgbClr val="EEF2F6"/>
                    </a:solidFill>
                  </a:tcPr>
                </a:tc>
                <a:tc>
                  <a:txBody>
                    <a:bodyPr/>
                    <a:lstStyle/>
                    <a:p>
                      <a:pPr algn="ctr"/>
                      <a:r>
                        <a:rPr sz="1000">
                          <a:solidFill>
                            <a:srgbClr val="2B2A35"/>
                          </a:solidFill>
                          <a:latin typeface="Work Sans"/>
                        </a:rPr>
                        <a:t>56 s</a:t>
                      </a:r>
                    </a:p>
                  </a:txBody>
                  <a:tcPr marL="54864" marR="54864" marT="18288" marB="18288" anchor="ctr">
                    <a:solidFill>
                      <a:srgbClr val="EEF2F6"/>
                    </a:solidFill>
                  </a:tcPr>
                </a:tc>
                <a:tc>
                  <a:txBody>
                    <a:bodyPr/>
                    <a:lstStyle/>
                    <a:p>
                      <a:pPr algn="ctr"/>
                      <a:r>
                        <a:rPr sz="1000">
                          <a:solidFill>
                            <a:srgbClr val="2B2A35"/>
                          </a:solidFill>
                          <a:latin typeface="Work Sans"/>
                        </a:rPr>
                        <a:t>301 900</a:t>
                      </a:r>
                    </a:p>
                  </a:txBody>
                  <a:tcPr marL="54864" marR="54864" marT="18288" marB="18288" anchor="ctr">
                    <a:solidFill>
                      <a:srgbClr val="EEF2F6"/>
                    </a:solidFill>
                  </a:tcPr>
                </a:tc>
              </a:tr>
              <a:tr h="411480">
                <a:tc>
                  <a:txBody>
                    <a:bodyPr/>
                    <a:lstStyle/>
                    <a:p>
                      <a:r>
                        <a:rPr sz="1000">
                          <a:solidFill>
                            <a:srgbClr val="2B2A35"/>
                          </a:solidFill>
                          <a:latin typeface="Work Sans"/>
                        </a:rPr>
                        <a:t>Orange Sénégal (SN)</a:t>
                      </a:r>
                    </a:p>
                  </a:txBody>
                  <a:tcPr marL="54864" marR="54864" marT="18288" marB="18288" anchor="ctr">
                    <a:solidFill>
                      <a:srgbClr val="FFFFFF"/>
                    </a:solidFill>
                  </a:tcPr>
                </a:tc>
                <a:tc>
                  <a:txBody>
                    <a:bodyPr/>
                    <a:lstStyle/>
                    <a:p>
                      <a:pPr algn="ctr"/>
                      <a:r>
                        <a:rPr sz="1000">
                          <a:solidFill>
                            <a:srgbClr val="2B2A35"/>
                          </a:solidFill>
                          <a:latin typeface="Work Sans"/>
                        </a:rPr>
                        <a:t>154 300</a:t>
                      </a:r>
                    </a:p>
                  </a:txBody>
                  <a:tcPr marL="54864" marR="54864" marT="18288" marB="18288" anchor="ctr">
                    <a:solidFill>
                      <a:srgbClr val="FFFFFF"/>
                    </a:solidFill>
                  </a:tcPr>
                </a:tc>
                <a:tc>
                  <a:txBody>
                    <a:bodyPr/>
                    <a:lstStyle/>
                    <a:p>
                      <a:pPr algn="ctr"/>
                      <a:r>
                        <a:rPr sz="1000">
                          <a:solidFill>
                            <a:srgbClr val="2B2A35"/>
                          </a:solidFill>
                          <a:latin typeface="Work Sans"/>
                        </a:rPr>
                        <a:t>767</a:t>
                      </a:r>
                    </a:p>
                  </a:txBody>
                  <a:tcPr marL="54864" marR="54864" marT="18288" marB="18288" anchor="ctr">
                    <a:solidFill>
                      <a:srgbClr val="FFFFFF"/>
                    </a:solidFill>
                  </a:tcPr>
                </a:tc>
                <a:tc>
                  <a:txBody>
                    <a:bodyPr/>
                    <a:lstStyle/>
                    <a:p>
                      <a:pPr algn="ctr"/>
                      <a:r>
                        <a:rPr sz="1000">
                          <a:solidFill>
                            <a:srgbClr val="2B2A35"/>
                          </a:solidFill>
                          <a:latin typeface="Work Sans"/>
                        </a:rPr>
                        <a:t>36</a:t>
                      </a:r>
                    </a:p>
                  </a:txBody>
                  <a:tcPr marL="54864" marR="54864" marT="18288" marB="18288" anchor="ctr">
                    <a:solidFill>
                      <a:srgbClr val="FFFFFF"/>
                    </a:solidFill>
                  </a:tcPr>
                </a:tc>
                <a:tc>
                  <a:txBody>
                    <a:bodyPr/>
                    <a:lstStyle/>
                    <a:p>
                      <a:pPr algn="ctr"/>
                      <a:r>
                        <a:rPr sz="1000">
                          <a:solidFill>
                            <a:srgbClr val="2B2A35"/>
                          </a:solidFill>
                          <a:latin typeface="Work Sans"/>
                        </a:rPr>
                        <a:t>32 s</a:t>
                      </a:r>
                    </a:p>
                  </a:txBody>
                  <a:tcPr marL="54864" marR="54864" marT="18288" marB="18288" anchor="ctr">
                    <a:solidFill>
                      <a:srgbClr val="FFFFFF"/>
                    </a:solidFill>
                  </a:tcPr>
                </a:tc>
                <a:tc>
                  <a:txBody>
                    <a:bodyPr/>
                    <a:lstStyle/>
                    <a:p>
                      <a:pPr algn="ctr"/>
                      <a:r>
                        <a:rPr sz="1000">
                          <a:solidFill>
                            <a:srgbClr val="2B2A35"/>
                          </a:solidFill>
                          <a:latin typeface="Work Sans"/>
                        </a:rPr>
                        <a:t>5 877</a:t>
                      </a:r>
                    </a:p>
                  </a:txBody>
                  <a:tcPr marL="54864" marR="54864" marT="18288" marB="18288" anchor="ctr">
                    <a:solidFill>
                      <a:srgbClr val="FFFFFF"/>
                    </a:solidFill>
                  </a:tcPr>
                </a:tc>
              </a:tr>
              <a:tr h="411480">
                <a:tc>
                  <a:txBody>
                    <a:bodyPr/>
                    <a:lstStyle/>
                    <a:p>
                      <a:r>
                        <a:rPr sz="1000">
                          <a:solidFill>
                            <a:srgbClr val="2B2A35"/>
                          </a:solidFill>
                          <a:latin typeface="Work Sans"/>
                        </a:rPr>
                        <a:t>Expresso (SN)</a:t>
                      </a:r>
                    </a:p>
                  </a:txBody>
                  <a:tcPr marL="54864" marR="54864" marT="18288" marB="18288" anchor="ctr">
                    <a:solidFill>
                      <a:srgbClr val="EEF2F6"/>
                    </a:solidFill>
                  </a:tcPr>
                </a:tc>
                <a:tc>
                  <a:txBody>
                    <a:bodyPr/>
                    <a:lstStyle/>
                    <a:p>
                      <a:pPr algn="ctr"/>
                      <a:r>
                        <a:rPr sz="1000">
                          <a:solidFill>
                            <a:srgbClr val="2B2A35"/>
                          </a:solidFill>
                          <a:latin typeface="Work Sans"/>
                        </a:rPr>
                        <a:t>199 900</a:t>
                      </a:r>
                    </a:p>
                  </a:txBody>
                  <a:tcPr marL="54864" marR="54864" marT="18288" marB="18288" anchor="ctr">
                    <a:solidFill>
                      <a:srgbClr val="EEF2F6"/>
                    </a:solidFill>
                  </a:tcPr>
                </a:tc>
                <a:tc>
                  <a:txBody>
                    <a:bodyPr/>
                    <a:lstStyle/>
                    <a:p>
                      <a:pPr algn="ctr"/>
                      <a:r>
                        <a:rPr sz="1000">
                          <a:solidFill>
                            <a:srgbClr val="2B2A35"/>
                          </a:solidFill>
                          <a:latin typeface="Work Sans"/>
                        </a:rPr>
                        <a:t>604</a:t>
                      </a:r>
                    </a:p>
                  </a:txBody>
                  <a:tcPr marL="54864" marR="54864" marT="18288" marB="18288" anchor="ctr">
                    <a:solidFill>
                      <a:srgbClr val="EEF2F6"/>
                    </a:solidFill>
                  </a:tcPr>
                </a:tc>
                <a:tc>
                  <a:txBody>
                    <a:bodyPr/>
                    <a:lstStyle/>
                    <a:p>
                      <a:pPr algn="ctr"/>
                      <a:r>
                        <a:rPr sz="1000">
                          <a:solidFill>
                            <a:srgbClr val="2B2A35"/>
                          </a:solidFill>
                          <a:latin typeface="Work Sans"/>
                        </a:rPr>
                        <a:t>30</a:t>
                      </a:r>
                    </a:p>
                  </a:txBody>
                  <a:tcPr marL="54864" marR="54864" marT="18288" marB="18288" anchor="ctr">
                    <a:solidFill>
                      <a:srgbClr val="EEF2F6"/>
                    </a:solidFill>
                  </a:tcPr>
                </a:tc>
                <a:tc>
                  <a:txBody>
                    <a:bodyPr/>
                    <a:lstStyle/>
                    <a:p>
                      <a:pPr algn="ctr"/>
                      <a:r>
                        <a:rPr sz="1000">
                          <a:solidFill>
                            <a:srgbClr val="2B2A35"/>
                          </a:solidFill>
                          <a:latin typeface="Work Sans"/>
                        </a:rPr>
                        <a:t>0 s</a:t>
                      </a:r>
                    </a:p>
                  </a:txBody>
                  <a:tcPr marL="54864" marR="54864" marT="18288" marB="18288" anchor="ctr">
                    <a:solidFill>
                      <a:srgbClr val="EEF2F6"/>
                    </a:solidFill>
                  </a:tcPr>
                </a:tc>
                <a:tc>
                  <a:txBody>
                    <a:bodyPr/>
                    <a:lstStyle/>
                    <a:p>
                      <a:pPr algn="ctr"/>
                      <a:r>
                        <a:rPr sz="1000">
                          <a:solidFill>
                            <a:srgbClr val="2B2A35"/>
                          </a:solidFill>
                          <a:latin typeface="Work Sans"/>
                        </a:rPr>
                        <a:t>1 072</a:t>
                      </a:r>
                    </a:p>
                  </a:txBody>
                  <a:tcPr marL="54864" marR="54864" marT="18288" marB="18288" anchor="ctr">
                    <a:solidFill>
                      <a:srgbClr val="EEF2F6"/>
                    </a:solidFill>
                  </a:tcPr>
                </a:tc>
              </a:tr>
            </a:tbl>
          </a:graphicData>
        </a:graphic>
      </p:graphicFrame>
      <p:sp>
        <p:nvSpPr>
          <p:cNvPr id="10" name="TextBox 9"/>
          <p:cNvSpPr txBox="1"/>
          <p:nvPr/>
        </p:nvSpPr>
        <p:spPr>
          <a:xfrm>
            <a:off x="8046720" y="1417320"/>
            <a:ext cx="3593592" cy="4937760"/>
          </a:xfrm>
          <a:prstGeom prst="rect">
            <a:avLst/>
          </a:prstGeom>
          <a:noFill/>
        </p:spPr>
        <p:txBody>
          <a:bodyPr wrap="square" anchor="t" lIns="45720" rIns="45720" tIns="27432" bIns="27432">
            <a:spAutoFit/>
          </a:bodyPr>
          <a:lstStyle/>
          <a:p>
            <a:pPr algn="l">
              <a:lnSpc>
                <a:spcPct val="110000"/>
              </a:lnSpc>
              <a:spcAft>
                <a:spcPts val="100"/>
              </a:spcAft>
            </a:pPr>
            <a:r>
              <a:rPr sz="1100" b="1">
                <a:solidFill>
                  <a:srgbClr val="232754"/>
                </a:solidFill>
                <a:latin typeface="Work Sans"/>
              </a:rPr>
              <a:t>Wave Sénégal domine.</a:t>
            </a:r>
          </a:p>
          <a:p>
            <a:pPr algn="l">
              <a:lnSpc>
                <a:spcPct val="110000"/>
              </a:lnSpc>
              <a:spcAft>
                <a:spcPts val="900"/>
              </a:spcAft>
            </a:pPr>
            <a:r>
              <a:rPr sz="1000" b="0">
                <a:solidFill>
                  <a:srgbClr val="2B2A35"/>
                </a:solidFill>
                <a:latin typeface="Work Sans"/>
              </a:rPr>
              <a:t>51 500 vues en médiane par vidéo, 540 200 abonnés. Ses meilleures vidéos vont chez des clients gagnants, filmés chez eux.</a:t>
            </a:r>
          </a:p>
          <a:p>
            <a:pPr algn="l">
              <a:lnSpc>
                <a:spcPct val="110000"/>
              </a:lnSpc>
              <a:spcAft>
                <a:spcPts val="100"/>
              </a:spcAft>
            </a:pPr>
            <a:r>
              <a:rPr sz="1100" b="1">
                <a:solidFill>
                  <a:srgbClr val="232754"/>
                </a:solidFill>
                <a:latin typeface="Work Sans"/>
              </a:rPr>
              <a:t>Les petits comptes tirent leur épingle.</a:t>
            </a:r>
          </a:p>
          <a:p>
            <a:pPr algn="l">
              <a:lnSpc>
                <a:spcPct val="110000"/>
              </a:lnSpc>
              <a:spcAft>
                <a:spcPts val="900"/>
              </a:spcAft>
            </a:pPr>
            <a:r>
              <a:rPr sz="1000" b="0">
                <a:solidFill>
                  <a:srgbClr val="2B2A35"/>
                </a:solidFill>
                <a:latin typeface="Work Sans"/>
              </a:rPr>
              <a:t>Yas a 34 400 abonnés et 7 708 vues médianes : le sketch sur le salaire fait 301 900 vues.</a:t>
            </a:r>
          </a:p>
          <a:p>
            <a:pPr algn="l">
              <a:lnSpc>
                <a:spcPct val="110000"/>
              </a:lnSpc>
              <a:spcAft>
                <a:spcPts val="100"/>
              </a:spcAft>
            </a:pPr>
            <a:r>
              <a:rPr sz="1100" b="1">
                <a:solidFill>
                  <a:srgbClr val="232754"/>
                </a:solidFill>
                <a:latin typeface="Work Sans"/>
              </a:rPr>
              <a:t>Les grands opérateurs restent bas.</a:t>
            </a:r>
          </a:p>
          <a:p>
            <a:pPr algn="l">
              <a:lnSpc>
                <a:spcPct val="110000"/>
              </a:lnSpc>
              <a:spcAft>
                <a:spcPts val="900"/>
              </a:spcAft>
            </a:pPr>
            <a:r>
              <a:rPr sz="1000" b="0">
                <a:solidFill>
                  <a:srgbClr val="2B2A35"/>
                </a:solidFill>
                <a:latin typeface="Work Sans"/>
              </a:rPr>
              <a:t>Orange Sénégal : 767 vues médianes pour 154 300 abonnés. Expresso publie surtout des diaporamas d'affiches (11 sur 12).</a:t>
            </a:r>
          </a:p>
          <a:p>
            <a:pPr algn="l">
              <a:lnSpc>
                <a:spcPct val="110000"/>
              </a:lnSpc>
              <a:spcAft>
                <a:spcPts val="100"/>
              </a:spcAft>
            </a:pPr>
            <a:r>
              <a:rPr sz="1100" b="1">
                <a:solidFill>
                  <a:srgbClr val="232754"/>
                </a:solidFill>
                <a:latin typeface="Work Sans"/>
              </a:rPr>
              <a:t>Comptes à l'arrêt.</a:t>
            </a:r>
          </a:p>
          <a:p>
            <a:pPr algn="l">
              <a:lnSpc>
                <a:spcPct val="110000"/>
              </a:lnSpc>
              <a:spcAft>
                <a:spcPts val="900"/>
              </a:spcAft>
            </a:pPr>
            <a:r>
              <a:rPr sz="1000" b="0">
                <a:solidFill>
                  <a:srgbClr val="2B2A35"/>
                </a:solidFill>
                <a:latin typeface="Work Sans"/>
              </a:rPr>
              <a:t>Djamo n'a rien publié sur TikTok depuis le 31/08/2026.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FACEBOOK ET TIKTOK</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Ce qui marche sur Facebook et TikTok, en images</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15</a:t>
            </a:r>
          </a:p>
        </p:txBody>
      </p:sp>
      <p:sp>
        <p:nvSpPr>
          <p:cNvPr id="9" name="Rectangle 8"/>
          <p:cNvSpPr/>
          <p:nvPr/>
        </p:nvSpPr>
        <p:spPr>
          <a:xfrm>
            <a:off x="548640" y="13716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t_wavesn.jpg">
            <a:hlinkClick r:id="rId4"/>
          </p:cNvPr>
          <p:cNvPicPr>
            <a:picLocks noChangeAspect="1"/>
          </p:cNvPicPr>
          <p:nvPr/>
        </p:nvPicPr>
        <p:blipFill>
          <a:blip r:embed="rId3"/>
          <a:stretch>
            <a:fillRect/>
          </a:stretch>
        </p:blipFill>
        <p:spPr>
          <a:xfrm>
            <a:off x="1309573" y="1371600"/>
            <a:ext cx="1129893" cy="2011680"/>
          </a:xfrm>
          <a:prstGeom prst="rect">
            <a:avLst/>
          </a:prstGeom>
        </p:spPr>
      </p:pic>
      <p:sp>
        <p:nvSpPr>
          <p:cNvPr id="11" name="TextBox 10"/>
          <p:cNvSpPr txBox="1"/>
          <p:nvPr/>
        </p:nvSpPr>
        <p:spPr>
          <a:xfrm>
            <a:off x="548640" y="34107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TikTok · Wave SN · 414 300 vues</a:t>
            </a:r>
          </a:p>
        </p:txBody>
      </p:sp>
      <p:sp>
        <p:nvSpPr>
          <p:cNvPr id="12" name="Rectangle 11"/>
          <p:cNvSpPr/>
          <p:nvPr/>
        </p:nvSpPr>
        <p:spPr>
          <a:xfrm>
            <a:off x="3383280" y="13716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t_yas.jpg">
            <a:hlinkClick r:id="rId6"/>
          </p:cNvPr>
          <p:cNvPicPr>
            <a:picLocks noChangeAspect="1"/>
          </p:cNvPicPr>
          <p:nvPr/>
        </p:nvPicPr>
        <p:blipFill>
          <a:blip r:embed="rId5"/>
          <a:stretch>
            <a:fillRect/>
          </a:stretch>
        </p:blipFill>
        <p:spPr>
          <a:xfrm>
            <a:off x="4144213" y="1371600"/>
            <a:ext cx="1129893" cy="2011680"/>
          </a:xfrm>
          <a:prstGeom prst="rect">
            <a:avLst/>
          </a:prstGeom>
        </p:spPr>
      </p:pic>
      <p:sp>
        <p:nvSpPr>
          <p:cNvPr id="14" name="TextBox 13"/>
          <p:cNvSpPr txBox="1"/>
          <p:nvPr/>
        </p:nvSpPr>
        <p:spPr>
          <a:xfrm>
            <a:off x="3383280" y="34107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TikTok · Yas · 301 900 vues</a:t>
            </a:r>
          </a:p>
        </p:txBody>
      </p:sp>
      <p:sp>
        <p:nvSpPr>
          <p:cNvPr id="15" name="Rectangle 14"/>
          <p:cNvSpPr/>
          <p:nvPr/>
        </p:nvSpPr>
        <p:spPr>
          <a:xfrm>
            <a:off x="6217920" y="13716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t_moov.jpg">
            <a:hlinkClick r:id="rId8"/>
          </p:cNvPr>
          <p:cNvPicPr>
            <a:picLocks noChangeAspect="1"/>
          </p:cNvPicPr>
          <p:nvPr/>
        </p:nvPicPr>
        <p:blipFill>
          <a:blip r:embed="rId7"/>
          <a:stretch>
            <a:fillRect/>
          </a:stretch>
        </p:blipFill>
        <p:spPr>
          <a:xfrm>
            <a:off x="6789420" y="1371600"/>
            <a:ext cx="1508760" cy="2011680"/>
          </a:xfrm>
          <a:prstGeom prst="rect">
            <a:avLst/>
          </a:prstGeom>
        </p:spPr>
      </p:pic>
      <p:sp>
        <p:nvSpPr>
          <p:cNvPr id="17" name="TextBox 16"/>
          <p:cNvSpPr txBox="1"/>
          <p:nvPr/>
        </p:nvSpPr>
        <p:spPr>
          <a:xfrm>
            <a:off x="6217920" y="34107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TikTok · Moov CI · 266 800 vues</a:t>
            </a:r>
          </a:p>
        </p:txBody>
      </p:sp>
      <p:sp>
        <p:nvSpPr>
          <p:cNvPr id="18" name="Rectangle 17"/>
          <p:cNvSpPr/>
          <p:nvPr/>
        </p:nvSpPr>
        <p:spPr>
          <a:xfrm>
            <a:off x="9052560" y="13716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t_waveci.jpg">
            <a:hlinkClick r:id="rId10"/>
          </p:cNvPr>
          <p:cNvPicPr>
            <a:picLocks noChangeAspect="1"/>
          </p:cNvPicPr>
          <p:nvPr/>
        </p:nvPicPr>
        <p:blipFill>
          <a:blip r:embed="rId9"/>
          <a:stretch>
            <a:fillRect/>
          </a:stretch>
        </p:blipFill>
        <p:spPr>
          <a:xfrm>
            <a:off x="9813493" y="1371600"/>
            <a:ext cx="1129893" cy="2011680"/>
          </a:xfrm>
          <a:prstGeom prst="rect">
            <a:avLst/>
          </a:prstGeom>
        </p:spPr>
      </p:pic>
      <p:sp>
        <p:nvSpPr>
          <p:cNvPr id="20" name="TextBox 19"/>
          <p:cNvSpPr txBox="1"/>
          <p:nvPr/>
        </p:nvSpPr>
        <p:spPr>
          <a:xfrm>
            <a:off x="9052560" y="34107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TikTok · Wave CI · 169 700 vues</a:t>
            </a:r>
          </a:p>
        </p:txBody>
      </p:sp>
      <p:sp>
        <p:nvSpPr>
          <p:cNvPr id="21" name="Rectangle 20"/>
          <p:cNvSpPr/>
          <p:nvPr/>
        </p:nvSpPr>
        <p:spPr>
          <a:xfrm>
            <a:off x="548640" y="38862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fb_djamo.jpg">
            <a:hlinkClick r:id="rId12"/>
          </p:cNvPr>
          <p:cNvPicPr>
            <a:picLocks noChangeAspect="1"/>
          </p:cNvPicPr>
          <p:nvPr/>
        </p:nvPicPr>
        <p:blipFill>
          <a:blip r:embed="rId11"/>
          <a:stretch>
            <a:fillRect/>
          </a:stretch>
        </p:blipFill>
        <p:spPr>
          <a:xfrm>
            <a:off x="1309573" y="3886200"/>
            <a:ext cx="1129893" cy="2011680"/>
          </a:xfrm>
          <a:prstGeom prst="rect">
            <a:avLst/>
          </a:prstGeom>
        </p:spPr>
      </p:pic>
      <p:sp>
        <p:nvSpPr>
          <p:cNvPr id="23" name="TextBox 22"/>
          <p:cNvSpPr txBox="1"/>
          <p:nvPr/>
        </p:nvSpPr>
        <p:spPr>
          <a:xfrm>
            <a:off x="548640" y="59253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Facebook · Djamo · 604 247 vues</a:t>
            </a:r>
          </a:p>
        </p:txBody>
      </p:sp>
      <p:sp>
        <p:nvSpPr>
          <p:cNvPr id="24" name="Rectangle 23"/>
          <p:cNvSpPr/>
          <p:nvPr/>
        </p:nvSpPr>
        <p:spPr>
          <a:xfrm>
            <a:off x="3383280" y="38862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fb_yas.jpg">
            <a:hlinkClick r:id="rId14"/>
          </p:cNvPr>
          <p:cNvPicPr>
            <a:picLocks noChangeAspect="1"/>
          </p:cNvPicPr>
          <p:nvPr/>
        </p:nvPicPr>
        <p:blipFill>
          <a:blip r:embed="rId13"/>
          <a:stretch>
            <a:fillRect/>
          </a:stretch>
        </p:blipFill>
        <p:spPr>
          <a:xfrm>
            <a:off x="4144213" y="3886200"/>
            <a:ext cx="1129893" cy="2011680"/>
          </a:xfrm>
          <a:prstGeom prst="rect">
            <a:avLst/>
          </a:prstGeom>
        </p:spPr>
      </p:pic>
      <p:sp>
        <p:nvSpPr>
          <p:cNvPr id="26" name="TextBox 25"/>
          <p:cNvSpPr txBox="1"/>
          <p:nvPr/>
        </p:nvSpPr>
        <p:spPr>
          <a:xfrm>
            <a:off x="3383280" y="59253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Facebook · Yas · 919 266 vues</a:t>
            </a:r>
          </a:p>
        </p:txBody>
      </p:sp>
      <p:sp>
        <p:nvSpPr>
          <p:cNvPr id="27" name="Rectangle 26"/>
          <p:cNvSpPr/>
          <p:nvPr/>
        </p:nvSpPr>
        <p:spPr>
          <a:xfrm>
            <a:off x="6217920" y="38862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fb_wavesn.jpg">
            <a:hlinkClick r:id="rId16"/>
          </p:cNvPr>
          <p:cNvPicPr>
            <a:picLocks noChangeAspect="1"/>
          </p:cNvPicPr>
          <p:nvPr/>
        </p:nvPicPr>
        <p:blipFill>
          <a:blip r:embed="rId15"/>
          <a:stretch>
            <a:fillRect/>
          </a:stretch>
        </p:blipFill>
        <p:spPr>
          <a:xfrm>
            <a:off x="6739127" y="3886200"/>
            <a:ext cx="1609344" cy="2011680"/>
          </a:xfrm>
          <a:prstGeom prst="rect">
            <a:avLst/>
          </a:prstGeom>
        </p:spPr>
      </p:pic>
      <p:sp>
        <p:nvSpPr>
          <p:cNvPr id="29" name="TextBox 28"/>
          <p:cNvSpPr txBox="1"/>
          <p:nvPr/>
        </p:nvSpPr>
        <p:spPr>
          <a:xfrm>
            <a:off x="6217920" y="59253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Facebook · Wave SN · 5 299 réactions</a:t>
            </a:r>
          </a:p>
        </p:txBody>
      </p:sp>
      <p:sp>
        <p:nvSpPr>
          <p:cNvPr id="30" name="Rectangle 29"/>
          <p:cNvSpPr/>
          <p:nvPr/>
        </p:nvSpPr>
        <p:spPr>
          <a:xfrm>
            <a:off x="9052560" y="38862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fb_moov.jpg">
            <a:hlinkClick r:id="rId18"/>
          </p:cNvPr>
          <p:cNvPicPr>
            <a:picLocks noChangeAspect="1"/>
          </p:cNvPicPr>
          <p:nvPr/>
        </p:nvPicPr>
        <p:blipFill>
          <a:blip r:embed="rId17"/>
          <a:stretch>
            <a:fillRect/>
          </a:stretch>
        </p:blipFill>
        <p:spPr>
          <a:xfrm>
            <a:off x="9573768" y="3886200"/>
            <a:ext cx="1609344" cy="2011680"/>
          </a:xfrm>
          <a:prstGeom prst="rect">
            <a:avLst/>
          </a:prstGeom>
        </p:spPr>
      </p:pic>
      <p:sp>
        <p:nvSpPr>
          <p:cNvPr id="32" name="TextBox 31"/>
          <p:cNvSpPr txBox="1"/>
          <p:nvPr/>
        </p:nvSpPr>
        <p:spPr>
          <a:xfrm>
            <a:off x="9052560" y="59253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Facebook · Moov CI · 4 065 réactions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FACEBOOK ET TIKTOK</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Même marque, trois réseaux, trois résultats</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16</a:t>
            </a:r>
          </a:p>
        </p:txBody>
      </p:sp>
      <p:graphicFrame>
        <p:nvGraphicFramePr>
          <p:cNvPr id="9" name="Table 8"/>
          <p:cNvGraphicFramePr>
            <a:graphicFrameLocks noGrp="1"/>
          </p:cNvGraphicFramePr>
          <p:nvPr/>
        </p:nvGraphicFramePr>
        <p:xfrm>
          <a:off x="548640" y="1417320"/>
          <a:ext cx="6949440" cy="4114800"/>
        </p:xfrm>
        <a:graphic>
          <a:graphicData uri="http://schemas.openxmlformats.org/drawingml/2006/table">
            <a:tbl>
              <a:tblPr firstRow="1" bandRow="1">
                <a:tableStyleId>{5C22544A-7EE6-4342-B048-85BDC9FD1C3A}</a:tableStyleId>
              </a:tblPr>
              <a:tblGrid>
                <a:gridCol w="1828800"/>
                <a:gridCol w="1280160"/>
                <a:gridCol w="1371600"/>
                <a:gridCol w="1234440"/>
                <a:gridCol w="1234440"/>
              </a:tblGrid>
              <a:tr h="457200">
                <a:tc>
                  <a:txBody>
                    <a:bodyPr/>
                    <a:lstStyle/>
                    <a:p>
                      <a:r>
                        <a:rPr sz="1100" b="1">
                          <a:solidFill>
                            <a:srgbClr val="FFFFFF"/>
                          </a:solidFill>
                          <a:latin typeface="Space Grotesk"/>
                        </a:rPr>
                        <a:t>Marque</a:t>
                      </a:r>
                    </a:p>
                  </a:txBody>
                  <a:tcPr marL="54864" marR="54864" marT="18288" marB="18288" anchor="ctr">
                    <a:solidFill>
                      <a:srgbClr val="232754"/>
                    </a:solidFill>
                  </a:tcPr>
                </a:tc>
                <a:tc>
                  <a:txBody>
                    <a:bodyPr/>
                    <a:lstStyle/>
                    <a:p>
                      <a:r>
                        <a:rPr sz="1100" b="1">
                          <a:solidFill>
                            <a:srgbClr val="FFFFFF"/>
                          </a:solidFill>
                          <a:latin typeface="Space Grotesk"/>
                        </a:rPr>
                        <a:t>Instagram (j'aime)</a:t>
                      </a:r>
                    </a:p>
                  </a:txBody>
                  <a:tcPr marL="54864" marR="54864" marT="18288" marB="18288" anchor="ctr">
                    <a:solidFill>
                      <a:srgbClr val="232754"/>
                    </a:solidFill>
                  </a:tcPr>
                </a:tc>
                <a:tc>
                  <a:txBody>
                    <a:bodyPr/>
                    <a:lstStyle/>
                    <a:p>
                      <a:r>
                        <a:rPr sz="1100" b="1">
                          <a:solidFill>
                            <a:srgbClr val="FFFFFF"/>
                          </a:solidFill>
                          <a:latin typeface="Space Grotesk"/>
                        </a:rPr>
                        <a:t>Facebook (réactions)</a:t>
                      </a:r>
                    </a:p>
                  </a:txBody>
                  <a:tcPr marL="54864" marR="54864" marT="18288" marB="18288" anchor="ctr">
                    <a:solidFill>
                      <a:srgbClr val="232754"/>
                    </a:solidFill>
                  </a:tcPr>
                </a:tc>
                <a:tc>
                  <a:txBody>
                    <a:bodyPr/>
                    <a:lstStyle/>
                    <a:p>
                      <a:r>
                        <a:rPr sz="1100" b="1">
                          <a:solidFill>
                            <a:srgbClr val="FFFFFF"/>
                          </a:solidFill>
                          <a:latin typeface="Space Grotesk"/>
                        </a:rPr>
                        <a:t>TikTok (j'aime)</a:t>
                      </a:r>
                    </a:p>
                  </a:txBody>
                  <a:tcPr marL="54864" marR="54864" marT="18288" marB="18288" anchor="ctr">
                    <a:solidFill>
                      <a:srgbClr val="232754"/>
                    </a:solidFill>
                  </a:tcPr>
                </a:tc>
                <a:tc>
                  <a:txBody>
                    <a:bodyPr/>
                    <a:lstStyle/>
                    <a:p>
                      <a:r>
                        <a:rPr sz="1100" b="1">
                          <a:solidFill>
                            <a:srgbClr val="FFFFFF"/>
                          </a:solidFill>
                          <a:latin typeface="Space Grotesk"/>
                        </a:rPr>
                        <a:t>TikTok (vues)</a:t>
                      </a:r>
                    </a:p>
                  </a:txBody>
                  <a:tcPr marL="54864" marR="54864" marT="18288" marB="18288" anchor="ctr">
                    <a:solidFill>
                      <a:srgbClr val="232754"/>
                    </a:solidFill>
                  </a:tcPr>
                </a:tc>
              </a:tr>
              <a:tr h="457200">
                <a:tc>
                  <a:txBody>
                    <a:bodyPr/>
                    <a:lstStyle/>
                    <a:p>
                      <a:r>
                        <a:rPr sz="1100">
                          <a:solidFill>
                            <a:srgbClr val="2B2A35"/>
                          </a:solidFill>
                          <a:latin typeface="Work Sans"/>
                        </a:rPr>
                        <a:t>Wave Sénégal</a:t>
                      </a:r>
                    </a:p>
                  </a:txBody>
                  <a:tcPr marL="54864" marR="54864" marT="18288" marB="18288" anchor="ctr">
                    <a:solidFill>
                      <a:srgbClr val="FFFFFF"/>
                    </a:solidFill>
                  </a:tcPr>
                </a:tc>
                <a:tc>
                  <a:txBody>
                    <a:bodyPr/>
                    <a:lstStyle/>
                    <a:p>
                      <a:pPr algn="ctr"/>
                      <a:r>
                        <a:rPr sz="1100">
                          <a:solidFill>
                            <a:srgbClr val="2B2A35"/>
                          </a:solidFill>
                          <a:latin typeface="Work Sans"/>
                        </a:rPr>
                        <a:t>207</a:t>
                      </a:r>
                    </a:p>
                  </a:txBody>
                  <a:tcPr marL="54864" marR="54864" marT="18288" marB="18288" anchor="ctr">
                    <a:solidFill>
                      <a:srgbClr val="FFFFFF"/>
                    </a:solidFill>
                  </a:tcPr>
                </a:tc>
                <a:tc>
                  <a:txBody>
                    <a:bodyPr/>
                    <a:lstStyle/>
                    <a:p>
                      <a:pPr algn="ctr"/>
                      <a:r>
                        <a:rPr sz="1100">
                          <a:solidFill>
                            <a:srgbClr val="2B2A35"/>
                          </a:solidFill>
                          <a:latin typeface="Work Sans"/>
                        </a:rPr>
                        <a:t>525</a:t>
                      </a:r>
                    </a:p>
                  </a:txBody>
                  <a:tcPr marL="54864" marR="54864" marT="18288" marB="18288" anchor="ctr">
                    <a:solidFill>
                      <a:srgbClr val="FFFFFF"/>
                    </a:solidFill>
                  </a:tcPr>
                </a:tc>
                <a:tc>
                  <a:txBody>
                    <a:bodyPr/>
                    <a:lstStyle/>
                    <a:p>
                      <a:pPr algn="ctr"/>
                      <a:r>
                        <a:rPr sz="1100">
                          <a:solidFill>
                            <a:srgbClr val="2B2A35"/>
                          </a:solidFill>
                          <a:latin typeface="Work Sans"/>
                        </a:rPr>
                        <a:t>5 584</a:t>
                      </a:r>
                    </a:p>
                  </a:txBody>
                  <a:tcPr marL="54864" marR="54864" marT="18288" marB="18288" anchor="ctr">
                    <a:solidFill>
                      <a:srgbClr val="FFFFFF"/>
                    </a:solidFill>
                  </a:tcPr>
                </a:tc>
                <a:tc>
                  <a:txBody>
                    <a:bodyPr/>
                    <a:lstStyle/>
                    <a:p>
                      <a:pPr algn="ctr"/>
                      <a:r>
                        <a:rPr sz="1100">
                          <a:solidFill>
                            <a:srgbClr val="2B2A35"/>
                          </a:solidFill>
                          <a:latin typeface="Work Sans"/>
                        </a:rPr>
                        <a:t>51 500</a:t>
                      </a:r>
                    </a:p>
                  </a:txBody>
                  <a:tcPr marL="54864" marR="54864" marT="18288" marB="18288" anchor="ctr">
                    <a:solidFill>
                      <a:srgbClr val="FFFFFF"/>
                    </a:solidFill>
                  </a:tcPr>
                </a:tc>
              </a:tr>
              <a:tr h="457200">
                <a:tc>
                  <a:txBody>
                    <a:bodyPr/>
                    <a:lstStyle/>
                    <a:p>
                      <a:r>
                        <a:rPr sz="1100">
                          <a:solidFill>
                            <a:srgbClr val="2B2A35"/>
                          </a:solidFill>
                          <a:latin typeface="Work Sans"/>
                        </a:rPr>
                        <a:t>Wave CI</a:t>
                      </a:r>
                    </a:p>
                  </a:txBody>
                  <a:tcPr marL="54864" marR="54864" marT="18288" marB="18288" anchor="ctr">
                    <a:solidFill>
                      <a:srgbClr val="EEF2F6"/>
                    </a:solidFill>
                  </a:tcPr>
                </a:tc>
                <a:tc>
                  <a:txBody>
                    <a:bodyPr/>
                    <a:lstStyle/>
                    <a:p>
                      <a:pPr algn="ctr"/>
                      <a:r>
                        <a:rPr sz="1100">
                          <a:solidFill>
                            <a:srgbClr val="2B2A35"/>
                          </a:solidFill>
                          <a:latin typeface="Work Sans"/>
                        </a:rPr>
                        <a:t>46</a:t>
                      </a:r>
                    </a:p>
                  </a:txBody>
                  <a:tcPr marL="54864" marR="54864" marT="18288" marB="18288" anchor="ctr">
                    <a:solidFill>
                      <a:srgbClr val="EEF2F6"/>
                    </a:solidFill>
                  </a:tcPr>
                </a:tc>
                <a:tc>
                  <a:txBody>
                    <a:bodyPr/>
                    <a:lstStyle/>
                    <a:p>
                      <a:pPr algn="ctr"/>
                      <a:r>
                        <a:rPr sz="1100">
                          <a:solidFill>
                            <a:srgbClr val="2B2A35"/>
                          </a:solidFill>
                          <a:latin typeface="Work Sans"/>
                        </a:rPr>
                        <a:t>324</a:t>
                      </a:r>
                    </a:p>
                  </a:txBody>
                  <a:tcPr marL="54864" marR="54864" marT="18288" marB="18288" anchor="ctr">
                    <a:solidFill>
                      <a:srgbClr val="EEF2F6"/>
                    </a:solidFill>
                  </a:tcPr>
                </a:tc>
                <a:tc>
                  <a:txBody>
                    <a:bodyPr/>
                    <a:lstStyle/>
                    <a:p>
                      <a:pPr algn="ctr"/>
                      <a:r>
                        <a:rPr sz="1100">
                          <a:solidFill>
                            <a:srgbClr val="2B2A35"/>
                          </a:solidFill>
                          <a:latin typeface="Work Sans"/>
                        </a:rPr>
                        <a:t>1 481</a:t>
                      </a:r>
                    </a:p>
                  </a:txBody>
                  <a:tcPr marL="54864" marR="54864" marT="18288" marB="18288" anchor="ctr">
                    <a:solidFill>
                      <a:srgbClr val="EEF2F6"/>
                    </a:solidFill>
                  </a:tcPr>
                </a:tc>
                <a:tc>
                  <a:txBody>
                    <a:bodyPr/>
                    <a:lstStyle/>
                    <a:p>
                      <a:pPr algn="ctr"/>
                      <a:r>
                        <a:rPr sz="1100">
                          <a:solidFill>
                            <a:srgbClr val="2B2A35"/>
                          </a:solidFill>
                          <a:latin typeface="Work Sans"/>
                        </a:rPr>
                        <a:t>13 000</a:t>
                      </a:r>
                    </a:p>
                  </a:txBody>
                  <a:tcPr marL="54864" marR="54864" marT="18288" marB="18288" anchor="ctr">
                    <a:solidFill>
                      <a:srgbClr val="EEF2F6"/>
                    </a:solidFill>
                  </a:tcPr>
                </a:tc>
              </a:tr>
              <a:tr h="457200">
                <a:tc>
                  <a:txBody>
                    <a:bodyPr/>
                    <a:lstStyle/>
                    <a:p>
                      <a:r>
                        <a:rPr sz="1100">
                          <a:solidFill>
                            <a:srgbClr val="2B2A35"/>
                          </a:solidFill>
                          <a:latin typeface="Work Sans"/>
                        </a:rPr>
                        <a:t>Yas</a:t>
                      </a:r>
                    </a:p>
                  </a:txBody>
                  <a:tcPr marL="54864" marR="54864" marT="18288" marB="18288" anchor="ctr">
                    <a:solidFill>
                      <a:srgbClr val="FFFFFF"/>
                    </a:solidFill>
                  </a:tcPr>
                </a:tc>
                <a:tc>
                  <a:txBody>
                    <a:bodyPr/>
                    <a:lstStyle/>
                    <a:p>
                      <a:pPr algn="ctr"/>
                      <a:r>
                        <a:rPr sz="1100">
                          <a:solidFill>
                            <a:srgbClr val="2B2A35"/>
                          </a:solidFill>
                          <a:latin typeface="Work Sans"/>
                        </a:rPr>
                        <a:t>218</a:t>
                      </a:r>
                    </a:p>
                  </a:txBody>
                  <a:tcPr marL="54864" marR="54864" marT="18288" marB="18288" anchor="ctr">
                    <a:solidFill>
                      <a:srgbClr val="FFFFFF"/>
                    </a:solidFill>
                  </a:tcPr>
                </a:tc>
                <a:tc>
                  <a:txBody>
                    <a:bodyPr/>
                    <a:lstStyle/>
                    <a:p>
                      <a:pPr algn="ctr"/>
                      <a:r>
                        <a:rPr sz="1100">
                          <a:solidFill>
                            <a:srgbClr val="2B2A35"/>
                          </a:solidFill>
                          <a:latin typeface="Work Sans"/>
                        </a:rPr>
                        <a:t>39</a:t>
                      </a:r>
                    </a:p>
                  </a:txBody>
                  <a:tcPr marL="54864" marR="54864" marT="18288" marB="18288" anchor="ctr">
                    <a:solidFill>
                      <a:srgbClr val="FFFFFF"/>
                    </a:solidFill>
                  </a:tcPr>
                </a:tc>
                <a:tc>
                  <a:txBody>
                    <a:bodyPr/>
                    <a:lstStyle/>
                    <a:p>
                      <a:pPr algn="ctr"/>
                      <a:r>
                        <a:rPr sz="1100">
                          <a:solidFill>
                            <a:srgbClr val="2B2A35"/>
                          </a:solidFill>
                          <a:latin typeface="Work Sans"/>
                        </a:rPr>
                        <a:t>446</a:t>
                      </a:r>
                    </a:p>
                  </a:txBody>
                  <a:tcPr marL="54864" marR="54864" marT="18288" marB="18288" anchor="ctr">
                    <a:solidFill>
                      <a:srgbClr val="FFFFFF"/>
                    </a:solidFill>
                  </a:tcPr>
                </a:tc>
                <a:tc>
                  <a:txBody>
                    <a:bodyPr/>
                    <a:lstStyle/>
                    <a:p>
                      <a:pPr algn="ctr"/>
                      <a:r>
                        <a:rPr sz="1100">
                          <a:solidFill>
                            <a:srgbClr val="2B2A35"/>
                          </a:solidFill>
                          <a:latin typeface="Work Sans"/>
                        </a:rPr>
                        <a:t>7 708</a:t>
                      </a:r>
                    </a:p>
                  </a:txBody>
                  <a:tcPr marL="54864" marR="54864" marT="18288" marB="18288" anchor="ctr">
                    <a:solidFill>
                      <a:srgbClr val="FFFFFF"/>
                    </a:solidFill>
                  </a:tcPr>
                </a:tc>
              </a:tr>
              <a:tr h="457200">
                <a:tc>
                  <a:txBody>
                    <a:bodyPr/>
                    <a:lstStyle/>
                    <a:p>
                      <a:r>
                        <a:rPr sz="1100">
                          <a:solidFill>
                            <a:srgbClr val="2B2A35"/>
                          </a:solidFill>
                          <a:latin typeface="Work Sans"/>
                        </a:rPr>
                        <a:t>Moov Africa CI</a:t>
                      </a:r>
                    </a:p>
                  </a:txBody>
                  <a:tcPr marL="54864" marR="54864" marT="18288" marB="18288" anchor="ctr">
                    <a:solidFill>
                      <a:srgbClr val="EEF2F6"/>
                    </a:solidFill>
                  </a:tcPr>
                </a:tc>
                <a:tc>
                  <a:txBody>
                    <a:bodyPr/>
                    <a:lstStyle/>
                    <a:p>
                      <a:pPr algn="ctr"/>
                      <a:r>
                        <a:rPr sz="1100">
                          <a:solidFill>
                            <a:srgbClr val="2B2A35"/>
                          </a:solidFill>
                          <a:latin typeface="Work Sans"/>
                        </a:rPr>
                        <a:t>11</a:t>
                      </a:r>
                    </a:p>
                  </a:txBody>
                  <a:tcPr marL="54864" marR="54864" marT="18288" marB="18288" anchor="ctr">
                    <a:solidFill>
                      <a:srgbClr val="EEF2F6"/>
                    </a:solidFill>
                  </a:tcPr>
                </a:tc>
                <a:tc>
                  <a:txBody>
                    <a:bodyPr/>
                    <a:lstStyle/>
                    <a:p>
                      <a:pPr algn="ctr"/>
                      <a:r>
                        <a:rPr sz="1100">
                          <a:solidFill>
                            <a:srgbClr val="2B2A35"/>
                          </a:solidFill>
                          <a:latin typeface="Work Sans"/>
                        </a:rPr>
                        <a:t>409</a:t>
                      </a:r>
                    </a:p>
                  </a:txBody>
                  <a:tcPr marL="54864" marR="54864" marT="18288" marB="18288" anchor="ctr">
                    <a:solidFill>
                      <a:srgbClr val="EEF2F6"/>
                    </a:solidFill>
                  </a:tcPr>
                </a:tc>
                <a:tc>
                  <a:txBody>
                    <a:bodyPr/>
                    <a:lstStyle/>
                    <a:p>
                      <a:pPr algn="ctr"/>
                      <a:r>
                        <a:rPr sz="1100">
                          <a:solidFill>
                            <a:srgbClr val="2B2A35"/>
                          </a:solidFill>
                          <a:latin typeface="Work Sans"/>
                        </a:rPr>
                        <a:t>364</a:t>
                      </a:r>
                    </a:p>
                  </a:txBody>
                  <a:tcPr marL="54864" marR="54864" marT="18288" marB="18288" anchor="ctr">
                    <a:solidFill>
                      <a:srgbClr val="EEF2F6"/>
                    </a:solidFill>
                  </a:tcPr>
                </a:tc>
                <a:tc>
                  <a:txBody>
                    <a:bodyPr/>
                    <a:lstStyle/>
                    <a:p>
                      <a:pPr algn="ctr"/>
                      <a:r>
                        <a:rPr sz="1100">
                          <a:solidFill>
                            <a:srgbClr val="2B2A35"/>
                          </a:solidFill>
                          <a:latin typeface="Work Sans"/>
                        </a:rPr>
                        <a:t>2 788</a:t>
                      </a:r>
                    </a:p>
                  </a:txBody>
                  <a:tcPr marL="54864" marR="54864" marT="18288" marB="18288" anchor="ctr">
                    <a:solidFill>
                      <a:srgbClr val="EEF2F6"/>
                    </a:solidFill>
                  </a:tcPr>
                </a:tc>
              </a:tr>
              <a:tr h="457200">
                <a:tc>
                  <a:txBody>
                    <a:bodyPr/>
                    <a:lstStyle/>
                    <a:p>
                      <a:r>
                        <a:rPr sz="1100">
                          <a:solidFill>
                            <a:srgbClr val="2B2A35"/>
                          </a:solidFill>
                          <a:latin typeface="Work Sans"/>
                        </a:rPr>
                        <a:t>Djamo</a:t>
                      </a:r>
                    </a:p>
                  </a:txBody>
                  <a:tcPr marL="54864" marR="54864" marT="18288" marB="18288" anchor="ctr">
                    <a:solidFill>
                      <a:srgbClr val="FFFFFF"/>
                    </a:solidFill>
                  </a:tcPr>
                </a:tc>
                <a:tc>
                  <a:txBody>
                    <a:bodyPr/>
                    <a:lstStyle/>
                    <a:p>
                      <a:pPr algn="ctr"/>
                      <a:r>
                        <a:rPr sz="1100">
                          <a:solidFill>
                            <a:srgbClr val="2B2A35"/>
                          </a:solidFill>
                          <a:latin typeface="Work Sans"/>
                        </a:rPr>
                        <a:t>15</a:t>
                      </a:r>
                    </a:p>
                  </a:txBody>
                  <a:tcPr marL="54864" marR="54864" marT="18288" marB="18288" anchor="ctr">
                    <a:solidFill>
                      <a:srgbClr val="FFFFFF"/>
                    </a:solidFill>
                  </a:tcPr>
                </a:tc>
                <a:tc>
                  <a:txBody>
                    <a:bodyPr/>
                    <a:lstStyle/>
                    <a:p>
                      <a:pPr algn="ctr"/>
                      <a:r>
                        <a:rPr sz="1100">
                          <a:solidFill>
                            <a:srgbClr val="2B2A35"/>
                          </a:solidFill>
                          <a:latin typeface="Work Sans"/>
                        </a:rPr>
                        <a:t>99</a:t>
                      </a:r>
                    </a:p>
                  </a:txBody>
                  <a:tcPr marL="54864" marR="54864" marT="18288" marB="18288" anchor="ctr">
                    <a:solidFill>
                      <a:srgbClr val="FFFFFF"/>
                    </a:solidFill>
                  </a:tcPr>
                </a:tc>
                <a:tc>
                  <a:txBody>
                    <a:bodyPr/>
                    <a:lstStyle/>
                    <a:p>
                      <a:pPr algn="ctr"/>
                      <a:r>
                        <a:rPr sz="1100">
                          <a:solidFill>
                            <a:srgbClr val="2B2A35"/>
                          </a:solidFill>
                          <a:latin typeface="Work Sans"/>
                        </a:rPr>
                        <a:t>174</a:t>
                      </a:r>
                    </a:p>
                  </a:txBody>
                  <a:tcPr marL="54864" marR="54864" marT="18288" marB="18288" anchor="ctr">
                    <a:solidFill>
                      <a:srgbClr val="FFFFFF"/>
                    </a:solidFill>
                  </a:tcPr>
                </a:tc>
                <a:tc>
                  <a:txBody>
                    <a:bodyPr/>
                    <a:lstStyle/>
                    <a:p>
                      <a:pPr algn="ctr"/>
                      <a:r>
                        <a:rPr sz="1100">
                          <a:solidFill>
                            <a:srgbClr val="2B2A35"/>
                          </a:solidFill>
                          <a:latin typeface="Work Sans"/>
                        </a:rPr>
                        <a:t>4 206</a:t>
                      </a:r>
                    </a:p>
                  </a:txBody>
                  <a:tcPr marL="54864" marR="54864" marT="18288" marB="18288" anchor="ctr">
                    <a:solidFill>
                      <a:srgbClr val="FFFFFF"/>
                    </a:solidFill>
                  </a:tcPr>
                </a:tc>
              </a:tr>
              <a:tr h="457200">
                <a:tc>
                  <a:txBody>
                    <a:bodyPr/>
                    <a:lstStyle/>
                    <a:p>
                      <a:r>
                        <a:rPr sz="1100">
                          <a:solidFill>
                            <a:srgbClr val="2B2A35"/>
                          </a:solidFill>
                          <a:latin typeface="Work Sans"/>
                        </a:rPr>
                        <a:t>Orange CI</a:t>
                      </a:r>
                    </a:p>
                  </a:txBody>
                  <a:tcPr marL="54864" marR="54864" marT="18288" marB="18288" anchor="ctr">
                    <a:solidFill>
                      <a:srgbClr val="EEF2F6"/>
                    </a:solidFill>
                  </a:tcPr>
                </a:tc>
                <a:tc>
                  <a:txBody>
                    <a:bodyPr/>
                    <a:lstStyle/>
                    <a:p>
                      <a:pPr algn="ctr"/>
                      <a:r>
                        <a:rPr sz="1100">
                          <a:solidFill>
                            <a:srgbClr val="2B2A35"/>
                          </a:solidFill>
                          <a:latin typeface="Work Sans"/>
                        </a:rPr>
                        <a:t>70</a:t>
                      </a:r>
                    </a:p>
                  </a:txBody>
                  <a:tcPr marL="54864" marR="54864" marT="18288" marB="18288" anchor="ctr">
                    <a:solidFill>
                      <a:srgbClr val="EEF2F6"/>
                    </a:solidFill>
                  </a:tcPr>
                </a:tc>
                <a:tc>
                  <a:txBody>
                    <a:bodyPr/>
                    <a:lstStyle/>
                    <a:p>
                      <a:pPr algn="ctr"/>
                      <a:r>
                        <a:rPr sz="1100">
                          <a:solidFill>
                            <a:srgbClr val="2B2A35"/>
                          </a:solidFill>
                          <a:latin typeface="Work Sans"/>
                        </a:rPr>
                        <a:t>57</a:t>
                      </a:r>
                    </a:p>
                  </a:txBody>
                  <a:tcPr marL="54864" marR="54864" marT="18288" marB="18288" anchor="ctr">
                    <a:solidFill>
                      <a:srgbClr val="EEF2F6"/>
                    </a:solidFill>
                  </a:tcPr>
                </a:tc>
                <a:tc>
                  <a:txBody>
                    <a:bodyPr/>
                    <a:lstStyle/>
                    <a:p>
                      <a:pPr algn="ctr"/>
                      <a:r>
                        <a:rPr sz="1100">
                          <a:solidFill>
                            <a:srgbClr val="2B2A35"/>
                          </a:solidFill>
                          <a:latin typeface="Work Sans"/>
                        </a:rPr>
                        <a:t>172</a:t>
                      </a:r>
                    </a:p>
                  </a:txBody>
                  <a:tcPr marL="54864" marR="54864" marT="18288" marB="18288" anchor="ctr">
                    <a:solidFill>
                      <a:srgbClr val="EEF2F6"/>
                    </a:solidFill>
                  </a:tcPr>
                </a:tc>
                <a:tc>
                  <a:txBody>
                    <a:bodyPr/>
                    <a:lstStyle/>
                    <a:p>
                      <a:pPr algn="ctr"/>
                      <a:r>
                        <a:rPr sz="1100">
                          <a:solidFill>
                            <a:srgbClr val="2B2A35"/>
                          </a:solidFill>
                          <a:latin typeface="Work Sans"/>
                        </a:rPr>
                        <a:t>2 153</a:t>
                      </a:r>
                    </a:p>
                  </a:txBody>
                  <a:tcPr marL="54864" marR="54864" marT="18288" marB="18288" anchor="ctr">
                    <a:solidFill>
                      <a:srgbClr val="EEF2F6"/>
                    </a:solidFill>
                  </a:tcPr>
                </a:tc>
              </a:tr>
              <a:tr h="457200">
                <a:tc>
                  <a:txBody>
                    <a:bodyPr/>
                    <a:lstStyle/>
                    <a:p>
                      <a:r>
                        <a:rPr sz="1100">
                          <a:solidFill>
                            <a:srgbClr val="2B2A35"/>
                          </a:solidFill>
                          <a:latin typeface="Work Sans"/>
                        </a:rPr>
                        <a:t>Orange Sénégal</a:t>
                      </a:r>
                    </a:p>
                  </a:txBody>
                  <a:tcPr marL="54864" marR="54864" marT="18288" marB="18288" anchor="ctr">
                    <a:solidFill>
                      <a:srgbClr val="FFFFFF"/>
                    </a:solidFill>
                  </a:tcPr>
                </a:tc>
                <a:tc>
                  <a:txBody>
                    <a:bodyPr/>
                    <a:lstStyle/>
                    <a:p>
                      <a:pPr algn="ctr"/>
                      <a:r>
                        <a:rPr sz="1100">
                          <a:solidFill>
                            <a:srgbClr val="2B2A35"/>
                          </a:solidFill>
                          <a:latin typeface="Work Sans"/>
                        </a:rPr>
                        <a:t>19</a:t>
                      </a:r>
                    </a:p>
                  </a:txBody>
                  <a:tcPr marL="54864" marR="54864" marT="18288" marB="18288" anchor="ctr">
                    <a:solidFill>
                      <a:srgbClr val="FFFFFF"/>
                    </a:solidFill>
                  </a:tcPr>
                </a:tc>
                <a:tc>
                  <a:txBody>
                    <a:bodyPr/>
                    <a:lstStyle/>
                    <a:p>
                      <a:pPr algn="ctr"/>
                      <a:r>
                        <a:rPr sz="1100">
                          <a:solidFill>
                            <a:srgbClr val="2B2A35"/>
                          </a:solidFill>
                          <a:latin typeface="Work Sans"/>
                        </a:rPr>
                        <a:t>51</a:t>
                      </a:r>
                    </a:p>
                  </a:txBody>
                  <a:tcPr marL="54864" marR="54864" marT="18288" marB="18288" anchor="ctr">
                    <a:solidFill>
                      <a:srgbClr val="FFFFFF"/>
                    </a:solidFill>
                  </a:tcPr>
                </a:tc>
                <a:tc>
                  <a:txBody>
                    <a:bodyPr/>
                    <a:lstStyle/>
                    <a:p>
                      <a:pPr algn="ctr"/>
                      <a:r>
                        <a:rPr sz="1100">
                          <a:solidFill>
                            <a:srgbClr val="2B2A35"/>
                          </a:solidFill>
                          <a:latin typeface="Work Sans"/>
                        </a:rPr>
                        <a:t>36</a:t>
                      </a:r>
                    </a:p>
                  </a:txBody>
                  <a:tcPr marL="54864" marR="54864" marT="18288" marB="18288" anchor="ctr">
                    <a:solidFill>
                      <a:srgbClr val="FFFFFF"/>
                    </a:solidFill>
                  </a:tcPr>
                </a:tc>
                <a:tc>
                  <a:txBody>
                    <a:bodyPr/>
                    <a:lstStyle/>
                    <a:p>
                      <a:pPr algn="ctr"/>
                      <a:r>
                        <a:rPr sz="1100">
                          <a:solidFill>
                            <a:srgbClr val="2B2A35"/>
                          </a:solidFill>
                          <a:latin typeface="Work Sans"/>
                        </a:rPr>
                        <a:t>767</a:t>
                      </a:r>
                    </a:p>
                  </a:txBody>
                  <a:tcPr marL="54864" marR="54864" marT="18288" marB="18288" anchor="ctr">
                    <a:solidFill>
                      <a:srgbClr val="FFFFFF"/>
                    </a:solidFill>
                  </a:tcPr>
                </a:tc>
              </a:tr>
              <a:tr h="457200">
                <a:tc>
                  <a:txBody>
                    <a:bodyPr/>
                    <a:lstStyle/>
                    <a:p>
                      <a:r>
                        <a:rPr sz="1100">
                          <a:solidFill>
                            <a:srgbClr val="2B2A35"/>
                          </a:solidFill>
                          <a:latin typeface="Work Sans"/>
                        </a:rPr>
                        <a:t>Expresso</a:t>
                      </a:r>
                    </a:p>
                  </a:txBody>
                  <a:tcPr marL="54864" marR="54864" marT="18288" marB="18288" anchor="ctr">
                    <a:solidFill>
                      <a:srgbClr val="EEF2F6"/>
                    </a:solidFill>
                  </a:tcPr>
                </a:tc>
                <a:tc>
                  <a:txBody>
                    <a:bodyPr/>
                    <a:lstStyle/>
                    <a:p>
                      <a:pPr algn="ctr"/>
                      <a:r>
                        <a:rPr sz="1100">
                          <a:solidFill>
                            <a:srgbClr val="2B2A35"/>
                          </a:solidFill>
                          <a:latin typeface="Work Sans"/>
                        </a:rPr>
                        <a:t>6</a:t>
                      </a:r>
                    </a:p>
                  </a:txBody>
                  <a:tcPr marL="54864" marR="54864" marT="18288" marB="18288" anchor="ctr">
                    <a:solidFill>
                      <a:srgbClr val="EEF2F6"/>
                    </a:solidFill>
                  </a:tcPr>
                </a:tc>
                <a:tc>
                  <a:txBody>
                    <a:bodyPr/>
                    <a:lstStyle/>
                    <a:p>
                      <a:pPr algn="ctr"/>
                      <a:r>
                        <a:rPr sz="1100">
                          <a:solidFill>
                            <a:srgbClr val="2B2A35"/>
                          </a:solidFill>
                          <a:latin typeface="Work Sans"/>
                        </a:rPr>
                        <a:t>22</a:t>
                      </a:r>
                    </a:p>
                  </a:txBody>
                  <a:tcPr marL="54864" marR="54864" marT="18288" marB="18288" anchor="ctr">
                    <a:solidFill>
                      <a:srgbClr val="EEF2F6"/>
                    </a:solidFill>
                  </a:tcPr>
                </a:tc>
                <a:tc>
                  <a:txBody>
                    <a:bodyPr/>
                    <a:lstStyle/>
                    <a:p>
                      <a:pPr algn="ctr"/>
                      <a:r>
                        <a:rPr sz="1100">
                          <a:solidFill>
                            <a:srgbClr val="2B2A35"/>
                          </a:solidFill>
                          <a:latin typeface="Work Sans"/>
                        </a:rPr>
                        <a:t>30</a:t>
                      </a:r>
                    </a:p>
                  </a:txBody>
                  <a:tcPr marL="54864" marR="54864" marT="18288" marB="18288" anchor="ctr">
                    <a:solidFill>
                      <a:srgbClr val="EEF2F6"/>
                    </a:solidFill>
                  </a:tcPr>
                </a:tc>
                <a:tc>
                  <a:txBody>
                    <a:bodyPr/>
                    <a:lstStyle/>
                    <a:p>
                      <a:pPr algn="ctr"/>
                      <a:r>
                        <a:rPr sz="1100">
                          <a:solidFill>
                            <a:srgbClr val="2B2A35"/>
                          </a:solidFill>
                          <a:latin typeface="Work Sans"/>
                        </a:rPr>
                        <a:t>604</a:t>
                      </a:r>
                    </a:p>
                  </a:txBody>
                  <a:tcPr marL="54864" marR="54864" marT="18288" marB="18288" anchor="ctr">
                    <a:solidFill>
                      <a:srgbClr val="EEF2F6"/>
                    </a:solidFill>
                  </a:tcPr>
                </a:tc>
              </a:tr>
            </a:tbl>
          </a:graphicData>
        </a:graphic>
      </p:graphicFrame>
      <p:sp>
        <p:nvSpPr>
          <p:cNvPr id="10" name="TextBox 9"/>
          <p:cNvSpPr txBox="1"/>
          <p:nvPr/>
        </p:nvSpPr>
        <p:spPr>
          <a:xfrm>
            <a:off x="548640" y="5623560"/>
            <a:ext cx="6949440" cy="731520"/>
          </a:xfrm>
          <a:prstGeom prst="rect">
            <a:avLst/>
          </a:prstGeom>
          <a:noFill/>
        </p:spPr>
        <p:txBody>
          <a:bodyPr wrap="square" anchor="t" lIns="45720" rIns="45720" tIns="27432" bIns="27432">
            <a:spAutoFit/>
          </a:bodyPr>
          <a:lstStyle/>
          <a:p>
            <a:pPr algn="l">
              <a:lnSpc>
                <a:spcPct val="110000"/>
              </a:lnSpc>
              <a:spcAft>
                <a:spcPts val="600"/>
              </a:spcAft>
            </a:pPr>
            <a:r>
              <a:rPr sz="1000" b="0">
                <a:solidFill>
                  <a:srgbClr val="8F8F9A"/>
                </a:solidFill>
                <a:latin typeface="Work Sans"/>
              </a:rPr>
              <a:t>Médianes par publication, 15 dernières publications de chaque compte, relevé du 24/10/2026. Instagram : publications de la marque seule.</a:t>
            </a:r>
          </a:p>
        </p:txBody>
      </p:sp>
      <p:sp>
        <p:nvSpPr>
          <p:cNvPr id="11" name="TextBox 10"/>
          <p:cNvSpPr txBox="1"/>
          <p:nvPr/>
        </p:nvSpPr>
        <p:spPr>
          <a:xfrm>
            <a:off x="7818120" y="1417320"/>
            <a:ext cx="3822191" cy="493776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Instagram n'est pas le réseau principal ici.</a:t>
            </a:r>
          </a:p>
          <a:p>
            <a:pPr algn="l">
              <a:lnSpc>
                <a:spcPct val="110000"/>
              </a:lnSpc>
              <a:spcAft>
                <a:spcPts val="900"/>
              </a:spcAft>
            </a:pPr>
            <a:r>
              <a:rPr sz="1100" b="0">
                <a:solidFill>
                  <a:srgbClr val="2B2A35"/>
                </a:solidFill>
                <a:latin typeface="Work Sans"/>
              </a:rPr>
              <a:t>Instagram fait moins que TikTok pour les 8 marques, et moins que Facebook pour 6 sur 8 (exceptions : Yas et Orange CI). Juger ces marques sur Instagram seul les sous-estime.</a:t>
            </a:r>
          </a:p>
          <a:p>
            <a:pPr algn="l">
              <a:lnSpc>
                <a:spcPct val="110000"/>
              </a:lnSpc>
              <a:spcAft>
                <a:spcPts val="100"/>
              </a:spcAft>
            </a:pPr>
            <a:r>
              <a:rPr sz="1200" b="1">
                <a:solidFill>
                  <a:srgbClr val="232754"/>
                </a:solidFill>
                <a:latin typeface="Work Sans"/>
              </a:rPr>
              <a:t>TikTok d'abord pour toucher large.</a:t>
            </a:r>
          </a:p>
          <a:p>
            <a:pPr algn="l">
              <a:lnSpc>
                <a:spcPct val="110000"/>
              </a:lnSpc>
              <a:spcAft>
                <a:spcPts val="900"/>
              </a:spcAft>
            </a:pPr>
            <a:r>
              <a:rPr sz="1100" b="0">
                <a:solidFill>
                  <a:srgbClr val="2B2A35"/>
                </a:solidFill>
                <a:latin typeface="Work Sans"/>
              </a:rPr>
              <a:t>Les vues TikTok dépassent de loin tout le reste, même pour des comptes moyens.</a:t>
            </a:r>
          </a:p>
          <a:p>
            <a:pPr algn="l">
              <a:lnSpc>
                <a:spcPct val="110000"/>
              </a:lnSpc>
              <a:spcAft>
                <a:spcPts val="100"/>
              </a:spcAft>
            </a:pPr>
            <a:r>
              <a:rPr sz="1200" b="1">
                <a:solidFill>
                  <a:srgbClr val="232754"/>
                </a:solidFill>
                <a:latin typeface="Work Sans"/>
              </a:rPr>
              <a:t>Facebook pour la conversation et l'offre.</a:t>
            </a:r>
          </a:p>
          <a:p>
            <a:pPr algn="l">
              <a:lnSpc>
                <a:spcPct val="110000"/>
              </a:lnSpc>
              <a:spcAft>
                <a:spcPts val="900"/>
              </a:spcAft>
            </a:pPr>
            <a:r>
              <a:rPr sz="1100" b="0">
                <a:solidFill>
                  <a:srgbClr val="2B2A35"/>
                </a:solidFill>
                <a:latin typeface="Work Sans"/>
              </a:rPr>
              <a:t>C'est là que les clients commentent, posent leurs questions et réagissent aux promos.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FACEBOOK ET TIKTOK</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Facebook au Nigeria et en France : un réseau secondaire</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17</a:t>
            </a:r>
          </a:p>
        </p:txBody>
      </p:sp>
      <p:graphicFrame>
        <p:nvGraphicFramePr>
          <p:cNvPr id="9" name="Table 8"/>
          <p:cNvGraphicFramePr>
            <a:graphicFrameLocks noGrp="1"/>
          </p:cNvGraphicFramePr>
          <p:nvPr/>
        </p:nvGraphicFramePr>
        <p:xfrm>
          <a:off x="548640" y="1371600"/>
          <a:ext cx="7040880" cy="4754880"/>
        </p:xfrm>
        <a:graphic>
          <a:graphicData uri="http://schemas.openxmlformats.org/drawingml/2006/table">
            <a:tbl>
              <a:tblPr firstRow="1" bandRow="1">
                <a:tableStyleId>{5C22544A-7EE6-4342-B048-85BDC9FD1C3A}</a:tableStyleId>
              </a:tblPr>
              <a:tblGrid>
                <a:gridCol w="1828800"/>
                <a:gridCol w="1600200"/>
                <a:gridCol w="1234440"/>
                <a:gridCol w="1188720"/>
                <a:gridCol w="1188720"/>
              </a:tblGrid>
              <a:tr h="365760">
                <a:tc>
                  <a:txBody>
                    <a:bodyPr/>
                    <a:lstStyle/>
                    <a:p>
                      <a:r>
                        <a:rPr sz="1000" b="1">
                          <a:solidFill>
                            <a:srgbClr val="FFFFFF"/>
                          </a:solidFill>
                          <a:latin typeface="Space Grotesk"/>
                        </a:rPr>
                        <a:t>Page Facebook</a:t>
                      </a:r>
                    </a:p>
                  </a:txBody>
                  <a:tcPr marL="54864" marR="54864" marT="18288" marB="18288" anchor="ctr">
                    <a:solidFill>
                      <a:srgbClr val="232754"/>
                    </a:solidFill>
                  </a:tcPr>
                </a:tc>
                <a:tc>
                  <a:txBody>
                    <a:bodyPr/>
                    <a:lstStyle/>
                    <a:p>
                      <a:r>
                        <a:rPr sz="1000" b="1">
                          <a:solidFill>
                            <a:srgbClr val="FFFFFF"/>
                          </a:solidFill>
                          <a:latin typeface="Space Grotesk"/>
                        </a:rPr>
                        <a:t>Période des 15 posts</a:t>
                      </a:r>
                    </a:p>
                  </a:txBody>
                  <a:tcPr marL="54864" marR="54864" marT="18288" marB="18288" anchor="ctr">
                    <a:solidFill>
                      <a:srgbClr val="232754"/>
                    </a:solidFill>
                  </a:tcPr>
                </a:tc>
                <a:tc>
                  <a:txBody>
                    <a:bodyPr/>
                    <a:lstStyle/>
                    <a:p>
                      <a:r>
                        <a:rPr sz="1000" b="1">
                          <a:solidFill>
                            <a:srgbClr val="FFFFFF"/>
                          </a:solidFill>
                          <a:latin typeface="Space Grotesk"/>
                        </a:rPr>
                        <a:t>Médiane réactions</a:t>
                      </a:r>
                    </a:p>
                  </a:txBody>
                  <a:tcPr marL="54864" marR="54864" marT="18288" marB="18288" anchor="ctr">
                    <a:solidFill>
                      <a:srgbClr val="232754"/>
                    </a:solidFill>
                  </a:tcPr>
                </a:tc>
                <a:tc>
                  <a:txBody>
                    <a:bodyPr/>
                    <a:lstStyle/>
                    <a:p>
                      <a:r>
                        <a:rPr sz="1000" b="1">
                          <a:solidFill>
                            <a:srgbClr val="FFFFFF"/>
                          </a:solidFill>
                          <a:latin typeface="Space Grotesk"/>
                        </a:rPr>
                        <a:t>Médiane comment.</a:t>
                      </a:r>
                    </a:p>
                  </a:txBody>
                  <a:tcPr marL="54864" marR="54864" marT="18288" marB="18288" anchor="ctr">
                    <a:solidFill>
                      <a:srgbClr val="232754"/>
                    </a:solidFill>
                  </a:tcPr>
                </a:tc>
                <a:tc>
                  <a:txBody>
                    <a:bodyPr/>
                    <a:lstStyle/>
                    <a:p>
                      <a:r>
                        <a:rPr sz="1000" b="1">
                          <a:solidFill>
                            <a:srgbClr val="FFFFFF"/>
                          </a:solidFill>
                          <a:latin typeface="Space Grotesk"/>
                        </a:rPr>
                        <a:t>Meilleur post</a:t>
                      </a:r>
                    </a:p>
                  </a:txBody>
                  <a:tcPr marL="54864" marR="54864" marT="18288" marB="18288" anchor="ctr">
                    <a:solidFill>
                      <a:srgbClr val="232754"/>
                    </a:solidFill>
                  </a:tcPr>
                </a:tc>
              </a:tr>
              <a:tr h="365760">
                <a:tc>
                  <a:txBody>
                    <a:bodyPr/>
                    <a:lstStyle/>
                    <a:p>
                      <a:r>
                        <a:rPr sz="1000">
                          <a:solidFill>
                            <a:srgbClr val="2B2A35"/>
                          </a:solidFill>
                          <a:latin typeface="Work Sans"/>
                        </a:rPr>
                        <a:t>MTN Nigeria (NG)</a:t>
                      </a:r>
                    </a:p>
                  </a:txBody>
                  <a:tcPr marL="54864" marR="54864" marT="18288" marB="18288" anchor="ctr">
                    <a:solidFill>
                      <a:srgbClr val="FFFFFF"/>
                    </a:solidFill>
                  </a:tcPr>
                </a:tc>
                <a:tc>
                  <a:txBody>
                    <a:bodyPr/>
                    <a:lstStyle/>
                    <a:p>
                      <a:pPr algn="ctr"/>
                      <a:r>
                        <a:rPr sz="1000">
                          <a:solidFill>
                            <a:srgbClr val="2B2A35"/>
                          </a:solidFill>
                          <a:latin typeface="Work Sans"/>
                        </a:rPr>
                        <a:t>19/10/26 au 24/10</a:t>
                      </a:r>
                    </a:p>
                  </a:txBody>
                  <a:tcPr marL="54864" marR="54864" marT="18288" marB="18288" anchor="ctr">
                    <a:solidFill>
                      <a:srgbClr val="FFFFFF"/>
                    </a:solidFill>
                  </a:tcPr>
                </a:tc>
                <a:tc>
                  <a:txBody>
                    <a:bodyPr/>
                    <a:lstStyle/>
                    <a:p>
                      <a:pPr algn="ctr"/>
                      <a:r>
                        <a:rPr sz="1000">
                          <a:solidFill>
                            <a:srgbClr val="2B2A35"/>
                          </a:solidFill>
                          <a:latin typeface="Work Sans"/>
                        </a:rPr>
                        <a:t>92</a:t>
                      </a:r>
                    </a:p>
                  </a:txBody>
                  <a:tcPr marL="54864" marR="54864" marT="18288" marB="18288" anchor="ctr">
                    <a:solidFill>
                      <a:srgbClr val="FFFFFF"/>
                    </a:solidFill>
                  </a:tcPr>
                </a:tc>
                <a:tc>
                  <a:txBody>
                    <a:bodyPr/>
                    <a:lstStyle/>
                    <a:p>
                      <a:pPr algn="ctr"/>
                      <a:r>
                        <a:rPr sz="1000">
                          <a:solidFill>
                            <a:srgbClr val="2B2A35"/>
                          </a:solidFill>
                          <a:latin typeface="Work Sans"/>
                        </a:rPr>
                        <a:t>32</a:t>
                      </a:r>
                    </a:p>
                  </a:txBody>
                  <a:tcPr marL="54864" marR="54864" marT="18288" marB="18288" anchor="ctr">
                    <a:solidFill>
                      <a:srgbClr val="FFFFFF"/>
                    </a:solidFill>
                  </a:tcPr>
                </a:tc>
                <a:tc>
                  <a:txBody>
                    <a:bodyPr/>
                    <a:lstStyle/>
                    <a:p>
                      <a:r>
                        <a:rPr sz="1000">
                          <a:solidFill>
                            <a:srgbClr val="2B2A35"/>
                          </a:solidFill>
                          <a:latin typeface="Work Sans"/>
                        </a:rPr>
                        <a:t>image · 665</a:t>
                      </a:r>
                    </a:p>
                  </a:txBody>
                  <a:tcPr marL="54864" marR="54864" marT="18288" marB="18288" anchor="ctr">
                    <a:solidFill>
                      <a:srgbClr val="FFFFFF"/>
                    </a:solidFill>
                  </a:tcPr>
                </a:tc>
              </a:tr>
              <a:tr h="365760">
                <a:tc>
                  <a:txBody>
                    <a:bodyPr/>
                    <a:lstStyle/>
                    <a:p>
                      <a:r>
                        <a:rPr sz="1000">
                          <a:solidFill>
                            <a:srgbClr val="2B2A35"/>
                          </a:solidFill>
                          <a:latin typeface="Work Sans"/>
                        </a:rPr>
                        <a:t>Chowdeck (NG)</a:t>
                      </a:r>
                    </a:p>
                  </a:txBody>
                  <a:tcPr marL="54864" marR="54864" marT="18288" marB="18288" anchor="ctr">
                    <a:solidFill>
                      <a:srgbClr val="EEF2F6"/>
                    </a:solidFill>
                  </a:tcPr>
                </a:tc>
                <a:tc>
                  <a:txBody>
                    <a:bodyPr/>
                    <a:lstStyle/>
                    <a:p>
                      <a:pPr algn="ctr"/>
                      <a:r>
                        <a:rPr sz="1000">
                          <a:solidFill>
                            <a:srgbClr val="2B2A35"/>
                          </a:solidFill>
                          <a:latin typeface="Work Sans"/>
                        </a:rPr>
                        <a:t>29/08/26 au 21/10</a:t>
                      </a:r>
                    </a:p>
                  </a:txBody>
                  <a:tcPr marL="54864" marR="54864" marT="18288" marB="18288" anchor="ctr">
                    <a:solidFill>
                      <a:srgbClr val="EEF2F6"/>
                    </a:solidFill>
                  </a:tcPr>
                </a:tc>
                <a:tc>
                  <a:txBody>
                    <a:bodyPr/>
                    <a:lstStyle/>
                    <a:p>
                      <a:pPr algn="ctr"/>
                      <a:r>
                        <a:rPr sz="1000">
                          <a:solidFill>
                            <a:srgbClr val="2B2A35"/>
                          </a:solidFill>
                          <a:latin typeface="Work Sans"/>
                        </a:rPr>
                        <a:t>20</a:t>
                      </a:r>
                    </a:p>
                  </a:txBody>
                  <a:tcPr marL="54864" marR="54864" marT="18288" marB="18288" anchor="ctr">
                    <a:solidFill>
                      <a:srgbClr val="EEF2F6"/>
                    </a:solidFill>
                  </a:tcPr>
                </a:tc>
                <a:tc>
                  <a:txBody>
                    <a:bodyPr/>
                    <a:lstStyle/>
                    <a:p>
                      <a:pPr algn="ctr"/>
                      <a:r>
                        <a:rPr sz="1000">
                          <a:solidFill>
                            <a:srgbClr val="2B2A35"/>
                          </a:solidFill>
                          <a:latin typeface="Work Sans"/>
                        </a:rPr>
                        <a:t>2</a:t>
                      </a:r>
                    </a:p>
                  </a:txBody>
                  <a:tcPr marL="54864" marR="54864" marT="18288" marB="18288" anchor="ctr">
                    <a:solidFill>
                      <a:srgbClr val="EEF2F6"/>
                    </a:solidFill>
                  </a:tcPr>
                </a:tc>
                <a:tc>
                  <a:txBody>
                    <a:bodyPr/>
                    <a:lstStyle/>
                    <a:p>
                      <a:r>
                        <a:rPr sz="1000">
                          <a:solidFill>
                            <a:srgbClr val="2B2A35"/>
                          </a:solidFill>
                          <a:latin typeface="Work Sans"/>
                        </a:rPr>
                        <a:t>vidéo · 35</a:t>
                      </a:r>
                    </a:p>
                  </a:txBody>
                  <a:tcPr marL="54864" marR="54864" marT="18288" marB="18288" anchor="ctr">
                    <a:solidFill>
                      <a:srgbClr val="EEF2F6"/>
                    </a:solidFill>
                  </a:tcPr>
                </a:tc>
              </a:tr>
              <a:tr h="365760">
                <a:tc>
                  <a:txBody>
                    <a:bodyPr/>
                    <a:lstStyle/>
                    <a:p>
                      <a:r>
                        <a:rPr sz="1000">
                          <a:solidFill>
                            <a:srgbClr val="2B2A35"/>
                          </a:solidFill>
                          <a:latin typeface="Work Sans"/>
                        </a:rPr>
                        <a:t>GTBank (NG)</a:t>
                      </a:r>
                    </a:p>
                  </a:txBody>
                  <a:tcPr marL="54864" marR="54864" marT="18288" marB="18288" anchor="ctr">
                    <a:solidFill>
                      <a:srgbClr val="FFFFFF"/>
                    </a:solidFill>
                  </a:tcPr>
                </a:tc>
                <a:tc>
                  <a:txBody>
                    <a:bodyPr/>
                    <a:lstStyle/>
                    <a:p>
                      <a:pPr algn="ctr"/>
                      <a:r>
                        <a:rPr sz="1000">
                          <a:solidFill>
                            <a:srgbClr val="2B2A35"/>
                          </a:solidFill>
                          <a:latin typeface="Work Sans"/>
                        </a:rPr>
                        <a:t>19/10/26 au 24/10</a:t>
                      </a:r>
                    </a:p>
                  </a:txBody>
                  <a:tcPr marL="54864" marR="54864" marT="18288" marB="18288" anchor="ctr">
                    <a:solidFill>
                      <a:srgbClr val="FFFFFF"/>
                    </a:solidFill>
                  </a:tcPr>
                </a:tc>
                <a:tc>
                  <a:txBody>
                    <a:bodyPr/>
                    <a:lstStyle/>
                    <a:p>
                      <a:pPr algn="ctr"/>
                      <a:r>
                        <a:rPr sz="1000">
                          <a:solidFill>
                            <a:srgbClr val="2B2A35"/>
                          </a:solidFill>
                          <a:latin typeface="Work Sans"/>
                        </a:rPr>
                        <a:t>34</a:t>
                      </a:r>
                    </a:p>
                  </a:txBody>
                  <a:tcPr marL="54864" marR="54864" marT="18288" marB="18288" anchor="ctr">
                    <a:solidFill>
                      <a:srgbClr val="FFFFFF"/>
                    </a:solidFill>
                  </a:tcPr>
                </a:tc>
                <a:tc>
                  <a:txBody>
                    <a:bodyPr/>
                    <a:lstStyle/>
                    <a:p>
                      <a:pPr algn="ctr"/>
                      <a:r>
                        <a:rPr sz="1000">
                          <a:solidFill>
                            <a:srgbClr val="2B2A35"/>
                          </a:solidFill>
                          <a:latin typeface="Work Sans"/>
                        </a:rPr>
                        <a:t>1</a:t>
                      </a:r>
                    </a:p>
                  </a:txBody>
                  <a:tcPr marL="54864" marR="54864" marT="18288" marB="18288" anchor="ctr">
                    <a:solidFill>
                      <a:srgbClr val="FFFFFF"/>
                    </a:solidFill>
                  </a:tcPr>
                </a:tc>
                <a:tc>
                  <a:txBody>
                    <a:bodyPr/>
                    <a:lstStyle/>
                    <a:p>
                      <a:r>
                        <a:rPr sz="1000">
                          <a:solidFill>
                            <a:srgbClr val="2B2A35"/>
                          </a:solidFill>
                          <a:latin typeface="Work Sans"/>
                        </a:rPr>
                        <a:t>vidéo · 1 155</a:t>
                      </a:r>
                    </a:p>
                  </a:txBody>
                  <a:tcPr marL="54864" marR="54864" marT="18288" marB="18288" anchor="ctr">
                    <a:solidFill>
                      <a:srgbClr val="FFFFFF"/>
                    </a:solidFill>
                  </a:tcPr>
                </a:tc>
              </a:tr>
              <a:tr h="365760">
                <a:tc>
                  <a:txBody>
                    <a:bodyPr/>
                    <a:lstStyle/>
                    <a:p>
                      <a:r>
                        <a:rPr sz="1000">
                          <a:solidFill>
                            <a:srgbClr val="2B2A35"/>
                          </a:solidFill>
                          <a:latin typeface="Work Sans"/>
                        </a:rPr>
                        <a:t>Moniepoint (NG)</a:t>
                      </a:r>
                    </a:p>
                  </a:txBody>
                  <a:tcPr marL="54864" marR="54864" marT="18288" marB="18288" anchor="ctr">
                    <a:solidFill>
                      <a:srgbClr val="EEF2F6"/>
                    </a:solidFill>
                  </a:tcPr>
                </a:tc>
                <a:tc>
                  <a:txBody>
                    <a:bodyPr/>
                    <a:lstStyle/>
                    <a:p>
                      <a:pPr algn="ctr"/>
                      <a:r>
                        <a:rPr sz="1000">
                          <a:solidFill>
                            <a:srgbClr val="2B2A35"/>
                          </a:solidFill>
                          <a:latin typeface="Work Sans"/>
                        </a:rPr>
                        <a:t>24/07/26 au 23/10</a:t>
                      </a:r>
                    </a:p>
                  </a:txBody>
                  <a:tcPr marL="54864" marR="54864" marT="18288" marB="18288" anchor="ctr">
                    <a:solidFill>
                      <a:srgbClr val="EEF2F6"/>
                    </a:solidFill>
                  </a:tcPr>
                </a:tc>
                <a:tc>
                  <a:txBody>
                    <a:bodyPr/>
                    <a:lstStyle/>
                    <a:p>
                      <a:pPr algn="ctr"/>
                      <a:r>
                        <a:rPr sz="1000">
                          <a:solidFill>
                            <a:srgbClr val="2B2A35"/>
                          </a:solidFill>
                          <a:latin typeface="Work Sans"/>
                        </a:rPr>
                        <a:t>157</a:t>
                      </a:r>
                    </a:p>
                  </a:txBody>
                  <a:tcPr marL="54864" marR="54864" marT="18288" marB="18288" anchor="ctr">
                    <a:solidFill>
                      <a:srgbClr val="EEF2F6"/>
                    </a:solidFill>
                  </a:tcPr>
                </a:tc>
                <a:tc>
                  <a:txBody>
                    <a:bodyPr/>
                    <a:lstStyle/>
                    <a:p>
                      <a:pPr algn="ctr"/>
                      <a:r>
                        <a:rPr sz="1000">
                          <a:solidFill>
                            <a:srgbClr val="2B2A35"/>
                          </a:solidFill>
                          <a:latin typeface="Work Sans"/>
                        </a:rPr>
                        <a:t>47</a:t>
                      </a:r>
                    </a:p>
                  </a:txBody>
                  <a:tcPr marL="54864" marR="54864" marT="18288" marB="18288" anchor="ctr">
                    <a:solidFill>
                      <a:srgbClr val="EEF2F6"/>
                    </a:solidFill>
                  </a:tcPr>
                </a:tc>
                <a:tc>
                  <a:txBody>
                    <a:bodyPr/>
                    <a:lstStyle/>
                    <a:p>
                      <a:r>
                        <a:rPr sz="1000">
                          <a:solidFill>
                            <a:srgbClr val="2B2A35"/>
                          </a:solidFill>
                          <a:latin typeface="Work Sans"/>
                        </a:rPr>
                        <a:t>image · 502</a:t>
                      </a:r>
                    </a:p>
                  </a:txBody>
                  <a:tcPr marL="54864" marR="54864" marT="18288" marB="18288" anchor="ctr">
                    <a:solidFill>
                      <a:srgbClr val="EEF2F6"/>
                    </a:solidFill>
                  </a:tcPr>
                </a:tc>
              </a:tr>
              <a:tr h="365760">
                <a:tc>
                  <a:txBody>
                    <a:bodyPr/>
                    <a:lstStyle/>
                    <a:p>
                      <a:r>
                        <a:rPr sz="1000">
                          <a:solidFill>
                            <a:srgbClr val="2B2A35"/>
                          </a:solidFill>
                          <a:latin typeface="Work Sans"/>
                        </a:rPr>
                        <a:t>Paystack (NG)</a:t>
                      </a:r>
                    </a:p>
                  </a:txBody>
                  <a:tcPr marL="54864" marR="54864" marT="18288" marB="18288" anchor="ctr">
                    <a:solidFill>
                      <a:srgbClr val="FFFFFF"/>
                    </a:solidFill>
                  </a:tcPr>
                </a:tc>
                <a:tc>
                  <a:txBody>
                    <a:bodyPr/>
                    <a:lstStyle/>
                    <a:p>
                      <a:pPr algn="ctr"/>
                      <a:r>
                        <a:rPr sz="1000">
                          <a:solidFill>
                            <a:srgbClr val="2B2A35"/>
                          </a:solidFill>
                          <a:latin typeface="Work Sans"/>
                        </a:rPr>
                        <a:t>16/07/26 au 13/10</a:t>
                      </a:r>
                    </a:p>
                  </a:txBody>
                  <a:tcPr marL="54864" marR="54864" marT="18288" marB="18288" anchor="ctr">
                    <a:solidFill>
                      <a:srgbClr val="FFFFFF"/>
                    </a:solidFill>
                  </a:tcPr>
                </a:tc>
                <a:tc>
                  <a:txBody>
                    <a:bodyPr/>
                    <a:lstStyle/>
                    <a:p>
                      <a:pPr algn="ctr"/>
                      <a:r>
                        <a:rPr sz="1000">
                          <a:solidFill>
                            <a:srgbClr val="2B2A35"/>
                          </a:solidFill>
                          <a:latin typeface="Work Sans"/>
                        </a:rPr>
                        <a:t>11</a:t>
                      </a:r>
                    </a:p>
                  </a:txBody>
                  <a:tcPr marL="54864" marR="54864" marT="18288" marB="18288" anchor="ctr">
                    <a:solidFill>
                      <a:srgbClr val="FFFFFF"/>
                    </a:solidFill>
                  </a:tcPr>
                </a:tc>
                <a:tc>
                  <a:txBody>
                    <a:bodyPr/>
                    <a:lstStyle/>
                    <a:p>
                      <a:pPr algn="ctr"/>
                      <a:r>
                        <a:rPr sz="1000">
                          <a:solidFill>
                            <a:srgbClr val="2B2A35"/>
                          </a:solidFill>
                          <a:latin typeface="Work Sans"/>
                        </a:rPr>
                        <a:t>27</a:t>
                      </a:r>
                    </a:p>
                  </a:txBody>
                  <a:tcPr marL="54864" marR="54864" marT="18288" marB="18288" anchor="ctr">
                    <a:solidFill>
                      <a:srgbClr val="FFFFFF"/>
                    </a:solidFill>
                  </a:tcPr>
                </a:tc>
                <a:tc>
                  <a:txBody>
                    <a:bodyPr/>
                    <a:lstStyle/>
                    <a:p>
                      <a:r>
                        <a:rPr sz="1000">
                          <a:solidFill>
                            <a:srgbClr val="2B2A35"/>
                          </a:solidFill>
                          <a:latin typeface="Work Sans"/>
                        </a:rPr>
                        <a:t>album · 20</a:t>
                      </a:r>
                    </a:p>
                  </a:txBody>
                  <a:tcPr marL="54864" marR="54864" marT="18288" marB="18288" anchor="ctr">
                    <a:solidFill>
                      <a:srgbClr val="FFFFFF"/>
                    </a:solidFill>
                  </a:tcPr>
                </a:tc>
              </a:tr>
              <a:tr h="365760">
                <a:tc>
                  <a:txBody>
                    <a:bodyPr/>
                    <a:lstStyle/>
                    <a:p>
                      <a:r>
                        <a:rPr sz="1000">
                          <a:solidFill>
                            <a:srgbClr val="2B2A35"/>
                          </a:solidFill>
                          <a:latin typeface="Work Sans"/>
                        </a:rPr>
                        <a:t>Flutterwave (NG)</a:t>
                      </a:r>
                    </a:p>
                  </a:txBody>
                  <a:tcPr marL="54864" marR="54864" marT="18288" marB="18288" anchor="ctr">
                    <a:solidFill>
                      <a:srgbClr val="EEF2F6"/>
                    </a:solidFill>
                  </a:tcPr>
                </a:tc>
                <a:tc>
                  <a:txBody>
                    <a:bodyPr/>
                    <a:lstStyle/>
                    <a:p>
                      <a:pPr algn="ctr"/>
                      <a:r>
                        <a:rPr sz="1000">
                          <a:solidFill>
                            <a:srgbClr val="2B2A35"/>
                          </a:solidFill>
                          <a:latin typeface="Work Sans"/>
                        </a:rPr>
                        <a:t>24/09/26 au 23/10</a:t>
                      </a:r>
                    </a:p>
                  </a:txBody>
                  <a:tcPr marL="54864" marR="54864" marT="18288" marB="18288" anchor="ctr">
                    <a:solidFill>
                      <a:srgbClr val="EEF2F6"/>
                    </a:solidFill>
                  </a:tcPr>
                </a:tc>
                <a:tc>
                  <a:txBody>
                    <a:bodyPr/>
                    <a:lstStyle/>
                    <a:p>
                      <a:pPr algn="ctr"/>
                      <a:r>
                        <a:rPr sz="1000">
                          <a:solidFill>
                            <a:srgbClr val="2B2A35"/>
                          </a:solidFill>
                          <a:latin typeface="Work Sans"/>
                        </a:rPr>
                        <a:t>5</a:t>
                      </a:r>
                    </a:p>
                  </a:txBody>
                  <a:tcPr marL="54864" marR="54864" marT="18288" marB="18288" anchor="ctr">
                    <a:solidFill>
                      <a:srgbClr val="EEF2F6"/>
                    </a:solidFill>
                  </a:tcPr>
                </a:tc>
                <a:tc>
                  <a:txBody>
                    <a:bodyPr/>
                    <a:lstStyle/>
                    <a:p>
                      <a:pPr algn="ctr"/>
                      <a:r>
                        <a:rPr sz="1000">
                          <a:solidFill>
                            <a:srgbClr val="2B2A35"/>
                          </a:solidFill>
                          <a:latin typeface="Work Sans"/>
                        </a:rPr>
                        <a:t>0</a:t>
                      </a:r>
                    </a:p>
                  </a:txBody>
                  <a:tcPr marL="54864" marR="54864" marT="18288" marB="18288" anchor="ctr">
                    <a:solidFill>
                      <a:srgbClr val="EEF2F6"/>
                    </a:solidFill>
                  </a:tcPr>
                </a:tc>
                <a:tc>
                  <a:txBody>
                    <a:bodyPr/>
                    <a:lstStyle/>
                    <a:p>
                      <a:r>
                        <a:rPr sz="1000">
                          <a:solidFill>
                            <a:srgbClr val="2B2A35"/>
                          </a:solidFill>
                          <a:latin typeface="Work Sans"/>
                        </a:rPr>
                        <a:t>image · 14</a:t>
                      </a:r>
                    </a:p>
                  </a:txBody>
                  <a:tcPr marL="54864" marR="54864" marT="18288" marB="18288" anchor="ctr">
                    <a:solidFill>
                      <a:srgbClr val="EEF2F6"/>
                    </a:solidFill>
                  </a:tcPr>
                </a:tc>
              </a:tr>
              <a:tr h="365760">
                <a:tc>
                  <a:txBody>
                    <a:bodyPr/>
                    <a:lstStyle/>
                    <a:p>
                      <a:r>
                        <a:rPr sz="1000">
                          <a:solidFill>
                            <a:srgbClr val="2B2A35"/>
                          </a:solidFill>
                          <a:latin typeface="Work Sans"/>
                        </a:rPr>
                        <a:t>Burger King (FR)</a:t>
                      </a:r>
                    </a:p>
                  </a:txBody>
                  <a:tcPr marL="54864" marR="54864" marT="18288" marB="18288" anchor="ctr">
                    <a:solidFill>
                      <a:srgbClr val="FFFFFF"/>
                    </a:solidFill>
                  </a:tcPr>
                </a:tc>
                <a:tc>
                  <a:txBody>
                    <a:bodyPr/>
                    <a:lstStyle/>
                    <a:p>
                      <a:pPr algn="ctr"/>
                      <a:r>
                        <a:rPr sz="1000">
                          <a:solidFill>
                            <a:srgbClr val="2B2A35"/>
                          </a:solidFill>
                          <a:latin typeface="Work Sans"/>
                        </a:rPr>
                        <a:t>22/09/26 au 23/10</a:t>
                      </a:r>
                    </a:p>
                  </a:txBody>
                  <a:tcPr marL="54864" marR="54864" marT="18288" marB="18288" anchor="ctr">
                    <a:solidFill>
                      <a:srgbClr val="FFFFFF"/>
                    </a:solidFill>
                  </a:tcPr>
                </a:tc>
                <a:tc>
                  <a:txBody>
                    <a:bodyPr/>
                    <a:lstStyle/>
                    <a:p>
                      <a:pPr algn="ctr"/>
                      <a:r>
                        <a:rPr sz="1000">
                          <a:solidFill>
                            <a:srgbClr val="2B2A35"/>
                          </a:solidFill>
                          <a:latin typeface="Work Sans"/>
                        </a:rPr>
                        <a:t>1 089</a:t>
                      </a:r>
                    </a:p>
                  </a:txBody>
                  <a:tcPr marL="54864" marR="54864" marT="18288" marB="18288" anchor="ctr">
                    <a:solidFill>
                      <a:srgbClr val="FFFFFF"/>
                    </a:solidFill>
                  </a:tcPr>
                </a:tc>
                <a:tc>
                  <a:txBody>
                    <a:bodyPr/>
                    <a:lstStyle/>
                    <a:p>
                      <a:pPr algn="ctr"/>
                      <a:r>
                        <a:rPr sz="1000">
                          <a:solidFill>
                            <a:srgbClr val="2B2A35"/>
                          </a:solidFill>
                          <a:latin typeface="Work Sans"/>
                        </a:rPr>
                        <a:t>38</a:t>
                      </a:r>
                    </a:p>
                  </a:txBody>
                  <a:tcPr marL="54864" marR="54864" marT="18288" marB="18288" anchor="ctr">
                    <a:solidFill>
                      <a:srgbClr val="FFFFFF"/>
                    </a:solidFill>
                  </a:tcPr>
                </a:tc>
                <a:tc>
                  <a:txBody>
                    <a:bodyPr/>
                    <a:lstStyle/>
                    <a:p>
                      <a:r>
                        <a:rPr sz="1000">
                          <a:solidFill>
                            <a:srgbClr val="2B2A35"/>
                          </a:solidFill>
                          <a:latin typeface="Work Sans"/>
                        </a:rPr>
                        <a:t>vidéo · 5 915</a:t>
                      </a:r>
                    </a:p>
                  </a:txBody>
                  <a:tcPr marL="54864" marR="54864" marT="18288" marB="18288" anchor="ctr">
                    <a:solidFill>
                      <a:srgbClr val="FFFFFF"/>
                    </a:solidFill>
                  </a:tcPr>
                </a:tc>
              </a:tr>
              <a:tr h="365760">
                <a:tc>
                  <a:txBody>
                    <a:bodyPr/>
                    <a:lstStyle/>
                    <a:p>
                      <a:r>
                        <a:rPr sz="1000">
                          <a:solidFill>
                            <a:srgbClr val="2B2A35"/>
                          </a:solidFill>
                          <a:latin typeface="Work Sans"/>
                        </a:rPr>
                        <a:t>Decathlon (FR)</a:t>
                      </a:r>
                    </a:p>
                  </a:txBody>
                  <a:tcPr marL="54864" marR="54864" marT="18288" marB="18288" anchor="ctr">
                    <a:solidFill>
                      <a:srgbClr val="EEF2F6"/>
                    </a:solidFill>
                  </a:tcPr>
                </a:tc>
                <a:tc>
                  <a:txBody>
                    <a:bodyPr/>
                    <a:lstStyle/>
                    <a:p>
                      <a:pPr algn="ctr"/>
                      <a:r>
                        <a:rPr sz="1000">
                          <a:solidFill>
                            <a:srgbClr val="2B2A35"/>
                          </a:solidFill>
                          <a:latin typeface="Work Sans"/>
                        </a:rPr>
                        <a:t>15/05/26 au 19/10</a:t>
                      </a:r>
                    </a:p>
                  </a:txBody>
                  <a:tcPr marL="54864" marR="54864" marT="18288" marB="18288" anchor="ctr">
                    <a:solidFill>
                      <a:srgbClr val="EEF2F6"/>
                    </a:solidFill>
                  </a:tcPr>
                </a:tc>
                <a:tc>
                  <a:txBody>
                    <a:bodyPr/>
                    <a:lstStyle/>
                    <a:p>
                      <a:pPr algn="ctr"/>
                      <a:r>
                        <a:rPr sz="1000">
                          <a:solidFill>
                            <a:srgbClr val="2B2A35"/>
                          </a:solidFill>
                          <a:latin typeface="Work Sans"/>
                        </a:rPr>
                        <a:t>317</a:t>
                      </a:r>
                    </a:p>
                  </a:txBody>
                  <a:tcPr marL="54864" marR="54864" marT="18288" marB="18288" anchor="ctr">
                    <a:solidFill>
                      <a:srgbClr val="EEF2F6"/>
                    </a:solidFill>
                  </a:tcPr>
                </a:tc>
                <a:tc>
                  <a:txBody>
                    <a:bodyPr/>
                    <a:lstStyle/>
                    <a:p>
                      <a:pPr algn="ctr"/>
                      <a:r>
                        <a:rPr sz="1000">
                          <a:solidFill>
                            <a:srgbClr val="2B2A35"/>
                          </a:solidFill>
                          <a:latin typeface="Work Sans"/>
                        </a:rPr>
                        <a:t>64</a:t>
                      </a:r>
                    </a:p>
                  </a:txBody>
                  <a:tcPr marL="54864" marR="54864" marT="18288" marB="18288" anchor="ctr">
                    <a:solidFill>
                      <a:srgbClr val="EEF2F6"/>
                    </a:solidFill>
                  </a:tcPr>
                </a:tc>
                <a:tc>
                  <a:txBody>
                    <a:bodyPr/>
                    <a:lstStyle/>
                    <a:p>
                      <a:r>
                        <a:rPr sz="1000">
                          <a:solidFill>
                            <a:srgbClr val="2B2A35"/>
                          </a:solidFill>
                          <a:latin typeface="Work Sans"/>
                        </a:rPr>
                        <a:t>vidéo · 14 226</a:t>
                      </a:r>
                    </a:p>
                  </a:txBody>
                  <a:tcPr marL="54864" marR="54864" marT="18288" marB="18288" anchor="ctr">
                    <a:solidFill>
                      <a:srgbClr val="EEF2F6"/>
                    </a:solidFill>
                  </a:tcPr>
                </a:tc>
              </a:tr>
              <a:tr h="365760">
                <a:tc>
                  <a:txBody>
                    <a:bodyPr/>
                    <a:lstStyle/>
                    <a:p>
                      <a:r>
                        <a:rPr sz="1000">
                          <a:solidFill>
                            <a:srgbClr val="2B2A35"/>
                          </a:solidFill>
                          <a:latin typeface="Work Sans"/>
                        </a:rPr>
                        <a:t>Back Market (FR)</a:t>
                      </a:r>
                    </a:p>
                  </a:txBody>
                  <a:tcPr marL="54864" marR="54864" marT="18288" marB="18288" anchor="ctr">
                    <a:solidFill>
                      <a:srgbClr val="FFFFFF"/>
                    </a:solidFill>
                  </a:tcPr>
                </a:tc>
                <a:tc>
                  <a:txBody>
                    <a:bodyPr/>
                    <a:lstStyle/>
                    <a:p>
                      <a:pPr algn="ctr"/>
                      <a:r>
                        <a:rPr sz="1000">
                          <a:solidFill>
                            <a:srgbClr val="2B2A35"/>
                          </a:solidFill>
                          <a:latin typeface="Work Sans"/>
                        </a:rPr>
                        <a:t>23/09/26 au 23/10</a:t>
                      </a:r>
                    </a:p>
                  </a:txBody>
                  <a:tcPr marL="54864" marR="54864" marT="18288" marB="18288" anchor="ctr">
                    <a:solidFill>
                      <a:srgbClr val="FFFFFF"/>
                    </a:solidFill>
                  </a:tcPr>
                </a:tc>
                <a:tc>
                  <a:txBody>
                    <a:bodyPr/>
                    <a:lstStyle/>
                    <a:p>
                      <a:pPr algn="ctr"/>
                      <a:r>
                        <a:rPr sz="1000">
                          <a:solidFill>
                            <a:srgbClr val="2B2A35"/>
                          </a:solidFill>
                          <a:latin typeface="Work Sans"/>
                        </a:rPr>
                        <a:t>6</a:t>
                      </a:r>
                    </a:p>
                  </a:txBody>
                  <a:tcPr marL="54864" marR="54864" marT="18288" marB="18288" anchor="ctr">
                    <a:solidFill>
                      <a:srgbClr val="FFFFFF"/>
                    </a:solidFill>
                  </a:tcPr>
                </a:tc>
                <a:tc>
                  <a:txBody>
                    <a:bodyPr/>
                    <a:lstStyle/>
                    <a:p>
                      <a:pPr algn="ctr"/>
                      <a:r>
                        <a:rPr sz="1000">
                          <a:solidFill>
                            <a:srgbClr val="2B2A35"/>
                          </a:solidFill>
                          <a:latin typeface="Work Sans"/>
                        </a:rPr>
                        <a:t>0</a:t>
                      </a:r>
                    </a:p>
                  </a:txBody>
                  <a:tcPr marL="54864" marR="54864" marT="18288" marB="18288" anchor="ctr">
                    <a:solidFill>
                      <a:srgbClr val="FFFFFF"/>
                    </a:solidFill>
                  </a:tcPr>
                </a:tc>
                <a:tc>
                  <a:txBody>
                    <a:bodyPr/>
                    <a:lstStyle/>
                    <a:p>
                      <a:r>
                        <a:rPr sz="1000">
                          <a:solidFill>
                            <a:srgbClr val="2B2A35"/>
                          </a:solidFill>
                          <a:latin typeface="Work Sans"/>
                        </a:rPr>
                        <a:t>vidéo · 14</a:t>
                      </a:r>
                    </a:p>
                  </a:txBody>
                  <a:tcPr marL="54864" marR="54864" marT="18288" marB="18288" anchor="ctr">
                    <a:solidFill>
                      <a:srgbClr val="FFFFFF"/>
                    </a:solidFill>
                  </a:tcPr>
                </a:tc>
              </a:tr>
              <a:tr h="365760">
                <a:tc>
                  <a:txBody>
                    <a:bodyPr/>
                    <a:lstStyle/>
                    <a:p>
                      <a:r>
                        <a:rPr sz="1000">
                          <a:solidFill>
                            <a:srgbClr val="2B2A35"/>
                          </a:solidFill>
                          <a:latin typeface="Work Sans"/>
                        </a:rPr>
                        <a:t>Qonto (FR)</a:t>
                      </a:r>
                    </a:p>
                  </a:txBody>
                  <a:tcPr marL="54864" marR="54864" marT="18288" marB="18288" anchor="ctr">
                    <a:solidFill>
                      <a:srgbClr val="EEF2F6"/>
                    </a:solidFill>
                  </a:tcPr>
                </a:tc>
                <a:tc>
                  <a:txBody>
                    <a:bodyPr/>
                    <a:lstStyle/>
                    <a:p>
                      <a:pPr algn="ctr"/>
                      <a:r>
                        <a:rPr sz="1000">
                          <a:solidFill>
                            <a:srgbClr val="2B2A35"/>
                          </a:solidFill>
                          <a:latin typeface="Work Sans"/>
                        </a:rPr>
                        <a:t>28/12/23 au 29/09</a:t>
                      </a:r>
                    </a:p>
                  </a:txBody>
                  <a:tcPr marL="54864" marR="54864" marT="18288" marB="18288" anchor="ctr">
                    <a:solidFill>
                      <a:srgbClr val="EEF2F6"/>
                    </a:solidFill>
                  </a:tcPr>
                </a:tc>
                <a:tc>
                  <a:txBody>
                    <a:bodyPr/>
                    <a:lstStyle/>
                    <a:p>
                      <a:pPr algn="ctr"/>
                      <a:r>
                        <a:rPr sz="1000">
                          <a:solidFill>
                            <a:srgbClr val="2B2A35"/>
                          </a:solidFill>
                          <a:latin typeface="Work Sans"/>
                        </a:rPr>
                        <a:t>52</a:t>
                      </a:r>
                    </a:p>
                  </a:txBody>
                  <a:tcPr marL="54864" marR="54864" marT="18288" marB="18288" anchor="ctr">
                    <a:solidFill>
                      <a:srgbClr val="EEF2F6"/>
                    </a:solidFill>
                  </a:tcPr>
                </a:tc>
                <a:tc>
                  <a:txBody>
                    <a:bodyPr/>
                    <a:lstStyle/>
                    <a:p>
                      <a:pPr algn="ctr"/>
                      <a:r>
                        <a:rPr sz="1000">
                          <a:solidFill>
                            <a:srgbClr val="2B2A35"/>
                          </a:solidFill>
                          <a:latin typeface="Work Sans"/>
                        </a:rPr>
                        <a:t>14</a:t>
                      </a:r>
                    </a:p>
                  </a:txBody>
                  <a:tcPr marL="54864" marR="54864" marT="18288" marB="18288" anchor="ctr">
                    <a:solidFill>
                      <a:srgbClr val="EEF2F6"/>
                    </a:solidFill>
                  </a:tcPr>
                </a:tc>
                <a:tc>
                  <a:txBody>
                    <a:bodyPr/>
                    <a:lstStyle/>
                    <a:p>
                      <a:r>
                        <a:rPr sz="1000">
                          <a:solidFill>
                            <a:srgbClr val="2B2A35"/>
                          </a:solidFill>
                          <a:latin typeface="Work Sans"/>
                        </a:rPr>
                        <a:t>album · 337</a:t>
                      </a:r>
                    </a:p>
                  </a:txBody>
                  <a:tcPr marL="54864" marR="54864" marT="18288" marB="18288" anchor="ctr">
                    <a:solidFill>
                      <a:srgbClr val="EEF2F6"/>
                    </a:solidFill>
                  </a:tcPr>
                </a:tc>
              </a:tr>
              <a:tr h="365760">
                <a:tc>
                  <a:txBody>
                    <a:bodyPr/>
                    <a:lstStyle/>
                    <a:p>
                      <a:r>
                        <a:rPr sz="1000">
                          <a:solidFill>
                            <a:srgbClr val="2B2A35"/>
                          </a:solidFill>
                          <a:latin typeface="Work Sans"/>
                        </a:rPr>
                        <a:t>PayFit (FR)</a:t>
                      </a:r>
                    </a:p>
                  </a:txBody>
                  <a:tcPr marL="54864" marR="54864" marT="18288" marB="18288" anchor="ctr">
                    <a:solidFill>
                      <a:srgbClr val="FFFFFF"/>
                    </a:solidFill>
                  </a:tcPr>
                </a:tc>
                <a:tc>
                  <a:txBody>
                    <a:bodyPr/>
                    <a:lstStyle/>
                    <a:p>
                      <a:pPr algn="ctr"/>
                      <a:r>
                        <a:rPr sz="1000">
                          <a:solidFill>
                            <a:srgbClr val="2B2A35"/>
                          </a:solidFill>
                          <a:latin typeface="Work Sans"/>
                        </a:rPr>
                        <a:t>12/05/26 au 13/10</a:t>
                      </a:r>
                    </a:p>
                  </a:txBody>
                  <a:tcPr marL="54864" marR="54864" marT="18288" marB="18288" anchor="ctr">
                    <a:solidFill>
                      <a:srgbClr val="FFFFFF"/>
                    </a:solidFill>
                  </a:tcPr>
                </a:tc>
                <a:tc>
                  <a:txBody>
                    <a:bodyPr/>
                    <a:lstStyle/>
                    <a:p>
                      <a:pPr algn="ctr"/>
                      <a:r>
                        <a:rPr sz="1000">
                          <a:solidFill>
                            <a:srgbClr val="2B2A35"/>
                          </a:solidFill>
                          <a:latin typeface="Work Sans"/>
                        </a:rPr>
                        <a:t>0</a:t>
                      </a:r>
                    </a:p>
                  </a:txBody>
                  <a:tcPr marL="54864" marR="54864" marT="18288" marB="18288" anchor="ctr">
                    <a:solidFill>
                      <a:srgbClr val="FFFFFF"/>
                    </a:solidFill>
                  </a:tcPr>
                </a:tc>
                <a:tc>
                  <a:txBody>
                    <a:bodyPr/>
                    <a:lstStyle/>
                    <a:p>
                      <a:pPr algn="ctr"/>
                      <a:r>
                        <a:rPr sz="1000">
                          <a:solidFill>
                            <a:srgbClr val="2B2A35"/>
                          </a:solidFill>
                          <a:latin typeface="Work Sans"/>
                        </a:rPr>
                        <a:t>0</a:t>
                      </a:r>
                    </a:p>
                  </a:txBody>
                  <a:tcPr marL="54864" marR="54864" marT="18288" marB="18288" anchor="ctr">
                    <a:solidFill>
                      <a:srgbClr val="FFFFFF"/>
                    </a:solidFill>
                  </a:tcPr>
                </a:tc>
                <a:tc>
                  <a:txBody>
                    <a:bodyPr/>
                    <a:lstStyle/>
                    <a:p>
                      <a:r>
                        <a:rPr sz="1000">
                          <a:solidFill>
                            <a:srgbClr val="2B2A35"/>
                          </a:solidFill>
                          <a:latin typeface="Work Sans"/>
                        </a:rPr>
                        <a:t>vidéo · 61</a:t>
                      </a:r>
                    </a:p>
                  </a:txBody>
                  <a:tcPr marL="54864" marR="54864" marT="18288" marB="18288" anchor="ctr">
                    <a:solidFill>
                      <a:srgbClr val="FFFFFF"/>
                    </a:solidFill>
                  </a:tcPr>
                </a:tc>
              </a:tr>
              <a:tr h="365760">
                <a:tc>
                  <a:txBody>
                    <a:bodyPr/>
                    <a:lstStyle/>
                    <a:p>
                      <a:r>
                        <a:rPr sz="1000">
                          <a:solidFill>
                            <a:srgbClr val="2B2A35"/>
                          </a:solidFill>
                          <a:latin typeface="Work Sans"/>
                        </a:rPr>
                        <a:t>Doctolib (FR)</a:t>
                      </a:r>
                    </a:p>
                  </a:txBody>
                  <a:tcPr marL="54864" marR="54864" marT="18288" marB="18288" anchor="ctr">
                    <a:solidFill>
                      <a:srgbClr val="EEF2F6"/>
                    </a:solidFill>
                  </a:tcPr>
                </a:tc>
                <a:tc>
                  <a:txBody>
                    <a:bodyPr/>
                    <a:lstStyle/>
                    <a:p>
                      <a:pPr algn="ctr"/>
                      <a:r>
                        <a:rPr sz="1000">
                          <a:solidFill>
                            <a:srgbClr val="2B2A35"/>
                          </a:solidFill>
                          <a:latin typeface="Work Sans"/>
                        </a:rPr>
                        <a:t>28/09/26 au 23/10</a:t>
                      </a:r>
                    </a:p>
                  </a:txBody>
                  <a:tcPr marL="54864" marR="54864" marT="18288" marB="18288" anchor="ctr">
                    <a:solidFill>
                      <a:srgbClr val="EEF2F6"/>
                    </a:solidFill>
                  </a:tcPr>
                </a:tc>
                <a:tc>
                  <a:txBody>
                    <a:bodyPr/>
                    <a:lstStyle/>
                    <a:p>
                      <a:pPr algn="ctr"/>
                      <a:r>
                        <a:rPr sz="1000">
                          <a:solidFill>
                            <a:srgbClr val="2B2A35"/>
                          </a:solidFill>
                          <a:latin typeface="Work Sans"/>
                        </a:rPr>
                        <a:t>7</a:t>
                      </a:r>
                    </a:p>
                  </a:txBody>
                  <a:tcPr marL="54864" marR="54864" marT="18288" marB="18288" anchor="ctr">
                    <a:solidFill>
                      <a:srgbClr val="EEF2F6"/>
                    </a:solidFill>
                  </a:tcPr>
                </a:tc>
                <a:tc>
                  <a:txBody>
                    <a:bodyPr/>
                    <a:lstStyle/>
                    <a:p>
                      <a:pPr algn="ctr"/>
                      <a:r>
                        <a:rPr sz="1000">
                          <a:solidFill>
                            <a:srgbClr val="2B2A35"/>
                          </a:solidFill>
                          <a:latin typeface="Work Sans"/>
                        </a:rPr>
                        <a:t>0</a:t>
                      </a:r>
                    </a:p>
                  </a:txBody>
                  <a:tcPr marL="54864" marR="54864" marT="18288" marB="18288" anchor="ctr">
                    <a:solidFill>
                      <a:srgbClr val="EEF2F6"/>
                    </a:solidFill>
                  </a:tcPr>
                </a:tc>
                <a:tc>
                  <a:txBody>
                    <a:bodyPr/>
                    <a:lstStyle/>
                    <a:p>
                      <a:r>
                        <a:rPr sz="1000">
                          <a:solidFill>
                            <a:srgbClr val="2B2A35"/>
                          </a:solidFill>
                          <a:latin typeface="Work Sans"/>
                        </a:rPr>
                        <a:t>album · 16</a:t>
                      </a:r>
                    </a:p>
                  </a:txBody>
                  <a:tcPr marL="54864" marR="54864" marT="18288" marB="18288" anchor="ctr">
                    <a:solidFill>
                      <a:srgbClr val="EEF2F6"/>
                    </a:solidFill>
                  </a:tcPr>
                </a:tc>
              </a:tr>
            </a:tbl>
          </a:graphicData>
        </a:graphic>
      </p:graphicFrame>
      <p:sp>
        <p:nvSpPr>
          <p:cNvPr id="10" name="TextBox 9"/>
          <p:cNvSpPr txBox="1"/>
          <p:nvPr/>
        </p:nvSpPr>
        <p:spPr>
          <a:xfrm>
            <a:off x="7863840" y="1371600"/>
            <a:ext cx="3776472" cy="5029200"/>
          </a:xfrm>
          <a:prstGeom prst="rect">
            <a:avLst/>
          </a:prstGeom>
          <a:noFill/>
        </p:spPr>
        <p:txBody>
          <a:bodyPr wrap="square" anchor="t" lIns="45720" rIns="45720" tIns="27432" bIns="27432">
            <a:spAutoFit/>
          </a:bodyPr>
          <a:lstStyle/>
          <a:p>
            <a:pPr algn="l">
              <a:lnSpc>
                <a:spcPct val="110000"/>
              </a:lnSpc>
              <a:spcAft>
                <a:spcPts val="100"/>
              </a:spcAft>
            </a:pPr>
            <a:r>
              <a:rPr sz="1100" b="1">
                <a:solidFill>
                  <a:srgbClr val="232754"/>
                </a:solidFill>
                <a:latin typeface="Work Sans"/>
              </a:rPr>
              <a:t>Peu de réactions, sauf pour le grand public.</a:t>
            </a:r>
          </a:p>
          <a:p>
            <a:pPr algn="l">
              <a:lnSpc>
                <a:spcPct val="110000"/>
              </a:lnSpc>
              <a:spcAft>
                <a:spcPts val="900"/>
              </a:spcAft>
            </a:pPr>
            <a:r>
              <a:rPr sz="1000" b="0">
                <a:solidFill>
                  <a:srgbClr val="2B2A35"/>
                </a:solidFill>
                <a:latin typeface="Work Sans"/>
              </a:rPr>
              <a:t>Burger King (1 089 en médiane) et Decathlon (317) sortent du lot. Paystack, Flutterwave, Back Market, Doctolib et PayFit restent sous 15.</a:t>
            </a:r>
          </a:p>
          <a:p>
            <a:pPr algn="l">
              <a:lnSpc>
                <a:spcPct val="110000"/>
              </a:lnSpc>
              <a:spcAft>
                <a:spcPts val="100"/>
              </a:spcAft>
            </a:pPr>
            <a:r>
              <a:rPr sz="1100" b="1">
                <a:solidFill>
                  <a:srgbClr val="232754"/>
                </a:solidFill>
                <a:latin typeface="Work Sans"/>
              </a:rPr>
              <a:t>Des pages qui tournent au ralenti.</a:t>
            </a:r>
          </a:p>
          <a:p>
            <a:pPr algn="l">
              <a:lnSpc>
                <a:spcPct val="110000"/>
              </a:lnSpc>
              <a:spcAft>
                <a:spcPts val="900"/>
              </a:spcAft>
            </a:pPr>
            <a:r>
              <a:rPr sz="1000" b="0">
                <a:solidFill>
                  <a:srgbClr val="2B2A35"/>
                </a:solidFill>
                <a:latin typeface="Work Sans"/>
              </a:rPr>
              <a:t>Les 15 derniers posts de Qonto couvrent près de trois ans. Ceux de Decathlon remontent à mai.</a:t>
            </a:r>
          </a:p>
          <a:p>
            <a:pPr algn="l">
              <a:lnSpc>
                <a:spcPct val="110000"/>
              </a:lnSpc>
              <a:spcAft>
                <a:spcPts val="100"/>
              </a:spcAft>
            </a:pPr>
            <a:r>
              <a:rPr sz="1100" b="1">
                <a:solidFill>
                  <a:srgbClr val="232754"/>
                </a:solidFill>
                <a:latin typeface="Work Sans"/>
              </a:rPr>
              <a:t>La vidéo fait les gros scores.</a:t>
            </a:r>
          </a:p>
          <a:p>
            <a:pPr algn="l">
              <a:lnSpc>
                <a:spcPct val="110000"/>
              </a:lnSpc>
              <a:spcAft>
                <a:spcPts val="900"/>
              </a:spcAft>
            </a:pPr>
            <a:r>
              <a:rPr sz="1000" b="0">
                <a:solidFill>
                  <a:srgbClr val="2B2A35"/>
                </a:solidFill>
                <a:latin typeface="Work Sans"/>
              </a:rPr>
              <a:t>Decathlon : 14 226 réactions et 892 864 vues pour une vidéo sur la victoire d'une équipe. GTBank : 1,7 million de vues pour le portrait d'une entreprise fondée par trois femmes.</a:t>
            </a:r>
          </a:p>
          <a:p>
            <a:pPr algn="l">
              <a:lnSpc>
                <a:spcPct val="110000"/>
              </a:lnSpc>
              <a:spcAft>
                <a:spcPts val="100"/>
              </a:spcAft>
            </a:pPr>
            <a:r>
              <a:rPr sz="1100" b="1">
                <a:solidFill>
                  <a:srgbClr val="232754"/>
                </a:solidFill>
                <a:latin typeface="Work Sans"/>
              </a:rPr>
              <a:t>Contraste avec l'Afrique de l'Ouest francophone.</a:t>
            </a:r>
          </a:p>
          <a:p>
            <a:pPr algn="l">
              <a:lnSpc>
                <a:spcPct val="110000"/>
              </a:lnSpc>
              <a:spcAft>
                <a:spcPts val="900"/>
              </a:spcAft>
            </a:pPr>
            <a:r>
              <a:rPr sz="1000" b="0">
                <a:solidFill>
                  <a:srgbClr val="2B2A35"/>
                </a:solidFill>
                <a:latin typeface="Work Sans"/>
              </a:rPr>
              <a:t>Wave Sénégal (525) et Moov Africa CI (409) font plus de réactions médianes que toutes les marques B2B du Nigeria et de France.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FACEBOOK ET TIKTOK</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TikTok au Nigeria et en France : le payant domine</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18</a:t>
            </a:r>
          </a:p>
        </p:txBody>
      </p:sp>
      <p:graphicFrame>
        <p:nvGraphicFramePr>
          <p:cNvPr id="9" name="Table 8"/>
          <p:cNvGraphicFramePr>
            <a:graphicFrameLocks noGrp="1"/>
          </p:cNvGraphicFramePr>
          <p:nvPr/>
        </p:nvGraphicFramePr>
        <p:xfrm>
          <a:off x="548640" y="1371600"/>
          <a:ext cx="7223760" cy="4389120"/>
        </p:xfrm>
        <a:graphic>
          <a:graphicData uri="http://schemas.openxmlformats.org/drawingml/2006/table">
            <a:tbl>
              <a:tblPr firstRow="1" bandRow="1">
                <a:tableStyleId>{5C22544A-7EE6-4342-B048-85BDC9FD1C3A}</a:tableStyleId>
              </a:tblPr>
              <a:tblGrid>
                <a:gridCol w="1920240"/>
                <a:gridCol w="1097280"/>
                <a:gridCol w="1280160"/>
                <a:gridCol w="1508760"/>
                <a:gridCol w="1417320"/>
              </a:tblGrid>
              <a:tr h="438912">
                <a:tc>
                  <a:txBody>
                    <a:bodyPr/>
                    <a:lstStyle/>
                    <a:p>
                      <a:r>
                        <a:rPr sz="1000" b="1">
                          <a:solidFill>
                            <a:srgbClr val="FFFFFF"/>
                          </a:solidFill>
                          <a:latin typeface="Space Grotesk"/>
                        </a:rPr>
                        <a:t>Compte TikTok</a:t>
                      </a:r>
                    </a:p>
                  </a:txBody>
                  <a:tcPr marL="54864" marR="54864" marT="18288" marB="18288" anchor="ctr">
                    <a:solidFill>
                      <a:srgbClr val="232754"/>
                    </a:solidFill>
                  </a:tcPr>
                </a:tc>
                <a:tc>
                  <a:txBody>
                    <a:bodyPr/>
                    <a:lstStyle/>
                    <a:p>
                      <a:r>
                        <a:rPr sz="1000" b="1">
                          <a:solidFill>
                            <a:srgbClr val="FFFFFF"/>
                          </a:solidFill>
                          <a:latin typeface="Space Grotesk"/>
                        </a:rPr>
                        <a:t>Abonnés</a:t>
                      </a:r>
                    </a:p>
                  </a:txBody>
                  <a:tcPr marL="54864" marR="54864" marT="18288" marB="18288" anchor="ctr">
                    <a:solidFill>
                      <a:srgbClr val="232754"/>
                    </a:solidFill>
                  </a:tcPr>
                </a:tc>
                <a:tc>
                  <a:txBody>
                    <a:bodyPr/>
                    <a:lstStyle/>
                    <a:p>
                      <a:r>
                        <a:rPr sz="1000" b="1">
                          <a:solidFill>
                            <a:srgbClr val="FFFFFF"/>
                          </a:solidFill>
                          <a:latin typeface="Space Grotesk"/>
                        </a:rPr>
                        <a:t>Vidéos sponsorisées</a:t>
                      </a:r>
                    </a:p>
                  </a:txBody>
                  <a:tcPr marL="54864" marR="54864" marT="18288" marB="18288" anchor="ctr">
                    <a:solidFill>
                      <a:srgbClr val="232754"/>
                    </a:solidFill>
                  </a:tcPr>
                </a:tc>
                <a:tc>
                  <a:txBody>
                    <a:bodyPr/>
                    <a:lstStyle/>
                    <a:p>
                      <a:r>
                        <a:rPr sz="1000" b="1">
                          <a:solidFill>
                            <a:srgbClr val="FFFFFF"/>
                          </a:solidFill>
                          <a:latin typeface="Space Grotesk"/>
                        </a:rPr>
                        <a:t>Vues médianes non sponsorisées</a:t>
                      </a:r>
                    </a:p>
                  </a:txBody>
                  <a:tcPr marL="54864" marR="54864" marT="18288" marB="18288" anchor="ctr">
                    <a:solidFill>
                      <a:srgbClr val="232754"/>
                    </a:solidFill>
                  </a:tcPr>
                </a:tc>
                <a:tc>
                  <a:txBody>
                    <a:bodyPr/>
                    <a:lstStyle/>
                    <a:p>
                      <a:r>
                        <a:rPr sz="1000" b="1">
                          <a:solidFill>
                            <a:srgbClr val="FFFFFF"/>
                          </a:solidFill>
                          <a:latin typeface="Space Grotesk"/>
                        </a:rPr>
                        <a:t>Vues médianes sponsorisées</a:t>
                      </a:r>
                    </a:p>
                  </a:txBody>
                  <a:tcPr marL="54864" marR="54864" marT="18288" marB="18288" anchor="ctr">
                    <a:solidFill>
                      <a:srgbClr val="232754"/>
                    </a:solidFill>
                  </a:tcPr>
                </a:tc>
              </a:tr>
              <a:tr h="438912">
                <a:tc>
                  <a:txBody>
                    <a:bodyPr/>
                    <a:lstStyle/>
                    <a:p>
                      <a:r>
                        <a:rPr sz="1000">
                          <a:solidFill>
                            <a:srgbClr val="2B2A35"/>
                          </a:solidFill>
                          <a:latin typeface="Work Sans"/>
                        </a:rPr>
                        <a:t>MTN Nigeria (NG)</a:t>
                      </a:r>
                    </a:p>
                  </a:txBody>
                  <a:tcPr marL="54864" marR="54864" marT="18288" marB="18288" anchor="ctr">
                    <a:solidFill>
                      <a:srgbClr val="FFFFFF"/>
                    </a:solidFill>
                  </a:tcPr>
                </a:tc>
                <a:tc>
                  <a:txBody>
                    <a:bodyPr/>
                    <a:lstStyle/>
                    <a:p>
                      <a:pPr algn="ctr"/>
                      <a:r>
                        <a:rPr sz="1000">
                          <a:solidFill>
                            <a:srgbClr val="2B2A35"/>
                          </a:solidFill>
                          <a:latin typeface="Work Sans"/>
                        </a:rPr>
                        <a:t>98 900</a:t>
                      </a:r>
                    </a:p>
                  </a:txBody>
                  <a:tcPr marL="54864" marR="54864" marT="18288" marB="18288" anchor="ctr">
                    <a:solidFill>
                      <a:srgbClr val="FFFFFF"/>
                    </a:solidFill>
                  </a:tcPr>
                </a:tc>
                <a:tc>
                  <a:txBody>
                    <a:bodyPr/>
                    <a:lstStyle/>
                    <a:p>
                      <a:pPr algn="ctr"/>
                      <a:r>
                        <a:rPr sz="1000">
                          <a:solidFill>
                            <a:srgbClr val="2B2A35"/>
                          </a:solidFill>
                          <a:latin typeface="Work Sans"/>
                        </a:rPr>
                        <a:t>0 / 15</a:t>
                      </a:r>
                    </a:p>
                  </a:txBody>
                  <a:tcPr marL="54864" marR="54864" marT="18288" marB="18288" anchor="ctr">
                    <a:solidFill>
                      <a:srgbClr val="FFFFFF"/>
                    </a:solidFill>
                  </a:tcPr>
                </a:tc>
                <a:tc>
                  <a:txBody>
                    <a:bodyPr/>
                    <a:lstStyle/>
                    <a:p>
                      <a:pPr algn="ctr"/>
                      <a:r>
                        <a:rPr sz="1000">
                          <a:solidFill>
                            <a:srgbClr val="2B2A35"/>
                          </a:solidFill>
                          <a:latin typeface="Work Sans"/>
                        </a:rPr>
                        <a:t>419</a:t>
                      </a:r>
                    </a:p>
                  </a:txBody>
                  <a:tcPr marL="54864" marR="54864" marT="18288" marB="18288" anchor="ctr">
                    <a:solidFill>
                      <a:srgbClr val="FFFFFF"/>
                    </a:solidFill>
                  </a:tcPr>
                </a:tc>
                <a:tc>
                  <a:txBody>
                    <a:bodyPr/>
                    <a:lstStyle/>
                    <a:p>
                      <a:r>
                        <a:rPr sz="1000">
                          <a:solidFill>
                            <a:srgbClr val="2B2A35"/>
                          </a:solidFill>
                          <a:latin typeface="Work Sans"/>
                        </a:rPr>
                        <a:t>aucune</a:t>
                      </a:r>
                    </a:p>
                  </a:txBody>
                  <a:tcPr marL="54864" marR="54864" marT="18288" marB="18288" anchor="ctr">
                    <a:solidFill>
                      <a:srgbClr val="FFFFFF"/>
                    </a:solidFill>
                  </a:tcPr>
                </a:tc>
              </a:tr>
              <a:tr h="438912">
                <a:tc>
                  <a:txBody>
                    <a:bodyPr/>
                    <a:lstStyle/>
                    <a:p>
                      <a:r>
                        <a:rPr sz="1000">
                          <a:solidFill>
                            <a:srgbClr val="2B2A35"/>
                          </a:solidFill>
                          <a:latin typeface="Work Sans"/>
                        </a:rPr>
                        <a:t>Chowdeck (NG)</a:t>
                      </a:r>
                    </a:p>
                  </a:txBody>
                  <a:tcPr marL="54864" marR="54864" marT="18288" marB="18288" anchor="ctr">
                    <a:solidFill>
                      <a:srgbClr val="EEF2F6"/>
                    </a:solidFill>
                  </a:tcPr>
                </a:tc>
                <a:tc>
                  <a:txBody>
                    <a:bodyPr/>
                    <a:lstStyle/>
                    <a:p>
                      <a:pPr algn="ctr"/>
                      <a:r>
                        <a:rPr sz="1000">
                          <a:solidFill>
                            <a:srgbClr val="2B2A35"/>
                          </a:solidFill>
                          <a:latin typeface="Work Sans"/>
                        </a:rPr>
                        <a:t>41 600</a:t>
                      </a:r>
                    </a:p>
                  </a:txBody>
                  <a:tcPr marL="54864" marR="54864" marT="18288" marB="18288" anchor="ctr">
                    <a:solidFill>
                      <a:srgbClr val="EEF2F6"/>
                    </a:solidFill>
                  </a:tcPr>
                </a:tc>
                <a:tc>
                  <a:txBody>
                    <a:bodyPr/>
                    <a:lstStyle/>
                    <a:p>
                      <a:pPr algn="ctr"/>
                      <a:r>
                        <a:rPr sz="1000">
                          <a:solidFill>
                            <a:srgbClr val="2B2A35"/>
                          </a:solidFill>
                          <a:latin typeface="Work Sans"/>
                        </a:rPr>
                        <a:t>0 / 15</a:t>
                      </a:r>
                    </a:p>
                  </a:txBody>
                  <a:tcPr marL="54864" marR="54864" marT="18288" marB="18288" anchor="ctr">
                    <a:solidFill>
                      <a:srgbClr val="EEF2F6"/>
                    </a:solidFill>
                  </a:tcPr>
                </a:tc>
                <a:tc>
                  <a:txBody>
                    <a:bodyPr/>
                    <a:lstStyle/>
                    <a:p>
                      <a:pPr algn="ctr"/>
                      <a:r>
                        <a:rPr sz="1000">
                          <a:solidFill>
                            <a:srgbClr val="2B2A35"/>
                          </a:solidFill>
                          <a:latin typeface="Work Sans"/>
                        </a:rPr>
                        <a:t>4 554</a:t>
                      </a:r>
                    </a:p>
                  </a:txBody>
                  <a:tcPr marL="54864" marR="54864" marT="18288" marB="18288" anchor="ctr">
                    <a:solidFill>
                      <a:srgbClr val="EEF2F6"/>
                    </a:solidFill>
                  </a:tcPr>
                </a:tc>
                <a:tc>
                  <a:txBody>
                    <a:bodyPr/>
                    <a:lstStyle/>
                    <a:p>
                      <a:r>
                        <a:rPr sz="1000">
                          <a:solidFill>
                            <a:srgbClr val="2B2A35"/>
                          </a:solidFill>
                          <a:latin typeface="Work Sans"/>
                        </a:rPr>
                        <a:t>aucune</a:t>
                      </a:r>
                    </a:p>
                  </a:txBody>
                  <a:tcPr marL="54864" marR="54864" marT="18288" marB="18288" anchor="ctr">
                    <a:solidFill>
                      <a:srgbClr val="EEF2F6"/>
                    </a:solidFill>
                  </a:tcPr>
                </a:tc>
              </a:tr>
              <a:tr h="438912">
                <a:tc>
                  <a:txBody>
                    <a:bodyPr/>
                    <a:lstStyle/>
                    <a:p>
                      <a:r>
                        <a:rPr sz="1000">
                          <a:solidFill>
                            <a:srgbClr val="2B2A35"/>
                          </a:solidFill>
                          <a:latin typeface="Work Sans"/>
                        </a:rPr>
                        <a:t>Moniepoint (NG)</a:t>
                      </a:r>
                    </a:p>
                  </a:txBody>
                  <a:tcPr marL="54864" marR="54864" marT="18288" marB="18288" anchor="ctr">
                    <a:solidFill>
                      <a:srgbClr val="FFFFFF"/>
                    </a:solidFill>
                  </a:tcPr>
                </a:tc>
                <a:tc>
                  <a:txBody>
                    <a:bodyPr/>
                    <a:lstStyle/>
                    <a:p>
                      <a:pPr algn="ctr"/>
                      <a:r>
                        <a:rPr sz="1000">
                          <a:solidFill>
                            <a:srgbClr val="2B2A35"/>
                          </a:solidFill>
                          <a:latin typeface="Work Sans"/>
                        </a:rPr>
                        <a:t>551 800</a:t>
                      </a:r>
                    </a:p>
                  </a:txBody>
                  <a:tcPr marL="54864" marR="54864" marT="18288" marB="18288" anchor="ctr">
                    <a:solidFill>
                      <a:srgbClr val="FFFFFF"/>
                    </a:solidFill>
                  </a:tcPr>
                </a:tc>
                <a:tc>
                  <a:txBody>
                    <a:bodyPr/>
                    <a:lstStyle/>
                    <a:p>
                      <a:pPr algn="ctr"/>
                      <a:r>
                        <a:rPr sz="1000">
                          <a:solidFill>
                            <a:srgbClr val="2B2A35"/>
                          </a:solidFill>
                          <a:latin typeface="Work Sans"/>
                        </a:rPr>
                        <a:t>8 / 15</a:t>
                      </a:r>
                    </a:p>
                  </a:txBody>
                  <a:tcPr marL="54864" marR="54864" marT="18288" marB="18288" anchor="ctr">
                    <a:solidFill>
                      <a:srgbClr val="FFFFFF"/>
                    </a:solidFill>
                  </a:tcPr>
                </a:tc>
                <a:tc>
                  <a:txBody>
                    <a:bodyPr/>
                    <a:lstStyle/>
                    <a:p>
                      <a:pPr algn="ctr"/>
                      <a:r>
                        <a:rPr sz="1000">
                          <a:solidFill>
                            <a:srgbClr val="2B2A35"/>
                          </a:solidFill>
                          <a:latin typeface="Work Sans"/>
                        </a:rPr>
                        <a:t>9 590</a:t>
                      </a:r>
                    </a:p>
                  </a:txBody>
                  <a:tcPr marL="54864" marR="54864" marT="18288" marB="18288" anchor="ctr">
                    <a:solidFill>
                      <a:srgbClr val="FFFFFF"/>
                    </a:solidFill>
                  </a:tcPr>
                </a:tc>
                <a:tc>
                  <a:txBody>
                    <a:bodyPr/>
                    <a:lstStyle/>
                    <a:p>
                      <a:pPr algn="ctr"/>
                      <a:r>
                        <a:rPr sz="1000">
                          <a:solidFill>
                            <a:srgbClr val="2B2A35"/>
                          </a:solidFill>
                          <a:latin typeface="Work Sans"/>
                        </a:rPr>
                        <a:t>2 400 000</a:t>
                      </a:r>
                    </a:p>
                  </a:txBody>
                  <a:tcPr marL="54864" marR="54864" marT="18288" marB="18288" anchor="ctr">
                    <a:solidFill>
                      <a:srgbClr val="FFFFFF"/>
                    </a:solidFill>
                  </a:tcPr>
                </a:tc>
              </a:tr>
              <a:tr h="438912">
                <a:tc>
                  <a:txBody>
                    <a:bodyPr/>
                    <a:lstStyle/>
                    <a:p>
                      <a:r>
                        <a:rPr sz="1000">
                          <a:solidFill>
                            <a:srgbClr val="2B2A35"/>
                          </a:solidFill>
                          <a:latin typeface="Work Sans"/>
                        </a:rPr>
                        <a:t>Flutterwave (NG)</a:t>
                      </a:r>
                    </a:p>
                  </a:txBody>
                  <a:tcPr marL="54864" marR="54864" marT="18288" marB="18288" anchor="ctr">
                    <a:solidFill>
                      <a:srgbClr val="EEF2F6"/>
                    </a:solidFill>
                  </a:tcPr>
                </a:tc>
                <a:tc>
                  <a:txBody>
                    <a:bodyPr/>
                    <a:lstStyle/>
                    <a:p>
                      <a:pPr algn="ctr"/>
                      <a:r>
                        <a:rPr sz="1000">
                          <a:solidFill>
                            <a:srgbClr val="2B2A35"/>
                          </a:solidFill>
                          <a:latin typeface="Work Sans"/>
                        </a:rPr>
                        <a:t>4 067</a:t>
                      </a:r>
                    </a:p>
                  </a:txBody>
                  <a:tcPr marL="54864" marR="54864" marT="18288" marB="18288" anchor="ctr">
                    <a:solidFill>
                      <a:srgbClr val="EEF2F6"/>
                    </a:solidFill>
                  </a:tcPr>
                </a:tc>
                <a:tc>
                  <a:txBody>
                    <a:bodyPr/>
                    <a:lstStyle/>
                    <a:p>
                      <a:pPr algn="ctr"/>
                      <a:r>
                        <a:rPr sz="1000">
                          <a:solidFill>
                            <a:srgbClr val="2B2A35"/>
                          </a:solidFill>
                          <a:latin typeface="Work Sans"/>
                        </a:rPr>
                        <a:t>0 / 12</a:t>
                      </a:r>
                    </a:p>
                  </a:txBody>
                  <a:tcPr marL="54864" marR="54864" marT="18288" marB="18288" anchor="ctr">
                    <a:solidFill>
                      <a:srgbClr val="EEF2F6"/>
                    </a:solidFill>
                  </a:tcPr>
                </a:tc>
                <a:tc>
                  <a:txBody>
                    <a:bodyPr/>
                    <a:lstStyle/>
                    <a:p>
                      <a:pPr algn="ctr"/>
                      <a:r>
                        <a:rPr sz="1000">
                          <a:solidFill>
                            <a:srgbClr val="2B2A35"/>
                          </a:solidFill>
                          <a:latin typeface="Work Sans"/>
                        </a:rPr>
                        <a:t>668</a:t>
                      </a:r>
                    </a:p>
                  </a:txBody>
                  <a:tcPr marL="54864" marR="54864" marT="18288" marB="18288" anchor="ctr">
                    <a:solidFill>
                      <a:srgbClr val="EEF2F6"/>
                    </a:solidFill>
                  </a:tcPr>
                </a:tc>
                <a:tc>
                  <a:txBody>
                    <a:bodyPr/>
                    <a:lstStyle/>
                    <a:p>
                      <a:r>
                        <a:rPr sz="1000">
                          <a:solidFill>
                            <a:srgbClr val="2B2A35"/>
                          </a:solidFill>
                          <a:latin typeface="Work Sans"/>
                        </a:rPr>
                        <a:t>aucune</a:t>
                      </a:r>
                    </a:p>
                  </a:txBody>
                  <a:tcPr marL="54864" marR="54864" marT="18288" marB="18288" anchor="ctr">
                    <a:solidFill>
                      <a:srgbClr val="EEF2F6"/>
                    </a:solidFill>
                  </a:tcPr>
                </a:tc>
              </a:tr>
              <a:tr h="438912">
                <a:tc>
                  <a:txBody>
                    <a:bodyPr/>
                    <a:lstStyle/>
                    <a:p>
                      <a:r>
                        <a:rPr sz="1000">
                          <a:solidFill>
                            <a:srgbClr val="2B2A35"/>
                          </a:solidFill>
                          <a:latin typeface="Work Sans"/>
                        </a:rPr>
                        <a:t>Burger King (FR)</a:t>
                      </a:r>
                    </a:p>
                  </a:txBody>
                  <a:tcPr marL="54864" marR="54864" marT="18288" marB="18288" anchor="ctr">
                    <a:solidFill>
                      <a:srgbClr val="FFFFFF"/>
                    </a:solidFill>
                  </a:tcPr>
                </a:tc>
                <a:tc>
                  <a:txBody>
                    <a:bodyPr/>
                    <a:lstStyle/>
                    <a:p>
                      <a:pPr algn="ctr"/>
                      <a:r>
                        <a:rPr sz="1000">
                          <a:solidFill>
                            <a:srgbClr val="2B2A35"/>
                          </a:solidFill>
                          <a:latin typeface="Work Sans"/>
                        </a:rPr>
                        <a:t>1 000 000</a:t>
                      </a:r>
                    </a:p>
                  </a:txBody>
                  <a:tcPr marL="54864" marR="54864" marT="18288" marB="18288" anchor="ctr">
                    <a:solidFill>
                      <a:srgbClr val="FFFFFF"/>
                    </a:solidFill>
                  </a:tcPr>
                </a:tc>
                <a:tc>
                  <a:txBody>
                    <a:bodyPr/>
                    <a:lstStyle/>
                    <a:p>
                      <a:pPr algn="ctr"/>
                      <a:r>
                        <a:rPr sz="1000">
                          <a:solidFill>
                            <a:srgbClr val="2B2A35"/>
                          </a:solidFill>
                          <a:latin typeface="Work Sans"/>
                        </a:rPr>
                        <a:t>12 / 15</a:t>
                      </a:r>
                    </a:p>
                  </a:txBody>
                  <a:tcPr marL="54864" marR="54864" marT="18288" marB="18288" anchor="ctr">
                    <a:solidFill>
                      <a:srgbClr val="FFFFFF"/>
                    </a:solidFill>
                  </a:tcPr>
                </a:tc>
                <a:tc>
                  <a:txBody>
                    <a:bodyPr/>
                    <a:lstStyle/>
                    <a:p>
                      <a:pPr algn="ctr"/>
                      <a:r>
                        <a:rPr sz="1000">
                          <a:solidFill>
                            <a:srgbClr val="2B2A35"/>
                          </a:solidFill>
                          <a:latin typeface="Work Sans"/>
                        </a:rPr>
                        <a:t>3 767</a:t>
                      </a:r>
                    </a:p>
                  </a:txBody>
                  <a:tcPr marL="54864" marR="54864" marT="18288" marB="18288" anchor="ctr">
                    <a:solidFill>
                      <a:srgbClr val="FFFFFF"/>
                    </a:solidFill>
                  </a:tcPr>
                </a:tc>
                <a:tc>
                  <a:txBody>
                    <a:bodyPr/>
                    <a:lstStyle/>
                    <a:p>
                      <a:pPr algn="ctr"/>
                      <a:r>
                        <a:rPr sz="1000">
                          <a:solidFill>
                            <a:srgbClr val="2B2A35"/>
                          </a:solidFill>
                          <a:latin typeface="Work Sans"/>
                        </a:rPr>
                        <a:t>383 400</a:t>
                      </a:r>
                    </a:p>
                  </a:txBody>
                  <a:tcPr marL="54864" marR="54864" marT="18288" marB="18288" anchor="ctr">
                    <a:solidFill>
                      <a:srgbClr val="FFFFFF"/>
                    </a:solidFill>
                  </a:tcPr>
                </a:tc>
              </a:tr>
              <a:tr h="438912">
                <a:tc>
                  <a:txBody>
                    <a:bodyPr/>
                    <a:lstStyle/>
                    <a:p>
                      <a:r>
                        <a:rPr sz="1000">
                          <a:solidFill>
                            <a:srgbClr val="2B2A35"/>
                          </a:solidFill>
                          <a:latin typeface="Work Sans"/>
                        </a:rPr>
                        <a:t>Decathlon (FR)</a:t>
                      </a:r>
                    </a:p>
                  </a:txBody>
                  <a:tcPr marL="54864" marR="54864" marT="18288" marB="18288" anchor="ctr">
                    <a:solidFill>
                      <a:srgbClr val="EEF2F6"/>
                    </a:solidFill>
                  </a:tcPr>
                </a:tc>
                <a:tc>
                  <a:txBody>
                    <a:bodyPr/>
                    <a:lstStyle/>
                    <a:p>
                      <a:pPr algn="ctr"/>
                      <a:r>
                        <a:rPr sz="1000">
                          <a:solidFill>
                            <a:srgbClr val="2B2A35"/>
                          </a:solidFill>
                          <a:latin typeface="Work Sans"/>
                        </a:rPr>
                        <a:t>436 100</a:t>
                      </a:r>
                    </a:p>
                  </a:txBody>
                  <a:tcPr marL="54864" marR="54864" marT="18288" marB="18288" anchor="ctr">
                    <a:solidFill>
                      <a:srgbClr val="EEF2F6"/>
                    </a:solidFill>
                  </a:tcPr>
                </a:tc>
                <a:tc>
                  <a:txBody>
                    <a:bodyPr/>
                    <a:lstStyle/>
                    <a:p>
                      <a:pPr algn="ctr"/>
                      <a:r>
                        <a:rPr sz="1000">
                          <a:solidFill>
                            <a:srgbClr val="2B2A35"/>
                          </a:solidFill>
                          <a:latin typeface="Work Sans"/>
                        </a:rPr>
                        <a:t>12 / 15</a:t>
                      </a:r>
                    </a:p>
                  </a:txBody>
                  <a:tcPr marL="54864" marR="54864" marT="18288" marB="18288" anchor="ctr">
                    <a:solidFill>
                      <a:srgbClr val="EEF2F6"/>
                    </a:solidFill>
                  </a:tcPr>
                </a:tc>
                <a:tc>
                  <a:txBody>
                    <a:bodyPr/>
                    <a:lstStyle/>
                    <a:p>
                      <a:pPr algn="ctr"/>
                      <a:r>
                        <a:rPr sz="1000">
                          <a:solidFill>
                            <a:srgbClr val="2B2A35"/>
                          </a:solidFill>
                          <a:latin typeface="Work Sans"/>
                        </a:rPr>
                        <a:t>10 600</a:t>
                      </a:r>
                    </a:p>
                  </a:txBody>
                  <a:tcPr marL="54864" marR="54864" marT="18288" marB="18288" anchor="ctr">
                    <a:solidFill>
                      <a:srgbClr val="EEF2F6"/>
                    </a:solidFill>
                  </a:tcPr>
                </a:tc>
                <a:tc>
                  <a:txBody>
                    <a:bodyPr/>
                    <a:lstStyle/>
                    <a:p>
                      <a:pPr algn="ctr"/>
                      <a:r>
                        <a:rPr sz="1000">
                          <a:solidFill>
                            <a:srgbClr val="2B2A35"/>
                          </a:solidFill>
                          <a:latin typeface="Work Sans"/>
                        </a:rPr>
                        <a:t>167 800</a:t>
                      </a:r>
                    </a:p>
                  </a:txBody>
                  <a:tcPr marL="54864" marR="54864" marT="18288" marB="18288" anchor="ctr">
                    <a:solidFill>
                      <a:srgbClr val="EEF2F6"/>
                    </a:solidFill>
                  </a:tcPr>
                </a:tc>
              </a:tr>
              <a:tr h="438912">
                <a:tc>
                  <a:txBody>
                    <a:bodyPr/>
                    <a:lstStyle/>
                    <a:p>
                      <a:r>
                        <a:rPr sz="1000">
                          <a:solidFill>
                            <a:srgbClr val="2B2A35"/>
                          </a:solidFill>
                          <a:latin typeface="Work Sans"/>
                        </a:rPr>
                        <a:t>Back Market (FR)</a:t>
                      </a:r>
                    </a:p>
                  </a:txBody>
                  <a:tcPr marL="54864" marR="54864" marT="18288" marB="18288" anchor="ctr">
                    <a:solidFill>
                      <a:srgbClr val="FFFFFF"/>
                    </a:solidFill>
                  </a:tcPr>
                </a:tc>
                <a:tc>
                  <a:txBody>
                    <a:bodyPr/>
                    <a:lstStyle/>
                    <a:p>
                      <a:pPr algn="ctr"/>
                      <a:r>
                        <a:rPr sz="1000">
                          <a:solidFill>
                            <a:srgbClr val="2B2A35"/>
                          </a:solidFill>
                          <a:latin typeface="Work Sans"/>
                        </a:rPr>
                        <a:t>164 000</a:t>
                      </a:r>
                    </a:p>
                  </a:txBody>
                  <a:tcPr marL="54864" marR="54864" marT="18288" marB="18288" anchor="ctr">
                    <a:solidFill>
                      <a:srgbClr val="FFFFFF"/>
                    </a:solidFill>
                  </a:tcPr>
                </a:tc>
                <a:tc>
                  <a:txBody>
                    <a:bodyPr/>
                    <a:lstStyle/>
                    <a:p>
                      <a:pPr algn="ctr"/>
                      <a:r>
                        <a:rPr sz="1000">
                          <a:solidFill>
                            <a:srgbClr val="2B2A35"/>
                          </a:solidFill>
                          <a:latin typeface="Work Sans"/>
                        </a:rPr>
                        <a:t>15 / 15</a:t>
                      </a:r>
                    </a:p>
                  </a:txBody>
                  <a:tcPr marL="54864" marR="54864" marT="18288" marB="18288" anchor="ctr">
                    <a:solidFill>
                      <a:srgbClr val="FFFFFF"/>
                    </a:solidFill>
                  </a:tcPr>
                </a:tc>
                <a:tc>
                  <a:txBody>
                    <a:bodyPr/>
                    <a:lstStyle/>
                    <a:p>
                      <a:r>
                        <a:rPr sz="1000">
                          <a:solidFill>
                            <a:srgbClr val="2B2A35"/>
                          </a:solidFill>
                          <a:latin typeface="Work Sans"/>
                        </a:rPr>
                        <a:t>aucune</a:t>
                      </a:r>
                    </a:p>
                  </a:txBody>
                  <a:tcPr marL="54864" marR="54864" marT="18288" marB="18288" anchor="ctr">
                    <a:solidFill>
                      <a:srgbClr val="FFFFFF"/>
                    </a:solidFill>
                  </a:tcPr>
                </a:tc>
                <a:tc>
                  <a:txBody>
                    <a:bodyPr/>
                    <a:lstStyle/>
                    <a:p>
                      <a:pPr algn="ctr"/>
                      <a:r>
                        <a:rPr sz="1000">
                          <a:solidFill>
                            <a:srgbClr val="2B2A35"/>
                          </a:solidFill>
                          <a:latin typeface="Work Sans"/>
                        </a:rPr>
                        <a:t>11 100</a:t>
                      </a:r>
                    </a:p>
                  </a:txBody>
                  <a:tcPr marL="54864" marR="54864" marT="18288" marB="18288" anchor="ctr">
                    <a:solidFill>
                      <a:srgbClr val="FFFFFF"/>
                    </a:solidFill>
                  </a:tcPr>
                </a:tc>
              </a:tr>
              <a:tr h="438912">
                <a:tc>
                  <a:txBody>
                    <a:bodyPr/>
                    <a:lstStyle/>
                    <a:p>
                      <a:r>
                        <a:rPr sz="1000">
                          <a:solidFill>
                            <a:srgbClr val="2B2A35"/>
                          </a:solidFill>
                          <a:latin typeface="Work Sans"/>
                        </a:rPr>
                        <a:t>Qonto (FR)</a:t>
                      </a:r>
                    </a:p>
                  </a:txBody>
                  <a:tcPr marL="54864" marR="54864" marT="18288" marB="18288" anchor="ctr">
                    <a:solidFill>
                      <a:srgbClr val="EEF2F6"/>
                    </a:solidFill>
                  </a:tcPr>
                </a:tc>
                <a:tc>
                  <a:txBody>
                    <a:bodyPr/>
                    <a:lstStyle/>
                    <a:p>
                      <a:pPr algn="ctr"/>
                      <a:r>
                        <a:rPr sz="1000">
                          <a:solidFill>
                            <a:srgbClr val="2B2A35"/>
                          </a:solidFill>
                          <a:latin typeface="Work Sans"/>
                        </a:rPr>
                        <a:t>14 200</a:t>
                      </a:r>
                    </a:p>
                  </a:txBody>
                  <a:tcPr marL="54864" marR="54864" marT="18288" marB="18288" anchor="ctr">
                    <a:solidFill>
                      <a:srgbClr val="EEF2F6"/>
                    </a:solidFill>
                  </a:tcPr>
                </a:tc>
                <a:tc>
                  <a:txBody>
                    <a:bodyPr/>
                    <a:lstStyle/>
                    <a:p>
                      <a:pPr algn="ctr"/>
                      <a:r>
                        <a:rPr sz="1000">
                          <a:solidFill>
                            <a:srgbClr val="2B2A35"/>
                          </a:solidFill>
                          <a:latin typeface="Work Sans"/>
                        </a:rPr>
                        <a:t>13 / 13</a:t>
                      </a:r>
                    </a:p>
                  </a:txBody>
                  <a:tcPr marL="54864" marR="54864" marT="18288" marB="18288" anchor="ctr">
                    <a:solidFill>
                      <a:srgbClr val="EEF2F6"/>
                    </a:solidFill>
                  </a:tcPr>
                </a:tc>
                <a:tc>
                  <a:txBody>
                    <a:bodyPr/>
                    <a:lstStyle/>
                    <a:p>
                      <a:r>
                        <a:rPr sz="1000">
                          <a:solidFill>
                            <a:srgbClr val="2B2A35"/>
                          </a:solidFill>
                          <a:latin typeface="Work Sans"/>
                        </a:rPr>
                        <a:t>aucune</a:t>
                      </a:r>
                    </a:p>
                  </a:txBody>
                  <a:tcPr marL="54864" marR="54864" marT="18288" marB="18288" anchor="ctr">
                    <a:solidFill>
                      <a:srgbClr val="EEF2F6"/>
                    </a:solidFill>
                  </a:tcPr>
                </a:tc>
                <a:tc>
                  <a:txBody>
                    <a:bodyPr/>
                    <a:lstStyle/>
                    <a:p>
                      <a:pPr algn="ctr"/>
                      <a:r>
                        <a:rPr sz="1000">
                          <a:solidFill>
                            <a:srgbClr val="2B2A35"/>
                          </a:solidFill>
                          <a:latin typeface="Work Sans"/>
                        </a:rPr>
                        <a:t>109 100</a:t>
                      </a:r>
                    </a:p>
                  </a:txBody>
                  <a:tcPr marL="54864" marR="54864" marT="18288" marB="18288" anchor="ctr">
                    <a:solidFill>
                      <a:srgbClr val="EEF2F6"/>
                    </a:solidFill>
                  </a:tcPr>
                </a:tc>
              </a:tr>
              <a:tr h="438912">
                <a:tc>
                  <a:txBody>
                    <a:bodyPr/>
                    <a:lstStyle/>
                    <a:p>
                      <a:r>
                        <a:rPr sz="1000">
                          <a:solidFill>
                            <a:srgbClr val="2B2A35"/>
                          </a:solidFill>
                          <a:latin typeface="Work Sans"/>
                        </a:rPr>
                        <a:t>Doctolib (FR)</a:t>
                      </a:r>
                    </a:p>
                  </a:txBody>
                  <a:tcPr marL="54864" marR="54864" marT="18288" marB="18288" anchor="ctr">
                    <a:solidFill>
                      <a:srgbClr val="FFFFFF"/>
                    </a:solidFill>
                  </a:tcPr>
                </a:tc>
                <a:tc>
                  <a:txBody>
                    <a:bodyPr/>
                    <a:lstStyle/>
                    <a:p>
                      <a:pPr algn="ctr"/>
                      <a:r>
                        <a:rPr sz="1000">
                          <a:solidFill>
                            <a:srgbClr val="2B2A35"/>
                          </a:solidFill>
                          <a:latin typeface="Work Sans"/>
                        </a:rPr>
                        <a:t>113 800</a:t>
                      </a:r>
                    </a:p>
                  </a:txBody>
                  <a:tcPr marL="54864" marR="54864" marT="18288" marB="18288" anchor="ctr">
                    <a:solidFill>
                      <a:srgbClr val="FFFFFF"/>
                    </a:solidFill>
                  </a:tcPr>
                </a:tc>
                <a:tc>
                  <a:txBody>
                    <a:bodyPr/>
                    <a:lstStyle/>
                    <a:p>
                      <a:pPr algn="ctr"/>
                      <a:r>
                        <a:rPr sz="1000">
                          <a:solidFill>
                            <a:srgbClr val="2B2A35"/>
                          </a:solidFill>
                          <a:latin typeface="Work Sans"/>
                        </a:rPr>
                        <a:t>5 / 15</a:t>
                      </a:r>
                    </a:p>
                  </a:txBody>
                  <a:tcPr marL="54864" marR="54864" marT="18288" marB="18288" anchor="ctr">
                    <a:solidFill>
                      <a:srgbClr val="FFFFFF"/>
                    </a:solidFill>
                  </a:tcPr>
                </a:tc>
                <a:tc>
                  <a:txBody>
                    <a:bodyPr/>
                    <a:lstStyle/>
                    <a:p>
                      <a:pPr algn="ctr"/>
                      <a:r>
                        <a:rPr sz="1000">
                          <a:solidFill>
                            <a:srgbClr val="2B2A35"/>
                          </a:solidFill>
                          <a:latin typeface="Work Sans"/>
                        </a:rPr>
                        <a:t>1 101</a:t>
                      </a:r>
                    </a:p>
                  </a:txBody>
                  <a:tcPr marL="54864" marR="54864" marT="18288" marB="18288" anchor="ctr">
                    <a:solidFill>
                      <a:srgbClr val="FFFFFF"/>
                    </a:solidFill>
                  </a:tcPr>
                </a:tc>
                <a:tc>
                  <a:txBody>
                    <a:bodyPr/>
                    <a:lstStyle/>
                    <a:p>
                      <a:pPr algn="ctr"/>
                      <a:r>
                        <a:rPr sz="1000">
                          <a:solidFill>
                            <a:srgbClr val="2B2A35"/>
                          </a:solidFill>
                          <a:latin typeface="Work Sans"/>
                        </a:rPr>
                        <a:t>85 800</a:t>
                      </a:r>
                    </a:p>
                  </a:txBody>
                  <a:tcPr marL="54864" marR="54864" marT="18288" marB="18288" anchor="ctr">
                    <a:solidFill>
                      <a:srgbClr val="FFFFFF"/>
                    </a:solidFill>
                  </a:tcPr>
                </a:tc>
              </a:tr>
            </a:tbl>
          </a:graphicData>
        </a:graphic>
      </p:graphicFrame>
      <p:sp>
        <p:nvSpPr>
          <p:cNvPr id="10" name="TextBox 9"/>
          <p:cNvSpPr txBox="1"/>
          <p:nvPr/>
        </p:nvSpPr>
        <p:spPr>
          <a:xfrm>
            <a:off x="548640" y="5852160"/>
            <a:ext cx="7223760" cy="54864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 Sponsorisée » : vidéo signalée comme publicité par TikTok le jour du relevé. Vidéos épinglées exclues. Pas de compte TikTok officiel trouvé pour GTBank, Paystack et PayFit.</a:t>
            </a:r>
          </a:p>
        </p:txBody>
      </p:sp>
      <p:sp>
        <p:nvSpPr>
          <p:cNvPr id="11" name="TextBox 10"/>
          <p:cNvSpPr txBox="1"/>
          <p:nvPr/>
        </p:nvSpPr>
        <p:spPr>
          <a:xfrm>
            <a:off x="8046720" y="1371600"/>
            <a:ext cx="3593592" cy="5029200"/>
          </a:xfrm>
          <a:prstGeom prst="rect">
            <a:avLst/>
          </a:prstGeom>
          <a:noFill/>
        </p:spPr>
        <p:txBody>
          <a:bodyPr wrap="square" anchor="t" lIns="45720" rIns="45720" tIns="27432" bIns="27432">
            <a:spAutoFit/>
          </a:bodyPr>
          <a:lstStyle/>
          <a:p>
            <a:pPr algn="l">
              <a:lnSpc>
                <a:spcPct val="110000"/>
              </a:lnSpc>
              <a:spcAft>
                <a:spcPts val="100"/>
              </a:spcAft>
            </a:pPr>
            <a:r>
              <a:rPr sz="1100" b="1">
                <a:solidFill>
                  <a:srgbClr val="232754"/>
                </a:solidFill>
                <a:latin typeface="Work Sans"/>
              </a:rPr>
              <a:t>Les gros chiffres sont achetés.</a:t>
            </a:r>
          </a:p>
          <a:p>
            <a:pPr algn="l">
              <a:lnSpc>
                <a:spcPct val="110000"/>
              </a:lnSpc>
              <a:spcAft>
                <a:spcPts val="900"/>
              </a:spcAft>
            </a:pPr>
            <a:r>
              <a:rPr sz="1000" b="0">
                <a:solidFill>
                  <a:srgbClr val="2B2A35"/>
                </a:solidFill>
                <a:latin typeface="Work Sans"/>
              </a:rPr>
              <a:t>Back Market et Qonto : toutes leurs vidéos récentes sont sponsorisées. La vidéo la plus vue de Moniepoint (32,7 millions de vues) est une publicité.</a:t>
            </a:r>
          </a:p>
          <a:p>
            <a:pPr algn="l">
              <a:lnSpc>
                <a:spcPct val="110000"/>
              </a:lnSpc>
              <a:spcAft>
                <a:spcPts val="100"/>
              </a:spcAft>
            </a:pPr>
            <a:r>
              <a:rPr sz="1100" b="1">
                <a:solidFill>
                  <a:srgbClr val="232754"/>
                </a:solidFill>
                <a:latin typeface="Work Sans"/>
              </a:rPr>
              <a:t>Sans payant, l'écart est énorme.</a:t>
            </a:r>
          </a:p>
          <a:p>
            <a:pPr algn="l">
              <a:lnSpc>
                <a:spcPct val="110000"/>
              </a:lnSpc>
              <a:spcAft>
                <a:spcPts val="900"/>
              </a:spcAft>
            </a:pPr>
            <a:r>
              <a:rPr sz="1000" b="0">
                <a:solidFill>
                  <a:srgbClr val="2B2A35"/>
                </a:solidFill>
                <a:latin typeface="Work Sans"/>
              </a:rPr>
              <a:t>Moniepoint : 9 590 vues en médiane sans payant, contre 2,4 millions avec. Burger King : 3 767 contre 383 400.</a:t>
            </a:r>
          </a:p>
          <a:p>
            <a:pPr algn="l">
              <a:lnSpc>
                <a:spcPct val="110000"/>
              </a:lnSpc>
              <a:spcAft>
                <a:spcPts val="100"/>
              </a:spcAft>
            </a:pPr>
            <a:r>
              <a:rPr sz="1100" b="1">
                <a:solidFill>
                  <a:srgbClr val="232754"/>
                </a:solidFill>
                <a:latin typeface="Work Sans"/>
              </a:rPr>
              <a:t>Chowdeck gagne en organique.</a:t>
            </a:r>
          </a:p>
          <a:p>
            <a:pPr algn="l">
              <a:lnSpc>
                <a:spcPct val="110000"/>
              </a:lnSpc>
              <a:spcAft>
                <a:spcPts val="900"/>
              </a:spcAft>
            </a:pPr>
            <a:r>
              <a:rPr sz="1000" b="0">
                <a:solidFill>
                  <a:srgbClr val="2B2A35"/>
                </a:solidFill>
                <a:latin typeface="Work Sans"/>
              </a:rPr>
              <a:t>Aucune vidéo sponsorisée, 4 554 vues médianes, et 106 200 pour sa livraison dans la maison de Big Brother Naija.</a:t>
            </a:r>
          </a:p>
          <a:p>
            <a:pPr algn="l">
              <a:lnSpc>
                <a:spcPct val="110000"/>
              </a:lnSpc>
              <a:spcAft>
                <a:spcPts val="100"/>
              </a:spcAft>
            </a:pPr>
            <a:r>
              <a:rPr sz="1100" b="1">
                <a:solidFill>
                  <a:srgbClr val="232754"/>
                </a:solidFill>
                <a:latin typeface="Work Sans"/>
              </a:rPr>
              <a:t>Les coulisses d'équipe marchent.</a:t>
            </a:r>
          </a:p>
          <a:p>
            <a:pPr algn="l">
              <a:lnSpc>
                <a:spcPct val="110000"/>
              </a:lnSpc>
              <a:spcAft>
                <a:spcPts val="900"/>
              </a:spcAft>
            </a:pPr>
            <a:r>
              <a:rPr sz="1000" b="0">
                <a:solidFill>
                  <a:srgbClr val="2B2A35"/>
                </a:solidFill>
                <a:latin typeface="Work Sans"/>
              </a:rPr>
              <a:t>Flutterwave : 71 500 vues pour un jeu entre collègues, sur un compte de 4 067 abonnés.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FACEBOOK ET TIKTOK</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Nigeria et France : ce qui marche, en images</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19</a:t>
            </a:r>
          </a:p>
        </p:txBody>
      </p:sp>
      <p:sp>
        <p:nvSpPr>
          <p:cNvPr id="9" name="Rectangle 8"/>
          <p:cNvSpPr/>
          <p:nvPr/>
        </p:nvSpPr>
        <p:spPr>
          <a:xfrm>
            <a:off x="548640" y="13716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_chow.jpg">
            <a:hlinkClick r:id="rId4"/>
          </p:cNvPr>
          <p:cNvPicPr>
            <a:picLocks noChangeAspect="1"/>
          </p:cNvPicPr>
          <p:nvPr/>
        </p:nvPicPr>
        <p:blipFill>
          <a:blip r:embed="rId3"/>
          <a:stretch>
            <a:fillRect/>
          </a:stretch>
        </p:blipFill>
        <p:spPr>
          <a:xfrm>
            <a:off x="1182166" y="1371600"/>
            <a:ext cx="1384706" cy="2011680"/>
          </a:xfrm>
          <a:prstGeom prst="rect">
            <a:avLst/>
          </a:prstGeom>
        </p:spPr>
      </p:pic>
      <p:sp>
        <p:nvSpPr>
          <p:cNvPr id="11" name="TextBox 10"/>
          <p:cNvSpPr txBox="1"/>
          <p:nvPr/>
        </p:nvSpPr>
        <p:spPr>
          <a:xfrm>
            <a:off x="548640" y="34107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TikTok · Chowdeck · 106 200 vues</a:t>
            </a:r>
          </a:p>
        </p:txBody>
      </p:sp>
      <p:sp>
        <p:nvSpPr>
          <p:cNvPr id="12" name="Rectangle 11"/>
          <p:cNvSpPr/>
          <p:nvPr/>
        </p:nvSpPr>
        <p:spPr>
          <a:xfrm>
            <a:off x="3383280" y="13716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_flw.jpg">
            <a:hlinkClick r:id="rId6"/>
          </p:cNvPr>
          <p:cNvPicPr>
            <a:picLocks noChangeAspect="1"/>
          </p:cNvPicPr>
          <p:nvPr/>
        </p:nvPicPr>
        <p:blipFill>
          <a:blip r:embed="rId5"/>
          <a:stretch>
            <a:fillRect/>
          </a:stretch>
        </p:blipFill>
        <p:spPr>
          <a:xfrm>
            <a:off x="4144213" y="1371600"/>
            <a:ext cx="1129893" cy="2011680"/>
          </a:xfrm>
          <a:prstGeom prst="rect">
            <a:avLst/>
          </a:prstGeom>
        </p:spPr>
      </p:pic>
      <p:sp>
        <p:nvSpPr>
          <p:cNvPr id="14" name="TextBox 13"/>
          <p:cNvSpPr txBox="1"/>
          <p:nvPr/>
        </p:nvSpPr>
        <p:spPr>
          <a:xfrm>
            <a:off x="3383280" y="34107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TikTok · Flutterwave · 71 500 vues</a:t>
            </a:r>
          </a:p>
        </p:txBody>
      </p:sp>
      <p:sp>
        <p:nvSpPr>
          <p:cNvPr id="15" name="Rectangle 14"/>
          <p:cNvSpPr/>
          <p:nvPr/>
        </p:nvSpPr>
        <p:spPr>
          <a:xfrm>
            <a:off x="6217920" y="13716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_monie.jpg">
            <a:hlinkClick r:id="rId8"/>
          </p:cNvPr>
          <p:cNvPicPr>
            <a:picLocks noChangeAspect="1"/>
          </p:cNvPicPr>
          <p:nvPr/>
        </p:nvPicPr>
        <p:blipFill>
          <a:blip r:embed="rId7"/>
          <a:stretch>
            <a:fillRect/>
          </a:stretch>
        </p:blipFill>
        <p:spPr>
          <a:xfrm>
            <a:off x="6217920" y="1630527"/>
            <a:ext cx="2651760" cy="1493824"/>
          </a:xfrm>
          <a:prstGeom prst="rect">
            <a:avLst/>
          </a:prstGeom>
        </p:spPr>
      </p:pic>
      <p:sp>
        <p:nvSpPr>
          <p:cNvPr id="17" name="TextBox 16"/>
          <p:cNvSpPr txBox="1"/>
          <p:nvPr/>
        </p:nvSpPr>
        <p:spPr>
          <a:xfrm>
            <a:off x="6217920" y="34107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TikTok · Moniepoint, série bureau · 13 200 vues</a:t>
            </a:r>
          </a:p>
        </p:txBody>
      </p:sp>
      <p:sp>
        <p:nvSpPr>
          <p:cNvPr id="18" name="Rectangle 17"/>
          <p:cNvSpPr/>
          <p:nvPr/>
        </p:nvSpPr>
        <p:spPr>
          <a:xfrm>
            <a:off x="9052560" y="13716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_docto.jpg">
            <a:hlinkClick r:id="rId10"/>
          </p:cNvPr>
          <p:cNvPicPr>
            <a:picLocks noChangeAspect="1"/>
          </p:cNvPicPr>
          <p:nvPr/>
        </p:nvPicPr>
        <p:blipFill>
          <a:blip r:embed="rId9"/>
          <a:stretch>
            <a:fillRect/>
          </a:stretch>
        </p:blipFill>
        <p:spPr>
          <a:xfrm>
            <a:off x="9570415" y="1371600"/>
            <a:ext cx="1616049" cy="2011680"/>
          </a:xfrm>
          <a:prstGeom prst="rect">
            <a:avLst/>
          </a:prstGeom>
        </p:spPr>
      </p:pic>
      <p:sp>
        <p:nvSpPr>
          <p:cNvPr id="20" name="TextBox 19"/>
          <p:cNvSpPr txBox="1"/>
          <p:nvPr/>
        </p:nvSpPr>
        <p:spPr>
          <a:xfrm>
            <a:off x="9052560" y="34107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TikTok · Doctolib, guide en diaporama</a:t>
            </a:r>
          </a:p>
        </p:txBody>
      </p:sp>
      <p:sp>
        <p:nvSpPr>
          <p:cNvPr id="21" name="Rectangle 20"/>
          <p:cNvSpPr/>
          <p:nvPr/>
        </p:nvSpPr>
        <p:spPr>
          <a:xfrm>
            <a:off x="548640" y="38862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_monie_ad.jpg">
            <a:hlinkClick r:id="rId12"/>
          </p:cNvPr>
          <p:cNvPicPr>
            <a:picLocks noChangeAspect="1"/>
          </p:cNvPicPr>
          <p:nvPr/>
        </p:nvPicPr>
        <p:blipFill>
          <a:blip r:embed="rId11"/>
          <a:stretch>
            <a:fillRect/>
          </a:stretch>
        </p:blipFill>
        <p:spPr>
          <a:xfrm>
            <a:off x="1069848" y="3886200"/>
            <a:ext cx="1609344" cy="2011680"/>
          </a:xfrm>
          <a:prstGeom prst="rect">
            <a:avLst/>
          </a:prstGeom>
        </p:spPr>
      </p:pic>
      <p:sp>
        <p:nvSpPr>
          <p:cNvPr id="23" name="TextBox 22"/>
          <p:cNvSpPr txBox="1"/>
          <p:nvPr/>
        </p:nvSpPr>
        <p:spPr>
          <a:xfrm>
            <a:off x="548640" y="59253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TikTok sponsorisé · Moniepoint · 32,7 M de vues</a:t>
            </a:r>
          </a:p>
        </p:txBody>
      </p:sp>
      <p:sp>
        <p:nvSpPr>
          <p:cNvPr id="24" name="Rectangle 23"/>
          <p:cNvSpPr/>
          <p:nvPr/>
        </p:nvSpPr>
        <p:spPr>
          <a:xfrm>
            <a:off x="3383280" y="38862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t_qonto_ad.jpg">
            <a:hlinkClick r:id="rId14"/>
          </p:cNvPr>
          <p:cNvPicPr>
            <a:picLocks noChangeAspect="1"/>
          </p:cNvPicPr>
          <p:nvPr/>
        </p:nvPicPr>
        <p:blipFill>
          <a:blip r:embed="rId13"/>
          <a:stretch>
            <a:fillRect/>
          </a:stretch>
        </p:blipFill>
        <p:spPr>
          <a:xfrm>
            <a:off x="3887724" y="3886200"/>
            <a:ext cx="1642872" cy="2011680"/>
          </a:xfrm>
          <a:prstGeom prst="rect">
            <a:avLst/>
          </a:prstGeom>
        </p:spPr>
      </p:pic>
      <p:sp>
        <p:nvSpPr>
          <p:cNvPr id="26" name="TextBox 25"/>
          <p:cNvSpPr txBox="1"/>
          <p:nvPr/>
        </p:nvSpPr>
        <p:spPr>
          <a:xfrm>
            <a:off x="3383280" y="59253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TikTok sponsorisé · Qonto, court-métrage · 934 000 vues</a:t>
            </a:r>
          </a:p>
        </p:txBody>
      </p:sp>
      <p:sp>
        <p:nvSpPr>
          <p:cNvPr id="27" name="Rectangle 26"/>
          <p:cNvSpPr/>
          <p:nvPr/>
        </p:nvSpPr>
        <p:spPr>
          <a:xfrm>
            <a:off x="6217920" y="3886200"/>
            <a:ext cx="2651760" cy="20116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f_bk.jpg">
            <a:hlinkClick r:id="rId16"/>
          </p:cNvPr>
          <p:cNvPicPr>
            <a:picLocks noChangeAspect="1"/>
          </p:cNvPicPr>
          <p:nvPr/>
        </p:nvPicPr>
        <p:blipFill>
          <a:blip r:embed="rId15"/>
          <a:stretch>
            <a:fillRect/>
          </a:stretch>
        </p:blipFill>
        <p:spPr>
          <a:xfrm>
            <a:off x="6978853" y="3886200"/>
            <a:ext cx="1129893" cy="2011680"/>
          </a:xfrm>
          <a:prstGeom prst="rect">
            <a:avLst/>
          </a:prstGeom>
        </p:spPr>
      </p:pic>
      <p:sp>
        <p:nvSpPr>
          <p:cNvPr id="29" name="TextBox 28"/>
          <p:cNvSpPr txBox="1"/>
          <p:nvPr/>
        </p:nvSpPr>
        <p:spPr>
          <a:xfrm>
            <a:off x="6217920" y="5925312"/>
            <a:ext cx="2651760" cy="365760"/>
          </a:xfrm>
          <a:prstGeom prst="rect">
            <a:avLst/>
          </a:prstGeom>
          <a:noFill/>
        </p:spPr>
        <p:txBody>
          <a:bodyPr wrap="square" anchor="t" lIns="45720" rIns="45720" tIns="27432" bIns="27432">
            <a:spAutoFit/>
          </a:bodyPr>
          <a:lstStyle/>
          <a:p>
            <a:pPr algn="ctr">
              <a:lnSpc>
                <a:spcPct val="110000"/>
              </a:lnSpc>
              <a:spcAft>
                <a:spcPts val="600"/>
              </a:spcAft>
            </a:pPr>
            <a:r>
              <a:rPr sz="1000" b="0">
                <a:solidFill>
                  <a:srgbClr val="2B2A35"/>
                </a:solidFill>
                <a:latin typeface="Work Sans"/>
              </a:rPr>
              <a:t>Facebook · Burger King x FC 27 · 287 215 vues</a:t>
            </a:r>
          </a:p>
        </p:txBody>
      </p:sp>
      <p:sp>
        <p:nvSpPr>
          <p:cNvPr id="30" name="TextBox 29"/>
          <p:cNvSpPr txBox="1"/>
          <p:nvPr/>
        </p:nvSpPr>
        <p:spPr>
          <a:xfrm>
            <a:off x="9052560" y="3977639"/>
            <a:ext cx="2606040" cy="2286000"/>
          </a:xfrm>
          <a:prstGeom prst="rect">
            <a:avLst/>
          </a:prstGeom>
          <a:noFill/>
        </p:spPr>
        <p:txBody>
          <a:bodyPr wrap="square" anchor="t" lIns="45720" rIns="45720" tIns="27432" bIns="27432">
            <a:spAutoFit/>
          </a:bodyPr>
          <a:lstStyle/>
          <a:p>
            <a:pPr algn="l">
              <a:lnSpc>
                <a:spcPct val="110000"/>
              </a:lnSpc>
              <a:spcAft>
                <a:spcPts val="600"/>
              </a:spcAft>
            </a:pPr>
            <a:r>
              <a:rPr sz="1100" b="0">
                <a:solidFill>
                  <a:srgbClr val="232754"/>
                </a:solidFill>
                <a:latin typeface="Work Sans"/>
              </a:rPr>
              <a:t>Ce qu'on voit : de vraies personnes, des coulisses et des séries. Les seuls visuels graphiques qui marchent sont soit un guide utile (Doctolib), soit poussés en publicité (Moniepoint).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LES QUATRE FAMILLES DE CONTENU</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Les quatre familles de contenu, vues sur le terrain</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20</a:t>
            </a:r>
          </a:p>
        </p:txBody>
      </p:sp>
      <p:sp>
        <p:nvSpPr>
          <p:cNvPr id="9" name="Rectangle 8"/>
          <p:cNvSpPr/>
          <p:nvPr/>
        </p:nvSpPr>
        <p:spPr>
          <a:xfrm>
            <a:off x="548640" y="1463040"/>
            <a:ext cx="5468112" cy="228600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63040"/>
            <a:ext cx="82296" cy="2286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600200"/>
            <a:ext cx="5029200" cy="411480"/>
          </a:xfrm>
          <a:prstGeom prst="rect">
            <a:avLst/>
          </a:prstGeom>
          <a:noFill/>
        </p:spPr>
        <p:txBody>
          <a:bodyPr wrap="square" anchor="t" lIns="45720" rIns="45720" tIns="27432" bIns="27432">
            <a:spAutoFit/>
          </a:bodyPr>
          <a:lstStyle/>
          <a:p>
            <a:pPr algn="l">
              <a:lnSpc>
                <a:spcPct val="110000"/>
              </a:lnSpc>
              <a:spcAft>
                <a:spcPts val="600"/>
              </a:spcAft>
            </a:pPr>
            <a:r>
              <a:rPr sz="1600" b="1">
                <a:solidFill>
                  <a:srgbClr val="232754"/>
                </a:solidFill>
                <a:latin typeface="Funnel Display"/>
              </a:rPr>
              <a:t>Visuels de marque</a:t>
            </a:r>
          </a:p>
        </p:txBody>
      </p:sp>
      <p:sp>
        <p:nvSpPr>
          <p:cNvPr id="12" name="TextBox 11"/>
          <p:cNvSpPr txBox="1"/>
          <p:nvPr/>
        </p:nvSpPr>
        <p:spPr>
          <a:xfrm>
            <a:off x="822959" y="2057400"/>
            <a:ext cx="5029200" cy="1645920"/>
          </a:xfrm>
          <a:prstGeom prst="rect">
            <a:avLst/>
          </a:prstGeom>
          <a:noFill/>
        </p:spPr>
        <p:txBody>
          <a:bodyPr wrap="square" anchor="t" lIns="45720" rIns="45720" tIns="27432" bIns="27432">
            <a:spAutoFit/>
          </a:bodyPr>
          <a:lstStyle/>
          <a:p>
            <a:pPr algn="l">
              <a:lnSpc>
                <a:spcPct val="110000"/>
              </a:lnSpc>
              <a:spcAft>
                <a:spcPts val="600"/>
              </a:spcAft>
            </a:pPr>
            <a:r>
              <a:rPr sz="1200" b="0">
                <a:solidFill>
                  <a:srgbClr val="2B2A35"/>
                </a:solidFill>
                <a:latin typeface="Work Sans"/>
              </a:rPr>
              <a:t>Ce qui marche : une photo forte et peu de mots (Burger King), ou une grille très reconnaissable (Wave CI, Chowdeck). Ce qui ne marche pas : l'affiche promo qui empile prix, forfaits et codes.</a:t>
            </a:r>
          </a:p>
        </p:txBody>
      </p:sp>
      <p:sp>
        <p:nvSpPr>
          <p:cNvPr id="13" name="Rectangle 12"/>
          <p:cNvSpPr/>
          <p:nvPr/>
        </p:nvSpPr>
        <p:spPr>
          <a:xfrm>
            <a:off x="6172200" y="1463040"/>
            <a:ext cx="5468112" cy="228600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63040"/>
            <a:ext cx="82296" cy="2286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600200"/>
            <a:ext cx="5029200" cy="411480"/>
          </a:xfrm>
          <a:prstGeom prst="rect">
            <a:avLst/>
          </a:prstGeom>
          <a:noFill/>
        </p:spPr>
        <p:txBody>
          <a:bodyPr wrap="square" anchor="t" lIns="45720" rIns="45720" tIns="27432" bIns="27432">
            <a:spAutoFit/>
          </a:bodyPr>
          <a:lstStyle/>
          <a:p>
            <a:pPr algn="l">
              <a:lnSpc>
                <a:spcPct val="110000"/>
              </a:lnSpc>
              <a:spcAft>
                <a:spcPts val="600"/>
              </a:spcAft>
            </a:pPr>
            <a:r>
              <a:rPr sz="1600" b="1">
                <a:solidFill>
                  <a:srgbClr val="232754"/>
                </a:solidFill>
                <a:latin typeface="Funnel Display"/>
              </a:rPr>
              <a:t>Photos d'illustration</a:t>
            </a:r>
          </a:p>
        </p:txBody>
      </p:sp>
      <p:sp>
        <p:nvSpPr>
          <p:cNvPr id="16" name="TextBox 15"/>
          <p:cNvSpPr txBox="1"/>
          <p:nvPr/>
        </p:nvSpPr>
        <p:spPr>
          <a:xfrm>
            <a:off x="6446520" y="2057400"/>
            <a:ext cx="5029200" cy="1645920"/>
          </a:xfrm>
          <a:prstGeom prst="rect">
            <a:avLst/>
          </a:prstGeom>
          <a:noFill/>
        </p:spPr>
        <p:txBody>
          <a:bodyPr wrap="square" anchor="t" lIns="45720" rIns="45720" tIns="27432" bIns="27432">
            <a:spAutoFit/>
          </a:bodyPr>
          <a:lstStyle/>
          <a:p>
            <a:pPr algn="l">
              <a:lnSpc>
                <a:spcPct val="110000"/>
              </a:lnSpc>
              <a:spcAft>
                <a:spcPts val="600"/>
              </a:spcAft>
            </a:pPr>
            <a:r>
              <a:rPr sz="1200" b="0">
                <a:solidFill>
                  <a:srgbClr val="2B2A35"/>
                </a:solidFill>
                <a:latin typeface="Work Sans"/>
              </a:rPr>
              <a:t>À l'œil, presque aucune photo de banque d'images : les marques montrent de vraies personnes, chez elles, en boutique, dans la rue. Les marques africaines castent des visages locaux.</a:t>
            </a:r>
          </a:p>
        </p:txBody>
      </p:sp>
      <p:sp>
        <p:nvSpPr>
          <p:cNvPr id="17" name="Rectangle 16"/>
          <p:cNvSpPr/>
          <p:nvPr/>
        </p:nvSpPr>
        <p:spPr>
          <a:xfrm>
            <a:off x="548640" y="3931920"/>
            <a:ext cx="5468112" cy="228600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31920"/>
            <a:ext cx="82296" cy="2286000"/>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069080"/>
            <a:ext cx="5029200" cy="411480"/>
          </a:xfrm>
          <a:prstGeom prst="rect">
            <a:avLst/>
          </a:prstGeom>
          <a:noFill/>
        </p:spPr>
        <p:txBody>
          <a:bodyPr wrap="square" anchor="t" lIns="45720" rIns="45720" tIns="27432" bIns="27432">
            <a:spAutoFit/>
          </a:bodyPr>
          <a:lstStyle/>
          <a:p>
            <a:pPr algn="l">
              <a:lnSpc>
                <a:spcPct val="110000"/>
              </a:lnSpc>
              <a:spcAft>
                <a:spcPts val="600"/>
              </a:spcAft>
            </a:pPr>
            <a:r>
              <a:rPr sz="1600" b="1">
                <a:solidFill>
                  <a:srgbClr val="232754"/>
                </a:solidFill>
                <a:latin typeface="Funnel Display"/>
              </a:rPr>
              <a:t>Vidéos courtes et voix off</a:t>
            </a:r>
          </a:p>
        </p:txBody>
      </p:sp>
      <p:sp>
        <p:nvSpPr>
          <p:cNvPr id="20" name="TextBox 19"/>
          <p:cNvSpPr txBox="1"/>
          <p:nvPr/>
        </p:nvSpPr>
        <p:spPr>
          <a:xfrm>
            <a:off x="822959" y="4526280"/>
            <a:ext cx="5029200" cy="1645920"/>
          </a:xfrm>
          <a:prstGeom prst="rect">
            <a:avLst/>
          </a:prstGeom>
          <a:noFill/>
        </p:spPr>
        <p:txBody>
          <a:bodyPr wrap="square" anchor="t" lIns="45720" rIns="45720" tIns="27432" bIns="27432">
            <a:spAutoFit/>
          </a:bodyPr>
          <a:lstStyle/>
          <a:p>
            <a:pPr algn="l">
              <a:lnSpc>
                <a:spcPct val="110000"/>
              </a:lnSpc>
              <a:spcAft>
                <a:spcPts val="600"/>
              </a:spcAft>
            </a:pPr>
            <a:r>
              <a:rPr sz="1200" b="0">
                <a:solidFill>
                  <a:srgbClr val="2B2A35"/>
                </a:solidFill>
                <a:latin typeface="Work Sans"/>
              </a:rPr>
              <a:t>52 % des posts. Gagnent : sketch, face caméra, scène du quotidien en langue locale, récit (Doctolib). Le son n'a pas été analysé : on ne peut pas dire qui utilise une voix off.</a:t>
            </a:r>
          </a:p>
        </p:txBody>
      </p:sp>
      <p:sp>
        <p:nvSpPr>
          <p:cNvPr id="21" name="Rectangle 20"/>
          <p:cNvSpPr/>
          <p:nvPr/>
        </p:nvSpPr>
        <p:spPr>
          <a:xfrm>
            <a:off x="6172200" y="3931920"/>
            <a:ext cx="5468112" cy="228600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3931920"/>
            <a:ext cx="82296" cy="2286000"/>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4069080"/>
            <a:ext cx="5029200" cy="411480"/>
          </a:xfrm>
          <a:prstGeom prst="rect">
            <a:avLst/>
          </a:prstGeom>
          <a:noFill/>
        </p:spPr>
        <p:txBody>
          <a:bodyPr wrap="square" anchor="t" lIns="45720" rIns="45720" tIns="27432" bIns="27432">
            <a:spAutoFit/>
          </a:bodyPr>
          <a:lstStyle/>
          <a:p>
            <a:pPr algn="l">
              <a:lnSpc>
                <a:spcPct val="110000"/>
              </a:lnSpc>
              <a:spcAft>
                <a:spcPts val="600"/>
              </a:spcAft>
            </a:pPr>
            <a:r>
              <a:rPr sz="1600" b="1">
                <a:solidFill>
                  <a:srgbClr val="232754"/>
                </a:solidFill>
                <a:latin typeface="Funnel Display"/>
              </a:rPr>
              <a:t>Témoignages clients</a:t>
            </a:r>
          </a:p>
        </p:txBody>
      </p:sp>
      <p:sp>
        <p:nvSpPr>
          <p:cNvPr id="24" name="TextBox 23"/>
          <p:cNvSpPr txBox="1"/>
          <p:nvPr/>
        </p:nvSpPr>
        <p:spPr>
          <a:xfrm>
            <a:off x="6446520" y="4526280"/>
            <a:ext cx="5029200" cy="1645920"/>
          </a:xfrm>
          <a:prstGeom prst="rect">
            <a:avLst/>
          </a:prstGeom>
          <a:noFill/>
        </p:spPr>
        <p:txBody>
          <a:bodyPr wrap="square" anchor="t" lIns="45720" rIns="45720" tIns="27432" bIns="27432">
            <a:spAutoFit/>
          </a:bodyPr>
          <a:lstStyle/>
          <a:p>
            <a:pPr algn="l">
              <a:lnSpc>
                <a:spcPct val="110000"/>
              </a:lnSpc>
              <a:spcAft>
                <a:spcPts val="600"/>
              </a:spcAft>
            </a:pPr>
            <a:r>
              <a:rPr sz="1200" b="0">
                <a:solidFill>
                  <a:srgbClr val="2B2A35"/>
                </a:solidFill>
                <a:latin typeface="Work Sans"/>
              </a:rPr>
              <a:t>Aucune carte témoignage classique. À la place : le client héros d'un récit vidéo (Doctolib), le commerçant mis en avant (Paystack), le message de client mis en forme (Wave CI).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LES QUATRE FAMILLES DE CONTENU</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Témoignages : trois façons de faire parler le client</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21</a:t>
            </a:r>
          </a:p>
        </p:txBody>
      </p:sp>
      <p:sp>
        <p:nvSpPr>
          <p:cNvPr id="9" name="Rectangle 8"/>
          <p:cNvSpPr/>
          <p:nvPr/>
        </p:nvSpPr>
        <p:spPr>
          <a:xfrm>
            <a:off x="548640" y="1463040"/>
            <a:ext cx="2011680" cy="265176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octolib__Dd6r680N9Fx.jpg">
            <a:hlinkClick r:id="rId4"/>
          </p:cNvPr>
          <p:cNvPicPr>
            <a:picLocks noChangeAspect="1"/>
          </p:cNvPicPr>
          <p:nvPr/>
        </p:nvPicPr>
        <p:blipFill>
          <a:blip r:embed="rId3"/>
          <a:stretch>
            <a:fillRect/>
          </a:stretch>
        </p:blipFill>
        <p:spPr>
          <a:xfrm>
            <a:off x="809777" y="1463039"/>
            <a:ext cx="1489405" cy="2651760"/>
          </a:xfrm>
          <a:prstGeom prst="rect">
            <a:avLst/>
          </a:prstGeom>
        </p:spPr>
      </p:pic>
      <p:sp>
        <p:nvSpPr>
          <p:cNvPr id="11" name="TextBox 10"/>
          <p:cNvSpPr txBox="1"/>
          <p:nvPr/>
        </p:nvSpPr>
        <p:spPr>
          <a:xfrm>
            <a:off x="502919" y="4142232"/>
            <a:ext cx="210312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Doctolib · récit d'un patient · 12 994</a:t>
            </a:r>
          </a:p>
        </p:txBody>
      </p:sp>
      <p:sp>
        <p:nvSpPr>
          <p:cNvPr id="12" name="Rectangle 11"/>
          <p:cNvSpPr/>
          <p:nvPr/>
        </p:nvSpPr>
        <p:spPr>
          <a:xfrm>
            <a:off x="2834640" y="1463040"/>
            <a:ext cx="2011680" cy="265176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wave.ci__Del2CQilt3O.jpg">
            <a:hlinkClick r:id="rId6"/>
          </p:cNvPr>
          <p:cNvPicPr>
            <a:picLocks noChangeAspect="1"/>
          </p:cNvPicPr>
          <p:nvPr/>
        </p:nvPicPr>
        <p:blipFill>
          <a:blip r:embed="rId5"/>
          <a:stretch>
            <a:fillRect/>
          </a:stretch>
        </p:blipFill>
        <p:spPr>
          <a:xfrm>
            <a:off x="2834640" y="1539429"/>
            <a:ext cx="2011680" cy="2498981"/>
          </a:xfrm>
          <a:prstGeom prst="rect">
            <a:avLst/>
          </a:prstGeom>
        </p:spPr>
      </p:pic>
      <p:sp>
        <p:nvSpPr>
          <p:cNvPr id="14" name="TextBox 13"/>
          <p:cNvSpPr txBox="1"/>
          <p:nvPr/>
        </p:nvSpPr>
        <p:spPr>
          <a:xfrm>
            <a:off x="2788920" y="4142232"/>
            <a:ext cx="210312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Wave CI · message de client mis en forme · 36</a:t>
            </a:r>
          </a:p>
        </p:txBody>
      </p:sp>
      <p:sp>
        <p:nvSpPr>
          <p:cNvPr id="15" name="Rectangle 14"/>
          <p:cNvSpPr/>
          <p:nvPr/>
        </p:nvSpPr>
        <p:spPr>
          <a:xfrm>
            <a:off x="5120640" y="1463040"/>
            <a:ext cx="2011680" cy="265176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orangecotedivoire__DePPkBRIQcs.jpg">
            <a:hlinkClick r:id="rId8"/>
          </p:cNvPr>
          <p:cNvPicPr>
            <a:picLocks noChangeAspect="1"/>
          </p:cNvPicPr>
          <p:nvPr/>
        </p:nvPicPr>
        <p:blipFill>
          <a:blip r:embed="rId7"/>
          <a:stretch>
            <a:fillRect/>
          </a:stretch>
        </p:blipFill>
        <p:spPr>
          <a:xfrm>
            <a:off x="5381777" y="1463039"/>
            <a:ext cx="1489405" cy="2651760"/>
          </a:xfrm>
          <a:prstGeom prst="rect">
            <a:avLst/>
          </a:prstGeom>
        </p:spPr>
      </p:pic>
      <p:sp>
        <p:nvSpPr>
          <p:cNvPr id="17" name="TextBox 16"/>
          <p:cNvSpPr txBox="1"/>
          <p:nvPr/>
        </p:nvSpPr>
        <p:spPr>
          <a:xfrm>
            <a:off x="5074920" y="4142232"/>
            <a:ext cx="2103120" cy="457200"/>
          </a:xfrm>
          <a:prstGeom prst="rect">
            <a:avLst/>
          </a:prstGeom>
          <a:noFill/>
        </p:spPr>
        <p:txBody>
          <a:bodyPr wrap="square" anchor="t" lIns="45720" rIns="45720" tIns="27432" bIns="27432">
            <a:spAutoFit/>
          </a:bodyPr>
          <a:lstStyle/>
          <a:p>
            <a:pPr algn="ctr">
              <a:lnSpc>
                <a:spcPct val="100000"/>
              </a:lnSpc>
              <a:spcAft>
                <a:spcPts val="600"/>
              </a:spcAft>
            </a:pPr>
            <a:r>
              <a:rPr sz="900" b="0">
                <a:solidFill>
                  <a:srgbClr val="2B2A35"/>
                </a:solidFill>
                <a:latin typeface="Work Sans"/>
              </a:rPr>
              <a:t>Orange CI · dirigeants chez les clients · 151</a:t>
            </a:r>
          </a:p>
        </p:txBody>
      </p:sp>
      <p:sp>
        <p:nvSpPr>
          <p:cNvPr id="18" name="TextBox 17"/>
          <p:cNvSpPr txBox="1"/>
          <p:nvPr/>
        </p:nvSpPr>
        <p:spPr>
          <a:xfrm>
            <a:off x="7498079" y="1463040"/>
            <a:ext cx="4142232" cy="484632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1. Le récit vidéo</a:t>
            </a:r>
          </a:p>
          <a:p>
            <a:pPr algn="l">
              <a:lnSpc>
                <a:spcPct val="110000"/>
              </a:lnSpc>
              <a:spcAft>
                <a:spcPts val="900"/>
              </a:spcAft>
            </a:pPr>
            <a:r>
              <a:rPr sz="1100" b="0">
                <a:solidFill>
                  <a:srgbClr val="2B2A35"/>
                </a:solidFill>
                <a:latin typeface="Work Sans"/>
              </a:rPr>
              <a:t>Un client, son problème, ce qui a changé. C'est le seul format de témoignage qui fait de gros chiffres dans le panel.</a:t>
            </a:r>
          </a:p>
          <a:p>
            <a:pPr algn="l">
              <a:lnSpc>
                <a:spcPct val="110000"/>
              </a:lnSpc>
              <a:spcAft>
                <a:spcPts val="100"/>
              </a:spcAft>
            </a:pPr>
            <a:r>
              <a:rPr sz="1200" b="1">
                <a:solidFill>
                  <a:srgbClr val="232754"/>
                </a:solidFill>
                <a:latin typeface="Work Sans"/>
              </a:rPr>
              <a:t>2. Le message de client</a:t>
            </a:r>
          </a:p>
          <a:p>
            <a:pPr algn="l">
              <a:lnSpc>
                <a:spcPct val="110000"/>
              </a:lnSpc>
              <a:spcAft>
                <a:spcPts val="900"/>
              </a:spcAft>
            </a:pPr>
            <a:r>
              <a:rPr sz="1100" b="0">
                <a:solidFill>
                  <a:srgbClr val="2B2A35"/>
                </a:solidFill>
                <a:latin typeface="Work Sans"/>
              </a:rPr>
              <a:t>Rapide à produire, cohérent avec la grille, mais peu de réactions s'il n'y a pas de visage.</a:t>
            </a:r>
          </a:p>
          <a:p>
            <a:pPr algn="l">
              <a:lnSpc>
                <a:spcPct val="110000"/>
              </a:lnSpc>
              <a:spcAft>
                <a:spcPts val="100"/>
              </a:spcAft>
            </a:pPr>
            <a:r>
              <a:rPr sz="1200" b="1">
                <a:solidFill>
                  <a:srgbClr val="232754"/>
                </a:solidFill>
                <a:latin typeface="Work Sans"/>
              </a:rPr>
              <a:t>3. L'équipe chez le client</a:t>
            </a:r>
          </a:p>
          <a:p>
            <a:pPr algn="l">
              <a:lnSpc>
                <a:spcPct val="110000"/>
              </a:lnSpc>
              <a:spcAft>
                <a:spcPts val="900"/>
              </a:spcAft>
            </a:pPr>
            <a:r>
              <a:rPr sz="1100" b="0">
                <a:solidFill>
                  <a:srgbClr val="2B2A35"/>
                </a:solidFill>
                <a:latin typeface="Work Sans"/>
              </a:rPr>
              <a:t>Montre l'écoute plutôt que le résultat. Bon pour l'image, moyen pour l'engagement.</a:t>
            </a:r>
          </a:p>
          <a:p>
            <a:pPr algn="l">
              <a:lnSpc>
                <a:spcPct val="110000"/>
              </a:lnSpc>
              <a:spcAft>
                <a:spcPts val="100"/>
              </a:spcAft>
            </a:pPr>
            <a:r>
              <a:rPr sz="1200" b="1">
                <a:solidFill>
                  <a:srgbClr val="232754"/>
                </a:solidFill>
                <a:latin typeface="Work Sans"/>
              </a:rPr>
              <a:t>Une règle</a:t>
            </a:r>
          </a:p>
          <a:p>
            <a:pPr algn="l">
              <a:lnSpc>
                <a:spcPct val="110000"/>
              </a:lnSpc>
              <a:spcAft>
                <a:spcPts val="900"/>
              </a:spcAft>
            </a:pPr>
            <a:r>
              <a:rPr sz="1100" b="0">
                <a:solidFill>
                  <a:srgbClr val="2B2A35"/>
                </a:solidFill>
                <a:latin typeface="Work Sans"/>
              </a:rPr>
              <a:t>Un vrai client, son accord écrit, ses vrais mots. Jamais de citation inventée.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RECOMMANDATIONS</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Ce qu'on en tire pour nos startups</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22</a:t>
            </a:r>
          </a:p>
        </p:txBody>
      </p:sp>
      <p:sp>
        <p:nvSpPr>
          <p:cNvPr id="9" name="Rectangle 8"/>
          <p:cNvSpPr/>
          <p:nvPr/>
        </p:nvSpPr>
        <p:spPr>
          <a:xfrm>
            <a:off x="548640" y="1463040"/>
            <a:ext cx="3593592" cy="22402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645920"/>
            <a:ext cx="457200" cy="4572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45920"/>
            <a:ext cx="457200" cy="457200"/>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1</a:t>
            </a:r>
          </a:p>
        </p:txBody>
      </p:sp>
      <p:sp>
        <p:nvSpPr>
          <p:cNvPr id="12" name="TextBox 11"/>
          <p:cNvSpPr txBox="1"/>
          <p:nvPr/>
        </p:nvSpPr>
        <p:spPr>
          <a:xfrm>
            <a:off x="1325880" y="1627632"/>
            <a:ext cx="2697480" cy="731520"/>
          </a:xfrm>
          <a:prstGeom prst="rect">
            <a:avLst/>
          </a:prstGeom>
          <a:noFill/>
        </p:spPr>
        <p:txBody>
          <a:bodyPr wrap="square" anchor="t" lIns="45720" rIns="45720" tIns="27432" bIns="27432">
            <a:spAutoFit/>
          </a:bodyPr>
          <a:lstStyle/>
          <a:p>
            <a:pPr algn="l">
              <a:lnSpc>
                <a:spcPct val="110000"/>
              </a:lnSpc>
              <a:spcAft>
                <a:spcPts val="600"/>
              </a:spcAft>
            </a:pPr>
            <a:r>
              <a:rPr sz="1400" b="1">
                <a:solidFill>
                  <a:srgbClr val="232754"/>
                </a:solidFill>
                <a:latin typeface="Funnel Display"/>
              </a:rPr>
              <a:t>Passer à la vidéo verticale d'abord</a:t>
            </a:r>
          </a:p>
        </p:txBody>
      </p:sp>
      <p:sp>
        <p:nvSpPr>
          <p:cNvPr id="13" name="TextBox 12"/>
          <p:cNvSpPr txBox="1"/>
          <p:nvPr/>
        </p:nvSpPr>
        <p:spPr>
          <a:xfrm>
            <a:off x="731520" y="2377440"/>
            <a:ext cx="3246120" cy="1280160"/>
          </a:xfrm>
          <a:prstGeom prst="rect">
            <a:avLst/>
          </a:prstGeom>
          <a:noFill/>
        </p:spPr>
        <p:txBody>
          <a:bodyPr wrap="square" anchor="t" lIns="45720" rIns="45720" tIns="27432" bIns="27432">
            <a:spAutoFit/>
          </a:bodyPr>
          <a:lstStyle/>
          <a:p>
            <a:pPr algn="l">
              <a:lnSpc>
                <a:spcPct val="110000"/>
              </a:lnSpc>
              <a:spcAft>
                <a:spcPts val="600"/>
              </a:spcAft>
            </a:pPr>
            <a:r>
              <a:rPr sz="1200" b="0">
                <a:solidFill>
                  <a:srgbClr val="2B2A35"/>
                </a:solidFill>
                <a:latin typeface="Work Sans"/>
              </a:rPr>
              <a:t>Viser une publication sur deux en vidéo de 15 à 40 s : face caméra, sketch ou scène du quotidien.</a:t>
            </a:r>
          </a:p>
        </p:txBody>
      </p:sp>
      <p:sp>
        <p:nvSpPr>
          <p:cNvPr id="14" name="Rectangle 13"/>
          <p:cNvSpPr/>
          <p:nvPr/>
        </p:nvSpPr>
        <p:spPr>
          <a:xfrm>
            <a:off x="4297679" y="1463040"/>
            <a:ext cx="3593592" cy="22402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0559" y="1645920"/>
            <a:ext cx="457200" cy="4572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59" y="1645920"/>
            <a:ext cx="457200" cy="457200"/>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2</a:t>
            </a:r>
          </a:p>
        </p:txBody>
      </p:sp>
      <p:sp>
        <p:nvSpPr>
          <p:cNvPr id="17" name="TextBox 16"/>
          <p:cNvSpPr txBox="1"/>
          <p:nvPr/>
        </p:nvSpPr>
        <p:spPr>
          <a:xfrm>
            <a:off x="5074919" y="1627632"/>
            <a:ext cx="2697480" cy="731520"/>
          </a:xfrm>
          <a:prstGeom prst="rect">
            <a:avLst/>
          </a:prstGeom>
          <a:noFill/>
        </p:spPr>
        <p:txBody>
          <a:bodyPr wrap="square" anchor="t" lIns="45720" rIns="45720" tIns="27432" bIns="27432">
            <a:spAutoFit/>
          </a:bodyPr>
          <a:lstStyle/>
          <a:p>
            <a:pPr algn="l">
              <a:lnSpc>
                <a:spcPct val="110000"/>
              </a:lnSpc>
              <a:spcAft>
                <a:spcPts val="600"/>
              </a:spcAft>
            </a:pPr>
            <a:r>
              <a:rPr sz="1400" b="1">
                <a:solidFill>
                  <a:srgbClr val="232754"/>
                </a:solidFill>
                <a:latin typeface="Funnel Display"/>
              </a:rPr>
              <a:t>Budgéter un créateur par mois</a:t>
            </a:r>
          </a:p>
        </p:txBody>
      </p:sp>
      <p:sp>
        <p:nvSpPr>
          <p:cNvPr id="18" name="TextBox 17"/>
          <p:cNvSpPr txBox="1"/>
          <p:nvPr/>
        </p:nvSpPr>
        <p:spPr>
          <a:xfrm>
            <a:off x="4480559" y="2377440"/>
            <a:ext cx="3246120" cy="1280160"/>
          </a:xfrm>
          <a:prstGeom prst="rect">
            <a:avLst/>
          </a:prstGeom>
          <a:noFill/>
        </p:spPr>
        <p:txBody>
          <a:bodyPr wrap="square" anchor="t" lIns="45720" rIns="45720" tIns="27432" bIns="27432">
            <a:spAutoFit/>
          </a:bodyPr>
          <a:lstStyle/>
          <a:p>
            <a:pPr algn="l">
              <a:lnSpc>
                <a:spcPct val="110000"/>
              </a:lnSpc>
              <a:spcAft>
                <a:spcPts val="600"/>
              </a:spcAft>
            </a:pPr>
            <a:r>
              <a:rPr sz="1200" b="0">
                <a:solidFill>
                  <a:srgbClr val="2B2A35"/>
                </a:solidFill>
                <a:latin typeface="Work Sans"/>
              </a:rPr>
              <a:t>C'est le levier le plus fort du panel (× 4,3). Commencer petit, avec un brief clair et un code de suivi.</a:t>
            </a:r>
          </a:p>
        </p:txBody>
      </p:sp>
      <p:sp>
        <p:nvSpPr>
          <p:cNvPr id="19" name="Rectangle 18"/>
          <p:cNvSpPr/>
          <p:nvPr/>
        </p:nvSpPr>
        <p:spPr>
          <a:xfrm>
            <a:off x="8046719" y="1463040"/>
            <a:ext cx="3593592" cy="22402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599" y="1645920"/>
            <a:ext cx="457200" cy="4572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9" y="1645920"/>
            <a:ext cx="457200" cy="457200"/>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3</a:t>
            </a:r>
          </a:p>
        </p:txBody>
      </p:sp>
      <p:sp>
        <p:nvSpPr>
          <p:cNvPr id="22" name="TextBox 21"/>
          <p:cNvSpPr txBox="1"/>
          <p:nvPr/>
        </p:nvSpPr>
        <p:spPr>
          <a:xfrm>
            <a:off x="8823959" y="1627632"/>
            <a:ext cx="2697480" cy="731520"/>
          </a:xfrm>
          <a:prstGeom prst="rect">
            <a:avLst/>
          </a:prstGeom>
          <a:noFill/>
        </p:spPr>
        <p:txBody>
          <a:bodyPr wrap="square" anchor="t" lIns="45720" rIns="45720" tIns="27432" bIns="27432">
            <a:spAutoFit/>
          </a:bodyPr>
          <a:lstStyle/>
          <a:p>
            <a:pPr algn="l">
              <a:lnSpc>
                <a:spcPct val="110000"/>
              </a:lnSpc>
              <a:spcAft>
                <a:spcPts val="600"/>
              </a:spcAft>
            </a:pPr>
            <a:r>
              <a:rPr sz="1400" b="1">
                <a:solidFill>
                  <a:srgbClr val="232754"/>
                </a:solidFill>
                <a:latin typeface="Funnel Display"/>
              </a:rPr>
              <a:t>Parler la langue des clients</a:t>
            </a:r>
          </a:p>
        </p:txBody>
      </p:sp>
      <p:sp>
        <p:nvSpPr>
          <p:cNvPr id="23" name="TextBox 22"/>
          <p:cNvSpPr txBox="1"/>
          <p:nvPr/>
        </p:nvSpPr>
        <p:spPr>
          <a:xfrm>
            <a:off x="8229599" y="2377440"/>
            <a:ext cx="3246120" cy="1280160"/>
          </a:xfrm>
          <a:prstGeom prst="rect">
            <a:avLst/>
          </a:prstGeom>
          <a:noFill/>
        </p:spPr>
        <p:txBody>
          <a:bodyPr wrap="square" anchor="t" lIns="45720" rIns="45720" tIns="27432" bIns="27432">
            <a:spAutoFit/>
          </a:bodyPr>
          <a:lstStyle/>
          <a:p>
            <a:pPr algn="l">
              <a:lnSpc>
                <a:spcPct val="110000"/>
              </a:lnSpc>
              <a:spcAft>
                <a:spcPts val="600"/>
              </a:spcAft>
            </a:pPr>
            <a:r>
              <a:rPr sz="1200" b="0">
                <a:solidFill>
                  <a:srgbClr val="2B2A35"/>
                </a:solidFill>
                <a:latin typeface="Work Sans"/>
              </a:rPr>
              <a:t>Nouchi léger à Abidjan, wolof à Dakar, pidgin à Lagos, quand la cible s'y retrouve.</a:t>
            </a:r>
          </a:p>
        </p:txBody>
      </p:sp>
      <p:sp>
        <p:nvSpPr>
          <p:cNvPr id="24" name="Rectangle 23"/>
          <p:cNvSpPr/>
          <p:nvPr/>
        </p:nvSpPr>
        <p:spPr>
          <a:xfrm>
            <a:off x="548640" y="3886200"/>
            <a:ext cx="3593592" cy="22402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4069080"/>
            <a:ext cx="457200" cy="4572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069080"/>
            <a:ext cx="457200" cy="457200"/>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4</a:t>
            </a:r>
          </a:p>
        </p:txBody>
      </p:sp>
      <p:sp>
        <p:nvSpPr>
          <p:cNvPr id="27" name="TextBox 26"/>
          <p:cNvSpPr txBox="1"/>
          <p:nvPr/>
        </p:nvSpPr>
        <p:spPr>
          <a:xfrm>
            <a:off x="1325880" y="4050791"/>
            <a:ext cx="2697480" cy="731520"/>
          </a:xfrm>
          <a:prstGeom prst="rect">
            <a:avLst/>
          </a:prstGeom>
          <a:noFill/>
        </p:spPr>
        <p:txBody>
          <a:bodyPr wrap="square" anchor="t" lIns="45720" rIns="45720" tIns="27432" bIns="27432">
            <a:spAutoFit/>
          </a:bodyPr>
          <a:lstStyle/>
          <a:p>
            <a:pPr algn="l">
              <a:lnSpc>
                <a:spcPct val="110000"/>
              </a:lnSpc>
              <a:spcAft>
                <a:spcPts val="600"/>
              </a:spcAft>
            </a:pPr>
            <a:r>
              <a:rPr sz="1400" b="1">
                <a:solidFill>
                  <a:srgbClr val="232754"/>
                </a:solidFill>
                <a:latin typeface="Funnel Display"/>
              </a:rPr>
              <a:t>Sortir de l'affiche promo</a:t>
            </a:r>
          </a:p>
        </p:txBody>
      </p:sp>
      <p:sp>
        <p:nvSpPr>
          <p:cNvPr id="28" name="TextBox 27"/>
          <p:cNvSpPr txBox="1"/>
          <p:nvPr/>
        </p:nvSpPr>
        <p:spPr>
          <a:xfrm>
            <a:off x="731520" y="4800600"/>
            <a:ext cx="3246120" cy="1280160"/>
          </a:xfrm>
          <a:prstGeom prst="rect">
            <a:avLst/>
          </a:prstGeom>
          <a:noFill/>
        </p:spPr>
        <p:txBody>
          <a:bodyPr wrap="square" anchor="t" lIns="45720" rIns="45720" tIns="27432" bIns="27432">
            <a:spAutoFit/>
          </a:bodyPr>
          <a:lstStyle/>
          <a:p>
            <a:pPr algn="l">
              <a:lnSpc>
                <a:spcPct val="110000"/>
              </a:lnSpc>
              <a:spcAft>
                <a:spcPts val="600"/>
              </a:spcAft>
            </a:pPr>
            <a:r>
              <a:rPr sz="1200" b="0">
                <a:solidFill>
                  <a:srgbClr val="2B2A35"/>
                </a:solidFill>
                <a:latin typeface="Work Sans"/>
              </a:rPr>
              <a:t>Une offre = une phrase et une photo, le détail dans la légende. Comparer sur deux semaines.</a:t>
            </a:r>
          </a:p>
        </p:txBody>
      </p:sp>
      <p:sp>
        <p:nvSpPr>
          <p:cNvPr id="29" name="Rectangle 28"/>
          <p:cNvSpPr/>
          <p:nvPr/>
        </p:nvSpPr>
        <p:spPr>
          <a:xfrm>
            <a:off x="4297679" y="3886200"/>
            <a:ext cx="3593592" cy="22402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80559" y="4069080"/>
            <a:ext cx="457200" cy="4572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59" y="4069080"/>
            <a:ext cx="457200" cy="457200"/>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5</a:t>
            </a:r>
          </a:p>
        </p:txBody>
      </p:sp>
      <p:sp>
        <p:nvSpPr>
          <p:cNvPr id="32" name="TextBox 31"/>
          <p:cNvSpPr txBox="1"/>
          <p:nvPr/>
        </p:nvSpPr>
        <p:spPr>
          <a:xfrm>
            <a:off x="5074919" y="4050791"/>
            <a:ext cx="2697480" cy="731520"/>
          </a:xfrm>
          <a:prstGeom prst="rect">
            <a:avLst/>
          </a:prstGeom>
          <a:noFill/>
        </p:spPr>
        <p:txBody>
          <a:bodyPr wrap="square" anchor="t" lIns="45720" rIns="45720" tIns="27432" bIns="27432">
            <a:spAutoFit/>
          </a:bodyPr>
          <a:lstStyle/>
          <a:p>
            <a:pPr algn="l">
              <a:lnSpc>
                <a:spcPct val="110000"/>
              </a:lnSpc>
              <a:spcAft>
                <a:spcPts val="600"/>
              </a:spcAft>
            </a:pPr>
            <a:r>
              <a:rPr sz="1400" b="1">
                <a:solidFill>
                  <a:srgbClr val="232754"/>
                </a:solidFill>
                <a:latin typeface="Funnel Display"/>
              </a:rPr>
              <a:t>Faire un vrai témoignage vidéo par trimestre</a:t>
            </a:r>
          </a:p>
        </p:txBody>
      </p:sp>
      <p:sp>
        <p:nvSpPr>
          <p:cNvPr id="33" name="TextBox 32"/>
          <p:cNvSpPr txBox="1"/>
          <p:nvPr/>
        </p:nvSpPr>
        <p:spPr>
          <a:xfrm>
            <a:off x="4480559" y="4800600"/>
            <a:ext cx="3246120" cy="1280160"/>
          </a:xfrm>
          <a:prstGeom prst="rect">
            <a:avLst/>
          </a:prstGeom>
          <a:noFill/>
        </p:spPr>
        <p:txBody>
          <a:bodyPr wrap="square" anchor="t" lIns="45720" rIns="45720" tIns="27432" bIns="27432">
            <a:spAutoFit/>
          </a:bodyPr>
          <a:lstStyle/>
          <a:p>
            <a:pPr algn="l">
              <a:lnSpc>
                <a:spcPct val="110000"/>
              </a:lnSpc>
              <a:spcAft>
                <a:spcPts val="600"/>
              </a:spcAft>
            </a:pPr>
            <a:r>
              <a:rPr sz="1200" b="0">
                <a:solidFill>
                  <a:srgbClr val="2B2A35"/>
                </a:solidFill>
                <a:latin typeface="Work Sans"/>
              </a:rPr>
              <a:t>Un client, 45 secondes, son accord écrit. À recouper en carte pour LinkedIn.</a:t>
            </a:r>
          </a:p>
        </p:txBody>
      </p:sp>
      <p:sp>
        <p:nvSpPr>
          <p:cNvPr id="34" name="Rectangle 33"/>
          <p:cNvSpPr/>
          <p:nvPr/>
        </p:nvSpPr>
        <p:spPr>
          <a:xfrm>
            <a:off x="8046719" y="3886200"/>
            <a:ext cx="3593592" cy="224028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29599" y="4069080"/>
            <a:ext cx="457200" cy="4572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599" y="4069080"/>
            <a:ext cx="457200" cy="457200"/>
          </a:xfrm>
          <a:prstGeom prst="rect">
            <a:avLst/>
          </a:prstGeom>
          <a:noFill/>
        </p:spPr>
        <p:txBody>
          <a:bodyPr wrap="square" anchor="ctr" lIns="45720" rIns="45720" tIns="27432" bIns="27432">
            <a:spAutoFit/>
          </a:bodyPr>
          <a:lstStyle/>
          <a:p>
            <a:pPr algn="ctr">
              <a:lnSpc>
                <a:spcPct val="110000"/>
              </a:lnSpc>
              <a:spcAft>
                <a:spcPts val="600"/>
              </a:spcAft>
            </a:pPr>
            <a:r>
              <a:rPr sz="1600" b="1">
                <a:solidFill>
                  <a:srgbClr val="FFFFFF"/>
                </a:solidFill>
                <a:latin typeface="Space Grotesk"/>
              </a:rPr>
              <a:t>6</a:t>
            </a:r>
          </a:p>
        </p:txBody>
      </p:sp>
      <p:sp>
        <p:nvSpPr>
          <p:cNvPr id="37" name="TextBox 36"/>
          <p:cNvSpPr txBox="1"/>
          <p:nvPr/>
        </p:nvSpPr>
        <p:spPr>
          <a:xfrm>
            <a:off x="8823959" y="4050791"/>
            <a:ext cx="2697480" cy="731520"/>
          </a:xfrm>
          <a:prstGeom prst="rect">
            <a:avLst/>
          </a:prstGeom>
          <a:noFill/>
        </p:spPr>
        <p:txBody>
          <a:bodyPr wrap="square" anchor="t" lIns="45720" rIns="45720" tIns="27432" bIns="27432">
            <a:spAutoFit/>
          </a:bodyPr>
          <a:lstStyle/>
          <a:p>
            <a:pPr algn="l">
              <a:lnSpc>
                <a:spcPct val="110000"/>
              </a:lnSpc>
              <a:spcAft>
                <a:spcPts val="600"/>
              </a:spcAft>
            </a:pPr>
            <a:r>
              <a:rPr sz="1400" b="1">
                <a:solidFill>
                  <a:srgbClr val="232754"/>
                </a:solidFill>
                <a:latin typeface="Funnel Display"/>
              </a:rPr>
              <a:t>Sur LinkedIn, montrer des gens et des étapes</a:t>
            </a:r>
          </a:p>
        </p:txBody>
      </p:sp>
      <p:sp>
        <p:nvSpPr>
          <p:cNvPr id="38" name="TextBox 37"/>
          <p:cNvSpPr txBox="1"/>
          <p:nvPr/>
        </p:nvSpPr>
        <p:spPr>
          <a:xfrm>
            <a:off x="8229599" y="4800600"/>
            <a:ext cx="3246120" cy="1280160"/>
          </a:xfrm>
          <a:prstGeom prst="rect">
            <a:avLst/>
          </a:prstGeom>
          <a:noFill/>
        </p:spPr>
        <p:txBody>
          <a:bodyPr wrap="square" anchor="t" lIns="45720" rIns="45720" tIns="27432" bIns="27432">
            <a:spAutoFit/>
          </a:bodyPr>
          <a:lstStyle/>
          <a:p>
            <a:pPr algn="l">
              <a:lnSpc>
                <a:spcPct val="110000"/>
              </a:lnSpc>
              <a:spcAft>
                <a:spcPts val="600"/>
              </a:spcAft>
            </a:pPr>
            <a:r>
              <a:rPr sz="1200" b="0">
                <a:solidFill>
                  <a:srgbClr val="2B2A35"/>
                </a:solidFill>
                <a:latin typeface="Work Sans"/>
              </a:rPr>
              <a:t>Recrues, partenaires, agréments, chiffres franchis, plutôt que le produit seul.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nchor="t" lIns="45720" rIns="45720" tIns="27432" bIns="27432">
            <a:spAutoFit/>
          </a:bodyPr>
          <a:lstStyle/>
          <a:p>
            <a:pPr algn="l">
              <a:lnSpc>
                <a:spcPct val="110000"/>
              </a:lnSpc>
              <a:spcAft>
                <a:spcPts val="600"/>
              </a:spcAft>
            </a:pPr>
            <a:r>
              <a:rPr sz="1100" b="1">
                <a:solidFill>
                  <a:srgbClr val="007ABB"/>
                </a:solidFill>
                <a:latin typeface="Space Grotesk"/>
              </a:rPr>
              <a:t>LIMITES ET SUITE</a:t>
            </a:r>
          </a:p>
        </p:txBody>
      </p:sp>
      <p:sp>
        <p:nvSpPr>
          <p:cNvPr id="4" name="TextBox 3"/>
          <p:cNvSpPr txBox="1"/>
          <p:nvPr/>
        </p:nvSpPr>
        <p:spPr>
          <a:xfrm>
            <a:off x="548640" y="548640"/>
            <a:ext cx="9692640" cy="822960"/>
          </a:xfrm>
          <a:prstGeom prst="rect">
            <a:avLst/>
          </a:prstGeom>
          <a:noFill/>
        </p:spPr>
        <p:txBody>
          <a:bodyPr wrap="square" anchor="t" lIns="45720" rIns="45720" tIns="27432" bIns="27432">
            <a:spAutoFit/>
          </a:bodyPr>
          <a:lstStyle/>
          <a:p>
            <a:pPr algn="l">
              <a:lnSpc>
                <a:spcPct val="110000"/>
              </a:lnSpc>
              <a:spcAft>
                <a:spcPts val="600"/>
              </a:spcAft>
            </a:pPr>
            <a:r>
              <a:rPr sz="2600" b="1">
                <a:solidFill>
                  <a:srgbClr val="232754"/>
                </a:solidFill>
                <a:latin typeface="Funnel Display"/>
              </a:rPr>
              <a:t>Limites et suite</a:t>
            </a:r>
          </a:p>
        </p:txBody>
      </p:sp>
      <p:pic>
        <p:nvPicPr>
          <p:cNvPr id="5" name="Picture 4" descr="logo_mstudio_couleur_fond_clair.png"/>
          <p:cNvPicPr>
            <a:picLocks noChangeAspect="1"/>
          </p:cNvPicPr>
          <p:nvPr/>
        </p:nvPicPr>
        <p:blipFill>
          <a:blip r:embed="rId2"/>
          <a:stretch>
            <a:fillRect/>
          </a:stretch>
        </p:blipFill>
        <p:spPr>
          <a:xfrm>
            <a:off x="10561320" y="292608"/>
            <a:ext cx="1168842" cy="384048"/>
          </a:xfrm>
          <a:prstGeom prst="rect">
            <a:avLst/>
          </a:prstGeom>
        </p:spPr>
      </p:pic>
      <p:sp>
        <p:nvSpPr>
          <p:cNvPr id="6" name="Rectangle 5"/>
          <p:cNvSpPr/>
          <p:nvPr/>
        </p:nvSpPr>
        <p:spPr>
          <a:xfrm>
            <a:off x="548640" y="6446520"/>
            <a:ext cx="11091672" cy="9144"/>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274320"/>
          </a:xfrm>
          <a:prstGeom prst="rect">
            <a:avLst/>
          </a:prstGeom>
          <a:noFill/>
        </p:spPr>
        <p:txBody>
          <a:bodyPr wrap="square" anchor="t" lIns="45720" rIns="45720" tIns="27432" bIns="27432">
            <a:spAutoFit/>
          </a:bodyPr>
          <a:lstStyle/>
          <a:p>
            <a:pPr algn="l">
              <a:lnSpc>
                <a:spcPct val="110000"/>
              </a:lnSpc>
              <a:spcAft>
                <a:spcPts val="600"/>
              </a:spcAft>
            </a:pPr>
            <a:r>
              <a:rPr sz="900" b="0">
                <a:solidFill>
                  <a:srgbClr val="8F8F9A"/>
                </a:solidFill>
                <a:latin typeface="Work Sans"/>
              </a:rPr>
              <a:t>Benchmark visuels et vidéos · Nigeria, France, Côte d'Ivoire, Sénégal · relevé du 24/10/2026</a:t>
            </a:r>
          </a:p>
        </p:txBody>
      </p:sp>
      <p:sp>
        <p:nvSpPr>
          <p:cNvPr id="8" name="TextBox 7"/>
          <p:cNvSpPr txBox="1"/>
          <p:nvPr/>
        </p:nvSpPr>
        <p:spPr>
          <a:xfrm>
            <a:off x="10698480" y="6492240"/>
            <a:ext cx="941832" cy="274320"/>
          </a:xfrm>
          <a:prstGeom prst="rect">
            <a:avLst/>
          </a:prstGeom>
          <a:noFill/>
        </p:spPr>
        <p:txBody>
          <a:bodyPr wrap="square" anchor="t" lIns="45720" rIns="45720" tIns="27432" bIns="27432">
            <a:spAutoFit/>
          </a:bodyPr>
          <a:lstStyle/>
          <a:p>
            <a:pPr algn="r">
              <a:lnSpc>
                <a:spcPct val="110000"/>
              </a:lnSpc>
              <a:spcAft>
                <a:spcPts val="600"/>
              </a:spcAft>
            </a:pPr>
            <a:r>
              <a:rPr sz="900" b="0">
                <a:solidFill>
                  <a:srgbClr val="8F8F9A"/>
                </a:solidFill>
                <a:latin typeface="Work Sans"/>
              </a:rPr>
              <a:t>23</a:t>
            </a:r>
          </a:p>
        </p:txBody>
      </p:sp>
      <p:sp>
        <p:nvSpPr>
          <p:cNvPr id="9" name="TextBox 8"/>
          <p:cNvSpPr txBox="1"/>
          <p:nvPr/>
        </p:nvSpPr>
        <p:spPr>
          <a:xfrm>
            <a:off x="548640" y="1417320"/>
            <a:ext cx="5486400" cy="484632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Limites</a:t>
            </a:r>
          </a:p>
          <a:p>
            <a:pPr algn="l">
              <a:lnSpc>
                <a:spcPct val="110000"/>
              </a:lnSpc>
              <a:spcAft>
                <a:spcPts val="900"/>
              </a:spcAft>
            </a:pPr>
            <a:r>
              <a:rPr sz="1100" b="0">
                <a:solidFill>
                  <a:srgbClr val="2B2A35"/>
                </a:solidFill>
                <a:latin typeface="Work Sans"/>
              </a:rPr>
              <a:t/>
            </a:r>
          </a:p>
          <a:p>
            <a:pPr algn="l">
              <a:lnSpc>
                <a:spcPct val="110000"/>
              </a:lnSpc>
              <a:spcAft>
                <a:spcPts val="700"/>
              </a:spcAft>
            </a:pPr>
            <a:r>
              <a:rPr sz="1200" b="0">
                <a:solidFill>
                  <a:srgbClr val="2B2A35"/>
                </a:solidFill>
                <a:latin typeface="Work Sans"/>
              </a:rPr>
              <a:t>•  15 posts par marque : c'est un instantané d'octobre 2026, pas une année.</a:t>
            </a:r>
          </a:p>
          <a:p>
            <a:pPr algn="l">
              <a:lnSpc>
                <a:spcPct val="110000"/>
              </a:lnSpc>
              <a:spcAft>
                <a:spcPts val="700"/>
              </a:spcAft>
            </a:pPr>
            <a:r>
              <a:rPr sz="1200" b="0">
                <a:solidFill>
                  <a:srgbClr val="2B2A35"/>
                </a:solidFill>
                <a:latin typeface="Work Sans"/>
              </a:rPr>
              <a:t>•  Les chiffres publics ne disent pas la portée réelle.</a:t>
            </a:r>
          </a:p>
          <a:p>
            <a:pPr algn="l">
              <a:lnSpc>
                <a:spcPct val="110000"/>
              </a:lnSpc>
              <a:spcAft>
                <a:spcPts val="700"/>
              </a:spcAft>
            </a:pPr>
            <a:r>
              <a:rPr sz="1200" b="0">
                <a:solidFill>
                  <a:srgbClr val="2B2A35"/>
                </a:solidFill>
                <a:latin typeface="Work Sans"/>
              </a:rPr>
              <a:t>•  Pas de compte TikTok officiel trouvé pour PayDunya, GTBank, Paystack et PayFit ; Djamo n'y publie plus depuis fin août.</a:t>
            </a:r>
          </a:p>
          <a:p>
            <a:pPr algn="l">
              <a:lnSpc>
                <a:spcPct val="110000"/>
              </a:lnSpc>
              <a:spcAft>
                <a:spcPts val="700"/>
              </a:spcAft>
            </a:pPr>
            <a:r>
              <a:rPr sz="1200" b="0">
                <a:solidFill>
                  <a:srgbClr val="2B2A35"/>
                </a:solidFill>
                <a:latin typeface="Work Sans"/>
              </a:rPr>
              <a:t>•  TikTok signale les vidéos sponsorisées ; Facebook et Instagram ne le disent pas dans les chiffres publics.</a:t>
            </a:r>
          </a:p>
          <a:p>
            <a:pPr algn="l">
              <a:lnSpc>
                <a:spcPct val="110000"/>
              </a:lnSpc>
              <a:spcAft>
                <a:spcPts val="700"/>
              </a:spcAft>
            </a:pPr>
            <a:r>
              <a:rPr sz="1200" b="0">
                <a:solidFill>
                  <a:srgbClr val="2B2A35"/>
                </a:solidFill>
                <a:latin typeface="Work Sans"/>
              </a:rPr>
              <a:t>•  Le son des vidéos n'a pas été écouté : la voix off n'est pas mesurée.</a:t>
            </a:r>
          </a:p>
          <a:p>
            <a:pPr algn="l">
              <a:lnSpc>
                <a:spcPct val="110000"/>
              </a:lnSpc>
              <a:spcAft>
                <a:spcPts val="700"/>
              </a:spcAft>
            </a:pPr>
            <a:r>
              <a:rPr sz="1200" b="0">
                <a:solidFill>
                  <a:srgbClr val="2B2A35"/>
                </a:solidFill>
                <a:latin typeface="Work Sans"/>
              </a:rPr>
              <a:t>•  La page LinkedIn de Payfit relevée publie surtout en espagnol : elle a été retirée du calcul LinkedIn.</a:t>
            </a:r>
          </a:p>
        </p:txBody>
      </p:sp>
      <p:sp>
        <p:nvSpPr>
          <p:cNvPr id="10" name="Rectangle 9"/>
          <p:cNvSpPr/>
          <p:nvPr/>
        </p:nvSpPr>
        <p:spPr>
          <a:xfrm>
            <a:off x="6400800" y="1417320"/>
            <a:ext cx="5239512" cy="4846320"/>
          </a:xfrm>
          <a:prstGeom prst="rect">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417320"/>
            <a:ext cx="5239512" cy="73152"/>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1600200"/>
            <a:ext cx="4846320" cy="4572000"/>
          </a:xfrm>
          <a:prstGeom prst="rect">
            <a:avLst/>
          </a:prstGeom>
          <a:noFill/>
        </p:spPr>
        <p:txBody>
          <a:bodyPr wrap="square" anchor="t" lIns="45720" rIns="45720" tIns="27432" bIns="27432">
            <a:spAutoFit/>
          </a:bodyPr>
          <a:lstStyle/>
          <a:p>
            <a:pPr algn="l">
              <a:lnSpc>
                <a:spcPct val="110000"/>
              </a:lnSpc>
              <a:spcAft>
                <a:spcPts val="100"/>
              </a:spcAft>
            </a:pPr>
            <a:r>
              <a:rPr sz="1200" b="1">
                <a:solidFill>
                  <a:srgbClr val="232754"/>
                </a:solidFill>
                <a:latin typeface="Work Sans"/>
              </a:rPr>
              <a:t>Suite possible</a:t>
            </a:r>
          </a:p>
          <a:p>
            <a:pPr algn="l">
              <a:lnSpc>
                <a:spcPct val="110000"/>
              </a:lnSpc>
              <a:spcAft>
                <a:spcPts val="900"/>
              </a:spcAft>
            </a:pPr>
            <a:r>
              <a:rPr sz="1100" b="0">
                <a:solidFill>
                  <a:srgbClr val="2B2A35"/>
                </a:solidFill>
                <a:latin typeface="Work Sans"/>
              </a:rPr>
              <a:t/>
            </a:r>
          </a:p>
          <a:p>
            <a:pPr algn="l">
              <a:lnSpc>
                <a:spcPct val="110000"/>
              </a:lnSpc>
              <a:spcAft>
                <a:spcPts val="700"/>
              </a:spcAft>
            </a:pPr>
            <a:r>
              <a:rPr sz="1200" b="0">
                <a:solidFill>
                  <a:srgbClr val="2B2A35"/>
                </a:solidFill>
                <a:latin typeface="Work Sans"/>
              </a:rPr>
              <a:t>•  Écouter les meilleures vidéos pour mesurer la voix off et le sous-titrage.</a:t>
            </a:r>
          </a:p>
          <a:p>
            <a:pPr algn="l">
              <a:lnSpc>
                <a:spcPct val="110000"/>
              </a:lnSpc>
              <a:spcAft>
                <a:spcPts val="700"/>
              </a:spcAft>
            </a:pPr>
            <a:r>
              <a:rPr sz="1200" b="0">
                <a:solidFill>
                  <a:srgbClr val="2B2A35"/>
                </a:solidFill>
                <a:latin typeface="Work Sans"/>
              </a:rPr>
              <a:t>•  Faire le même relevé pour une startup Mstudio précise et la placer face à ce panel.</a:t>
            </a:r>
          </a:p>
          <a:p>
            <a:pPr algn="l">
              <a:lnSpc>
                <a:spcPct val="110000"/>
              </a:lnSpc>
              <a:spcAft>
                <a:spcPts val="700"/>
              </a:spcAft>
            </a:pPr>
            <a:r>
              <a:rPr sz="1200" b="0">
                <a:solidFill>
                  <a:srgbClr val="2B2A35"/>
                </a:solidFill>
                <a:latin typeface="Work Sans"/>
              </a:rPr>
              <a:t>•  Tirer de ce benchmark un gabarit de témoignage vidéo et un brief créateur réutilisables.</a:t>
            </a:r>
          </a:p>
          <a:p>
            <a:pPr algn="l">
              <a:lnSpc>
                <a:spcPct val="110000"/>
              </a:lnSpc>
              <a:spcAft>
                <a:spcPts val="700"/>
              </a:spcAft>
            </a:pPr>
            <a:r>
              <a:rPr sz="1200" b="0">
                <a:solidFill>
                  <a:srgbClr val="2B2A35"/>
                </a:solidFill>
                <a:latin typeface="Work Sans"/>
              </a:rPr>
              <a:t>•  Le détail des 943 publications, avec leurs liens, est dans le tableur joint.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