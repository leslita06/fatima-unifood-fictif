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0.jpg"/><Relationship Id="rId8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1 / 12</a:t>
            </a:r>
          </a:p>
        </p:txBody>
      </p:sp>
      <p:pic>
        <p:nvPicPr>
          <p:cNvPr id="6" name="Picture 5" descr="kit-equipe_boite_74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x-mark-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14400"/>
            <a:ext cx="1176833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651760"/>
            <a:ext cx="6217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ontserrat"/>
              </a:rPr>
              <a:t>LES TROIS</a:t>
            </a:r>
          </a:p>
          <a:p>
            <a:pPr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Montserrat"/>
              </a:rPr>
              <a:t>KITS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80"/>
              </a:spcAft>
            </a:pPr>
            <a:r>
              <a:rPr sz="1600" b="0">
                <a:solidFill>
                  <a:srgbClr val="DDDDDD"/>
                </a:solidFill>
                <a:latin typeface="Montserrat"/>
              </a:rPr>
              <a:t>Équipe, clients, ADICOMDAYS : ce que chacun reçoit, quand, et dans quel emballage.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828800" cy="457200"/>
          </a:xfrm>
          <a:prstGeom prst="round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30"/>
              </a:spcAft>
            </a:pPr>
            <a:r>
              <a:rPr sz="1100" b="1">
                <a:solidFill>
                  <a:srgbClr val="141414"/>
                </a:solidFill>
                <a:latin typeface="Montserrat"/>
              </a:rPr>
              <a:t>Kit équipe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5532120"/>
            <a:ext cx="1828800" cy="457200"/>
          </a:xfrm>
          <a:prstGeom prst="round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30"/>
              </a:spcAft>
            </a:pPr>
            <a:r>
              <a:rPr sz="1100" b="1">
                <a:solidFill>
                  <a:srgbClr val="141414"/>
                </a:solidFill>
                <a:latin typeface="Montserrat"/>
              </a:rPr>
              <a:t>Kit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5532120"/>
            <a:ext cx="1828800" cy="457200"/>
          </a:xfrm>
          <a:prstGeom prst="round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3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Kit ADICOMDAYS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EN UN COUP D’ŒIL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TROIS PUBLICS, TROIS KITS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83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POUR 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783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7830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EMBALLAGE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737360" cy="1051560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14630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20"/>
              </a:spcAft>
            </a:pPr>
            <a:r>
              <a:rPr sz="1400" b="1">
                <a:solidFill>
                  <a:srgbClr val="141414"/>
                </a:solidFill>
                <a:latin typeface="Montserrat"/>
              </a:rPr>
              <a:t>Kit équipe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194560"/>
            <a:ext cx="2697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Chaque membre de l’équipe, à l’arrivée et une fois par 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19456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Le premier jour, puis au séminaire annuel.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Boîte kraft à fourreau noir « Bienvenue dans la tribu ».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737360" cy="1051560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14630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20"/>
              </a:spcAft>
            </a:pPr>
            <a:r>
              <a:rPr sz="1400" b="1">
                <a:solidFill>
                  <a:srgbClr val="141414"/>
                </a:solidFill>
                <a:latin typeface="Montserrat"/>
              </a:rPr>
              <a:t>Kit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383280"/>
            <a:ext cx="2697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Les clients, à la fin d’un projet ou au lancement d’une campagne.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8328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À la livraison de la version finale, en main propre.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8328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Boîte kraft, couvercle imprimé en noir, dans le sac kraft.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1737360" cy="1051560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72000"/>
            <a:ext cx="14630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2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Kit ADICOMDAYS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572000"/>
            <a:ext cx="2697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Participants et intervenants des ADICOMDAYS.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572000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À l’accueil, avec le badge, le premier matin.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5720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Le tote à icônes sert de sac du kit.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Chaque kit contient cinq objets, une carte de bienvenue et des stickers de la collection.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3 / 12</a:t>
            </a:r>
          </a:p>
        </p:txBody>
      </p:sp>
      <p:pic>
        <p:nvPicPr>
          <p:cNvPr id="6" name="Picture 5" descr="kit-equipe_boite_85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0"/>
            <a:ext cx="585216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6792" y="0"/>
            <a:ext cx="73152" cy="6858000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B6D401"/>
                </a:solidFill>
                <a:latin typeface="Montserrat"/>
              </a:rPr>
              <a:t>LES KITS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KIT ÉQUIPE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B6D401"/>
                </a:solidFill>
                <a:latin typeface="Montserrat"/>
              </a:rPr>
              <a:t>POUR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Chaque membre de l’équipe, à l’arrivée et une fois par 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B6D401"/>
                </a:solidFill>
                <a:latin typeface="Montserrat"/>
              </a:rPr>
              <a:t>QUAND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8444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Le premier jour, puis au séminaire annuel.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B6D401"/>
                </a:solidFill>
                <a:latin typeface="Montserrat"/>
              </a:rPr>
              <a:t>EMBALLAGE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3600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Boîte kraft à fourreau noir « Bienvenue dans la tribu 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5394960" cy="2743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CCCCCC"/>
                </a:solidFill>
                <a:latin typeface="Montserrat"/>
              </a:rPr>
              <a:t>Ce kit habille l’équipe pour les tournages et les événements : on reconnaît la tribu TX de loin.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KIT ÉQUIPE ·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CINQ OBJETS ET UNE CARTE</a:t>
            </a:r>
          </a:p>
        </p:txBody>
      </p:sp>
      <p:pic>
        <p:nvPicPr>
          <p:cNvPr id="8" name="Picture 7" descr="04_tshirt-noir_on-est-ensemble_86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048256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160520"/>
            <a:ext cx="2048256" cy="54864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T-shirt noir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« On est ensemble. »</a:t>
            </a:r>
          </a:p>
        </p:txBody>
      </p:sp>
      <p:pic>
        <p:nvPicPr>
          <p:cNvPr id="12" name="Picture 11" descr="06_sweat_logo_86_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1783080"/>
            <a:ext cx="2048256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02636" y="4160520"/>
            <a:ext cx="2048256" cy="54864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2636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Sweat à capuche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Logo poitrine, sérigraphie</a:t>
            </a:r>
          </a:p>
        </p:txBody>
      </p:sp>
      <p:pic>
        <p:nvPicPr>
          <p:cNvPr id="16" name="Picture 15" descr="14_casquette_brodee_86_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1783080"/>
            <a:ext cx="2048256" cy="23774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56632" y="4160520"/>
            <a:ext cx="2048256" cy="54864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Casquette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TX brodé en vert</a:t>
            </a:r>
          </a:p>
        </p:txBody>
      </p:sp>
      <p:pic>
        <p:nvPicPr>
          <p:cNvPr id="20" name="Picture 19" descr="08_mug-noir_cafe-puis-crea_86_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1783080"/>
            <a:ext cx="2048256" cy="23774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10628" y="4160520"/>
            <a:ext cx="2048256" cy="54864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0628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Mug noir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0628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« Café, puis créa »</a:t>
            </a:r>
          </a:p>
        </p:txBody>
      </p:sp>
      <p:pic>
        <p:nvPicPr>
          <p:cNvPr id="24" name="Picture 23" descr="planche-de-stickers_86_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624" y="1783080"/>
            <a:ext cx="2048256" cy="23774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564624" y="4160520"/>
            <a:ext cx="2048256" cy="54864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Planche de stickers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12 stickers, format A5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it-equipe_carte_146_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532120"/>
            <a:ext cx="100584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553212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Plus une carte de bienvenue à leur nom, signée Totem Experience (page 10).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5 / 12</a:t>
            </a:r>
          </a:p>
        </p:txBody>
      </p:sp>
      <p:pic>
        <p:nvPicPr>
          <p:cNvPr id="6" name="Picture 5" descr="kit-client_boite_85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0"/>
            <a:ext cx="585216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6792" y="0"/>
            <a:ext cx="73152" cy="6858000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DD4549"/>
                </a:solidFill>
                <a:latin typeface="Montserrat"/>
              </a:rPr>
              <a:t>LES KITS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KIT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DD4549"/>
                </a:solidFill>
                <a:latin typeface="Montserrat"/>
              </a:rPr>
              <a:t>POUR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Les clients, à la fin d’un projet ou au lancement d’une campagne.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DD4549"/>
                </a:solidFill>
                <a:latin typeface="Montserrat"/>
              </a:rPr>
              <a:t>QUAND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8444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À la livraison de la version finale, en main propre.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DD4549"/>
                </a:solidFill>
                <a:latin typeface="Montserrat"/>
              </a:rPr>
              <a:t>EMBALLAGE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3600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Boîte kraft, couvercle imprimé en noir, dans le sac kraft.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5394960" cy="2743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CCCCCC"/>
                </a:solidFill>
                <a:latin typeface="Montserrat"/>
              </a:rPr>
              <a:t>Ce kit remercie et fait durer la relation : le carnet sert à noter la prochaine idée, le mug reste sur le bureau.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KIT CLIENT ·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CINQ OBJETS ET UNE CARTE</a:t>
            </a:r>
          </a:p>
        </p:txBody>
      </p:sp>
      <p:pic>
        <p:nvPicPr>
          <p:cNvPr id="8" name="Picture 7" descr="03_tote-porte_logo_86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048256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160520"/>
            <a:ext cx="2048256" cy="54864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Tote écru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Logo seul, sobre</a:t>
            </a:r>
          </a:p>
        </p:txBody>
      </p:sp>
      <p:pic>
        <p:nvPicPr>
          <p:cNvPr id="12" name="Picture 11" descr="09_carnet-kraft_icones_86_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1783080"/>
            <a:ext cx="2048256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02636" y="4160520"/>
            <a:ext cx="2048256" cy="54864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2636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Carnet kraft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Couverture à icônes</a:t>
            </a:r>
          </a:p>
        </p:txBody>
      </p:sp>
      <p:pic>
        <p:nvPicPr>
          <p:cNvPr id="16" name="Picture 15" descr="07_mugs-blancs_duo_86_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1783080"/>
            <a:ext cx="2048256" cy="23774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56632" y="4160520"/>
            <a:ext cx="2048256" cy="54864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Duo de mugs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Logo et slogan</a:t>
            </a:r>
          </a:p>
        </p:txBody>
      </p:sp>
      <p:pic>
        <p:nvPicPr>
          <p:cNvPr id="20" name="Picture 19" descr="12_sac-kraft_logo_86_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1783080"/>
            <a:ext cx="2048256" cy="23774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10628" y="4160520"/>
            <a:ext cx="2048256" cy="54864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0628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Sac kraft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0628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Pour remettre le kit</a:t>
            </a:r>
          </a:p>
        </p:txBody>
      </p:sp>
      <p:pic>
        <p:nvPicPr>
          <p:cNvPr id="24" name="Picture 23" descr="planche-de-stickers_86_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624" y="1783080"/>
            <a:ext cx="2048256" cy="23774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564624" y="4160520"/>
            <a:ext cx="2048256" cy="54864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Stickers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Une sélection de cinq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it-client_carte_146_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532120"/>
            <a:ext cx="100584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553212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Plus une carte de bienvenue à leur nom, signée Totem Experience (page 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BBBBBB"/>
                </a:solidFill>
                <a:latin typeface="Montserrat"/>
              </a:rPr>
              <a:t>7 / 12</a:t>
            </a:r>
          </a:p>
        </p:txBody>
      </p:sp>
      <p:pic>
        <p:nvPicPr>
          <p:cNvPr id="6" name="Picture 5" descr="10_badge-adicomdays_85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0"/>
            <a:ext cx="585216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6792" y="0"/>
            <a:ext cx="73152" cy="6858000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C9A3CA"/>
                </a:solidFill>
                <a:latin typeface="Montserrat"/>
              </a:rPr>
              <a:t>LES KITS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KIT ADICOMDAYS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C9A3CA"/>
                </a:solidFill>
                <a:latin typeface="Montserrat"/>
              </a:rPr>
              <a:t>POUR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Participants et intervenants des ADICOMDAYS.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C9A3CA"/>
                </a:solidFill>
                <a:latin typeface="Montserrat"/>
              </a:rPr>
              <a:t>QUAND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8444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À l’accueil, avec le badge, le premier matin.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C9A3CA"/>
                </a:solidFill>
                <a:latin typeface="Montserrat"/>
              </a:rPr>
              <a:t>EMBALLAGE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36008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Le tote à icônes sert de sac du kit.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5394960" cy="27432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CCCCCC"/>
                </a:solidFill>
                <a:latin typeface="Montserrat"/>
              </a:rPr>
              <a:t>Ce kit se voit dans les photos de l’événement : le badge, le tote et la gourde portent la marque dans la salle et sur les réseaux.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KIT ADICOMDAYS · CONTENU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CINQ OBJETS ET UNE CARTE</a:t>
            </a:r>
          </a:p>
        </p:txBody>
      </p:sp>
      <p:pic>
        <p:nvPicPr>
          <p:cNvPr id="8" name="Picture 7" descr="10_badge-adicomdays_86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048256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160520"/>
            <a:ext cx="2048256" cy="54864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Badge nominatif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Avec tour de cou</a:t>
            </a:r>
          </a:p>
        </p:txBody>
      </p:sp>
      <p:pic>
        <p:nvPicPr>
          <p:cNvPr id="12" name="Picture 11" descr="17_badge-epingle_86_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1783080"/>
            <a:ext cx="2048256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802636" y="4160520"/>
            <a:ext cx="2048256" cy="54864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2636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Badge épinglé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TX en 38 mm</a:t>
            </a:r>
          </a:p>
        </p:txBody>
      </p:sp>
      <p:pic>
        <p:nvPicPr>
          <p:cNvPr id="16" name="Picture 15" descr="13_gobelet_cafe_86_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1783080"/>
            <a:ext cx="2048256" cy="23774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56632" y="4160520"/>
            <a:ext cx="2048256" cy="54864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Gobelet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Pour les pauses</a:t>
            </a:r>
          </a:p>
        </p:txBody>
      </p:sp>
      <p:pic>
        <p:nvPicPr>
          <p:cNvPr id="20" name="Picture 19" descr="11_gourde_86_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1783080"/>
            <a:ext cx="2048256" cy="23774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10628" y="4160520"/>
            <a:ext cx="2048256" cy="54864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0628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Gourde inox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0628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Hydraté. Inspiré.</a:t>
            </a:r>
          </a:p>
        </p:txBody>
      </p:sp>
      <p:pic>
        <p:nvPicPr>
          <p:cNvPr id="24" name="Picture 23" descr="02_tote-blanc_tous-connectes_86_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624" y="1783080"/>
            <a:ext cx="2048256" cy="23774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564624" y="4160520"/>
            <a:ext cx="2048256" cy="54864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4343400"/>
            <a:ext cx="20482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Tote à icônes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4919472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Le sac du kit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it-adicomdays_carte_146_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532120"/>
            <a:ext cx="100584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553212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Plus une carte de bienvenue à leur nom, signée Totem Experience (page 10).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COMMUN AUX TROIS KITS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LA PLANCHE DE STICKERS</a:t>
            </a:r>
          </a:p>
        </p:txBody>
      </p:sp>
      <p:pic>
        <p:nvPicPr>
          <p:cNvPr id="8" name="Picture 7" descr="planche-de-stickers_93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20624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66360" y="1783080"/>
            <a:ext cx="91440" cy="658368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737360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048255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A5, douze stickers découpés à la forme, bordure blanche.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679191"/>
            <a:ext cx="91440" cy="658368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633472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Kit équipe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944368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La planche complète.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3575303"/>
            <a:ext cx="91440" cy="658368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529584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Kit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84048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Cinq stickers choisis : le totem, Abidjan, la tribu, Panafricain, Liké par la tribu.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4471416"/>
            <a:ext cx="91440" cy="658368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425696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Kit ADICOMDAYS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736592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La planche complète, plus « Micro ouvert » et « J’y étais 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5367528"/>
            <a:ext cx="91440" cy="65836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5321808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Les fichiers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632704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Les trente stickers sont livrés séparés, en haute définition, fond transparent.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COMMUN AUX TROIS KITS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LES CARTES DE BIENVENUE</a:t>
            </a:r>
          </a:p>
        </p:txBody>
      </p:sp>
      <p:pic>
        <p:nvPicPr>
          <p:cNvPr id="8" name="Picture 7" descr="kit-equipe_carte_149_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47472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069080"/>
            <a:ext cx="3474720" cy="54864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1">
                <a:solidFill>
                  <a:srgbClr val="141414"/>
                </a:solidFill>
                <a:latin typeface="Montserrat"/>
              </a:rPr>
              <a:t>Kit équipe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« Bienvenue dans la tribu. »</a:t>
            </a:r>
          </a:p>
        </p:txBody>
      </p:sp>
      <p:pic>
        <p:nvPicPr>
          <p:cNvPr id="12" name="Picture 11" descr="kit-client_carte_149_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737360"/>
            <a:ext cx="3474720" cy="23317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97679" y="4069080"/>
            <a:ext cx="3474720" cy="54864"/>
          </a:xfrm>
          <a:prstGeom prst="rect">
            <a:avLst/>
          </a:prstGeom>
          <a:solidFill>
            <a:srgbClr val="DD45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4251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1">
                <a:solidFill>
                  <a:srgbClr val="141414"/>
                </a:solidFill>
                <a:latin typeface="Montserrat"/>
              </a:rPr>
              <a:t>Kit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46177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« Merci d’avoir créé avec nous. »</a:t>
            </a:r>
          </a:p>
        </p:txBody>
      </p:sp>
      <p:pic>
        <p:nvPicPr>
          <p:cNvPr id="16" name="Picture 15" descr="kit-adicomdays_carte_149_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19" y="1737360"/>
            <a:ext cx="3474720" cy="23317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46719" y="4069080"/>
            <a:ext cx="3474720" cy="54864"/>
          </a:xfrm>
          <a:prstGeom prst="rect">
            <a:avLst/>
          </a:prstGeom>
          <a:solidFill>
            <a:srgbClr val="96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4251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90"/>
              </a:spcAft>
            </a:pPr>
            <a:r>
              <a:rPr sz="1300" b="1">
                <a:solidFill>
                  <a:srgbClr val="141414"/>
                </a:solidFill>
                <a:latin typeface="Montserrat"/>
              </a:rPr>
              <a:t>Kit ADICOMDAYS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46177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555555"/>
                </a:solidFill>
                <a:latin typeface="Montserrat"/>
              </a:rPr>
              <a:t>« Bienvenue aux ADICOMDAYS.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Format carte postale, recto imprimé en quadrichromie, verso libre pour un mot écrit à la main.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POUR L’IMPRIMEUR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TECHNIQUES PAR OBJET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1783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83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DÉTAIL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Textile (t-shirt, sweat)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103120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Sérigraphie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03120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Deux à trois couleurs, encre verte sur noir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88336"/>
            <a:ext cx="11064240" cy="512064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88336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Casquette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688336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Broderie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88336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Le TX seul, fil vert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73552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73552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Mugs, gobelet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273552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Sublimation ou tampographie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273552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Une face ou deux faces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58768"/>
            <a:ext cx="11064240" cy="512064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58768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Gourde inox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858768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Gravure laser ou impression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858768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Logo et « Hydraté. Inspiré. 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43983"/>
            <a:ext cx="11064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43983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Totes, sac kraft, boîtes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4443983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Sérigraphie une couleur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443983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Noir sur kraft, vert ou noir sur toile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29200"/>
            <a:ext cx="11064240" cy="512064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029200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1">
                <a:solidFill>
                  <a:srgbClr val="141414"/>
                </a:solidFill>
                <a:latin typeface="Montserrat"/>
              </a:rPr>
              <a:t>Badges, carnet, cartes, stickers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5029200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Impression numérique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029200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59"/>
              </a:spcAft>
            </a:pPr>
            <a:r>
              <a:rPr sz="1200" b="0">
                <a:solidFill>
                  <a:srgbClr val="141414"/>
                </a:solidFill>
                <a:latin typeface="Montserrat"/>
              </a:rPr>
              <a:t>Quadrichromie, découpe à la forme pour les stickers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555555"/>
                </a:solidFill>
                <a:latin typeface="Montserrat"/>
              </a:rPr>
              <a:t>Couleurs de référence : vert #B6D401, jaune #F9D400, rouge #DD4549, violet #964C97, noir #141414.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D4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-mark-l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430835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Totem Experience · Les trois kits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70"/>
              </a:spcAft>
            </a:pPr>
            <a:r>
              <a:rPr sz="900" b="0">
                <a:solidFill>
                  <a:srgbClr val="555555"/>
                </a:solidFill>
                <a:latin typeface="Montserrat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LA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000" b="1">
                <a:solidFill>
                  <a:srgbClr val="141414"/>
                </a:solidFill>
                <a:latin typeface="Montserrat"/>
              </a:rPr>
              <a:t>DU CHOIX À LA REMISE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606040" cy="2651760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</a:pPr>
            <a:r>
              <a:rPr sz="2800" b="1">
                <a:solidFill>
                  <a:srgbClr val="B6D401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5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VALIDER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6324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DDDDDD"/>
                </a:solidFill>
                <a:latin typeface="Montserrat"/>
              </a:rPr>
              <a:t>Le contenu des trois kits et les textes des cartes.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606040" cy="2651760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</a:pPr>
            <a:r>
              <a:rPr sz="2800" b="1">
                <a:solidFill>
                  <a:srgbClr val="B6D401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06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5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CHIFFRER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06324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DDDDDD"/>
                </a:solidFill>
                <a:latin typeface="Montserrat"/>
              </a:rPr>
              <a:t>Les quantités par kit, puis trois devis d’imprimeurs à Abidjan.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1783080"/>
            <a:ext cx="2606040" cy="2651760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</a:pPr>
            <a:r>
              <a:rPr sz="2800" b="1">
                <a:solidFill>
                  <a:srgbClr val="B6D401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606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5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PRODUIRE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306324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DDDDDD"/>
                </a:solidFill>
                <a:latin typeface="Montserrat"/>
              </a:rPr>
              <a:t>Les fichiers d’impression : tracés de découpe, couleurs, gabarits.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783080"/>
            <a:ext cx="2606040" cy="2651760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40"/>
              </a:spcAft>
            </a:pPr>
            <a:r>
              <a:rPr sz="2800" b="1">
                <a:solidFill>
                  <a:srgbClr val="B6D401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6060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5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REMETTRE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306324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30"/>
              </a:spcAft>
            </a:pPr>
            <a:r>
              <a:rPr sz="1100" b="0">
                <a:solidFill>
                  <a:srgbClr val="DDDDDD"/>
                </a:solidFill>
                <a:latin typeface="Montserrat"/>
              </a:rPr>
              <a:t>Les kits équipe au séminaire, les kits client en fin de projet, les kits ADICOMDAYS à l’accueil.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70"/>
              </a:spcAft>
            </a:pPr>
            <a:r>
              <a:rPr sz="900" b="0">
                <a:solidFill>
                  <a:srgbClr val="141414"/>
                </a:solidFill>
                <a:latin typeface="Montserrat"/>
              </a:rPr>
              <a:t>Photos : Pexels et Kaboompics (licence libre). Photographes : Artem Podrez, Brando.ltd, Hanna Pad, Monstera Production, Katrin Bolovtsova, PNW Production, Santiago Boada, Angela Roma, Ninety Seven Years, Picas Joe, Sóc Năng Động, Mediamodifier, Ron Lach. Icônes : Tabler Icons (licence MIT).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