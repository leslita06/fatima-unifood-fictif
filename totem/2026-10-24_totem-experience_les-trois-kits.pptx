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Relationship Id="rId7" Type="http://schemas.openxmlformats.org/officeDocument/2006/relationships/image" Target="../media/image10.jpg"/><Relationship Id="rId8" Type="http://schemas.openxmlformats.org/officeDocument/2006/relationships/image" Target="../media/image1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Relationship Id="rId6" Type="http://schemas.openxmlformats.org/officeDocument/2006/relationships/image" Target="../media/image22.jpg"/><Relationship Id="rId7" Type="http://schemas.openxmlformats.org/officeDocument/2006/relationships/image" Target="../media/image23.jpg"/><Relationship Id="rId8" Type="http://schemas.openxmlformats.org/officeDocument/2006/relationships/image" Target="../media/image2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x-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320040"/>
            <a:ext cx="430835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70"/>
              </a:spcAft>
            </a:pPr>
            <a:r>
              <a:rPr sz="900" b="0">
                <a:solidFill>
                  <a:srgbClr val="BBBBBB"/>
                </a:solidFill>
                <a:latin typeface="Montserrat"/>
              </a:rPr>
              <a:t>Totem Experience · Les trois kits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1908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270"/>
              </a:spcAft>
            </a:pPr>
            <a:r>
              <a:rPr sz="900" b="0">
                <a:solidFill>
                  <a:srgbClr val="BBBBBB"/>
                </a:solidFill>
                <a:latin typeface="Montserrat"/>
              </a:rPr>
              <a:t>1 / 12</a:t>
            </a:r>
          </a:p>
        </p:txBody>
      </p:sp>
      <p:pic>
        <p:nvPicPr>
          <p:cNvPr id="6" name="Picture 5" descr="kit-equipe_boite_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0"/>
            <a:ext cx="512064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068312" y="0"/>
            <a:ext cx="73152" cy="6858000"/>
          </a:xfrm>
          <a:prstGeom prst="rect">
            <a:avLst/>
          </a:prstGeom>
          <a:solidFill>
            <a:srgbClr val="B6D4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x-mark-l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914400"/>
            <a:ext cx="1176833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2651760"/>
            <a:ext cx="62179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Montserrat"/>
              </a:rPr>
              <a:t>LES TROIS</a:t>
            </a:r>
          </a:p>
          <a:p>
            <a:pPr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Montserrat"/>
              </a:rPr>
              <a:t>KITS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480560"/>
            <a:ext cx="6035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80"/>
              </a:spcAft>
            </a:pPr>
            <a:r>
              <a:rPr sz="1600" b="0">
                <a:solidFill>
                  <a:srgbClr val="DDDDDD"/>
                </a:solidFill>
                <a:latin typeface="Montserrat"/>
              </a:rPr>
              <a:t>Équipe, clients, ADICOMDAYS : ce que chacun reçoit, quand, et dans quel emballage.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32120"/>
            <a:ext cx="1828800" cy="457200"/>
          </a:xfrm>
          <a:prstGeom prst="roundRect">
            <a:avLst/>
          </a:prstGeom>
          <a:solidFill>
            <a:srgbClr val="B6D4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5321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30"/>
              </a:spcAft>
            </a:pPr>
            <a:r>
              <a:rPr sz="1100" b="1">
                <a:solidFill>
                  <a:srgbClr val="141414"/>
                </a:solidFill>
                <a:latin typeface="Montserrat"/>
              </a:rPr>
              <a:t>Kit équipe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5532120"/>
            <a:ext cx="1828800" cy="457200"/>
          </a:xfrm>
          <a:prstGeom prst="roundRect">
            <a:avLst/>
          </a:prstGeom>
          <a:solidFill>
            <a:srgbClr val="DD45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0" y="55321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30"/>
              </a:spcAft>
            </a:pPr>
            <a:r>
              <a:rPr sz="1100" b="1">
                <a:solidFill>
                  <a:srgbClr val="141414"/>
                </a:solidFill>
                <a:latin typeface="Montserrat"/>
              </a:rPr>
              <a:t>Kit client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5532120"/>
            <a:ext cx="1828800" cy="457200"/>
          </a:xfrm>
          <a:prstGeom prst="roundRect">
            <a:avLst/>
          </a:prstGeom>
          <a:solidFill>
            <a:srgbClr val="964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55321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30"/>
              </a:spcAft>
            </a:pPr>
            <a:r>
              <a:rPr sz="1100" b="1">
                <a:solidFill>
                  <a:srgbClr val="FFFFFF"/>
                </a:solidFill>
                <a:latin typeface="Montserrat"/>
              </a:rPr>
              <a:t>Kit ADICOMDAYS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x-mark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320040"/>
            <a:ext cx="430835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70"/>
              </a:spcAft>
            </a:pPr>
            <a:r>
              <a:rPr sz="900" b="0">
                <a:solidFill>
                  <a:srgbClr val="555555"/>
                </a:solidFill>
                <a:latin typeface="Montserrat"/>
              </a:rPr>
              <a:t>Totem Experience · Les trois kits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1908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270"/>
              </a:spcAft>
            </a:pPr>
            <a:r>
              <a:rPr sz="900" b="0">
                <a:solidFill>
                  <a:srgbClr val="555555"/>
                </a:solidFill>
                <a:latin typeface="Montserrat"/>
              </a:rPr>
              <a:t>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1">
                <a:solidFill>
                  <a:srgbClr val="555555"/>
                </a:solidFill>
                <a:latin typeface="Montserrat"/>
              </a:rPr>
              <a:t>EN UN COUP D’ŒIL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4980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141414"/>
                </a:solidFill>
                <a:latin typeface="Montserrat"/>
              </a:rPr>
              <a:t>TROIS PUBLICS, TROIS KITS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1783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1">
                <a:solidFill>
                  <a:srgbClr val="555555"/>
                </a:solidFill>
                <a:latin typeface="Montserrat"/>
              </a:rPr>
              <a:t>POUR QUI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178308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1">
                <a:solidFill>
                  <a:srgbClr val="555555"/>
                </a:solidFill>
                <a:latin typeface="Montserrat"/>
              </a:rPr>
              <a:t>QUAND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78308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1">
                <a:solidFill>
                  <a:srgbClr val="555555"/>
                </a:solidFill>
                <a:latin typeface="Montserrat"/>
              </a:rPr>
              <a:t>EMBALLAGE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1106424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E2DD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194560"/>
            <a:ext cx="1737360" cy="1188720"/>
          </a:xfrm>
          <a:prstGeom prst="rect">
            <a:avLst/>
          </a:prstGeom>
          <a:solidFill>
            <a:srgbClr val="B6D4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19456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20"/>
              </a:spcAft>
            </a:pPr>
            <a:r>
              <a:rPr sz="1400" b="1">
                <a:solidFill>
                  <a:srgbClr val="141414"/>
                </a:solidFill>
                <a:latin typeface="Montserrat"/>
              </a:rPr>
              <a:t>Kit équipe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2194560"/>
            <a:ext cx="26974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Chaque membre de l’équipe, à l’arrivée et une fois par an.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2194560"/>
            <a:ext cx="24688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Le premier jour, puis au séminaire annuel.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1945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Boîte kraft à fourreau noir « Bienvenue dans la tribu ».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20439"/>
            <a:ext cx="1106424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E2DD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520439"/>
            <a:ext cx="1737360" cy="1188720"/>
          </a:xfrm>
          <a:prstGeom prst="rect">
            <a:avLst/>
          </a:prstGeom>
          <a:solidFill>
            <a:srgbClr val="DD45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520439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20"/>
              </a:spcAft>
            </a:pPr>
            <a:r>
              <a:rPr sz="1400" b="1">
                <a:solidFill>
                  <a:srgbClr val="141414"/>
                </a:solidFill>
                <a:latin typeface="Montserrat"/>
              </a:rPr>
              <a:t>Kit client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60" y="3520439"/>
            <a:ext cx="26974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Les clients, à la fin d’un projet ou au lancement d’une campagne.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3520439"/>
            <a:ext cx="24688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À la livraison de la version finale, en main propre.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520439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Boîte kraft, couvercle imprimé en noir, dans le sac kraft.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46320"/>
            <a:ext cx="1106424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E2DD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846320"/>
            <a:ext cx="1737360" cy="1188720"/>
          </a:xfrm>
          <a:prstGeom prst="rect">
            <a:avLst/>
          </a:prstGeom>
          <a:solidFill>
            <a:srgbClr val="964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84632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20"/>
              </a:spcAft>
            </a:pPr>
            <a:r>
              <a:rPr sz="1400" b="1">
                <a:solidFill>
                  <a:srgbClr val="FFFFFF"/>
                </a:solidFill>
                <a:latin typeface="Montserrat"/>
              </a:rPr>
              <a:t>Kit ADICOMDAYS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3160" y="4846320"/>
            <a:ext cx="26974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Participants et intervenants des ADICOMDAYS.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4846320"/>
            <a:ext cx="24688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À l’accueil, avec le badge, le premier matin.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84632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Le tote « Tous connectés » sert de sac du kit.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555555"/>
                </a:solidFill>
                <a:latin typeface="Montserrat"/>
              </a:rPr>
              <a:t>Chaque kit contient cinq objets, une carte de bienvenue et des stickers de la collection.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x-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320040"/>
            <a:ext cx="430835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70"/>
              </a:spcAft>
            </a:pPr>
            <a:r>
              <a:rPr sz="900" b="0">
                <a:solidFill>
                  <a:srgbClr val="BBBBBB"/>
                </a:solidFill>
                <a:latin typeface="Montserrat"/>
              </a:rPr>
              <a:t>Totem Experience · Les trois kits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1908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270"/>
              </a:spcAft>
            </a:pPr>
            <a:r>
              <a:rPr sz="900" b="0">
                <a:solidFill>
                  <a:srgbClr val="BBBBBB"/>
                </a:solidFill>
                <a:latin typeface="Montserrat"/>
              </a:rPr>
              <a:t>3 / 12</a:t>
            </a:r>
          </a:p>
        </p:txBody>
      </p:sp>
      <p:pic>
        <p:nvPicPr>
          <p:cNvPr id="6" name="Picture 5" descr="kit-equipe_boite_8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0"/>
            <a:ext cx="585216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336792" y="0"/>
            <a:ext cx="73152" cy="6858000"/>
          </a:xfrm>
          <a:prstGeom prst="rect">
            <a:avLst/>
          </a:prstGeom>
          <a:solidFill>
            <a:srgbClr val="B6D4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1">
                <a:solidFill>
                  <a:srgbClr val="B6D401"/>
                </a:solidFill>
                <a:latin typeface="Montserrat"/>
              </a:rPr>
              <a:t>LES KITS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77724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Montserrat"/>
              </a:rPr>
              <a:t>KIT ÉQUIPE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4028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B6D401"/>
                </a:solidFill>
                <a:latin typeface="Montserrat"/>
              </a:rPr>
              <a:t>POUR QUI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32888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90"/>
              </a:spcAft>
            </a:pPr>
            <a:r>
              <a:rPr sz="1300" b="0">
                <a:solidFill>
                  <a:srgbClr val="FFFFFF"/>
                </a:solidFill>
                <a:latin typeface="Montserrat"/>
              </a:rPr>
              <a:t>Chaque membre de l’équipe, à l’arrivée et une fois par 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918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B6D401"/>
                </a:solidFill>
                <a:latin typeface="Montserrat"/>
              </a:rPr>
              <a:t>QUAND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84448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90"/>
              </a:spcAft>
            </a:pPr>
            <a:r>
              <a:rPr sz="1300" b="0">
                <a:solidFill>
                  <a:srgbClr val="FFFFFF"/>
                </a:solidFill>
                <a:latin typeface="Montserrat"/>
              </a:rPr>
              <a:t>Le premier jour, puis au séminaire annuel.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434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B6D401"/>
                </a:solidFill>
                <a:latin typeface="Montserrat"/>
              </a:rPr>
              <a:t>EMBALLAGE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36008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90"/>
              </a:spcAft>
            </a:pPr>
            <a:r>
              <a:rPr sz="1300" b="0">
                <a:solidFill>
                  <a:srgbClr val="FFFFFF"/>
                </a:solidFill>
                <a:latin typeface="Montserrat"/>
              </a:rPr>
              <a:t>Boîte kraft à fourreau noir « Bienvenue dans la tribu ».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440680"/>
            <a:ext cx="5394960" cy="27432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577840"/>
            <a:ext cx="5394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CCCCCC"/>
                </a:solidFill>
                <a:latin typeface="Montserrat"/>
              </a:rPr>
              <a:t>Ce kit habille l’équipe pour les tournages et les événements : on reconnaît la tribu TX de loin.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x-mark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320040"/>
            <a:ext cx="430835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70"/>
              </a:spcAft>
            </a:pPr>
            <a:r>
              <a:rPr sz="900" b="0">
                <a:solidFill>
                  <a:srgbClr val="555555"/>
                </a:solidFill>
                <a:latin typeface="Montserrat"/>
              </a:rPr>
              <a:t>Totem Experience · Les trois kits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1908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270"/>
              </a:spcAft>
            </a:pPr>
            <a:r>
              <a:rPr sz="900" b="0">
                <a:solidFill>
                  <a:srgbClr val="555555"/>
                </a:solidFill>
                <a:latin typeface="Montserrat"/>
              </a:rPr>
              <a:t>4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1">
                <a:solidFill>
                  <a:srgbClr val="555555"/>
                </a:solidFill>
                <a:latin typeface="Montserrat"/>
              </a:rPr>
              <a:t>KIT ÉQUIPE · CONTENU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4980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141414"/>
                </a:solidFill>
                <a:latin typeface="Montserrat"/>
              </a:rPr>
              <a:t>CINQ OBJETS ET UNE CARTE</a:t>
            </a:r>
          </a:p>
        </p:txBody>
      </p:sp>
      <p:pic>
        <p:nvPicPr>
          <p:cNvPr id="8" name="Picture 7" descr="04_tshirt-noir_on-est-ensemble_8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2048256" cy="23774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4160520"/>
            <a:ext cx="2048256" cy="54864"/>
          </a:xfrm>
          <a:prstGeom prst="rect">
            <a:avLst/>
          </a:prstGeom>
          <a:solidFill>
            <a:srgbClr val="B6D4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43400"/>
            <a:ext cx="204825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T-shirt « On est ensemble.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19472"/>
            <a:ext cx="2048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0">
                <a:solidFill>
                  <a:srgbClr val="555555"/>
                </a:solidFill>
                <a:latin typeface="Montserrat"/>
              </a:rPr>
              <a:t>Sérigraphie 2 couleurs</a:t>
            </a:r>
          </a:p>
        </p:txBody>
      </p:sp>
      <p:pic>
        <p:nvPicPr>
          <p:cNvPr id="12" name="Picture 11" descr="06_sweat_logo_8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2636" y="1783080"/>
            <a:ext cx="2048256" cy="2377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802636" y="4160520"/>
            <a:ext cx="2048256" cy="54864"/>
          </a:xfrm>
          <a:prstGeom prst="rect">
            <a:avLst/>
          </a:prstGeom>
          <a:solidFill>
            <a:srgbClr val="B6D4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2636" y="4343400"/>
            <a:ext cx="204825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Sweat à capuche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2636" y="4919472"/>
            <a:ext cx="2048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0">
                <a:solidFill>
                  <a:srgbClr val="555555"/>
                </a:solidFill>
                <a:latin typeface="Montserrat"/>
              </a:rPr>
              <a:t>Logo poitrine, sérigraphie</a:t>
            </a:r>
          </a:p>
        </p:txBody>
      </p:sp>
      <p:pic>
        <p:nvPicPr>
          <p:cNvPr id="16" name="Picture 15" descr="14_casquette_brodee_8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6632" y="1783080"/>
            <a:ext cx="2048256" cy="237744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056632" y="4160520"/>
            <a:ext cx="2048256" cy="54864"/>
          </a:xfrm>
          <a:prstGeom prst="rect">
            <a:avLst/>
          </a:prstGeom>
          <a:solidFill>
            <a:srgbClr val="B6D4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2" y="4343400"/>
            <a:ext cx="204825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Casquette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6632" y="4919472"/>
            <a:ext cx="2048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0">
                <a:solidFill>
                  <a:srgbClr val="555555"/>
                </a:solidFill>
                <a:latin typeface="Montserrat"/>
              </a:rPr>
              <a:t>TX brodé en vert</a:t>
            </a:r>
          </a:p>
        </p:txBody>
      </p:sp>
      <p:pic>
        <p:nvPicPr>
          <p:cNvPr id="20" name="Picture 19" descr="08_mug-noir_cafe-puis-crea_8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0628" y="1783080"/>
            <a:ext cx="2048256" cy="23774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310628" y="4160520"/>
            <a:ext cx="2048256" cy="54864"/>
          </a:xfrm>
          <a:prstGeom prst="rect">
            <a:avLst/>
          </a:prstGeom>
          <a:solidFill>
            <a:srgbClr val="B6D4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0628" y="4343400"/>
            <a:ext cx="204825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Mug noir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0628" y="4919472"/>
            <a:ext cx="2048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0">
                <a:solidFill>
                  <a:srgbClr val="555555"/>
                </a:solidFill>
                <a:latin typeface="Montserrat"/>
              </a:rPr>
              <a:t>« Café, puis créa »</a:t>
            </a:r>
          </a:p>
        </p:txBody>
      </p:sp>
      <p:pic>
        <p:nvPicPr>
          <p:cNvPr id="24" name="Picture 23" descr="planche-de-stickers_8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64624" y="1783080"/>
            <a:ext cx="2048256" cy="237744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9564624" y="4160520"/>
            <a:ext cx="2048256" cy="54864"/>
          </a:xfrm>
          <a:prstGeom prst="rect">
            <a:avLst/>
          </a:prstGeom>
          <a:solidFill>
            <a:srgbClr val="B6D4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4624" y="4343400"/>
            <a:ext cx="204825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Planche de stickers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4624" y="4919472"/>
            <a:ext cx="2048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0">
                <a:solidFill>
                  <a:srgbClr val="555555"/>
                </a:solidFill>
                <a:latin typeface="Montserrat"/>
              </a:rPr>
              <a:t>12 stickers, format A5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532120"/>
            <a:ext cx="11064240" cy="685800"/>
          </a:xfrm>
          <a:prstGeom prst="rect">
            <a:avLst/>
          </a:prstGeom>
          <a:solidFill>
            <a:srgbClr val="FFFFFF"/>
          </a:solidFill>
          <a:ln>
            <a:solidFill>
              <a:srgbClr val="E2DD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kit-equipe_carte_14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532120"/>
            <a:ext cx="100584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5532120"/>
            <a:ext cx="96926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Plus une carte de bienvenue à leur nom, signée Totem Experience (page 10).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x-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320040"/>
            <a:ext cx="430835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70"/>
              </a:spcAft>
            </a:pPr>
            <a:r>
              <a:rPr sz="900" b="0">
                <a:solidFill>
                  <a:srgbClr val="BBBBBB"/>
                </a:solidFill>
                <a:latin typeface="Montserrat"/>
              </a:rPr>
              <a:t>Totem Experience · Les trois kits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1908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270"/>
              </a:spcAft>
            </a:pPr>
            <a:r>
              <a:rPr sz="900" b="0">
                <a:solidFill>
                  <a:srgbClr val="BBBBBB"/>
                </a:solidFill>
                <a:latin typeface="Montserrat"/>
              </a:rPr>
              <a:t>5 / 12</a:t>
            </a:r>
          </a:p>
        </p:txBody>
      </p:sp>
      <p:pic>
        <p:nvPicPr>
          <p:cNvPr id="6" name="Picture 5" descr="kit-client_boite_8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0"/>
            <a:ext cx="585216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336792" y="0"/>
            <a:ext cx="73152" cy="6858000"/>
          </a:xfrm>
          <a:prstGeom prst="rect">
            <a:avLst/>
          </a:prstGeom>
          <a:solidFill>
            <a:srgbClr val="DD45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1">
                <a:solidFill>
                  <a:srgbClr val="DD4549"/>
                </a:solidFill>
                <a:latin typeface="Montserrat"/>
              </a:rPr>
              <a:t>LES KITS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77724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Montserrat"/>
              </a:rPr>
              <a:t>KIT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4028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DD4549"/>
                </a:solidFill>
                <a:latin typeface="Montserrat"/>
              </a:rPr>
              <a:t>POUR QUI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32888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90"/>
              </a:spcAft>
            </a:pPr>
            <a:r>
              <a:rPr sz="1300" b="0">
                <a:solidFill>
                  <a:srgbClr val="FFFFFF"/>
                </a:solidFill>
                <a:latin typeface="Montserrat"/>
              </a:rPr>
              <a:t>Les clients, à la fin d’un projet ou au lancement d’une campagne.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918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DD4549"/>
                </a:solidFill>
                <a:latin typeface="Montserrat"/>
              </a:rPr>
              <a:t>QUAND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84448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90"/>
              </a:spcAft>
            </a:pPr>
            <a:r>
              <a:rPr sz="1300" b="0">
                <a:solidFill>
                  <a:srgbClr val="FFFFFF"/>
                </a:solidFill>
                <a:latin typeface="Montserrat"/>
              </a:rPr>
              <a:t>À la livraison de la version finale, en main propre.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434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DD4549"/>
                </a:solidFill>
                <a:latin typeface="Montserrat"/>
              </a:rPr>
              <a:t>EMBALLAGE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36008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90"/>
              </a:spcAft>
            </a:pPr>
            <a:r>
              <a:rPr sz="1300" b="0">
                <a:solidFill>
                  <a:srgbClr val="FFFFFF"/>
                </a:solidFill>
                <a:latin typeface="Montserrat"/>
              </a:rPr>
              <a:t>Boîte kraft, couvercle imprimé en noir, dans le sac kraft.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440680"/>
            <a:ext cx="5394960" cy="27432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577840"/>
            <a:ext cx="5394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CCCCCC"/>
                </a:solidFill>
                <a:latin typeface="Montserrat"/>
              </a:rPr>
              <a:t>Ce kit remercie et fait durer la relation : le carnet sert à noter la prochaine idée, le mug reste sur le bureau.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x-mark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320040"/>
            <a:ext cx="430835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70"/>
              </a:spcAft>
            </a:pPr>
            <a:r>
              <a:rPr sz="900" b="0">
                <a:solidFill>
                  <a:srgbClr val="555555"/>
                </a:solidFill>
                <a:latin typeface="Montserrat"/>
              </a:rPr>
              <a:t>Totem Experience · Les trois kits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1908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270"/>
              </a:spcAft>
            </a:pPr>
            <a:r>
              <a:rPr sz="900" b="0">
                <a:solidFill>
                  <a:srgbClr val="555555"/>
                </a:solidFill>
                <a:latin typeface="Montserrat"/>
              </a:rPr>
              <a:t>6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1">
                <a:solidFill>
                  <a:srgbClr val="555555"/>
                </a:solidFill>
                <a:latin typeface="Montserrat"/>
              </a:rPr>
              <a:t>KIT CLIENT · CONTENU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4980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141414"/>
                </a:solidFill>
                <a:latin typeface="Montserrat"/>
              </a:rPr>
              <a:t>CINQ OBJETS ET UNE CARTE</a:t>
            </a:r>
          </a:p>
        </p:txBody>
      </p:sp>
      <p:pic>
        <p:nvPicPr>
          <p:cNvPr id="8" name="Picture 7" descr="03_tote-porte_logo_8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2048256" cy="23774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4160520"/>
            <a:ext cx="2048256" cy="54864"/>
          </a:xfrm>
          <a:prstGeom prst="rect">
            <a:avLst/>
          </a:prstGeom>
          <a:solidFill>
            <a:srgbClr val="DD45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43400"/>
            <a:ext cx="204825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Tote écru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19472"/>
            <a:ext cx="2048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0">
                <a:solidFill>
                  <a:srgbClr val="555555"/>
                </a:solidFill>
                <a:latin typeface="Montserrat"/>
              </a:rPr>
              <a:t>Logo seul, sobre</a:t>
            </a:r>
          </a:p>
        </p:txBody>
      </p:sp>
      <p:pic>
        <p:nvPicPr>
          <p:cNvPr id="12" name="Picture 11" descr="09_carnet-kraft_icones_8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2636" y="1783080"/>
            <a:ext cx="2048256" cy="2377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802636" y="4160520"/>
            <a:ext cx="2048256" cy="54864"/>
          </a:xfrm>
          <a:prstGeom prst="rect">
            <a:avLst/>
          </a:prstGeom>
          <a:solidFill>
            <a:srgbClr val="DD45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2636" y="4343400"/>
            <a:ext cx="204825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Carnet kraft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2636" y="4919472"/>
            <a:ext cx="2048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0">
                <a:solidFill>
                  <a:srgbClr val="555555"/>
                </a:solidFill>
                <a:latin typeface="Montserrat"/>
              </a:rPr>
              <a:t>Couverture « Tous connectés »</a:t>
            </a:r>
          </a:p>
        </p:txBody>
      </p:sp>
      <p:pic>
        <p:nvPicPr>
          <p:cNvPr id="16" name="Picture 15" descr="07_mugs-blancs_duo_8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6632" y="1783080"/>
            <a:ext cx="2048256" cy="237744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056632" y="4160520"/>
            <a:ext cx="2048256" cy="54864"/>
          </a:xfrm>
          <a:prstGeom prst="rect">
            <a:avLst/>
          </a:prstGeom>
          <a:solidFill>
            <a:srgbClr val="DD45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2" y="4343400"/>
            <a:ext cx="204825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Duo de mugs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6632" y="4919472"/>
            <a:ext cx="2048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0">
                <a:solidFill>
                  <a:srgbClr val="555555"/>
                </a:solidFill>
                <a:latin typeface="Montserrat"/>
              </a:rPr>
              <a:t>Logo et « Café, puis créa »</a:t>
            </a:r>
          </a:p>
        </p:txBody>
      </p:sp>
      <p:pic>
        <p:nvPicPr>
          <p:cNvPr id="20" name="Picture 19" descr="12_sac-kraft_logo_8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0628" y="1783080"/>
            <a:ext cx="2048256" cy="23774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310628" y="4160520"/>
            <a:ext cx="2048256" cy="54864"/>
          </a:xfrm>
          <a:prstGeom prst="rect">
            <a:avLst/>
          </a:prstGeom>
          <a:solidFill>
            <a:srgbClr val="DD45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0628" y="4343400"/>
            <a:ext cx="204825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Sac kraft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0628" y="4919472"/>
            <a:ext cx="2048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0">
                <a:solidFill>
                  <a:srgbClr val="555555"/>
                </a:solidFill>
                <a:latin typeface="Montserrat"/>
              </a:rPr>
              <a:t>Pour remettre le kit</a:t>
            </a:r>
          </a:p>
        </p:txBody>
      </p:sp>
      <p:pic>
        <p:nvPicPr>
          <p:cNvPr id="24" name="Picture 23" descr="planche-de-stickers_8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64624" y="1783080"/>
            <a:ext cx="2048256" cy="237744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9564624" y="4160520"/>
            <a:ext cx="2048256" cy="54864"/>
          </a:xfrm>
          <a:prstGeom prst="rect">
            <a:avLst/>
          </a:prstGeom>
          <a:solidFill>
            <a:srgbClr val="DD45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4624" y="4343400"/>
            <a:ext cx="204825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Stickers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4624" y="4919472"/>
            <a:ext cx="2048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0">
                <a:solidFill>
                  <a:srgbClr val="555555"/>
                </a:solidFill>
                <a:latin typeface="Montserrat"/>
              </a:rPr>
              <a:t>Une sélection de cinq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532120"/>
            <a:ext cx="11064240" cy="685800"/>
          </a:xfrm>
          <a:prstGeom prst="rect">
            <a:avLst/>
          </a:prstGeom>
          <a:solidFill>
            <a:srgbClr val="FFFFFF"/>
          </a:solidFill>
          <a:ln>
            <a:solidFill>
              <a:srgbClr val="E2DD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kit-client_carte_14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532120"/>
            <a:ext cx="100584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5532120"/>
            <a:ext cx="96926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Plus une carte de bienvenue à leur nom, signée Totem Experience (page 10).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x-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320040"/>
            <a:ext cx="430835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70"/>
              </a:spcAft>
            </a:pPr>
            <a:r>
              <a:rPr sz="900" b="0">
                <a:solidFill>
                  <a:srgbClr val="BBBBBB"/>
                </a:solidFill>
                <a:latin typeface="Montserrat"/>
              </a:rPr>
              <a:t>Totem Experience · Les trois kits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1908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270"/>
              </a:spcAft>
            </a:pPr>
            <a:r>
              <a:rPr sz="900" b="0">
                <a:solidFill>
                  <a:srgbClr val="BBBBBB"/>
                </a:solidFill>
                <a:latin typeface="Montserrat"/>
              </a:rPr>
              <a:t>7 / 12</a:t>
            </a:r>
          </a:p>
        </p:txBody>
      </p:sp>
      <p:pic>
        <p:nvPicPr>
          <p:cNvPr id="6" name="Picture 5" descr="10_badge-adicomdays_8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0"/>
            <a:ext cx="585216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336792" y="0"/>
            <a:ext cx="73152" cy="6858000"/>
          </a:xfrm>
          <a:prstGeom prst="rect">
            <a:avLst/>
          </a:prstGeom>
          <a:solidFill>
            <a:srgbClr val="964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1">
                <a:solidFill>
                  <a:srgbClr val="C9A3CA"/>
                </a:solidFill>
                <a:latin typeface="Montserrat"/>
              </a:rPr>
              <a:t>LES KITS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77724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Montserrat"/>
              </a:rPr>
              <a:t>KIT ADICOMDAYS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4028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C9A3CA"/>
                </a:solidFill>
                <a:latin typeface="Montserrat"/>
              </a:rPr>
              <a:t>POUR QUI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32888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90"/>
              </a:spcAft>
            </a:pPr>
            <a:r>
              <a:rPr sz="1300" b="0">
                <a:solidFill>
                  <a:srgbClr val="FFFFFF"/>
                </a:solidFill>
                <a:latin typeface="Montserrat"/>
              </a:rPr>
              <a:t>Participants et intervenants des ADICOMDAYS.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918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C9A3CA"/>
                </a:solidFill>
                <a:latin typeface="Montserrat"/>
              </a:rPr>
              <a:t>QUAND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84448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90"/>
              </a:spcAft>
            </a:pPr>
            <a:r>
              <a:rPr sz="1300" b="0">
                <a:solidFill>
                  <a:srgbClr val="FFFFFF"/>
                </a:solidFill>
                <a:latin typeface="Montserrat"/>
              </a:rPr>
              <a:t>À l’accueil, avec le badge, le premier matin.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434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C9A3CA"/>
                </a:solidFill>
                <a:latin typeface="Montserrat"/>
              </a:rPr>
              <a:t>EMBALLAGE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36008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90"/>
              </a:spcAft>
            </a:pPr>
            <a:r>
              <a:rPr sz="1300" b="0">
                <a:solidFill>
                  <a:srgbClr val="FFFFFF"/>
                </a:solidFill>
                <a:latin typeface="Montserrat"/>
              </a:rPr>
              <a:t>Le tote « Tous connectés » sert de sac du kit.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440680"/>
            <a:ext cx="5394960" cy="27432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577840"/>
            <a:ext cx="5394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CCCCCC"/>
                </a:solidFill>
                <a:latin typeface="Montserrat"/>
              </a:rPr>
              <a:t>Ce kit se voit dans les photos de l’événement : le badge, le tote et la gourde portent la marque dans la salle et sur les réseaux.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x-mark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320040"/>
            <a:ext cx="430835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70"/>
              </a:spcAft>
            </a:pPr>
            <a:r>
              <a:rPr sz="900" b="0">
                <a:solidFill>
                  <a:srgbClr val="555555"/>
                </a:solidFill>
                <a:latin typeface="Montserrat"/>
              </a:rPr>
              <a:t>Totem Experience · Les trois kits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1908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270"/>
              </a:spcAft>
            </a:pPr>
            <a:r>
              <a:rPr sz="900" b="0">
                <a:solidFill>
                  <a:srgbClr val="555555"/>
                </a:solidFill>
                <a:latin typeface="Montserrat"/>
              </a:rPr>
              <a:t>8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1">
                <a:solidFill>
                  <a:srgbClr val="555555"/>
                </a:solidFill>
                <a:latin typeface="Montserrat"/>
              </a:rPr>
              <a:t>KIT ADICOMDAYS · CONTENU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4980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141414"/>
                </a:solidFill>
                <a:latin typeface="Montserrat"/>
              </a:rPr>
              <a:t>CINQ OBJETS ET UNE CARTE</a:t>
            </a:r>
          </a:p>
        </p:txBody>
      </p:sp>
      <p:pic>
        <p:nvPicPr>
          <p:cNvPr id="8" name="Picture 7" descr="10_badge-adicomdays_8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2048256" cy="23774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4160520"/>
            <a:ext cx="2048256" cy="54864"/>
          </a:xfrm>
          <a:prstGeom prst="rect">
            <a:avLst/>
          </a:prstGeom>
          <a:solidFill>
            <a:srgbClr val="964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43400"/>
            <a:ext cx="204825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Badge et tour de cou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19472"/>
            <a:ext cx="2048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0">
                <a:solidFill>
                  <a:srgbClr val="555555"/>
                </a:solidFill>
                <a:latin typeface="Montserrat"/>
              </a:rPr>
              <a:t>Nom, rôle, filet 4 couleurs</a:t>
            </a:r>
          </a:p>
        </p:txBody>
      </p:sp>
      <p:pic>
        <p:nvPicPr>
          <p:cNvPr id="12" name="Picture 11" descr="17_badge-epingle_8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2636" y="1783080"/>
            <a:ext cx="2048256" cy="2377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802636" y="4160520"/>
            <a:ext cx="2048256" cy="54864"/>
          </a:xfrm>
          <a:prstGeom prst="rect">
            <a:avLst/>
          </a:prstGeom>
          <a:solidFill>
            <a:srgbClr val="964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2636" y="4343400"/>
            <a:ext cx="204825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Badge épinglé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2636" y="4919472"/>
            <a:ext cx="2048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0">
                <a:solidFill>
                  <a:srgbClr val="555555"/>
                </a:solidFill>
                <a:latin typeface="Montserrat"/>
              </a:rPr>
              <a:t>TX en 38 mm</a:t>
            </a:r>
          </a:p>
        </p:txBody>
      </p:sp>
      <p:pic>
        <p:nvPicPr>
          <p:cNvPr id="16" name="Picture 15" descr="13_gobelet_cafe_8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6632" y="1783080"/>
            <a:ext cx="2048256" cy="237744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056632" y="4160520"/>
            <a:ext cx="2048256" cy="54864"/>
          </a:xfrm>
          <a:prstGeom prst="rect">
            <a:avLst/>
          </a:prstGeom>
          <a:solidFill>
            <a:srgbClr val="964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2" y="4343400"/>
            <a:ext cx="204825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Gobelet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6632" y="4919472"/>
            <a:ext cx="2048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0">
                <a:solidFill>
                  <a:srgbClr val="555555"/>
                </a:solidFill>
                <a:latin typeface="Montserrat"/>
              </a:rPr>
              <a:t>Pour les pauses</a:t>
            </a:r>
          </a:p>
        </p:txBody>
      </p:sp>
      <p:pic>
        <p:nvPicPr>
          <p:cNvPr id="20" name="Picture 19" descr="11_gourde_8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0628" y="1783080"/>
            <a:ext cx="2048256" cy="23774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310628" y="4160520"/>
            <a:ext cx="2048256" cy="54864"/>
          </a:xfrm>
          <a:prstGeom prst="rect">
            <a:avLst/>
          </a:prstGeom>
          <a:solidFill>
            <a:srgbClr val="964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0628" y="4343400"/>
            <a:ext cx="204825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Gourde inox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0628" y="4919472"/>
            <a:ext cx="2048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0">
                <a:solidFill>
                  <a:srgbClr val="555555"/>
                </a:solidFill>
                <a:latin typeface="Montserrat"/>
              </a:rPr>
              <a:t>« Hydraté. Inspiré. »</a:t>
            </a:r>
          </a:p>
        </p:txBody>
      </p:sp>
      <p:pic>
        <p:nvPicPr>
          <p:cNvPr id="24" name="Picture 23" descr="02_tote-blanc_tous-connectes_8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64624" y="1783080"/>
            <a:ext cx="2048256" cy="237744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9564624" y="4160520"/>
            <a:ext cx="2048256" cy="54864"/>
          </a:xfrm>
          <a:prstGeom prst="rect">
            <a:avLst/>
          </a:prstGeom>
          <a:solidFill>
            <a:srgbClr val="964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4624" y="4343400"/>
            <a:ext cx="204825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Tote « Tous connectés 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4624" y="4919472"/>
            <a:ext cx="2048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0">
                <a:solidFill>
                  <a:srgbClr val="555555"/>
                </a:solidFill>
                <a:latin typeface="Montserrat"/>
              </a:rPr>
              <a:t>Le sac du kit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532120"/>
            <a:ext cx="11064240" cy="685800"/>
          </a:xfrm>
          <a:prstGeom prst="rect">
            <a:avLst/>
          </a:prstGeom>
          <a:solidFill>
            <a:srgbClr val="FFFFFF"/>
          </a:solidFill>
          <a:ln>
            <a:solidFill>
              <a:srgbClr val="E2DD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kit-adicomdays_carte_14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532120"/>
            <a:ext cx="100584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5532120"/>
            <a:ext cx="96926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Plus une carte de bienvenue à leur nom, signée Totem Experience (page 10).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x-mark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320040"/>
            <a:ext cx="430835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70"/>
              </a:spcAft>
            </a:pPr>
            <a:r>
              <a:rPr sz="900" b="0">
                <a:solidFill>
                  <a:srgbClr val="555555"/>
                </a:solidFill>
                <a:latin typeface="Montserrat"/>
              </a:rPr>
              <a:t>Totem Experience · Les trois kits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1908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270"/>
              </a:spcAft>
            </a:pPr>
            <a:r>
              <a:rPr sz="900" b="0">
                <a:solidFill>
                  <a:srgbClr val="555555"/>
                </a:solidFill>
                <a:latin typeface="Montserrat"/>
              </a:rPr>
              <a:t>9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1">
                <a:solidFill>
                  <a:srgbClr val="555555"/>
                </a:solidFill>
                <a:latin typeface="Montserrat"/>
              </a:rPr>
              <a:t>COMMUN AUX TROIS KITS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4980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141414"/>
                </a:solidFill>
                <a:latin typeface="Montserrat"/>
              </a:rPr>
              <a:t>LA PLANCHE DE STICKERS</a:t>
            </a:r>
          </a:p>
        </p:txBody>
      </p:sp>
      <p:pic>
        <p:nvPicPr>
          <p:cNvPr id="8" name="Picture 7" descr="planche-de-stickers_9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4206240" cy="44805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166360" y="1783080"/>
            <a:ext cx="91440" cy="658368"/>
          </a:xfrm>
          <a:prstGeom prst="rect">
            <a:avLst/>
          </a:prstGeom>
          <a:solidFill>
            <a:srgbClr val="B6D4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40680" y="1737360"/>
            <a:ext cx="6126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2048255"/>
            <a:ext cx="6126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555555"/>
                </a:solidFill>
                <a:latin typeface="Montserrat"/>
              </a:rPr>
              <a:t>A5, douze stickers découpés à la forme, bordure blanche.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66360" y="2679191"/>
            <a:ext cx="91440" cy="658368"/>
          </a:xfrm>
          <a:prstGeom prst="rect">
            <a:avLst/>
          </a:prstGeom>
          <a:solidFill>
            <a:srgbClr val="B6D4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633472"/>
            <a:ext cx="6126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Kit équipe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2944368"/>
            <a:ext cx="6126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555555"/>
                </a:solidFill>
                <a:latin typeface="Montserrat"/>
              </a:rPr>
              <a:t>La planche complète.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66360" y="3575303"/>
            <a:ext cx="91440" cy="658368"/>
          </a:xfrm>
          <a:prstGeom prst="rect">
            <a:avLst/>
          </a:prstGeom>
          <a:solidFill>
            <a:srgbClr val="DD45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40680" y="3529584"/>
            <a:ext cx="6126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Kit client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3840480"/>
            <a:ext cx="6126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555555"/>
                </a:solidFill>
                <a:latin typeface="Montserrat"/>
              </a:rPr>
              <a:t>Cinq stickers choisis : le totem, Abidjan, la tribu, Panafricain, Liké par la tribu.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66360" y="4471416"/>
            <a:ext cx="91440" cy="658368"/>
          </a:xfrm>
          <a:prstGeom prst="rect">
            <a:avLst/>
          </a:prstGeom>
          <a:solidFill>
            <a:srgbClr val="964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4425696"/>
            <a:ext cx="6126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Kit ADICOMDAYS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4736592"/>
            <a:ext cx="6126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555555"/>
                </a:solidFill>
                <a:latin typeface="Montserrat"/>
              </a:rPr>
              <a:t>La planche complète, plus « Micro ouvert » et « J’y étais ».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66360" y="5367528"/>
            <a:ext cx="91440" cy="65836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5321808"/>
            <a:ext cx="6126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Les fichiers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5632704"/>
            <a:ext cx="6126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555555"/>
                </a:solidFill>
                <a:latin typeface="Montserrat"/>
              </a:rPr>
              <a:t>Les trente stickers sont livrés séparés, en haute définition, fond transparent.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x-mark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320040"/>
            <a:ext cx="430835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70"/>
              </a:spcAft>
            </a:pPr>
            <a:r>
              <a:rPr sz="900" b="0">
                <a:solidFill>
                  <a:srgbClr val="555555"/>
                </a:solidFill>
                <a:latin typeface="Montserrat"/>
              </a:rPr>
              <a:t>Totem Experience · Les trois kits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1908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270"/>
              </a:spcAft>
            </a:pPr>
            <a:r>
              <a:rPr sz="900" b="0">
                <a:solidFill>
                  <a:srgbClr val="555555"/>
                </a:solidFill>
                <a:latin typeface="Montserrat"/>
              </a:rPr>
              <a:t>10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1">
                <a:solidFill>
                  <a:srgbClr val="555555"/>
                </a:solidFill>
                <a:latin typeface="Montserrat"/>
              </a:rPr>
              <a:t>COMMUN AUX TROIS KITS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4980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141414"/>
                </a:solidFill>
                <a:latin typeface="Montserrat"/>
              </a:rPr>
              <a:t>LES CARTES DE BIENVENUE</a:t>
            </a:r>
          </a:p>
        </p:txBody>
      </p:sp>
      <p:pic>
        <p:nvPicPr>
          <p:cNvPr id="8" name="Picture 7" descr="kit-equipe_carte_14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37360"/>
            <a:ext cx="3474720" cy="2331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4069080"/>
            <a:ext cx="3474720" cy="54864"/>
          </a:xfrm>
          <a:prstGeom prst="rect">
            <a:avLst/>
          </a:prstGeom>
          <a:solidFill>
            <a:srgbClr val="B6D4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25196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90"/>
              </a:spcAft>
            </a:pPr>
            <a:r>
              <a:rPr sz="1300" b="1">
                <a:solidFill>
                  <a:srgbClr val="141414"/>
                </a:solidFill>
                <a:latin typeface="Montserrat"/>
              </a:rPr>
              <a:t>Kit équipe</a:t>
            </a:r>
          </a:p>
        </p:txBody>
      </p:sp>
      <p:pic>
        <p:nvPicPr>
          <p:cNvPr id="11" name="Picture 10" descr="kit-client_carte_14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9" y="1737360"/>
            <a:ext cx="3474720" cy="23317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297679" y="4069080"/>
            <a:ext cx="3474720" cy="54864"/>
          </a:xfrm>
          <a:prstGeom prst="rect">
            <a:avLst/>
          </a:prstGeom>
          <a:solidFill>
            <a:srgbClr val="DD45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9" y="425196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90"/>
              </a:spcAft>
            </a:pPr>
            <a:r>
              <a:rPr sz="1300" b="1">
                <a:solidFill>
                  <a:srgbClr val="141414"/>
                </a:solidFill>
                <a:latin typeface="Montserrat"/>
              </a:rPr>
              <a:t>Kit client</a:t>
            </a:r>
          </a:p>
        </p:txBody>
      </p:sp>
      <p:pic>
        <p:nvPicPr>
          <p:cNvPr id="14" name="Picture 13" descr="kit-adicomdays_carte_14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19" y="1737360"/>
            <a:ext cx="3474720" cy="233172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8046719" y="4069080"/>
            <a:ext cx="3474720" cy="54864"/>
          </a:xfrm>
          <a:prstGeom prst="rect">
            <a:avLst/>
          </a:prstGeom>
          <a:solidFill>
            <a:srgbClr val="964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9" y="425196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90"/>
              </a:spcAft>
            </a:pPr>
            <a:r>
              <a:rPr sz="1300" b="1">
                <a:solidFill>
                  <a:srgbClr val="141414"/>
                </a:solidFill>
                <a:latin typeface="Montserrat"/>
              </a:rPr>
              <a:t>Kit ADICOMDAYS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46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Les textes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555555"/>
                </a:solidFill>
                <a:latin typeface="Montserrat"/>
              </a:rPr>
              <a:t>Équipe : « Bienvenue dans la tribu. »  ·  Client : « Merci d’avoir créé avec nous. »  ·  ADICOMDAYS : « Bienvenue aux ADICOMDAYS. »</a:t>
            </a:r>
          </a:p>
          <a:p>
            <a:pPr>
              <a:spcAft>
                <a:spcPts val="359"/>
              </a:spcAft>
            </a:pPr>
            <a:r>
              <a:rPr sz="1200" b="0">
                <a:solidFill>
                  <a:srgbClr val="555555"/>
                </a:solidFill>
                <a:latin typeface="Montserrat"/>
              </a:rPr>
              <a:t>Format carte postale, recto imprimé en quadrichromie, verso libre pour un mot écrit à la main.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x-mark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320040"/>
            <a:ext cx="430835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70"/>
              </a:spcAft>
            </a:pPr>
            <a:r>
              <a:rPr sz="900" b="0">
                <a:solidFill>
                  <a:srgbClr val="555555"/>
                </a:solidFill>
                <a:latin typeface="Montserrat"/>
              </a:rPr>
              <a:t>Totem Experience · Les trois kits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1908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270"/>
              </a:spcAft>
            </a:pPr>
            <a:r>
              <a:rPr sz="900" b="0">
                <a:solidFill>
                  <a:srgbClr val="555555"/>
                </a:solidFill>
                <a:latin typeface="Montserrat"/>
              </a:rPr>
              <a:t>11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1">
                <a:solidFill>
                  <a:srgbClr val="555555"/>
                </a:solidFill>
                <a:latin typeface="Montserrat"/>
              </a:rPr>
              <a:t>POUR L’IMPRIMEUR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4980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141414"/>
                </a:solidFill>
                <a:latin typeface="Montserrat"/>
              </a:rPr>
              <a:t>TECHNIQUES PAR OBJET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1">
                <a:solidFill>
                  <a:srgbClr val="555555"/>
                </a:solidFill>
                <a:latin typeface="Montserrat"/>
              </a:rPr>
              <a:t>OBJET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40" y="17830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1">
                <a:solidFill>
                  <a:srgbClr val="555555"/>
                </a:solidFill>
                <a:latin typeface="Montserrat"/>
              </a:rPr>
              <a:t>TECHNIQUE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17830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1">
                <a:solidFill>
                  <a:srgbClr val="555555"/>
                </a:solidFill>
                <a:latin typeface="Montserrat"/>
              </a:rPr>
              <a:t>DÉTAIL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110642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14884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Textile (t-shirt, sweat)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40" y="214884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Sérigraphie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214884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Deux à trois couleurs, encre verte sur noir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70632"/>
            <a:ext cx="11064240" cy="548640"/>
          </a:xfrm>
          <a:prstGeom prst="rect">
            <a:avLst/>
          </a:prstGeom>
          <a:solidFill>
            <a:srgbClr val="EF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77063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Casquette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40" y="277063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Broderie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2770632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Le TX seul, fil vert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392424"/>
            <a:ext cx="110642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392424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Mugs, gobelet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92424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Sublimation ou tampographie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3392424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Une face ou deux faces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014216"/>
            <a:ext cx="11064240" cy="548640"/>
          </a:xfrm>
          <a:prstGeom prst="rect">
            <a:avLst/>
          </a:prstGeom>
          <a:solidFill>
            <a:srgbClr val="EF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014216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Gourde inox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4014216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Gravure laser ou impression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4014216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Logo et « Hydraté. Inspiré. 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636008"/>
            <a:ext cx="110642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63600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Totes, sac kraft, boîtes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463600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Sérigraphie une couleur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4636008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Noir sur kraft, vert ou noir sur toile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solidFill>
            <a:srgbClr val="EF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25780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1">
                <a:solidFill>
                  <a:srgbClr val="141414"/>
                </a:solidFill>
                <a:latin typeface="Montserrat"/>
              </a:rPr>
              <a:t>Badges, carnet, cartes, stickers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40" y="525780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Impression numérique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525780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59"/>
              </a:spcAft>
            </a:pPr>
            <a:r>
              <a:rPr sz="1200" b="0">
                <a:solidFill>
                  <a:srgbClr val="141414"/>
                </a:solidFill>
                <a:latin typeface="Montserrat"/>
              </a:rPr>
              <a:t>Quadrichromie, découpe à la forme pour les stickers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0">
                <a:solidFill>
                  <a:srgbClr val="555555"/>
                </a:solidFill>
                <a:latin typeface="Montserrat"/>
              </a:rPr>
              <a:t>Couleurs de référence : vert #B6D401, jaune #F9D400, rouge #DD4549, violet #964C97, noir #141414.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6D4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x-mark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320040"/>
            <a:ext cx="430835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70"/>
              </a:spcAft>
            </a:pPr>
            <a:r>
              <a:rPr sz="900" b="0">
                <a:solidFill>
                  <a:srgbClr val="555555"/>
                </a:solidFill>
                <a:latin typeface="Montserrat"/>
              </a:rPr>
              <a:t>Totem Experience · Les trois kits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1908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270"/>
              </a:spcAft>
            </a:pPr>
            <a:r>
              <a:rPr sz="900" b="0">
                <a:solidFill>
                  <a:srgbClr val="555555"/>
                </a:solidFill>
                <a:latin typeface="Montserrat"/>
              </a:rPr>
              <a:t>12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1">
                <a:solidFill>
                  <a:srgbClr val="555555"/>
                </a:solidFill>
                <a:latin typeface="Montserrat"/>
              </a:rPr>
              <a:t>LA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4980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141414"/>
                </a:solidFill>
                <a:latin typeface="Montserrat"/>
              </a:rPr>
              <a:t>DU CHOIX À LA REMISE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2606040" cy="2651760"/>
          </a:xfrm>
          <a:prstGeom prst="round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9659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40"/>
              </a:spcAft>
            </a:pPr>
            <a:r>
              <a:rPr sz="2800" b="1">
                <a:solidFill>
                  <a:srgbClr val="B6D401"/>
                </a:solidFill>
                <a:latin typeface="Montserra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060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50"/>
              </a:spcAft>
            </a:pPr>
            <a:r>
              <a:rPr sz="1500" b="1">
                <a:solidFill>
                  <a:srgbClr val="FFFFFF"/>
                </a:solidFill>
                <a:latin typeface="Montserrat"/>
              </a:rPr>
              <a:t>VALIDER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06324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0">
                <a:solidFill>
                  <a:srgbClr val="DDDDDD"/>
                </a:solidFill>
                <a:latin typeface="Montserrat"/>
              </a:rPr>
              <a:t>Le contenu des trois kits et les textes des cartes.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783080"/>
            <a:ext cx="2606040" cy="2651760"/>
          </a:xfrm>
          <a:prstGeom prst="round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19659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40"/>
              </a:spcAft>
            </a:pPr>
            <a:r>
              <a:rPr sz="2800" b="1">
                <a:solidFill>
                  <a:srgbClr val="B6D401"/>
                </a:solidFill>
                <a:latin typeface="Montserra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6060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50"/>
              </a:spcAft>
            </a:pPr>
            <a:r>
              <a:rPr sz="1500" b="1">
                <a:solidFill>
                  <a:srgbClr val="FFFFFF"/>
                </a:solidFill>
                <a:latin typeface="Montserrat"/>
              </a:rPr>
              <a:t>CHIFFRER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0168" y="306324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0">
                <a:solidFill>
                  <a:srgbClr val="DDDDDD"/>
                </a:solidFill>
                <a:latin typeface="Montserrat"/>
              </a:rPr>
              <a:t>Les quantités par kit, puis trois devis d’imprimeurs à Abidjan.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1783080"/>
            <a:ext cx="2606040" cy="2651760"/>
          </a:xfrm>
          <a:prstGeom prst="round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5" y="19659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40"/>
              </a:spcAft>
            </a:pPr>
            <a:r>
              <a:rPr sz="2800" b="1">
                <a:solidFill>
                  <a:srgbClr val="B6D401"/>
                </a:solidFill>
                <a:latin typeface="Montserra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5" y="26060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50"/>
              </a:spcAft>
            </a:pPr>
            <a:r>
              <a:rPr sz="1500" b="1">
                <a:solidFill>
                  <a:srgbClr val="FFFFFF"/>
                </a:solidFill>
                <a:latin typeface="Montserrat"/>
              </a:rPr>
              <a:t>PRODUIRE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5" y="306324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0">
                <a:solidFill>
                  <a:srgbClr val="DDDDDD"/>
                </a:solidFill>
                <a:latin typeface="Montserrat"/>
              </a:rPr>
              <a:t>Les fichiers d’impression : tracés de découpe, couleurs, gabarits.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1783080"/>
            <a:ext cx="2606040" cy="2651760"/>
          </a:xfrm>
          <a:prstGeom prst="round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4584" y="19659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40"/>
              </a:spcAft>
            </a:pPr>
            <a:r>
              <a:rPr sz="2800" b="1">
                <a:solidFill>
                  <a:srgbClr val="B6D401"/>
                </a:solidFill>
                <a:latin typeface="Montserrat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44584" y="26060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50"/>
              </a:spcAft>
            </a:pPr>
            <a:r>
              <a:rPr sz="1500" b="1">
                <a:solidFill>
                  <a:srgbClr val="FFFFFF"/>
                </a:solidFill>
                <a:latin typeface="Montserrat"/>
              </a:rPr>
              <a:t>REMETTRE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4584" y="306324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30"/>
              </a:spcAft>
            </a:pPr>
            <a:r>
              <a:rPr sz="1100" b="0">
                <a:solidFill>
                  <a:srgbClr val="DDDDDD"/>
                </a:solidFill>
                <a:latin typeface="Montserrat"/>
              </a:rPr>
              <a:t>Les kits équipe au séminaire, les kits client en fin de projet, les kits ADICOMDAYS à l’accueil.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70"/>
              </a:spcAft>
            </a:pPr>
            <a:r>
              <a:rPr sz="900" b="0">
                <a:solidFill>
                  <a:srgbClr val="141414"/>
                </a:solidFill>
                <a:latin typeface="Montserrat"/>
              </a:rPr>
              <a:t>Photos : Pexels et Kaboompics (licence libre). Photographes : Artem Podrez, Brando.ltd, Hanna Pad, Monstera Production, Katrin Bolovtsova, PNW Production, Santiago Boada, Angela Roma, Ninety Seven Years, Picas Joe, Sóc Năng Động, Mediamodifier, Ron Lach. Icônes : Tabler Icons (licence MIT).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