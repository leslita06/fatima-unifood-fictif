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 Id="rId15" Type="http://schemas.openxmlformats.org/officeDocument/2006/relationships/image" Target="../media/image16.png"/><Relationship Id="rId16"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7.png"/><Relationship Id="rId13" Type="http://schemas.openxmlformats.org/officeDocument/2006/relationships/image" Target="../media/image28.png"/><Relationship Id="rId14" Type="http://schemas.openxmlformats.org/officeDocument/2006/relationships/image" Target="../media/image29.png"/><Relationship Id="rId15" Type="http://schemas.openxmlformats.org/officeDocument/2006/relationships/image" Target="../media/image30.png"/><Relationship Id="rId16" Type="http://schemas.openxmlformats.org/officeDocument/2006/relationships/image" Target="../media/image31.png"/><Relationship Id="rId17" Type="http://schemas.openxmlformats.org/officeDocument/2006/relationships/image" Target="../media/image32.png"/><Relationship Id="rId18"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3.png"/><Relationship Id="rId6"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jpg"/><Relationship Id="rId4" Type="http://schemas.openxmlformats.org/officeDocument/2006/relationships/image" Target="../media/image35.jpg"/><Relationship Id="rId5" Type="http://schemas.openxmlformats.org/officeDocument/2006/relationships/image" Target="../media/image36.jpg"/><Relationship Id="rId6" Type="http://schemas.openxmlformats.org/officeDocument/2006/relationships/image" Target="../media/image37.jpg"/><Relationship Id="rId7" Type="http://schemas.openxmlformats.org/officeDocument/2006/relationships/image" Target="../media/image38.jpg"/><Relationship Id="rId8" Type="http://schemas.openxmlformats.org/officeDocument/2006/relationships/image" Target="../media/image39.jpg"/><Relationship Id="rId9" Type="http://schemas.openxmlformats.org/officeDocument/2006/relationships/image" Target="../media/image40.jpg"/><Relationship Id="rId10" Type="http://schemas.openxmlformats.org/officeDocument/2006/relationships/image" Target="../media/image41.jpg"/><Relationship Id="rId11" Type="http://schemas.openxmlformats.org/officeDocument/2006/relationships/image" Target="../media/image42.jpg"/><Relationship Id="rId12" Type="http://schemas.openxmlformats.org/officeDocument/2006/relationships/image" Target="../media/image43.jpg"/><Relationship Id="rId13" Type="http://schemas.openxmlformats.org/officeDocument/2006/relationships/image" Target="../media/image44.jpg"/><Relationship Id="rId14" Type="http://schemas.openxmlformats.org/officeDocument/2006/relationships/image" Target="../media/image45.jpg"/><Relationship Id="rId15" Type="http://schemas.openxmlformats.org/officeDocument/2006/relationships/image" Target="../media/image46.jpg"/><Relationship Id="rId16" Type="http://schemas.openxmlformats.org/officeDocument/2006/relationships/image" Target="../media/image47.jpg"/><Relationship Id="rId17" Type="http://schemas.openxmlformats.org/officeDocument/2006/relationships/image" Target="../media/image48.jpg"/><Relationship Id="rId18" Type="http://schemas.openxmlformats.org/officeDocument/2006/relationships/image" Target="../media/image49.jpg"/><Relationship Id="rId19" Type="http://schemas.openxmlformats.org/officeDocument/2006/relationships/image" Target="../media/image5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1.jpg"/><Relationship Id="rId4" Type="http://schemas.openxmlformats.org/officeDocument/2006/relationships/image" Target="../media/image52.jpg"/><Relationship Id="rId5" Type="http://schemas.openxmlformats.org/officeDocument/2006/relationships/image" Target="../media/image53.jpg"/><Relationship Id="rId6" Type="http://schemas.openxmlformats.org/officeDocument/2006/relationships/image" Target="../media/image5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5.jpg"/><Relationship Id="rId4" Type="http://schemas.openxmlformats.org/officeDocument/2006/relationships/image" Target="../media/image56.jpg"/><Relationship Id="rId5" Type="http://schemas.openxmlformats.org/officeDocument/2006/relationships/image" Target="../media/image57.jpg"/><Relationship Id="rId6" Type="http://schemas.openxmlformats.org/officeDocument/2006/relationships/image" Target="../media/image5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9.jpg"/><Relationship Id="rId4" Type="http://schemas.openxmlformats.org/officeDocument/2006/relationships/image" Target="../media/image60.jpg"/><Relationship Id="rId5" Type="http://schemas.openxmlformats.org/officeDocument/2006/relationships/image" Target="../media/image61.jpg"/><Relationship Id="rId6" Type="http://schemas.openxmlformats.org/officeDocument/2006/relationships/image" Target="../media/image6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6.jpg"/><Relationship Id="rId4" Type="http://schemas.openxmlformats.org/officeDocument/2006/relationships/image" Target="../media/image6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whit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FFFFFF"/>
                </a:solidFill>
                <a:latin typeface="Montserrat"/>
              </a:rPr>
              <a:t>1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FFFFFF"/>
                </a:solidFill>
                <a:latin typeface="Montserrat"/>
              </a:rPr>
              <a:t>Totem Experience · Stickers et goodies</a:t>
            </a:r>
          </a:p>
        </p:txBody>
      </p:sp>
      <p:pic>
        <p:nvPicPr>
          <p:cNvPr id="6" name="Picture 5" descr="tx-mark-lime.png"/>
          <p:cNvPicPr>
            <a:picLocks noChangeAspect="1"/>
          </p:cNvPicPr>
          <p:nvPr/>
        </p:nvPicPr>
        <p:blipFill>
          <a:blip r:embed="rId3"/>
          <a:stretch>
            <a:fillRect/>
          </a:stretch>
        </p:blipFill>
        <p:spPr>
          <a:xfrm>
            <a:off x="548640" y="914400"/>
            <a:ext cx="1725810" cy="2011680"/>
          </a:xfrm>
          <a:prstGeom prst="rect">
            <a:avLst/>
          </a:prstGeom>
        </p:spPr>
      </p:pic>
      <p:sp>
        <p:nvSpPr>
          <p:cNvPr id="7" name="TextBox 6"/>
          <p:cNvSpPr txBox="1"/>
          <p:nvPr/>
        </p:nvSpPr>
        <p:spPr>
          <a:xfrm>
            <a:off x="548640" y="3200400"/>
            <a:ext cx="6858000" cy="1463040"/>
          </a:xfrm>
          <a:prstGeom prst="rect">
            <a:avLst/>
          </a:prstGeom>
          <a:noFill/>
        </p:spPr>
        <p:txBody>
          <a:bodyPr wrap="square">
            <a:spAutoFit/>
          </a:bodyPr>
          <a:lstStyle/>
          <a:p>
            <a:pPr>
              <a:spcAft>
                <a:spcPts val="1889"/>
              </a:spcAft>
            </a:pPr>
            <a:r>
              <a:rPr sz="5400" b="1">
                <a:solidFill>
                  <a:srgbClr val="FFFFFF"/>
                </a:solidFill>
                <a:latin typeface="Montserrat"/>
              </a:rPr>
              <a:t>STICKERS</a:t>
            </a:r>
          </a:p>
          <a:p>
            <a:pPr>
              <a:spcAft>
                <a:spcPts val="1889"/>
              </a:spcAft>
            </a:pPr>
            <a:r>
              <a:rPr sz="5400" b="1">
                <a:solidFill>
                  <a:srgbClr val="FFFFFF"/>
                </a:solidFill>
                <a:latin typeface="Montserrat"/>
              </a:rPr>
              <a:t>ET GOODIES</a:t>
            </a:r>
          </a:p>
        </p:txBody>
      </p:sp>
      <p:sp>
        <p:nvSpPr>
          <p:cNvPr id="8" name="TextBox 7"/>
          <p:cNvSpPr txBox="1"/>
          <p:nvPr/>
        </p:nvSpPr>
        <p:spPr>
          <a:xfrm>
            <a:off x="548640" y="4937760"/>
            <a:ext cx="6400800" cy="822960"/>
          </a:xfrm>
          <a:prstGeom prst="rect">
            <a:avLst/>
          </a:prstGeom>
          <a:noFill/>
        </p:spPr>
        <p:txBody>
          <a:bodyPr wrap="square">
            <a:spAutoFit/>
          </a:bodyPr>
          <a:lstStyle/>
          <a:p>
            <a:pPr>
              <a:spcAft>
                <a:spcPts val="560"/>
              </a:spcAft>
            </a:pPr>
            <a:r>
              <a:rPr sz="1600" b="0">
                <a:solidFill>
                  <a:srgbClr val="D9D9D9"/>
                </a:solidFill>
                <a:latin typeface="Montserrat"/>
              </a:rPr>
              <a:t>Une collection pour la tribu TX : l’agence, la Factory, les ADICOMDAYS.</a:t>
            </a:r>
          </a:p>
          <a:p>
            <a:pPr>
              <a:spcAft>
                <a:spcPts val="560"/>
              </a:spcAft>
            </a:pPr>
            <a:r>
              <a:rPr sz="1600" b="0">
                <a:solidFill>
                  <a:srgbClr val="D9D9D9"/>
                </a:solidFill>
                <a:latin typeface="Montserrat"/>
              </a:rPr>
              <a:t>Abidjan, octobre 2026</a:t>
            </a:r>
          </a:p>
        </p:txBody>
      </p:sp>
      <p:pic>
        <p:nvPicPr>
          <p:cNvPr id="9" name="Picture 8" descr="01_tote-noir_la-tribu.jpg"/>
          <p:cNvPicPr>
            <a:picLocks noChangeAspect="1"/>
          </p:cNvPicPr>
          <p:nvPr/>
        </p:nvPicPr>
        <p:blipFill>
          <a:blip r:embed="rId4"/>
          <a:stretch>
            <a:fillRect/>
          </a:stretch>
        </p:blipFill>
        <p:spPr>
          <a:xfrm>
            <a:off x="7498079" y="0"/>
            <a:ext cx="385762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2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L’UNIVERS</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CE QUI FAIT TOTEM</a:t>
            </a:r>
          </a:p>
        </p:txBody>
      </p:sp>
      <p:sp>
        <p:nvSpPr>
          <p:cNvPr id="8" name="Rounded Rectangle 7"/>
          <p:cNvSpPr/>
          <p:nvPr/>
        </p:nvSpPr>
        <p:spPr>
          <a:xfrm>
            <a:off x="548640" y="2011680"/>
            <a:ext cx="5303520" cy="1874519"/>
          </a:xfrm>
          <a:prstGeom prst="roundRect">
            <a:avLst/>
          </a:prstGeom>
          <a:solidFill>
            <a:srgbClr val="FFFFFF"/>
          </a:solidFill>
          <a:ln>
            <a:solidFill>
              <a:srgbClr val="E2DD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11680"/>
            <a:ext cx="109728" cy="1874519"/>
          </a:xfrm>
          <a:prstGeom prst="rect">
            <a:avLst/>
          </a:prstGeom>
          <a:solidFill>
            <a:srgbClr val="B6D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94560"/>
            <a:ext cx="4846320" cy="457200"/>
          </a:xfrm>
          <a:prstGeom prst="rect">
            <a:avLst/>
          </a:prstGeom>
          <a:noFill/>
        </p:spPr>
        <p:txBody>
          <a:bodyPr wrap="square">
            <a:spAutoFit/>
          </a:bodyPr>
          <a:lstStyle/>
          <a:p>
            <a:pPr>
              <a:spcAft>
                <a:spcPts val="594"/>
              </a:spcAft>
            </a:pPr>
            <a:r>
              <a:rPr sz="1700" b="1">
                <a:solidFill>
                  <a:srgbClr val="141414"/>
                </a:solidFill>
                <a:latin typeface="Montserrat"/>
              </a:rPr>
              <a:t>Un groupe, trois entités</a:t>
            </a:r>
          </a:p>
        </p:txBody>
      </p:sp>
      <p:sp>
        <p:nvSpPr>
          <p:cNvPr id="11" name="TextBox 10"/>
          <p:cNvSpPr txBox="1"/>
          <p:nvPr/>
        </p:nvSpPr>
        <p:spPr>
          <a:xfrm>
            <a:off x="868680" y="2651760"/>
            <a:ext cx="4846320" cy="1188720"/>
          </a:xfrm>
          <a:prstGeom prst="rect">
            <a:avLst/>
          </a:prstGeom>
          <a:noFill/>
        </p:spPr>
        <p:txBody>
          <a:bodyPr wrap="square">
            <a:spAutoFit/>
          </a:bodyPr>
          <a:lstStyle/>
          <a:p>
            <a:pPr>
              <a:spcAft>
                <a:spcPts val="455"/>
              </a:spcAft>
            </a:pPr>
            <a:r>
              <a:rPr sz="1300" b="0">
                <a:solidFill>
                  <a:srgbClr val="5A5A5A"/>
                </a:solidFill>
                <a:latin typeface="Montserrat"/>
              </a:rPr>
              <a:t>TX Agency (l’agence digitale), TX Factory (le studio de contenu) et ADICOMDAYS, le rendez-vous de la communication digitale africaine depuis dix ans.</a:t>
            </a:r>
          </a:p>
        </p:txBody>
      </p:sp>
      <p:sp>
        <p:nvSpPr>
          <p:cNvPr id="12" name="Rounded Rectangle 11"/>
          <p:cNvSpPr/>
          <p:nvPr/>
        </p:nvSpPr>
        <p:spPr>
          <a:xfrm>
            <a:off x="6126479" y="2011680"/>
            <a:ext cx="5303520" cy="1874519"/>
          </a:xfrm>
          <a:prstGeom prst="roundRect">
            <a:avLst/>
          </a:prstGeom>
          <a:solidFill>
            <a:srgbClr val="FFFFFF"/>
          </a:solidFill>
          <a:ln>
            <a:solidFill>
              <a:srgbClr val="E2DD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79" y="2011680"/>
            <a:ext cx="109728" cy="1874519"/>
          </a:xfrm>
          <a:prstGeom prst="rect">
            <a:avLst/>
          </a:prstGeom>
          <a:solidFill>
            <a:srgbClr val="F9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19" y="2194560"/>
            <a:ext cx="4846320" cy="457200"/>
          </a:xfrm>
          <a:prstGeom prst="rect">
            <a:avLst/>
          </a:prstGeom>
          <a:noFill/>
        </p:spPr>
        <p:txBody>
          <a:bodyPr wrap="square">
            <a:spAutoFit/>
          </a:bodyPr>
          <a:lstStyle/>
          <a:p>
            <a:pPr>
              <a:spcAft>
                <a:spcPts val="594"/>
              </a:spcAft>
            </a:pPr>
            <a:r>
              <a:rPr sz="1700" b="1">
                <a:solidFill>
                  <a:srgbClr val="141414"/>
                </a:solidFill>
                <a:latin typeface="Montserrat"/>
              </a:rPr>
              <a:t>Panafricain par nature</a:t>
            </a:r>
          </a:p>
        </p:txBody>
      </p:sp>
      <p:sp>
        <p:nvSpPr>
          <p:cNvPr id="15" name="TextBox 14"/>
          <p:cNvSpPr txBox="1"/>
          <p:nvPr/>
        </p:nvSpPr>
        <p:spPr>
          <a:xfrm>
            <a:off x="6446519" y="2651760"/>
            <a:ext cx="4846320" cy="1188720"/>
          </a:xfrm>
          <a:prstGeom prst="rect">
            <a:avLst/>
          </a:prstGeom>
          <a:noFill/>
        </p:spPr>
        <p:txBody>
          <a:bodyPr wrap="square">
            <a:spAutoFit/>
          </a:bodyPr>
          <a:lstStyle/>
          <a:p>
            <a:pPr>
              <a:spcAft>
                <a:spcPts val="455"/>
              </a:spcAft>
            </a:pPr>
            <a:r>
              <a:rPr sz="1300" b="0">
                <a:solidFill>
                  <a:srgbClr val="5A5A5A"/>
                </a:solidFill>
                <a:latin typeface="Montserrat"/>
              </a:rPr>
              <a:t>Une équipe entre Abidjan, Dakar, Cotonou, Conakry, Bamako, Ouagadougou et Kinshasa. « Digital Creativity Group » sur le site.</a:t>
            </a:r>
          </a:p>
        </p:txBody>
      </p:sp>
      <p:sp>
        <p:nvSpPr>
          <p:cNvPr id="16" name="Rounded Rectangle 15"/>
          <p:cNvSpPr/>
          <p:nvPr/>
        </p:nvSpPr>
        <p:spPr>
          <a:xfrm>
            <a:off x="548640" y="4114800"/>
            <a:ext cx="5303520" cy="1874519"/>
          </a:xfrm>
          <a:prstGeom prst="roundRect">
            <a:avLst/>
          </a:prstGeom>
          <a:solidFill>
            <a:srgbClr val="FFFFFF"/>
          </a:solidFill>
          <a:ln>
            <a:solidFill>
              <a:srgbClr val="E2DD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14800"/>
            <a:ext cx="109728" cy="1874519"/>
          </a:xfrm>
          <a:prstGeom prst="rect">
            <a:avLst/>
          </a:prstGeom>
          <a:solidFill>
            <a:srgbClr val="DD4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297680"/>
            <a:ext cx="4846320" cy="457200"/>
          </a:xfrm>
          <a:prstGeom prst="rect">
            <a:avLst/>
          </a:prstGeom>
          <a:noFill/>
        </p:spPr>
        <p:txBody>
          <a:bodyPr wrap="square">
            <a:spAutoFit/>
          </a:bodyPr>
          <a:lstStyle/>
          <a:p>
            <a:pPr>
              <a:spcAft>
                <a:spcPts val="594"/>
              </a:spcAft>
            </a:pPr>
            <a:r>
              <a:rPr sz="1700" b="1">
                <a:solidFill>
                  <a:srgbClr val="141414"/>
                </a:solidFill>
                <a:latin typeface="Montserrat"/>
              </a:rPr>
              <a:t>L’influence et la culture</a:t>
            </a:r>
          </a:p>
        </p:txBody>
      </p:sp>
      <p:sp>
        <p:nvSpPr>
          <p:cNvPr id="19" name="TextBox 18"/>
          <p:cNvSpPr txBox="1"/>
          <p:nvPr/>
        </p:nvSpPr>
        <p:spPr>
          <a:xfrm>
            <a:off x="868680" y="4754880"/>
            <a:ext cx="4846320" cy="1188720"/>
          </a:xfrm>
          <a:prstGeom prst="rect">
            <a:avLst/>
          </a:prstGeom>
          <a:noFill/>
        </p:spPr>
        <p:txBody>
          <a:bodyPr wrap="square">
            <a:spAutoFit/>
          </a:bodyPr>
          <a:lstStyle/>
          <a:p>
            <a:pPr>
              <a:spcAft>
                <a:spcPts val="455"/>
              </a:spcAft>
            </a:pPr>
            <a:r>
              <a:rPr sz="1300" b="0">
                <a:solidFill>
                  <a:srgbClr val="5A5A5A"/>
                </a:solidFill>
                <a:latin typeface="Montserrat"/>
              </a:rPr>
              <a:t>Des formats nés dans la rue et sur les réseaux : #AuQuartier avec Canal+, #MyChicAfrica avec Air France et Accor. Le Totem Influence Network.</a:t>
            </a:r>
          </a:p>
        </p:txBody>
      </p:sp>
      <p:sp>
        <p:nvSpPr>
          <p:cNvPr id="20" name="Rounded Rectangle 19"/>
          <p:cNvSpPr/>
          <p:nvPr/>
        </p:nvSpPr>
        <p:spPr>
          <a:xfrm>
            <a:off x="6126479" y="4114800"/>
            <a:ext cx="5303520" cy="1874519"/>
          </a:xfrm>
          <a:prstGeom prst="roundRect">
            <a:avLst/>
          </a:prstGeom>
          <a:solidFill>
            <a:srgbClr val="FFFFFF"/>
          </a:solidFill>
          <a:ln>
            <a:solidFill>
              <a:srgbClr val="E2DD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79" y="4114800"/>
            <a:ext cx="109728" cy="1874519"/>
          </a:xfrm>
          <a:prstGeom prst="rect">
            <a:avLst/>
          </a:prstGeom>
          <a:solidFill>
            <a:srgbClr val="964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19" y="4297680"/>
            <a:ext cx="4846320" cy="457200"/>
          </a:xfrm>
          <a:prstGeom prst="rect">
            <a:avLst/>
          </a:prstGeom>
          <a:noFill/>
        </p:spPr>
        <p:txBody>
          <a:bodyPr wrap="square">
            <a:spAutoFit/>
          </a:bodyPr>
          <a:lstStyle/>
          <a:p>
            <a:pPr>
              <a:spcAft>
                <a:spcPts val="594"/>
              </a:spcAft>
            </a:pPr>
            <a:r>
              <a:rPr sz="1700" b="1">
                <a:solidFill>
                  <a:srgbClr val="141414"/>
                </a:solidFill>
                <a:latin typeface="Montserrat"/>
              </a:rPr>
              <a:t>Une identité qui claque</a:t>
            </a:r>
          </a:p>
        </p:txBody>
      </p:sp>
      <p:sp>
        <p:nvSpPr>
          <p:cNvPr id="23" name="TextBox 22"/>
          <p:cNvSpPr txBox="1"/>
          <p:nvPr/>
        </p:nvSpPr>
        <p:spPr>
          <a:xfrm>
            <a:off x="6446519" y="4754880"/>
            <a:ext cx="4846320" cy="1188720"/>
          </a:xfrm>
          <a:prstGeom prst="rect">
            <a:avLst/>
          </a:prstGeom>
          <a:noFill/>
        </p:spPr>
        <p:txBody>
          <a:bodyPr wrap="square">
            <a:spAutoFit/>
          </a:bodyPr>
          <a:lstStyle/>
          <a:p>
            <a:pPr>
              <a:spcAft>
                <a:spcPts val="455"/>
              </a:spcAft>
            </a:pPr>
            <a:r>
              <a:rPr sz="1300" b="0">
                <a:solidFill>
                  <a:srgbClr val="5A5A5A"/>
                </a:solidFill>
                <a:latin typeface="Montserrat"/>
              </a:rPr>
              <a:t>Le TX dans sa pastille vert acidulé, une typo arrondie et joueuse, trois couleurs d’entité : jaune Agency, rouge Factory, facettes ADICOM.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B6D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3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LE PARTI PRIS</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DES OBJETS QUE LA TRIBU GARDE</a:t>
            </a:r>
          </a:p>
        </p:txBody>
      </p:sp>
      <p:sp>
        <p:nvSpPr>
          <p:cNvPr id="8" name="TextBox 7"/>
          <p:cNvSpPr txBox="1"/>
          <p:nvPr/>
        </p:nvSpPr>
        <p:spPr>
          <a:xfrm>
            <a:off x="548640" y="2011680"/>
            <a:ext cx="5852160" cy="4114800"/>
          </a:xfrm>
          <a:prstGeom prst="rect">
            <a:avLst/>
          </a:prstGeom>
          <a:noFill/>
        </p:spPr>
        <p:txBody>
          <a:bodyPr wrap="square">
            <a:spAutoFit/>
          </a:bodyPr>
          <a:lstStyle/>
          <a:p>
            <a:pPr>
              <a:spcAft>
                <a:spcPts val="560"/>
              </a:spcAft>
            </a:pPr>
            <a:r>
              <a:rPr sz="1600" b="0">
                <a:solidFill>
                  <a:srgbClr val="141414"/>
                </a:solidFill>
                <a:latin typeface="Montserrat"/>
              </a:rPr>
              <a:t>Un goodie d’agence finit souvent au fond d’un tiroir. Celui-ci doit se coller sur un ordinateur, se porter en tournage et se montrer en story.</a:t>
            </a:r>
          </a:p>
          <a:p>
            <a:pPr>
              <a:spcAft>
                <a:spcPts val="560"/>
              </a:spcAft>
            </a:pPr>
            <a:r>
              <a:rPr sz="1600" b="0">
                <a:solidFill>
                  <a:srgbClr val="141414"/>
                </a:solidFill>
                <a:latin typeface="Montserrat"/>
              </a:rPr>
              <a:t/>
            </a:r>
          </a:p>
          <a:p>
            <a:pPr>
              <a:spcAft>
                <a:spcPts val="560"/>
              </a:spcAft>
            </a:pPr>
            <a:r>
              <a:rPr sz="1600" b="0">
                <a:solidFill>
                  <a:srgbClr val="141414"/>
                </a:solidFill>
                <a:latin typeface="Montserrat"/>
              </a:rPr>
              <a:t>L’idée : parler comme l’équipe parle. Le « brief reçu », la « VFINALE_v3 », le « créatif mais à l’heure ». Des blagues de métier que les clients et les créateurs reconnaissent, signées du TX.</a:t>
            </a:r>
          </a:p>
          <a:p>
            <a:pPr>
              <a:spcAft>
                <a:spcPts val="560"/>
              </a:spcAft>
            </a:pPr>
            <a:r>
              <a:rPr sz="1600" b="0">
                <a:solidFill>
                  <a:srgbClr val="141414"/>
                </a:solidFill>
                <a:latin typeface="Montserrat"/>
              </a:rPr>
              <a:t/>
            </a:r>
          </a:p>
          <a:p>
            <a:pPr>
              <a:spcAft>
                <a:spcPts val="560"/>
              </a:spcAft>
            </a:pPr>
            <a:r>
              <a:rPr sz="1600" b="0">
                <a:solidFill>
                  <a:srgbClr val="141414"/>
                </a:solidFill>
                <a:latin typeface="Montserrat"/>
              </a:rPr>
              <a:t>Le logo se décline sans être déformé : il reste dans sa pastille, en vert ou en blanc.</a:t>
            </a:r>
          </a:p>
        </p:txBody>
      </p:sp>
      <p:pic>
        <p:nvPicPr>
          <p:cNvPr id="9" name="Picture 8" descr="03_la-tribu-tx.png"/>
          <p:cNvPicPr>
            <a:picLocks noChangeAspect="1"/>
          </p:cNvPicPr>
          <p:nvPr/>
        </p:nvPicPr>
        <p:blipFill>
          <a:blip r:embed="rId3"/>
          <a:stretch>
            <a:fillRect/>
          </a:stretch>
        </p:blipFill>
        <p:spPr>
          <a:xfrm>
            <a:off x="6949440" y="1463040"/>
            <a:ext cx="4480560" cy="4480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4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LA CHARTE RELEVÉE</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COULEURS ET TYPOGRAPHIE</a:t>
            </a:r>
          </a:p>
        </p:txBody>
      </p:sp>
      <p:sp>
        <p:nvSpPr>
          <p:cNvPr id="8" name="Rounded Rectangle 7"/>
          <p:cNvSpPr/>
          <p:nvPr/>
        </p:nvSpPr>
        <p:spPr>
          <a:xfrm>
            <a:off x="548640" y="2011680"/>
            <a:ext cx="2011680" cy="1828800"/>
          </a:xfrm>
          <a:prstGeom prst="roundRect">
            <a:avLst/>
          </a:prstGeom>
          <a:solidFill>
            <a:srgbClr val="B6D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977639"/>
            <a:ext cx="2103120" cy="365760"/>
          </a:xfrm>
          <a:prstGeom prst="rect">
            <a:avLst/>
          </a:prstGeom>
          <a:noFill/>
        </p:spPr>
        <p:txBody>
          <a:bodyPr wrap="square">
            <a:spAutoFit/>
          </a:bodyPr>
          <a:lstStyle/>
          <a:p>
            <a:pPr>
              <a:spcAft>
                <a:spcPts val="525"/>
              </a:spcAft>
            </a:pPr>
            <a:r>
              <a:rPr sz="1500" b="1">
                <a:solidFill>
                  <a:srgbClr val="141414"/>
                </a:solidFill>
                <a:latin typeface="Montserrat"/>
              </a:rPr>
              <a:t>Vert Totem</a:t>
            </a:r>
          </a:p>
        </p:txBody>
      </p:sp>
      <p:sp>
        <p:nvSpPr>
          <p:cNvPr id="10" name="TextBox 9"/>
          <p:cNvSpPr txBox="1"/>
          <p:nvPr/>
        </p:nvSpPr>
        <p:spPr>
          <a:xfrm>
            <a:off x="548640" y="4343400"/>
            <a:ext cx="2103120" cy="320040"/>
          </a:xfrm>
          <a:prstGeom prst="rect">
            <a:avLst/>
          </a:prstGeom>
          <a:noFill/>
        </p:spPr>
        <p:txBody>
          <a:bodyPr wrap="square">
            <a:spAutoFit/>
          </a:bodyPr>
          <a:lstStyle/>
          <a:p>
            <a:pPr>
              <a:spcAft>
                <a:spcPts val="455"/>
              </a:spcAft>
            </a:pPr>
            <a:r>
              <a:rPr sz="1300" b="0">
                <a:solidFill>
                  <a:srgbClr val="5A5A5A"/>
                </a:solidFill>
                <a:latin typeface="Montserrat"/>
              </a:rPr>
              <a:t>#B6D401</a:t>
            </a:r>
          </a:p>
        </p:txBody>
      </p:sp>
      <p:sp>
        <p:nvSpPr>
          <p:cNvPr id="11" name="TextBox 10"/>
          <p:cNvSpPr txBox="1"/>
          <p:nvPr/>
        </p:nvSpPr>
        <p:spPr>
          <a:xfrm>
            <a:off x="548640" y="4663440"/>
            <a:ext cx="2103120" cy="731520"/>
          </a:xfrm>
          <a:prstGeom prst="rect">
            <a:avLst/>
          </a:prstGeom>
          <a:noFill/>
        </p:spPr>
        <p:txBody>
          <a:bodyPr wrap="square">
            <a:spAutoFit/>
          </a:bodyPr>
          <a:lstStyle/>
          <a:p>
            <a:pPr>
              <a:spcAft>
                <a:spcPts val="384"/>
              </a:spcAft>
            </a:pPr>
            <a:r>
              <a:rPr sz="1100" b="0">
                <a:solidFill>
                  <a:srgbClr val="5A5A5A"/>
                </a:solidFill>
                <a:latin typeface="Montserrat"/>
              </a:rPr>
              <a:t>Logo du groupe, couleur maîtresse</a:t>
            </a:r>
          </a:p>
        </p:txBody>
      </p:sp>
      <p:sp>
        <p:nvSpPr>
          <p:cNvPr id="12" name="Rounded Rectangle 11"/>
          <p:cNvSpPr/>
          <p:nvPr/>
        </p:nvSpPr>
        <p:spPr>
          <a:xfrm>
            <a:off x="2788920" y="2011680"/>
            <a:ext cx="2011680" cy="1828800"/>
          </a:xfrm>
          <a:prstGeom prst="roundRect">
            <a:avLst/>
          </a:prstGeom>
          <a:solidFill>
            <a:srgbClr val="F9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8920" y="3977639"/>
            <a:ext cx="2103120" cy="365760"/>
          </a:xfrm>
          <a:prstGeom prst="rect">
            <a:avLst/>
          </a:prstGeom>
          <a:noFill/>
        </p:spPr>
        <p:txBody>
          <a:bodyPr wrap="square">
            <a:spAutoFit/>
          </a:bodyPr>
          <a:lstStyle/>
          <a:p>
            <a:pPr>
              <a:spcAft>
                <a:spcPts val="525"/>
              </a:spcAft>
            </a:pPr>
            <a:r>
              <a:rPr sz="1500" b="1">
                <a:solidFill>
                  <a:srgbClr val="141414"/>
                </a:solidFill>
                <a:latin typeface="Montserrat"/>
              </a:rPr>
              <a:t>Jaune Agency</a:t>
            </a:r>
          </a:p>
        </p:txBody>
      </p:sp>
      <p:sp>
        <p:nvSpPr>
          <p:cNvPr id="14" name="TextBox 13"/>
          <p:cNvSpPr txBox="1"/>
          <p:nvPr/>
        </p:nvSpPr>
        <p:spPr>
          <a:xfrm>
            <a:off x="2788920" y="4343400"/>
            <a:ext cx="2103120" cy="320040"/>
          </a:xfrm>
          <a:prstGeom prst="rect">
            <a:avLst/>
          </a:prstGeom>
          <a:noFill/>
        </p:spPr>
        <p:txBody>
          <a:bodyPr wrap="square">
            <a:spAutoFit/>
          </a:bodyPr>
          <a:lstStyle/>
          <a:p>
            <a:pPr>
              <a:spcAft>
                <a:spcPts val="455"/>
              </a:spcAft>
            </a:pPr>
            <a:r>
              <a:rPr sz="1300" b="0">
                <a:solidFill>
                  <a:srgbClr val="5A5A5A"/>
                </a:solidFill>
                <a:latin typeface="Montserrat"/>
              </a:rPr>
              <a:t>#F9D400</a:t>
            </a:r>
          </a:p>
        </p:txBody>
      </p:sp>
      <p:sp>
        <p:nvSpPr>
          <p:cNvPr id="15" name="TextBox 14"/>
          <p:cNvSpPr txBox="1"/>
          <p:nvPr/>
        </p:nvSpPr>
        <p:spPr>
          <a:xfrm>
            <a:off x="2788920" y="4663440"/>
            <a:ext cx="2103120" cy="731520"/>
          </a:xfrm>
          <a:prstGeom prst="rect">
            <a:avLst/>
          </a:prstGeom>
          <a:noFill/>
        </p:spPr>
        <p:txBody>
          <a:bodyPr wrap="square">
            <a:spAutoFit/>
          </a:bodyPr>
          <a:lstStyle/>
          <a:p>
            <a:pPr>
              <a:spcAft>
                <a:spcPts val="384"/>
              </a:spcAft>
            </a:pPr>
            <a:r>
              <a:rPr sz="1100" b="0">
                <a:solidFill>
                  <a:srgbClr val="5A5A5A"/>
                </a:solidFill>
                <a:latin typeface="Montserrat"/>
              </a:rPr>
              <a:t>Logo TX Agency</a:t>
            </a:r>
          </a:p>
        </p:txBody>
      </p:sp>
      <p:sp>
        <p:nvSpPr>
          <p:cNvPr id="16" name="Rounded Rectangle 15"/>
          <p:cNvSpPr/>
          <p:nvPr/>
        </p:nvSpPr>
        <p:spPr>
          <a:xfrm>
            <a:off x="5029200" y="2011680"/>
            <a:ext cx="2011680" cy="1828800"/>
          </a:xfrm>
          <a:prstGeom prst="roundRect">
            <a:avLst/>
          </a:prstGeom>
          <a:solidFill>
            <a:srgbClr val="DD4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3977639"/>
            <a:ext cx="2103120" cy="365760"/>
          </a:xfrm>
          <a:prstGeom prst="rect">
            <a:avLst/>
          </a:prstGeom>
          <a:noFill/>
        </p:spPr>
        <p:txBody>
          <a:bodyPr wrap="square">
            <a:spAutoFit/>
          </a:bodyPr>
          <a:lstStyle/>
          <a:p>
            <a:pPr>
              <a:spcAft>
                <a:spcPts val="525"/>
              </a:spcAft>
            </a:pPr>
            <a:r>
              <a:rPr sz="1500" b="1">
                <a:solidFill>
                  <a:srgbClr val="141414"/>
                </a:solidFill>
                <a:latin typeface="Montserrat"/>
              </a:rPr>
              <a:t>Rouge Factory</a:t>
            </a:r>
          </a:p>
        </p:txBody>
      </p:sp>
      <p:sp>
        <p:nvSpPr>
          <p:cNvPr id="18" name="TextBox 17"/>
          <p:cNvSpPr txBox="1"/>
          <p:nvPr/>
        </p:nvSpPr>
        <p:spPr>
          <a:xfrm>
            <a:off x="5029200" y="4343400"/>
            <a:ext cx="2103120" cy="320040"/>
          </a:xfrm>
          <a:prstGeom prst="rect">
            <a:avLst/>
          </a:prstGeom>
          <a:noFill/>
        </p:spPr>
        <p:txBody>
          <a:bodyPr wrap="square">
            <a:spAutoFit/>
          </a:bodyPr>
          <a:lstStyle/>
          <a:p>
            <a:pPr>
              <a:spcAft>
                <a:spcPts val="455"/>
              </a:spcAft>
            </a:pPr>
            <a:r>
              <a:rPr sz="1300" b="0">
                <a:solidFill>
                  <a:srgbClr val="5A5A5A"/>
                </a:solidFill>
                <a:latin typeface="Montserrat"/>
              </a:rPr>
              <a:t>#DD4549</a:t>
            </a:r>
          </a:p>
        </p:txBody>
      </p:sp>
      <p:sp>
        <p:nvSpPr>
          <p:cNvPr id="19" name="TextBox 18"/>
          <p:cNvSpPr txBox="1"/>
          <p:nvPr/>
        </p:nvSpPr>
        <p:spPr>
          <a:xfrm>
            <a:off x="5029200" y="4663440"/>
            <a:ext cx="2103120" cy="731520"/>
          </a:xfrm>
          <a:prstGeom prst="rect">
            <a:avLst/>
          </a:prstGeom>
          <a:noFill/>
        </p:spPr>
        <p:txBody>
          <a:bodyPr wrap="square">
            <a:spAutoFit/>
          </a:bodyPr>
          <a:lstStyle/>
          <a:p>
            <a:pPr>
              <a:spcAft>
                <a:spcPts val="384"/>
              </a:spcAft>
            </a:pPr>
            <a:r>
              <a:rPr sz="1100" b="0">
                <a:solidFill>
                  <a:srgbClr val="5A5A5A"/>
                </a:solidFill>
                <a:latin typeface="Montserrat"/>
              </a:rPr>
              <a:t>Logo TX Factory</a:t>
            </a:r>
          </a:p>
        </p:txBody>
      </p:sp>
      <p:sp>
        <p:nvSpPr>
          <p:cNvPr id="20" name="Rounded Rectangle 19"/>
          <p:cNvSpPr/>
          <p:nvPr/>
        </p:nvSpPr>
        <p:spPr>
          <a:xfrm>
            <a:off x="7269480" y="2011680"/>
            <a:ext cx="2011680" cy="1828800"/>
          </a:xfrm>
          <a:prstGeom prst="roundRect">
            <a:avLst/>
          </a:prstGeom>
          <a:solidFill>
            <a:srgbClr val="964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80" y="3977639"/>
            <a:ext cx="2103120" cy="365760"/>
          </a:xfrm>
          <a:prstGeom prst="rect">
            <a:avLst/>
          </a:prstGeom>
          <a:noFill/>
        </p:spPr>
        <p:txBody>
          <a:bodyPr wrap="square">
            <a:spAutoFit/>
          </a:bodyPr>
          <a:lstStyle/>
          <a:p>
            <a:pPr>
              <a:spcAft>
                <a:spcPts val="525"/>
              </a:spcAft>
            </a:pPr>
            <a:r>
              <a:rPr sz="1500" b="1">
                <a:solidFill>
                  <a:srgbClr val="141414"/>
                </a:solidFill>
                <a:latin typeface="Montserrat"/>
              </a:rPr>
              <a:t>Violet ADICOM</a:t>
            </a:r>
          </a:p>
        </p:txBody>
      </p:sp>
      <p:sp>
        <p:nvSpPr>
          <p:cNvPr id="22" name="TextBox 21"/>
          <p:cNvSpPr txBox="1"/>
          <p:nvPr/>
        </p:nvSpPr>
        <p:spPr>
          <a:xfrm>
            <a:off x="7269480" y="4343400"/>
            <a:ext cx="2103120" cy="320040"/>
          </a:xfrm>
          <a:prstGeom prst="rect">
            <a:avLst/>
          </a:prstGeom>
          <a:noFill/>
        </p:spPr>
        <p:txBody>
          <a:bodyPr wrap="square">
            <a:spAutoFit/>
          </a:bodyPr>
          <a:lstStyle/>
          <a:p>
            <a:pPr>
              <a:spcAft>
                <a:spcPts val="455"/>
              </a:spcAft>
            </a:pPr>
            <a:r>
              <a:rPr sz="1300" b="0">
                <a:solidFill>
                  <a:srgbClr val="5A5A5A"/>
                </a:solidFill>
                <a:latin typeface="Montserrat"/>
              </a:rPr>
              <a:t>#964C97</a:t>
            </a:r>
          </a:p>
        </p:txBody>
      </p:sp>
      <p:sp>
        <p:nvSpPr>
          <p:cNvPr id="23" name="TextBox 22"/>
          <p:cNvSpPr txBox="1"/>
          <p:nvPr/>
        </p:nvSpPr>
        <p:spPr>
          <a:xfrm>
            <a:off x="7269480" y="4663440"/>
            <a:ext cx="2103120" cy="731520"/>
          </a:xfrm>
          <a:prstGeom prst="rect">
            <a:avLst/>
          </a:prstGeom>
          <a:noFill/>
        </p:spPr>
        <p:txBody>
          <a:bodyPr wrap="square">
            <a:spAutoFit/>
          </a:bodyPr>
          <a:lstStyle/>
          <a:p>
            <a:pPr>
              <a:spcAft>
                <a:spcPts val="384"/>
              </a:spcAft>
            </a:pPr>
            <a:r>
              <a:rPr sz="1100" b="0">
                <a:solidFill>
                  <a:srgbClr val="5A5A5A"/>
                </a:solidFill>
                <a:latin typeface="Montserrat"/>
              </a:rPr>
              <a:t>Facettes du logo ADICOMDAYS</a:t>
            </a:r>
          </a:p>
        </p:txBody>
      </p:sp>
      <p:sp>
        <p:nvSpPr>
          <p:cNvPr id="24" name="Rounded Rectangle 23"/>
          <p:cNvSpPr/>
          <p:nvPr/>
        </p:nvSpPr>
        <p:spPr>
          <a:xfrm>
            <a:off x="9509760" y="2011680"/>
            <a:ext cx="2011680" cy="1828800"/>
          </a:xfrm>
          <a:prstGeom prst="round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0" y="3977639"/>
            <a:ext cx="2103120" cy="365760"/>
          </a:xfrm>
          <a:prstGeom prst="rect">
            <a:avLst/>
          </a:prstGeom>
          <a:noFill/>
        </p:spPr>
        <p:txBody>
          <a:bodyPr wrap="square">
            <a:spAutoFit/>
          </a:bodyPr>
          <a:lstStyle/>
          <a:p>
            <a:pPr>
              <a:spcAft>
                <a:spcPts val="525"/>
              </a:spcAft>
            </a:pPr>
            <a:r>
              <a:rPr sz="1500" b="1">
                <a:solidFill>
                  <a:srgbClr val="141414"/>
                </a:solidFill>
                <a:latin typeface="Montserrat"/>
              </a:rPr>
              <a:t>Noir</a:t>
            </a:r>
          </a:p>
        </p:txBody>
      </p:sp>
      <p:sp>
        <p:nvSpPr>
          <p:cNvPr id="26" name="TextBox 25"/>
          <p:cNvSpPr txBox="1"/>
          <p:nvPr/>
        </p:nvSpPr>
        <p:spPr>
          <a:xfrm>
            <a:off x="9509760" y="4343400"/>
            <a:ext cx="2103120" cy="320040"/>
          </a:xfrm>
          <a:prstGeom prst="rect">
            <a:avLst/>
          </a:prstGeom>
          <a:noFill/>
        </p:spPr>
        <p:txBody>
          <a:bodyPr wrap="square">
            <a:spAutoFit/>
          </a:bodyPr>
          <a:lstStyle/>
          <a:p>
            <a:pPr>
              <a:spcAft>
                <a:spcPts val="455"/>
              </a:spcAft>
            </a:pPr>
            <a:r>
              <a:rPr sz="1300" b="0">
                <a:solidFill>
                  <a:srgbClr val="5A5A5A"/>
                </a:solidFill>
                <a:latin typeface="Montserrat"/>
              </a:rPr>
              <a:t>#141414</a:t>
            </a:r>
          </a:p>
        </p:txBody>
      </p:sp>
      <p:sp>
        <p:nvSpPr>
          <p:cNvPr id="27" name="TextBox 26"/>
          <p:cNvSpPr txBox="1"/>
          <p:nvPr/>
        </p:nvSpPr>
        <p:spPr>
          <a:xfrm>
            <a:off x="9509760" y="4663440"/>
            <a:ext cx="2103120" cy="731520"/>
          </a:xfrm>
          <a:prstGeom prst="rect">
            <a:avLst/>
          </a:prstGeom>
          <a:noFill/>
        </p:spPr>
        <p:txBody>
          <a:bodyPr wrap="square">
            <a:spAutoFit/>
          </a:bodyPr>
          <a:lstStyle/>
          <a:p>
            <a:pPr>
              <a:spcAft>
                <a:spcPts val="384"/>
              </a:spcAft>
            </a:pPr>
            <a:r>
              <a:rPr sz="1100" b="0">
                <a:solidFill>
                  <a:srgbClr val="5A5A5A"/>
                </a:solidFill>
                <a:latin typeface="Montserrat"/>
              </a:rPr>
              <a:t>Textes et fonds forts</a:t>
            </a:r>
          </a:p>
        </p:txBody>
      </p:sp>
      <p:sp>
        <p:nvSpPr>
          <p:cNvPr id="28" name="TextBox 27"/>
          <p:cNvSpPr txBox="1"/>
          <p:nvPr/>
        </p:nvSpPr>
        <p:spPr>
          <a:xfrm>
            <a:off x="548640" y="5486400"/>
            <a:ext cx="10972800" cy="731520"/>
          </a:xfrm>
          <a:prstGeom prst="rect">
            <a:avLst/>
          </a:prstGeom>
          <a:noFill/>
        </p:spPr>
        <p:txBody>
          <a:bodyPr wrap="square">
            <a:spAutoFit/>
          </a:bodyPr>
          <a:lstStyle/>
          <a:p>
            <a:pPr>
              <a:spcAft>
                <a:spcPts val="455"/>
              </a:spcAft>
            </a:pPr>
            <a:r>
              <a:rPr sz="1300" b="0">
                <a:solidFill>
                  <a:srgbClr val="141414"/>
                </a:solidFill>
                <a:latin typeface="Montserrat"/>
              </a:rPr>
              <a:t>Titres en Montserrat Black capitales, textes en Montserrat, la police du site. Couleurs mesurées sur les logos officiels du site totem-experience.com. Icônes au trait arrondi, une couleur par entité.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whit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FFFFFF"/>
                </a:solidFill>
                <a:latin typeface="Montserrat"/>
              </a:rPr>
              <a:t>5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FFFFFF"/>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B6D401"/>
                </a:solidFill>
                <a:latin typeface="Montserrat"/>
              </a:rPr>
              <a:t>LES STICKERS · SÉRIE 1</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FFFFFF"/>
                </a:solidFill>
                <a:latin typeface="Montserrat"/>
              </a:rPr>
              <a:t>14 STICKERS DE MARQUE ET D’HUMOUR</a:t>
            </a:r>
          </a:p>
        </p:txBody>
      </p:sp>
      <p:pic>
        <p:nvPicPr>
          <p:cNvPr id="8" name="Picture 7" descr="01_le-totem.png"/>
          <p:cNvPicPr>
            <a:picLocks noChangeAspect="1"/>
          </p:cNvPicPr>
          <p:nvPr/>
        </p:nvPicPr>
        <p:blipFill>
          <a:blip r:embed="rId3"/>
          <a:stretch>
            <a:fillRect/>
          </a:stretch>
        </p:blipFill>
        <p:spPr>
          <a:xfrm>
            <a:off x="857978" y="1920240"/>
            <a:ext cx="752922" cy="1459747"/>
          </a:xfrm>
          <a:prstGeom prst="rect">
            <a:avLst/>
          </a:prstGeom>
        </p:spPr>
      </p:pic>
      <p:pic>
        <p:nvPicPr>
          <p:cNvPr id="9" name="Picture 8" descr="02_tx.png"/>
          <p:cNvPicPr>
            <a:picLocks noChangeAspect="1"/>
          </p:cNvPicPr>
          <p:nvPr/>
        </p:nvPicPr>
        <p:blipFill>
          <a:blip r:embed="rId4"/>
          <a:stretch>
            <a:fillRect/>
          </a:stretch>
        </p:blipFill>
        <p:spPr>
          <a:xfrm>
            <a:off x="2271125" y="1920240"/>
            <a:ext cx="1273333" cy="1461832"/>
          </a:xfrm>
          <a:prstGeom prst="rect">
            <a:avLst/>
          </a:prstGeom>
        </p:spPr>
      </p:pic>
      <p:pic>
        <p:nvPicPr>
          <p:cNvPr id="10" name="Picture 9" descr="03_la-tribu-tx.png"/>
          <p:cNvPicPr>
            <a:picLocks noChangeAspect="1"/>
          </p:cNvPicPr>
          <p:nvPr/>
        </p:nvPicPr>
        <p:blipFill>
          <a:blip r:embed="rId5"/>
          <a:stretch>
            <a:fillRect/>
          </a:stretch>
        </p:blipFill>
        <p:spPr>
          <a:xfrm>
            <a:off x="3849624" y="1920240"/>
            <a:ext cx="1463040" cy="1463040"/>
          </a:xfrm>
          <a:prstGeom prst="rect">
            <a:avLst/>
          </a:prstGeom>
        </p:spPr>
      </p:pic>
      <p:pic>
        <p:nvPicPr>
          <p:cNvPr id="11" name="Picture 10" descr="04_on-est-ensemble.png"/>
          <p:cNvPicPr>
            <a:picLocks noChangeAspect="1"/>
          </p:cNvPicPr>
          <p:nvPr/>
        </p:nvPicPr>
        <p:blipFill>
          <a:blip r:embed="rId6"/>
          <a:stretch>
            <a:fillRect/>
          </a:stretch>
        </p:blipFill>
        <p:spPr>
          <a:xfrm>
            <a:off x="5522976" y="2190303"/>
            <a:ext cx="1463040" cy="924025"/>
          </a:xfrm>
          <a:prstGeom prst="rect">
            <a:avLst/>
          </a:prstGeom>
        </p:spPr>
      </p:pic>
      <p:pic>
        <p:nvPicPr>
          <p:cNvPr id="12" name="Picture 11" descr="05_brief-recu.png"/>
          <p:cNvPicPr>
            <a:picLocks noChangeAspect="1"/>
          </p:cNvPicPr>
          <p:nvPr/>
        </p:nvPicPr>
        <p:blipFill>
          <a:blip r:embed="rId7"/>
          <a:stretch>
            <a:fillRect/>
          </a:stretch>
        </p:blipFill>
        <p:spPr>
          <a:xfrm>
            <a:off x="7196328" y="2230823"/>
            <a:ext cx="1463040" cy="843173"/>
          </a:xfrm>
          <a:prstGeom prst="rect">
            <a:avLst/>
          </a:prstGeom>
        </p:spPr>
      </p:pic>
      <p:pic>
        <p:nvPicPr>
          <p:cNvPr id="13" name="Picture 12" descr="06_valide.png"/>
          <p:cNvPicPr>
            <a:picLocks noChangeAspect="1"/>
          </p:cNvPicPr>
          <p:nvPr/>
        </p:nvPicPr>
        <p:blipFill>
          <a:blip r:embed="rId8"/>
          <a:stretch>
            <a:fillRect/>
          </a:stretch>
        </p:blipFill>
        <p:spPr>
          <a:xfrm>
            <a:off x="8869680" y="2317208"/>
            <a:ext cx="1463040" cy="669918"/>
          </a:xfrm>
          <a:prstGeom prst="rect">
            <a:avLst/>
          </a:prstGeom>
        </p:spPr>
      </p:pic>
      <p:pic>
        <p:nvPicPr>
          <p:cNvPr id="14" name="Picture 13" descr="07_vfinale.png"/>
          <p:cNvPicPr>
            <a:picLocks noChangeAspect="1"/>
          </p:cNvPicPr>
          <p:nvPr/>
        </p:nvPicPr>
        <p:blipFill>
          <a:blip r:embed="rId9"/>
          <a:stretch>
            <a:fillRect/>
          </a:stretch>
        </p:blipFill>
        <p:spPr>
          <a:xfrm>
            <a:off x="10543032" y="2212372"/>
            <a:ext cx="1463040" cy="877824"/>
          </a:xfrm>
          <a:prstGeom prst="rect">
            <a:avLst/>
          </a:prstGeom>
        </p:spPr>
      </p:pic>
      <p:pic>
        <p:nvPicPr>
          <p:cNvPr id="15" name="Picture 14" descr="08_en-tournage.png"/>
          <p:cNvPicPr>
            <a:picLocks noChangeAspect="1"/>
          </p:cNvPicPr>
          <p:nvPr/>
        </p:nvPicPr>
        <p:blipFill>
          <a:blip r:embed="rId10"/>
          <a:stretch>
            <a:fillRect/>
          </a:stretch>
        </p:blipFill>
        <p:spPr>
          <a:xfrm>
            <a:off x="502920" y="3998987"/>
            <a:ext cx="1463040" cy="1328286"/>
          </a:xfrm>
          <a:prstGeom prst="rect">
            <a:avLst/>
          </a:prstGeom>
        </p:spPr>
      </p:pic>
      <p:pic>
        <p:nvPicPr>
          <p:cNvPr id="16" name="Picture 15" descr="09_creatif-a-l-heure.png"/>
          <p:cNvPicPr>
            <a:picLocks noChangeAspect="1"/>
          </p:cNvPicPr>
          <p:nvPr/>
        </p:nvPicPr>
        <p:blipFill>
          <a:blip r:embed="rId11"/>
          <a:stretch>
            <a:fillRect/>
          </a:stretch>
        </p:blipFill>
        <p:spPr>
          <a:xfrm>
            <a:off x="2176272" y="4334325"/>
            <a:ext cx="1463040" cy="658368"/>
          </a:xfrm>
          <a:prstGeom prst="rect">
            <a:avLst/>
          </a:prstGeom>
        </p:spPr>
      </p:pic>
      <p:pic>
        <p:nvPicPr>
          <p:cNvPr id="17" name="Picture 16" descr="10_sept-pays.png"/>
          <p:cNvPicPr>
            <a:picLocks noChangeAspect="1"/>
          </p:cNvPicPr>
          <p:nvPr/>
        </p:nvPicPr>
        <p:blipFill>
          <a:blip r:embed="rId12"/>
          <a:stretch>
            <a:fillRect/>
          </a:stretch>
        </p:blipFill>
        <p:spPr>
          <a:xfrm>
            <a:off x="3849624" y="4250466"/>
            <a:ext cx="1463040" cy="827773"/>
          </a:xfrm>
          <a:prstGeom prst="rect">
            <a:avLst/>
          </a:prstGeom>
        </p:spPr>
      </p:pic>
      <p:pic>
        <p:nvPicPr>
          <p:cNvPr id="18" name="Picture 17" descr="11_made-in-abidjan.png"/>
          <p:cNvPicPr>
            <a:picLocks noChangeAspect="1"/>
          </p:cNvPicPr>
          <p:nvPr/>
        </p:nvPicPr>
        <p:blipFill>
          <a:blip r:embed="rId13"/>
          <a:stretch>
            <a:fillRect/>
          </a:stretch>
        </p:blipFill>
        <p:spPr>
          <a:xfrm>
            <a:off x="5522976" y="3931920"/>
            <a:ext cx="1463040" cy="1463040"/>
          </a:xfrm>
          <a:prstGeom prst="rect">
            <a:avLst/>
          </a:prstGeom>
        </p:spPr>
      </p:pic>
      <p:pic>
        <p:nvPicPr>
          <p:cNvPr id="19" name="Picture 18" descr="12_digital-creativity.png"/>
          <p:cNvPicPr>
            <a:picLocks noChangeAspect="1"/>
          </p:cNvPicPr>
          <p:nvPr/>
        </p:nvPicPr>
        <p:blipFill>
          <a:blip r:embed="rId14"/>
          <a:stretch>
            <a:fillRect/>
          </a:stretch>
        </p:blipFill>
        <p:spPr>
          <a:xfrm>
            <a:off x="7196328" y="4238007"/>
            <a:ext cx="1463040" cy="850873"/>
          </a:xfrm>
          <a:prstGeom prst="rect">
            <a:avLst/>
          </a:prstGeom>
        </p:spPr>
      </p:pic>
      <p:pic>
        <p:nvPicPr>
          <p:cNvPr id="20" name="Picture 19" descr="13_je-cree-avec-tx.png"/>
          <p:cNvPicPr>
            <a:picLocks noChangeAspect="1"/>
          </p:cNvPicPr>
          <p:nvPr/>
        </p:nvPicPr>
        <p:blipFill>
          <a:blip r:embed="rId15"/>
          <a:stretch>
            <a:fillRect/>
          </a:stretch>
        </p:blipFill>
        <p:spPr>
          <a:xfrm>
            <a:off x="9153400" y="3931920"/>
            <a:ext cx="895599" cy="1460634"/>
          </a:xfrm>
          <a:prstGeom prst="rect">
            <a:avLst/>
          </a:prstGeom>
        </p:spPr>
      </p:pic>
      <p:pic>
        <p:nvPicPr>
          <p:cNvPr id="21" name="Picture 20" descr="14_adicomdays-j-y-etais.png"/>
          <p:cNvPicPr>
            <a:picLocks noChangeAspect="1"/>
          </p:cNvPicPr>
          <p:nvPr/>
        </p:nvPicPr>
        <p:blipFill>
          <a:blip r:embed="rId16"/>
          <a:stretch>
            <a:fillRect/>
          </a:stretch>
        </p:blipFill>
        <p:spPr>
          <a:xfrm>
            <a:off x="10543032" y="4107585"/>
            <a:ext cx="1463040" cy="1112680"/>
          </a:xfrm>
          <a:prstGeom prst="rect">
            <a:avLst/>
          </a:prstGeom>
        </p:spPr>
      </p:pic>
      <p:sp>
        <p:nvSpPr>
          <p:cNvPr id="22" name="TextBox 21"/>
          <p:cNvSpPr txBox="1"/>
          <p:nvPr/>
        </p:nvSpPr>
        <p:spPr>
          <a:xfrm>
            <a:off x="548640" y="5943600"/>
            <a:ext cx="10972800" cy="365760"/>
          </a:xfrm>
          <a:prstGeom prst="rect">
            <a:avLst/>
          </a:prstGeom>
          <a:noFill/>
        </p:spPr>
        <p:txBody>
          <a:bodyPr wrap="square">
            <a:spAutoFit/>
          </a:bodyPr>
          <a:lstStyle/>
          <a:p>
            <a:pPr>
              <a:spcAft>
                <a:spcPts val="419"/>
              </a:spcAft>
            </a:pPr>
            <a:r>
              <a:rPr sz="1200" b="0">
                <a:solidFill>
                  <a:srgbClr val="D9D9D9"/>
                </a:solidFill>
                <a:latin typeface="Montserrat"/>
              </a:rPr>
              <a:t>Bordure blanche de découpe, fond transparent, haute définition.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whit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FFFFFF"/>
                </a:solidFill>
                <a:latin typeface="Montserrat"/>
              </a:rPr>
              <a:t>6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FFFFFF"/>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B6D401"/>
                </a:solidFill>
                <a:latin typeface="Montserrat"/>
              </a:rPr>
              <a:t>LES STICKERS · SÉRIE 2</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FFFFFF"/>
                </a:solidFill>
                <a:latin typeface="Montserrat"/>
              </a:rPr>
              <a:t>16 STICKERS À ICÔNES</a:t>
            </a:r>
          </a:p>
        </p:txBody>
      </p:sp>
      <p:pic>
        <p:nvPicPr>
          <p:cNvPr id="8" name="Picture 7" descr="15_like-de-la-tribu.png"/>
          <p:cNvPicPr>
            <a:picLocks noChangeAspect="1"/>
          </p:cNvPicPr>
          <p:nvPr/>
        </p:nvPicPr>
        <p:blipFill>
          <a:blip r:embed="rId3"/>
          <a:stretch>
            <a:fillRect/>
          </a:stretch>
        </p:blipFill>
        <p:spPr>
          <a:xfrm>
            <a:off x="490773" y="1828800"/>
            <a:ext cx="1213013" cy="1280403"/>
          </a:xfrm>
          <a:prstGeom prst="rect">
            <a:avLst/>
          </a:prstGeom>
        </p:spPr>
      </p:pic>
      <p:pic>
        <p:nvPicPr>
          <p:cNvPr id="9" name="Picture 8" descr="16_ca-tourne.png"/>
          <p:cNvPicPr>
            <a:picLocks noChangeAspect="1"/>
          </p:cNvPicPr>
          <p:nvPr/>
        </p:nvPicPr>
        <p:blipFill>
          <a:blip r:embed="rId4"/>
          <a:stretch>
            <a:fillRect/>
          </a:stretch>
        </p:blipFill>
        <p:spPr>
          <a:xfrm>
            <a:off x="1883288" y="1828800"/>
            <a:ext cx="1262623" cy="1279458"/>
          </a:xfrm>
          <a:prstGeom prst="rect">
            <a:avLst/>
          </a:prstGeom>
        </p:spPr>
      </p:pic>
      <p:pic>
        <p:nvPicPr>
          <p:cNvPr id="10" name="Picture 9" descr="17_micro-ouvert.png"/>
          <p:cNvPicPr>
            <a:picLocks noChangeAspect="1"/>
          </p:cNvPicPr>
          <p:nvPr/>
        </p:nvPicPr>
        <p:blipFill>
          <a:blip r:embed="rId5"/>
          <a:stretch>
            <a:fillRect/>
          </a:stretch>
        </p:blipFill>
        <p:spPr>
          <a:xfrm>
            <a:off x="3291840" y="1828800"/>
            <a:ext cx="1280160" cy="1280160"/>
          </a:xfrm>
          <a:prstGeom prst="rect">
            <a:avLst/>
          </a:prstGeom>
        </p:spPr>
      </p:pic>
      <p:pic>
        <p:nvPicPr>
          <p:cNvPr id="11" name="Picture 10" descr="18_appuie-sur-play.png"/>
          <p:cNvPicPr>
            <a:picLocks noChangeAspect="1"/>
          </p:cNvPicPr>
          <p:nvPr/>
        </p:nvPicPr>
        <p:blipFill>
          <a:blip r:embed="rId6"/>
          <a:stretch>
            <a:fillRect/>
          </a:stretch>
        </p:blipFill>
        <p:spPr>
          <a:xfrm>
            <a:off x="4709160" y="2265106"/>
            <a:ext cx="1280160" cy="407630"/>
          </a:xfrm>
          <a:prstGeom prst="rect">
            <a:avLst/>
          </a:prstGeom>
        </p:spPr>
      </p:pic>
      <p:pic>
        <p:nvPicPr>
          <p:cNvPr id="12" name="Picture 11" descr="19_abidjan.png"/>
          <p:cNvPicPr>
            <a:picLocks noChangeAspect="1"/>
          </p:cNvPicPr>
          <p:nvPr/>
        </p:nvPicPr>
        <p:blipFill>
          <a:blip r:embed="rId7"/>
          <a:stretch>
            <a:fillRect/>
          </a:stretch>
        </p:blipFill>
        <p:spPr>
          <a:xfrm>
            <a:off x="6126480" y="1828800"/>
            <a:ext cx="1280160" cy="1280160"/>
          </a:xfrm>
          <a:prstGeom prst="rect">
            <a:avLst/>
          </a:prstGeom>
        </p:spPr>
      </p:pic>
      <p:pic>
        <p:nvPicPr>
          <p:cNvPr id="13" name="Picture 12" descr="20_adicomdays.png"/>
          <p:cNvPicPr>
            <a:picLocks noChangeAspect="1"/>
          </p:cNvPicPr>
          <p:nvPr/>
        </p:nvPicPr>
        <p:blipFill>
          <a:blip r:embed="rId8"/>
          <a:stretch>
            <a:fillRect/>
          </a:stretch>
        </p:blipFill>
        <p:spPr>
          <a:xfrm>
            <a:off x="7543800" y="2240972"/>
            <a:ext cx="1280160" cy="454794"/>
          </a:xfrm>
          <a:prstGeom prst="rect">
            <a:avLst/>
          </a:prstGeom>
        </p:spPr>
      </p:pic>
      <p:pic>
        <p:nvPicPr>
          <p:cNvPr id="14" name="Picture 13" descr="21_on-fait-du-bruit.png"/>
          <p:cNvPicPr>
            <a:picLocks noChangeAspect="1"/>
          </p:cNvPicPr>
          <p:nvPr/>
        </p:nvPicPr>
        <p:blipFill>
          <a:blip r:embed="rId9"/>
          <a:stretch>
            <a:fillRect/>
          </a:stretch>
        </p:blipFill>
        <p:spPr>
          <a:xfrm>
            <a:off x="8991215" y="1828800"/>
            <a:ext cx="1219968" cy="1280629"/>
          </a:xfrm>
          <a:prstGeom prst="rect">
            <a:avLst/>
          </a:prstGeom>
        </p:spPr>
      </p:pic>
      <p:pic>
        <p:nvPicPr>
          <p:cNvPr id="15" name="Picture 14" descr="22_idee-de-2h.png"/>
          <p:cNvPicPr>
            <a:picLocks noChangeAspect="1"/>
          </p:cNvPicPr>
          <p:nvPr/>
        </p:nvPicPr>
        <p:blipFill>
          <a:blip r:embed="rId10"/>
          <a:stretch>
            <a:fillRect/>
          </a:stretch>
        </p:blipFill>
        <p:spPr>
          <a:xfrm>
            <a:off x="10378440" y="2286540"/>
            <a:ext cx="1280160" cy="363835"/>
          </a:xfrm>
          <a:prstGeom prst="rect">
            <a:avLst/>
          </a:prstGeom>
        </p:spPr>
      </p:pic>
      <p:pic>
        <p:nvPicPr>
          <p:cNvPr id="16" name="Picture 15" descr="23_brief-idee.png"/>
          <p:cNvPicPr>
            <a:picLocks noChangeAspect="1"/>
          </p:cNvPicPr>
          <p:nvPr/>
        </p:nvPicPr>
        <p:blipFill>
          <a:blip r:embed="rId11"/>
          <a:stretch>
            <a:fillRect/>
          </a:stretch>
        </p:blipFill>
        <p:spPr>
          <a:xfrm>
            <a:off x="490307" y="3794760"/>
            <a:ext cx="1213944" cy="1281385"/>
          </a:xfrm>
          <a:prstGeom prst="rect">
            <a:avLst/>
          </a:prstGeom>
        </p:spPr>
      </p:pic>
      <p:pic>
        <p:nvPicPr>
          <p:cNvPr id="17" name="Picture 16" descr="24_mobile-d-abord.png"/>
          <p:cNvPicPr>
            <a:picLocks noChangeAspect="1"/>
          </p:cNvPicPr>
          <p:nvPr/>
        </p:nvPicPr>
        <p:blipFill>
          <a:blip r:embed="rId12"/>
          <a:stretch>
            <a:fillRect/>
          </a:stretch>
        </p:blipFill>
        <p:spPr>
          <a:xfrm>
            <a:off x="1904119" y="3794760"/>
            <a:ext cx="1220961" cy="1281672"/>
          </a:xfrm>
          <a:prstGeom prst="rect">
            <a:avLst/>
          </a:prstGeom>
        </p:spPr>
      </p:pic>
      <p:pic>
        <p:nvPicPr>
          <p:cNvPr id="18" name="Picture 17" descr="25_on-en-parle.png"/>
          <p:cNvPicPr>
            <a:picLocks noChangeAspect="1"/>
          </p:cNvPicPr>
          <p:nvPr/>
        </p:nvPicPr>
        <p:blipFill>
          <a:blip r:embed="rId13"/>
          <a:stretch>
            <a:fillRect/>
          </a:stretch>
        </p:blipFill>
        <p:spPr>
          <a:xfrm>
            <a:off x="3291840" y="4211407"/>
            <a:ext cx="1280160" cy="448056"/>
          </a:xfrm>
          <a:prstGeom prst="rect">
            <a:avLst/>
          </a:prstGeom>
        </p:spPr>
      </p:pic>
      <p:pic>
        <p:nvPicPr>
          <p:cNvPr id="19" name="Picture 18" descr="26_ca-buzz.png"/>
          <p:cNvPicPr>
            <a:picLocks noChangeAspect="1"/>
          </p:cNvPicPr>
          <p:nvPr/>
        </p:nvPicPr>
        <p:blipFill>
          <a:blip r:embed="rId14"/>
          <a:stretch>
            <a:fillRect/>
          </a:stretch>
        </p:blipFill>
        <p:spPr>
          <a:xfrm>
            <a:off x="4709160" y="3794760"/>
            <a:ext cx="1280160" cy="1280160"/>
          </a:xfrm>
          <a:prstGeom prst="rect">
            <a:avLst/>
          </a:prstGeom>
        </p:spPr>
      </p:pic>
      <p:pic>
        <p:nvPicPr>
          <p:cNvPr id="20" name="Picture 19" descr="27_lancement.png"/>
          <p:cNvPicPr>
            <a:picLocks noChangeAspect="1"/>
          </p:cNvPicPr>
          <p:nvPr/>
        </p:nvPicPr>
        <p:blipFill>
          <a:blip r:embed="rId15"/>
          <a:stretch>
            <a:fillRect/>
          </a:stretch>
        </p:blipFill>
        <p:spPr>
          <a:xfrm>
            <a:off x="6160053" y="3794760"/>
            <a:ext cx="1213013" cy="1280403"/>
          </a:xfrm>
          <a:prstGeom prst="rect">
            <a:avLst/>
          </a:prstGeom>
        </p:spPr>
      </p:pic>
      <p:pic>
        <p:nvPicPr>
          <p:cNvPr id="21" name="Picture 20" descr="28_cafe-puis-crea.png"/>
          <p:cNvPicPr>
            <a:picLocks noChangeAspect="1"/>
          </p:cNvPicPr>
          <p:nvPr/>
        </p:nvPicPr>
        <p:blipFill>
          <a:blip r:embed="rId16"/>
          <a:stretch>
            <a:fillRect/>
          </a:stretch>
        </p:blipFill>
        <p:spPr>
          <a:xfrm>
            <a:off x="7543800" y="4233333"/>
            <a:ext cx="1280160" cy="404261"/>
          </a:xfrm>
          <a:prstGeom prst="rect">
            <a:avLst/>
          </a:prstGeom>
        </p:spPr>
      </p:pic>
      <p:pic>
        <p:nvPicPr>
          <p:cNvPr id="22" name="Picture 21" descr="29_brand-content.png"/>
          <p:cNvPicPr>
            <a:picLocks noChangeAspect="1"/>
          </p:cNvPicPr>
          <p:nvPr/>
        </p:nvPicPr>
        <p:blipFill>
          <a:blip r:embed="rId17"/>
          <a:stretch>
            <a:fillRect/>
          </a:stretch>
        </p:blipFill>
        <p:spPr>
          <a:xfrm>
            <a:off x="8989813" y="3794760"/>
            <a:ext cx="1222773" cy="1280038"/>
          </a:xfrm>
          <a:prstGeom prst="rect">
            <a:avLst/>
          </a:prstGeom>
        </p:spPr>
      </p:pic>
      <p:pic>
        <p:nvPicPr>
          <p:cNvPr id="23" name="Picture 22" descr="30_panafricain.png"/>
          <p:cNvPicPr>
            <a:picLocks noChangeAspect="1"/>
          </p:cNvPicPr>
          <p:nvPr/>
        </p:nvPicPr>
        <p:blipFill>
          <a:blip r:embed="rId18"/>
          <a:stretch>
            <a:fillRect/>
          </a:stretch>
        </p:blipFill>
        <p:spPr>
          <a:xfrm>
            <a:off x="10378440" y="3794760"/>
            <a:ext cx="1280160" cy="1280160"/>
          </a:xfrm>
          <a:prstGeom prst="rect">
            <a:avLst/>
          </a:prstGeom>
        </p:spPr>
      </p:pic>
      <p:sp>
        <p:nvSpPr>
          <p:cNvPr id="24" name="TextBox 23"/>
          <p:cNvSpPr txBox="1"/>
          <p:nvPr/>
        </p:nvSpPr>
        <p:spPr>
          <a:xfrm>
            <a:off x="548640" y="5943600"/>
            <a:ext cx="10972800" cy="365760"/>
          </a:xfrm>
          <a:prstGeom prst="rect">
            <a:avLst/>
          </a:prstGeom>
          <a:noFill/>
        </p:spPr>
        <p:txBody>
          <a:bodyPr wrap="square">
            <a:spAutoFit/>
          </a:bodyPr>
          <a:lstStyle/>
          <a:p>
            <a:pPr>
              <a:spcAft>
                <a:spcPts val="419"/>
              </a:spcAft>
            </a:pPr>
            <a:r>
              <a:rPr sz="1200" b="0">
                <a:solidFill>
                  <a:srgbClr val="D9D9D9"/>
                </a:solidFill>
                <a:latin typeface="Montserrat"/>
              </a:rPr>
              <a:t>Trois formes : l’icône d’application, la pastille ronde, la pilule. Icônes libres de droits (licence MIT).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7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LES STICKERS · LA MARQUE</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LE GROUPE ET LA TRIBU</a:t>
            </a:r>
          </a:p>
        </p:txBody>
      </p:sp>
      <p:pic>
        <p:nvPicPr>
          <p:cNvPr id="8" name="Picture 7" descr="01_le-totem.png"/>
          <p:cNvPicPr>
            <a:picLocks noChangeAspect="1"/>
          </p:cNvPicPr>
          <p:nvPr/>
        </p:nvPicPr>
        <p:blipFill>
          <a:blip r:embed="rId3"/>
          <a:stretch>
            <a:fillRect/>
          </a:stretch>
        </p:blipFill>
        <p:spPr>
          <a:xfrm>
            <a:off x="1171330" y="2011680"/>
            <a:ext cx="1223498" cy="2372088"/>
          </a:xfrm>
          <a:prstGeom prst="rect">
            <a:avLst/>
          </a:prstGeom>
        </p:spPr>
      </p:pic>
      <p:sp>
        <p:nvSpPr>
          <p:cNvPr id="9" name="TextBox 8"/>
          <p:cNvSpPr txBox="1"/>
          <p:nvPr/>
        </p:nvSpPr>
        <p:spPr>
          <a:xfrm>
            <a:off x="54864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Le totem</a:t>
            </a:r>
          </a:p>
        </p:txBody>
      </p:sp>
      <p:sp>
        <p:nvSpPr>
          <p:cNvPr id="10" name="TextBox 9"/>
          <p:cNvSpPr txBox="1"/>
          <p:nvPr/>
        </p:nvSpPr>
        <p:spPr>
          <a:xfrm>
            <a:off x="54864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Le TX en tête, puis Agency, Factory et Adicom empilés.</a:t>
            </a:r>
          </a:p>
        </p:txBody>
      </p:sp>
      <p:pic>
        <p:nvPicPr>
          <p:cNvPr id="11" name="Picture 10" descr="03_la-tribu-tx.png"/>
          <p:cNvPicPr>
            <a:picLocks noChangeAspect="1"/>
          </p:cNvPicPr>
          <p:nvPr/>
        </p:nvPicPr>
        <p:blipFill>
          <a:blip r:embed="rId4"/>
          <a:stretch>
            <a:fillRect/>
          </a:stretch>
        </p:blipFill>
        <p:spPr>
          <a:xfrm>
            <a:off x="3429000" y="2011680"/>
            <a:ext cx="2377440" cy="2377440"/>
          </a:xfrm>
          <a:prstGeom prst="rect">
            <a:avLst/>
          </a:prstGeom>
        </p:spPr>
      </p:pic>
      <p:sp>
        <p:nvSpPr>
          <p:cNvPr id="12" name="TextBox 11"/>
          <p:cNvSpPr txBox="1"/>
          <p:nvPr/>
        </p:nvSpPr>
        <p:spPr>
          <a:xfrm>
            <a:off x="338328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La tribu TX</a:t>
            </a:r>
          </a:p>
        </p:txBody>
      </p:sp>
      <p:sp>
        <p:nvSpPr>
          <p:cNvPr id="13" name="TextBox 12"/>
          <p:cNvSpPr txBox="1"/>
          <p:nvPr/>
        </p:nvSpPr>
        <p:spPr>
          <a:xfrm>
            <a:off x="338328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Badge rond pour l’équipe et les créateurs du réseau.</a:t>
            </a:r>
          </a:p>
        </p:txBody>
      </p:sp>
      <p:pic>
        <p:nvPicPr>
          <p:cNvPr id="14" name="Picture 13" descr="10_sept-pays.png"/>
          <p:cNvPicPr>
            <a:picLocks noChangeAspect="1"/>
          </p:cNvPicPr>
          <p:nvPr/>
        </p:nvPicPr>
        <p:blipFill>
          <a:blip r:embed="rId5"/>
          <a:stretch>
            <a:fillRect/>
          </a:stretch>
        </p:blipFill>
        <p:spPr>
          <a:xfrm>
            <a:off x="6217920" y="2503507"/>
            <a:ext cx="2468880" cy="1396866"/>
          </a:xfrm>
          <a:prstGeom prst="rect">
            <a:avLst/>
          </a:prstGeom>
        </p:spPr>
      </p:pic>
      <p:sp>
        <p:nvSpPr>
          <p:cNvPr id="15" name="TextBox 14"/>
          <p:cNvSpPr txBox="1"/>
          <p:nvPr/>
        </p:nvSpPr>
        <p:spPr>
          <a:xfrm>
            <a:off x="621792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7 pays, une tribu</a:t>
            </a:r>
          </a:p>
        </p:txBody>
      </p:sp>
      <p:sp>
        <p:nvSpPr>
          <p:cNvPr id="16" name="TextBox 15"/>
          <p:cNvSpPr txBox="1"/>
          <p:nvPr/>
        </p:nvSpPr>
        <p:spPr>
          <a:xfrm>
            <a:off x="621792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Étiquette bagage aux sept villes de l’équipe.</a:t>
            </a:r>
          </a:p>
        </p:txBody>
      </p:sp>
      <p:pic>
        <p:nvPicPr>
          <p:cNvPr id="17" name="Picture 16" descr="30_panafricain.png"/>
          <p:cNvPicPr>
            <a:picLocks noChangeAspect="1"/>
          </p:cNvPicPr>
          <p:nvPr/>
        </p:nvPicPr>
        <p:blipFill>
          <a:blip r:embed="rId6"/>
          <a:stretch>
            <a:fillRect/>
          </a:stretch>
        </p:blipFill>
        <p:spPr>
          <a:xfrm>
            <a:off x="9098280" y="2011680"/>
            <a:ext cx="2377440" cy="2377440"/>
          </a:xfrm>
          <a:prstGeom prst="rect">
            <a:avLst/>
          </a:prstGeom>
        </p:spPr>
      </p:pic>
      <p:sp>
        <p:nvSpPr>
          <p:cNvPr id="18" name="TextBox 17"/>
          <p:cNvSpPr txBox="1"/>
          <p:nvPr/>
        </p:nvSpPr>
        <p:spPr>
          <a:xfrm>
            <a:off x="905256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Panafricain</a:t>
            </a:r>
          </a:p>
        </p:txBody>
      </p:sp>
      <p:sp>
        <p:nvSpPr>
          <p:cNvPr id="19" name="TextBox 18"/>
          <p:cNvSpPr txBox="1"/>
          <p:nvPr/>
        </p:nvSpPr>
        <p:spPr>
          <a:xfrm>
            <a:off x="905256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La pastille qui dit le périmètre du groupe.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8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LES STICKERS · LE MÉTIER</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LES BLAGUES D’AGENCE</a:t>
            </a:r>
          </a:p>
        </p:txBody>
      </p:sp>
      <p:pic>
        <p:nvPicPr>
          <p:cNvPr id="8" name="Picture 7" descr="05_brief-recu.png"/>
          <p:cNvPicPr>
            <a:picLocks noChangeAspect="1"/>
          </p:cNvPicPr>
          <p:nvPr/>
        </p:nvPicPr>
        <p:blipFill>
          <a:blip r:embed="rId3"/>
          <a:stretch>
            <a:fillRect/>
          </a:stretch>
        </p:blipFill>
        <p:spPr>
          <a:xfrm>
            <a:off x="548640" y="2490069"/>
            <a:ext cx="2468880" cy="1422855"/>
          </a:xfrm>
          <a:prstGeom prst="rect">
            <a:avLst/>
          </a:prstGeom>
        </p:spPr>
      </p:pic>
      <p:sp>
        <p:nvSpPr>
          <p:cNvPr id="9" name="TextBox 8"/>
          <p:cNvSpPr txBox="1"/>
          <p:nvPr/>
        </p:nvSpPr>
        <p:spPr>
          <a:xfrm>
            <a:off x="54864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Brief reçu</a:t>
            </a:r>
          </a:p>
        </p:txBody>
      </p:sp>
      <p:sp>
        <p:nvSpPr>
          <p:cNvPr id="10" name="TextBox 9"/>
          <p:cNvSpPr txBox="1"/>
          <p:nvPr/>
        </p:nvSpPr>
        <p:spPr>
          <a:xfrm>
            <a:off x="54864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Sur les carnets, les dossiers, les ordinateurs.</a:t>
            </a:r>
          </a:p>
        </p:txBody>
      </p:sp>
      <p:pic>
        <p:nvPicPr>
          <p:cNvPr id="11" name="Picture 10" descr="07_vfinale.png"/>
          <p:cNvPicPr>
            <a:picLocks noChangeAspect="1"/>
          </p:cNvPicPr>
          <p:nvPr/>
        </p:nvPicPr>
        <p:blipFill>
          <a:blip r:embed="rId4"/>
          <a:stretch>
            <a:fillRect/>
          </a:stretch>
        </p:blipFill>
        <p:spPr>
          <a:xfrm>
            <a:off x="3383280" y="2458934"/>
            <a:ext cx="2468880" cy="1481328"/>
          </a:xfrm>
          <a:prstGeom prst="rect">
            <a:avLst/>
          </a:prstGeom>
        </p:spPr>
      </p:pic>
      <p:sp>
        <p:nvSpPr>
          <p:cNvPr id="12" name="TextBox 11"/>
          <p:cNvSpPr txBox="1"/>
          <p:nvPr/>
        </p:nvSpPr>
        <p:spPr>
          <a:xfrm>
            <a:off x="338328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VFINALE_v3</a:t>
            </a:r>
          </a:p>
        </p:txBody>
      </p:sp>
      <p:sp>
        <p:nvSpPr>
          <p:cNvPr id="13" name="TextBox 12"/>
          <p:cNvSpPr txBox="1"/>
          <p:nvPr/>
        </p:nvSpPr>
        <p:spPr>
          <a:xfrm>
            <a:off x="338328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Le fichier que toute agence a déjà envoyé.</a:t>
            </a:r>
          </a:p>
        </p:txBody>
      </p:sp>
      <p:pic>
        <p:nvPicPr>
          <p:cNvPr id="14" name="Picture 13" descr="22_idee-de-2h.png"/>
          <p:cNvPicPr>
            <a:picLocks noChangeAspect="1"/>
          </p:cNvPicPr>
          <p:nvPr/>
        </p:nvPicPr>
        <p:blipFill>
          <a:blip r:embed="rId5"/>
          <a:stretch>
            <a:fillRect/>
          </a:stretch>
        </p:blipFill>
        <p:spPr>
          <a:xfrm>
            <a:off x="6217920" y="2848745"/>
            <a:ext cx="2468880" cy="701682"/>
          </a:xfrm>
          <a:prstGeom prst="rect">
            <a:avLst/>
          </a:prstGeom>
        </p:spPr>
      </p:pic>
      <p:sp>
        <p:nvSpPr>
          <p:cNvPr id="15" name="TextBox 14"/>
          <p:cNvSpPr txBox="1"/>
          <p:nvPr/>
        </p:nvSpPr>
        <p:spPr>
          <a:xfrm>
            <a:off x="621792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Idée de 2 h du mat</a:t>
            </a:r>
          </a:p>
        </p:txBody>
      </p:sp>
      <p:sp>
        <p:nvSpPr>
          <p:cNvPr id="16" name="TextBox 15"/>
          <p:cNvSpPr txBox="1"/>
          <p:nvPr/>
        </p:nvSpPr>
        <p:spPr>
          <a:xfrm>
            <a:off x="621792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Pour les nuits avant la présentation.</a:t>
            </a:r>
          </a:p>
        </p:txBody>
      </p:sp>
      <p:pic>
        <p:nvPicPr>
          <p:cNvPr id="17" name="Picture 16" descr="28_cafe-puis-crea.png"/>
          <p:cNvPicPr>
            <a:picLocks noChangeAspect="1"/>
          </p:cNvPicPr>
          <p:nvPr/>
        </p:nvPicPr>
        <p:blipFill>
          <a:blip r:embed="rId6"/>
          <a:stretch>
            <a:fillRect/>
          </a:stretch>
        </p:blipFill>
        <p:spPr>
          <a:xfrm>
            <a:off x="9052560" y="2811780"/>
            <a:ext cx="2468880" cy="779646"/>
          </a:xfrm>
          <a:prstGeom prst="rect">
            <a:avLst/>
          </a:prstGeom>
        </p:spPr>
      </p:pic>
      <p:sp>
        <p:nvSpPr>
          <p:cNvPr id="18" name="TextBox 17"/>
          <p:cNvSpPr txBox="1"/>
          <p:nvPr/>
        </p:nvSpPr>
        <p:spPr>
          <a:xfrm>
            <a:off x="905256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Café, puis créa</a:t>
            </a:r>
          </a:p>
        </p:txBody>
      </p:sp>
      <p:sp>
        <p:nvSpPr>
          <p:cNvPr id="19" name="TextBox 18"/>
          <p:cNvSpPr txBox="1"/>
          <p:nvPr/>
        </p:nvSpPr>
        <p:spPr>
          <a:xfrm>
            <a:off x="905256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L’ordre des choses, au studio.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9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LES STICKERS · LES RÉSEAUX</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LE LANGAGE DES ÉCRANS</a:t>
            </a:r>
          </a:p>
        </p:txBody>
      </p:sp>
      <p:pic>
        <p:nvPicPr>
          <p:cNvPr id="8" name="Picture 7" descr="15_like-de-la-tribu.png"/>
          <p:cNvPicPr>
            <a:picLocks noChangeAspect="1"/>
          </p:cNvPicPr>
          <p:nvPr/>
        </p:nvPicPr>
        <p:blipFill>
          <a:blip r:embed="rId3"/>
          <a:stretch>
            <a:fillRect/>
          </a:stretch>
        </p:blipFill>
        <p:spPr>
          <a:xfrm>
            <a:off x="656710" y="2011680"/>
            <a:ext cx="2252739" cy="2377891"/>
          </a:xfrm>
          <a:prstGeom prst="rect">
            <a:avLst/>
          </a:prstGeom>
        </p:spPr>
      </p:pic>
      <p:sp>
        <p:nvSpPr>
          <p:cNvPr id="9" name="TextBox 8"/>
          <p:cNvSpPr txBox="1"/>
          <p:nvPr/>
        </p:nvSpPr>
        <p:spPr>
          <a:xfrm>
            <a:off x="54864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Liké par la tribu</a:t>
            </a:r>
          </a:p>
        </p:txBody>
      </p:sp>
      <p:sp>
        <p:nvSpPr>
          <p:cNvPr id="10" name="TextBox 9"/>
          <p:cNvSpPr txBox="1"/>
          <p:nvPr/>
        </p:nvSpPr>
        <p:spPr>
          <a:xfrm>
            <a:off x="54864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Le cœur des réseaux, signé TX.</a:t>
            </a:r>
          </a:p>
        </p:txBody>
      </p:sp>
      <p:pic>
        <p:nvPicPr>
          <p:cNvPr id="11" name="Picture 10" descr="16_ca-tourne.png"/>
          <p:cNvPicPr>
            <a:picLocks noChangeAspect="1"/>
          </p:cNvPicPr>
          <p:nvPr/>
        </p:nvPicPr>
        <p:blipFill>
          <a:blip r:embed="rId4"/>
          <a:stretch>
            <a:fillRect/>
          </a:stretch>
        </p:blipFill>
        <p:spPr>
          <a:xfrm>
            <a:off x="3445283" y="2011680"/>
            <a:ext cx="2344872" cy="2376137"/>
          </a:xfrm>
          <a:prstGeom prst="rect">
            <a:avLst/>
          </a:prstGeom>
        </p:spPr>
      </p:pic>
      <p:sp>
        <p:nvSpPr>
          <p:cNvPr id="12" name="TextBox 11"/>
          <p:cNvSpPr txBox="1"/>
          <p:nvPr/>
        </p:nvSpPr>
        <p:spPr>
          <a:xfrm>
            <a:off x="338328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Ça tourne</a:t>
            </a:r>
          </a:p>
        </p:txBody>
      </p:sp>
      <p:sp>
        <p:nvSpPr>
          <p:cNvPr id="13" name="TextBox 12"/>
          <p:cNvSpPr txBox="1"/>
          <p:nvPr/>
        </p:nvSpPr>
        <p:spPr>
          <a:xfrm>
            <a:off x="338328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Pour TX Factory, sur les plateaux.</a:t>
            </a:r>
          </a:p>
        </p:txBody>
      </p:sp>
      <p:pic>
        <p:nvPicPr>
          <p:cNvPr id="14" name="Picture 13" descr="17_micro-ouvert.png"/>
          <p:cNvPicPr>
            <a:picLocks noChangeAspect="1"/>
          </p:cNvPicPr>
          <p:nvPr/>
        </p:nvPicPr>
        <p:blipFill>
          <a:blip r:embed="rId5"/>
          <a:stretch>
            <a:fillRect/>
          </a:stretch>
        </p:blipFill>
        <p:spPr>
          <a:xfrm>
            <a:off x="6263640" y="2011680"/>
            <a:ext cx="2377440" cy="2377440"/>
          </a:xfrm>
          <a:prstGeom prst="rect">
            <a:avLst/>
          </a:prstGeom>
        </p:spPr>
      </p:pic>
      <p:sp>
        <p:nvSpPr>
          <p:cNvPr id="15" name="TextBox 14"/>
          <p:cNvSpPr txBox="1"/>
          <p:nvPr/>
        </p:nvSpPr>
        <p:spPr>
          <a:xfrm>
            <a:off x="621792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Micro ouvert</a:t>
            </a:r>
          </a:p>
        </p:txBody>
      </p:sp>
      <p:sp>
        <p:nvSpPr>
          <p:cNvPr id="16" name="TextBox 15"/>
          <p:cNvSpPr txBox="1"/>
          <p:nvPr/>
        </p:nvSpPr>
        <p:spPr>
          <a:xfrm>
            <a:off x="621792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Pour les intervenants des ADICOMDAYS.</a:t>
            </a:r>
          </a:p>
        </p:txBody>
      </p:sp>
      <p:pic>
        <p:nvPicPr>
          <p:cNvPr id="17" name="Picture 16" descr="26_ca-buzz.png"/>
          <p:cNvPicPr>
            <a:picLocks noChangeAspect="1"/>
          </p:cNvPicPr>
          <p:nvPr/>
        </p:nvPicPr>
        <p:blipFill>
          <a:blip r:embed="rId6"/>
          <a:stretch>
            <a:fillRect/>
          </a:stretch>
        </p:blipFill>
        <p:spPr>
          <a:xfrm>
            <a:off x="9098280" y="2011680"/>
            <a:ext cx="2377440" cy="2377440"/>
          </a:xfrm>
          <a:prstGeom prst="rect">
            <a:avLst/>
          </a:prstGeom>
        </p:spPr>
      </p:pic>
      <p:sp>
        <p:nvSpPr>
          <p:cNvPr id="18" name="TextBox 17"/>
          <p:cNvSpPr txBox="1"/>
          <p:nvPr/>
        </p:nvSpPr>
        <p:spPr>
          <a:xfrm>
            <a:off x="9052560" y="4572000"/>
            <a:ext cx="2560320" cy="365760"/>
          </a:xfrm>
          <a:prstGeom prst="rect">
            <a:avLst/>
          </a:prstGeom>
          <a:noFill/>
        </p:spPr>
        <p:txBody>
          <a:bodyPr wrap="square">
            <a:spAutoFit/>
          </a:bodyPr>
          <a:lstStyle/>
          <a:p>
            <a:pPr>
              <a:spcAft>
                <a:spcPts val="525"/>
              </a:spcAft>
            </a:pPr>
            <a:r>
              <a:rPr sz="1500" b="1">
                <a:solidFill>
                  <a:srgbClr val="141414"/>
                </a:solidFill>
                <a:latin typeface="Montserrat"/>
              </a:rPr>
              <a:t>Ça buzz</a:t>
            </a:r>
          </a:p>
        </p:txBody>
      </p:sp>
      <p:sp>
        <p:nvSpPr>
          <p:cNvPr id="19" name="TextBox 18"/>
          <p:cNvSpPr txBox="1"/>
          <p:nvPr/>
        </p:nvSpPr>
        <p:spPr>
          <a:xfrm>
            <a:off x="9052560" y="4983480"/>
            <a:ext cx="2560320" cy="1097280"/>
          </a:xfrm>
          <a:prstGeom prst="rect">
            <a:avLst/>
          </a:prstGeom>
          <a:noFill/>
        </p:spPr>
        <p:txBody>
          <a:bodyPr wrap="square">
            <a:spAutoFit/>
          </a:bodyPr>
          <a:lstStyle/>
          <a:p>
            <a:pPr>
              <a:spcAft>
                <a:spcPts val="419"/>
              </a:spcAft>
            </a:pPr>
            <a:r>
              <a:rPr sz="1200" b="0">
                <a:solidFill>
                  <a:srgbClr val="5A5A5A"/>
                </a:solidFill>
                <a:latin typeface="Montserrat"/>
              </a:rPr>
              <a:t>Quand une campagne décolle.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whit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FFFFFF"/>
                </a:solidFill>
                <a:latin typeface="Montserrat"/>
              </a:rPr>
              <a:t>10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FFFFFF"/>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B6D401"/>
                </a:solidFill>
                <a:latin typeface="Montserrat"/>
              </a:rPr>
              <a:t>LES GOODIES</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FFFFFF"/>
                </a:solidFill>
                <a:latin typeface="Montserrat"/>
              </a:rPr>
              <a:t>17 OBJETS, EN SITUATION RÉELLE</a:t>
            </a:r>
          </a:p>
        </p:txBody>
      </p:sp>
      <p:pic>
        <p:nvPicPr>
          <p:cNvPr id="8" name="Picture 7" descr="c_01_tote-noir_la-tribu_100.jpg"/>
          <p:cNvPicPr>
            <a:picLocks noChangeAspect="1"/>
          </p:cNvPicPr>
          <p:nvPr/>
        </p:nvPicPr>
        <p:blipFill>
          <a:blip r:embed="rId3"/>
          <a:stretch>
            <a:fillRect/>
          </a:stretch>
        </p:blipFill>
        <p:spPr>
          <a:xfrm>
            <a:off x="548640" y="1783080"/>
            <a:ext cx="1463040" cy="1463040"/>
          </a:xfrm>
          <a:prstGeom prst="rect">
            <a:avLst/>
          </a:prstGeom>
        </p:spPr>
      </p:pic>
      <p:pic>
        <p:nvPicPr>
          <p:cNvPr id="9" name="Picture 8" descr="c_02_tote-blanc_tous-connectes_100.jpg"/>
          <p:cNvPicPr>
            <a:picLocks noChangeAspect="1"/>
          </p:cNvPicPr>
          <p:nvPr/>
        </p:nvPicPr>
        <p:blipFill>
          <a:blip r:embed="rId4"/>
          <a:stretch>
            <a:fillRect/>
          </a:stretch>
        </p:blipFill>
        <p:spPr>
          <a:xfrm>
            <a:off x="2423160" y="1783080"/>
            <a:ext cx="1463040" cy="1463040"/>
          </a:xfrm>
          <a:prstGeom prst="rect">
            <a:avLst/>
          </a:prstGeom>
        </p:spPr>
      </p:pic>
      <p:pic>
        <p:nvPicPr>
          <p:cNvPr id="10" name="Picture 9" descr="c_03_tote-porte_logo_100.jpg"/>
          <p:cNvPicPr>
            <a:picLocks noChangeAspect="1"/>
          </p:cNvPicPr>
          <p:nvPr/>
        </p:nvPicPr>
        <p:blipFill>
          <a:blip r:embed="rId5"/>
          <a:stretch>
            <a:fillRect/>
          </a:stretch>
        </p:blipFill>
        <p:spPr>
          <a:xfrm>
            <a:off x="4297679" y="1783080"/>
            <a:ext cx="1463040" cy="1463040"/>
          </a:xfrm>
          <a:prstGeom prst="rect">
            <a:avLst/>
          </a:prstGeom>
        </p:spPr>
      </p:pic>
      <p:pic>
        <p:nvPicPr>
          <p:cNvPr id="11" name="Picture 10" descr="c_04_tshirt-noir_on-est-ensemble_100.jpg"/>
          <p:cNvPicPr>
            <a:picLocks noChangeAspect="1"/>
          </p:cNvPicPr>
          <p:nvPr/>
        </p:nvPicPr>
        <p:blipFill>
          <a:blip r:embed="rId6"/>
          <a:stretch>
            <a:fillRect/>
          </a:stretch>
        </p:blipFill>
        <p:spPr>
          <a:xfrm>
            <a:off x="6172199" y="1783080"/>
            <a:ext cx="1463040" cy="1463040"/>
          </a:xfrm>
          <a:prstGeom prst="rect">
            <a:avLst/>
          </a:prstGeom>
        </p:spPr>
      </p:pic>
      <p:pic>
        <p:nvPicPr>
          <p:cNvPr id="12" name="Picture 11" descr="c_05_tshirt-blanc_vfinale_100.jpg"/>
          <p:cNvPicPr>
            <a:picLocks noChangeAspect="1"/>
          </p:cNvPicPr>
          <p:nvPr/>
        </p:nvPicPr>
        <p:blipFill>
          <a:blip r:embed="rId7"/>
          <a:stretch>
            <a:fillRect/>
          </a:stretch>
        </p:blipFill>
        <p:spPr>
          <a:xfrm>
            <a:off x="8046719" y="1783080"/>
            <a:ext cx="1463040" cy="1463040"/>
          </a:xfrm>
          <a:prstGeom prst="rect">
            <a:avLst/>
          </a:prstGeom>
        </p:spPr>
      </p:pic>
      <p:pic>
        <p:nvPicPr>
          <p:cNvPr id="13" name="Picture 12" descr="c_06_sweat_logo_100.jpg"/>
          <p:cNvPicPr>
            <a:picLocks noChangeAspect="1"/>
          </p:cNvPicPr>
          <p:nvPr/>
        </p:nvPicPr>
        <p:blipFill>
          <a:blip r:embed="rId8"/>
          <a:stretch>
            <a:fillRect/>
          </a:stretch>
        </p:blipFill>
        <p:spPr>
          <a:xfrm>
            <a:off x="9921240" y="1783080"/>
            <a:ext cx="1463040" cy="1463040"/>
          </a:xfrm>
          <a:prstGeom prst="rect">
            <a:avLst/>
          </a:prstGeom>
        </p:spPr>
      </p:pic>
      <p:pic>
        <p:nvPicPr>
          <p:cNvPr id="14" name="Picture 13" descr="c_07_mugs-blancs_duo_100.jpg"/>
          <p:cNvPicPr>
            <a:picLocks noChangeAspect="1"/>
          </p:cNvPicPr>
          <p:nvPr/>
        </p:nvPicPr>
        <p:blipFill>
          <a:blip r:embed="rId9"/>
          <a:stretch>
            <a:fillRect/>
          </a:stretch>
        </p:blipFill>
        <p:spPr>
          <a:xfrm>
            <a:off x="548640" y="3319272"/>
            <a:ext cx="1463040" cy="1463040"/>
          </a:xfrm>
          <a:prstGeom prst="rect">
            <a:avLst/>
          </a:prstGeom>
        </p:spPr>
      </p:pic>
      <p:pic>
        <p:nvPicPr>
          <p:cNvPr id="15" name="Picture 14" descr="c_08_mug-noir_cafe-puis-crea_100.jpg"/>
          <p:cNvPicPr>
            <a:picLocks noChangeAspect="1"/>
          </p:cNvPicPr>
          <p:nvPr/>
        </p:nvPicPr>
        <p:blipFill>
          <a:blip r:embed="rId10"/>
          <a:stretch>
            <a:fillRect/>
          </a:stretch>
        </p:blipFill>
        <p:spPr>
          <a:xfrm>
            <a:off x="2423160" y="3319272"/>
            <a:ext cx="1463040" cy="1463040"/>
          </a:xfrm>
          <a:prstGeom prst="rect">
            <a:avLst/>
          </a:prstGeom>
        </p:spPr>
      </p:pic>
      <p:pic>
        <p:nvPicPr>
          <p:cNvPr id="16" name="Picture 15" descr="c_09_carnet-kraft_icones_100.jpg"/>
          <p:cNvPicPr>
            <a:picLocks noChangeAspect="1"/>
          </p:cNvPicPr>
          <p:nvPr/>
        </p:nvPicPr>
        <p:blipFill>
          <a:blip r:embed="rId11"/>
          <a:stretch>
            <a:fillRect/>
          </a:stretch>
        </p:blipFill>
        <p:spPr>
          <a:xfrm>
            <a:off x="4297679" y="3319272"/>
            <a:ext cx="1463040" cy="1463040"/>
          </a:xfrm>
          <a:prstGeom prst="rect">
            <a:avLst/>
          </a:prstGeom>
        </p:spPr>
      </p:pic>
      <p:pic>
        <p:nvPicPr>
          <p:cNvPr id="17" name="Picture 16" descr="c_10_badge-adicomdays_100.jpg"/>
          <p:cNvPicPr>
            <a:picLocks noChangeAspect="1"/>
          </p:cNvPicPr>
          <p:nvPr/>
        </p:nvPicPr>
        <p:blipFill>
          <a:blip r:embed="rId12"/>
          <a:stretch>
            <a:fillRect/>
          </a:stretch>
        </p:blipFill>
        <p:spPr>
          <a:xfrm>
            <a:off x="6172199" y="3319272"/>
            <a:ext cx="1463040" cy="1463040"/>
          </a:xfrm>
          <a:prstGeom prst="rect">
            <a:avLst/>
          </a:prstGeom>
        </p:spPr>
      </p:pic>
      <p:pic>
        <p:nvPicPr>
          <p:cNvPr id="18" name="Picture 17" descr="c_11_gourde_100.jpg"/>
          <p:cNvPicPr>
            <a:picLocks noChangeAspect="1"/>
          </p:cNvPicPr>
          <p:nvPr/>
        </p:nvPicPr>
        <p:blipFill>
          <a:blip r:embed="rId13"/>
          <a:stretch>
            <a:fillRect/>
          </a:stretch>
        </p:blipFill>
        <p:spPr>
          <a:xfrm>
            <a:off x="8046719" y="3319272"/>
            <a:ext cx="1463040" cy="1463040"/>
          </a:xfrm>
          <a:prstGeom prst="rect">
            <a:avLst/>
          </a:prstGeom>
        </p:spPr>
      </p:pic>
      <p:pic>
        <p:nvPicPr>
          <p:cNvPr id="19" name="Picture 18" descr="c_12_sac-kraft_logo_100.jpg"/>
          <p:cNvPicPr>
            <a:picLocks noChangeAspect="1"/>
          </p:cNvPicPr>
          <p:nvPr/>
        </p:nvPicPr>
        <p:blipFill>
          <a:blip r:embed="rId14"/>
          <a:stretch>
            <a:fillRect/>
          </a:stretch>
        </p:blipFill>
        <p:spPr>
          <a:xfrm>
            <a:off x="9921240" y="3319272"/>
            <a:ext cx="1463040" cy="1463040"/>
          </a:xfrm>
          <a:prstGeom prst="rect">
            <a:avLst/>
          </a:prstGeom>
        </p:spPr>
      </p:pic>
      <p:pic>
        <p:nvPicPr>
          <p:cNvPr id="20" name="Picture 19" descr="c_13_gobelet_cafe_100.jpg"/>
          <p:cNvPicPr>
            <a:picLocks noChangeAspect="1"/>
          </p:cNvPicPr>
          <p:nvPr/>
        </p:nvPicPr>
        <p:blipFill>
          <a:blip r:embed="rId15"/>
          <a:stretch>
            <a:fillRect/>
          </a:stretch>
        </p:blipFill>
        <p:spPr>
          <a:xfrm>
            <a:off x="548640" y="4855464"/>
            <a:ext cx="1463040" cy="1463040"/>
          </a:xfrm>
          <a:prstGeom prst="rect">
            <a:avLst/>
          </a:prstGeom>
        </p:spPr>
      </p:pic>
      <p:pic>
        <p:nvPicPr>
          <p:cNvPr id="21" name="Picture 20" descr="c_14_casquette_brodee_100.jpg"/>
          <p:cNvPicPr>
            <a:picLocks noChangeAspect="1"/>
          </p:cNvPicPr>
          <p:nvPr/>
        </p:nvPicPr>
        <p:blipFill>
          <a:blip r:embed="rId16"/>
          <a:stretch>
            <a:fillRect/>
          </a:stretch>
        </p:blipFill>
        <p:spPr>
          <a:xfrm>
            <a:off x="2423160" y="4855464"/>
            <a:ext cx="1463040" cy="1463040"/>
          </a:xfrm>
          <a:prstGeom prst="rect">
            <a:avLst/>
          </a:prstGeom>
        </p:spPr>
      </p:pic>
      <p:pic>
        <p:nvPicPr>
          <p:cNvPr id="22" name="Picture 21" descr="c_15_ordinateur_stickers_100.jpg"/>
          <p:cNvPicPr>
            <a:picLocks noChangeAspect="1"/>
          </p:cNvPicPr>
          <p:nvPr/>
        </p:nvPicPr>
        <p:blipFill>
          <a:blip r:embed="rId17"/>
          <a:stretch>
            <a:fillRect/>
          </a:stretch>
        </p:blipFill>
        <p:spPr>
          <a:xfrm>
            <a:off x="4297679" y="4855464"/>
            <a:ext cx="1463040" cy="1463040"/>
          </a:xfrm>
          <a:prstGeom prst="rect">
            <a:avLst/>
          </a:prstGeom>
        </p:spPr>
      </p:pic>
      <p:pic>
        <p:nvPicPr>
          <p:cNvPr id="23" name="Picture 22" descr="c_16_telephone_stickers_100.jpg"/>
          <p:cNvPicPr>
            <a:picLocks noChangeAspect="1"/>
          </p:cNvPicPr>
          <p:nvPr/>
        </p:nvPicPr>
        <p:blipFill>
          <a:blip r:embed="rId18"/>
          <a:stretch>
            <a:fillRect/>
          </a:stretch>
        </p:blipFill>
        <p:spPr>
          <a:xfrm>
            <a:off x="6172199" y="4855464"/>
            <a:ext cx="1463040" cy="1463040"/>
          </a:xfrm>
          <a:prstGeom prst="rect">
            <a:avLst/>
          </a:prstGeom>
        </p:spPr>
      </p:pic>
      <p:pic>
        <p:nvPicPr>
          <p:cNvPr id="24" name="Picture 23" descr="c_17_badge-epingle_100.jpg"/>
          <p:cNvPicPr>
            <a:picLocks noChangeAspect="1"/>
          </p:cNvPicPr>
          <p:nvPr/>
        </p:nvPicPr>
        <p:blipFill>
          <a:blip r:embed="rId19"/>
          <a:stretch>
            <a:fillRect/>
          </a:stretch>
        </p:blipFill>
        <p:spPr>
          <a:xfrm>
            <a:off x="8046719" y="4855464"/>
            <a:ext cx="1463040" cy="14630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11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LES GOODIES · SACS</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LES SACS QUI SE VOIENT EN VILLE</a:t>
            </a:r>
          </a:p>
        </p:txBody>
      </p:sp>
      <p:pic>
        <p:nvPicPr>
          <p:cNvPr id="8" name="Picture 7" descr="c_01_tote-noir_la-tribu_80.jpg"/>
          <p:cNvPicPr>
            <a:picLocks noChangeAspect="1"/>
          </p:cNvPicPr>
          <p:nvPr/>
        </p:nvPicPr>
        <p:blipFill>
          <a:blip r:embed="rId3"/>
          <a:stretch>
            <a:fillRect/>
          </a:stretch>
        </p:blipFill>
        <p:spPr>
          <a:xfrm>
            <a:off x="548640" y="1783080"/>
            <a:ext cx="2560320" cy="3200400"/>
          </a:xfrm>
          <a:prstGeom prst="rect">
            <a:avLst/>
          </a:prstGeom>
        </p:spPr>
      </p:pic>
      <p:sp>
        <p:nvSpPr>
          <p:cNvPr id="9" name="TextBox 8"/>
          <p:cNvSpPr txBox="1"/>
          <p:nvPr/>
        </p:nvSpPr>
        <p:spPr>
          <a:xfrm>
            <a:off x="548640"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Tote noir « La tribu »</a:t>
            </a:r>
          </a:p>
        </p:txBody>
      </p:sp>
      <p:sp>
        <p:nvSpPr>
          <p:cNvPr id="10" name="TextBox 9"/>
          <p:cNvSpPr txBox="1"/>
          <p:nvPr/>
        </p:nvSpPr>
        <p:spPr>
          <a:xfrm>
            <a:off x="548640"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Sérigraphie 3 couleurs. Pour l’équipe et les créateurs.</a:t>
            </a:r>
          </a:p>
        </p:txBody>
      </p:sp>
      <p:pic>
        <p:nvPicPr>
          <p:cNvPr id="11" name="Picture 10" descr="c_03_tote-porte_logo_80.jpg"/>
          <p:cNvPicPr>
            <a:picLocks noChangeAspect="1"/>
          </p:cNvPicPr>
          <p:nvPr/>
        </p:nvPicPr>
        <p:blipFill>
          <a:blip r:embed="rId4"/>
          <a:stretch>
            <a:fillRect/>
          </a:stretch>
        </p:blipFill>
        <p:spPr>
          <a:xfrm>
            <a:off x="3383279" y="1783080"/>
            <a:ext cx="2560320" cy="3200400"/>
          </a:xfrm>
          <a:prstGeom prst="rect">
            <a:avLst/>
          </a:prstGeom>
        </p:spPr>
      </p:pic>
      <p:sp>
        <p:nvSpPr>
          <p:cNvPr id="12" name="TextBox 11"/>
          <p:cNvSpPr txBox="1"/>
          <p:nvPr/>
        </p:nvSpPr>
        <p:spPr>
          <a:xfrm>
            <a:off x="3383279"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Tote écru logo</a:t>
            </a:r>
          </a:p>
        </p:txBody>
      </p:sp>
      <p:sp>
        <p:nvSpPr>
          <p:cNvPr id="13" name="TextBox 12"/>
          <p:cNvSpPr txBox="1"/>
          <p:nvPr/>
        </p:nvSpPr>
        <p:spPr>
          <a:xfrm>
            <a:off x="3383279"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Le plus sobre : cadeau client et kit d’accueil.</a:t>
            </a:r>
          </a:p>
        </p:txBody>
      </p:sp>
      <p:pic>
        <p:nvPicPr>
          <p:cNvPr id="14" name="Picture 13" descr="c_02_tote-blanc_tous-connectes_80.jpg"/>
          <p:cNvPicPr>
            <a:picLocks noChangeAspect="1"/>
          </p:cNvPicPr>
          <p:nvPr/>
        </p:nvPicPr>
        <p:blipFill>
          <a:blip r:embed="rId5"/>
          <a:stretch>
            <a:fillRect/>
          </a:stretch>
        </p:blipFill>
        <p:spPr>
          <a:xfrm>
            <a:off x="6217919" y="1783080"/>
            <a:ext cx="2560320" cy="3200400"/>
          </a:xfrm>
          <a:prstGeom prst="rect">
            <a:avLst/>
          </a:prstGeom>
        </p:spPr>
      </p:pic>
      <p:sp>
        <p:nvSpPr>
          <p:cNvPr id="15" name="TextBox 14"/>
          <p:cNvSpPr txBox="1"/>
          <p:nvPr/>
        </p:nvSpPr>
        <p:spPr>
          <a:xfrm>
            <a:off x="6217919"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Tote « Tous connectés »</a:t>
            </a:r>
          </a:p>
        </p:txBody>
      </p:sp>
      <p:sp>
        <p:nvSpPr>
          <p:cNvPr id="16" name="TextBox 15"/>
          <p:cNvSpPr txBox="1"/>
          <p:nvPr/>
        </p:nvSpPr>
        <p:spPr>
          <a:xfrm>
            <a:off x="6217919"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Les 12 icônes de la tribu, en impression numérique.</a:t>
            </a:r>
          </a:p>
        </p:txBody>
      </p:sp>
      <p:pic>
        <p:nvPicPr>
          <p:cNvPr id="17" name="Picture 16" descr="c_12_sac-kraft_logo_80.jpg"/>
          <p:cNvPicPr>
            <a:picLocks noChangeAspect="1"/>
          </p:cNvPicPr>
          <p:nvPr/>
        </p:nvPicPr>
        <p:blipFill>
          <a:blip r:embed="rId6"/>
          <a:stretch>
            <a:fillRect/>
          </a:stretch>
        </p:blipFill>
        <p:spPr>
          <a:xfrm>
            <a:off x="9052559" y="1783080"/>
            <a:ext cx="2560320" cy="3200400"/>
          </a:xfrm>
          <a:prstGeom prst="rect">
            <a:avLst/>
          </a:prstGeom>
        </p:spPr>
      </p:pic>
      <p:sp>
        <p:nvSpPr>
          <p:cNvPr id="18" name="TextBox 17"/>
          <p:cNvSpPr txBox="1"/>
          <p:nvPr/>
        </p:nvSpPr>
        <p:spPr>
          <a:xfrm>
            <a:off x="9052559"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Sac kraft</a:t>
            </a:r>
          </a:p>
        </p:txBody>
      </p:sp>
      <p:sp>
        <p:nvSpPr>
          <p:cNvPr id="19" name="TextBox 18"/>
          <p:cNvSpPr txBox="1"/>
          <p:nvPr/>
        </p:nvSpPr>
        <p:spPr>
          <a:xfrm>
            <a:off x="9052559"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Pour remettre les cadeaux de fin de projet.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12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LES GOODIES · TEXTILE</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CE QUE PORTE L’ÉQUIPE</a:t>
            </a:r>
          </a:p>
        </p:txBody>
      </p:sp>
      <p:pic>
        <p:nvPicPr>
          <p:cNvPr id="8" name="Picture 7" descr="c_04_tshirt-noir_on-est-ensemble_80.jpg"/>
          <p:cNvPicPr>
            <a:picLocks noChangeAspect="1"/>
          </p:cNvPicPr>
          <p:nvPr/>
        </p:nvPicPr>
        <p:blipFill>
          <a:blip r:embed="rId3"/>
          <a:stretch>
            <a:fillRect/>
          </a:stretch>
        </p:blipFill>
        <p:spPr>
          <a:xfrm>
            <a:off x="548640" y="1783080"/>
            <a:ext cx="2560320" cy="3200400"/>
          </a:xfrm>
          <a:prstGeom prst="rect">
            <a:avLst/>
          </a:prstGeom>
        </p:spPr>
      </p:pic>
      <p:sp>
        <p:nvSpPr>
          <p:cNvPr id="9" name="TextBox 8"/>
          <p:cNvSpPr txBox="1"/>
          <p:nvPr/>
        </p:nvSpPr>
        <p:spPr>
          <a:xfrm>
            <a:off x="548640"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T-shirt « On est ensemble. »</a:t>
            </a:r>
          </a:p>
        </p:txBody>
      </p:sp>
      <p:sp>
        <p:nvSpPr>
          <p:cNvPr id="10" name="TextBox 9"/>
          <p:cNvSpPr txBox="1"/>
          <p:nvPr/>
        </p:nvSpPr>
        <p:spPr>
          <a:xfrm>
            <a:off x="548640"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L’expression ivoirienne, en vert TX sur noir.</a:t>
            </a:r>
          </a:p>
        </p:txBody>
      </p:sp>
      <p:pic>
        <p:nvPicPr>
          <p:cNvPr id="11" name="Picture 10" descr="c_05_tshirt-blanc_vfinale_80.jpg"/>
          <p:cNvPicPr>
            <a:picLocks noChangeAspect="1"/>
          </p:cNvPicPr>
          <p:nvPr/>
        </p:nvPicPr>
        <p:blipFill>
          <a:blip r:embed="rId4"/>
          <a:stretch>
            <a:fillRect/>
          </a:stretch>
        </p:blipFill>
        <p:spPr>
          <a:xfrm>
            <a:off x="3383279" y="1783080"/>
            <a:ext cx="2560320" cy="3200400"/>
          </a:xfrm>
          <a:prstGeom prst="rect">
            <a:avLst/>
          </a:prstGeom>
        </p:spPr>
      </p:pic>
      <p:sp>
        <p:nvSpPr>
          <p:cNvPr id="12" name="TextBox 11"/>
          <p:cNvSpPr txBox="1"/>
          <p:nvPr/>
        </p:nvSpPr>
        <p:spPr>
          <a:xfrm>
            <a:off x="3383279"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T-shirt « VFINALE_v3 »</a:t>
            </a:r>
          </a:p>
        </p:txBody>
      </p:sp>
      <p:sp>
        <p:nvSpPr>
          <p:cNvPr id="13" name="TextBox 12"/>
          <p:cNvSpPr txBox="1"/>
          <p:nvPr/>
        </p:nvSpPr>
        <p:spPr>
          <a:xfrm>
            <a:off x="3383279"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La blague d’agence que tout client comprend.</a:t>
            </a:r>
          </a:p>
        </p:txBody>
      </p:sp>
      <p:pic>
        <p:nvPicPr>
          <p:cNvPr id="14" name="Picture 13" descr="c_06_sweat_logo_80.jpg"/>
          <p:cNvPicPr>
            <a:picLocks noChangeAspect="1"/>
          </p:cNvPicPr>
          <p:nvPr/>
        </p:nvPicPr>
        <p:blipFill>
          <a:blip r:embed="rId5"/>
          <a:stretch>
            <a:fillRect/>
          </a:stretch>
        </p:blipFill>
        <p:spPr>
          <a:xfrm>
            <a:off x="6217919" y="1783080"/>
            <a:ext cx="2560320" cy="3200400"/>
          </a:xfrm>
          <a:prstGeom prst="rect">
            <a:avLst/>
          </a:prstGeom>
        </p:spPr>
      </p:pic>
      <p:sp>
        <p:nvSpPr>
          <p:cNvPr id="15" name="TextBox 14"/>
          <p:cNvSpPr txBox="1"/>
          <p:nvPr/>
        </p:nvSpPr>
        <p:spPr>
          <a:xfrm>
            <a:off x="6217919"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Sweat à capuche</a:t>
            </a:r>
          </a:p>
        </p:txBody>
      </p:sp>
      <p:sp>
        <p:nvSpPr>
          <p:cNvPr id="16" name="TextBox 15"/>
          <p:cNvSpPr txBox="1"/>
          <p:nvPr/>
        </p:nvSpPr>
        <p:spPr>
          <a:xfrm>
            <a:off x="6217919"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Logo poitrine, pour les tournages de soirée.</a:t>
            </a:r>
          </a:p>
        </p:txBody>
      </p:sp>
      <p:pic>
        <p:nvPicPr>
          <p:cNvPr id="17" name="Picture 16" descr="c_14_casquette_brodee_80.jpg"/>
          <p:cNvPicPr>
            <a:picLocks noChangeAspect="1"/>
          </p:cNvPicPr>
          <p:nvPr/>
        </p:nvPicPr>
        <p:blipFill>
          <a:blip r:embed="rId6"/>
          <a:stretch>
            <a:fillRect/>
          </a:stretch>
        </p:blipFill>
        <p:spPr>
          <a:xfrm>
            <a:off x="9052559" y="1783080"/>
            <a:ext cx="2560320" cy="3200400"/>
          </a:xfrm>
          <a:prstGeom prst="rect">
            <a:avLst/>
          </a:prstGeom>
        </p:spPr>
      </p:pic>
      <p:sp>
        <p:nvSpPr>
          <p:cNvPr id="18" name="TextBox 17"/>
          <p:cNvSpPr txBox="1"/>
          <p:nvPr/>
        </p:nvSpPr>
        <p:spPr>
          <a:xfrm>
            <a:off x="9052559"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Casquette brodée</a:t>
            </a:r>
          </a:p>
        </p:txBody>
      </p:sp>
      <p:sp>
        <p:nvSpPr>
          <p:cNvPr id="19" name="TextBox 18"/>
          <p:cNvSpPr txBox="1"/>
          <p:nvPr/>
        </p:nvSpPr>
        <p:spPr>
          <a:xfrm>
            <a:off x="9052559"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Le TX seul, brodé en vert. Pour la Factory.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13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LES GOODIES · LA PAUSE</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DU CAFÉ AU BUREAU</a:t>
            </a:r>
          </a:p>
        </p:txBody>
      </p:sp>
      <p:pic>
        <p:nvPicPr>
          <p:cNvPr id="8" name="Picture 7" descr="c_07_mugs-blancs_duo_80.jpg"/>
          <p:cNvPicPr>
            <a:picLocks noChangeAspect="1"/>
          </p:cNvPicPr>
          <p:nvPr/>
        </p:nvPicPr>
        <p:blipFill>
          <a:blip r:embed="rId3"/>
          <a:stretch>
            <a:fillRect/>
          </a:stretch>
        </p:blipFill>
        <p:spPr>
          <a:xfrm>
            <a:off x="548640" y="1783080"/>
            <a:ext cx="2560320" cy="3200400"/>
          </a:xfrm>
          <a:prstGeom prst="rect">
            <a:avLst/>
          </a:prstGeom>
        </p:spPr>
      </p:pic>
      <p:sp>
        <p:nvSpPr>
          <p:cNvPr id="9" name="TextBox 8"/>
          <p:cNvSpPr txBox="1"/>
          <p:nvPr/>
        </p:nvSpPr>
        <p:spPr>
          <a:xfrm>
            <a:off x="548640"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Duo de mugs</a:t>
            </a:r>
          </a:p>
        </p:txBody>
      </p:sp>
      <p:sp>
        <p:nvSpPr>
          <p:cNvPr id="10" name="TextBox 9"/>
          <p:cNvSpPr txBox="1"/>
          <p:nvPr/>
        </p:nvSpPr>
        <p:spPr>
          <a:xfrm>
            <a:off x="548640"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Une face logo, une face « Café, puis créa ».</a:t>
            </a:r>
          </a:p>
        </p:txBody>
      </p:sp>
      <p:pic>
        <p:nvPicPr>
          <p:cNvPr id="11" name="Picture 10" descr="c_08_mug-noir_cafe-puis-crea_80.jpg"/>
          <p:cNvPicPr>
            <a:picLocks noChangeAspect="1"/>
          </p:cNvPicPr>
          <p:nvPr/>
        </p:nvPicPr>
        <p:blipFill>
          <a:blip r:embed="rId4"/>
          <a:stretch>
            <a:fillRect/>
          </a:stretch>
        </p:blipFill>
        <p:spPr>
          <a:xfrm>
            <a:off x="3383279" y="1783080"/>
            <a:ext cx="2560320" cy="3200400"/>
          </a:xfrm>
          <a:prstGeom prst="rect">
            <a:avLst/>
          </a:prstGeom>
        </p:spPr>
      </p:pic>
      <p:sp>
        <p:nvSpPr>
          <p:cNvPr id="12" name="TextBox 11"/>
          <p:cNvSpPr txBox="1"/>
          <p:nvPr/>
        </p:nvSpPr>
        <p:spPr>
          <a:xfrm>
            <a:off x="3383279"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Mug noir</a:t>
            </a:r>
          </a:p>
        </p:txBody>
      </p:sp>
      <p:sp>
        <p:nvSpPr>
          <p:cNvPr id="13" name="TextBox 12"/>
          <p:cNvSpPr txBox="1"/>
          <p:nvPr/>
        </p:nvSpPr>
        <p:spPr>
          <a:xfrm>
            <a:off x="3383279"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La version du studio, encre verte.</a:t>
            </a:r>
          </a:p>
        </p:txBody>
      </p:sp>
      <p:pic>
        <p:nvPicPr>
          <p:cNvPr id="14" name="Picture 13" descr="c_13_gobelet_cafe_80.jpg"/>
          <p:cNvPicPr>
            <a:picLocks noChangeAspect="1"/>
          </p:cNvPicPr>
          <p:nvPr/>
        </p:nvPicPr>
        <p:blipFill>
          <a:blip r:embed="rId5"/>
          <a:stretch>
            <a:fillRect/>
          </a:stretch>
        </p:blipFill>
        <p:spPr>
          <a:xfrm>
            <a:off x="6217919" y="1783080"/>
            <a:ext cx="2560320" cy="3200400"/>
          </a:xfrm>
          <a:prstGeom prst="rect">
            <a:avLst/>
          </a:prstGeom>
        </p:spPr>
      </p:pic>
      <p:sp>
        <p:nvSpPr>
          <p:cNvPr id="15" name="TextBox 14"/>
          <p:cNvSpPr txBox="1"/>
          <p:nvPr/>
        </p:nvSpPr>
        <p:spPr>
          <a:xfrm>
            <a:off x="6217919"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Gobelet</a:t>
            </a:r>
          </a:p>
        </p:txBody>
      </p:sp>
      <p:sp>
        <p:nvSpPr>
          <p:cNvPr id="16" name="TextBox 15"/>
          <p:cNvSpPr txBox="1"/>
          <p:nvPr/>
        </p:nvSpPr>
        <p:spPr>
          <a:xfrm>
            <a:off x="6217919"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Pour les pauses des ADICOMDAYS.</a:t>
            </a:r>
          </a:p>
        </p:txBody>
      </p:sp>
      <p:pic>
        <p:nvPicPr>
          <p:cNvPr id="17" name="Picture 16" descr="c_11_gourde_80.jpg"/>
          <p:cNvPicPr>
            <a:picLocks noChangeAspect="1"/>
          </p:cNvPicPr>
          <p:nvPr/>
        </p:nvPicPr>
        <p:blipFill>
          <a:blip r:embed="rId6"/>
          <a:stretch>
            <a:fillRect/>
          </a:stretch>
        </p:blipFill>
        <p:spPr>
          <a:xfrm>
            <a:off x="9052559" y="1783080"/>
            <a:ext cx="2560320" cy="3200400"/>
          </a:xfrm>
          <a:prstGeom prst="rect">
            <a:avLst/>
          </a:prstGeom>
        </p:spPr>
      </p:pic>
      <p:sp>
        <p:nvSpPr>
          <p:cNvPr id="18" name="TextBox 17"/>
          <p:cNvSpPr txBox="1"/>
          <p:nvPr/>
        </p:nvSpPr>
        <p:spPr>
          <a:xfrm>
            <a:off x="9052559" y="5074920"/>
            <a:ext cx="2560320" cy="365760"/>
          </a:xfrm>
          <a:prstGeom prst="rect">
            <a:avLst/>
          </a:prstGeom>
          <a:noFill/>
        </p:spPr>
        <p:txBody>
          <a:bodyPr wrap="square">
            <a:spAutoFit/>
          </a:bodyPr>
          <a:lstStyle/>
          <a:p>
            <a:pPr>
              <a:spcAft>
                <a:spcPts val="525"/>
              </a:spcAft>
            </a:pPr>
            <a:r>
              <a:rPr sz="1500" b="1">
                <a:solidFill>
                  <a:srgbClr val="141414"/>
                </a:solidFill>
                <a:latin typeface="Montserrat"/>
              </a:rPr>
              <a:t>Gourde inox</a:t>
            </a:r>
          </a:p>
        </p:txBody>
      </p:sp>
      <p:sp>
        <p:nvSpPr>
          <p:cNvPr id="19" name="TextBox 18"/>
          <p:cNvSpPr txBox="1"/>
          <p:nvPr/>
        </p:nvSpPr>
        <p:spPr>
          <a:xfrm>
            <a:off x="9052559" y="5440680"/>
            <a:ext cx="2560320" cy="822960"/>
          </a:xfrm>
          <a:prstGeom prst="rect">
            <a:avLst/>
          </a:prstGeom>
          <a:noFill/>
        </p:spPr>
        <p:txBody>
          <a:bodyPr wrap="square">
            <a:spAutoFit/>
          </a:bodyPr>
          <a:lstStyle/>
          <a:p>
            <a:pPr>
              <a:spcAft>
                <a:spcPts val="419"/>
              </a:spcAft>
            </a:pPr>
            <a:r>
              <a:rPr sz="1200" b="0">
                <a:solidFill>
                  <a:srgbClr val="5A5A5A"/>
                </a:solidFill>
                <a:latin typeface="Montserrat"/>
              </a:rPr>
              <a:t>« Hydraté. Inspiré. » Gravure ou impression.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14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LES GOODIES · ÉVÉNEMENT ET BUREAU</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POUR LES ADICOMDAYS ET LA TABLE DE TRAVAIL</a:t>
            </a:r>
          </a:p>
        </p:txBody>
      </p:sp>
      <p:pic>
        <p:nvPicPr>
          <p:cNvPr id="8" name="Picture 7" descr="c_10_badge-adicomdays_109.jpg"/>
          <p:cNvPicPr>
            <a:picLocks noChangeAspect="1"/>
          </p:cNvPicPr>
          <p:nvPr/>
        </p:nvPicPr>
        <p:blipFill>
          <a:blip r:embed="rId3"/>
          <a:stretch>
            <a:fillRect/>
          </a:stretch>
        </p:blipFill>
        <p:spPr>
          <a:xfrm>
            <a:off x="548640" y="1783080"/>
            <a:ext cx="3505200" cy="3200400"/>
          </a:xfrm>
          <a:prstGeom prst="rect">
            <a:avLst/>
          </a:prstGeom>
        </p:spPr>
      </p:pic>
      <p:sp>
        <p:nvSpPr>
          <p:cNvPr id="9" name="TextBox 8"/>
          <p:cNvSpPr txBox="1"/>
          <p:nvPr/>
        </p:nvSpPr>
        <p:spPr>
          <a:xfrm>
            <a:off x="548640" y="5074920"/>
            <a:ext cx="3505200" cy="365760"/>
          </a:xfrm>
          <a:prstGeom prst="rect">
            <a:avLst/>
          </a:prstGeom>
          <a:noFill/>
        </p:spPr>
        <p:txBody>
          <a:bodyPr wrap="square">
            <a:spAutoFit/>
          </a:bodyPr>
          <a:lstStyle/>
          <a:p>
            <a:pPr>
              <a:spcAft>
                <a:spcPts val="525"/>
              </a:spcAft>
            </a:pPr>
            <a:r>
              <a:rPr sz="1500" b="1">
                <a:solidFill>
                  <a:srgbClr val="141414"/>
                </a:solidFill>
                <a:latin typeface="Montserrat"/>
              </a:rPr>
              <a:t>Badge ADICOMDAYS</a:t>
            </a:r>
          </a:p>
        </p:txBody>
      </p:sp>
      <p:sp>
        <p:nvSpPr>
          <p:cNvPr id="10" name="TextBox 9"/>
          <p:cNvSpPr txBox="1"/>
          <p:nvPr/>
        </p:nvSpPr>
        <p:spPr>
          <a:xfrm>
            <a:off x="548640" y="5440680"/>
            <a:ext cx="3505200" cy="822960"/>
          </a:xfrm>
          <a:prstGeom prst="rect">
            <a:avLst/>
          </a:prstGeom>
          <a:noFill/>
        </p:spPr>
        <p:txBody>
          <a:bodyPr wrap="square">
            <a:spAutoFit/>
          </a:bodyPr>
          <a:lstStyle/>
          <a:p>
            <a:pPr>
              <a:spcAft>
                <a:spcPts val="419"/>
              </a:spcAft>
            </a:pPr>
            <a:r>
              <a:rPr sz="1200" b="0">
                <a:solidFill>
                  <a:srgbClr val="5A5A5A"/>
                </a:solidFill>
                <a:latin typeface="Montserrat"/>
              </a:rPr>
              <a:t>Bandeau violet, nom, rôle et filet aux 4 couleurs.</a:t>
            </a:r>
          </a:p>
        </p:txBody>
      </p:sp>
      <p:pic>
        <p:nvPicPr>
          <p:cNvPr id="11" name="Picture 10" descr="c_17_badge-epingle_109.jpg"/>
          <p:cNvPicPr>
            <a:picLocks noChangeAspect="1"/>
          </p:cNvPicPr>
          <p:nvPr/>
        </p:nvPicPr>
        <p:blipFill>
          <a:blip r:embed="rId4"/>
          <a:stretch>
            <a:fillRect/>
          </a:stretch>
        </p:blipFill>
        <p:spPr>
          <a:xfrm>
            <a:off x="4328160" y="1783080"/>
            <a:ext cx="3505200" cy="3200400"/>
          </a:xfrm>
          <a:prstGeom prst="rect">
            <a:avLst/>
          </a:prstGeom>
        </p:spPr>
      </p:pic>
      <p:sp>
        <p:nvSpPr>
          <p:cNvPr id="12" name="TextBox 11"/>
          <p:cNvSpPr txBox="1"/>
          <p:nvPr/>
        </p:nvSpPr>
        <p:spPr>
          <a:xfrm>
            <a:off x="4328160" y="5074920"/>
            <a:ext cx="3505200" cy="365760"/>
          </a:xfrm>
          <a:prstGeom prst="rect">
            <a:avLst/>
          </a:prstGeom>
          <a:noFill/>
        </p:spPr>
        <p:txBody>
          <a:bodyPr wrap="square">
            <a:spAutoFit/>
          </a:bodyPr>
          <a:lstStyle/>
          <a:p>
            <a:pPr>
              <a:spcAft>
                <a:spcPts val="525"/>
              </a:spcAft>
            </a:pPr>
            <a:r>
              <a:rPr sz="1500" b="1">
                <a:solidFill>
                  <a:srgbClr val="141414"/>
                </a:solidFill>
                <a:latin typeface="Montserrat"/>
              </a:rPr>
              <a:t>Badge épinglé</a:t>
            </a:r>
          </a:p>
        </p:txBody>
      </p:sp>
      <p:sp>
        <p:nvSpPr>
          <p:cNvPr id="13" name="TextBox 12"/>
          <p:cNvSpPr txBox="1"/>
          <p:nvPr/>
        </p:nvSpPr>
        <p:spPr>
          <a:xfrm>
            <a:off x="4328160" y="5440680"/>
            <a:ext cx="3505200" cy="822960"/>
          </a:xfrm>
          <a:prstGeom prst="rect">
            <a:avLst/>
          </a:prstGeom>
          <a:noFill/>
        </p:spPr>
        <p:txBody>
          <a:bodyPr wrap="square">
            <a:spAutoFit/>
          </a:bodyPr>
          <a:lstStyle/>
          <a:p>
            <a:pPr>
              <a:spcAft>
                <a:spcPts val="419"/>
              </a:spcAft>
            </a:pPr>
            <a:r>
              <a:rPr sz="1200" b="0">
                <a:solidFill>
                  <a:srgbClr val="5A5A5A"/>
                </a:solidFill>
                <a:latin typeface="Montserrat"/>
              </a:rPr>
              <a:t>Le TX en 38 mm, à distribuer à l’accueil.</a:t>
            </a:r>
          </a:p>
        </p:txBody>
      </p:sp>
      <p:pic>
        <p:nvPicPr>
          <p:cNvPr id="14" name="Picture 13" descr="c_09_carnet-kraft_icones_109.jpg"/>
          <p:cNvPicPr>
            <a:picLocks noChangeAspect="1"/>
          </p:cNvPicPr>
          <p:nvPr/>
        </p:nvPicPr>
        <p:blipFill>
          <a:blip r:embed="rId5"/>
          <a:stretch>
            <a:fillRect/>
          </a:stretch>
        </p:blipFill>
        <p:spPr>
          <a:xfrm>
            <a:off x="8107680" y="1783080"/>
            <a:ext cx="3505200" cy="3200400"/>
          </a:xfrm>
          <a:prstGeom prst="rect">
            <a:avLst/>
          </a:prstGeom>
        </p:spPr>
      </p:pic>
      <p:sp>
        <p:nvSpPr>
          <p:cNvPr id="15" name="TextBox 14"/>
          <p:cNvSpPr txBox="1"/>
          <p:nvPr/>
        </p:nvSpPr>
        <p:spPr>
          <a:xfrm>
            <a:off x="8107680" y="5074920"/>
            <a:ext cx="3505200" cy="365760"/>
          </a:xfrm>
          <a:prstGeom prst="rect">
            <a:avLst/>
          </a:prstGeom>
          <a:noFill/>
        </p:spPr>
        <p:txBody>
          <a:bodyPr wrap="square">
            <a:spAutoFit/>
          </a:bodyPr>
          <a:lstStyle/>
          <a:p>
            <a:pPr>
              <a:spcAft>
                <a:spcPts val="525"/>
              </a:spcAft>
            </a:pPr>
            <a:r>
              <a:rPr sz="1500" b="1">
                <a:solidFill>
                  <a:srgbClr val="141414"/>
                </a:solidFill>
                <a:latin typeface="Montserrat"/>
              </a:rPr>
              <a:t>Carnet kraft</a:t>
            </a:r>
          </a:p>
        </p:txBody>
      </p:sp>
      <p:sp>
        <p:nvSpPr>
          <p:cNvPr id="16" name="TextBox 15"/>
          <p:cNvSpPr txBox="1"/>
          <p:nvPr/>
        </p:nvSpPr>
        <p:spPr>
          <a:xfrm>
            <a:off x="8107680" y="5440680"/>
            <a:ext cx="3505200" cy="822960"/>
          </a:xfrm>
          <a:prstGeom prst="rect">
            <a:avLst/>
          </a:prstGeom>
          <a:noFill/>
        </p:spPr>
        <p:txBody>
          <a:bodyPr wrap="square">
            <a:spAutoFit/>
          </a:bodyPr>
          <a:lstStyle/>
          <a:p>
            <a:pPr>
              <a:spcAft>
                <a:spcPts val="419"/>
              </a:spcAft>
            </a:pPr>
            <a:r>
              <a:rPr sz="1200" b="0">
                <a:solidFill>
                  <a:srgbClr val="5A5A5A"/>
                </a:solidFill>
                <a:latin typeface="Montserrat"/>
              </a:rPr>
              <a:t>Couverture « Tous connectés », pour les ateliers.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15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LES STICKERS EN SITUATION</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LÀ OÙ ILS VONT VRAIMENT VIVRE</a:t>
            </a:r>
          </a:p>
        </p:txBody>
      </p:sp>
      <p:pic>
        <p:nvPicPr>
          <p:cNvPr id="8" name="Picture 7" descr="c_15_ordinateur_stickers_168.jpg"/>
          <p:cNvPicPr>
            <a:picLocks noChangeAspect="1"/>
          </p:cNvPicPr>
          <p:nvPr/>
        </p:nvPicPr>
        <p:blipFill>
          <a:blip r:embed="rId3"/>
          <a:stretch>
            <a:fillRect/>
          </a:stretch>
        </p:blipFill>
        <p:spPr>
          <a:xfrm>
            <a:off x="548640" y="1783080"/>
            <a:ext cx="5394959" cy="3200400"/>
          </a:xfrm>
          <a:prstGeom prst="rect">
            <a:avLst/>
          </a:prstGeom>
        </p:spPr>
      </p:pic>
      <p:sp>
        <p:nvSpPr>
          <p:cNvPr id="9" name="TextBox 8"/>
          <p:cNvSpPr txBox="1"/>
          <p:nvPr/>
        </p:nvSpPr>
        <p:spPr>
          <a:xfrm>
            <a:off x="548640" y="5074920"/>
            <a:ext cx="5394959" cy="365760"/>
          </a:xfrm>
          <a:prstGeom prst="rect">
            <a:avLst/>
          </a:prstGeom>
          <a:noFill/>
        </p:spPr>
        <p:txBody>
          <a:bodyPr wrap="square">
            <a:spAutoFit/>
          </a:bodyPr>
          <a:lstStyle/>
          <a:p>
            <a:pPr>
              <a:spcAft>
                <a:spcPts val="525"/>
              </a:spcAft>
            </a:pPr>
            <a:r>
              <a:rPr sz="1500" b="1">
                <a:solidFill>
                  <a:srgbClr val="141414"/>
                </a:solidFill>
                <a:latin typeface="Montserrat"/>
              </a:rPr>
              <a:t>Sur l’ordinateur</a:t>
            </a:r>
          </a:p>
        </p:txBody>
      </p:sp>
      <p:sp>
        <p:nvSpPr>
          <p:cNvPr id="10" name="TextBox 9"/>
          <p:cNvSpPr txBox="1"/>
          <p:nvPr/>
        </p:nvSpPr>
        <p:spPr>
          <a:xfrm>
            <a:off x="548640" y="5440680"/>
            <a:ext cx="5394959" cy="822960"/>
          </a:xfrm>
          <a:prstGeom prst="rect">
            <a:avLst/>
          </a:prstGeom>
          <a:noFill/>
        </p:spPr>
        <p:txBody>
          <a:bodyPr wrap="square">
            <a:spAutoFit/>
          </a:bodyPr>
          <a:lstStyle/>
          <a:p>
            <a:pPr>
              <a:spcAft>
                <a:spcPts val="419"/>
              </a:spcAft>
            </a:pPr>
            <a:r>
              <a:rPr sz="1200" b="0">
                <a:solidFill>
                  <a:srgbClr val="5A5A5A"/>
                </a:solidFill>
                <a:latin typeface="Montserrat"/>
              </a:rPr>
              <a:t>Six stickers des deux séries : le capot devient une carte de visite.</a:t>
            </a:r>
          </a:p>
        </p:txBody>
      </p:sp>
      <p:pic>
        <p:nvPicPr>
          <p:cNvPr id="11" name="Picture 10" descr="c_16_telephone_stickers_168.jpg"/>
          <p:cNvPicPr>
            <a:picLocks noChangeAspect="1"/>
          </p:cNvPicPr>
          <p:nvPr/>
        </p:nvPicPr>
        <p:blipFill>
          <a:blip r:embed="rId4"/>
          <a:stretch>
            <a:fillRect/>
          </a:stretch>
        </p:blipFill>
        <p:spPr>
          <a:xfrm>
            <a:off x="6217919" y="1783080"/>
            <a:ext cx="5394959" cy="3200400"/>
          </a:xfrm>
          <a:prstGeom prst="rect">
            <a:avLst/>
          </a:prstGeom>
        </p:spPr>
      </p:pic>
      <p:sp>
        <p:nvSpPr>
          <p:cNvPr id="12" name="TextBox 11"/>
          <p:cNvSpPr txBox="1"/>
          <p:nvPr/>
        </p:nvSpPr>
        <p:spPr>
          <a:xfrm>
            <a:off x="6217919" y="5074920"/>
            <a:ext cx="5394959" cy="365760"/>
          </a:xfrm>
          <a:prstGeom prst="rect">
            <a:avLst/>
          </a:prstGeom>
          <a:noFill/>
        </p:spPr>
        <p:txBody>
          <a:bodyPr wrap="square">
            <a:spAutoFit/>
          </a:bodyPr>
          <a:lstStyle/>
          <a:p>
            <a:pPr>
              <a:spcAft>
                <a:spcPts val="525"/>
              </a:spcAft>
            </a:pPr>
            <a:r>
              <a:rPr sz="1500" b="1">
                <a:solidFill>
                  <a:srgbClr val="141414"/>
                </a:solidFill>
                <a:latin typeface="Montserrat"/>
              </a:rPr>
              <a:t>Sur le téléphone</a:t>
            </a:r>
          </a:p>
        </p:txBody>
      </p:sp>
      <p:sp>
        <p:nvSpPr>
          <p:cNvPr id="13" name="TextBox 12"/>
          <p:cNvSpPr txBox="1"/>
          <p:nvPr/>
        </p:nvSpPr>
        <p:spPr>
          <a:xfrm>
            <a:off x="6217919" y="5440680"/>
            <a:ext cx="5394959" cy="822960"/>
          </a:xfrm>
          <a:prstGeom prst="rect">
            <a:avLst/>
          </a:prstGeom>
          <a:noFill/>
        </p:spPr>
        <p:txBody>
          <a:bodyPr wrap="square">
            <a:spAutoFit/>
          </a:bodyPr>
          <a:lstStyle/>
          <a:p>
            <a:pPr>
              <a:spcAft>
                <a:spcPts val="419"/>
              </a:spcAft>
            </a:pPr>
            <a:r>
              <a:rPr sz="1200" b="0">
                <a:solidFill>
                  <a:srgbClr val="5A5A5A"/>
                </a:solidFill>
                <a:latin typeface="Montserrat"/>
              </a:rPr>
              <a:t>Deux stickers ronds et carrés, format 5 à 6 cm.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B6D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x-mark-lime.png"/>
          <p:cNvPicPr>
            <a:picLocks noChangeAspect="1"/>
          </p:cNvPicPr>
          <p:nvPr/>
        </p:nvPicPr>
        <p:blipFill>
          <a:blip r:embed="rId2"/>
          <a:stretch>
            <a:fillRect/>
          </a:stretch>
        </p:blipFill>
        <p:spPr>
          <a:xfrm>
            <a:off x="11475720" y="274320"/>
            <a:ext cx="392229" cy="457200"/>
          </a:xfrm>
          <a:prstGeom prst="rect">
            <a:avLst/>
          </a:prstGeom>
        </p:spPr>
      </p:pic>
      <p:sp>
        <p:nvSpPr>
          <p:cNvPr id="4" name="TextBox 3"/>
          <p:cNvSpPr txBox="1"/>
          <p:nvPr/>
        </p:nvSpPr>
        <p:spPr>
          <a:xfrm>
            <a:off x="10607040" y="6400800"/>
            <a:ext cx="1463040" cy="320040"/>
          </a:xfrm>
          <a:prstGeom prst="rect">
            <a:avLst/>
          </a:prstGeom>
          <a:noFill/>
        </p:spPr>
        <p:txBody>
          <a:bodyPr wrap="square">
            <a:spAutoFit/>
          </a:bodyPr>
          <a:lstStyle/>
          <a:p>
            <a:pPr algn="r">
              <a:spcAft>
                <a:spcPts val="350"/>
              </a:spcAft>
            </a:pPr>
            <a:r>
              <a:rPr sz="1000" b="0">
                <a:solidFill>
                  <a:srgbClr val="5A5A5A"/>
                </a:solidFill>
                <a:latin typeface="Montserrat"/>
              </a:rPr>
              <a:t>16 / 16</a:t>
            </a:r>
          </a:p>
        </p:txBody>
      </p:sp>
      <p:sp>
        <p:nvSpPr>
          <p:cNvPr id="5" name="TextBox 4"/>
          <p:cNvSpPr txBox="1"/>
          <p:nvPr/>
        </p:nvSpPr>
        <p:spPr>
          <a:xfrm>
            <a:off x="548640" y="6400800"/>
            <a:ext cx="5486400" cy="320040"/>
          </a:xfrm>
          <a:prstGeom prst="rect">
            <a:avLst/>
          </a:prstGeom>
          <a:noFill/>
        </p:spPr>
        <p:txBody>
          <a:bodyPr wrap="square">
            <a:spAutoFit/>
          </a:bodyPr>
          <a:lstStyle/>
          <a:p>
            <a:pPr>
              <a:spcAft>
                <a:spcPts val="350"/>
              </a:spcAft>
            </a:pPr>
            <a:r>
              <a:rPr sz="1000" b="0">
                <a:solidFill>
                  <a:srgbClr val="5A5A5A"/>
                </a:solidFill>
                <a:latin typeface="Montserrat"/>
              </a:rPr>
              <a:t>Totem Experience · Stickers et goodies</a:t>
            </a:r>
          </a:p>
        </p:txBody>
      </p:sp>
      <p:sp>
        <p:nvSpPr>
          <p:cNvPr id="6" name="TextBox 5"/>
          <p:cNvSpPr txBox="1"/>
          <p:nvPr/>
        </p:nvSpPr>
        <p:spPr>
          <a:xfrm>
            <a:off x="548640" y="411480"/>
            <a:ext cx="8229600" cy="365760"/>
          </a:xfrm>
          <a:prstGeom prst="rect">
            <a:avLst/>
          </a:prstGeom>
          <a:noFill/>
        </p:spPr>
        <p:txBody>
          <a:bodyPr wrap="square">
            <a:spAutoFit/>
          </a:bodyPr>
          <a:lstStyle/>
          <a:p>
            <a:pPr>
              <a:spcAft>
                <a:spcPts val="419"/>
              </a:spcAft>
            </a:pPr>
            <a:r>
              <a:rPr sz="1200" b="1">
                <a:solidFill>
                  <a:srgbClr val="5A5A5A"/>
                </a:solidFill>
                <a:latin typeface="Montserrat"/>
              </a:rPr>
              <a:t>LA SUITE</a:t>
            </a:r>
          </a:p>
        </p:txBody>
      </p:sp>
      <p:sp>
        <p:nvSpPr>
          <p:cNvPr id="7" name="TextBox 6"/>
          <p:cNvSpPr txBox="1"/>
          <p:nvPr/>
        </p:nvSpPr>
        <p:spPr>
          <a:xfrm>
            <a:off x="548640" y="731520"/>
            <a:ext cx="10058400" cy="1097280"/>
          </a:xfrm>
          <a:prstGeom prst="rect">
            <a:avLst/>
          </a:prstGeom>
          <a:noFill/>
        </p:spPr>
        <p:txBody>
          <a:bodyPr wrap="square">
            <a:spAutoFit/>
          </a:bodyPr>
          <a:lstStyle/>
          <a:p>
            <a:pPr>
              <a:spcAft>
                <a:spcPts val="1189"/>
              </a:spcAft>
            </a:pPr>
            <a:r>
              <a:rPr sz="3400" b="1">
                <a:solidFill>
                  <a:srgbClr val="141414"/>
                </a:solidFill>
                <a:latin typeface="Montserrat"/>
              </a:rPr>
              <a:t>TROIS KITS À COMPOSER</a:t>
            </a:r>
          </a:p>
        </p:txBody>
      </p:sp>
      <p:sp>
        <p:nvSpPr>
          <p:cNvPr id="8" name="Rounded Rectangle 7"/>
          <p:cNvSpPr/>
          <p:nvPr/>
        </p:nvSpPr>
        <p:spPr>
          <a:xfrm>
            <a:off x="548640" y="1920240"/>
            <a:ext cx="3474720" cy="2103120"/>
          </a:xfrm>
          <a:prstGeom prst="round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103120"/>
            <a:ext cx="3017520" cy="457200"/>
          </a:xfrm>
          <a:prstGeom prst="rect">
            <a:avLst/>
          </a:prstGeom>
          <a:noFill/>
        </p:spPr>
        <p:txBody>
          <a:bodyPr wrap="square">
            <a:spAutoFit/>
          </a:bodyPr>
          <a:lstStyle/>
          <a:p>
            <a:pPr>
              <a:spcAft>
                <a:spcPts val="630"/>
              </a:spcAft>
            </a:pPr>
            <a:r>
              <a:rPr sz="1800" b="1">
                <a:solidFill>
                  <a:srgbClr val="B6D401"/>
                </a:solidFill>
                <a:latin typeface="Montserrat"/>
              </a:rPr>
              <a:t>Kit équipe</a:t>
            </a:r>
          </a:p>
        </p:txBody>
      </p:sp>
      <p:sp>
        <p:nvSpPr>
          <p:cNvPr id="10" name="TextBox 9"/>
          <p:cNvSpPr txBox="1"/>
          <p:nvPr/>
        </p:nvSpPr>
        <p:spPr>
          <a:xfrm>
            <a:off x="822959" y="2651760"/>
            <a:ext cx="3017520" cy="1371600"/>
          </a:xfrm>
          <a:prstGeom prst="rect">
            <a:avLst/>
          </a:prstGeom>
          <a:noFill/>
        </p:spPr>
        <p:txBody>
          <a:bodyPr wrap="square">
            <a:spAutoFit/>
          </a:bodyPr>
          <a:lstStyle/>
          <a:p>
            <a:pPr>
              <a:spcAft>
                <a:spcPts val="455"/>
              </a:spcAft>
            </a:pPr>
            <a:r>
              <a:rPr sz="1300" b="0">
                <a:solidFill>
                  <a:srgbClr val="FFFFFF"/>
                </a:solidFill>
                <a:latin typeface="Montserrat"/>
              </a:rPr>
              <a:t>T-shirt, sweat, casquette, mug noir, planche de 30 stickers.</a:t>
            </a:r>
          </a:p>
        </p:txBody>
      </p:sp>
      <p:sp>
        <p:nvSpPr>
          <p:cNvPr id="11" name="Rounded Rectangle 10"/>
          <p:cNvSpPr/>
          <p:nvPr/>
        </p:nvSpPr>
        <p:spPr>
          <a:xfrm>
            <a:off x="4297679" y="1920240"/>
            <a:ext cx="3474720" cy="2103120"/>
          </a:xfrm>
          <a:prstGeom prst="round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1999" y="2103120"/>
            <a:ext cx="3017520" cy="457200"/>
          </a:xfrm>
          <a:prstGeom prst="rect">
            <a:avLst/>
          </a:prstGeom>
          <a:noFill/>
        </p:spPr>
        <p:txBody>
          <a:bodyPr wrap="square">
            <a:spAutoFit/>
          </a:bodyPr>
          <a:lstStyle/>
          <a:p>
            <a:pPr>
              <a:spcAft>
                <a:spcPts val="630"/>
              </a:spcAft>
            </a:pPr>
            <a:r>
              <a:rPr sz="1800" b="1">
                <a:solidFill>
                  <a:srgbClr val="B6D401"/>
                </a:solidFill>
                <a:latin typeface="Montserrat"/>
              </a:rPr>
              <a:t>Kit client</a:t>
            </a:r>
          </a:p>
        </p:txBody>
      </p:sp>
      <p:sp>
        <p:nvSpPr>
          <p:cNvPr id="13" name="TextBox 12"/>
          <p:cNvSpPr txBox="1"/>
          <p:nvPr/>
        </p:nvSpPr>
        <p:spPr>
          <a:xfrm>
            <a:off x="4571999" y="2651760"/>
            <a:ext cx="3017520" cy="1371600"/>
          </a:xfrm>
          <a:prstGeom prst="rect">
            <a:avLst/>
          </a:prstGeom>
          <a:noFill/>
        </p:spPr>
        <p:txBody>
          <a:bodyPr wrap="square">
            <a:spAutoFit/>
          </a:bodyPr>
          <a:lstStyle/>
          <a:p>
            <a:pPr>
              <a:spcAft>
                <a:spcPts val="455"/>
              </a:spcAft>
            </a:pPr>
            <a:r>
              <a:rPr sz="1300" b="0">
                <a:solidFill>
                  <a:srgbClr val="FFFFFF"/>
                </a:solidFill>
                <a:latin typeface="Montserrat"/>
              </a:rPr>
              <a:t>Tote écru, carnet kraft, duo de mugs, sac kraft, 5 stickers.</a:t>
            </a:r>
          </a:p>
        </p:txBody>
      </p:sp>
      <p:sp>
        <p:nvSpPr>
          <p:cNvPr id="14" name="Rounded Rectangle 13"/>
          <p:cNvSpPr/>
          <p:nvPr/>
        </p:nvSpPr>
        <p:spPr>
          <a:xfrm>
            <a:off x="8046719" y="1920240"/>
            <a:ext cx="3474720" cy="2103120"/>
          </a:xfrm>
          <a:prstGeom prst="round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103120"/>
            <a:ext cx="3017520" cy="457200"/>
          </a:xfrm>
          <a:prstGeom prst="rect">
            <a:avLst/>
          </a:prstGeom>
          <a:noFill/>
        </p:spPr>
        <p:txBody>
          <a:bodyPr wrap="square">
            <a:spAutoFit/>
          </a:bodyPr>
          <a:lstStyle/>
          <a:p>
            <a:pPr>
              <a:spcAft>
                <a:spcPts val="630"/>
              </a:spcAft>
            </a:pPr>
            <a:r>
              <a:rPr sz="1800" b="1">
                <a:solidFill>
                  <a:srgbClr val="B6D401"/>
                </a:solidFill>
                <a:latin typeface="Montserrat"/>
              </a:rPr>
              <a:t>Kit ADICOMDAYS</a:t>
            </a:r>
          </a:p>
        </p:txBody>
      </p:sp>
      <p:sp>
        <p:nvSpPr>
          <p:cNvPr id="16" name="TextBox 15"/>
          <p:cNvSpPr txBox="1"/>
          <p:nvPr/>
        </p:nvSpPr>
        <p:spPr>
          <a:xfrm>
            <a:off x="8321040" y="2651760"/>
            <a:ext cx="3017520" cy="1371600"/>
          </a:xfrm>
          <a:prstGeom prst="rect">
            <a:avLst/>
          </a:prstGeom>
          <a:noFill/>
        </p:spPr>
        <p:txBody>
          <a:bodyPr wrap="square">
            <a:spAutoFit/>
          </a:bodyPr>
          <a:lstStyle/>
          <a:p>
            <a:pPr>
              <a:spcAft>
                <a:spcPts val="455"/>
              </a:spcAft>
            </a:pPr>
            <a:r>
              <a:rPr sz="1300" b="0">
                <a:solidFill>
                  <a:srgbClr val="FFFFFF"/>
                </a:solidFill>
                <a:latin typeface="Montserrat"/>
              </a:rPr>
              <a:t>Badge, badge épinglé, gobelet, gourde, tote « Tous connectés ».</a:t>
            </a:r>
          </a:p>
        </p:txBody>
      </p:sp>
      <p:sp>
        <p:nvSpPr>
          <p:cNvPr id="17" name="TextBox 16"/>
          <p:cNvSpPr txBox="1"/>
          <p:nvPr/>
        </p:nvSpPr>
        <p:spPr>
          <a:xfrm>
            <a:off x="548640" y="4343400"/>
            <a:ext cx="10972800" cy="1097280"/>
          </a:xfrm>
          <a:prstGeom prst="rect">
            <a:avLst/>
          </a:prstGeom>
          <a:noFill/>
        </p:spPr>
        <p:txBody>
          <a:bodyPr wrap="square">
            <a:spAutoFit/>
          </a:bodyPr>
          <a:lstStyle/>
          <a:p>
            <a:pPr>
              <a:spcAft>
                <a:spcPts val="525"/>
              </a:spcAft>
            </a:pPr>
            <a:r>
              <a:rPr sz="1500" b="0">
                <a:solidFill>
                  <a:srgbClr val="141414"/>
                </a:solidFill>
                <a:latin typeface="Montserrat"/>
              </a:rPr>
              <a:t>Prochaine étape : choisir les objets et les quantités, puis préparer les fichiers d’impression (tracés de découpe, couleurs d’impression) et comparer trois fournisseurs à Abidjan.</a:t>
            </a:r>
          </a:p>
        </p:txBody>
      </p:sp>
      <p:sp>
        <p:nvSpPr>
          <p:cNvPr id="18" name="TextBox 17"/>
          <p:cNvSpPr txBox="1"/>
          <p:nvPr/>
        </p:nvSpPr>
        <p:spPr>
          <a:xfrm>
            <a:off x="548640" y="5486400"/>
            <a:ext cx="10972800" cy="822960"/>
          </a:xfrm>
          <a:prstGeom prst="rect">
            <a:avLst/>
          </a:prstGeom>
          <a:noFill/>
        </p:spPr>
        <p:txBody>
          <a:bodyPr wrap="square">
            <a:spAutoFit/>
          </a:bodyPr>
          <a:lstStyle/>
          <a:p>
            <a:pPr>
              <a:spcAft>
                <a:spcPts val="315"/>
              </a:spcAft>
            </a:pPr>
            <a:r>
              <a:rPr sz="900" b="0">
                <a:solidFill>
                  <a:srgbClr val="141414"/>
                </a:solidFill>
                <a:latin typeface="Montserrat"/>
              </a:rPr>
              <a:t>Photos d’objets : Pexels (licence libre) — Artem Podrez, Brando.ltd, Hanna Pad, Mr. Mockup, Monstera Production, Katrin Bolovtsova, PNW Production, Santiago Boada, Angela Roma, Ninety Seven Years, Picas Joe, Sóc Năng Động, Josh Sorenson, Way Studios, Mediamodifier. Icônes : Tabler Icons (MIT).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