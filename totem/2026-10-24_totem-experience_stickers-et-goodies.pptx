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FFFFFF"/>
                </a:solidFill>
                <a:latin typeface="Montserrat"/>
              </a:rPr>
              <a:t>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FFFFFF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tx-mark-l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1725574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004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89"/>
              </a:spcAft>
            </a:pPr>
            <a:r>
              <a:rPr sz="5400" b="1">
                <a:solidFill>
                  <a:srgbClr val="FFFFFF"/>
                </a:solidFill>
                <a:latin typeface="Montserrat"/>
              </a:rPr>
              <a:t>STICKERS</a:t>
            </a:r>
          </a:p>
          <a:p>
            <a:pPr>
              <a:spcAft>
                <a:spcPts val="1889"/>
              </a:spcAft>
            </a:pPr>
            <a:r>
              <a:rPr sz="5400" b="1">
                <a:solidFill>
                  <a:srgbClr val="FFFFFF"/>
                </a:solidFill>
                <a:latin typeface="Montserrat"/>
              </a:rPr>
              <a:t>ET GOODIES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</a:pPr>
            <a:r>
              <a:rPr sz="1600" b="0">
                <a:solidFill>
                  <a:srgbClr val="D9D9D9"/>
                </a:solidFill>
                <a:latin typeface="Montserrat"/>
              </a:rPr>
              <a:t>Une collection pour la tribu TX : l’agence, la Factory, les ADICOMDAYS.</a:t>
            </a:r>
          </a:p>
          <a:p>
            <a:pPr>
              <a:spcAft>
                <a:spcPts val="560"/>
              </a:spcAft>
            </a:pPr>
            <a:r>
              <a:rPr sz="1600" b="0">
                <a:solidFill>
                  <a:srgbClr val="D9D9D9"/>
                </a:solidFill>
                <a:latin typeface="Montserrat"/>
              </a:rPr>
              <a:t>Abidjan, octobre 2026</a:t>
            </a:r>
          </a:p>
        </p:txBody>
      </p:sp>
      <p:pic>
        <p:nvPicPr>
          <p:cNvPr id="9" name="Picture 8" descr="01_le-to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822960"/>
            <a:ext cx="254020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5A5A5A"/>
                </a:solidFill>
                <a:latin typeface="Montserrat"/>
              </a:rPr>
              <a:t>L’UNIVERS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141414"/>
                </a:solidFill>
                <a:latin typeface="Montserrat"/>
              </a:rPr>
              <a:t>CE QUI FAIT TOTEM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09728" cy="1874519"/>
          </a:xfrm>
          <a:prstGeom prst="rect">
            <a:avLst/>
          </a:prstGeom>
          <a:solidFill>
            <a:srgbClr val="B6D4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</a:pPr>
            <a:r>
              <a:rPr sz="1700" b="1">
                <a:solidFill>
                  <a:srgbClr val="141414"/>
                </a:solidFill>
                <a:latin typeface="Montserrat"/>
              </a:rPr>
              <a:t>Un groupe, trois entités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TX Agency (l’agence digitale), TX Factory (le studio de contenu) et ADICOMDAYS, le rendez-vous de la communication digitale africaine depuis dix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201168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2011680"/>
            <a:ext cx="109728" cy="1874519"/>
          </a:xfrm>
          <a:prstGeom prst="rect">
            <a:avLst/>
          </a:prstGeom>
          <a:solidFill>
            <a:srgbClr val="F9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19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</a:pPr>
            <a:r>
              <a:rPr sz="1700" b="1">
                <a:solidFill>
                  <a:srgbClr val="141414"/>
                </a:solidFill>
                <a:latin typeface="Montserrat"/>
              </a:rPr>
              <a:t>Panafricain par 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26517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Une équipe entre Abidjan, Dakar, Cotonou, Conakry, Bamako, Ouagadougou et Kinshasa. « Digital Creativity Group » sur le 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09728" cy="1874519"/>
          </a:xfrm>
          <a:prstGeom prst="rect">
            <a:avLst/>
          </a:prstGeom>
          <a:solidFill>
            <a:srgbClr val="DD4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</a:pPr>
            <a:r>
              <a:rPr sz="1700" b="1">
                <a:solidFill>
                  <a:srgbClr val="141414"/>
                </a:solidFill>
                <a:latin typeface="Montserrat"/>
              </a:rPr>
              <a:t>L’influence et la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Des formats nés dans la rue et sur les réseaux : #AuQuartier avec Canal+, #MyChicAfrica avec Air France et Accor. Le Totem Influence Network.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41148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4114800"/>
            <a:ext cx="109728" cy="1874519"/>
          </a:xfrm>
          <a:prstGeom prst="rect">
            <a:avLst/>
          </a:prstGeom>
          <a:solidFill>
            <a:srgbClr val="9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</a:pPr>
            <a:r>
              <a:rPr sz="1700" b="1">
                <a:solidFill>
                  <a:srgbClr val="141414"/>
                </a:solidFill>
                <a:latin typeface="Montserrat"/>
              </a:rPr>
              <a:t>Une identité qui claque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4754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Le TX dans sa pastille vert acidulé, une typo arrondie et joueuse, trois couleurs d’entité : jaune Agency, rouge Factory, facettes ADICOM.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6D4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5A5A5A"/>
                </a:solidFill>
                <a:latin typeface="Montserrat"/>
              </a:rPr>
              <a:t>LE PARTI PRIS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141414"/>
                </a:solidFill>
                <a:latin typeface="Montserrat"/>
              </a:rPr>
              <a:t>DES OBJETS QUE LA TRIBU GARDE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</a:pPr>
            <a:r>
              <a:rPr sz="1600" b="0">
                <a:solidFill>
                  <a:srgbClr val="141414"/>
                </a:solidFill>
                <a:latin typeface="Montserrat"/>
              </a:rPr>
              <a:t>Un goodie d’agence finit souvent au fond d’un tiroir. Celui-ci doit se coller sur un ordinateur, se porter en tournage et se montrer en story.</a:t>
            </a:r>
          </a:p>
          <a:p>
            <a:pPr>
              <a:spcAft>
                <a:spcPts val="560"/>
              </a:spcAft>
            </a:pPr>
            <a:r>
              <a:rPr sz="1600" b="0">
                <a:solidFill>
                  <a:srgbClr val="141414"/>
                </a:solidFill>
                <a:latin typeface="Montserrat"/>
              </a:rPr>
              <a:t/>
            </a:r>
          </a:p>
          <a:p>
            <a:pPr>
              <a:spcAft>
                <a:spcPts val="560"/>
              </a:spcAft>
            </a:pPr>
            <a:r>
              <a:rPr sz="1600" b="0">
                <a:solidFill>
                  <a:srgbClr val="141414"/>
                </a:solidFill>
                <a:latin typeface="Montserrat"/>
              </a:rPr>
              <a:t>L’idée : parler comme l’équipe parle. Le « brief reçu », la « VFINALE_v3 », le « créatif mais à l’heure ». Des blagues de métier que les clients et les créateurs reconnaissent, signées du TX.</a:t>
            </a:r>
          </a:p>
          <a:p>
            <a:pPr>
              <a:spcAft>
                <a:spcPts val="560"/>
              </a:spcAft>
            </a:pPr>
            <a:r>
              <a:rPr sz="1600" b="0">
                <a:solidFill>
                  <a:srgbClr val="141414"/>
                </a:solidFill>
                <a:latin typeface="Montserrat"/>
              </a:rPr>
              <a:t/>
            </a:r>
          </a:p>
          <a:p>
            <a:pPr>
              <a:spcAft>
                <a:spcPts val="560"/>
              </a:spcAft>
            </a:pPr>
            <a:r>
              <a:rPr sz="1600" b="0">
                <a:solidFill>
                  <a:srgbClr val="141414"/>
                </a:solidFill>
                <a:latin typeface="Montserrat"/>
              </a:rPr>
              <a:t>Le logo se décline sans être déformé : il reste dans sa pastille, en vert ou en blanc.</a:t>
            </a:r>
          </a:p>
        </p:txBody>
      </p:sp>
      <p:pic>
        <p:nvPicPr>
          <p:cNvPr id="9" name="Picture 8" descr="03_la-tribu-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5A5A5A"/>
                </a:solidFill>
                <a:latin typeface="Montserrat"/>
              </a:rPr>
              <a:t>LA CHARTE RELEVÉE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141414"/>
                </a:solidFill>
                <a:latin typeface="Montserrat"/>
              </a:rPr>
              <a:t>COULEURS ET TYPOGRAPHIE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011680" cy="1828800"/>
          </a:xfrm>
          <a:prstGeom prst="roundRect">
            <a:avLst/>
          </a:prstGeom>
          <a:solidFill>
            <a:srgbClr val="B6D4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Vert Totem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#B6D401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</a:pPr>
            <a:r>
              <a:rPr sz="1100" b="0">
                <a:solidFill>
                  <a:srgbClr val="5A5A5A"/>
                </a:solidFill>
                <a:latin typeface="Montserrat"/>
              </a:rPr>
              <a:t>Logo du groupe, couleur maîtresse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011680"/>
            <a:ext cx="2011680" cy="1828800"/>
          </a:xfrm>
          <a:prstGeom prst="roundRect">
            <a:avLst/>
          </a:prstGeom>
          <a:solidFill>
            <a:srgbClr val="F9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Jaune 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#F9D400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</a:pPr>
            <a:r>
              <a:rPr sz="1100" b="0">
                <a:solidFill>
                  <a:srgbClr val="5A5A5A"/>
                </a:solidFill>
                <a:latin typeface="Montserrat"/>
              </a:rPr>
              <a:t>Logo TX Agency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011680"/>
            <a:ext cx="2011680" cy="1828800"/>
          </a:xfrm>
          <a:prstGeom prst="roundRect">
            <a:avLst/>
          </a:prstGeom>
          <a:solidFill>
            <a:srgbClr val="DD4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Rouge 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#DD4549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</a:pPr>
            <a:r>
              <a:rPr sz="1100" b="0">
                <a:solidFill>
                  <a:srgbClr val="5A5A5A"/>
                </a:solidFill>
                <a:latin typeface="Montserrat"/>
              </a:rPr>
              <a:t>Logo TX Factory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2011680"/>
            <a:ext cx="2011680" cy="1828800"/>
          </a:xfrm>
          <a:prstGeom prst="roundRect">
            <a:avLst/>
          </a:prstGeom>
          <a:solidFill>
            <a:srgbClr val="9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Violet ADICOM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#964C97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</a:pPr>
            <a:r>
              <a:rPr sz="1100" b="0">
                <a:solidFill>
                  <a:srgbClr val="5A5A5A"/>
                </a:solidFill>
                <a:latin typeface="Montserrat"/>
              </a:rPr>
              <a:t>Facettes du logo ADICOMDAYS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011680"/>
            <a:ext cx="201168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Noir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#141414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</a:pPr>
            <a:r>
              <a:rPr sz="1100" b="0">
                <a:solidFill>
                  <a:srgbClr val="5A5A5A"/>
                </a:solidFill>
                <a:latin typeface="Montserrat"/>
              </a:rPr>
              <a:t>Textes et fonds forts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141414"/>
                </a:solidFill>
                <a:latin typeface="Montserrat"/>
              </a:rPr>
              <a:t>Titres en Montserrat Black capitales, textes en Montserrat, la police du site. Couleurs mesurées sur les logos officiels du site totem-experience.com.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FFFFFF"/>
                </a:solidFill>
                <a:latin typeface="Montserrat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FFFFFF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B6D401"/>
                </a:solidFill>
                <a:latin typeface="Montserrat"/>
              </a:rPr>
              <a:t>LES STICKERS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FFFFFF"/>
                </a:solidFill>
                <a:latin typeface="Montserrat"/>
              </a:rPr>
              <a:t>14 STICKERS, DÉCOUPE À LA FORME</a:t>
            </a:r>
          </a:p>
        </p:txBody>
      </p:sp>
      <p:pic>
        <p:nvPicPr>
          <p:cNvPr id="8" name="Picture 7" descr="01_le-to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65" y="1920240"/>
            <a:ext cx="823508" cy="1601266"/>
          </a:xfrm>
          <a:prstGeom prst="rect">
            <a:avLst/>
          </a:prstGeom>
        </p:spPr>
      </p:pic>
      <p:pic>
        <p:nvPicPr>
          <p:cNvPr id="9" name="Picture 8" descr="02_t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017" y="1920240"/>
            <a:ext cx="1392708" cy="1598190"/>
          </a:xfrm>
          <a:prstGeom prst="rect">
            <a:avLst/>
          </a:prstGeom>
        </p:spPr>
      </p:pic>
      <p:pic>
        <p:nvPicPr>
          <p:cNvPr id="10" name="Picture 9" descr="03_la-tribu-t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624" y="1920240"/>
            <a:ext cx="1600200" cy="1600200"/>
          </a:xfrm>
          <a:prstGeom prst="rect">
            <a:avLst/>
          </a:prstGeom>
        </p:spPr>
      </p:pic>
      <p:pic>
        <p:nvPicPr>
          <p:cNvPr id="11" name="Picture 10" descr="04_on-est-ensem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976" y="2215622"/>
            <a:ext cx="1600200" cy="1009650"/>
          </a:xfrm>
          <a:prstGeom prst="rect">
            <a:avLst/>
          </a:prstGeom>
        </p:spPr>
      </p:pic>
      <p:pic>
        <p:nvPicPr>
          <p:cNvPr id="12" name="Picture 11" descr="05_brief-rec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2259940"/>
            <a:ext cx="1600200" cy="922020"/>
          </a:xfrm>
          <a:prstGeom prst="rect">
            <a:avLst/>
          </a:prstGeom>
        </p:spPr>
      </p:pic>
      <p:pic>
        <p:nvPicPr>
          <p:cNvPr id="13" name="Picture 12" descr="06_vali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2354423"/>
            <a:ext cx="1600200" cy="731520"/>
          </a:xfrm>
          <a:prstGeom prst="rect">
            <a:avLst/>
          </a:prstGeom>
        </p:spPr>
      </p:pic>
      <p:pic>
        <p:nvPicPr>
          <p:cNvPr id="14" name="Picture 13" descr="07_vfina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3032" y="2239760"/>
            <a:ext cx="1600200" cy="960120"/>
          </a:xfrm>
          <a:prstGeom prst="rect">
            <a:avLst/>
          </a:prstGeom>
        </p:spPr>
      </p:pic>
      <p:pic>
        <p:nvPicPr>
          <p:cNvPr id="15" name="Picture 14" descr="08_en-tourn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4096715"/>
            <a:ext cx="1600200" cy="1451610"/>
          </a:xfrm>
          <a:prstGeom prst="rect">
            <a:avLst/>
          </a:prstGeom>
        </p:spPr>
      </p:pic>
      <p:pic>
        <p:nvPicPr>
          <p:cNvPr id="16" name="Picture 15" descr="09_creatif-a-l-heu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272" y="4463490"/>
            <a:ext cx="1600200" cy="720090"/>
          </a:xfrm>
          <a:prstGeom prst="rect">
            <a:avLst/>
          </a:prstGeom>
        </p:spPr>
      </p:pic>
      <p:pic>
        <p:nvPicPr>
          <p:cNvPr id="17" name="Picture 16" descr="10_sept-pay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9624" y="4371770"/>
            <a:ext cx="1600200" cy="902970"/>
          </a:xfrm>
          <a:prstGeom prst="rect">
            <a:avLst/>
          </a:prstGeom>
        </p:spPr>
      </p:pic>
      <p:pic>
        <p:nvPicPr>
          <p:cNvPr id="18" name="Picture 17" descr="11_made-in-abidj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2976" y="4023360"/>
            <a:ext cx="1600200" cy="1600200"/>
          </a:xfrm>
          <a:prstGeom prst="rect">
            <a:avLst/>
          </a:prstGeom>
        </p:spPr>
      </p:pic>
      <p:pic>
        <p:nvPicPr>
          <p:cNvPr id="19" name="Picture 18" descr="12_digital-creativit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6328" y="4358142"/>
            <a:ext cx="1600200" cy="929640"/>
          </a:xfrm>
          <a:prstGeom prst="rect">
            <a:avLst/>
          </a:prstGeom>
        </p:spPr>
      </p:pic>
      <p:pic>
        <p:nvPicPr>
          <p:cNvPr id="20" name="Picture 19" descr="13_je-cree-avec-tx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9999" y="4023360"/>
            <a:ext cx="979561" cy="1600839"/>
          </a:xfrm>
          <a:prstGeom prst="rect">
            <a:avLst/>
          </a:prstGeom>
        </p:spPr>
      </p:pic>
      <p:pic>
        <p:nvPicPr>
          <p:cNvPr id="21" name="Picture 20" descr="14_adicomdays-j-y-etai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3032" y="4215493"/>
            <a:ext cx="1600200" cy="121539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D9D9D9"/>
                </a:solidFill>
                <a:latin typeface="Montserrat"/>
              </a:rPr>
              <a:t>Chaque sticker a sa bordure blanche de découpe. Les fichiers sont séparés, en haute définition, fond transparent.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5A5A5A"/>
                </a:solidFill>
                <a:latin typeface="Montserrat"/>
              </a:rPr>
              <a:t>LES STICKERS · 1/2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141414"/>
                </a:solidFill>
                <a:latin typeface="Montserrat"/>
              </a:rPr>
              <a:t>LA MARQUE ET LA TRIBU</a:t>
            </a:r>
          </a:p>
        </p:txBody>
      </p:sp>
      <p:pic>
        <p:nvPicPr>
          <p:cNvPr id="8" name="Picture 7" descr="01_le-to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30" y="2011680"/>
            <a:ext cx="1223498" cy="23803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Le totem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Le TX en tête, puis Agency, Factory, Adicom empilés : le groupe en un objet.</a:t>
            </a:r>
          </a:p>
        </p:txBody>
      </p:sp>
      <p:pic>
        <p:nvPicPr>
          <p:cNvPr id="11" name="Picture 10" descr="03_la-tribu-t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011680"/>
            <a:ext cx="2377440" cy="2377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832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La tribu 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Badge rond pour l’équipe et les créateurs du réseau.</a:t>
            </a:r>
          </a:p>
        </p:txBody>
      </p:sp>
      <p:pic>
        <p:nvPicPr>
          <p:cNvPr id="14" name="Picture 13" descr="10_sept-pay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503507"/>
            <a:ext cx="2468880" cy="13924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7 pays, une tribu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Étiquette bagage : les sept villes où vit l’équipe.</a:t>
            </a:r>
          </a:p>
        </p:txBody>
      </p:sp>
      <p:pic>
        <p:nvPicPr>
          <p:cNvPr id="17" name="Picture 16" descr="11_made-in-abidj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2011680"/>
            <a:ext cx="237744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525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Made in Abidjan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Pour signer ce qui sort de la Factory.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5A5A5A"/>
                </a:solidFill>
                <a:latin typeface="Montserrat"/>
              </a:rPr>
              <a:t>LES STICKERS · 2/2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141414"/>
                </a:solidFill>
                <a:latin typeface="Montserrat"/>
              </a:rPr>
              <a:t>LES BLAGUES DE MÉTIER</a:t>
            </a:r>
          </a:p>
        </p:txBody>
      </p:sp>
      <p:pic>
        <p:nvPicPr>
          <p:cNvPr id="8" name="Picture 7" descr="05_brief-re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90069"/>
            <a:ext cx="2468880" cy="1422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Brief reçu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À coller sur les carnets, les dossiers, les ordinateurs.</a:t>
            </a:r>
          </a:p>
        </p:txBody>
      </p:sp>
      <p:pic>
        <p:nvPicPr>
          <p:cNvPr id="11" name="Picture 10" descr="07_vfin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458934"/>
            <a:ext cx="2468880" cy="1481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832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VFINALE_v3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Le fichier que toute agence a déjà envoyé.</a:t>
            </a:r>
          </a:p>
        </p:txBody>
      </p:sp>
      <p:pic>
        <p:nvPicPr>
          <p:cNvPr id="14" name="Picture 13" descr="08_en-tourn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79136"/>
            <a:ext cx="2468880" cy="22417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En tournage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Clap TX Factory, sur les portes des plateaux.</a:t>
            </a:r>
          </a:p>
        </p:txBody>
      </p:sp>
      <p:pic>
        <p:nvPicPr>
          <p:cNvPr id="17" name="Picture 16" descr="09_creatif-a-l-he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645018"/>
            <a:ext cx="2468880" cy="11109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525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</a:pPr>
            <a:r>
              <a:rPr sz="1500" b="1">
                <a:solidFill>
                  <a:srgbClr val="141414"/>
                </a:solidFill>
                <a:latin typeface="Montserrat"/>
              </a:rPr>
              <a:t>Créatif mais à l’heure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983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0">
                <a:solidFill>
                  <a:srgbClr val="5A5A5A"/>
                </a:solidFill>
                <a:latin typeface="Montserrat"/>
              </a:rPr>
              <a:t>La promesse faite aux clients, avec le sourire.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</a:pPr>
            <a:r>
              <a:rPr sz="1200" b="1">
                <a:solidFill>
                  <a:srgbClr val="5A5A5A"/>
                </a:solidFill>
                <a:latin typeface="Montserrat"/>
              </a:rPr>
              <a:t>LES GOODIES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</a:pPr>
            <a:r>
              <a:rPr sz="3400" b="1">
                <a:solidFill>
                  <a:srgbClr val="141414"/>
                </a:solidFill>
                <a:latin typeface="Montserrat"/>
              </a:rPr>
              <a:t>HUIT OBJETS, TROIS USAGES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5"/>
              </a:spcAft>
            </a:pPr>
            <a:r>
              <a:rPr sz="1300" b="0">
                <a:solidFill>
                  <a:srgbClr val="5A5A5A"/>
                </a:solidFill>
                <a:latin typeface="Montserrat"/>
              </a:rPr>
              <a:t>Pour l’équipe (s’habiller, se reconnaître) · Pour les clients (cadeau de lancement, de fin de projet) · Pour ADICOMDAYS (participants, intervenants)</a:t>
            </a:r>
          </a:p>
        </p:txBody>
      </p:sp>
      <p:pic>
        <p:nvPicPr>
          <p:cNvPr id="9" name="Picture 8" descr="01_tote-b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0" name="Picture 9" descr="02_t-shirt-equip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37744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1" name="Picture 10" descr="03_casquet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237744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2" name="Picture 11" descr="04_m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399" y="237744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3" name="Picture 12" descr="05_carne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8912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4" name="Picture 13" descr="06_badge-et-tour-de-cou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438912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5" name="Picture 14" descr="07_gourd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79" y="438912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  <p:pic>
        <p:nvPicPr>
          <p:cNvPr id="16" name="Picture 15" descr="08_planche-de-sticker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399" y="4389120"/>
            <a:ext cx="2606040" cy="2303088"/>
          </a:xfrm>
          <a:prstGeom prst="rect">
            <a:avLst/>
          </a:prstGeom>
          <a:ln>
            <a:solidFill>
              <a:srgbClr val="E2DDC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1_tote-b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68680"/>
            <a:ext cx="61098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2_t-shirt-equi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68680"/>
            <a:ext cx="61098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3_casquet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68680"/>
            <a:ext cx="61098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4_m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68680"/>
            <a:ext cx="61098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5_carn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68680"/>
            <a:ext cx="61098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6_badge-et-tour-de-co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68680"/>
            <a:ext cx="61098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74320"/>
            <a:ext cx="392176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000" b="0">
                <a:solidFill>
                  <a:srgbClr val="5A5A5A"/>
                </a:solidFill>
                <a:latin typeface="Montserrat"/>
              </a:rPr>
              <a:t>Totem Experience · Stickers et goodies</a:t>
            </a:r>
          </a:p>
        </p:txBody>
      </p:sp>
      <p:pic>
        <p:nvPicPr>
          <p:cNvPr id="6" name="Picture 5" descr="07_gour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486400" cy="4846320"/>
          </a:xfrm>
          <a:prstGeom prst="rect">
            <a:avLst/>
          </a:prstGeom>
        </p:spPr>
      </p:pic>
      <p:pic>
        <p:nvPicPr>
          <p:cNvPr id="7" name="Picture 6" descr="08_planche-de-stick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8872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