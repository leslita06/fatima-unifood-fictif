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ovh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0"/>
            <a:ext cx="51206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68312" y="0"/>
            <a:ext cx="73152" cy="68580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239623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7180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Montserrat"/>
              </a:rPr>
              <a:t>Plan de communication hors-média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0E0A0"/>
                </a:solidFill>
                <a:latin typeface="Montserrat"/>
              </a:rPr>
              <a:t>Relations institutionnelles, presse, sponsoring, marketing direct, événementiel, terrain et relais d’influence : le plan d’action du 16 décembre au 26 mars.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74920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Montserrat"/>
              </a:rPr>
              <a:t>Proposition pour l’équipe d’organisation · octobre 2026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Montserrat"/>
              </a:rPr>
              <a:t>Complément de la stratégie digitale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Sommaire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184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cadre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6550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point de départ, objectifs, cibles, équipe et ressources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042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Les sept leviers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3408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pour chacun : cibles, supports, responsable, résultats et actions sur les quatre temps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9900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plan d’action par période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0266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avant le 16 décembre, du lancement au 26 mars, le jour J, après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6758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Le rétroplanning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7124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semaine par semaine, de novembre à avril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3616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Supports, offre partenaires et budget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3982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ce qu’il faut fabriquer, ce qu’on vend, ce que ça coûte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0E0A0"/>
                </a:solidFill>
                <a:latin typeface="Montserrat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04748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21414"/>
                </a:solidFill>
                <a:latin typeface="Montserrat"/>
              </a:rPr>
              <a:t>Pilotage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508406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7A6E6E"/>
                </a:solidFill>
                <a:latin typeface="Montserrat"/>
              </a:rPr>
              <a:t>tableau de bord, risques et prochaines étapes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cadre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D’où l’on part, ce que l’on vise, avec qui.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point de départ : un vrai réseau, une organisation trop artisanale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Ce que montrent la presse et les publications des éditions passées.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120640" cy="3931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64008" cy="3931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Les atouts à exploiter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4754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</a:t>
            </a:r>
            <a:r>
              <a:rPr sz="1100" b="1">
                <a:solidFill>
                  <a:srgbClr val="3A3030"/>
                </a:solidFill>
                <a:latin typeface="Montserrat"/>
              </a:rPr>
              <a:t>personnalités de premier rang</a:t>
            </a:r>
            <a:r>
              <a:rPr sz="1100" b="0">
                <a:solidFill>
                  <a:srgbClr val="3A3030"/>
                </a:solidFill>
                <a:latin typeface="Montserrat"/>
              </a:rPr>
              <a:t> déjà distinguées : Président de la République, Premier ministre, ministres (édition 2023).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</a:t>
            </a:r>
            <a:r>
              <a:rPr sz="1100" b="1">
                <a:solidFill>
                  <a:srgbClr val="3A3030"/>
                </a:solidFill>
                <a:latin typeface="Montserrat"/>
              </a:rPr>
              <a:t>lauréats de plusieurs pays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: Sénégal, Rwanda, Gambie.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</a:t>
            </a:r>
            <a:r>
              <a:rPr sz="1100" b="1">
                <a:solidFill>
                  <a:srgbClr val="3A3030"/>
                </a:solidFill>
                <a:latin typeface="Montserrat"/>
              </a:rPr>
              <a:t>partenaires déjà venus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en 2024, dont le Haut conseil des femmes chefs d’entreprise.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Un </a:t>
            </a:r>
            <a:r>
              <a:rPr sz="1100" b="1">
                <a:solidFill>
                  <a:srgbClr val="3A3030"/>
                </a:solidFill>
                <a:latin typeface="Montserrat"/>
              </a:rPr>
              <a:t>forum</a:t>
            </a:r>
            <a:r>
              <a:rPr sz="1100" b="0">
                <a:solidFill>
                  <a:srgbClr val="3A3030"/>
                </a:solidFill>
                <a:latin typeface="Montserrat"/>
              </a:rPr>
              <a:t> sur le leadership féminin et l’inclusion financière, ajouté en 2024.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Des lieux de prestige : </a:t>
            </a:r>
            <a:r>
              <a:rPr sz="1100" b="1">
                <a:solidFill>
                  <a:srgbClr val="3A3030"/>
                </a:solidFill>
                <a:latin typeface="Montserrat"/>
              </a:rPr>
              <a:t>Sofitel Hôtel Ivoire</a:t>
            </a:r>
            <a:r>
              <a:rPr sz="1100" b="0">
                <a:solidFill>
                  <a:srgbClr val="3A3030"/>
                </a:solidFill>
                <a:latin typeface="Montserrat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783080"/>
            <a:ext cx="5120640" cy="39319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1783080"/>
            <a:ext cx="64008" cy="39319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Ce qu’il faut corriger sur le terrain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350008"/>
            <a:ext cx="4754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Les partenaires de 2024 sont surtout des </a:t>
            </a:r>
            <a:r>
              <a:rPr sz="1100" b="1">
                <a:solidFill>
                  <a:srgbClr val="3A3030"/>
                </a:solidFill>
                <a:latin typeface="Montserrat"/>
              </a:rPr>
              <a:t>PME</a:t>
            </a:r>
            <a:r>
              <a:rPr sz="1100" b="0">
                <a:solidFill>
                  <a:srgbClr val="3A3030"/>
                </a:solidFill>
                <a:latin typeface="Montserrat"/>
              </a:rPr>
              <a:t>, présentées avec un visuel identique : aucune grande entreprise en sponsor principal.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Le contact passe par </a:t>
            </a:r>
            <a:r>
              <a:rPr sz="1100" b="1">
                <a:solidFill>
                  <a:srgbClr val="3A3030"/>
                </a:solidFill>
                <a:latin typeface="Montserrat"/>
              </a:rPr>
              <a:t>un numéro de téléphone et une adresse Gmail</a:t>
            </a:r>
            <a:r>
              <a:rPr sz="1100" b="0">
                <a:solidFill>
                  <a:srgbClr val="3A3030"/>
                </a:solidFill>
                <a:latin typeface="Montserrat"/>
              </a:rPr>
              <a:t> : il faut une adresse et des documents à l’en-tête.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Ni </a:t>
            </a:r>
            <a:r>
              <a:rPr sz="1100" b="1">
                <a:solidFill>
                  <a:srgbClr val="3A3030"/>
                </a:solidFill>
                <a:latin typeface="Montserrat"/>
              </a:rPr>
              <a:t>règlement</a:t>
            </a:r>
            <a:r>
              <a:rPr sz="1100" b="0">
                <a:solidFill>
                  <a:srgbClr val="3A3030"/>
                </a:solidFill>
                <a:latin typeface="Montserrat"/>
              </a:rPr>
              <a:t>, ni </a:t>
            </a:r>
            <a:r>
              <a:rPr sz="1100" b="1">
                <a:solidFill>
                  <a:srgbClr val="3A3030"/>
                </a:solidFill>
                <a:latin typeface="Montserrat"/>
              </a:rPr>
              <a:t>jury</a:t>
            </a:r>
            <a:r>
              <a:rPr sz="1100" b="0">
                <a:solidFill>
                  <a:srgbClr val="3A3030"/>
                </a:solidFill>
                <a:latin typeface="Montserrat"/>
              </a:rPr>
              <a:t>, ni </a:t>
            </a:r>
            <a:r>
              <a:rPr sz="1100" b="1">
                <a:solidFill>
                  <a:srgbClr val="3A3030"/>
                </a:solidFill>
                <a:latin typeface="Montserrat"/>
              </a:rPr>
              <a:t>catégories</a:t>
            </a:r>
            <a:r>
              <a:rPr sz="1100" b="0">
                <a:solidFill>
                  <a:srgbClr val="3A3030"/>
                </a:solidFill>
                <a:latin typeface="Montserrat"/>
              </a:rPr>
              <a:t> publics : c’est la première question que posera un ministère ou un grand groupe.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A3030"/>
                </a:solidFill>
                <a:latin typeface="Montserrat"/>
              </a:rPr>
              <a:t>La </a:t>
            </a:r>
            <a:r>
              <a:rPr sz="1100" b="1">
                <a:solidFill>
                  <a:srgbClr val="3A3030"/>
                </a:solidFill>
                <a:latin typeface="Montserrat"/>
              </a:rPr>
              <a:t>7e édition</a:t>
            </a:r>
            <a:r>
              <a:rPr sz="1100" b="0">
                <a:solidFill>
                  <a:srgbClr val="3A3030"/>
                </a:solidFill>
                <a:latin typeface="Montserrat"/>
              </a:rPr>
              <a:t>, annoncée pour le 2 mai 2026, n’a laissé aucune trace : il faut un récit clair sur le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Cinq objectifs, chacun chiffré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cibles sont des propositions, à caler avec vous sur le budget et l’historique des éditions.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Crédibilité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000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 parrainage officiel et des institutions présentes.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1 ministère parrain · 3 organisations professionnelles partenaires · 15 articles de presse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0791" y="178308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50791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1" y="192024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Sponsors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1" y="235000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Financer l’événement avant la fin janvier.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1 sponsor principal · 3 sponsors Or · 5 partenaires de catégorie · 4 partenaires médias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52944" y="178308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52944" y="178308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1544" y="192024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Mobilisation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544" y="235000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Faire candidater les meilleures structures.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150 candidatures reçues · 10 secteurs couverts · 4 pays représentés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9476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7947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3192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Participation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6168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Remplir la salle avec les bons invités.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Taux de remplissage · tables d’entreprise vendues · présence des invités officiels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0791" y="3794760"/>
            <a:ext cx="3364992" cy="1874519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50791" y="3794760"/>
            <a:ext cx="64008" cy="1874519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9391" y="3931920"/>
            <a:ext cx="29992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Relations durables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1" y="4361688"/>
            <a:ext cx="29992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Garder le lien après le 26 mars.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Mesure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Un fichier qualifié de 500 décideurs · 60 % des sponsors renouvelés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Six familles de cibles, par ordre de priorité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Chaque famille a son message, son porte-parole et son support.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Cible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6479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Qui, concrètement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7647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Ce qu’on attend d’elle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76479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Message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60350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Institutions publiques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17627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Ministère du Commerce et de l’Industrie, ministère des PME, CEPICI, Agence Côte d’Ivoire PME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17627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Parrainage, présence, prix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17627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Un prix qui valorise l’économie du pays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52344"/>
            <a:ext cx="1051560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16351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Organisations patronales et chambres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816351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CGECI, Chambre de commerce et d’industrie, FIPME, chambres et fédérations sectorielles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816351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Relais, jury, candidatures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16351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Mettre en avant vos membres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92424"/>
            <a:ext cx="10515600" cy="60350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5643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Grandes entreprises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45643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Banques, télécoms, assurances, énergie, BTP, agro-industrie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4564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Sponsoring, tables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45643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Associer votre marque à l’excellence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32504"/>
            <a:ext cx="1051560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9651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PME et institutions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09651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Entreprises de tous secteurs, ONG, établissements de formation et de santé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09651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Candidatures, places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09651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Votre travail mérite d’être reconnu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672583"/>
            <a:ext cx="10515600" cy="60350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3659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Médias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73659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Presse écrite, radios, télévisions, sites d’information, médias panafricains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73659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Couverture, partenariat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Des histoires de réussite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312664"/>
            <a:ext cx="1051560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37667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Relais d’influence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0" y="5376672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Anciens lauréats, associations de dirigeants, réseaux de femmes chefs d’entreprise, diaspora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37667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Recommandation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537667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Faites venir vos pairs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L’équipe et les ressources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Une équipe réaliste de six personnes, renforcée le jour J. Les noms sont à placer en face des rôles.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Rôle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647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6479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1226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762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Directeur du projet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7627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Relations institutionnelles, grands sponsors, arbitrages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7627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Président du comité des Awards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60904"/>
            <a:ext cx="10515600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249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Chargé des partenariats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72491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Prospection, rendez-vous, propositions, contrats, suivi des contreparties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2491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 à temps plein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0954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Attaché de presse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27355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Communiqués, dossier de presse, conférences, accréditations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73551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Interne ou agence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58183"/>
            <a:ext cx="10515600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2219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Chargé des relations publiques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82219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Invitations, fichier, relances téléphoniques, protocole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822191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 + 2 renforts en mars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06824"/>
            <a:ext cx="10515600" cy="512063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7083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Chargé de la logistique et du terrain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37083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Impression, affichage, stands, lieux, prestataires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37083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855464"/>
            <a:ext cx="10515600" cy="5120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9194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Assistant administratif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91947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Courriers, tableau de suivi, accueil des candidatures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91947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personne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321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3A3030"/>
                </a:solidFill>
                <a:latin typeface="Montserrat"/>
              </a:rPr>
              <a:t>Outils communs :</a:t>
            </a:r>
            <a:r>
              <a:rPr sz="1050" b="0">
                <a:solidFill>
                  <a:srgbClr val="3A3030"/>
                </a:solidFill>
                <a:latin typeface="Montserrat"/>
              </a:rPr>
              <a:t> un fichier unique des contacts, un tableau de suivi des rendez-vous mis à jour chaque vendredi, une adresse e-mail à l’en-tête des Awards.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Les sept leviers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Pour chacun : cibles, supports, responsable, résultats, et les actions sur les quatre temps.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1. Relations publiques et institutionnelles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obtenir un parrainage officiel et faire des institutions des alliées visibles.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11887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11887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Cibles prioritaires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Ministère du Commerce et de l’Industrie, ministère des PME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CGECI, Chambre de commerce, FIPME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Associations professionnelles et sectorielles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3566160" cy="10515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99232"/>
            <a:ext cx="64008" cy="10515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Supports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Lettre officielle, note de présentation de 4 pages, règlement et liste du jury, dossier institutionnel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23944"/>
            <a:ext cx="3566160" cy="65836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23944"/>
            <a:ext cx="64008" cy="65836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611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Responsable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90872"/>
            <a:ext cx="3200400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Directeur du projet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23944"/>
            <a:ext cx="3566160" cy="65836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23944"/>
            <a:ext cx="64008" cy="65836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3A3030"/>
                </a:solidFill>
                <a:latin typeface="Montserrat"/>
              </a:rPr>
              <a:t>Responsable :</a:t>
            </a:r>
            <a:r>
              <a:rPr sz="1000" b="0">
                <a:solidFill>
                  <a:srgbClr val="3A3030"/>
                </a:solidFill>
                <a:latin typeface="Montserrat"/>
              </a:rPr>
              <a:t> Directeur du projet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55464"/>
            <a:ext cx="3566160" cy="914400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64008" cy="9144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9926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Résultats attendus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223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parrainage ministériel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3 organisations partenaires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Des membres du jury issus des institutions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Demande d’audience aux ministères (lettre + note) · rencontre CGECI, Chambre de commerce, FIPME · proposition de siéger au jury · invitation officielle au lancement.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Point d’étape avec chaque institution en janvier · relais de l’appel à candidatures auprès des membres · prix remis par un représentant institutionnel · invitations protocolaires.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protocolaire dédié · places réservées · prise de parole du parrain · remise de prix par les institutions.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 de remerciement sous 7 jours · bilan remis en audience · proposition de reconduire le partenariat pour l’édition suivante.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2. Relations presse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installer les Awards comme un événement sérieux et attendu dans les médias.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11887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11887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Cibles prioritaires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Presse écrite et sites d’information ivoiriens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Radios et télévisions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Médias économiques et panafricains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3566160" cy="10515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99232"/>
            <a:ext cx="64008" cy="10515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Supports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3 communiqués, dossier de presse, photos HD, biographies du jury, kit d’accréditation, fiche « chiffres clés 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23944"/>
            <a:ext cx="3566160" cy="65836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23944"/>
            <a:ext cx="64008" cy="65836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611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Responsable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90872"/>
            <a:ext cx="3200400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23944"/>
            <a:ext cx="3566160" cy="65836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23944"/>
            <a:ext cx="64008" cy="65836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3A3030"/>
                </a:solidFill>
                <a:latin typeface="Montserrat"/>
              </a:rPr>
              <a:t>Responsable :</a:t>
            </a:r>
            <a:r>
              <a:rPr sz="1000" b="0">
                <a:solidFill>
                  <a:srgbClr val="3A3030"/>
                </a:solidFill>
                <a:latin typeface="Montserrat"/>
              </a:rPr>
              <a:t> Attaché de presse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55464"/>
            <a:ext cx="3566160" cy="914400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64008" cy="9144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9926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Résultats attendus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223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15 articles et reportages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4 partenaires médias signés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5 interviews de dirigeants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Fichier de 60 journalistes · rencontre avec les rédactions · signature de partenariats médias (visibilité contre espace) · invitations à la conférence de lancement.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Conférence de presse le 16 décembre · communiqués : lancement, nominés (février), invités (mars) · interviews du président et des membres du jury · émissions radio sur les nominés.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Espace presse avec connexion · accréditations · interviews sur le tapis rouge · communiqué du palmarès publié le soir même · photos envoyées dans l’heure.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Revue de presse complète · remerciements aux médias · portraits de lauréats proposés aux rédactions pendant un mois.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3. Prospection commerciale et sponsoring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signer les sponsors avant la fin janvier, avec des contreparties claires.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11887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11887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Cibles prioritaires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Banques, télécoms, assurances, énergie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Agro-industrie, BTP, distribution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Anciens partenaires de 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3566160" cy="10515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99232"/>
            <a:ext cx="64008" cy="10515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Supports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Dossier de partenariat, grille des formules, contrat type, présentation de 10 minutes, échantillon de trophée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23944"/>
            <a:ext cx="3566160" cy="65836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23944"/>
            <a:ext cx="64008" cy="65836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611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Responsable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90872"/>
            <a:ext cx="3200400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Chargé des partenariats, avec le directeur pour les grands comptes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23944"/>
            <a:ext cx="3566160" cy="65836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23944"/>
            <a:ext cx="64008" cy="65836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3A3030"/>
                </a:solidFill>
                <a:latin typeface="Montserrat"/>
              </a:rPr>
              <a:t>Responsable :</a:t>
            </a:r>
            <a:r>
              <a:rPr sz="1000" b="0">
                <a:solidFill>
                  <a:srgbClr val="3A3030"/>
                </a:solidFill>
                <a:latin typeface="Montserrat"/>
              </a:rPr>
              <a:t> Chargé des partenariats, avec le directeur pour les grands comptes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55464"/>
            <a:ext cx="3566160" cy="914400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64008" cy="9144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9926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Résultats attendus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223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 sponsor principal, 3 Or, 5 de catégorie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40 rendez-vous tenus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Partenaires en nature : hôtel, imprimeur, transport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de 80 entreprises cibles · prise de rendez-vous par téléphone · 25 premiers rendez-vous · offre « partenaire fondateur » pour les premiers signataires.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Relances et 15 rendez-vous supplémentaires · signatures avant le 31 janvier · annonce publique de chaque sponsor · suivi des contreparties.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des sponsors · logos sur scène et supports · remise de prix par les sponsors · espace de rencontre réservé.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Bilan de visibilité remis à chaque sponsor sous 30 jours · rendez-vous de renouvellement · proposition pour l’édition suivante.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4. Marketing direct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toucher personnellement chaque décideur et transformer l’intérêt en présence.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11887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11887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Cibles prioritaires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500 dirigeants et décideurs ciblés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Anciens lauréats et participants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Responsables d’institutions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3566160" cy="10515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99232"/>
            <a:ext cx="64008" cy="10515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Supports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Invitation imprimée haut de gamme, courrier à l’en-tête, carton réponse, script d’appel, fichier de suivi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23944"/>
            <a:ext cx="3566160" cy="65836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23944"/>
            <a:ext cx="64008" cy="65836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611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Responsable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90872"/>
            <a:ext cx="3200400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Chargé des relations publiques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23944"/>
            <a:ext cx="3566160" cy="65836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23944"/>
            <a:ext cx="64008" cy="65836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3A3030"/>
                </a:solidFill>
                <a:latin typeface="Montserrat"/>
              </a:rPr>
              <a:t>Responsable :</a:t>
            </a:r>
            <a:r>
              <a:rPr sz="1000" b="0">
                <a:solidFill>
                  <a:srgbClr val="3A3030"/>
                </a:solidFill>
                <a:latin typeface="Montserrat"/>
              </a:rPr>
              <a:t> Chargé des relations publiques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55464"/>
            <a:ext cx="3566160" cy="914400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64008" cy="9144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9926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Résultats attendus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223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500 invitations remises en main propre ou par courrier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Taux de réponse de 40 %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Tables vendues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Constitution du fichier (anciens participants, annuaires des organisations, partenaires) · courrier d’annonce · invitations au lancement remises en main propre.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Courrier d’appel à candidatures · visites aux entreprises clés · invitations à la cérémonie début février · relances téléphoniques à J-21, J-7 et J-2.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nominatif · liste des invités à l’entrée · badges · placement à table soigné.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 de remerciement signée · certificat aux lauréats · questionnaire de satisfaction · mise à jour du fichier.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5. Événementiel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multiplier les occasions de rencontre entre le lancement et la cérémonie.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11887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11887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Cibles prioritaires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Dirigeants, sponsors, institutions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Nominés et candidats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Médias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3566160" cy="10515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99232"/>
            <a:ext cx="64008" cy="10515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Supports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Conducteur de chaque rencontre, signalétique, trophées, badges, mur de logos, programme imprimé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23944"/>
            <a:ext cx="3566160" cy="65836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23944"/>
            <a:ext cx="64008" cy="65836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611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Responsable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90872"/>
            <a:ext cx="3200400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Directeur du projet et chargé de la logistique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23944"/>
            <a:ext cx="3566160" cy="65836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23944"/>
            <a:ext cx="64008" cy="65836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3A3030"/>
                </a:solidFill>
                <a:latin typeface="Montserrat"/>
              </a:rPr>
              <a:t>Responsable :</a:t>
            </a:r>
            <a:r>
              <a:rPr sz="1000" b="0">
                <a:solidFill>
                  <a:srgbClr val="3A3030"/>
                </a:solidFill>
                <a:latin typeface="Montserrat"/>
              </a:rPr>
              <a:t> Directeur du projet et chargé de la logistique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55464"/>
            <a:ext cx="3566160" cy="914400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64008" cy="9144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9926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Résultats attendus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223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Un lancement réussi le 16 décembre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3 rencontres intermédiaires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Une cérémonie sans incident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Choix du lieu et des prestataires · conducteur du lancement · réservation des intervenants · essai du matériel.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Cérémonie de lancement le 16 décembre · petit-déjeuner des sponsors en janvier · rencontre des nominés en février · cocktail de networking B2B en mars · forum sur le leadership féminin autour du 8 mars.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Accueil et tapis rouge · forum en journée · rencontres B2B · cérémonie et dîner de gala · remise des prix.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Soirée ou déjeuner des lauréats · réunion bilan avec les prestataires · retour d’expérience écrit.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6. Communication terrain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rendre les Awards visibles là où passent les décideurs.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11887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11887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Cibles prioritaires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Plateau, Cocody, Marcory Zone 4, Riviera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Aéroport, grands hôtels, chambres de commerce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Sièges des entreprises partenaires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3566160" cy="10515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99232"/>
            <a:ext cx="64008" cy="10515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Supports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Affiches, kakémonos, brochures, flyers, panneaux, présentoirs, objets pour les invités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23944"/>
            <a:ext cx="3566160" cy="65836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23944"/>
            <a:ext cx="64008" cy="65836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611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Responsable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90872"/>
            <a:ext cx="3200400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Chargé de la logistique et du terrain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23944"/>
            <a:ext cx="3566160" cy="65836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23944"/>
            <a:ext cx="64008" cy="65836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3A3030"/>
                </a:solidFill>
                <a:latin typeface="Montserrat"/>
              </a:rPr>
              <a:t>Responsable :</a:t>
            </a:r>
            <a:r>
              <a:rPr sz="1000" b="0">
                <a:solidFill>
                  <a:srgbClr val="3A3030"/>
                </a:solidFill>
                <a:latin typeface="Montserrat"/>
              </a:rPr>
              <a:t> Chargé de la logistique et du terrain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55464"/>
            <a:ext cx="3566160" cy="914400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64008" cy="9144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9926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Résultats attendus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223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Présence dans 30 lieux stratégiques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5 000 brochures et flyers distribués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Affichage en place 3 semaines avant le 26 mars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Charte des supports · choix de l’imprimeur (partenaire en nature si possible) · repérage des lieux et accords de dépôt · kakémonos du lancement.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Brochures dans les chambres de commerce, hôtels et sièges partenaires · kakémonos lors des rencontres · campagne d’affichage du 2 au 26 mars · présence sur les salons professionnels.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Signalétique complète du lieu · mur de logos pour les photos · programme imprimé · coffret ou objet pour les lauréats.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Dépose et stockage des supports réutilisables · affiche « Merci » dans les lieux partenaires.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7. Partenariats et relais d’influence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Objectif : faire porter le message par des voix respectées du monde économique.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11887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11887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Cibles prioritaires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Anciens lauréats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Associations de dirigeants, réseaux de femmes chefs d’entreprise, clubs d’affaires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Personnalités économiques et diaspora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9232"/>
            <a:ext cx="3566160" cy="105156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99232"/>
            <a:ext cx="64008" cy="105156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Supports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6616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Lettre d’ambassadeur, kit de présentation, invitation personnelle, visuels à relayer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23944"/>
            <a:ext cx="3566160" cy="65836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23944"/>
            <a:ext cx="64008" cy="65836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6110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Responsable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90872"/>
            <a:ext cx="3200400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Directeur du projet et chargé des relations publiques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23944"/>
            <a:ext cx="3566160" cy="658368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23944"/>
            <a:ext cx="64008" cy="65836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3A3030"/>
                </a:solidFill>
                <a:latin typeface="Montserrat"/>
              </a:rPr>
              <a:t>Responsable :</a:t>
            </a:r>
            <a:r>
              <a:rPr sz="1000" b="0">
                <a:solidFill>
                  <a:srgbClr val="3A3030"/>
                </a:solidFill>
                <a:latin typeface="Montserrat"/>
              </a:rPr>
              <a:t> Directeur du projet et chargé des relations publiques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55464"/>
            <a:ext cx="3566160" cy="914400"/>
          </a:xfrm>
          <a:prstGeom prst="rect">
            <a:avLst/>
          </a:prstGeom>
          <a:solidFill>
            <a:srgbClr val="F6E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64008" cy="9144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99262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7A0A0E"/>
                </a:solidFill>
                <a:latin typeface="Montserrat"/>
              </a:rPr>
              <a:t>Résultats attendus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4223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20 ambassadeurs actifs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10 réseaux relais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30 % des candidatures venues des relais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1737360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1737360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Avant le 16 déc.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1737360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0" y="1801368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Choix de 20 ambassadeurs (anciens lauréats, dirigeants reconnus) · rencontre de présentation · accords avec les associations de dirigeants et réseaux féminins.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752344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0832" y="2752344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16 déc. – 26 mars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2752344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2816352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Chaque ambassadeur recommande 5 structures · présentations des Awards dans les réunions des associations · relais par les représentations de la diaspora et les chambres de commerce étrangères.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767328"/>
            <a:ext cx="1417320" cy="94183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2" y="3767328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4A0406"/>
                </a:solidFill>
                <a:latin typeface="Montserrat"/>
              </a:rPr>
              <a:t>Le 26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15000" y="3767328"/>
            <a:ext cx="5257800" cy="941832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3831336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Ambassadeurs à l’accueil et sur scène · moment de reconnaissance des relais.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4782312"/>
            <a:ext cx="1417320" cy="941832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4782312"/>
            <a:ext cx="1280160" cy="9418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Montserrat"/>
              </a:rPr>
              <a:t>Après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0" y="4782312"/>
            <a:ext cx="5257800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4846320"/>
            <a:ext cx="5029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Remerciement personnel · club des lauréats et ambassadeurs · invitation à la préparation de l’édition suivante.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plan d’action par période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Ce qui se fait, quand, par qui, avec quel livrable.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Avant le 16 décembre : préparer et convaincre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Sept semaines pour installer la crédibilité et ouvrir les portes.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Valider règlement, catégories, jury et lieu du 26 mars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le 6 nov.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Règlement signé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Créer l’adresse e-mail, le papier à en-tête, les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le 6 nov.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Kit administratif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Écrire aux ministères et organisations patronales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Semaine du 9 nov.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8 lettres envoyées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Dossier de partenariat et liste des 80 entreprises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le 13 nov.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Dossier + fichier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25 rendez-vous sponsors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16 nov. – 11 déc.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Comptes rendus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Partenariats médias et fichier de 60 journalistes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16 – 27 nov.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4 accords visés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Choix de 20 ambassadeurs, rencontre de présentation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23 nov. – 4 déc.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signée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3126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376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Invitations au lancement remises en main propre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376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1er – 10 déc.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376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5376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200 invitations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7698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833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Impression des supports du lancement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5833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1er – 11 déc.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5833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Logistique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833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Kakémonos, brochures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Du 16 décembre au 26 mars : mobiliser, financer, remplir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 lancement ouvre trois mois de rencontres, de relances et de visibilité.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Cérémonie et conférence de presse de lancement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16 déc.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 + presse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Communiqué n°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Courrier d’appel à candidatures aux entreprises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17 – 23 déc.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500 courriers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Relances sponsors et signatures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 – 31 janv.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Contrats signés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Petit-déjeuner des sponsors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Mi-janvier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Sponsors présentés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Clôture des candidatures, délibération du jury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Fin janv. – mi-fév.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des nominés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Annonce des nominés, rencontre des nominés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Février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Presse + événementiel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Communiqué n°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Invitations à la cérémonie, relances à J-21, J-7, J-2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fév. – 24 mars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confirmée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3126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376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Forum sur le leadership féminin, cocktail B2B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376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Autour du 8 mars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376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Événementiel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5376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Compte rendu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7698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833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Campagne d’affichage et dépôts de brochures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5833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– 26 mars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5833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Logistique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5833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30 lieux couverts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26 mars : réussir la soirée, la faire rayonner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Un conducteur minute par minute et une équipe renforcée.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Installation, signalétique, mur de logos, essai son et lumière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Matin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Logistique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Salle prête à 14 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Accueil protocolaire des officiels et des sponsors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Dès l’ouverture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Liste pointée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Forum et rencontres B2B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Après-midi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Événementiel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Rendez-vous tenus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Tapis rouge, espace presse, accréditations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Avant la cérémonie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Interviews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Cérémonie, remise des prix, dîner de gala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Soirée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Conducteur respecté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Communiqué du palmarès et photos à la presse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 soir même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Communiqué n° 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Recueil des contacts et des cartes de visite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Toute la journée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Assistant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Fichier enrichi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Après la cérémonie : remercier, mesurer, fidéliser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relations durables se jouent dans les trente jours.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647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Livrable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Lettres de remerciement aux officiels, sponsors, médias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7 jours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76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Lettres signées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94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33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Certificats et kits lauréats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33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10 jours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633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33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Kits remis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266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906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Revue de presse complète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0906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15 jours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906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Attaché de presse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906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Revue de presse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838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Bilan de visibilité par sponsor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478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30 jours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47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Bilans remis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9410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050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Questionnaire de satisfaction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0050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Sous 7 jours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050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Relations publiques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050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Résultats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98264"/>
            <a:ext cx="10515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62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Rendez-vous de renouvellement des sponsors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462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Avril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4462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Partenariats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622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Accords de principe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855464"/>
            <a:ext cx="10515600" cy="420624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9194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Retour d’expérience et date de l’édition suivante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9194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Fin avril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Directeur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Note de bilan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Le rétroplanning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De novembre à avril, levier par levier.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rétroplanning de novembre à avril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Barres = périodes d’action principales ; or = temps forts.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Nov.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7408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Déc.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05856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05856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Janv.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04304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4304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Fév.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02752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691640"/>
            <a:ext cx="1261872" cy="36576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691640"/>
            <a:ext cx="1261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0E0A0"/>
                </a:solidFill>
                <a:latin typeface="Montserrat"/>
              </a:rPr>
              <a:t>Avril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1945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2860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Relations institutionnelles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286000"/>
            <a:ext cx="1926729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4304" y="2286000"/>
            <a:ext cx="2345583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2286000"/>
            <a:ext cx="121467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2651760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43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Relations presse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95355" y="2743200"/>
            <a:ext cx="1340333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04304" y="2743200"/>
            <a:ext cx="2555010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2743200"/>
            <a:ext cx="586395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1089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004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Sponsoring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85928" y="3200400"/>
            <a:ext cx="3476489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1200" y="3200400"/>
            <a:ext cx="121467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566160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6576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Marketing direct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07408" y="3657600"/>
            <a:ext cx="628281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77574" y="3657600"/>
            <a:ext cx="251312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04304" y="3657600"/>
            <a:ext cx="2303698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0233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1148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Événementiel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66595" y="4114800"/>
            <a:ext cx="251312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90699" y="4114800"/>
            <a:ext cx="29319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70293" y="4114800"/>
            <a:ext cx="209427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480560"/>
            <a:ext cx="1042416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5720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Communication terrain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7408" y="4572000"/>
            <a:ext cx="628281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44637" y="4572000"/>
            <a:ext cx="1005250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4937760"/>
            <a:ext cx="1042416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029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Relais d’influence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04782" y="5029200"/>
            <a:ext cx="3685916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01200" y="5029200"/>
            <a:ext cx="795822" cy="219456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17401" y="2103120"/>
            <a:ext cx="45720" cy="329184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12729" y="54406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16 déc. · Lancement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31599" y="2103120"/>
            <a:ext cx="45720" cy="329184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26927" y="544068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7A0A0E"/>
                </a:solidFill>
                <a:latin typeface="Montserrat"/>
              </a:rPr>
              <a:t>26 mars · Cérémonie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Supports, offre partenaires et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Ce qu’il faut fabriquer, ce qu’on propose aux sponsors, ce que ça coûte.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Les supports à produire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Quantités proposées, à ajuster au budget et au nombre d’invités.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6479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7647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Quantité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76479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Prêt pour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176272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Dossier de partenariat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176272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Rendez-vous sponsors, version imprimée et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176272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50 +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76272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13 nov.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51176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15184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Note institutionnelle et lettres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615184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Ministères, organisations patronales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615184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15184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6 nov.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990088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54096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Dossier de presse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054096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Conférence de lancement, rédactions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054096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60 + 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054096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10 déc.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29000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493008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Invitations imprimées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493008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Lancement puis cérémonie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493008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200 + 500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493008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1er déc. / 2 fév.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867912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931920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Brochure de présentation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931920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Lieux stratégiques, rendez-vous, salons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931920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3 000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931920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11 déc.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06824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370832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Flyers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4370832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Distribution ciblée, chambres, salons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4370832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2 000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370832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11 déc.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745736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809744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Kakémonos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809744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Lancement, rencontres, cérémonie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809744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809744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11 déc.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184648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5248656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Affiches et panneaux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5248656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Campagne d’affichage de mars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5248656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30 lieux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248656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27 fév.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623560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687568"/>
            <a:ext cx="2926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7A0A0E"/>
                </a:solidFill>
                <a:latin typeface="Montserrat"/>
              </a:rPr>
              <a:t>Signalétique, mur de logos, badges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5687568"/>
            <a:ext cx="42062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Jour J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79" y="5687568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1 jeu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5687568"/>
            <a:ext cx="1645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3A3030"/>
                </a:solidFill>
                <a:latin typeface="Montserrat"/>
              </a:rPr>
              <a:t>20 mars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L’offre aux partenaires : des contreparties concrètes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montants de chaque formule restent à fixer par le comité ; les contreparties sont proposées.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993392" cy="68580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4A0406"/>
                </a:solidFill>
                <a:latin typeface="Montserrat"/>
              </a:rPr>
              <a:t>Sponsor principal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4A0406"/>
                </a:solidFill>
                <a:latin typeface="Montserrat"/>
              </a:rPr>
              <a:t>1 place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1993392" cy="28346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1737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Nom associé à l’événement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Prise de parole le 26 mars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Logo en tête de tous les supports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2 tables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Remise du grand prix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783080"/>
            <a:ext cx="1993392" cy="6858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18288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Sponsor Or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3 places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468880"/>
            <a:ext cx="1993392" cy="28346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606040"/>
            <a:ext cx="1737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Logo sur supports et scène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1 table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Remise d’un prix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Présence au petit-déjeuner des sponsors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79" y="1783080"/>
            <a:ext cx="1993392" cy="6858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7" y="18288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Partenaire de catégorie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5 places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79" y="2468880"/>
            <a:ext cx="1993392" cy="28346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39" y="2606040"/>
            <a:ext cx="1737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Nom associé à un prix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Remise de ce prix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4 places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Logo sur la brochure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7999" y="1783080"/>
            <a:ext cx="1993392" cy="6858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7" y="18288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Partenaire en nature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Selon besoins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7999" y="2468880"/>
            <a:ext cx="1993392" cy="28346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59" y="2606040"/>
            <a:ext cx="1737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Hôtel, imprimeur, transport, traiteur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Logo et remerciement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Places selon l’apport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19" y="1783080"/>
            <a:ext cx="1993392" cy="6858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0847" y="1828800"/>
            <a:ext cx="1783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Partenaire média</a:t>
            </a:r>
          </a:p>
          <a:p>
            <a:pPr algn="l">
              <a:spcAft>
                <a:spcPts val="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4 places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19" y="2468880"/>
            <a:ext cx="1993392" cy="283464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79" y="2606040"/>
            <a:ext cx="17373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Espace contre visibilité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Accès privilégié aux lauréats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• Logo sur les supports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406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Pour tous :</a:t>
            </a:r>
            <a:r>
              <a:rPr sz="1100" b="0">
                <a:solidFill>
                  <a:srgbClr val="3A3030"/>
                </a:solidFill>
                <a:latin typeface="Montserrat"/>
              </a:rPr>
              <a:t> un bilan de visibilité chiffré remis sous 30 jours, et une priorité de renouvellement pour l’édition suivante.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budget hors-média, réparti selon le principe « les sponsors financent 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En pourcentage du budget hors-média ; à appliquer au montant que vous nous indiquerez.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Événementiel (lieux, technique, traiteur, trophées)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819656"/>
            <a:ext cx="3291839" cy="292608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40 %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Supports imprimés et affichage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322576"/>
            <a:ext cx="1645919" cy="292608"/>
          </a:xfrm>
          <a:prstGeom prst="rect">
            <a:avLst/>
          </a:prstGeom>
          <a:solidFill>
            <a:srgbClr val="7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20 %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8892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Relations presse et partenariats médias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825496"/>
            <a:ext cx="82295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78892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Marketing direct (invitations, courriers, coursiers)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328416"/>
            <a:ext cx="82295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329184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9476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Déplacements et rendez-vous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831336"/>
            <a:ext cx="41147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379476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5 %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Protocole et accueil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4334256"/>
            <a:ext cx="41147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429768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5 %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0060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3A3030"/>
                </a:solidFill>
                <a:latin typeface="Montserrat"/>
              </a:rPr>
              <a:t>Réserve et imprévus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4837176"/>
            <a:ext cx="822959" cy="2926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4800600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221414"/>
                </a:solidFill>
                <a:latin typeface="Montserrat"/>
              </a:rPr>
              <a:t>10 %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1783080"/>
            <a:ext cx="2194560" cy="347472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78240" y="1783080"/>
            <a:ext cx="64008" cy="347472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9202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7A0A0E"/>
                </a:solidFill>
                <a:latin typeface="Montserrat"/>
              </a:rPr>
              <a:t>Pour tenir le budget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350008"/>
            <a:ext cx="18288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Engager les dépenses au rythme des signatures.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Chercher hôtel, imprimeur et transport en partenaires en nature.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3A3030"/>
                </a:solidFill>
                <a:latin typeface="Montserrat"/>
              </a:rPr>
              <a:t>Réutiliser kakémonos et signalétique.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406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3A3030"/>
                </a:solidFill>
                <a:latin typeface="Montserrat"/>
              </a:rPr>
              <a:t>Règle :</a:t>
            </a:r>
            <a:r>
              <a:rPr sz="1100" b="0">
                <a:solidFill>
                  <a:srgbClr val="3A3030"/>
                </a:solidFill>
                <a:latin typeface="Montserrat"/>
              </a:rPr>
              <a:t> aucune commande ferme avant d’avoir signé l’équivalent de 50 % du budget en sponsoring.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C99A3C"/>
                </a:solidFill>
                <a:latin typeface="Montserrat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2316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2004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F0E0A0"/>
                </a:solidFill>
                <a:latin typeface="Montserrat"/>
              </a:rPr>
              <a:t>Tableau de bord, risques et prochaines étapes.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 tableau de bord, suivi chaque vendredi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9326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7A6E6E"/>
                </a:solidFill>
                <a:latin typeface="Montserrat"/>
              </a:rPr>
              <a:t>Les cibles sont des propositions, à ajuster après le premier mois.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10515600" cy="384048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Indicateur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6479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Cible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7647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F0E0A0"/>
                </a:solidFill>
                <a:latin typeface="Montserrat"/>
              </a:rPr>
              <a:t>Échéance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12264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76272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Rendez-vous institutionnels tenus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76272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176272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16 déc.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51176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15184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Rendez-vous sponsors tenus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15184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615184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31 janv.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90088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054096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Sponsors signés (principal, Or, catégorie)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054096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 + 3 + 5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054096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31 janv.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29000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493008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Partenaires médias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493008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493008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16 déc.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67912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931920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Candidatures reçues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931920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931920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Clôture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06824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370832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Invitations envoyées / réponses positives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370832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500 / 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370832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20 mars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745736"/>
            <a:ext cx="10515600" cy="402336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809744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Articles et reportages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809744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809744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15 avril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84648"/>
            <a:ext cx="105156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248656"/>
            <a:ext cx="58521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7A0A0E"/>
                </a:solidFill>
                <a:latin typeface="Montserrat"/>
              </a:rPr>
              <a:t>Sponsors qui renouvellent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248656"/>
            <a:ext cx="21031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60 %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248656"/>
            <a:ext cx="2194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30 avril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7A6E6E"/>
                </a:solidFill>
                <a:latin typeface="Montserrat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221414"/>
                </a:solidFill>
                <a:latin typeface="Montserrat"/>
              </a:rPr>
              <a:t>Les risques et leur parade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24128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Les sponsors signent trop tard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8424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Offre « partenaire fondateur » avant le 11 décembre ; dépenses engagées au rythme des signatures.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41732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06440" y="141732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5544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Une institution refuse le parrainage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98424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Viser plusieurs ministères et organisations en parallèle ; le jury reste crédible s’il est indépendant.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8036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8036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Des doutes sur la sélection des lauréats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4728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Règlement, critères et jury publiés ; aucun sponsor dans un jury de sa propre catégorie.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88036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6440" y="288036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0175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Le report de la 7e édition revient en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44728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Un récit simple et assumé, préparé avant la conférence de presse.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4340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4340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805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Une salle à moitié vide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91032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Confirmation des invités à J-7 et J-2 ; liste d’attente ; tables d’entreprise vendues tôt.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4343400"/>
            <a:ext cx="5074920" cy="1325880"/>
          </a:xfrm>
          <a:prstGeom prst="rect">
            <a:avLst/>
          </a:prstGeom>
          <a:solidFill>
            <a:srgbClr val="FBF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06440" y="4343400"/>
            <a:ext cx="64008" cy="1325880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4805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7A0A0E"/>
                </a:solidFill>
                <a:latin typeface="Montserrat"/>
              </a:rPr>
              <a:t>Un incident le jour 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910328"/>
            <a:ext cx="4709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A3030"/>
                </a:solidFill>
                <a:latin typeface="Montserrat"/>
              </a:rPr>
              <a:t>Conducteur minute par minute, répétition la veille, matériel en double, une personne dédiée aux officiels.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0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106" y="201168"/>
            <a:ext cx="1142855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Les Awards des Entreprises et des Institutions Socio-économiques Africaines · Plan hors-média 16 décembre – 26 mars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328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F0E0A0"/>
                </a:solidFill>
                <a:latin typeface="Montserrat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F0E0A0"/>
                </a:solidFill>
                <a:latin typeface="Montserrat"/>
              </a:rPr>
              <a:t>Prochaines étapes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914400" cy="64008"/>
          </a:xfrm>
          <a:prstGeom prst="rect">
            <a:avLst/>
          </a:prstGeom>
          <a:solidFill>
            <a:srgbClr val="C9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Cette semaine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52704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Valider les objectifs, le budget global et l’équipe.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Avant le 6 novembre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0428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Règlement, catégories, jury, lieu du 26 mars ; adresse e-mail et papier à en-tête.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3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Avant le 13 novembre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81527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Dossier de partenariat, note institutionnelle et fichier des cibles.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7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Mi-novembre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858767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Premiers rendez-vous avec les ministères, la CGECI, la Chambre de commerce et les sponsors.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177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99A3C"/>
                </a:solidFill>
                <a:latin typeface="Montserrat"/>
              </a:rPr>
              <a:t>16 décembre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636008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Lancement officiel et conférence de presse.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F0E0A0"/>
                </a:solidFill>
                <a:latin typeface="Montserrat"/>
              </a:rPr>
              <a:t>Sources du constat : Fraternité Matin (déc. 2023), Infodirecte (déc. 2024), page Facebook des Awards (relevé du 23 octobre 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