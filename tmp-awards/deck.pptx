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o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0"/>
            <a:ext cx="51206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068312" y="0"/>
            <a:ext cx="73152" cy="6858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239623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7180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Stratégie de communication digitale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0E0A0"/>
                </a:solidFill>
                <a:latin typeface="Montserrat"/>
              </a:rPr>
              <a:t>Du lancement du 16 décembre à la cérémonie du 26 mars : contenu, réseaux, publicité, influence, partenaires, presse, jour J et suite.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74920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Montserrat"/>
              </a:rPr>
              <a:t>Proposition pour l’équipe de communication · octobre 2026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Montserrat"/>
              </a:rPr>
              <a:t>Relevé des réseaux du 23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Sommaire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184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Où en sont les Awards aujourd’hui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5506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relevé des réseaux, presse, ce qui marche ailleurs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042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cap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4086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objectifs, publics, message, l’idée centrale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9900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Les dix stratégies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02666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contenu, teasing, réseaux, publicité, influence, partenariats, presse, mobilisation, jour J, après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758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calendrier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71246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six phases, semaine par semaine, du 16 décembre au 26 mars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3616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Idées créatives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39826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huit idées pensées pour le public africain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0474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Pilotage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08406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budget, équipe, tableau de bord, risques, prochaines étapes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Où en sont les Awards aujourd’hui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Ce que montrent les réseaux et la presse au 23 octobre 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Un capital réel : six éditions, des lauréats prestigieux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Ce que la presse et les réseaux publics disent de l’événement.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éditions annoncées depuis 2019 par AB Communication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≈ 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convives en 2023 au Sofitel Hôtel Ivoire (Fraternité Matin)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50 à 60+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lauréats par édition, de tous secteurs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pays étrangers parmi les lauréats 2023 : Sénégal, Rwanda, Gambie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5120640" cy="2286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64008" cy="2286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qui fait la force des Awards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95928"/>
            <a:ext cx="475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personnalités de premier plan primées et présentes (Président de la République en 2023, ministres).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forum sur le leadership féminin et l’inclusion financière ajouté en 2024.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lauréats fiers, qui publient eux-mêmes leur prix : Kuyo Pipeline, Laboratoire Longchamp, BACID, Messages de Vie…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3429000"/>
            <a:ext cx="5120640" cy="2286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3429000"/>
            <a:ext cx="64008" cy="2286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qui reste à éclaircir avec vous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995928"/>
            <a:ext cx="475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La 7e édition était annoncée le 2 mai 2026 au Radisson Blu : nous n’avons trouvé aucune trace de sa tenue.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 numéro de l’édition du 26 mars et le lieu.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Les catégories, le jury et la façon dont les lauréats sont choisis : rien n’est public aujourd’hui.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Facebook : une page qui ne porte pas encore l’ambition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Page « Les Awards des Entreprises… », 60 derniers posts relevés (août 2024 – juin 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2 430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abonnés, page créée en octobre 2018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réactions, commentaires et partages par post (médiane)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14 / 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posts sans aucune réaction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7A0A0E"/>
                </a:solidFill>
                <a:latin typeface="Montserra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688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posts en 2026, le dernier sans lien avec les Awards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3337560" cy="2286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64008" cy="2286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661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qui marche le mieux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95928"/>
            <a:ext cx="2971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L’annonce de l’artiste Roselyne Layo et du lieu : </a:t>
            </a:r>
            <a:r>
              <a:rPr sz="1100" b="1">
                <a:solidFill>
                  <a:srgbClr val="3A3030"/>
                </a:solidFill>
                <a:latin typeface="Montserrat"/>
              </a:rPr>
              <a:t>47 interactions</a:t>
            </a:r>
            <a:r>
              <a:rPr sz="1100" b="0">
                <a:solidFill>
                  <a:srgbClr val="3A3030"/>
                </a:solidFill>
                <a:latin typeface="Montserrat"/>
              </a:rPr>
              <a:t>, record de la page.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Les vidéos font un peu mieux que les images (4,5 contre 3 en médiane).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3429000"/>
            <a:ext cx="3337560" cy="2286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3429000"/>
            <a:ext cx="64008" cy="2286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5661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qui abîme la crédibilité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995928"/>
            <a:ext cx="2971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14 posts hors sujet : potins de footballeur, formation à vendre, remerciements automatiques « super fans ».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Aucune publication entre fin 2024 et fin 2025.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3429000"/>
            <a:ext cx="3383280" cy="2286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0" y="3429000"/>
            <a:ext cx="64008" cy="2286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35661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qui manque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995928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Ni site, ni compte Instagram, ni page LinkedIn, ni TikTok trouvés.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 contact passe par un numéro de téléphone et une adresse Gmail.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Ce qui fait parler ailleurs : les lauréats et le vote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Relevé Instagram et TikTok autour des cérémonies de récompenses à Abidjan (2023-2026).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337560" cy="3931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64008" cy="3931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Les lauréats parlent mieux que l’organisateur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29718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Sur Instagram, le post de </a:t>
            </a:r>
            <a:r>
              <a:rPr sz="1100" b="1">
                <a:solidFill>
                  <a:srgbClr val="3A3030"/>
                </a:solidFill>
                <a:latin typeface="Montserrat"/>
              </a:rPr>
              <a:t>Messages de Vie</a:t>
            </a:r>
            <a:r>
              <a:rPr sz="1100" b="0">
                <a:solidFill>
                  <a:srgbClr val="3A3030"/>
                </a:solidFill>
                <a:latin typeface="Montserrat"/>
              </a:rPr>
              <a:t> sur son prix 2023 fait </a:t>
            </a:r>
            <a:r>
              <a:rPr sz="1100" b="1">
                <a:solidFill>
                  <a:srgbClr val="3A3030"/>
                </a:solidFill>
                <a:latin typeface="Montserrat"/>
              </a:rPr>
              <a:t>724 j’aime</a:t>
            </a:r>
            <a:r>
              <a:rPr sz="1100" b="0">
                <a:solidFill>
                  <a:srgbClr val="3A3030"/>
                </a:solidFill>
                <a:latin typeface="Montserrat"/>
              </a:rPr>
              <a:t>, celui d’un lauréat 2024 </a:t>
            </a:r>
            <a:r>
              <a:rPr sz="1100" b="1">
                <a:solidFill>
                  <a:srgbClr val="3A3030"/>
                </a:solidFill>
                <a:latin typeface="Montserrat"/>
              </a:rPr>
              <a:t>287</a:t>
            </a:r>
            <a:r>
              <a:rPr sz="1100" b="0">
                <a:solidFill>
                  <a:srgbClr val="3A3030"/>
                </a:solidFill>
                <a:latin typeface="Montserrat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La page des Awards, elle, plafonne à 47 interactions.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→ Il faut équiper chaque nominé et chaque lauréat pour qu’il publie.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783080"/>
            <a:ext cx="3337560" cy="3931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1783080"/>
            <a:ext cx="64008" cy="3931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9202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Le vote public mobilise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350008"/>
            <a:ext cx="29718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Les nominés des </a:t>
            </a:r>
            <a:r>
              <a:rPr sz="1100" b="1">
                <a:solidFill>
                  <a:srgbClr val="3A3030"/>
                </a:solidFill>
                <a:latin typeface="Montserrat"/>
              </a:rPr>
              <a:t>Awards des Jeunes Entrepreneurs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appellent eux-mêmes à voter : une vidéo à </a:t>
            </a:r>
            <a:r>
              <a:rPr sz="1100" b="1">
                <a:solidFill>
                  <a:srgbClr val="3A3030"/>
                </a:solidFill>
                <a:latin typeface="Montserrat"/>
              </a:rPr>
              <a:t>11 000 vues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un candidat de Divo.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Chaque candidat devient un relais.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→ Un prix du public, encadré, peut multiplier la portée.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783080"/>
            <a:ext cx="3383280" cy="3931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1783080"/>
            <a:ext cx="64008" cy="3931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9202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Le gala se raconte en vidéo verticale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350008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 dîner de la Fondation Children of Africa vu par </a:t>
            </a:r>
            <a:r>
              <a:rPr sz="1100" b="1">
                <a:solidFill>
                  <a:srgbClr val="3A3030"/>
                </a:solidFill>
                <a:latin typeface="Montserrat"/>
              </a:rPr>
              <a:t>Actualis.ci</a:t>
            </a:r>
            <a:r>
              <a:rPr sz="1100" b="0">
                <a:solidFill>
                  <a:srgbClr val="3A3030"/>
                </a:solidFill>
                <a:latin typeface="Montserrat"/>
              </a:rPr>
              <a:t> : </a:t>
            </a:r>
            <a:r>
              <a:rPr sz="1100" b="1">
                <a:solidFill>
                  <a:srgbClr val="3A3030"/>
                </a:solidFill>
                <a:latin typeface="Montserrat"/>
              </a:rPr>
              <a:t>295 000 vues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sur TikTok.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Les tenues du gala vues par </a:t>
            </a:r>
            <a:r>
              <a:rPr sz="1100" b="1">
                <a:solidFill>
                  <a:srgbClr val="3A3030"/>
                </a:solidFill>
                <a:latin typeface="Montserrat"/>
              </a:rPr>
              <a:t>ELLE Afrique francophone</a:t>
            </a:r>
            <a:r>
              <a:rPr sz="1100" b="0">
                <a:solidFill>
                  <a:srgbClr val="3A3030"/>
                </a:solidFill>
                <a:latin typeface="Montserrat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→ Tapis rouge, tenues et coulisses attirent le grand public ; le contenu business attire les décideurs.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Ce que la campagne doit obtenir, auprès de qui, et avec quelle idée.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Quatre objectifs, chacun avec sa mesure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cibles chiffrées sont des propositions, à caler avec vous sur le budget et l’historique.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07492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Visibilité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470916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Faire connaître les Awards au-delà du cercle des habitués.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150" b="0">
                <a:solidFill>
                  <a:srgbClr val="3A3030"/>
                </a:solidFill>
                <a:latin typeface="Montserrat"/>
              </a:rPr>
              <a:t> Abonnés cumulés : de 2 430 à 15 000 · 2 millions d’impressions sur la campagne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783080"/>
            <a:ext cx="507492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Crédibilité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350008"/>
            <a:ext cx="470916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Être perçu comme un prix sérieux, au jury indépendant.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150" b="0">
                <a:solidFill>
                  <a:srgbClr val="3A3030"/>
                </a:solidFill>
                <a:latin typeface="Montserrat"/>
              </a:rPr>
              <a:t> Règlement, jury et critères publiés le 16 décembre · 20 articles de presse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507492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Sponsors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61688"/>
            <a:ext cx="470916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Signer les partenaires avant fin janvier.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150" b="0">
                <a:solidFill>
                  <a:srgbClr val="3A3030"/>
                </a:solidFill>
                <a:latin typeface="Montserrat"/>
              </a:rPr>
              <a:t> Nombre de sponsors signés et montant · dossier téléchargé par 100 entreprises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3794760"/>
            <a:ext cx="507492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06440" y="37947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9319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Mobilisation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361688"/>
            <a:ext cx="470916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Faire candidater et venir les entreprises et les dirigeants.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150" b="0">
                <a:solidFill>
                  <a:srgbClr val="3A3030"/>
                </a:solidFill>
                <a:latin typeface="Montserrat"/>
              </a:rPr>
              <a:t> Candidatures reçues · tables et places vendues · présence le 26 mars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Cinq publics, cinq messages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Chaque contenu vise un public précis ; un même post ne parle pas à tous.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0424160" cy="69494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7A0A0E"/>
                </a:solidFill>
                <a:latin typeface="Montserrat"/>
              </a:rPr>
              <a:t>Dirigeants et entreprises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202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Faire reconnaître leur travail et gagner en visibilité.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202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LinkedIn, WhatsApp, e-mail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23744"/>
            <a:ext cx="1042416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0662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7A0A0E"/>
                </a:solidFill>
                <a:latin typeface="Montserrat"/>
              </a:rPr>
              <a:t>Sponsors et partenaires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70662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S’associer à l’excellence africaine devant les décideurs.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0662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LinkedIn, rendez-vous, dossier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10128"/>
            <a:ext cx="10424160" cy="69494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930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7A0A0E"/>
                </a:solidFill>
                <a:latin typeface="Montserrat"/>
              </a:rPr>
              <a:t>Institutions et autorités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49300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Un rendez-vous sérieux qui valorise l’économie du pays.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4930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Presse, courrier, LinkedIn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96512"/>
            <a:ext cx="1042416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793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7A0A0E"/>
                </a:solidFill>
                <a:latin typeface="Montserrat"/>
              </a:rPr>
              <a:t>Presse et créateurs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2793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Des histoires de réussite, des images fortes, un accès facile.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27939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Salle de presse en ligne, WhatsApp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82896"/>
            <a:ext cx="10424160" cy="69494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6577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7A0A0E"/>
                </a:solidFill>
                <a:latin typeface="Montserrat"/>
              </a:rPr>
              <a:t>Grand public et diaspora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06577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L’Afrique qui réussit, le glamour du gala.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06577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A6E6E"/>
                </a:solidFill>
                <a:latin typeface="Montserrat"/>
              </a:rPr>
              <a:t>Facebook, Instagram, TikTok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10</a:t>
            </a:r>
          </a:p>
        </p:txBody>
      </p:sp>
      <p:pic>
        <p:nvPicPr>
          <p:cNvPr id="7" name="Picture 6" descr="cr_id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0"/>
            <a:ext cx="448056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C99A3C"/>
                </a:solidFill>
                <a:latin typeface="Montserrat"/>
              </a:rPr>
              <a:t>L’IDÉE CENTRALE DE LA CAMPAGNE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« L’Afrique qui réussit a un visage.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6766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0E0A0"/>
                </a:solidFill>
                <a:latin typeface="Montserrat"/>
              </a:rPr>
              <a:t>Pendant cent jours, chaque contenu montre une personne ou une entreprise réelle, avec un résultat concret.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0E0A0"/>
                </a:solidFill>
                <a:latin typeface="Montserrat"/>
              </a:rPr>
              <a:t>Pas de grands mots sur l’excellence : des preuves, des noms et des visages.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0E0A0"/>
                </a:solidFill>
                <a:latin typeface="Montserrat"/>
              </a:rPr>
              <a:t>Signature proposée : </a:t>
            </a:r>
            <a:r>
              <a:rPr sz="1300" b="1">
                <a:solidFill>
                  <a:srgbClr val="F0E0A0"/>
                </a:solidFill>
                <a:latin typeface="Montserrat"/>
              </a:rPr>
              <a:t>#LAfriqueQuiRéussit</a:t>
            </a:r>
            <a:r>
              <a:rPr sz="1300" b="0">
                <a:solidFill>
                  <a:srgbClr val="F0E0A0"/>
                </a:solidFill>
                <a:latin typeface="Montserrat"/>
              </a:rPr>
              <a:t>, avec le mot-dièse historique </a:t>
            </a:r>
            <a:r>
              <a:rPr sz="1300" b="1">
                <a:solidFill>
                  <a:srgbClr val="F0E0A0"/>
                </a:solidFill>
                <a:latin typeface="Montserrat"/>
              </a:rPr>
              <a:t>#LesAwardsDesEntreprises</a:t>
            </a:r>
            <a:r>
              <a:rPr sz="1300" b="0">
                <a:solidFill>
                  <a:srgbClr val="F0E0A0"/>
                </a:solidFill>
                <a:latin typeface="Montserrat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  <a:latin typeface="Montserrat"/>
              </a:rPr>
              <a:t>Le thème et l’accroche restent à valider avec AB Communication.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Les dix stratégies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Pour chacune : actions, plateformes, formats, et ce qu’on mesure.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1. Stratégie de contenu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nourrir la crédibilité avec des preuves et donner à chaque public une raison de suivre.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Quatre piliers, publiés chaque semaine : </a:t>
            </a:r>
            <a:r>
              <a:rPr sz="1100" b="1">
                <a:solidFill>
                  <a:srgbClr val="3A3030"/>
                </a:solidFill>
                <a:latin typeface="Montserrat"/>
              </a:rPr>
              <a:t>Preuves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(anciens lauréats, ce qu’ils sont devenus), </a:t>
            </a:r>
            <a:r>
              <a:rPr sz="1100" b="1">
                <a:solidFill>
                  <a:srgbClr val="3A3030"/>
                </a:solidFill>
                <a:latin typeface="Montserrat"/>
              </a:rPr>
              <a:t>Coulisses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(jury, trophée, organisation), </a:t>
            </a:r>
            <a:r>
              <a:rPr sz="1100" b="1">
                <a:solidFill>
                  <a:srgbClr val="3A3030"/>
                </a:solidFill>
                <a:latin typeface="Montserrat"/>
              </a:rPr>
              <a:t>Savoir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(chiffres et analyses de l’économie africaine), </a:t>
            </a:r>
            <a:r>
              <a:rPr sz="1100" b="1">
                <a:solidFill>
                  <a:srgbClr val="3A3030"/>
                </a:solidFill>
                <a:latin typeface="Montserrat"/>
              </a:rPr>
              <a:t>Moments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(gala, tenues, artistes).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Rythme : 4 à 5 posts par semaine sur Facebook et LinkedIn, 3 réels, des stories chaque jour à partir du 1er mars.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Une ligne éditoriale écrite, un calendrier tenu, une validation sur 48 h.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Nettoyer la page Facebook : retirer les posts hors sujet, revoir la photo, la couverture et la description.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LinkedIn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les décideurs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Facebook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le grand public ivoirien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Instagram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l’image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TikTok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la portée · chaîne </a:t>
            </a:r>
            <a:r>
              <a:rPr sz="1100" b="1">
                <a:solidFill>
                  <a:srgbClr val="3A3030"/>
                </a:solidFill>
                <a:latin typeface="Montserrat"/>
              </a:rPr>
              <a:t>WhatsApp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les relais.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Portraits vidéo de 60 s · carrousels « chiffres » · photos de qualité · articles LinkedIn · visuels annonce et compte à rebours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Taux d’engagement par pilier · abonnés gagnés · partages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2. Teasing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créer l’attente avant le 16 décembre, puis avant le 26 mars.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Du 1er au 15 décembre : </a:t>
            </a:r>
            <a:r>
              <a:rPr sz="1100" b="1">
                <a:solidFill>
                  <a:srgbClr val="3A3030"/>
                </a:solidFill>
                <a:latin typeface="Montserrat"/>
              </a:rPr>
              <a:t>« Le trophée arrive »</a:t>
            </a:r>
            <a:r>
              <a:rPr sz="1100" b="0">
                <a:solidFill>
                  <a:srgbClr val="3A3030"/>
                </a:solidFill>
                <a:latin typeface="Montserrat"/>
              </a:rPr>
              <a:t>, un trophée filmé de dos, sous drap, à des endroits connus d’Abidjan (Plateau, pont, lagune).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Révélation des catégories une par une, sous forme d’énigme : « Quelle entreprise a… ? ».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Compte à rebours J-30, J-21, J-14, J-7, J-3, J-1 avant le 26 mars, avec un visuel et un réel par étape.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Annonce de l’artiste ou de l’invité d’honneur en dernier : c’est le post le plus vu de l’histoire de la page.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Facebook, Instagram, TikTok</a:t>
            </a:r>
            <a:r>
              <a:rPr sz="1100" b="0">
                <a:solidFill>
                  <a:srgbClr val="3A3030"/>
                </a:solidFill>
                <a:latin typeface="Montserrat"/>
              </a:rPr>
              <a:t> en vidéo verticale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WhatsApp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(statuts des relais)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affichage</a:t>
            </a:r>
            <a:r>
              <a:rPr sz="1100" b="0">
                <a:solidFill>
                  <a:srgbClr val="3A3030"/>
                </a:solidFill>
                <a:latin typeface="Montserrat"/>
              </a:rPr>
              <a:t> à Abidjan relayé en ligne.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Réels de 10 à 15 s · stories avec sondage · visuels « J-x » · affiches reprises en photo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Vues des réels · partages · abonnés gagnés pendant le teasing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3. Réseaux sociaux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une présence complète, sérieuse et animée sur les cinq canaux.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même nom partout, par exemple « Awards Entreprises Africaines », avec le logo officiel et un lien unique.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LinkedIn : la page des Awards et le profil du président du comité, qui publie une fois par semaine.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Une réponse à chaque commentaire et message sous 24 h, avec des réponses types validées.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formulaire de candidature et de réservation en ligne, à la place du seul numéro de téléphone.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Créer</a:t>
            </a:r>
            <a:r>
              <a:rPr sz="1100" b="0">
                <a:solidFill>
                  <a:srgbClr val="3A3030"/>
                </a:solidFill>
                <a:latin typeface="Montserrat"/>
              </a:rPr>
              <a:t> : page LinkedIn, compte Instagram, compte TikTok, chaîne WhatsApp. </a:t>
            </a:r>
            <a:r>
              <a:rPr sz="1100" b="1">
                <a:solidFill>
                  <a:srgbClr val="3A3030"/>
                </a:solidFill>
                <a:latin typeface="Montserrat"/>
              </a:rPr>
              <a:t>Relancer</a:t>
            </a:r>
            <a:r>
              <a:rPr sz="1100" b="0">
                <a:solidFill>
                  <a:srgbClr val="3A3030"/>
                </a:solidFill>
                <a:latin typeface="Montserrat"/>
              </a:rPr>
              <a:t> : la page Facebook (2 430 abonnés).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Charte visuelle unique (rouge et or de l’affiche) · gabarits de posts · bannières de profil · réponses types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Abonnés par canal · délai de réponse · clics vers le formulaire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4. Publicité sponsorisée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toucher les décideurs au-delà des abonnés, et remplir les tables.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Trois vagues : </a:t>
            </a:r>
            <a:r>
              <a:rPr sz="1100" b="1">
                <a:solidFill>
                  <a:srgbClr val="3A3030"/>
                </a:solidFill>
                <a:latin typeface="Montserrat"/>
              </a:rPr>
              <a:t>lancement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(16 déc. – 5 janv.), </a:t>
            </a:r>
            <a:r>
              <a:rPr sz="1100" b="1">
                <a:solidFill>
                  <a:srgbClr val="3A3030"/>
                </a:solidFill>
                <a:latin typeface="Montserrat"/>
              </a:rPr>
              <a:t>candidatures et sponsors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(janvier), </a:t>
            </a:r>
            <a:r>
              <a:rPr sz="1100" b="1">
                <a:solidFill>
                  <a:srgbClr val="3A3030"/>
                </a:solidFill>
                <a:latin typeface="Montserrat"/>
              </a:rPr>
              <a:t>billetterie et vote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(1er – 25 mars).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Ciblage : dirigeants, cadres supérieurs, chefs d’entreprise ; Côte d’Ivoire, Sénégal, Cameroun, Bénin, Togo, Burkina Faso, Mali, France.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Reciblage des visiteurs du site et des personnes qui ont vu 50 % d’une vidéo.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test A/B par vague, puis on garde la meilleure accroche.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Meta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(Facebook et Instagram) pour la Côte d’Ivoire et la diaspora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LinkedIn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les dirigeants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Google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pour la recherche « awards entreprises ».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Vidéo de 15 s · carrousel lauréats · formulaire intégré LinkedIn · annonce de recherche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Coût par candidature, par réservation, par contact sponsor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5. Influence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faire entrer les Awards dans les fils d’actualité qui comptent.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Trois cercles : </a:t>
            </a:r>
            <a:r>
              <a:rPr sz="1100" b="1">
                <a:solidFill>
                  <a:srgbClr val="3A3030"/>
                </a:solidFill>
                <a:latin typeface="Montserrat"/>
              </a:rPr>
              <a:t>voix du business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(dirigeants, experts reconnus), </a:t>
            </a:r>
            <a:r>
              <a:rPr sz="1100" b="1">
                <a:solidFill>
                  <a:srgbClr val="3A3030"/>
                </a:solidFill>
                <a:latin typeface="Montserrat"/>
              </a:rPr>
              <a:t>médias créateurs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(pages d’actualité et d’économie), </a:t>
            </a:r>
            <a:r>
              <a:rPr sz="1100" b="1">
                <a:solidFill>
                  <a:srgbClr val="3A3030"/>
                </a:solidFill>
                <a:latin typeface="Montserrat"/>
              </a:rPr>
              <a:t>style et culture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(tenues, artistes, tapis rouge).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Pistes repérées dans le relevé : Actualis.ci, Edith Brou TV, ELLE Afrique francophone, Diawando Médias. À contacter.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« ambassadeur » par pays pour la diaspora et l’Afrique de l’Ouest.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brief écrit pour chacun, des contenus validés avant publication, la mention « partenariat » quand il y a rémunération.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TikTok et Instagram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(créateurs)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LinkedIn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(voix du business)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Facebook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(pages d’info).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Réels coulisses · interviews sur le tapis rouge · lives croisés · posts « je serai là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Portée et vues obtenues · coût par vue · abonnés gagnés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6. Partenariats et sponsors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signer les sponsors avant fin janvier avec une offre digitale concrète.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dossier de partenariat en ligne : audience, éditions passées, lauréats, chiffres de la campagne.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Paliers, par exemple Platine, Or, Argent et Partenaire de catégorie, avec pour chacun des contreparties numériques : logo, posts dédiés, citations dans le live, interview, mention dans l’aftermovie.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post « Bienvenue à notre partenaire » par sponsor, au format soigné, sans le modèle répétitif de 2024.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partenaires médias (presse, radio, télé) en échange de visibilité.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bilan chiffré remis à chaque sponsor le 30 avril.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LinkedIn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(prospection, annonces)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e-mail</a:t>
            </a:r>
            <a:r>
              <a:rPr sz="1100" b="0">
                <a:solidFill>
                  <a:srgbClr val="3A3030"/>
                </a:solidFill>
                <a:latin typeface="Montserrat"/>
              </a:rPr>
              <a:t>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rendez-vous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WhatsApp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(suivi).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Dossier de partenariat · visuels sponsor · vidéo « pourquoi nous soutenons » · rapport sponsor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Sponsors signés · montant · renouvellements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7. Relations médias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installer les Awards comme un événement sérieux dans la presse.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Une conférence de presse le 16 décembre, retransmise en direct.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Une salle de presse en ligne : communiqués, photos HD, logos, biographies du jury, liste des nominés.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Trois communiqués : lancement (16 déc.), nominés (février), palmarès (26 mars au soir).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sujets clé en main : portraits de lauréats, tendances par secteur, leadership féminin.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groupe WhatsApp « presse » pour les infos et les photos du jour J.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Presse écrite et en ligne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(Fraternité Matin, L’Avenir, Infodirecte, AIP…)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radios et télés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médias panafricains</a:t>
            </a:r>
            <a:r>
              <a:rPr sz="1100" b="0">
                <a:solidFill>
                  <a:srgbClr val="3A3030"/>
                </a:solidFill>
                <a:latin typeface="Montserrat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Communiqués · dossier de presse · photos HD · interviews prêtes à publier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Articles parus · reprises · audience estimée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8. Mobilisation des entreprises et dirigeants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faire candidater, faire relayer et faire venir.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appel à candidatures ouvert le 16 décembre, avec catégories, critères, calendrier et jury.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« kit nominé » : visuel « Je suis nominé », badge LinkedIn, texte prêt à publier, vidéo de 15 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générateur en ligne : l’entreprise met son logo et télécharge son visuel personnalisé.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ambassadeurs : les anciens lauréats invitent leurs pairs.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Une approche des fédérations, chambres et associations de femmes chefs d’entreprise.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LinkedIn</a:t>
            </a:r>
            <a:r>
              <a:rPr sz="1100" b="0">
                <a:solidFill>
                  <a:srgbClr val="3A3030"/>
                </a:solidFill>
                <a:latin typeface="Montserrat"/>
              </a:rPr>
              <a:t>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WhatsApp</a:t>
            </a:r>
            <a:r>
              <a:rPr sz="1100" b="0">
                <a:solidFill>
                  <a:srgbClr val="3A3030"/>
                </a:solidFill>
                <a:latin typeface="Montserrat"/>
              </a:rPr>
              <a:t>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e-mail</a:t>
            </a:r>
            <a:r>
              <a:rPr sz="1100" b="0">
                <a:solidFill>
                  <a:srgbClr val="3A3030"/>
                </a:solidFill>
                <a:latin typeface="Montserrat"/>
              </a:rPr>
              <a:t> · réseaux des chambres de commerce et fédérations patronales.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Kit nominé · visuels personnalisés · lettre d’invitation · vidéo témoignage d’ancien lauréat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Candidatures · kits téléchargés · posts publiés par les nominés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9. Couverture digitale le jour J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faire vivre le 26 mars à ceux qui ne sont pas dans la salle, en temps réel.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Une équipe dédiée : un chef de salle de rédaction, deux vidéastes, un photographe, deux rédacteurs.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 direct de la cérémonie, avec habillage aux couleurs des Awards et remerciement des sponsors.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Tapis rouge : interviews de 30 s, tenues, coins photo pour les invités.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Chaque prix annoncé en ligne dans les 5 minutes, avec visuel du lauréat prêt à l’avance.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Photos envoyées à la presse et aux lauréats dans l’heure.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Facebook Live et YouTube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(cérémonie)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Instagram et TikTok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(stories, réels)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LinkedIn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(palmarès) · </a:t>
            </a:r>
            <a:r>
              <a:rPr sz="1100" b="1">
                <a:solidFill>
                  <a:srgbClr val="3A3030"/>
                </a:solidFill>
                <a:latin typeface="Montserrat"/>
              </a:rPr>
              <a:t>WhatsApp</a:t>
            </a:r>
            <a:r>
              <a:rPr sz="1100" b="0">
                <a:solidFill>
                  <a:srgbClr val="3A3030"/>
                </a:solidFill>
                <a:latin typeface="Montserrat"/>
              </a:rPr>
              <a:t> (presse).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Live · stories en continu · visuels lauréats · fil de photos · réel de fin de soirée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Spectateurs du live · stories vues · posts des lauréats · mentions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10. Communication post-événement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prolonger l’effet, remercier, et préparer l’édition suivante.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035040" cy="3886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3886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Actions concrètes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5669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 27 mars : l’aftermovie de 90 s et l’album photo complet.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Sur quatre semaines : un portrait de lauréat par jour, publié avec lui.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kit lauréat : visuel officiel, logo « Lauréat » à utiliser, communiqué type.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bilan chiffré public de la campagne et un rapport par sponsor.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questionnaire aux participants et la date de la prochaine édition annoncée.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4206240" cy="1143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64008" cy="1143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Plateformes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Tous les canaux</a:t>
            </a:r>
            <a:r>
              <a:rPr sz="1100" b="0">
                <a:solidFill>
                  <a:srgbClr val="3A3030"/>
                </a:solidFill>
                <a:latin typeface="Montserrat"/>
              </a:rPr>
              <a:t> + e-mail aux participants, lauréats et sponsors.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090672"/>
            <a:ext cx="4206240" cy="14173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090672"/>
            <a:ext cx="64008" cy="14173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278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Formats à produire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Aftermovie · albums · portraits · rapport chiffré · e-mail de remerciement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26864"/>
            <a:ext cx="4206240" cy="1088136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626864"/>
            <a:ext cx="64008" cy="108813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On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93792"/>
            <a:ext cx="38404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Vues de l’aftermovie · sponsors renouvelés · inscriptions à l’édition suivante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calendrier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Du lancement du 16 décembre à la cérémonie du 26 mars, puis l’après.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Six phases, de la préparation à l’après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dates de fin de phase sont des propositions ; elles se calent sur la date de clôture des candidatures.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830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1414"/>
                </a:solidFill>
                <a:latin typeface="Montserrat"/>
              </a:rPr>
              <a:t>Préparer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80136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1er – 15 déc.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783080"/>
            <a:ext cx="649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Comptes créés, page nettoyée, site et formulaire, charte, jury, dossier sponsors, teasing « le trophée arrive ».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276856"/>
            <a:ext cx="457200" cy="457200"/>
          </a:xfrm>
          <a:prstGeom prst="ellipse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76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36829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1414"/>
                </a:solidFill>
                <a:latin typeface="Montserrat"/>
              </a:rPr>
              <a:t>Lancer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38658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16 déc.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368296"/>
            <a:ext cx="649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Cérémonie de lancement en direct, conférence de presse, catégories et jury révélés, candidatures ouvertes.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2862072"/>
            <a:ext cx="457200" cy="45720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620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953512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1414"/>
                </a:solidFill>
                <a:latin typeface="Montserrat"/>
              </a:rPr>
              <a:t>Mobiliser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2971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17 déc. – 31 janv.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953512"/>
            <a:ext cx="649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Candidatures, prospection sponsors, portraits d’anciens lauréats. Rythme allégé du 22 déc. au 4 janv.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472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5387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1414"/>
                </a:solidFill>
                <a:latin typeface="Montserrat"/>
              </a:rPr>
              <a:t>Révéler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55701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1er – 28 fév.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538728"/>
            <a:ext cx="649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Nominés annoncés par catégorie, kits nominés, vote du public ouvert, rencontres avec le jury.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4032504"/>
            <a:ext cx="457200" cy="45720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325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12394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1414"/>
                </a:solidFill>
                <a:latin typeface="Montserrat"/>
              </a:rPr>
              <a:t>Compter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1422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1er – 25 mars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123944"/>
            <a:ext cx="649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Compte à rebours, billetterie, 8 mars sur le leadership féminin, invités d’honneur, publicité au maximum.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7091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1414"/>
                </a:solidFill>
                <a:latin typeface="Montserrat"/>
              </a:rPr>
              <a:t>Célébrer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472744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26 mars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709160"/>
            <a:ext cx="649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Couverture en direct de la cérémonie, palmarès en temps réel.</a:t>
            </a:r>
          </a:p>
        </p:txBody>
      </p:sp>
      <p:sp>
        <p:nvSpPr>
          <p:cNvPr id="39" name="Oval 38"/>
          <p:cNvSpPr/>
          <p:nvPr/>
        </p:nvSpPr>
        <p:spPr>
          <a:xfrm>
            <a:off x="548640" y="5202936"/>
            <a:ext cx="457200" cy="45720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2029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29437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1414"/>
                </a:solidFill>
                <a:latin typeface="Montserrat"/>
              </a:rPr>
              <a:t>Prolonger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531266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27 mars – 30 avril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5294376"/>
            <a:ext cx="649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Aftermovie, portraits de lauréats, bilans sponsors, date de la prochaine édition.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calendrier semaine par semaine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Décembre et janvier : lancer et faire candidater.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0424160" cy="51206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1-15 déc.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87452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Préparer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1051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Création des comptes · nettoyage Facebook · teasing « Le trophée arrive » (3 réels) · invitations presse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0424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4144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16 déc.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414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Lancement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774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Direct de la cérémonie · conférence de presse · catégories, jury, règlement · candidatures ouvertes · publicité vague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71215"/>
            <a:ext cx="10424160" cy="51206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08375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17-21 déc.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008375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Mobiliser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44367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Portraits du jury · « Pourquoi candidater » · relais par les anciens lauréats · envoi du dossier sponsors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38144"/>
            <a:ext cx="10424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75304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22 déc.-4 janv.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57530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Fêtes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51129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Rythme réduit : vœux, best-of des éditions passées, « l’Afrique qui a réussi en 2026 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05072"/>
            <a:ext cx="10424160" cy="51206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4223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5-18 janv.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14223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Mobiliser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07822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Une catégorie à la une par jour · live LinkedIn « Comment gagner ? » · publicité vague 2 · rendez-vous sponsors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72000"/>
            <a:ext cx="10424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7091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19-31 janv.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7091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Mobiliser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64515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Dernier appel aux candidatures (J-7, J-3, J-1) · annonce des premiers sponsors · clôture des candidatures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calendrier semaine par semaine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Février et mars : révéler, compter, célébrer, prolonger.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0424160" cy="51206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1-14 fév.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87452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Révéler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1051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Délibération du jury en coulisses · nominés annoncés par catégorie · kits nominés envoyés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0424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4144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15-28 fév.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414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Révéler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774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Vote du public ouvert (une catégorie) · nominés qui appellent à voter · billetterie ouverte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71215"/>
            <a:ext cx="10424160" cy="51206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08375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1-8 mars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008375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Compter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44367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J-25 · série « Femmes qui dirigent » jusqu’au 8 mars · annonce de l’artiste · publicité vague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38144"/>
            <a:ext cx="10424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75304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9-21 mars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57530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Compter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51129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J-14 · invités d’honneur · coulisses (trophées, salle, répétition) · accréditations presse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05072"/>
            <a:ext cx="10424160" cy="51206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4223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22-25 mars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14223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Compter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07822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J-3 à J-1 · fin du vote · résultats gardés secrets · « On vous attend » · programme de la soirée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72000"/>
            <a:ext cx="10424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7091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26 mars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7091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Célébrer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64515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Couverture en direct · palmarès en temps réel · photos en 1 h · réel de fin de soirée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138927"/>
            <a:ext cx="10424160" cy="51206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76087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27 mars-30 avril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276087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A6E6E"/>
                </a:solidFill>
                <a:latin typeface="Montserrat"/>
              </a:rPr>
              <a:t>Prolonger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212079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Aftermovie · portrait d’un lauréat par jour · bilans sponsors · date de l’édition suivante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76072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7A6E6E"/>
                </a:solidFill>
                <a:latin typeface="Montserrat"/>
              </a:rPr>
              <a:t>Le ramadan 2027 devrait aller d’environ le 8 février au 9 mars : soirées en ligne plutôt qu’en journée, et ton adapté. Dates à confirmer.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Idées créatives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Huit idées pensées pour le public d’Abidjan, de l’Afrique de l’Ouest et de la diaspora.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Huit idées créatives à fort potentiel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Chacune peut être lancée seule ; elles se combinent sur le calendrier.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 trophée en tournée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Le trophée voyage dans les lieux qui font l’économie : port, marché, usine, start-up. Une photo, un réel, une histoire à chaque étape.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1737360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82112" y="17373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18745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Ils étaient là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304288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Que sont devenus les lauréats depuis leur prix ? Une série vidéo « avant, après » avec des résultats concrets.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5583" y="1737360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15583" y="17373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4183" y="18745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60 secondes avec un dirigeant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4183" y="2304288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Une question, une réponse franche, un format vertical. Diffusé chaque mardi.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49056" y="1737360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49056" y="17373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77656" y="18745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Mon entreprise mérite un Award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77656" y="2304288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Les salariés proposent leur entreprise en vidéo. Les meilleures sont relayées.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49039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749039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886199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 statut WhatsApp officiel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315967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 visuel à mettre en statut pour les nominés, les sponsors et les invités : la portée passe par les téléphones.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82112" y="3749039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82112" y="3749039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0712" y="3886199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Une Afrique, cinq pays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0712" y="4315967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 ambassadeur à Dakar, Douala, Cotonou, Lomé et Paris, qui présente les candidats de chez lui.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5583" y="3749039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15583" y="3749039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44183" y="3886199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 tapis rouge en direct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44183" y="4315967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Les tenues des invités, des créateurs africains et un vote « plus belle tenue » en stories.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49056" y="3749039"/>
            <a:ext cx="2514600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49056" y="3749039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77656" y="3886199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 mur des lauréats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77656" y="4315967"/>
            <a:ext cx="2148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Une page en ligne avec tous les lauréats depuis 2019, consultable et partageable.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ton visuel : des visages, de l’élégance, de la preuve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Photos d’illustration ; la campagne utilisera les photos réelles des éditions et des lauréats.</a:t>
            </a:r>
          </a:p>
        </p:txBody>
      </p:sp>
      <p:pic>
        <p:nvPicPr>
          <p:cNvPr id="9" name="Picture 8" descr="cr_v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2514600" cy="3108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4892040"/>
            <a:ext cx="2514600" cy="5029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89204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Portraits de dirigeants</a:t>
            </a:r>
          </a:p>
        </p:txBody>
      </p:sp>
      <p:pic>
        <p:nvPicPr>
          <p:cNvPr id="12" name="Picture 11" descr="cr_v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783080"/>
            <a:ext cx="2514600" cy="3108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182112" y="4892040"/>
            <a:ext cx="2514600" cy="5029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489204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Forum et panels</a:t>
            </a:r>
          </a:p>
        </p:txBody>
      </p:sp>
      <p:pic>
        <p:nvPicPr>
          <p:cNvPr id="15" name="Picture 14" descr="cr_v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3" y="1783080"/>
            <a:ext cx="2514600" cy="31089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815583" y="4892040"/>
            <a:ext cx="2514600" cy="5029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2743" y="489204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Interviews et presse</a:t>
            </a:r>
          </a:p>
        </p:txBody>
      </p:sp>
      <p:pic>
        <p:nvPicPr>
          <p:cNvPr id="18" name="Picture 17" descr="cr_v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1783080"/>
            <a:ext cx="2514600" cy="31089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449056" y="4892040"/>
            <a:ext cx="2514600" cy="5029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6216" y="489204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Le gala vu sur téléphone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Pilotage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Budget, équipe, tableau de bord, risques et prochaines étapes.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La répartition du budget digital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En pourcentage : à appliquer au montant que vous fixerez. Les montants seront chiffrés après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A3030"/>
                </a:solidFill>
                <a:latin typeface="Montserrat"/>
              </a:rPr>
              <a:t>Publicité sponsorisée (Meta, LinkedIn, Google)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865376"/>
            <a:ext cx="3804379488000" cy="31089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82880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21414"/>
                </a:solidFill>
                <a:latin typeface="Montserrat"/>
              </a:rPr>
              <a:t>35 %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9572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A3030"/>
                </a:solidFill>
                <a:latin typeface="Montserrat"/>
              </a:rPr>
              <a:t>Production (vidéo, photo, jour J, aftermovie)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432304"/>
            <a:ext cx="2717413920000" cy="31089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395728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21414"/>
                </a:solidFill>
                <a:latin typeface="Montserrat"/>
              </a:rPr>
              <a:t>25 %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62656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A3030"/>
                </a:solidFill>
                <a:latin typeface="Montserrat"/>
              </a:rPr>
              <a:t>Influence et médias créateurs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999232"/>
            <a:ext cx="1630448352000" cy="31089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962656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21414"/>
                </a:solidFill>
                <a:latin typeface="Montserrat"/>
              </a:rPr>
              <a:t>15 %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29584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A3030"/>
                </a:solidFill>
                <a:latin typeface="Montserrat"/>
              </a:rPr>
              <a:t>Site, formulaire, vote, générateur de visuels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3566160"/>
            <a:ext cx="1086965568000" cy="31089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529584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9651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A3030"/>
                </a:solidFill>
                <a:latin typeface="Montserrat"/>
              </a:rPr>
              <a:t>Relations presse et partenariats médias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4133088"/>
            <a:ext cx="1086965568000" cy="31089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096512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6344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A3030"/>
                </a:solidFill>
                <a:latin typeface="Montserrat"/>
              </a:rPr>
              <a:t>Réserve et imprévus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4700016"/>
            <a:ext cx="543482784000" cy="310896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32120" y="466344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21414"/>
                </a:solidFill>
                <a:latin typeface="Montserrat"/>
              </a:rPr>
              <a:t>5 %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10424160" cy="502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64008" cy="502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86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777240" y="5916168"/>
            <a:ext cx="10058400" cy="-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777240" y="5440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3A3030"/>
                </a:solidFill>
                <a:latin typeface="Montserrat"/>
              </a:rPr>
              <a:t>Règle :</a:t>
            </a:r>
            <a:r>
              <a:rPr sz="1150" b="0">
                <a:solidFill>
                  <a:srgbClr val="3A3030"/>
                </a:solidFill>
                <a:latin typeface="Montserrat"/>
              </a:rPr>
              <a:t> 60 % de la publicité avant le 31 janvier (candidatures et sponsors), 40 % en mars (billetterie et vote).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L’équipe et la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Qui fait quoi, et qui valide avant publication.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6217920" cy="56692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9280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Chef de projet communication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92808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Calendrier, validation, lien avec AB Communication et les sponsors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95728"/>
            <a:ext cx="6217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5117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Gestionnaire de communauté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51176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Publication, réponses sous 24 h, statistiques chaque semaine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54096"/>
            <a:ext cx="6217920" cy="56692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954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Créatif visuel et vidéaste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209544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Visuels, réels, portraits, aftermovie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12464"/>
            <a:ext cx="6217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6791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Attaché de presse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867912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Communiqués, salle de presse, accréditations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70831"/>
            <a:ext cx="6217920" cy="56692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26279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Chargé des partenariats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526279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Dossier, rendez-vous, contreparties, bilans sponsors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737360"/>
            <a:ext cx="4023360" cy="32004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1737360"/>
            <a:ext cx="64008" cy="32004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18745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Circuit de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304288"/>
            <a:ext cx="36576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Contenu préparé 7 jours avant.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Relu et validé par le chef de projet sous 48 h.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Toute annonce de prix, de nominé ou de lauréat validée par écrit par le comité.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Jour J : textes et visuels des lauréats préparés à l’avance, publiés seulement après l’annonce en salle.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tableau de bord, suivi chaque lundi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cibles sont des propositions, à ajuster après les deux premières semaines.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0424160" cy="438912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0E0A0"/>
                </a:solidFill>
                <a:latin typeface="Montserrat"/>
              </a:rPr>
              <a:t>Indicateur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1051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0E0A0"/>
                </a:solidFill>
                <a:latin typeface="Montserrat"/>
              </a:rPr>
              <a:t>Aujourd’hui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81051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0E0A0"/>
                </a:solidFill>
                <a:latin typeface="Montserrat"/>
              </a:rPr>
              <a:t>Cible au 26 mars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12848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0428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Abonnés cumulés (5 canaux)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042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2 430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3042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15 000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42615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734055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Impressions de la campagne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34055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734055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2 millions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72384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6382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Vues du direct le 26 mars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6382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16382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20 000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02152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9359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Candidatures reçues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5935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à fournir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5935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à fixer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93192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Sponsors signés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023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à fournir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023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à fixer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61688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45312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Articles de presse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45312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45312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91456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882896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Posts publiés par les nominés et lauréats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88289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88289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150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221224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126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Tables et places vendues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31266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7A6E6E"/>
                </a:solidFill>
                <a:latin typeface="Montserrat"/>
              </a:rPr>
              <a:t>à fournir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31266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7A0A0E"/>
                </a:solidFill>
                <a:latin typeface="Montserrat"/>
              </a:rPr>
              <a:t>à fixer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Les risques et leur parade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Doute sur l’indépendance des prix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8424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Publier le règlement, le jury et les critères ; séparer clairement sponsor et lauréat ; faire contrôler le vote.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41732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06440" y="141732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5544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 vote public truqué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98424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 vote par numéro de téléphone vérifié ; une seule catégorie au vote ; le jury garde le dernier mot.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8036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8036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Une polémique autour d’une personnalité primée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4728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Vérifier chaque lauréat avant l’annonce ; réponses prêtes ; une seule voix autorisée.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288036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06440" y="288036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0175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 creux des fêtes de fin d’année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44728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Rythme allégé du 22 décembre au 4 janvier ; relance forte le 5 janvier.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4340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4340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805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Une connexion faible le jour 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1032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Deux connexions, une équipe en relais, des contenus préparés à l’avance.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434340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06440" y="434340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4805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Une page qui retombe après le 26 mars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91032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Quatre semaines de portraits de lauréats et la date de la prochaine édition.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Stratégie digitale 16 décembre – 26 mars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0E0A0"/>
                </a:solidFill>
                <a:latin typeface="Montserrat"/>
              </a:rPr>
              <a:t>Prochaines étapes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Cette semaine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2704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Valider le cap, l’idée centrale et le budget global.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Avant le 15 novembre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0428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Confirmer l’édition, le lieu, les catégories et le jury ; ouvrir les comptes manquants.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3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Avant le 1er décembre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81527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Dossier sponsors, site et formulaire, charte visuelle et gabarits prêts.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7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1er décembre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858767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Début du teasing « Le trophée arrive 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16 décembre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63600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Lancement officiel.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F0E0A0"/>
                </a:solidFill>
                <a:latin typeface="Montserrat"/>
              </a:rPr>
              <a:t>Sources : page Facebook des Awards, Instagram, TikTok et LinkedIn (relevé du 23 octobre 2026), Fraternité Matin, Infodirecte, Tikerama.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