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ovh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0"/>
            <a:ext cx="51206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68312" y="0"/>
            <a:ext cx="73152" cy="6858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239623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718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Plan de communication hors-média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0E0A0"/>
                </a:solidFill>
                <a:latin typeface="Montserrat"/>
              </a:rPr>
              <a:t>Relations institutionnelles, presse, sponsoring, marketing direct, événementiel, terrain et relais d’influence : le plan d’action du 16 décembre au 26 mars.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7492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7e édition · Thème : Paix et performance économique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Proposition à l’équipe d’AB Communication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Sommaire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184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cadre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550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point de départ, objectifs, cibles, équipe et ressources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042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Les sept leviers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408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pour chacun : cibles, supports, responsable, résultats et actions sur les quatre temps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900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plan d’action par période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0266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avant le 16 décembre, du lancement au 26 mars, le jour J, après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rétroplanning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7124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semaine par semaine, de novembre à avril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3616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Supports, offre partenaires et 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3982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ce qu’il faut fabriquer, ce qu’on vend, ce que ça coûte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0474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Pilotage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0840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tableau de bord, risques et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cadre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D’où l’on part, ce que l’on vise, avec qui.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point de départ : une offre riche, à remettre en ordre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D’après la brochure 2026, la presse et les publications des éditions passées.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12064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Les atouts à exploiter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7e édition</a:t>
            </a:r>
            <a:r>
              <a:rPr sz="1050" b="0">
                <a:solidFill>
                  <a:srgbClr val="3A3030"/>
                </a:solidFill>
                <a:latin typeface="Montserrat"/>
              </a:rPr>
              <a:t> et un thème fort : « Paix et performance économique : bâtir une Afrique forte, compétitive et solidaire ».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86 prix</a:t>
            </a:r>
            <a:r>
              <a:rPr sz="1050" b="0">
                <a:solidFill>
                  <a:srgbClr val="3A3030"/>
                </a:solidFill>
                <a:latin typeface="Montserrat"/>
              </a:rPr>
              <a:t> : 2 super prix, 9 prix spéciaux, 63 prix sectoriels, 12 prix individuels. Autant de raisons de contacter une entreprise.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journée complète</a:t>
            </a:r>
            <a:r>
              <a:rPr sz="1050" b="0">
                <a:solidFill>
                  <a:srgbClr val="3A3030"/>
                </a:solidFill>
                <a:latin typeface="Montserrat"/>
              </a:rPr>
              <a:t> : forum, panels sur le financement et l’IA, expositions, rencontres B to B, dîner gala.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</a:t>
            </a:r>
            <a:r>
              <a:rPr sz="1050" b="1">
                <a:solidFill>
                  <a:srgbClr val="3A3030"/>
                </a:solidFill>
                <a:latin typeface="Montserrat"/>
              </a:rPr>
              <a:t>processus de sélection</a:t>
            </a:r>
            <a:r>
              <a:rPr sz="1050" b="0">
                <a:solidFill>
                  <a:srgbClr val="3A3030"/>
                </a:solidFill>
                <a:latin typeface="Montserrat"/>
              </a:rPr>
              <a:t> écrit : barème, 3 nominés par prix, jury paritaire de 10 membres, vote du public.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grille de sponsoring</a:t>
            </a:r>
            <a:r>
              <a:rPr sz="1050" b="0">
                <a:solidFill>
                  <a:srgbClr val="3A3030"/>
                </a:solidFill>
                <a:latin typeface="Montserrat"/>
              </a:rPr>
              <a:t> de 2 à 50 millions de F CFA, et des recettes annexes : tables, stands, forum, magazine.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783080"/>
            <a:ext cx="512064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qu’il faut corriger avant de démarcher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350008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La brochure donne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quatre dates et deux lieux</a:t>
            </a:r>
            <a:r>
              <a:rPr sz="1050" b="0">
                <a:solidFill>
                  <a:srgbClr val="3A3030"/>
                </a:solidFill>
                <a:latin typeface="Montserrat"/>
              </a:rPr>
              <a:t> différents (page suivante).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Deux formules portent le même nom « </a:t>
            </a:r>
            <a:r>
              <a:rPr sz="1050" b="1">
                <a:solidFill>
                  <a:srgbClr val="3A3030"/>
                </a:solidFill>
                <a:latin typeface="Montserrat"/>
              </a:rPr>
              <a:t>Sponsor Or</a:t>
            </a:r>
            <a:r>
              <a:rPr sz="1050" b="0">
                <a:solidFill>
                  <a:srgbClr val="3A3030"/>
                </a:solidFill>
                <a:latin typeface="Montserrat"/>
              </a:rPr>
              <a:t> » (10 et 5 millions).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 contact passe par </a:t>
            </a:r>
            <a:r>
              <a:rPr sz="1050" b="1">
                <a:solidFill>
                  <a:srgbClr val="3A3030"/>
                </a:solidFill>
                <a:latin typeface="Montserrat"/>
              </a:rPr>
              <a:t>une adresse Gmail</a:t>
            </a:r>
            <a:r>
              <a:rPr sz="1050" b="0">
                <a:solidFill>
                  <a:srgbClr val="3A3030"/>
                </a:solidFill>
                <a:latin typeface="Montserrat"/>
              </a:rPr>
              <a:t> : une adresse à l’en-tête des Awards rassure un ministère ou un grand groupe.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diplôme par VAE</a:t>
            </a:r>
            <a:r>
              <a:rPr sz="1050" b="0">
                <a:solidFill>
                  <a:srgbClr val="3A3030"/>
                </a:solidFill>
                <a:latin typeface="Montserrat"/>
              </a:rPr>
              <a:t> vendu dans la même brochure brouille le message d’excellence : à présenter à part.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Les partenaires de 2024 sont surtout des </a:t>
            </a:r>
            <a:r>
              <a:rPr sz="1050" b="1">
                <a:solidFill>
                  <a:srgbClr val="3A3030"/>
                </a:solidFill>
                <a:latin typeface="Montserrat"/>
              </a:rPr>
              <a:t>PME</a:t>
            </a:r>
            <a:r>
              <a:rPr sz="1050" b="0">
                <a:solidFill>
                  <a:srgbClr val="3A3030"/>
                </a:solidFill>
                <a:latin typeface="Montserrat"/>
              </a:rPr>
              <a:t> : aucun grand groupe en sponsor principal.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Quatre dates, deux lieux : à harmoniser avant tout envoi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Relevé dans la brochure « Awards 2026 » reçue le 23 octobre. Un sponsor ou un ministère qui la lit se demandera quand a lieu l’événement.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56231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Où dans la brochure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856231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Ce qui est écrit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56231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À retenir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03704"/>
            <a:ext cx="10515600" cy="58521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3291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Couverture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267712"/>
            <a:ext cx="42062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Mercredi 16 décembre 2026, Palais des congrès du Sofitel Hôtel Ivoire, de 8 h 30 à 23 h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67712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Lancement le 16 déc.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25496"/>
            <a:ext cx="10515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3291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En-tête de toutes les pages intérieures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889504"/>
            <a:ext cx="42062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Vendredi 12 juin 2026, Radisson Blu Hotel Abidjan Airport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89504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À retirer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47288"/>
            <a:ext cx="10515600" cy="58521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11296"/>
            <a:ext cx="3291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Présentation (page 3) et VAE (page 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511296"/>
            <a:ext cx="42062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Samedi 7 mars 2026, Radisson Blu Hotel Abidjan Airport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511296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À remplacer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69080"/>
            <a:ext cx="10515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33088"/>
            <a:ext cx="3291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Processus de sélection (page 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133088"/>
            <a:ext cx="42062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Soirée gala le 19 décembre 2025, Radisson Blu ; performances « en 2025 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133088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À mettre à jour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690872"/>
            <a:ext cx="10515600" cy="58521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54880"/>
            <a:ext cx="3291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Votre demande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4754880"/>
            <a:ext cx="42062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Lancement le 16 décembre, événement principal le 26 mars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754880"/>
            <a:ext cx="26517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Date de référence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2578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À trancher :</a:t>
            </a:r>
            <a:r>
              <a:rPr sz="1100" b="0">
                <a:solidFill>
                  <a:srgbClr val="3A3030"/>
                </a:solidFill>
                <a:latin typeface="Montserrat"/>
              </a:rPr>
              <a:t> que se passe-t-il exactement le 16 décembre au Sofitel (lancement seul, ou forum et gala comme l’annonce la couverture) et où a lieu le 26 mars ? La brochure corrigée devient le premier support du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Cinq objectifs, chacun chiffré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sont des propositions, à caler avec vous sur le budget et l’historique des éditions.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Crédibilité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parrainage officiel et des institutions présentes.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1 ministère parrain · 3 organisations professionnelles partenaires · 15 articles de presse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0791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50791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1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Sponsors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1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Financer l’événement avant la fin janvier.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1 sponsor exclusif ou officiel · 2 sponsors leader · 4 sponsors Or · 8 sponsors Argent · 4 partenaires médias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52944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1544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Mobilisation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Trouver 3 nominés solides pour chacun des 86 prix.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258 nominés · 14 catégories couvertes · 4 pays représentés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9476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Participation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6168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Remplir la salle et le forum.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Tables vendues (Platine, Diamant, Or) · stands vendus · présence des invités officiels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0791" y="379476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50791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1" y="393192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Relations durables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1" y="436168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Garder le lien après le 26 mars.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Un fichier qualifié de 500 décideurs · 60 % des sponsors renouvelés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Six familles de cibles, par ordre de priorité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Chaque famille a son message, son porte-parole et son support.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6479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Qui, concrètement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7647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Ce qu’on attend d’elle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76479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Message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Institutions publiques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17627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Ministère du Commerce et de l’Industrie, ministère des PME, CEPICI, Agence Côte d’Ivoire PME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17627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Parrainage, présence, prix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17627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Un prix qui valorise l’économie du pays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5234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1635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Organisations patronales et chambres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816351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CGECI, Chambre de commerce et d’industrie, FIPME, chambres et fédérations sectorielles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16351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Relais, jury, candidatures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16351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Mettre en avant vos membres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5643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Grandes entreprises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45643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Banques, télécoms, assurances, énergie, BTP, agro-industrie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564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Sponsoring,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45643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Associer votre marque à l’excellence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3250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9651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PME et institutions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09651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Entreprises de tous secteurs, ONG, établissements de formation et de santé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9651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Candidatures, places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09651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Votre travail mérite d’être reconnu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672583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3659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Médias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73659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Presse écrite, radios, télévisions, sites d’information, médias panafricains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7365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Couverture, partenariat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Des histoires de réussite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31266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766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Relais d’influence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37667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Anciens lauréats, associations de dirigeants, réseaux de femmes chefs d’entreprise, diaspora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37667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Recommandation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37667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Faites venir vos pairs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L’équipe et les ressources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Une équipe réaliste de six personnes, renforcée le jour J. Les noms sont à placer en face des rôles.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Rôle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647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647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Directeur du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762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Relations institutionnelles, grands sponsors, arbitrages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762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Président du comité des Awards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60904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249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des partenariats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7249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Prospection, rendez-vous, propositions, contrats, suivi des contreparties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249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 à temps plein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0954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Attaché de presse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7355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Communiqués, dossier de presse, conférences, accréditations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7355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Interne ou agence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58183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2219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des relations publiques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8221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Invitations, fichier, relances téléphoniques, protocole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82219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 + 2 renforts en mars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0682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708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 la logistique et du terrain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37083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Impression, affichage, stands, lieux, prestataires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7083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855464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194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Assistant administratif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9194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Courriers, tableau de suivi, accueil des candidatures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9194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321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Outils communs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un fichier unique des contacts, un tableau de suivi des rendez-vous mis à jour chaque vendredi, une adresse e-mail à l’en-tête des Awards.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Les sept leviers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Pour chacun : cibles, supports, responsable, résultats, et les actions sur les quatre temps.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1. Relations publiques et institutionnelles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obtenir un parrainage officiel et faire des institutions des alliées visibles.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Ministère du Commerce et de l’Industrie, ministère des PME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CGECI, Chambre de commerce, FIPME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Associations professionnelles et sectorielles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officielle, note de présentation de 4 pages, règlement et liste du jury, dossier institutionnel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du projet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 parrainage ministériel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3 organisations partenaires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Des membres du jury issus des institutions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Demande d’audience aux ministères (lettre + note) · rencontre CGECI, Chambre de commerce, FIPME · proposition de siéger au jury · invitation officielle au lancement.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Point d’étape avec chaque institution en janvier · relais de l’appel à candidatures auprès des membres · prix remis par un représentant institutionnel · invitations protocolaires.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protocolaire dédié · places réservées · prise de parole du parrain · remise de prix par les institutions.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de remerciement sous 7 jours · bilan remis en audience · proposition de reconduire le partenariat pour l’édition suivante.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2. Relations presse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installer les Awards comme un événement sérieux et attendu dans les médias.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Presse écrite et sites d’information ivoiriens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Radios et télévisions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Médias économiques et panafricains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communiqués, dossier de presse, photos HD, biographies du jury, kit d’accréditation, fiche « chiffres clés »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15 articles et reportages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4 partenaires médias signés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 interviews de dirigeants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Fichier de 60 journalistes · rencontre avec les rédactions · signature de partenariats médias (visibilité contre espace) · invitations à la conférence de lancement.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Conférence de presse le 16 décembre · communiqués : lancement, nominés (février), invités (mars) · interviews du président et des membres du jury · émissions radio sur les nominés.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Espace presse avec connexion · accréditations · interviews sur le tapis rouge · communiqué du palmarès publié le soir même · photos envoyées dans l’heure.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Revue de presse complète · remerciements aux médias · portraits de lauréats proposés aux rédactions pendant un mois.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3. Prospection commerciale et sponsoring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signer les sponsors avant la fin janvier, avec des contreparties claires.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Banques, télécoms, assurances, énergie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Agro-industrie, BTP, distribution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Anciens partenaires de 2024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Dossier de partenariat, grille des formules, contrat type, présentation de 10 minutes, échantillon de trophée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Chargé des partenariats, avec le directeur pour les grands comptes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 exclusif ou officiel, 2 leader, 4 Or, 8 Argent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40 rendez-vous tenus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Partenaires en nature : hôtel, imprimeur, 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de 80 entreprises cibles · prise de rendez-vous par téléphone · 25 premiers rendez-vous · offre « partenaire fondateur » pour les premiers signataires.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Relances et 15 rendez-vous supplémentaires · signatures avant le 31 janvier · annonce publique de chaque sponsor · suivi des contreparties.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des sponsors · logos sur scène et supports · remise de prix par les sponsors · espace de rencontre réservé.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Bilan de visibilité remis à chaque sponsor sous 30 jours · rendez-vous de renouvellement · proposition pour l’édition suivante.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4. Marketing direct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toucher personnellement chaque décideur et transformer l’intérêt en présence.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500 dirigeants et décideurs ciblés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Anciens lauréats et participants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Responsables d’institutions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Invitation imprimée haut de gamme, courrier à l’en-tête, carton réponse, script d’appel, fichier de suivi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Chargé des relations publiques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500 invitations remises en main propre ou par courrier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Taux de réponse de 40 %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Tables vendues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Constitution du fichier (anciens participants, annuaires des organisations, partenaires) · courrier d’annonce · invitations au lancement remises en main propre.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Courrier d’appel à candidatures · visites aux entreprises clés · invitations à la cérémonie début février · relances téléphoniques à J-21, J-7 et J-2.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nominatif · liste des invités à l’entrée · badges · placement à table soigné.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de remerciement signée · certificat aux lauréats · questionnaire de satisfaction · mise à jour du fichier.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5.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multiplier les occasions de rencontre entre le lancement et la cérémonie.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Dirigeants, sponsors, institutions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Nominés et candidats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Médias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Conducteur de chaque rencontre, signalétique, trophées, badges, mur de logos, programme imprimé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du projet et chargé de la logistique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Un lancement réussi le 16 décembre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3 rencontres intermédiaires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Une cérémonie sans incident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Choix du lieu et des prestataires · conducteur du lancement · réservation des intervenants · essai du matériel.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Cérémonie de lancement le 16 décembre · petit-déjeuner des sponsors en janvier · rencontre des nominés en février · cocktail de networking B2B en mars · forum sur le leadership féminin autour du 8 mars.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et tapis rouge · forum en journée · rencontres B2B · cérémonie et dîner de gala · remise des prix.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Soirée ou déjeuner des lauréats · réunion bilan avec les prestataires · retour d’expérience écrit.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6. Communication terrain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rendre les Awards visibles là où passent les décideurs.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Plateau, Cocody, Marcory Zone 4, Riviera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Aéroport, grands hôtels, chambres de commerce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Sièges des entreprises partenaires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Affiches, kakémonos, brochures, flyers, panneaux, présentoirs, objets pour les invités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Chargé de la logistique et du terrain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Présence dans 30 lieux stratégiques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5 000 brochures et flyers distribués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Affichage en place 3 semaines avant le 26 mars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Charte des supports · choix de l’imprimeur (partenaire en nature si possible) · repérage des lieux et accords de dépôt · kakémonos du lancement.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Brochures dans les chambres de commerce, hôtels et sièges partenaires · kakémonos lors des rencontres · campagne d’affichage du 2 au 26 mars · présence sur les salons professionnels.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Signalétique complète du lieu · mur de logos pour les photos · programme imprimé · coffret ou objet pour les lauréats.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Dépose et stockage des supports réutilisables · affiche « Merci » dans les lieux partenaires.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7. Partenariats et relais d’influence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faire porter le message par des voix respectées du monde économique.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40233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Cibles prioritaires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Anciens lauréats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Associations de dirigeants, réseaux de femmes chefs d’entreprise, clubs d’affaires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Personnalités économiques et diaspora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Supports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d’ambassadeur, kit de présentation, invitation personnelle, visuels à relayer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Responsable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du projet et chargé des relations publiques</a:t>
            </a:r>
          </a:p>
          <a:p>
            <a:pPr algn="l">
              <a:spcBef>
                <a:spcPts val="500"/>
              </a:spcBef>
              <a:spcAft>
                <a:spcPts val="300"/>
              </a:spcAft>
            </a:pPr>
            <a:r>
              <a:rPr sz="1100" b="1">
                <a:solidFill>
                  <a:srgbClr val="7A0A0E"/>
                </a:solidFill>
                <a:latin typeface="Montserrat"/>
              </a:rPr>
              <a:t>Résultats attendus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20 ambassadeurs actifs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10 réseaux relais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• 30 % des candidatures venues des relais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Choix de 20 ambassadeurs (anciens lauréats, dirigeants reconnus) · rencontre de présentation · accords avec les associations de dirigeants et réseaux féminins.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Chaque ambassadeur recommande 5 structures · présentations des Awards dans les réunions des associations · relais par les représentations de la diaspora et les chambres de commerce étrangères.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Ambassadeurs à l’accueil et sur scène · moment de reconnaissance des relais.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Remerciement personnel · club des lauréats et ambassadeurs · invitation à la préparation de l’édition suivante.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plan d’action par période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qui se fait, quand, par qui, avec quel livrable.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Avant le 16 décembre : préparer et convaincre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Sept semaines pour installer la crédibilité et ouvrir les portes.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Valider règlement, catégories, jury et lieu du 26 mars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6 nov.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Règlement signé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Créer l’adresse e-mail, le papier à en-tête, les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6 nov.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Kit administratif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Écrire aux ministères et organisations patronales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Semaine du 9 nov.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8 lettres envoyées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partenariat et liste des 80 entreprises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13 nov.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Dossier + fichier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25 rendez-vous sponsors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nov. – 11 déc.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Comptes rendus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Partenariats médias et fichier de 60 journalistes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– 27 nov.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4 accords visés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Choix de 20 ambassadeurs, rencontre de présentation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23 nov. – 4 déc.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signée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3126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76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au lancement remises en main propre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376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– 10 déc.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376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376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200 invitations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7698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833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Impression des supports du lancement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5833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– 11 déc.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833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833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Kakémonos, brochures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Du 16 décembre au 26 mars : mobiliser et financer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 lancement ouvre trois mois de rencontres, de relances et de visibilité.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Cérémonie et conférence de presse de lancement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+ presse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Courrier d’appel à candidatures aux entreprises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17 – 23 déc.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500 courriers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Relances sponsors et signatures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 – 31 janv.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Contrats signés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Petit-déjeuner des sponsors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Mi-janvier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Sponsors présentés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Clôture des candidatures, délibération du jury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Fin janv. – mi-fév.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des nominés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Annonce des nominés, rencontre des nominés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Février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Presse + événementiel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à la cérémonie, relances à J-21, J-7, J-2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fév. – 24 mars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confirmée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3126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76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Forum sur le leadership féminin, cocktail B2B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376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Autour du 8 mars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376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Événementiel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376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Compte rendu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7698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833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Campagne d’affichage et dépôts de brochures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5833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– 26 mars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833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833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30 lieux couverts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26 mars : réussir la soirée, la faire rayonner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Un conducteur minute par minute et une équipe renforcée.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Installation, signalétique, mur de logos, essai son et lumière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Matin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Salle prête à 14 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Accueil protocolaire des officiels et des sponsors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Dès l’ouverture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pointée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Forum et rencontres B2B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Après-midi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Événementiel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Rendez-vous tenus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Tapis rouge, espace presse, accréditations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la cérémonie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Interviews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Cérémonie, remise des prix, dîner de gala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Soirée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Conducteur respecté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Communiqué du palmarès et photos à la presse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 soir même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Recueil des contacts et des cartes de visite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Toute la journée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Fichier enrichi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Après la cérémonie : remercier, mesurer, fidéliser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relations durables se jouent dans les trente jours.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Lettres de remerciement aux officiels, sponsors, médias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7 jours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Lettres signées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Certificats et kits lauréats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10 jours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Kits remis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Revue de presse complète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15 jours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Revue de presse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Bilan de visibilité par sponsor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30 jours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Bilans remis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Questionnaire de satisfaction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7 jours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Résultats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Rendez-vous de renouvellement des sponsors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Avril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Accords de principe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Retour d’expérience et date de l’édition suivante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Fin avril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Note de bilan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rétroplanning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De novembre à avril, levier par levier.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rétroplanning de novembre à avril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Barres = périodes d’action principales ; or = temps forts.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Nov.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Déc.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05856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6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Janv.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04304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Fév.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2752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Avril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945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286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Relations institutionnelles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286000"/>
            <a:ext cx="1926729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4304" y="2286000"/>
            <a:ext cx="2345583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2286000"/>
            <a:ext cx="121467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6517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43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Relations presse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5355" y="2743200"/>
            <a:ext cx="1340333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04304" y="2743200"/>
            <a:ext cx="2555010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2743200"/>
            <a:ext cx="586395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1089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5928" y="3200400"/>
            <a:ext cx="3476489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3200400"/>
            <a:ext cx="121467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5661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Marketing direct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7408" y="3657600"/>
            <a:ext cx="628281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77574" y="3657600"/>
            <a:ext cx="25131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04304" y="3657600"/>
            <a:ext cx="2303698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0233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114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Événementiel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6595" y="4114800"/>
            <a:ext cx="25131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90699" y="4114800"/>
            <a:ext cx="29319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70293" y="4114800"/>
            <a:ext cx="20942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4805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572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Communication terrain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7408" y="4572000"/>
            <a:ext cx="628281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44637" y="4572000"/>
            <a:ext cx="1005250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49377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029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Relais d’influence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04782" y="5029200"/>
            <a:ext cx="3685916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01200" y="5029200"/>
            <a:ext cx="79582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17401" y="2103120"/>
            <a:ext cx="45720" cy="329184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12729" y="54406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16 déc. · Lancement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31599" y="2103120"/>
            <a:ext cx="45720" cy="329184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26927" y="54406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26 mars · Cérémonie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Supports, offre partenaires et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qu’il faut fabriquer, ce qu’on propose aux sponsors, ce que ça coûte.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supports à produire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Quantités proposées, à ajuster au budget et au nombre d’invités.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7647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Quantité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7647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Prêt pour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partenariat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76272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Rendez-vous sponsors, version imprimée et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76272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 +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76272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13 nov.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5117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15184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Note institutionnelle et lettres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615184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Ministères, organisations patronales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615184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15184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6 nov.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90088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54096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presse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054096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Conférence de lancement, rédactions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054096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60 +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54096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10 déc.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2900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93008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imprimées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493008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Lancement puis cérémonie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493008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200 + 500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49300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déc. / 2 fév.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67912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31920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Brochure de présentation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931920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Lieux stratégiques, rendez-vous, salons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931920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93192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0682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37083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Flyers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370832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Distribution ciblée, chambres, salons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370832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370832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745736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809744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Kakémonos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809744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Lancement, rencontres, cérémonie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809744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809744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18464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248656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Affiches et panneaux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5248656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Campagne d’affichage de mars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248656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30 lieux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248656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27 fév.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23560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687568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Signalétique, mur de logos, badges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5687568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Jour J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5687568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 jeu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68756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 mars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L’offre aux partenaires : votre grille 2026, à présenter en paliers clairs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Montants et contreparties repris de la brochure. Proposition : renommer le second « Sponsor Or » pour éviter la confusion.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664208" cy="7315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Exclusif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50 M F CFA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Seul sponsor, exclusivité sectorielle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2 tables Platine + 3 Or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36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Couvertures du magazine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Reportage télé d’1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1783080"/>
            <a:ext cx="1664208" cy="7315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5728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Officiel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30 M F CFA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4288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Prise de parole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1 table Diamant + 3 Or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24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Conférence produit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Reportage télé 30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5" y="1783080"/>
            <a:ext cx="1664208" cy="7315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51375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Leader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20 M F CFA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5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1375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Logo partout, spot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1 table Diamant + 2 Or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18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Conférence de presse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5583" y="1783080"/>
            <a:ext cx="1664208" cy="7315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3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Or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10 M F CFA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15583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07023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Logo à l’entrée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2 tables Or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9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2 pages magazine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71231" y="1783080"/>
            <a:ext cx="1664208" cy="7315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Bronze (ex-« Or »)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5 M F CFA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1231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1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Logo sur les supports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1 table de 10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9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2 pages magazine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783080"/>
            <a:ext cx="1664208" cy="73152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1828800"/>
            <a:ext cx="1508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Argent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2 M F CFA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514600"/>
            <a:ext cx="1664208" cy="21488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633472"/>
            <a:ext cx="1508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Logo sur les supports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3 places au dîner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Stand 6 m²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3A3030"/>
                </a:solidFill>
                <a:latin typeface="Montserrat"/>
              </a:rPr>
              <a:t>• Demi-page magazine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46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À ajouter pour tous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un bilan de visibilité chiffré remis sous 30 jours après le 26 mars, et une priorité de renouvellement.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Partenaires en nature</a:t>
            </a:r>
            <a:r>
              <a:rPr sz="1050" b="0">
                <a:solidFill>
                  <a:srgbClr val="3A3030"/>
                </a:solidFill>
                <a:latin typeface="Montserrat"/>
              </a:rPr>
              <a:t> (hôtel, imprimeur, transport, traiteur) et </a:t>
            </a:r>
            <a:r>
              <a:rPr sz="1050" b="1">
                <a:solidFill>
                  <a:srgbClr val="3A3030"/>
                </a:solidFill>
                <a:latin typeface="Montserrat"/>
              </a:rPr>
              <a:t>médias</a:t>
            </a:r>
            <a:r>
              <a:rPr sz="1050" b="0">
                <a:solidFill>
                  <a:srgbClr val="3A3030"/>
                </a:solidFill>
                <a:latin typeface="Montserrat"/>
              </a:rPr>
              <a:t> : contreparties à négocier, sans montant.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autres recettes à vendre sur le terrain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Tarifs de la brochure : chaque visite d’entreprise peut se conclure par l’un de ces achats.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Produit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647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Tarif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6479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À qui le proposer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0515600" cy="39319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Table VIP Platine (10 places)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76272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5 000 000 F CFA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76272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Grands groupes, institutions, sponsors qui veulent plus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42032"/>
            <a:ext cx="10515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06040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Table VIP Diamant (10 places)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606040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3 000 000 F CFA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06040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Banques, assurances, télécoms, nominés de grandes entreprises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71800"/>
            <a:ext cx="10515600" cy="39319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35808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Table VIP Or (10 places)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035808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2 000 000 F CFA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035808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Entreprises nominées, cabinets, fédérations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01568"/>
            <a:ext cx="10515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65575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Place individuelle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465575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200 000 à 400 000 F CFA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65575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Dirigeants de PME, diaspora, nominés individuels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31335"/>
            <a:ext cx="10515600" cy="39319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95344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Stand d’exposition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895344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500 000 à 2 000 000 F CFA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95344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PME, start-up, écoles, collectivités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61104"/>
            <a:ext cx="10515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325112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Forum : conférence / B to B /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325112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1 500 000 / 500 000 / 500 000 F CFA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25112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Entreprises qui veulent parler à des décideurs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90872"/>
            <a:ext cx="10515600" cy="39319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754880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Package forum (conférence, B to B, cocktail, presse)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754880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2 500 000 F CFA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754880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Entreprises qui lancent un produit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20640"/>
            <a:ext cx="10515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184648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Magazine officiel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184648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500 000 à 2 500 000 F CFA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184648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Annonceurs, lauréats, institutions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550408"/>
            <a:ext cx="10515600" cy="39319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614416"/>
            <a:ext cx="310896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Packages invités extérieurs (gold / platine)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5614416"/>
            <a:ext cx="2377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3 000 000 / 5 000 000 F CFA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614416"/>
            <a:ext cx="46634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Délégations venues d’autres pays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La sélection des lauréats, premier argument de crédibilité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Votre processus existe déjà : il faut le rendre visible dans chaque rendez-vous et chaque communiqué.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0E0A0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21414"/>
                </a:solidFill>
                <a:latin typeface="Montserrat"/>
              </a:rPr>
              <a:t>Le jury propose 3 nominés par prix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7A6E6E"/>
                </a:solidFill>
                <a:latin typeface="Montserrat"/>
              </a:rPr>
              <a:t>Jury de 10 membres issus de divers milieux, paritaire.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0" y="1783080"/>
            <a:ext cx="502920" cy="50292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783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0E0A0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2316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21414"/>
                </a:solidFill>
                <a:latin typeface="Montserrat"/>
              </a:rPr>
              <a:t>Un reportage de 2 minutes par nominé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7A6E6E"/>
                </a:solidFill>
                <a:latin typeface="Montserrat"/>
              </a:rPr>
              <a:t>Matière pour la presse, les réseaux et la soirée.</a:t>
            </a:r>
          </a:p>
        </p:txBody>
      </p:sp>
      <p:sp>
        <p:nvSpPr>
          <p:cNvPr id="17" name="Oval 16"/>
          <p:cNvSpPr/>
          <p:nvPr/>
        </p:nvSpPr>
        <p:spPr>
          <a:xfrm>
            <a:off x="5852159" y="1783080"/>
            <a:ext cx="502920" cy="50292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59" y="1783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242316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21414"/>
                </a:solidFill>
                <a:latin typeface="Montserrat"/>
              </a:rPr>
              <a:t>Vote du public et notes du jury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7A6E6E"/>
                </a:solidFill>
                <a:latin typeface="Montserrat"/>
              </a:rPr>
              <a:t>Vote en ligne et par SMS, notes sur un serveur dédié.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19" y="1783080"/>
            <a:ext cx="502920" cy="50292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17830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F0E0A0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42316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221414"/>
                </a:solidFill>
                <a:latin typeface="Montserrat"/>
              </a:rPr>
              <a:t>Lauréats révélés le soir du gala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06324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7A6E6E"/>
                </a:solidFill>
                <a:latin typeface="Montserrat"/>
              </a:rPr>
              <a:t>Effet de surprise, tension jusqu’au bout.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77639"/>
            <a:ext cx="10424160" cy="16002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977639"/>
            <a:ext cx="64008" cy="16002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1479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qu’il faut ajouter pour convaincre un ministère ou un grand groupe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44567"/>
            <a:ext cx="1005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Publier les </a:t>
            </a:r>
            <a:r>
              <a:rPr sz="1050" b="1">
                <a:solidFill>
                  <a:srgbClr val="3A3030"/>
                </a:solidFill>
                <a:latin typeface="Montserrat"/>
              </a:rPr>
              <a:t>noms du jury</a:t>
            </a:r>
            <a:r>
              <a:rPr sz="1050" b="0">
                <a:solidFill>
                  <a:srgbClr val="3A3030"/>
                </a:solidFill>
                <a:latin typeface="Montserrat"/>
              </a:rPr>
              <a:t> et le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règlement</a:t>
            </a:r>
            <a:r>
              <a:rPr sz="1050" b="0">
                <a:solidFill>
                  <a:srgbClr val="3A3030"/>
                </a:solidFill>
                <a:latin typeface="Montserrat"/>
              </a:rPr>
              <a:t> sur le site ; faire </a:t>
            </a:r>
            <a:r>
              <a:rPr sz="1050" b="1">
                <a:solidFill>
                  <a:srgbClr val="3A3030"/>
                </a:solidFill>
                <a:latin typeface="Montserrat"/>
              </a:rPr>
              <a:t>certifier le dépouillement</a:t>
            </a:r>
            <a:r>
              <a:rPr sz="1050" b="0">
                <a:solidFill>
                  <a:srgbClr val="3A3030"/>
                </a:solidFill>
                <a:latin typeface="Montserrat"/>
              </a:rPr>
              <a:t> du vote par un huissier ou un cabinet d’audit.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Règle écrite : </a:t>
            </a:r>
            <a:r>
              <a:rPr sz="1050" b="1">
                <a:solidFill>
                  <a:srgbClr val="3A3030"/>
                </a:solidFill>
                <a:latin typeface="Montserrat"/>
              </a:rPr>
              <a:t>aucun sponsor ne siège ni ne concourt</a:t>
            </a:r>
            <a:r>
              <a:rPr sz="1050" b="0">
                <a:solidFill>
                  <a:srgbClr val="3A3030"/>
                </a:solidFill>
                <a:latin typeface="Montserrat"/>
              </a:rPr>
              <a:t> dans le jury de sa propre catégorie.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budget hors-média, réparti selon le principe « les sponsors financent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En pourcentage du budget hors-média ; à appliquer au montant que vous nous indiquerez.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Événementiel (lieux, technique, traiteur, trophées)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819656"/>
            <a:ext cx="3291839" cy="292608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40 %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Supports imprimés et affichage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322576"/>
            <a:ext cx="1645919" cy="292608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20 %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Relations presse et partenariats médias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82549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78892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Marketing direct (invitations, courriers, coursiers)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32841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32918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Déplacements et rendez-vous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831336"/>
            <a:ext cx="41147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79476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Protocole et accueil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334256"/>
            <a:ext cx="41147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429768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0060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Réserve et imprévus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483717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480060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783080"/>
            <a:ext cx="2194560" cy="3474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78240" y="1783080"/>
            <a:ext cx="64008" cy="3474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9202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Pour tenir le budget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350008"/>
            <a:ext cx="1828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Engager les dépenses au rythme des signatures.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Chercher hôtel, imprimeur et transport en partenaires en nature.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Réutiliser kakémonos et signalétique.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40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Règle :</a:t>
            </a:r>
            <a:r>
              <a:rPr sz="1100" b="0">
                <a:solidFill>
                  <a:srgbClr val="3A3030"/>
                </a:solidFill>
                <a:latin typeface="Montserrat"/>
              </a:rPr>
              <a:t> aucune commande ferme avant d’avoir signé l’équivalent de 50 % du budget en sponsoring.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Tableau de bord, risques et prochaines étapes.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tableau de bord, suivi chaque vendredi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sont des propositions, à ajuster après le premier mois.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Indicateur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7647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Échéance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Rendez-vous institutionnels tenus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7627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176272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5117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15184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Rendez-vous sponsors tenus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15184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615184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31 janv.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0088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54096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Sponsors signés (exclusif ou officiel, leader, Or, Argent)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54096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 + 2 + 4 + 8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054096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31 janv.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2900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93008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Partenaires médias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493008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93008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67912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31920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Candidatures reçues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931920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931920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Clôture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0682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370832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Invitations envoyées / réponses positives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37083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500 / 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370832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20 mars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45736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09744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Articles et reportages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809744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809744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 avril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8464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48656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Sponsors qui renouvellent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248656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60 %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248656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30 avril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risques et leur parade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Les sponsors signent trop tard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Offre « partenaire fondateur » avant le 11 décembre ; dépenses engagées au rythme des signatures.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diplôme par VAE brouille l’image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Le présenter dans un document séparé ; vérifier avec le ministère de l’Enseignement supérieur avant d’associer une institution.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Des doutes sur la sélection des lauréats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Règlement, critères et jury publiés ; aucun sponsor dans un jury de sa propre catégorie.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Des dates contradictoires circulent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Retirer la brochure actuelle, diffuser une version corrigée, et une réponse prête pour la presse sur le changement de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salle à moitié vide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Confirmation des invités à J-7 et J-2 ; liste d’attente ; tables d’entreprise vendues tôt.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64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 incident le jour 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Conducteur minute par minute, répétition la veille, matériel en double, une personne dédiée aux officiels.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0E0A0"/>
                </a:solidFill>
                <a:latin typeface="Montserrat"/>
              </a:rPr>
              <a:t>Prochaines étapes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Cette semaine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Valider les objectifs, le budget global et l’équipe.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6 novembre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0428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Brochure corrigée (dates, lieux, noms des formules), jury nommé, lieu du 26 mars, adresse e-mail à l’en-tête.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13 novembre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8152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Dossier de partenariat, note institutionnelle et fichier des cibles.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Mi-novembre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85876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Premiers rendez-vous avec les ministères, la CGECI, la Chambre de commerce et les sponsors.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16 décembre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63600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Lancement officiel et conférence de presse.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F0E0A0"/>
                </a:solidFill>
                <a:latin typeface="Montserrat"/>
              </a:rPr>
              <a:t>Sources : brochure Awards 2026 (AB Communication), Fraternité Matin (déc. 2023), Infodirecte (déc. 2024), page Facebook des Awards (23 oct.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