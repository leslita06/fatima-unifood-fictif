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90F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6000" y="700000"/>
            <a:ext cx="4000000" cy="220666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00" y="3500000"/>
            <a:ext cx="1059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600" b="1">
                <a:solidFill>
                  <a:srgbClr val="FFF4E4"/>
                </a:solidFill>
                <a:latin typeface="Poppins"/>
              </a:rPr>
              <a:t>Objets de marque · Côte d'Ivoire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" y="4400000"/>
            <a:ext cx="10592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FFF4E4"/>
                </a:solidFill>
                <a:latin typeface="Poppins"/>
              </a:rPr>
              <a:t>Sac en papier, gobelet de café, tee-shirt du personnel, sac en tissu à vendre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FFF4E4"/>
                </a:solidFill>
                <a:latin typeface="Poppins"/>
              </a:rPr>
              <a:t>Maquettes de présentation · 26 octobre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0000" y="6338000"/>
            <a:ext cx="3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FFF4E4"/>
                </a:solidFill>
                <a:latin typeface="Poppins"/>
              </a:rPr>
              <a:t>1 /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45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263167"/>
                </a:solidFill>
                <a:latin typeface="Poppins"/>
              </a:rPr>
              <a:t>Les éléments de marque appliqués</a:t>
            </a:r>
          </a:p>
        </p:txBody>
      </p:sp>
      <p:pic>
        <p:nvPicPr>
          <p:cNvPr id="3" name="Picture 2" descr="relev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00" y="1300000"/>
            <a:ext cx="8400000" cy="4725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300000" y="1500000"/>
            <a:ext cx="25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263167"/>
                </a:solidFill>
                <a:latin typeface="Poppins"/>
              </a:rPr>
              <a:t>Logo et couleurs relevés sur le site officiel de la marque.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63167"/>
                </a:solidFill>
                <a:latin typeface="Poppins"/>
              </a:rPr>
              <a:t/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63167"/>
                </a:solidFill>
                <a:latin typeface="Poppins"/>
              </a:rPr>
              <a:t>Si Brioche Dorée Côte d'Ivoire dispose du manuel de marque du franchiseur, ses codes remplacent ce relevé.</a:t>
            </a:r>
          </a:p>
        </p:txBody>
      </p:sp>
      <p:pic>
        <p:nvPicPr>
          <p:cNvPr id="5" name="Picture 4" descr="logo-s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2000" y="6238000"/>
            <a:ext cx="900000" cy="496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0000" y="6338000"/>
            <a:ext cx="3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6C6C6C"/>
                </a:solidFill>
                <a:latin typeface="Poppins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-10-26_01_sac-papi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8046720" cy="5029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046720" y="0"/>
            <a:ext cx="4145280" cy="6858000"/>
          </a:xfrm>
          <a:prstGeom prst="rect">
            <a:avLst/>
          </a:prstGeom>
          <a:solidFill>
            <a:srgbClr val="FFF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46720" y="700000"/>
            <a:ext cx="700000" cy="70000"/>
          </a:xfrm>
          <a:prstGeom prst="rect">
            <a:avLst/>
          </a:prstGeom>
          <a:solidFill>
            <a:srgbClr val="D90F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46720" y="850000"/>
            <a:ext cx="3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263167"/>
                </a:solidFill>
                <a:latin typeface="Poppins"/>
              </a:rPr>
              <a:t>Sac en papier kraft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46720" y="1800000"/>
            <a:ext cx="34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263167"/>
                </a:solidFill>
                <a:latin typeface="Poppins"/>
              </a:rPr>
              <a:t>À quoi il sert : emballer les commandes à emporter et en livraison. Dans la rue, c'est une affiche qui marche : la marque doit se lire à plusieurs mètres.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63167"/>
                </a:solidFill>
                <a:latin typeface="Poppins"/>
              </a:rPr>
              <a:t>Le bandeau rouge porte la signature de la marque. Le sachet rayé sert aux viennoiseries à l'unité.</a:t>
            </a:r>
          </a:p>
        </p:txBody>
      </p:sp>
      <p:pic>
        <p:nvPicPr>
          <p:cNvPr id="7" name="Picture 6" descr="logo-s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2000" y="6238000"/>
            <a:ext cx="900000" cy="496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0000" y="6338000"/>
            <a:ext cx="3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6C6C6C"/>
                </a:solidFill>
                <a:latin typeface="Poppins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-10-26_02_gobelet-caf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8046720" cy="5029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046720" y="0"/>
            <a:ext cx="4145280" cy="6858000"/>
          </a:xfrm>
          <a:prstGeom prst="rect">
            <a:avLst/>
          </a:prstGeom>
          <a:solidFill>
            <a:srgbClr val="FFF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46720" y="700000"/>
            <a:ext cx="700000" cy="70000"/>
          </a:xfrm>
          <a:prstGeom prst="rect">
            <a:avLst/>
          </a:prstGeom>
          <a:solidFill>
            <a:srgbClr val="D90F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46720" y="850000"/>
            <a:ext cx="3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263167"/>
                </a:solidFill>
                <a:latin typeface="Poppins"/>
              </a:rPr>
              <a:t>Gobelet de café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46720" y="1800000"/>
            <a:ext cx="34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263167"/>
                </a:solidFill>
                <a:latin typeface="Poppins"/>
              </a:rPr>
              <a:t>À quoi il sert : c'est l'objet le plus photographié, sur les bureaux et sur les réseaux sociaux. Logo à hauteur des yeux, vague rouge en bas.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63167"/>
                </a:solidFill>
                <a:latin typeface="Poppins"/>
              </a:rPr>
              <a:t>Deux tailles : un grand gobelet blanc pour les boissons longues, un petit gobelet rouge pour l'expresso.</a:t>
            </a:r>
          </a:p>
        </p:txBody>
      </p:sp>
      <p:pic>
        <p:nvPicPr>
          <p:cNvPr id="7" name="Picture 6" descr="logo-s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2000" y="6238000"/>
            <a:ext cx="900000" cy="496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0000" y="6338000"/>
            <a:ext cx="3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6C6C6C"/>
                </a:solidFill>
                <a:latin typeface="Poppins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-10-26_03_tee-shirt-personn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8046720" cy="5029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046720" y="0"/>
            <a:ext cx="4145280" cy="6858000"/>
          </a:xfrm>
          <a:prstGeom prst="rect">
            <a:avLst/>
          </a:prstGeom>
          <a:solidFill>
            <a:srgbClr val="FFF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46720" y="700000"/>
            <a:ext cx="700000" cy="70000"/>
          </a:xfrm>
          <a:prstGeom prst="rect">
            <a:avLst/>
          </a:prstGeom>
          <a:solidFill>
            <a:srgbClr val="D90F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46720" y="850000"/>
            <a:ext cx="3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263167"/>
                </a:solidFill>
                <a:latin typeface="Poppins"/>
              </a:rPr>
              <a:t>Tee-shirt du personnel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46720" y="1800000"/>
            <a:ext cx="34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263167"/>
                </a:solidFill>
                <a:latin typeface="Poppins"/>
              </a:rPr>
              <a:t>À quoi il sert : reconnaître l'équipe en salle et au comptoir. Bleu nuit, qui marque moins les taches ; petit logo côté cœur, grand logo et signature au dos.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63167"/>
                </a:solidFill>
                <a:latin typeface="Poppins"/>
              </a:rPr>
              <a:t>Une tenue est peut-être déjà imposée par le franchiseur : à vérifier avant de commander.</a:t>
            </a:r>
          </a:p>
        </p:txBody>
      </p:sp>
      <p:pic>
        <p:nvPicPr>
          <p:cNvPr id="7" name="Picture 6" descr="logo-s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2000" y="6238000"/>
            <a:ext cx="900000" cy="496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0000" y="6338000"/>
            <a:ext cx="3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6C6C6C"/>
                </a:solidFill>
                <a:latin typeface="Poppins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-10-26_04_sac-tiss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8046720" cy="5029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046720" y="0"/>
            <a:ext cx="4145280" cy="6858000"/>
          </a:xfrm>
          <a:prstGeom prst="rect">
            <a:avLst/>
          </a:prstGeom>
          <a:solidFill>
            <a:srgbClr val="FFF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46720" y="700000"/>
            <a:ext cx="700000" cy="70000"/>
          </a:xfrm>
          <a:prstGeom prst="rect">
            <a:avLst/>
          </a:prstGeom>
          <a:solidFill>
            <a:srgbClr val="D90F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46720" y="850000"/>
            <a:ext cx="3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263167"/>
                </a:solidFill>
                <a:latin typeface="Poppins"/>
              </a:rPr>
              <a:t>Sac en tissu à vendre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46720" y="1800000"/>
            <a:ext cx="34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263167"/>
                </a:solidFill>
                <a:latin typeface="Poppins"/>
              </a:rPr>
              <a:t>À quoi il sert : un produit vendu en caisse que le client garde et réutilise, donc une publicité qui dure. Coton écru, impression en une seule couleur pour garder un coût de fabrication bas.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63167"/>
                </a:solidFill>
                <a:latin typeface="Poppins"/>
              </a:rPr>
              <a:t>C'est un produit dérivé : il demande l'accord du franchiseur.</a:t>
            </a:r>
          </a:p>
        </p:txBody>
      </p:sp>
      <p:pic>
        <p:nvPicPr>
          <p:cNvPr id="7" name="Picture 6" descr="logo-s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2000" y="6238000"/>
            <a:ext cx="900000" cy="496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0000" y="6338000"/>
            <a:ext cx="3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6C6C6C"/>
                </a:solidFill>
                <a:latin typeface="Poppins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16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45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FFF4E4"/>
                </a:solidFill>
                <a:latin typeface="Poppins"/>
              </a:rPr>
              <a:t>Avant de passer commande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1400000"/>
            <a:ext cx="10800000" cy="4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FFF4E4"/>
                </a:solidFill>
                <a:latin typeface="Poppins"/>
              </a:rPr>
              <a:t>1. Faire valider les quatre objets par le franchiseur, qui fixe souvent les emballages, la tenue du personnel et les fournisseurs agréés.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FFF4E4"/>
                </a:solidFill>
                <a:latin typeface="Poppins"/>
              </a:rPr>
              <a:t>2. Demander à chaque fabricant son gabarit : dimensions, zone imprimable, nombre de couleurs possibles.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FFF4E4"/>
                </a:solidFill>
                <a:latin typeface="Poppins"/>
              </a:rPr>
              <a:t>3. Fixer les quantités selon l'usage : commandes à emporter par mois, cafés servis, effectif du personnel, première série de sacs à vendre.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FFF4E4"/>
                </a:solidFill>
                <a:latin typeface="Poppins"/>
              </a:rPr>
              <a:t>4. Pour le sac en tissu, fixer un prix de vente et un objectif de ventes sur trois mois, pour décider d'une deuxième série.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FFF4E4"/>
                </a:solidFill>
                <a:latin typeface="Poppins"/>
              </a:rPr>
              <a:t>5. Contrôler une épreuve imprimée à taille réelle avant de lancer la production.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0000" y="6338000"/>
            <a:ext cx="3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FFF4E4"/>
                </a:solidFill>
                <a:latin typeface="Poppins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