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image" Target="../media/image2.jpg"/><Relationship Id="rId4"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 Id="rId7" Type="http://schemas.openxmlformats.org/officeDocument/2006/relationships/image" Target="../media/image9.png"/><Relationship Id="rId8" Type="http://schemas.openxmlformats.org/officeDocument/2006/relationships/image" Target="../media/image10.png"/><Relationship Id="rId9" Type="http://schemas.openxmlformats.org/officeDocument/2006/relationships/image" Target="../media/image11.png"/><Relationship Id="rId10" Type="http://schemas.openxmlformats.org/officeDocument/2006/relationships/image" Target="../media/image12.png"/><Relationship Id="rId11" Type="http://schemas.openxmlformats.org/officeDocument/2006/relationships/image" Target="../media/image13.png"/><Relationship Id="rId12" Type="http://schemas.openxmlformats.org/officeDocument/2006/relationships/image" Target="../media/image14.png"/><Relationship Id="rId13" Type="http://schemas.openxmlformats.org/officeDocument/2006/relationships/image" Target="../media/image1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5.jpg"/><Relationship Id="rId4" Type="http://schemas.openxmlformats.org/officeDocument/2006/relationships/image" Target="../media/image18.jpg"/><Relationship Id="rId5" Type="http://schemas.openxmlformats.org/officeDocument/2006/relationships/image" Target="../media/image19.jpg"/><Relationship Id="rId6" Type="http://schemas.openxmlformats.org/officeDocument/2006/relationships/image" Target="../media/image20.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image" Target="../media/image5.jpg"/><Relationship Id="rId4" Type="http://schemas.openxmlformats.org/officeDocument/2006/relationships/image" Target="../media/image22.jpg"/><Relationship Id="rId5" Type="http://schemas.openxmlformats.org/officeDocument/2006/relationships/image" Target="../media/image23.jpg"/><Relationship Id="rId6" Type="http://schemas.openxmlformats.org/officeDocument/2006/relationships/image" Target="../media/image24.png"/><Relationship Id="rId7" Type="http://schemas.openxmlformats.org/officeDocument/2006/relationships/image" Target="../media/image2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image" Target="../media/image5.jpg"/><Relationship Id="rId4" Type="http://schemas.openxmlformats.org/officeDocument/2006/relationships/image" Target="../media/image28.png"/><Relationship Id="rId5" Type="http://schemas.openxmlformats.org/officeDocument/2006/relationships/image" Target="../media/image12.png"/><Relationship Id="rId6" Type="http://schemas.openxmlformats.org/officeDocument/2006/relationships/image" Target="../media/image29.png"/><Relationship Id="rId7" Type="http://schemas.openxmlformats.org/officeDocument/2006/relationships/image" Target="../media/image30.png"/><Relationship Id="rId8" Type="http://schemas.openxmlformats.org/officeDocument/2006/relationships/image" Target="../media/image31.png"/><Relationship Id="rId9" Type="http://schemas.openxmlformats.org/officeDocument/2006/relationships/image" Target="../media/image32.jpg"/><Relationship Id="rId10" Type="http://schemas.openxmlformats.org/officeDocument/2006/relationships/image" Target="../media/image1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 Id="rId3" Type="http://schemas.openxmlformats.org/officeDocument/2006/relationships/image" Target="../media/image5.jpg"/><Relationship Id="rId4" Type="http://schemas.openxmlformats.org/officeDocument/2006/relationships/image" Target="../media/image34.jp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21.png"/><Relationship Id="rId8" Type="http://schemas.openxmlformats.org/officeDocument/2006/relationships/image" Target="../media/image37.png"/><Relationship Id="rId9" Type="http://schemas.openxmlformats.org/officeDocument/2006/relationships/image" Target="../media/image3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png"/><Relationship Id="rId3" Type="http://schemas.openxmlformats.org/officeDocument/2006/relationships/image" Target="../media/image5.jpg"/><Relationship Id="rId4" Type="http://schemas.openxmlformats.org/officeDocument/2006/relationships/image" Target="../media/image9.png"/><Relationship Id="rId5" Type="http://schemas.openxmlformats.org/officeDocument/2006/relationships/image" Target="../media/image40.png"/><Relationship Id="rId6" Type="http://schemas.openxmlformats.org/officeDocument/2006/relationships/image" Target="../media/image41.png"/><Relationship Id="rId7" Type="http://schemas.openxmlformats.org/officeDocument/2006/relationships/image" Target="../media/image42.png"/><Relationship Id="rId8" Type="http://schemas.openxmlformats.org/officeDocument/2006/relationships/image" Target="../media/image43.png"/><Relationship Id="rId9" Type="http://schemas.openxmlformats.org/officeDocument/2006/relationships/image" Target="../media/image28.png"/><Relationship Id="rId10" Type="http://schemas.openxmlformats.org/officeDocument/2006/relationships/image" Target="../media/image4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5.jpg"/><Relationship Id="rId3" Type="http://schemas.openxmlformats.org/officeDocument/2006/relationships/image" Target="../media/image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5.jpg"/><Relationship Id="rId4" Type="http://schemas.openxmlformats.org/officeDocument/2006/relationships/image" Target="../media/image46.jpg"/><Relationship Id="rId5" Type="http://schemas.openxmlformats.org/officeDocument/2006/relationships/image" Target="../media/image47.jpg"/><Relationship Id="rId6" Type="http://schemas.openxmlformats.org/officeDocument/2006/relationships/image" Target="../media/image48.jpg"/><Relationship Id="rId7" Type="http://schemas.openxmlformats.org/officeDocument/2006/relationships/image" Target="../media/image49.jpg"/><Relationship Id="rId8" Type="http://schemas.openxmlformats.org/officeDocument/2006/relationships/image" Target="../media/image50.jpg"/><Relationship Id="rId9" Type="http://schemas.openxmlformats.org/officeDocument/2006/relationships/image" Target="../media/image51.jpg"/><Relationship Id="rId10" Type="http://schemas.openxmlformats.org/officeDocument/2006/relationships/image" Target="../media/image52.jpg"/><Relationship Id="rId11" Type="http://schemas.openxmlformats.org/officeDocument/2006/relationships/image" Target="../media/image53.jpg"/><Relationship Id="rId12" Type="http://schemas.openxmlformats.org/officeDocument/2006/relationships/image" Target="../media/image54.jpg"/><Relationship Id="rId13" Type="http://schemas.openxmlformats.org/officeDocument/2006/relationships/image" Target="../media/image55.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57.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59.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0.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1.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2.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3.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4.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5.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6.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67.jpg"/><Relationship Id="rId5" Type="http://schemas.openxmlformats.org/officeDocument/2006/relationships/image" Target="../media/image58.png"/><Relationship Id="rId6" Type="http://schemas.openxmlformats.org/officeDocument/2006/relationships/image" Target="../media/image9.png"/><Relationship Id="rId7" Type="http://schemas.openxmlformats.org/officeDocument/2006/relationships/image" Target="../media/image40.png"/><Relationship Id="rId8" Type="http://schemas.openxmlformats.org/officeDocument/2006/relationships/image" Target="../media/image41.png"/><Relationship Id="rId9" Type="http://schemas.openxmlformats.org/officeDocument/2006/relationships/image" Target="../media/image42.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8.jpg"/><Relationship Id="rId3" Type="http://schemas.openxmlformats.org/officeDocument/2006/relationships/image" Target="../media/image2.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9.png"/><Relationship Id="rId3" Type="http://schemas.openxmlformats.org/officeDocument/2006/relationships/image" Target="../media/image5.jpg"/><Relationship Id="rId4" Type="http://schemas.openxmlformats.org/officeDocument/2006/relationships/image" Target="../media/image70.jpg"/><Relationship Id="rId5" Type="http://schemas.openxmlformats.org/officeDocument/2006/relationships/image" Target="../media/image71.jpg"/><Relationship Id="rId6" Type="http://schemas.openxmlformats.org/officeDocument/2006/relationships/image" Target="../media/image28.png"/><Relationship Id="rId7" Type="http://schemas.openxmlformats.org/officeDocument/2006/relationships/image" Target="../media/image7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3.png"/><Relationship Id="rId3" Type="http://schemas.openxmlformats.org/officeDocument/2006/relationships/image" Target="../media/image5.jpg"/><Relationship Id="rId4" Type="http://schemas.openxmlformats.org/officeDocument/2006/relationships/image" Target="../media/image74.jpg"/><Relationship Id="rId5" Type="http://schemas.openxmlformats.org/officeDocument/2006/relationships/image" Target="../media/image7.png"/><Relationship Id="rId6" Type="http://schemas.openxmlformats.org/officeDocument/2006/relationships/image" Target="../media/image30.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5.jpg"/><Relationship Id="rId4" Type="http://schemas.openxmlformats.org/officeDocument/2006/relationships/image" Target="../media/image76.jpg"/><Relationship Id="rId5" Type="http://schemas.openxmlformats.org/officeDocument/2006/relationships/image" Target="../media/image77.png"/><Relationship Id="rId6"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5.jpg"/><Relationship Id="rId4" Type="http://schemas.openxmlformats.org/officeDocument/2006/relationships/image" Target="../media/image78.jpg"/><Relationship Id="rId5" Type="http://schemas.openxmlformats.org/officeDocument/2006/relationships/image" Target="../media/image79.jpg"/><Relationship Id="rId6" Type="http://schemas.openxmlformats.org/officeDocument/2006/relationships/image" Target="../media/image80.jpg"/><Relationship Id="rId7" Type="http://schemas.openxmlformats.org/officeDocument/2006/relationships/image" Target="../media/image43.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5.png"/><Relationship Id="rId3"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1.jpg"/><Relationship Id="rId3" Type="http://schemas.openxmlformats.org/officeDocument/2006/relationships/image" Target="../media/image2.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5.jpg"/><Relationship Id="rId4" Type="http://schemas.openxmlformats.org/officeDocument/2006/relationships/image" Target="../media/image83.jpg"/><Relationship Id="rId5" Type="http://schemas.openxmlformats.org/officeDocument/2006/relationships/image" Target="../media/image84.png"/><Relationship Id="rId6" Type="http://schemas.openxmlformats.org/officeDocument/2006/relationships/image" Target="../media/image85.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6.png"/><Relationship Id="rId3" Type="http://schemas.openxmlformats.org/officeDocument/2006/relationships/image" Target="../media/image5.jpg"/><Relationship Id="rId4" Type="http://schemas.openxmlformats.org/officeDocument/2006/relationships/image" Target="../media/image87.jpg"/><Relationship Id="rId5" Type="http://schemas.openxmlformats.org/officeDocument/2006/relationships/image" Target="../media/image28.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2.png"/><Relationship Id="rId3" Type="http://schemas.openxmlformats.org/officeDocument/2006/relationships/image" Target="../media/image5.jpg"/><Relationship Id="rId4" Type="http://schemas.openxmlformats.org/officeDocument/2006/relationships/image" Target="../media/image88.jpg"/><Relationship Id="rId5" Type="http://schemas.openxmlformats.org/officeDocument/2006/relationships/image" Target="../media/image24.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89.jpg"/><Relationship Id="rId5"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90.jpg"/><Relationship Id="rId5" Type="http://schemas.openxmlformats.org/officeDocument/2006/relationships/image" Target="../media/image2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91.jpg"/><Relationship Id="rId5" Type="http://schemas.openxmlformats.org/officeDocument/2006/relationships/image" Target="../media/image24.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6.png"/><Relationship Id="rId3" Type="http://schemas.openxmlformats.org/officeDocument/2006/relationships/image" Target="../media/image5.jpg"/><Relationship Id="rId4" Type="http://schemas.openxmlformats.org/officeDocument/2006/relationships/image" Target="../media/image92.jpg"/><Relationship Id="rId5" Type="http://schemas.openxmlformats.org/officeDocument/2006/relationships/image" Target="../media/image24.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3.jpg"/><Relationship Id="rId3" Type="http://schemas.openxmlformats.org/officeDocument/2006/relationships/image" Target="../media/image2.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5.jpg"/><Relationship Id="rId4" Type="http://schemas.openxmlformats.org/officeDocument/2006/relationships/image" Target="../media/image15.png"/><Relationship Id="rId5" Type="http://schemas.openxmlformats.org/officeDocument/2006/relationships/image" Target="../media/image14.png"/><Relationship Id="rId6" Type="http://schemas.openxmlformats.org/officeDocument/2006/relationships/image" Target="../media/image95.png"/><Relationship Id="rId7" Type="http://schemas.openxmlformats.org/officeDocument/2006/relationships/image" Target="../media/image96.png"/><Relationship Id="rId8" Type="http://schemas.openxmlformats.org/officeDocument/2006/relationships/image" Target="../media/image28.png"/><Relationship Id="rId9" Type="http://schemas.openxmlformats.org/officeDocument/2006/relationships/image" Target="../media/image41.png"/><Relationship Id="rId10" Type="http://schemas.openxmlformats.org/officeDocument/2006/relationships/image" Target="../media/image12.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4.png"/><Relationship Id="rId3" Type="http://schemas.openxmlformats.org/officeDocument/2006/relationships/image" Target="../media/image5.jpg"/><Relationship Id="rId4" Type="http://schemas.openxmlformats.org/officeDocument/2006/relationships/image" Target="../media/image85.png"/><Relationship Id="rId5" Type="http://schemas.openxmlformats.org/officeDocument/2006/relationships/image" Target="../media/image25.png"/><Relationship Id="rId6" Type="http://schemas.openxmlformats.org/officeDocument/2006/relationships/image" Target="../media/image97.png"/><Relationship Id="rId7" Type="http://schemas.openxmlformats.org/officeDocument/2006/relationships/image" Target="../media/image98.png"/><Relationship Id="rId8" Type="http://schemas.openxmlformats.org/officeDocument/2006/relationships/image" Target="../media/image84.png"/><Relationship Id="rId9" Type="http://schemas.openxmlformats.org/officeDocument/2006/relationships/image" Target="../media/image99.png"/><Relationship Id="rId10" Type="http://schemas.openxmlformats.org/officeDocument/2006/relationships/image" Target="../media/image15.png"/><Relationship Id="rId11" Type="http://schemas.openxmlformats.org/officeDocument/2006/relationships/image" Target="../media/image10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 Id="rId3" Type="http://schemas.openxmlformats.org/officeDocument/2006/relationships/image" Target="../media/image5.jpg"/><Relationship Id="rId4" Type="http://schemas.openxmlformats.org/officeDocument/2006/relationships/image" Target="../media/image101.jpg"/><Relationship Id="rId5" Type="http://schemas.openxmlformats.org/officeDocument/2006/relationships/image" Target="../media/image77.png"/><Relationship Id="rId6" Type="http://schemas.openxmlformats.org/officeDocument/2006/relationships/image" Target="../media/image14.png"/><Relationship Id="rId7" Type="http://schemas.openxmlformats.org/officeDocument/2006/relationships/image" Target="../media/image30.png"/><Relationship Id="rId8" Type="http://schemas.openxmlformats.org/officeDocument/2006/relationships/image" Target="../media/image95.png"/><Relationship Id="rId9" Type="http://schemas.openxmlformats.org/officeDocument/2006/relationships/image" Target="../media/image100.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ap_900_1.7779527559055117.jpg"/>
          <p:cNvPicPr>
            <a:picLocks noChangeAspect="1"/>
          </p:cNvPicPr>
          <p:nvPr/>
        </p:nvPicPr>
        <p:blipFill>
          <a:blip r:embed="rId2"/>
          <a:stretch>
            <a:fillRect/>
          </a:stretch>
        </p:blipFill>
        <p:spPr>
          <a:xfrm>
            <a:off x="0" y="0"/>
            <a:ext cx="12193200" cy="6858000"/>
          </a:xfrm>
          <a:prstGeom prst="rect">
            <a:avLst/>
          </a:prstGeom>
        </p:spPr>
      </p:pic>
      <p:sp>
        <p:nvSpPr>
          <p:cNvPr id="3" name="Rectangle 2"/>
          <p:cNvSpPr/>
          <p:nvPr/>
        </p:nvSpPr>
        <p:spPr>
          <a:xfrm>
            <a:off x="0" y="0"/>
            <a:ext cx="70200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7020000" y="0"/>
            <a:ext cx="5173200" cy="6858000"/>
          </a:xfrm>
          <a:prstGeom prst="rect">
            <a:avLst/>
          </a:prstGeom>
          <a:solidFill>
            <a:srgbClr val="062A26">
              <a:alpha val="3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04_logo_piste-A_fond-sombre_900_None.jpg"/>
          <p:cNvPicPr>
            <a:picLocks noChangeAspect="1"/>
          </p:cNvPicPr>
          <p:nvPr/>
        </p:nvPicPr>
        <p:blipFill>
          <a:blip r:embed="rId3"/>
          <a:stretch>
            <a:fillRect/>
          </a:stretch>
        </p:blipFill>
        <p:spPr>
          <a:xfrm>
            <a:off x="216000" y="503999"/>
            <a:ext cx="6300000" cy="3542000"/>
          </a:xfrm>
          <a:prstGeom prst="rect">
            <a:avLst/>
          </a:prstGeom>
        </p:spPr>
      </p:pic>
      <p:sp>
        <p:nvSpPr>
          <p:cNvPr id="6" name="TextBox 5"/>
          <p:cNvSpPr txBox="1"/>
          <p:nvPr/>
        </p:nvSpPr>
        <p:spPr>
          <a:xfrm>
            <a:off x="540000" y="4031999"/>
            <a:ext cx="6120000" cy="720000"/>
          </a:xfrm>
          <a:prstGeom prst="rect">
            <a:avLst/>
          </a:prstGeom>
          <a:noFill/>
        </p:spPr>
        <p:txBody>
          <a:bodyPr wrap="square" lIns="36000" rIns="36000" tIns="18000" bIns="18000">
            <a:spAutoFit/>
          </a:bodyPr>
          <a:lstStyle/>
          <a:p>
            <a:pPr>
              <a:spcAft>
                <a:spcPts val="300"/>
              </a:spcAft>
            </a:pPr>
            <a:r>
              <a:rPr sz="3000" b="1">
                <a:solidFill>
                  <a:srgbClr val="FFFFFF"/>
                </a:solidFill>
                <a:latin typeface="Saira"/>
              </a:rPr>
              <a:t>Plan réseaux sociaux de lancement</a:t>
            </a:r>
          </a:p>
        </p:txBody>
      </p:sp>
      <p:sp>
        <p:nvSpPr>
          <p:cNvPr id="7" name="TextBox 6"/>
          <p:cNvSpPr txBox="1"/>
          <p:nvPr/>
        </p:nvSpPr>
        <p:spPr>
          <a:xfrm>
            <a:off x="540000" y="4896000"/>
            <a:ext cx="6120000" cy="936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Identité, publications, flyers, invitation officielle, plan de masse et vues 3D</a:t>
            </a:r>
          </a:p>
        </p:txBody>
      </p:sp>
      <p:sp>
        <p:nvSpPr>
          <p:cNvPr id="8" name="Rectangle 7"/>
          <p:cNvSpPr/>
          <p:nvPr/>
        </p:nvSpPr>
        <p:spPr>
          <a:xfrm>
            <a:off x="540000" y="5868000"/>
            <a:ext cx="1800000" cy="36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0000" y="5976000"/>
            <a:ext cx="6120000" cy="540000"/>
          </a:xfrm>
          <a:prstGeom prst="rect">
            <a:avLst/>
          </a:prstGeom>
          <a:noFill/>
        </p:spPr>
        <p:txBody>
          <a:bodyPr wrap="square" lIns="36000" rIns="36000" tIns="18000" bIns="18000">
            <a:spAutoFit/>
          </a:bodyPr>
          <a:lstStyle/>
          <a:p>
            <a:pPr>
              <a:spcAft>
                <a:spcPts val="300"/>
              </a:spcAft>
            </a:pPr>
            <a:r>
              <a:rPr sz="1100" b="1">
                <a:solidFill>
                  <a:srgbClr val="FF8A00"/>
                </a:solidFill>
                <a:latin typeface="Inter"/>
              </a:rPr>
              <a:t>Ministère de la Transition Numérique et de l'Innovation Technologique · octobre 2026</a:t>
            </a:r>
          </a:p>
        </p:txBody>
      </p:sp>
      <p:sp>
        <p:nvSpPr>
          <p:cNvPr id="10" name="Rounded Rectangle 9"/>
          <p:cNvSpPr/>
          <p:nvPr/>
        </p:nvSpPr>
        <p:spPr>
          <a:xfrm>
            <a:off x="10332000" y="288000"/>
            <a:ext cx="1548000" cy="57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logo-ministere.jpg"/>
          <p:cNvPicPr>
            <a:picLocks noChangeAspect="1"/>
          </p:cNvPicPr>
          <p:nvPr/>
        </p:nvPicPr>
        <p:blipFill>
          <a:blip r:embed="rId4"/>
          <a:stretch>
            <a:fillRect/>
          </a:stretch>
        </p:blipFill>
        <p:spPr>
          <a:xfrm>
            <a:off x="10386000" y="324000"/>
            <a:ext cx="1440000" cy="503999"/>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ecklist.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Sommaire</a:t>
            </a:r>
          </a:p>
        </p:txBody>
      </p:sp>
      <p:pic>
        <p:nvPicPr>
          <p:cNvPr id="8" name="Picture 7"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9" name="Rounded Rectangle 8"/>
          <p:cNvSpPr/>
          <p:nvPr/>
        </p:nvSpPr>
        <p:spPr>
          <a:xfrm>
            <a:off x="468000" y="1548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000" y="1673999"/>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01</a:t>
            </a:r>
          </a:p>
        </p:txBody>
      </p:sp>
      <p:pic>
        <p:nvPicPr>
          <p:cNvPr id="11" name="Picture 10" descr="rocket.png"/>
          <p:cNvPicPr>
            <a:picLocks noChangeAspect="1"/>
          </p:cNvPicPr>
          <p:nvPr/>
        </p:nvPicPr>
        <p:blipFill>
          <a:blip r:embed="rId4"/>
          <a:stretch>
            <a:fillRect/>
          </a:stretch>
        </p:blipFill>
        <p:spPr>
          <a:xfrm>
            <a:off x="1332000" y="1763999"/>
            <a:ext cx="432000" cy="432000"/>
          </a:xfrm>
          <a:prstGeom prst="rect">
            <a:avLst/>
          </a:prstGeom>
        </p:spPr>
      </p:pic>
      <p:sp>
        <p:nvSpPr>
          <p:cNvPr id="12" name="TextBox 11"/>
          <p:cNvSpPr txBox="1"/>
          <p:nvPr/>
        </p:nvSpPr>
        <p:spPr>
          <a:xfrm>
            <a:off x="1943999" y="1655999"/>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Identité</a:t>
            </a:r>
          </a:p>
        </p:txBody>
      </p:sp>
      <p:sp>
        <p:nvSpPr>
          <p:cNvPr id="13" name="TextBox 12"/>
          <p:cNvSpPr txBox="1"/>
          <p:nvPr/>
        </p:nvSpPr>
        <p:spPr>
          <a:xfrm>
            <a:off x="1943999" y="1998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Trois pistes de logo, déclinaisons</a:t>
            </a:r>
          </a:p>
        </p:txBody>
      </p:sp>
      <p:sp>
        <p:nvSpPr>
          <p:cNvPr id="14" name="Rounded Rectangle 13"/>
          <p:cNvSpPr/>
          <p:nvPr/>
        </p:nvSpPr>
        <p:spPr>
          <a:xfrm>
            <a:off x="6264000" y="1548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8000" y="1673999"/>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02</a:t>
            </a:r>
          </a:p>
        </p:txBody>
      </p:sp>
      <p:pic>
        <p:nvPicPr>
          <p:cNvPr id="16" name="Picture 15" descr="target.png"/>
          <p:cNvPicPr>
            <a:picLocks noChangeAspect="1"/>
          </p:cNvPicPr>
          <p:nvPr/>
        </p:nvPicPr>
        <p:blipFill>
          <a:blip r:embed="rId5"/>
          <a:stretch>
            <a:fillRect/>
          </a:stretch>
        </p:blipFill>
        <p:spPr>
          <a:xfrm>
            <a:off x="7128000" y="1763999"/>
            <a:ext cx="432000" cy="432000"/>
          </a:xfrm>
          <a:prstGeom prst="rect">
            <a:avLst/>
          </a:prstGeom>
        </p:spPr>
      </p:pic>
      <p:sp>
        <p:nvSpPr>
          <p:cNvPr id="17" name="TextBox 16"/>
          <p:cNvSpPr txBox="1"/>
          <p:nvPr/>
        </p:nvSpPr>
        <p:spPr>
          <a:xfrm>
            <a:off x="7740000" y="1655999"/>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Objectifs et cibles</a:t>
            </a:r>
          </a:p>
        </p:txBody>
      </p:sp>
      <p:sp>
        <p:nvSpPr>
          <p:cNvPr id="18" name="TextBox 17"/>
          <p:cNvSpPr txBox="1"/>
          <p:nvPr/>
        </p:nvSpPr>
        <p:spPr>
          <a:xfrm>
            <a:off x="7740000" y="1998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Ce que le lancement doit produire</a:t>
            </a:r>
          </a:p>
        </p:txBody>
      </p:sp>
      <p:sp>
        <p:nvSpPr>
          <p:cNvPr id="19" name="Rounded Rectangle 18"/>
          <p:cNvSpPr/>
          <p:nvPr/>
        </p:nvSpPr>
        <p:spPr>
          <a:xfrm>
            <a:off x="468000" y="2574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000" y="2700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03</a:t>
            </a:r>
          </a:p>
        </p:txBody>
      </p:sp>
      <p:pic>
        <p:nvPicPr>
          <p:cNvPr id="21" name="Picture 20" descr="speakerphone.png"/>
          <p:cNvPicPr>
            <a:picLocks noChangeAspect="1"/>
          </p:cNvPicPr>
          <p:nvPr/>
        </p:nvPicPr>
        <p:blipFill>
          <a:blip r:embed="rId6"/>
          <a:stretch>
            <a:fillRect/>
          </a:stretch>
        </p:blipFill>
        <p:spPr>
          <a:xfrm>
            <a:off x="1332000" y="2790000"/>
            <a:ext cx="432000" cy="432000"/>
          </a:xfrm>
          <a:prstGeom prst="rect">
            <a:avLst/>
          </a:prstGeom>
        </p:spPr>
      </p:pic>
      <p:sp>
        <p:nvSpPr>
          <p:cNvPr id="22" name="TextBox 21"/>
          <p:cNvSpPr txBox="1"/>
          <p:nvPr/>
        </p:nvSpPr>
        <p:spPr>
          <a:xfrm>
            <a:off x="1943999" y="2682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Messages</a:t>
            </a:r>
          </a:p>
        </p:txBody>
      </p:sp>
      <p:sp>
        <p:nvSpPr>
          <p:cNvPr id="23" name="TextBox 22"/>
          <p:cNvSpPr txBox="1"/>
          <p:nvPr/>
        </p:nvSpPr>
        <p:spPr>
          <a:xfrm>
            <a:off x="1943999" y="3024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Cinq idées à répéter</a:t>
            </a:r>
          </a:p>
        </p:txBody>
      </p:sp>
      <p:sp>
        <p:nvSpPr>
          <p:cNvPr id="24" name="Rounded Rectangle 23"/>
          <p:cNvSpPr/>
          <p:nvPr/>
        </p:nvSpPr>
        <p:spPr>
          <a:xfrm>
            <a:off x="6264000" y="2574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8000" y="2700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04</a:t>
            </a:r>
          </a:p>
        </p:txBody>
      </p:sp>
      <p:pic>
        <p:nvPicPr>
          <p:cNvPr id="26" name="Picture 25" descr="brand-linkedin.png"/>
          <p:cNvPicPr>
            <a:picLocks noChangeAspect="1"/>
          </p:cNvPicPr>
          <p:nvPr/>
        </p:nvPicPr>
        <p:blipFill>
          <a:blip r:embed="rId7"/>
          <a:stretch>
            <a:fillRect/>
          </a:stretch>
        </p:blipFill>
        <p:spPr>
          <a:xfrm>
            <a:off x="7128000" y="2790000"/>
            <a:ext cx="432000" cy="432000"/>
          </a:xfrm>
          <a:prstGeom prst="rect">
            <a:avLst/>
          </a:prstGeom>
        </p:spPr>
      </p:pic>
      <p:sp>
        <p:nvSpPr>
          <p:cNvPr id="27" name="TextBox 26"/>
          <p:cNvSpPr txBox="1"/>
          <p:nvPr/>
        </p:nvSpPr>
        <p:spPr>
          <a:xfrm>
            <a:off x="7740000" y="2682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Canaux et rythme</a:t>
            </a:r>
          </a:p>
        </p:txBody>
      </p:sp>
      <p:sp>
        <p:nvSpPr>
          <p:cNvPr id="28" name="TextBox 27"/>
          <p:cNvSpPr txBox="1"/>
          <p:nvPr/>
        </p:nvSpPr>
        <p:spPr>
          <a:xfrm>
            <a:off x="7740000" y="3024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Qui fait quoi, quand</a:t>
            </a:r>
          </a:p>
        </p:txBody>
      </p:sp>
      <p:sp>
        <p:nvSpPr>
          <p:cNvPr id="29" name="Rounded Rectangle 28"/>
          <p:cNvSpPr/>
          <p:nvPr/>
        </p:nvSpPr>
        <p:spPr>
          <a:xfrm>
            <a:off x="468000" y="3600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12000" y="3726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05</a:t>
            </a:r>
          </a:p>
        </p:txBody>
      </p:sp>
      <p:pic>
        <p:nvPicPr>
          <p:cNvPr id="31" name="Picture 30" descr="calendar-event.png"/>
          <p:cNvPicPr>
            <a:picLocks noChangeAspect="1"/>
          </p:cNvPicPr>
          <p:nvPr/>
        </p:nvPicPr>
        <p:blipFill>
          <a:blip r:embed="rId8"/>
          <a:stretch>
            <a:fillRect/>
          </a:stretch>
        </p:blipFill>
        <p:spPr>
          <a:xfrm>
            <a:off x="1332000" y="3816000"/>
            <a:ext cx="432000" cy="432000"/>
          </a:xfrm>
          <a:prstGeom prst="rect">
            <a:avLst/>
          </a:prstGeom>
        </p:spPr>
      </p:pic>
      <p:sp>
        <p:nvSpPr>
          <p:cNvPr id="32" name="TextBox 31"/>
          <p:cNvSpPr txBox="1"/>
          <p:nvPr/>
        </p:nvSpPr>
        <p:spPr>
          <a:xfrm>
            <a:off x="1943999" y="3708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Calendrier</a:t>
            </a:r>
          </a:p>
        </p:txBody>
      </p:sp>
      <p:sp>
        <p:nvSpPr>
          <p:cNvPr id="33" name="TextBox 32"/>
          <p:cNvSpPr txBox="1"/>
          <p:nvPr/>
        </p:nvSpPr>
        <p:spPr>
          <a:xfrm>
            <a:off x="1943999" y="4050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Dix publications, janvier et février</a:t>
            </a:r>
          </a:p>
        </p:txBody>
      </p:sp>
      <p:sp>
        <p:nvSpPr>
          <p:cNvPr id="34" name="Rounded Rectangle 33"/>
          <p:cNvSpPr/>
          <p:nvPr/>
        </p:nvSpPr>
        <p:spPr>
          <a:xfrm>
            <a:off x="6264000" y="3600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408000" y="3726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06</a:t>
            </a:r>
          </a:p>
        </p:txBody>
      </p:sp>
      <p:pic>
        <p:nvPicPr>
          <p:cNvPr id="36" name="Picture 35" descr="camera.png"/>
          <p:cNvPicPr>
            <a:picLocks noChangeAspect="1"/>
          </p:cNvPicPr>
          <p:nvPr/>
        </p:nvPicPr>
        <p:blipFill>
          <a:blip r:embed="rId9"/>
          <a:stretch>
            <a:fillRect/>
          </a:stretch>
        </p:blipFill>
        <p:spPr>
          <a:xfrm>
            <a:off x="7128000" y="3816000"/>
            <a:ext cx="432000" cy="432000"/>
          </a:xfrm>
          <a:prstGeom prst="rect">
            <a:avLst/>
          </a:prstGeom>
        </p:spPr>
      </p:pic>
      <p:sp>
        <p:nvSpPr>
          <p:cNvPr id="37" name="TextBox 36"/>
          <p:cNvSpPr txBox="1"/>
          <p:nvPr/>
        </p:nvSpPr>
        <p:spPr>
          <a:xfrm>
            <a:off x="7740000" y="3708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Publications</a:t>
            </a:r>
          </a:p>
        </p:txBody>
      </p:sp>
      <p:sp>
        <p:nvSpPr>
          <p:cNvPr id="38" name="TextBox 37"/>
          <p:cNvSpPr txBox="1"/>
          <p:nvPr/>
        </p:nvSpPr>
        <p:spPr>
          <a:xfrm>
            <a:off x="7740000" y="4050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Visuel et texte de chacune</a:t>
            </a:r>
          </a:p>
        </p:txBody>
      </p:sp>
      <p:sp>
        <p:nvSpPr>
          <p:cNvPr id="39" name="Rounded Rectangle 38"/>
          <p:cNvSpPr/>
          <p:nvPr/>
        </p:nvSpPr>
        <p:spPr>
          <a:xfrm>
            <a:off x="468000" y="4626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12000" y="4752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07</a:t>
            </a:r>
          </a:p>
        </p:txBody>
      </p:sp>
      <p:pic>
        <p:nvPicPr>
          <p:cNvPr id="41" name="Picture 40" descr="news.png"/>
          <p:cNvPicPr>
            <a:picLocks noChangeAspect="1"/>
          </p:cNvPicPr>
          <p:nvPr/>
        </p:nvPicPr>
        <p:blipFill>
          <a:blip r:embed="rId10"/>
          <a:stretch>
            <a:fillRect/>
          </a:stretch>
        </p:blipFill>
        <p:spPr>
          <a:xfrm>
            <a:off x="1332000" y="4842000"/>
            <a:ext cx="432000" cy="432000"/>
          </a:xfrm>
          <a:prstGeom prst="rect">
            <a:avLst/>
          </a:prstGeom>
        </p:spPr>
      </p:pic>
      <p:sp>
        <p:nvSpPr>
          <p:cNvPr id="42" name="TextBox 41"/>
          <p:cNvSpPr txBox="1"/>
          <p:nvPr/>
        </p:nvSpPr>
        <p:spPr>
          <a:xfrm>
            <a:off x="1943999" y="4734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Flyers</a:t>
            </a:r>
          </a:p>
        </p:txBody>
      </p:sp>
      <p:sp>
        <p:nvSpPr>
          <p:cNvPr id="43" name="TextBox 42"/>
          <p:cNvSpPr txBox="1"/>
          <p:nvPr/>
        </p:nvSpPr>
        <p:spPr>
          <a:xfrm>
            <a:off x="1943999" y="5076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Participants et partenaires</a:t>
            </a:r>
          </a:p>
        </p:txBody>
      </p:sp>
      <p:sp>
        <p:nvSpPr>
          <p:cNvPr id="44" name="Rounded Rectangle 43"/>
          <p:cNvSpPr/>
          <p:nvPr/>
        </p:nvSpPr>
        <p:spPr>
          <a:xfrm>
            <a:off x="6264000" y="4626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6408000" y="4752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08</a:t>
            </a:r>
          </a:p>
        </p:txBody>
      </p:sp>
      <p:pic>
        <p:nvPicPr>
          <p:cNvPr id="46" name="Picture 45" descr="mail.png"/>
          <p:cNvPicPr>
            <a:picLocks noChangeAspect="1"/>
          </p:cNvPicPr>
          <p:nvPr/>
        </p:nvPicPr>
        <p:blipFill>
          <a:blip r:embed="rId11"/>
          <a:stretch>
            <a:fillRect/>
          </a:stretch>
        </p:blipFill>
        <p:spPr>
          <a:xfrm>
            <a:off x="7128000" y="4842000"/>
            <a:ext cx="432000" cy="432000"/>
          </a:xfrm>
          <a:prstGeom prst="rect">
            <a:avLst/>
          </a:prstGeom>
        </p:spPr>
      </p:pic>
      <p:sp>
        <p:nvSpPr>
          <p:cNvPr id="47" name="TextBox 46"/>
          <p:cNvSpPr txBox="1"/>
          <p:nvPr/>
        </p:nvSpPr>
        <p:spPr>
          <a:xfrm>
            <a:off x="7740000" y="4734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Invitation officielle</a:t>
            </a:r>
          </a:p>
        </p:txBody>
      </p:sp>
      <p:sp>
        <p:nvSpPr>
          <p:cNvPr id="48" name="TextBox 47"/>
          <p:cNvSpPr txBox="1"/>
          <p:nvPr/>
        </p:nvSpPr>
        <p:spPr>
          <a:xfrm>
            <a:off x="7740000" y="5076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Carton, version numérique, courriers</a:t>
            </a:r>
          </a:p>
        </p:txBody>
      </p:sp>
      <p:sp>
        <p:nvSpPr>
          <p:cNvPr id="49" name="Rounded Rectangle 48"/>
          <p:cNvSpPr/>
          <p:nvPr/>
        </p:nvSpPr>
        <p:spPr>
          <a:xfrm>
            <a:off x="468000" y="5652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12000" y="5778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09</a:t>
            </a:r>
          </a:p>
        </p:txBody>
      </p:sp>
      <p:pic>
        <p:nvPicPr>
          <p:cNvPr id="51" name="Picture 50" descr="map-pin.png"/>
          <p:cNvPicPr>
            <a:picLocks noChangeAspect="1"/>
          </p:cNvPicPr>
          <p:nvPr/>
        </p:nvPicPr>
        <p:blipFill>
          <a:blip r:embed="rId12"/>
          <a:stretch>
            <a:fillRect/>
          </a:stretch>
        </p:blipFill>
        <p:spPr>
          <a:xfrm>
            <a:off x="1332000" y="5868000"/>
            <a:ext cx="432000" cy="432000"/>
          </a:xfrm>
          <a:prstGeom prst="rect">
            <a:avLst/>
          </a:prstGeom>
        </p:spPr>
      </p:pic>
      <p:sp>
        <p:nvSpPr>
          <p:cNvPr id="52" name="TextBox 51"/>
          <p:cNvSpPr txBox="1"/>
          <p:nvPr/>
        </p:nvSpPr>
        <p:spPr>
          <a:xfrm>
            <a:off x="1943999" y="5760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Plan de masse et 3D</a:t>
            </a:r>
          </a:p>
        </p:txBody>
      </p:sp>
      <p:sp>
        <p:nvSpPr>
          <p:cNvPr id="53" name="TextBox 52"/>
          <p:cNvSpPr txBox="1"/>
          <p:nvPr/>
        </p:nvSpPr>
        <p:spPr>
          <a:xfrm>
            <a:off x="1943999" y="6102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Six vues de l'espace</a:t>
            </a:r>
          </a:p>
        </p:txBody>
      </p:sp>
      <p:sp>
        <p:nvSpPr>
          <p:cNvPr id="54" name="Rounded Rectangle 53"/>
          <p:cNvSpPr/>
          <p:nvPr/>
        </p:nvSpPr>
        <p:spPr>
          <a:xfrm>
            <a:off x="6264000" y="5652000"/>
            <a:ext cx="5544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6408000" y="5778000"/>
            <a:ext cx="576000" cy="648000"/>
          </a:xfrm>
          <a:prstGeom prst="rect">
            <a:avLst/>
          </a:prstGeom>
          <a:noFill/>
        </p:spPr>
        <p:txBody>
          <a:bodyPr wrap="square" lIns="36000" rIns="36000" tIns="18000" bIns="18000">
            <a:spAutoFit/>
          </a:bodyPr>
          <a:lstStyle/>
          <a:p>
            <a:pPr>
              <a:spcAft>
                <a:spcPts val="300"/>
              </a:spcAft>
            </a:pPr>
            <a:r>
              <a:rPr sz="2200" b="1">
                <a:solidFill>
                  <a:srgbClr val="FF8A00"/>
                </a:solidFill>
                <a:latin typeface="Saira"/>
              </a:rPr>
              <a:t>10</a:t>
            </a:r>
          </a:p>
        </p:txBody>
      </p:sp>
      <p:pic>
        <p:nvPicPr>
          <p:cNvPr id="56" name="Picture 55" descr="alert-triangle.png"/>
          <p:cNvPicPr>
            <a:picLocks noChangeAspect="1"/>
          </p:cNvPicPr>
          <p:nvPr/>
        </p:nvPicPr>
        <p:blipFill>
          <a:blip r:embed="rId13"/>
          <a:stretch>
            <a:fillRect/>
          </a:stretch>
        </p:blipFill>
        <p:spPr>
          <a:xfrm>
            <a:off x="7128000" y="5868000"/>
            <a:ext cx="432000" cy="432000"/>
          </a:xfrm>
          <a:prstGeom prst="rect">
            <a:avLst/>
          </a:prstGeom>
        </p:spPr>
      </p:pic>
      <p:sp>
        <p:nvSpPr>
          <p:cNvPr id="57" name="TextBox 56"/>
          <p:cNvSpPr txBox="1"/>
          <p:nvPr/>
        </p:nvSpPr>
        <p:spPr>
          <a:xfrm>
            <a:off x="7740000" y="5760000"/>
            <a:ext cx="39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Autocritique</a:t>
            </a:r>
          </a:p>
        </p:txBody>
      </p:sp>
      <p:sp>
        <p:nvSpPr>
          <p:cNvPr id="58" name="TextBox 57"/>
          <p:cNvSpPr txBox="1"/>
          <p:nvPr/>
        </p:nvSpPr>
        <p:spPr>
          <a:xfrm>
            <a:off x="7740000" y="6102000"/>
            <a:ext cx="3960000" cy="36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Ce qui manque, ce qui est fragile</a:t>
            </a:r>
          </a:p>
        </p:txBody>
      </p:sp>
      <p:sp>
        <p:nvSpPr>
          <p:cNvPr id="59" name="TextBox 58"/>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 / 39</a:t>
            </a:r>
          </a:p>
        </p:txBody>
      </p:sp>
      <p:sp>
        <p:nvSpPr>
          <p:cNvPr id="60" name="TextBox 59"/>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woman_900_0.8398950131233596.jpg"/>
          <p:cNvPicPr>
            <a:picLocks noChangeAspect="1"/>
          </p:cNvPicPr>
          <p:nvPr/>
        </p:nvPicPr>
        <p:blipFill>
          <a:blip r:embed="rId2"/>
          <a:stretch>
            <a:fillRect/>
          </a:stretch>
        </p:blipFill>
        <p:spPr>
          <a:xfrm>
            <a:off x="6433200" y="0"/>
            <a:ext cx="5760000" cy="6858000"/>
          </a:xfrm>
          <a:prstGeom prst="rect">
            <a:avLst/>
          </a:prstGeom>
        </p:spPr>
      </p:pic>
      <p:sp>
        <p:nvSpPr>
          <p:cNvPr id="3" name="Rectangle 2"/>
          <p:cNvSpPr/>
          <p:nvPr/>
        </p:nvSpPr>
        <p:spPr>
          <a:xfrm>
            <a:off x="0" y="0"/>
            <a:ext cx="64332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2160000" cy="1080000"/>
          </a:xfrm>
          <a:prstGeom prst="rect">
            <a:avLst/>
          </a:prstGeom>
          <a:noFill/>
        </p:spPr>
        <p:txBody>
          <a:bodyPr wrap="square" lIns="36000" rIns="36000" tIns="18000" bIns="18000">
            <a:spAutoFit/>
          </a:bodyPr>
          <a:lstStyle/>
          <a:p>
            <a:pPr>
              <a:spcAft>
                <a:spcPts val="300"/>
              </a:spcAft>
            </a:pPr>
            <a:r>
              <a:rPr sz="7200" b="1">
                <a:solidFill>
                  <a:srgbClr val="FF8A00"/>
                </a:solidFill>
                <a:latin typeface="Saira"/>
              </a:rPr>
              <a:t>01</a:t>
            </a:r>
          </a:p>
        </p:txBody>
      </p:sp>
      <p:sp>
        <p:nvSpPr>
          <p:cNvPr id="5" name="TextBox 4"/>
          <p:cNvSpPr txBox="1"/>
          <p:nvPr/>
        </p:nvSpPr>
        <p:spPr>
          <a:xfrm>
            <a:off x="648000" y="3096000"/>
            <a:ext cx="5400000" cy="1080000"/>
          </a:xfrm>
          <a:prstGeom prst="rect">
            <a:avLst/>
          </a:prstGeom>
          <a:noFill/>
        </p:spPr>
        <p:txBody>
          <a:bodyPr wrap="square" lIns="36000" rIns="36000" tIns="18000" bIns="18000">
            <a:spAutoFit/>
          </a:bodyPr>
          <a:lstStyle/>
          <a:p>
            <a:pPr>
              <a:spcAft>
                <a:spcPts val="300"/>
              </a:spcAft>
            </a:pPr>
            <a:r>
              <a:rPr sz="3400" b="1">
                <a:solidFill>
                  <a:srgbClr val="FFFFFF"/>
                </a:solidFill>
                <a:latin typeface="Saira"/>
              </a:rPr>
              <a:t>Identité</a:t>
            </a:r>
          </a:p>
        </p:txBody>
      </p:sp>
      <p:sp>
        <p:nvSpPr>
          <p:cNvPr id="6" name="TextBox 5"/>
          <p:cNvSpPr txBox="1"/>
          <p:nvPr/>
        </p:nvSpPr>
        <p:spPr>
          <a:xfrm>
            <a:off x="648000" y="4176000"/>
            <a:ext cx="5220000" cy="1080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Trois pistes de logo, une recommandation et ses déclinaisons.</a:t>
            </a:r>
          </a:p>
        </p:txBody>
      </p:sp>
      <p:pic>
        <p:nvPicPr>
          <p:cNvPr id="7" name="Picture 6" descr="04_logo_piste-A_fond-sombre_900_None.jpg"/>
          <p:cNvPicPr>
            <a:picLocks noChangeAspect="1"/>
          </p:cNvPicPr>
          <p:nvPr/>
        </p:nvPicPr>
        <p:blipFill>
          <a:blip r:embed="rId3"/>
          <a:stretch>
            <a:fillRect/>
          </a:stretch>
        </p:blipFill>
        <p:spPr>
          <a:xfrm>
            <a:off x="324000" y="5544000"/>
            <a:ext cx="2880000" cy="1619200"/>
          </a:xfrm>
          <a:prstGeom prst="rect">
            <a:avLst/>
          </a:prstGeom>
        </p:spPr>
      </p:pic>
      <p:sp>
        <p:nvSpPr>
          <p:cNvPr id="8" name="TextBox 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BFE5DC"/>
                </a:solidFill>
                <a:latin typeface="Inter"/>
              </a:rPr>
              <a:t>3 / 39</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ulb.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IDENTITÉ</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Trois pistes de logo</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512000"/>
            <a:ext cx="3600000" cy="453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01_logo_piste-A_chevrons_720_None.jpg"/>
          <p:cNvPicPr>
            <a:picLocks noChangeAspect="1"/>
          </p:cNvPicPr>
          <p:nvPr/>
        </p:nvPicPr>
        <p:blipFill>
          <a:blip r:embed="rId4"/>
          <a:stretch>
            <a:fillRect/>
          </a:stretch>
        </p:blipFill>
        <p:spPr>
          <a:xfrm>
            <a:off x="576000" y="1655999"/>
            <a:ext cx="3384000" cy="1903500"/>
          </a:xfrm>
          <a:prstGeom prst="rect">
            <a:avLst/>
          </a:prstGeom>
        </p:spPr>
      </p:pic>
      <p:sp>
        <p:nvSpPr>
          <p:cNvPr id="12" name="Rounded Rectangle 11"/>
          <p:cNvSpPr/>
          <p:nvPr/>
        </p:nvSpPr>
        <p:spPr>
          <a:xfrm>
            <a:off x="2736000" y="1584000"/>
            <a:ext cx="1260000" cy="32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736000" y="1602000"/>
            <a:ext cx="1260000" cy="288000"/>
          </a:xfrm>
          <a:prstGeom prst="rect">
            <a:avLst/>
          </a:prstGeom>
          <a:noFill/>
        </p:spPr>
        <p:txBody>
          <a:bodyPr wrap="square" lIns="36000" rIns="36000" tIns="18000" bIns="18000">
            <a:spAutoFit/>
          </a:bodyPr>
          <a:lstStyle/>
          <a:p>
            <a:pPr algn="ctr">
              <a:spcAft>
                <a:spcPts val="300"/>
              </a:spcAft>
            </a:pPr>
            <a:r>
              <a:rPr sz="1000" b="1">
                <a:solidFill>
                  <a:srgbClr val="FFFFFF"/>
                </a:solidFill>
                <a:latin typeface="Saira"/>
              </a:rPr>
              <a:t>RECOMMANDÉE</a:t>
            </a:r>
          </a:p>
        </p:txBody>
      </p:sp>
      <p:sp>
        <p:nvSpPr>
          <p:cNvPr id="14" name="TextBox 13"/>
          <p:cNvSpPr txBox="1"/>
          <p:nvPr/>
        </p:nvSpPr>
        <p:spPr>
          <a:xfrm>
            <a:off x="684000" y="3708000"/>
            <a:ext cx="3240000" cy="360000"/>
          </a:xfrm>
          <a:prstGeom prst="rect">
            <a:avLst/>
          </a:prstGeom>
          <a:noFill/>
        </p:spPr>
        <p:txBody>
          <a:bodyPr wrap="square" lIns="36000" rIns="36000" tIns="18000" bIns="18000">
            <a:spAutoFit/>
          </a:bodyPr>
          <a:lstStyle/>
          <a:p>
            <a:pPr>
              <a:spcAft>
                <a:spcPts val="300"/>
              </a:spcAft>
            </a:pPr>
            <a:r>
              <a:rPr sz="1600" b="1">
                <a:solidFill>
                  <a:srgbClr val="FF8A00"/>
                </a:solidFill>
                <a:latin typeface="Saira"/>
              </a:rPr>
              <a:t>A · Chevrons</a:t>
            </a:r>
          </a:p>
        </p:txBody>
      </p:sp>
      <p:sp>
        <p:nvSpPr>
          <p:cNvPr id="15" name="TextBox 14"/>
          <p:cNvSpPr txBox="1"/>
          <p:nvPr/>
        </p:nvSpPr>
        <p:spPr>
          <a:xfrm>
            <a:off x="684000" y="4140000"/>
            <a:ext cx="3240000" cy="162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Reprend le dégradé et l'orange d'IMPACT IA. Lisible en petit. Recommandée.</a:t>
            </a:r>
          </a:p>
        </p:txBody>
      </p:sp>
      <p:sp>
        <p:nvSpPr>
          <p:cNvPr id="16" name="Rounded Rectangle 15"/>
          <p:cNvSpPr/>
          <p:nvPr/>
        </p:nvSpPr>
        <p:spPr>
          <a:xfrm>
            <a:off x="4284000" y="1512000"/>
            <a:ext cx="3600000" cy="453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02_logo_piste-B_trajectoire_720_None.jpg"/>
          <p:cNvPicPr>
            <a:picLocks noChangeAspect="1"/>
          </p:cNvPicPr>
          <p:nvPr/>
        </p:nvPicPr>
        <p:blipFill>
          <a:blip r:embed="rId5"/>
          <a:stretch>
            <a:fillRect/>
          </a:stretch>
        </p:blipFill>
        <p:spPr>
          <a:xfrm>
            <a:off x="4392000" y="1655999"/>
            <a:ext cx="3384000" cy="1903500"/>
          </a:xfrm>
          <a:prstGeom prst="rect">
            <a:avLst/>
          </a:prstGeom>
        </p:spPr>
      </p:pic>
      <p:sp>
        <p:nvSpPr>
          <p:cNvPr id="18" name="TextBox 17"/>
          <p:cNvSpPr txBox="1"/>
          <p:nvPr/>
        </p:nvSpPr>
        <p:spPr>
          <a:xfrm>
            <a:off x="4500000" y="3708000"/>
            <a:ext cx="3240000" cy="360000"/>
          </a:xfrm>
          <a:prstGeom prst="rect">
            <a:avLst/>
          </a:prstGeom>
          <a:noFill/>
        </p:spPr>
        <p:txBody>
          <a:bodyPr wrap="square" lIns="36000" rIns="36000" tIns="18000" bIns="18000">
            <a:spAutoFit/>
          </a:bodyPr>
          <a:lstStyle/>
          <a:p>
            <a:pPr>
              <a:spcAft>
                <a:spcPts val="300"/>
              </a:spcAft>
            </a:pPr>
            <a:r>
              <a:rPr sz="1600" b="1">
                <a:solidFill>
                  <a:srgbClr val="FF8A00"/>
                </a:solidFill>
                <a:latin typeface="Saira"/>
              </a:rPr>
              <a:t>B · Trajectoire</a:t>
            </a:r>
          </a:p>
        </p:txBody>
      </p:sp>
      <p:sp>
        <p:nvSpPr>
          <p:cNvPr id="19" name="TextBox 18"/>
          <p:cNvSpPr txBox="1"/>
          <p:nvPr/>
        </p:nvSpPr>
        <p:spPr>
          <a:xfrm>
            <a:off x="4500000" y="4140000"/>
            <a:ext cx="3240000" cy="162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Une courbe qui monte vers « IA ». Narrative, mieux en grand format.</a:t>
            </a:r>
          </a:p>
        </p:txBody>
      </p:sp>
      <p:sp>
        <p:nvSpPr>
          <p:cNvPr id="20" name="Rounded Rectangle 19"/>
          <p:cNvSpPr/>
          <p:nvPr/>
        </p:nvSpPr>
        <p:spPr>
          <a:xfrm>
            <a:off x="8100000" y="1512000"/>
            <a:ext cx="3600000" cy="4536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03_logo_piste-C_embleme_720_None.jpg"/>
          <p:cNvPicPr>
            <a:picLocks noChangeAspect="1"/>
          </p:cNvPicPr>
          <p:nvPr/>
        </p:nvPicPr>
        <p:blipFill>
          <a:blip r:embed="rId6"/>
          <a:stretch>
            <a:fillRect/>
          </a:stretch>
        </p:blipFill>
        <p:spPr>
          <a:xfrm>
            <a:off x="8208000" y="1655999"/>
            <a:ext cx="3384000" cy="1903500"/>
          </a:xfrm>
          <a:prstGeom prst="rect">
            <a:avLst/>
          </a:prstGeom>
        </p:spPr>
      </p:pic>
      <p:sp>
        <p:nvSpPr>
          <p:cNvPr id="22" name="TextBox 21"/>
          <p:cNvSpPr txBox="1"/>
          <p:nvPr/>
        </p:nvSpPr>
        <p:spPr>
          <a:xfrm>
            <a:off x="8316000" y="3708000"/>
            <a:ext cx="3240000" cy="360000"/>
          </a:xfrm>
          <a:prstGeom prst="rect">
            <a:avLst/>
          </a:prstGeom>
          <a:noFill/>
        </p:spPr>
        <p:txBody>
          <a:bodyPr wrap="square" lIns="36000" rIns="36000" tIns="18000" bIns="18000">
            <a:spAutoFit/>
          </a:bodyPr>
          <a:lstStyle/>
          <a:p>
            <a:pPr>
              <a:spcAft>
                <a:spcPts val="300"/>
              </a:spcAft>
            </a:pPr>
            <a:r>
              <a:rPr sz="1600" b="1">
                <a:solidFill>
                  <a:srgbClr val="FF8A00"/>
                </a:solidFill>
                <a:latin typeface="Saira"/>
              </a:rPr>
              <a:t>C · Emblème</a:t>
            </a:r>
          </a:p>
        </p:txBody>
      </p:sp>
      <p:sp>
        <p:nvSpPr>
          <p:cNvPr id="23" name="TextBox 22"/>
          <p:cNvSpPr txBox="1"/>
          <p:nvPr/>
        </p:nvSpPr>
        <p:spPr>
          <a:xfrm>
            <a:off x="8316000" y="4140000"/>
            <a:ext cx="3240000" cy="162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Un « A » en flèche, utilisable seul en avatar ou en tampon.</a:t>
            </a:r>
          </a:p>
        </p:txBody>
      </p:sp>
      <p:sp>
        <p:nvSpPr>
          <p:cNvPr id="24" name="TextBox 23"/>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4 / 39</a:t>
            </a:r>
          </a:p>
        </p:txBody>
      </p:sp>
      <p:sp>
        <p:nvSpPr>
          <p:cNvPr id="25" name="TextBox 24"/>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cket.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IDENTITÉ</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Piste A : déclinaisons et palette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04_logo_piste-A_fond-sombre_880_None.jpg"/>
          <p:cNvPicPr>
            <a:picLocks noChangeAspect="1"/>
          </p:cNvPicPr>
          <p:nvPr/>
        </p:nvPicPr>
        <p:blipFill>
          <a:blip r:embed="rId4"/>
          <a:stretch>
            <a:fillRect/>
          </a:stretch>
        </p:blipFill>
        <p:spPr>
          <a:xfrm>
            <a:off x="468000" y="1512000"/>
            <a:ext cx="5580000" cy="3138750"/>
          </a:xfrm>
          <a:prstGeom prst="rect">
            <a:avLst/>
          </a:prstGeom>
        </p:spPr>
      </p:pic>
      <p:pic>
        <p:nvPicPr>
          <p:cNvPr id="11" name="Picture 10" descr="05_avatar-reseaux_480_None.jpg"/>
          <p:cNvPicPr>
            <a:picLocks noChangeAspect="1"/>
          </p:cNvPicPr>
          <p:nvPr/>
        </p:nvPicPr>
        <p:blipFill>
          <a:blip r:embed="rId5"/>
          <a:stretch>
            <a:fillRect/>
          </a:stretch>
        </p:blipFill>
        <p:spPr>
          <a:xfrm>
            <a:off x="6228000" y="1512000"/>
            <a:ext cx="3131999" cy="3131999"/>
          </a:xfrm>
          <a:prstGeom prst="rect">
            <a:avLst/>
          </a:prstGeom>
        </p:spPr>
      </p:pic>
      <p:sp>
        <p:nvSpPr>
          <p:cNvPr id="12" name="Rounded Rectangle 11"/>
          <p:cNvSpPr/>
          <p:nvPr/>
        </p:nvSpPr>
        <p:spPr>
          <a:xfrm>
            <a:off x="9576000" y="1512000"/>
            <a:ext cx="503999" cy="503999"/>
          </a:xfrm>
          <a:prstGeom prst="roundRect">
            <a:avLst/>
          </a:prstGeom>
          <a:solidFill>
            <a:srgbClr val="00ADA8"/>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0188000" y="1530000"/>
            <a:ext cx="1800000" cy="503999"/>
          </a:xfrm>
          <a:prstGeom prst="rect">
            <a:avLst/>
          </a:prstGeom>
          <a:noFill/>
        </p:spPr>
        <p:txBody>
          <a:bodyPr wrap="square" lIns="36000" rIns="36000" tIns="18000" bIns="18000">
            <a:spAutoFit/>
          </a:bodyPr>
          <a:lstStyle/>
          <a:p>
            <a:pPr>
              <a:spcAft>
                <a:spcPts val="300"/>
              </a:spcAft>
            </a:pPr>
            <a:r>
              <a:rPr sz="1050" b="0">
                <a:solidFill>
                  <a:srgbClr val="062A26"/>
                </a:solidFill>
                <a:latin typeface="Inter"/>
              </a:rPr>
              <a:t>Turquoise</a:t>
            </a:r>
          </a:p>
          <a:p>
            <a:pPr>
              <a:spcAft>
                <a:spcPts val="300"/>
              </a:spcAft>
            </a:pPr>
            <a:r>
              <a:rPr sz="1050" b="0">
                <a:solidFill>
                  <a:srgbClr val="062A26"/>
                </a:solidFill>
                <a:latin typeface="Inter"/>
              </a:rPr>
              <a:t>#00ADA8</a:t>
            </a:r>
          </a:p>
        </p:txBody>
      </p:sp>
      <p:sp>
        <p:nvSpPr>
          <p:cNvPr id="14" name="Rounded Rectangle 13"/>
          <p:cNvSpPr/>
          <p:nvPr/>
        </p:nvSpPr>
        <p:spPr>
          <a:xfrm>
            <a:off x="9576000" y="2142000"/>
            <a:ext cx="503999" cy="503999"/>
          </a:xfrm>
          <a:prstGeom prst="roundRect">
            <a:avLst/>
          </a:prstGeom>
          <a:solidFill>
            <a:srgbClr val="00AE6B"/>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0188000" y="2160000"/>
            <a:ext cx="1800000" cy="503999"/>
          </a:xfrm>
          <a:prstGeom prst="rect">
            <a:avLst/>
          </a:prstGeom>
          <a:noFill/>
        </p:spPr>
        <p:txBody>
          <a:bodyPr wrap="square" lIns="36000" rIns="36000" tIns="18000" bIns="18000">
            <a:spAutoFit/>
          </a:bodyPr>
          <a:lstStyle/>
          <a:p>
            <a:pPr>
              <a:spcAft>
                <a:spcPts val="300"/>
              </a:spcAft>
            </a:pPr>
            <a:r>
              <a:rPr sz="1050" b="0">
                <a:solidFill>
                  <a:srgbClr val="062A26"/>
                </a:solidFill>
                <a:latin typeface="Inter"/>
              </a:rPr>
              <a:t>Vert</a:t>
            </a:r>
          </a:p>
          <a:p>
            <a:pPr>
              <a:spcAft>
                <a:spcPts val="300"/>
              </a:spcAft>
            </a:pPr>
            <a:r>
              <a:rPr sz="1050" b="0">
                <a:solidFill>
                  <a:srgbClr val="062A26"/>
                </a:solidFill>
                <a:latin typeface="Inter"/>
              </a:rPr>
              <a:t>#00AE6B</a:t>
            </a:r>
          </a:p>
        </p:txBody>
      </p:sp>
      <p:sp>
        <p:nvSpPr>
          <p:cNvPr id="16" name="Rounded Rectangle 15"/>
          <p:cNvSpPr/>
          <p:nvPr/>
        </p:nvSpPr>
        <p:spPr>
          <a:xfrm>
            <a:off x="9576000" y="2772000"/>
            <a:ext cx="503999" cy="503999"/>
          </a:xfrm>
          <a:prstGeom prst="roundRect">
            <a:avLst/>
          </a:prstGeom>
          <a:solidFill>
            <a:srgbClr val="FF8A00"/>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188000" y="2790000"/>
            <a:ext cx="1800000" cy="503999"/>
          </a:xfrm>
          <a:prstGeom prst="rect">
            <a:avLst/>
          </a:prstGeom>
          <a:noFill/>
        </p:spPr>
        <p:txBody>
          <a:bodyPr wrap="square" lIns="36000" rIns="36000" tIns="18000" bIns="18000">
            <a:spAutoFit/>
          </a:bodyPr>
          <a:lstStyle/>
          <a:p>
            <a:pPr>
              <a:spcAft>
                <a:spcPts val="300"/>
              </a:spcAft>
            </a:pPr>
            <a:r>
              <a:rPr sz="1050" b="0">
                <a:solidFill>
                  <a:srgbClr val="062A26"/>
                </a:solidFill>
                <a:latin typeface="Inter"/>
              </a:rPr>
              <a:t>Orange</a:t>
            </a:r>
          </a:p>
          <a:p>
            <a:pPr>
              <a:spcAft>
                <a:spcPts val="300"/>
              </a:spcAft>
            </a:pPr>
            <a:r>
              <a:rPr sz="1050" b="0">
                <a:solidFill>
                  <a:srgbClr val="062A26"/>
                </a:solidFill>
                <a:latin typeface="Inter"/>
              </a:rPr>
              <a:t>#FF8A00</a:t>
            </a:r>
          </a:p>
        </p:txBody>
      </p:sp>
      <p:sp>
        <p:nvSpPr>
          <p:cNvPr id="18" name="Rounded Rectangle 17"/>
          <p:cNvSpPr/>
          <p:nvPr/>
        </p:nvSpPr>
        <p:spPr>
          <a:xfrm>
            <a:off x="9576000" y="3401999"/>
            <a:ext cx="503999" cy="503999"/>
          </a:xfrm>
          <a:prstGeom prst="roundRect">
            <a:avLst/>
          </a:prstGeom>
          <a:solidFill>
            <a:srgbClr val="062A26"/>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10188000" y="3420000"/>
            <a:ext cx="1800000" cy="503999"/>
          </a:xfrm>
          <a:prstGeom prst="rect">
            <a:avLst/>
          </a:prstGeom>
          <a:noFill/>
        </p:spPr>
        <p:txBody>
          <a:bodyPr wrap="square" lIns="36000" rIns="36000" tIns="18000" bIns="18000">
            <a:spAutoFit/>
          </a:bodyPr>
          <a:lstStyle/>
          <a:p>
            <a:pPr>
              <a:spcAft>
                <a:spcPts val="300"/>
              </a:spcAft>
            </a:pPr>
            <a:r>
              <a:rPr sz="1050" b="0">
                <a:solidFill>
                  <a:srgbClr val="062A26"/>
                </a:solidFill>
                <a:latin typeface="Inter"/>
              </a:rPr>
              <a:t>Nuit</a:t>
            </a:r>
          </a:p>
          <a:p>
            <a:pPr>
              <a:spcAft>
                <a:spcPts val="300"/>
              </a:spcAft>
            </a:pPr>
            <a:r>
              <a:rPr sz="1050" b="0">
                <a:solidFill>
                  <a:srgbClr val="062A26"/>
                </a:solidFill>
                <a:latin typeface="Inter"/>
              </a:rPr>
              <a:t>#062A26</a:t>
            </a:r>
          </a:p>
        </p:txBody>
      </p:sp>
      <p:sp>
        <p:nvSpPr>
          <p:cNvPr id="20" name="Rounded Rectangle 19"/>
          <p:cNvSpPr/>
          <p:nvPr/>
        </p:nvSpPr>
        <p:spPr>
          <a:xfrm>
            <a:off x="9576000" y="4031999"/>
            <a:ext cx="503999" cy="503999"/>
          </a:xfrm>
          <a:prstGeom prst="roundRect">
            <a:avLst/>
          </a:prstGeom>
          <a:solidFill>
            <a:srgbClr val="F4F7F2"/>
          </a:solidFill>
          <a:ln w="12700">
            <a:solidFill>
              <a:srgbClr val="DDDD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188000" y="4050000"/>
            <a:ext cx="1800000" cy="503999"/>
          </a:xfrm>
          <a:prstGeom prst="rect">
            <a:avLst/>
          </a:prstGeom>
          <a:noFill/>
        </p:spPr>
        <p:txBody>
          <a:bodyPr wrap="square" lIns="36000" rIns="36000" tIns="18000" bIns="18000">
            <a:spAutoFit/>
          </a:bodyPr>
          <a:lstStyle/>
          <a:p>
            <a:pPr>
              <a:spcAft>
                <a:spcPts val="300"/>
              </a:spcAft>
            </a:pPr>
            <a:r>
              <a:rPr sz="1050" b="0">
                <a:solidFill>
                  <a:srgbClr val="062A26"/>
                </a:solidFill>
                <a:latin typeface="Inter"/>
              </a:rPr>
              <a:t>Fond</a:t>
            </a:r>
          </a:p>
          <a:p>
            <a:pPr>
              <a:spcAft>
                <a:spcPts val="300"/>
              </a:spcAft>
            </a:pPr>
            <a:r>
              <a:rPr sz="1050" b="0">
                <a:solidFill>
                  <a:srgbClr val="062A26"/>
                </a:solidFill>
                <a:latin typeface="Inter"/>
              </a:rPr>
              <a:t>#F4F7F2</a:t>
            </a:r>
          </a:p>
        </p:txBody>
      </p:sp>
      <p:sp>
        <p:nvSpPr>
          <p:cNvPr id="22" name="Rounded Rectangle 21"/>
          <p:cNvSpPr/>
          <p:nvPr/>
        </p:nvSpPr>
        <p:spPr>
          <a:xfrm>
            <a:off x="468000" y="4896000"/>
            <a:ext cx="5580000" cy="1584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8000" y="4896000"/>
            <a:ext cx="64800" cy="1584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4" name="Picture 23" descr="eye.png"/>
          <p:cNvPicPr>
            <a:picLocks noChangeAspect="1"/>
          </p:cNvPicPr>
          <p:nvPr/>
        </p:nvPicPr>
        <p:blipFill>
          <a:blip r:embed="rId6"/>
          <a:stretch>
            <a:fillRect/>
          </a:stretch>
        </p:blipFill>
        <p:spPr>
          <a:xfrm>
            <a:off x="684000" y="5076000"/>
            <a:ext cx="432000" cy="432000"/>
          </a:xfrm>
          <a:prstGeom prst="rect">
            <a:avLst/>
          </a:prstGeom>
        </p:spPr>
      </p:pic>
      <p:sp>
        <p:nvSpPr>
          <p:cNvPr id="25" name="TextBox 24"/>
          <p:cNvSpPr txBox="1"/>
          <p:nvPr/>
        </p:nvSpPr>
        <p:spPr>
          <a:xfrm>
            <a:off x="1224000" y="5076000"/>
            <a:ext cx="468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Usage</a:t>
            </a:r>
          </a:p>
        </p:txBody>
      </p:sp>
      <p:sp>
        <p:nvSpPr>
          <p:cNvPr id="26" name="TextBox 25"/>
          <p:cNvSpPr txBox="1"/>
          <p:nvPr/>
        </p:nvSpPr>
        <p:spPr>
          <a:xfrm>
            <a:off x="684000" y="5580000"/>
            <a:ext cx="5184000" cy="828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Fond sombre pour les annonces et la scène, fond clair pour les contenus d'explication. Avatar carré pour tous les comptes et la chaîne WhatsApp.</a:t>
            </a:r>
          </a:p>
        </p:txBody>
      </p:sp>
      <p:sp>
        <p:nvSpPr>
          <p:cNvPr id="27" name="Rounded Rectangle 26"/>
          <p:cNvSpPr/>
          <p:nvPr/>
        </p:nvSpPr>
        <p:spPr>
          <a:xfrm>
            <a:off x="6228000" y="4896000"/>
            <a:ext cx="5508000" cy="1584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228000" y="4896000"/>
            <a:ext cx="64800" cy="1584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9" name="Picture 28" descr="language.png"/>
          <p:cNvPicPr>
            <a:picLocks noChangeAspect="1"/>
          </p:cNvPicPr>
          <p:nvPr/>
        </p:nvPicPr>
        <p:blipFill>
          <a:blip r:embed="rId7"/>
          <a:stretch>
            <a:fillRect/>
          </a:stretch>
        </p:blipFill>
        <p:spPr>
          <a:xfrm>
            <a:off x="6444000" y="5076000"/>
            <a:ext cx="432000" cy="432000"/>
          </a:xfrm>
          <a:prstGeom prst="rect">
            <a:avLst/>
          </a:prstGeom>
        </p:spPr>
      </p:pic>
      <p:sp>
        <p:nvSpPr>
          <p:cNvPr id="30" name="TextBox 29"/>
          <p:cNvSpPr txBox="1"/>
          <p:nvPr/>
        </p:nvSpPr>
        <p:spPr>
          <a:xfrm>
            <a:off x="6984000" y="5076000"/>
            <a:ext cx="4608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Typographies</a:t>
            </a:r>
          </a:p>
        </p:txBody>
      </p:sp>
      <p:sp>
        <p:nvSpPr>
          <p:cNvPr id="31" name="TextBox 30"/>
          <p:cNvSpPr txBox="1"/>
          <p:nvPr/>
        </p:nvSpPr>
        <p:spPr>
          <a:xfrm>
            <a:off x="6444000" y="5580000"/>
            <a:ext cx="5112000" cy="828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Saira pour les titres, Inter pour le texte : deux polices gratuites, disponibles partout, lisibles sur téléphone.</a:t>
            </a:r>
          </a:p>
        </p:txBody>
      </p:sp>
      <p:sp>
        <p:nvSpPr>
          <p:cNvPr id="32" name="TextBox 31"/>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5 / 39</a:t>
            </a:r>
          </a:p>
        </p:txBody>
      </p:sp>
      <p:sp>
        <p:nvSpPr>
          <p:cNvPr id="33" name="TextBox 32"/>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question_900_0.8398950131233596.jpg"/>
          <p:cNvPicPr>
            <a:picLocks noChangeAspect="1"/>
          </p:cNvPicPr>
          <p:nvPr/>
        </p:nvPicPr>
        <p:blipFill>
          <a:blip r:embed="rId2"/>
          <a:stretch>
            <a:fillRect/>
          </a:stretch>
        </p:blipFill>
        <p:spPr>
          <a:xfrm>
            <a:off x="6433200" y="0"/>
            <a:ext cx="5760000" cy="6858000"/>
          </a:xfrm>
          <a:prstGeom prst="rect">
            <a:avLst/>
          </a:prstGeom>
        </p:spPr>
      </p:pic>
      <p:sp>
        <p:nvSpPr>
          <p:cNvPr id="3" name="Rectangle 2"/>
          <p:cNvSpPr/>
          <p:nvPr/>
        </p:nvSpPr>
        <p:spPr>
          <a:xfrm>
            <a:off x="0" y="0"/>
            <a:ext cx="64332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2160000" cy="1080000"/>
          </a:xfrm>
          <a:prstGeom prst="rect">
            <a:avLst/>
          </a:prstGeom>
          <a:noFill/>
        </p:spPr>
        <p:txBody>
          <a:bodyPr wrap="square" lIns="36000" rIns="36000" tIns="18000" bIns="18000">
            <a:spAutoFit/>
          </a:bodyPr>
          <a:lstStyle/>
          <a:p>
            <a:pPr>
              <a:spcAft>
                <a:spcPts val="300"/>
              </a:spcAft>
            </a:pPr>
            <a:r>
              <a:rPr sz="7200" b="1">
                <a:solidFill>
                  <a:srgbClr val="FF8A00"/>
                </a:solidFill>
                <a:latin typeface="Saira"/>
              </a:rPr>
              <a:t>02</a:t>
            </a:r>
          </a:p>
        </p:txBody>
      </p:sp>
      <p:sp>
        <p:nvSpPr>
          <p:cNvPr id="5" name="TextBox 4"/>
          <p:cNvSpPr txBox="1"/>
          <p:nvPr/>
        </p:nvSpPr>
        <p:spPr>
          <a:xfrm>
            <a:off x="648000" y="3096000"/>
            <a:ext cx="5400000" cy="1080000"/>
          </a:xfrm>
          <a:prstGeom prst="rect">
            <a:avLst/>
          </a:prstGeom>
          <a:noFill/>
        </p:spPr>
        <p:txBody>
          <a:bodyPr wrap="square" lIns="36000" rIns="36000" tIns="18000" bIns="18000">
            <a:spAutoFit/>
          </a:bodyPr>
          <a:lstStyle/>
          <a:p>
            <a:pPr>
              <a:spcAft>
                <a:spcPts val="300"/>
              </a:spcAft>
            </a:pPr>
            <a:r>
              <a:rPr sz="3400" b="1">
                <a:solidFill>
                  <a:srgbClr val="FFFFFF"/>
                </a:solidFill>
                <a:latin typeface="Saira"/>
              </a:rPr>
              <a:t>Objectifs, messages et canaux</a:t>
            </a:r>
          </a:p>
        </p:txBody>
      </p:sp>
      <p:sp>
        <p:nvSpPr>
          <p:cNvPr id="6" name="TextBox 5"/>
          <p:cNvSpPr txBox="1"/>
          <p:nvPr/>
        </p:nvSpPr>
        <p:spPr>
          <a:xfrm>
            <a:off x="648000" y="4176000"/>
            <a:ext cx="5220000" cy="1080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Ce que la phase d'annonce doit produire, et comment.</a:t>
            </a:r>
          </a:p>
        </p:txBody>
      </p:sp>
      <p:pic>
        <p:nvPicPr>
          <p:cNvPr id="7" name="Picture 6" descr="04_logo_piste-A_fond-sombre_900_None.jpg"/>
          <p:cNvPicPr>
            <a:picLocks noChangeAspect="1"/>
          </p:cNvPicPr>
          <p:nvPr/>
        </p:nvPicPr>
        <p:blipFill>
          <a:blip r:embed="rId3"/>
          <a:stretch>
            <a:fillRect/>
          </a:stretch>
        </p:blipFill>
        <p:spPr>
          <a:xfrm>
            <a:off x="324000" y="5544000"/>
            <a:ext cx="2880000" cy="1619200"/>
          </a:xfrm>
          <a:prstGeom prst="rect">
            <a:avLst/>
          </a:prstGeom>
        </p:spPr>
      </p:pic>
      <p:sp>
        <p:nvSpPr>
          <p:cNvPr id="8" name="TextBox 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BFE5DC"/>
                </a:solidFill>
                <a:latin typeface="Inter"/>
              </a:rPr>
              <a:t>6 / 39</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target.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JANVIER ET FÉVRIER 2027</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Objectifs du lancement</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548000"/>
            <a:ext cx="2124000" cy="223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users-group.png"/>
          <p:cNvPicPr>
            <a:picLocks noChangeAspect="1"/>
          </p:cNvPicPr>
          <p:nvPr/>
        </p:nvPicPr>
        <p:blipFill>
          <a:blip r:embed="rId4"/>
          <a:stretch>
            <a:fillRect/>
          </a:stretch>
        </p:blipFill>
        <p:spPr>
          <a:xfrm>
            <a:off x="1278000" y="1728000"/>
            <a:ext cx="503999" cy="503999"/>
          </a:xfrm>
          <a:prstGeom prst="rect">
            <a:avLst/>
          </a:prstGeom>
        </p:spPr>
      </p:pic>
      <p:sp>
        <p:nvSpPr>
          <p:cNvPr id="12" name="TextBox 11"/>
          <p:cNvSpPr txBox="1"/>
          <p:nvPr/>
        </p:nvSpPr>
        <p:spPr>
          <a:xfrm>
            <a:off x="540000" y="2340000"/>
            <a:ext cx="1980000" cy="576000"/>
          </a:xfrm>
          <a:prstGeom prst="rect">
            <a:avLst/>
          </a:prstGeom>
          <a:noFill/>
        </p:spPr>
        <p:txBody>
          <a:bodyPr wrap="square" lIns="36000" rIns="36000" tIns="18000" bIns="18000">
            <a:spAutoFit/>
          </a:bodyPr>
          <a:lstStyle/>
          <a:p>
            <a:pPr algn="ctr">
              <a:spcAft>
                <a:spcPts val="300"/>
              </a:spcAft>
            </a:pPr>
            <a:r>
              <a:rPr sz="2800" b="1">
                <a:solidFill>
                  <a:srgbClr val="FF8A00"/>
                </a:solidFill>
                <a:latin typeface="Saira"/>
              </a:rPr>
              <a:t>500 000</a:t>
            </a:r>
          </a:p>
        </p:txBody>
      </p:sp>
      <p:sp>
        <p:nvSpPr>
          <p:cNvPr id="13" name="TextBox 12"/>
          <p:cNvSpPr txBox="1"/>
          <p:nvPr/>
        </p:nvSpPr>
        <p:spPr>
          <a:xfrm>
            <a:off x="576000" y="2988000"/>
            <a:ext cx="1908000" cy="648000"/>
          </a:xfrm>
          <a:prstGeom prst="rect">
            <a:avLst/>
          </a:prstGeom>
          <a:noFill/>
        </p:spPr>
        <p:txBody>
          <a:bodyPr wrap="square" lIns="36000" rIns="36000" tIns="18000" bIns="18000">
            <a:spAutoFit/>
          </a:bodyPr>
          <a:lstStyle/>
          <a:p>
            <a:pPr algn="ctr">
              <a:spcAft>
                <a:spcPts val="300"/>
              </a:spcAft>
            </a:pPr>
            <a:r>
              <a:rPr sz="1200" b="0">
                <a:solidFill>
                  <a:srgbClr val="062A26"/>
                </a:solidFill>
                <a:latin typeface="Inter"/>
              </a:rPr>
              <a:t>personnes touchées</a:t>
            </a:r>
          </a:p>
        </p:txBody>
      </p:sp>
      <p:sp>
        <p:nvSpPr>
          <p:cNvPr id="14" name="Rounded Rectangle 13"/>
          <p:cNvSpPr/>
          <p:nvPr/>
        </p:nvSpPr>
        <p:spPr>
          <a:xfrm>
            <a:off x="2754000" y="1548000"/>
            <a:ext cx="2124000" cy="223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news.png"/>
          <p:cNvPicPr>
            <a:picLocks noChangeAspect="1"/>
          </p:cNvPicPr>
          <p:nvPr/>
        </p:nvPicPr>
        <p:blipFill>
          <a:blip r:embed="rId5"/>
          <a:stretch>
            <a:fillRect/>
          </a:stretch>
        </p:blipFill>
        <p:spPr>
          <a:xfrm>
            <a:off x="3563999" y="1728000"/>
            <a:ext cx="503999" cy="503999"/>
          </a:xfrm>
          <a:prstGeom prst="rect">
            <a:avLst/>
          </a:prstGeom>
        </p:spPr>
      </p:pic>
      <p:sp>
        <p:nvSpPr>
          <p:cNvPr id="16" name="TextBox 15"/>
          <p:cNvSpPr txBox="1"/>
          <p:nvPr/>
        </p:nvSpPr>
        <p:spPr>
          <a:xfrm>
            <a:off x="2826000" y="2340000"/>
            <a:ext cx="1980000" cy="576000"/>
          </a:xfrm>
          <a:prstGeom prst="rect">
            <a:avLst/>
          </a:prstGeom>
          <a:noFill/>
        </p:spPr>
        <p:txBody>
          <a:bodyPr wrap="square" lIns="36000" rIns="36000" tIns="18000" bIns="18000">
            <a:spAutoFit/>
          </a:bodyPr>
          <a:lstStyle/>
          <a:p>
            <a:pPr algn="ctr">
              <a:spcAft>
                <a:spcPts val="300"/>
              </a:spcAft>
            </a:pPr>
            <a:r>
              <a:rPr sz="2800" b="1">
                <a:solidFill>
                  <a:srgbClr val="FF8A00"/>
                </a:solidFill>
                <a:latin typeface="Saira"/>
              </a:rPr>
              <a:t>30</a:t>
            </a:r>
          </a:p>
        </p:txBody>
      </p:sp>
      <p:sp>
        <p:nvSpPr>
          <p:cNvPr id="17" name="TextBox 16"/>
          <p:cNvSpPr txBox="1"/>
          <p:nvPr/>
        </p:nvSpPr>
        <p:spPr>
          <a:xfrm>
            <a:off x="2861999" y="2988000"/>
            <a:ext cx="1908000" cy="648000"/>
          </a:xfrm>
          <a:prstGeom prst="rect">
            <a:avLst/>
          </a:prstGeom>
          <a:noFill/>
        </p:spPr>
        <p:txBody>
          <a:bodyPr wrap="square" lIns="36000" rIns="36000" tIns="18000" bIns="18000">
            <a:spAutoFit/>
          </a:bodyPr>
          <a:lstStyle/>
          <a:p>
            <a:pPr algn="ctr">
              <a:spcAft>
                <a:spcPts val="300"/>
              </a:spcAft>
            </a:pPr>
            <a:r>
              <a:rPr sz="1200" b="0">
                <a:solidFill>
                  <a:srgbClr val="062A26"/>
                </a:solidFill>
                <a:latin typeface="Inter"/>
              </a:rPr>
              <a:t>articles de presse</a:t>
            </a:r>
          </a:p>
        </p:txBody>
      </p:sp>
      <p:sp>
        <p:nvSpPr>
          <p:cNvPr id="18" name="Rounded Rectangle 17"/>
          <p:cNvSpPr/>
          <p:nvPr/>
        </p:nvSpPr>
        <p:spPr>
          <a:xfrm>
            <a:off x="5040000" y="1548000"/>
            <a:ext cx="2124000" cy="223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icket.png"/>
          <p:cNvPicPr>
            <a:picLocks noChangeAspect="1"/>
          </p:cNvPicPr>
          <p:nvPr/>
        </p:nvPicPr>
        <p:blipFill>
          <a:blip r:embed="rId6"/>
          <a:stretch>
            <a:fillRect/>
          </a:stretch>
        </p:blipFill>
        <p:spPr>
          <a:xfrm>
            <a:off x="5850000" y="1728000"/>
            <a:ext cx="503999" cy="503999"/>
          </a:xfrm>
          <a:prstGeom prst="rect">
            <a:avLst/>
          </a:prstGeom>
        </p:spPr>
      </p:pic>
      <p:sp>
        <p:nvSpPr>
          <p:cNvPr id="20" name="TextBox 19"/>
          <p:cNvSpPr txBox="1"/>
          <p:nvPr/>
        </p:nvSpPr>
        <p:spPr>
          <a:xfrm>
            <a:off x="5112000" y="2340000"/>
            <a:ext cx="1980000" cy="576000"/>
          </a:xfrm>
          <a:prstGeom prst="rect">
            <a:avLst/>
          </a:prstGeom>
          <a:noFill/>
        </p:spPr>
        <p:txBody>
          <a:bodyPr wrap="square" lIns="36000" rIns="36000" tIns="18000" bIns="18000">
            <a:spAutoFit/>
          </a:bodyPr>
          <a:lstStyle/>
          <a:p>
            <a:pPr algn="ctr">
              <a:spcAft>
                <a:spcPts val="300"/>
              </a:spcAft>
            </a:pPr>
            <a:r>
              <a:rPr sz="2800" b="1">
                <a:solidFill>
                  <a:srgbClr val="FF8A00"/>
                </a:solidFill>
                <a:latin typeface="Saira"/>
              </a:rPr>
              <a:t>3 000</a:t>
            </a:r>
          </a:p>
        </p:txBody>
      </p:sp>
      <p:sp>
        <p:nvSpPr>
          <p:cNvPr id="21" name="TextBox 20"/>
          <p:cNvSpPr txBox="1"/>
          <p:nvPr/>
        </p:nvSpPr>
        <p:spPr>
          <a:xfrm>
            <a:off x="5148000" y="2988000"/>
            <a:ext cx="1908000" cy="648000"/>
          </a:xfrm>
          <a:prstGeom prst="rect">
            <a:avLst/>
          </a:prstGeom>
          <a:noFill/>
        </p:spPr>
        <p:txBody>
          <a:bodyPr wrap="square" lIns="36000" rIns="36000" tIns="18000" bIns="18000">
            <a:spAutoFit/>
          </a:bodyPr>
          <a:lstStyle/>
          <a:p>
            <a:pPr algn="ctr">
              <a:spcAft>
                <a:spcPts val="300"/>
              </a:spcAft>
            </a:pPr>
            <a:r>
              <a:rPr sz="1200" b="0">
                <a:solidFill>
                  <a:srgbClr val="062A26"/>
                </a:solidFill>
                <a:latin typeface="Inter"/>
              </a:rPr>
              <a:t>inscrits sur liste d'attente</a:t>
            </a:r>
          </a:p>
        </p:txBody>
      </p:sp>
      <p:sp>
        <p:nvSpPr>
          <p:cNvPr id="22" name="Rounded Rectangle 21"/>
          <p:cNvSpPr/>
          <p:nvPr/>
        </p:nvSpPr>
        <p:spPr>
          <a:xfrm>
            <a:off x="7325999" y="1548000"/>
            <a:ext cx="2124000" cy="223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heart-handshake.png"/>
          <p:cNvPicPr>
            <a:picLocks noChangeAspect="1"/>
          </p:cNvPicPr>
          <p:nvPr/>
        </p:nvPicPr>
        <p:blipFill>
          <a:blip r:embed="rId7"/>
          <a:stretch>
            <a:fillRect/>
          </a:stretch>
        </p:blipFill>
        <p:spPr>
          <a:xfrm>
            <a:off x="8135999" y="1728000"/>
            <a:ext cx="503999" cy="503999"/>
          </a:xfrm>
          <a:prstGeom prst="rect">
            <a:avLst/>
          </a:prstGeom>
        </p:spPr>
      </p:pic>
      <p:sp>
        <p:nvSpPr>
          <p:cNvPr id="24" name="TextBox 23"/>
          <p:cNvSpPr txBox="1"/>
          <p:nvPr/>
        </p:nvSpPr>
        <p:spPr>
          <a:xfrm>
            <a:off x="7397999" y="2340000"/>
            <a:ext cx="1980000" cy="576000"/>
          </a:xfrm>
          <a:prstGeom prst="rect">
            <a:avLst/>
          </a:prstGeom>
          <a:noFill/>
        </p:spPr>
        <p:txBody>
          <a:bodyPr wrap="square" lIns="36000" rIns="36000" tIns="18000" bIns="18000">
            <a:spAutoFit/>
          </a:bodyPr>
          <a:lstStyle/>
          <a:p>
            <a:pPr algn="ctr">
              <a:spcAft>
                <a:spcPts val="300"/>
              </a:spcAft>
            </a:pPr>
            <a:r>
              <a:rPr sz="2800" b="1">
                <a:solidFill>
                  <a:srgbClr val="FF8A00"/>
                </a:solidFill>
                <a:latin typeface="Saira"/>
              </a:rPr>
              <a:t>25</a:t>
            </a:r>
          </a:p>
        </p:txBody>
      </p:sp>
      <p:sp>
        <p:nvSpPr>
          <p:cNvPr id="25" name="TextBox 24"/>
          <p:cNvSpPr txBox="1"/>
          <p:nvPr/>
        </p:nvSpPr>
        <p:spPr>
          <a:xfrm>
            <a:off x="7433999" y="2988000"/>
            <a:ext cx="1908000" cy="648000"/>
          </a:xfrm>
          <a:prstGeom prst="rect">
            <a:avLst/>
          </a:prstGeom>
          <a:noFill/>
        </p:spPr>
        <p:txBody>
          <a:bodyPr wrap="square" lIns="36000" rIns="36000" tIns="18000" bIns="18000">
            <a:spAutoFit/>
          </a:bodyPr>
          <a:lstStyle/>
          <a:p>
            <a:pPr algn="ctr">
              <a:spcAft>
                <a:spcPts val="300"/>
              </a:spcAft>
            </a:pPr>
            <a:r>
              <a:rPr sz="1200" b="0">
                <a:solidFill>
                  <a:srgbClr val="062A26"/>
                </a:solidFill>
                <a:latin typeface="Inter"/>
              </a:rPr>
              <a:t>demandes de dossier partenaires</a:t>
            </a:r>
          </a:p>
        </p:txBody>
      </p:sp>
      <p:sp>
        <p:nvSpPr>
          <p:cNvPr id="26" name="Rounded Rectangle 25"/>
          <p:cNvSpPr/>
          <p:nvPr/>
        </p:nvSpPr>
        <p:spPr>
          <a:xfrm>
            <a:off x="9612000" y="1548000"/>
            <a:ext cx="2124000" cy="223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bulb.png"/>
          <p:cNvPicPr>
            <a:picLocks noChangeAspect="1"/>
          </p:cNvPicPr>
          <p:nvPr/>
        </p:nvPicPr>
        <p:blipFill>
          <a:blip r:embed="rId8"/>
          <a:stretch>
            <a:fillRect/>
          </a:stretch>
        </p:blipFill>
        <p:spPr>
          <a:xfrm>
            <a:off x="10422000" y="1728000"/>
            <a:ext cx="503999" cy="503999"/>
          </a:xfrm>
          <a:prstGeom prst="rect">
            <a:avLst/>
          </a:prstGeom>
        </p:spPr>
      </p:pic>
      <p:sp>
        <p:nvSpPr>
          <p:cNvPr id="28" name="TextBox 27"/>
          <p:cNvSpPr txBox="1"/>
          <p:nvPr/>
        </p:nvSpPr>
        <p:spPr>
          <a:xfrm>
            <a:off x="9684000" y="2340000"/>
            <a:ext cx="1980000" cy="576000"/>
          </a:xfrm>
          <a:prstGeom prst="rect">
            <a:avLst/>
          </a:prstGeom>
          <a:noFill/>
        </p:spPr>
        <p:txBody>
          <a:bodyPr wrap="square" lIns="36000" rIns="36000" tIns="18000" bIns="18000">
            <a:spAutoFit/>
          </a:bodyPr>
          <a:lstStyle/>
          <a:p>
            <a:pPr algn="ctr">
              <a:spcAft>
                <a:spcPts val="300"/>
              </a:spcAft>
            </a:pPr>
            <a:r>
              <a:rPr sz="2800" b="1">
                <a:solidFill>
                  <a:srgbClr val="FF8A00"/>
                </a:solidFill>
                <a:latin typeface="Saira"/>
              </a:rPr>
              <a:t>150</a:t>
            </a:r>
          </a:p>
        </p:txBody>
      </p:sp>
      <p:sp>
        <p:nvSpPr>
          <p:cNvPr id="29" name="TextBox 28"/>
          <p:cNvSpPr txBox="1"/>
          <p:nvPr/>
        </p:nvSpPr>
        <p:spPr>
          <a:xfrm>
            <a:off x="9720000" y="2988000"/>
            <a:ext cx="1908000" cy="648000"/>
          </a:xfrm>
          <a:prstGeom prst="rect">
            <a:avLst/>
          </a:prstGeom>
          <a:noFill/>
        </p:spPr>
        <p:txBody>
          <a:bodyPr wrap="square" lIns="36000" rIns="36000" tIns="18000" bIns="18000">
            <a:spAutoFit/>
          </a:bodyPr>
          <a:lstStyle/>
          <a:p>
            <a:pPr algn="ctr">
              <a:spcAft>
                <a:spcPts val="300"/>
              </a:spcAft>
            </a:pPr>
            <a:r>
              <a:rPr sz="1200" b="0">
                <a:solidFill>
                  <a:srgbClr val="062A26"/>
                </a:solidFill>
                <a:latin typeface="Inter"/>
              </a:rPr>
              <a:t>startups intéressées par le Prix</a:t>
            </a:r>
          </a:p>
        </p:txBody>
      </p:sp>
      <p:pic>
        <p:nvPicPr>
          <p:cNvPr id="30" name="Picture 29" descr="team_900_1.7647058823529411.jpg"/>
          <p:cNvPicPr>
            <a:picLocks noChangeAspect="1"/>
          </p:cNvPicPr>
          <p:nvPr/>
        </p:nvPicPr>
        <p:blipFill>
          <a:blip r:embed="rId9"/>
          <a:stretch>
            <a:fillRect/>
          </a:stretch>
        </p:blipFill>
        <p:spPr>
          <a:xfrm>
            <a:off x="468000" y="4031999"/>
            <a:ext cx="4320000" cy="2448000"/>
          </a:xfrm>
          <a:prstGeom prst="rect">
            <a:avLst/>
          </a:prstGeom>
        </p:spPr>
      </p:pic>
      <p:sp>
        <p:nvSpPr>
          <p:cNvPr id="31" name="Rounded Rectangle 30"/>
          <p:cNvSpPr/>
          <p:nvPr/>
        </p:nvSpPr>
        <p:spPr>
          <a:xfrm>
            <a:off x="4968000" y="4031999"/>
            <a:ext cx="6768000" cy="2448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968000" y="4031999"/>
            <a:ext cx="64800" cy="244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alert-triangle.png"/>
          <p:cNvPicPr>
            <a:picLocks noChangeAspect="1"/>
          </p:cNvPicPr>
          <p:nvPr/>
        </p:nvPicPr>
        <p:blipFill>
          <a:blip r:embed="rId10"/>
          <a:stretch>
            <a:fillRect/>
          </a:stretch>
        </p:blipFill>
        <p:spPr>
          <a:xfrm>
            <a:off x="5184000" y="4212000"/>
            <a:ext cx="432000" cy="432000"/>
          </a:xfrm>
          <a:prstGeom prst="rect">
            <a:avLst/>
          </a:prstGeom>
        </p:spPr>
      </p:pic>
      <p:sp>
        <p:nvSpPr>
          <p:cNvPr id="34" name="TextBox 33"/>
          <p:cNvSpPr txBox="1"/>
          <p:nvPr/>
        </p:nvSpPr>
        <p:spPr>
          <a:xfrm>
            <a:off x="5724000" y="4212000"/>
            <a:ext cx="5868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À recaler avec le Ministère</a:t>
            </a:r>
          </a:p>
        </p:txBody>
      </p:sp>
      <p:sp>
        <p:nvSpPr>
          <p:cNvPr id="35" name="TextBox 34"/>
          <p:cNvSpPr txBox="1"/>
          <p:nvPr/>
        </p:nvSpPr>
        <p:spPr>
          <a:xfrm>
            <a:off x="5184000" y="4716000"/>
            <a:ext cx="6372000" cy="1691999"/>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Ces cibles sont des propositions : je n'ai trouvé aucun chiffre public d'audience d'IMPACT IA 2026 (participants, portée des comptes). Dès que le Ministère nous les transmet, je les ajuste.</a:t>
            </a:r>
          </a:p>
          <a:p>
            <a:pPr>
              <a:spcAft>
                <a:spcPts val="300"/>
              </a:spcAft>
            </a:pPr>
            <a:r>
              <a:rPr sz="1200" b="0">
                <a:solidFill>
                  <a:srgbClr val="3B4B48"/>
                </a:solidFill>
                <a:latin typeface="Inter"/>
              </a:rPr>
              <a:t/>
            </a:r>
          </a:p>
          <a:p>
            <a:pPr>
              <a:spcAft>
                <a:spcPts val="300"/>
              </a:spcAft>
            </a:pPr>
            <a:r>
              <a:rPr sz="1200" b="0">
                <a:solidFill>
                  <a:srgbClr val="3B4B48"/>
                </a:solidFill>
                <a:latin typeface="Inter"/>
              </a:rPr>
              <a:t>Publics de la phase : décideurs publics et privés, écosystème tech, grand public et étudiants.</a:t>
            </a:r>
          </a:p>
        </p:txBody>
      </p:sp>
      <p:sp>
        <p:nvSpPr>
          <p:cNvPr id="36" name="TextBox 3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7 / 39</a:t>
            </a:r>
          </a:p>
        </p:txBody>
      </p:sp>
      <p:sp>
        <p:nvSpPr>
          <p:cNvPr id="37" name="TextBox 3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speakerphone.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CE QUE L'ON RÉPÈTE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Les cinq messages de l'annonce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speaker_900_0.7971014492753623.jpg"/>
          <p:cNvPicPr>
            <a:picLocks noChangeAspect="1"/>
          </p:cNvPicPr>
          <p:nvPr/>
        </p:nvPicPr>
        <p:blipFill>
          <a:blip r:embed="rId4"/>
          <a:stretch>
            <a:fillRect/>
          </a:stretch>
        </p:blipFill>
        <p:spPr>
          <a:xfrm>
            <a:off x="7776000" y="1512000"/>
            <a:ext cx="3960000" cy="4968000"/>
          </a:xfrm>
          <a:prstGeom prst="rect">
            <a:avLst/>
          </a:prstGeom>
        </p:spPr>
      </p:pic>
      <p:sp>
        <p:nvSpPr>
          <p:cNvPr id="11" name="Rounded Rectangle 10"/>
          <p:cNvSpPr/>
          <p:nvPr/>
        </p:nvSpPr>
        <p:spPr>
          <a:xfrm>
            <a:off x="468000" y="1512000"/>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576000" y="1674000"/>
            <a:ext cx="558000" cy="558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oute.png"/>
          <p:cNvPicPr>
            <a:picLocks noChangeAspect="1"/>
          </p:cNvPicPr>
          <p:nvPr/>
        </p:nvPicPr>
        <p:blipFill>
          <a:blip r:embed="rId5"/>
          <a:stretch>
            <a:fillRect/>
          </a:stretch>
        </p:blipFill>
        <p:spPr>
          <a:xfrm>
            <a:off x="655200" y="1753200"/>
            <a:ext cx="396000" cy="396000"/>
          </a:xfrm>
          <a:prstGeom prst="rect">
            <a:avLst/>
          </a:prstGeom>
        </p:spPr>
      </p:pic>
      <p:sp>
        <p:nvSpPr>
          <p:cNvPr id="14" name="TextBox 13"/>
          <p:cNvSpPr txBox="1"/>
          <p:nvPr/>
        </p:nvSpPr>
        <p:spPr>
          <a:xfrm>
            <a:off x="1296000" y="1602000"/>
            <a:ext cx="57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Continuité</a:t>
            </a:r>
          </a:p>
        </p:txBody>
      </p:sp>
      <p:sp>
        <p:nvSpPr>
          <p:cNvPr id="15" name="TextBox 14"/>
          <p:cNvSpPr txBox="1"/>
          <p:nvPr/>
        </p:nvSpPr>
        <p:spPr>
          <a:xfrm>
            <a:off x="1296000" y="1944000"/>
            <a:ext cx="6120000" cy="432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ACCELERATE IA, ce sont les 3e assises nationales, un an après IMPACT IA.</a:t>
            </a:r>
          </a:p>
        </p:txBody>
      </p:sp>
      <p:sp>
        <p:nvSpPr>
          <p:cNvPr id="16" name="Rounded Rectangle 15"/>
          <p:cNvSpPr/>
          <p:nvPr/>
        </p:nvSpPr>
        <p:spPr>
          <a:xfrm>
            <a:off x="468000" y="2520000"/>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76000" y="2682000"/>
            <a:ext cx="558000" cy="558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chart-bar.png"/>
          <p:cNvPicPr>
            <a:picLocks noChangeAspect="1"/>
          </p:cNvPicPr>
          <p:nvPr/>
        </p:nvPicPr>
        <p:blipFill>
          <a:blip r:embed="rId6"/>
          <a:stretch>
            <a:fillRect/>
          </a:stretch>
        </p:blipFill>
        <p:spPr>
          <a:xfrm>
            <a:off x="655200" y="2761200"/>
            <a:ext cx="396000" cy="396000"/>
          </a:xfrm>
          <a:prstGeom prst="rect">
            <a:avLst/>
          </a:prstGeom>
        </p:spPr>
      </p:pic>
      <p:sp>
        <p:nvSpPr>
          <p:cNvPr id="19" name="TextBox 18"/>
          <p:cNvSpPr txBox="1"/>
          <p:nvPr/>
        </p:nvSpPr>
        <p:spPr>
          <a:xfrm>
            <a:off x="1296000" y="2610000"/>
            <a:ext cx="57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Résultats</a:t>
            </a:r>
          </a:p>
        </p:txBody>
      </p:sp>
      <p:sp>
        <p:nvSpPr>
          <p:cNvPr id="20" name="TextBox 19"/>
          <p:cNvSpPr txBox="1"/>
          <p:nvPr/>
        </p:nvSpPr>
        <p:spPr>
          <a:xfrm>
            <a:off x="1296000" y="2951999"/>
            <a:ext cx="6120000" cy="432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77 cas d'usage retenus en 2026 : en 2027, on montre où ils en sont.</a:t>
            </a:r>
          </a:p>
        </p:txBody>
      </p:sp>
      <p:sp>
        <p:nvSpPr>
          <p:cNvPr id="21" name="Rounded Rectangle 20"/>
          <p:cNvSpPr/>
          <p:nvPr/>
        </p:nvSpPr>
        <p:spPr>
          <a:xfrm>
            <a:off x="468000" y="3528000"/>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576000" y="3690000"/>
            <a:ext cx="558000" cy="558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rocket.png"/>
          <p:cNvPicPr>
            <a:picLocks noChangeAspect="1"/>
          </p:cNvPicPr>
          <p:nvPr/>
        </p:nvPicPr>
        <p:blipFill>
          <a:blip r:embed="rId7"/>
          <a:stretch>
            <a:fillRect/>
          </a:stretch>
        </p:blipFill>
        <p:spPr>
          <a:xfrm>
            <a:off x="655200" y="3769200"/>
            <a:ext cx="396000" cy="396000"/>
          </a:xfrm>
          <a:prstGeom prst="rect">
            <a:avLst/>
          </a:prstGeom>
        </p:spPr>
      </p:pic>
      <p:sp>
        <p:nvSpPr>
          <p:cNvPr id="24" name="TextBox 23"/>
          <p:cNvSpPr txBox="1"/>
          <p:nvPr/>
        </p:nvSpPr>
        <p:spPr>
          <a:xfrm>
            <a:off x="1296000" y="3618000"/>
            <a:ext cx="57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Déploiement</a:t>
            </a:r>
          </a:p>
        </p:txBody>
      </p:sp>
      <p:sp>
        <p:nvSpPr>
          <p:cNvPr id="25" name="TextBox 24"/>
          <p:cNvSpPr txBox="1"/>
          <p:nvPr/>
        </p:nvSpPr>
        <p:spPr>
          <a:xfrm>
            <a:off x="1296000" y="3960000"/>
            <a:ext cx="6120000" cy="432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Le thème : des cas d'usage au déploiement.</a:t>
            </a:r>
          </a:p>
        </p:txBody>
      </p:sp>
      <p:sp>
        <p:nvSpPr>
          <p:cNvPr id="26" name="Rounded Rectangle 25"/>
          <p:cNvSpPr/>
          <p:nvPr/>
        </p:nvSpPr>
        <p:spPr>
          <a:xfrm>
            <a:off x="468000" y="4535999"/>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576000" y="4697999"/>
            <a:ext cx="558000" cy="558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8" name="Picture 27" descr="heart-handshake.png"/>
          <p:cNvPicPr>
            <a:picLocks noChangeAspect="1"/>
          </p:cNvPicPr>
          <p:nvPr/>
        </p:nvPicPr>
        <p:blipFill>
          <a:blip r:embed="rId8"/>
          <a:stretch>
            <a:fillRect/>
          </a:stretch>
        </p:blipFill>
        <p:spPr>
          <a:xfrm>
            <a:off x="655200" y="4777199"/>
            <a:ext cx="396000" cy="396000"/>
          </a:xfrm>
          <a:prstGeom prst="rect">
            <a:avLst/>
          </a:prstGeom>
        </p:spPr>
      </p:pic>
      <p:sp>
        <p:nvSpPr>
          <p:cNvPr id="29" name="TextBox 28"/>
          <p:cNvSpPr txBox="1"/>
          <p:nvPr/>
        </p:nvSpPr>
        <p:spPr>
          <a:xfrm>
            <a:off x="1296000" y="4625999"/>
            <a:ext cx="57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Engagement</a:t>
            </a:r>
          </a:p>
        </p:txBody>
      </p:sp>
      <p:sp>
        <p:nvSpPr>
          <p:cNvPr id="30" name="TextBox 29"/>
          <p:cNvSpPr txBox="1"/>
          <p:nvPr/>
        </p:nvSpPr>
        <p:spPr>
          <a:xfrm>
            <a:off x="1296000" y="4967999"/>
            <a:ext cx="6120000" cy="432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On vient pour signer, financer, déployer.</a:t>
            </a:r>
          </a:p>
        </p:txBody>
      </p:sp>
      <p:sp>
        <p:nvSpPr>
          <p:cNvPr id="31" name="Rounded Rectangle 30"/>
          <p:cNvSpPr/>
          <p:nvPr/>
        </p:nvSpPr>
        <p:spPr>
          <a:xfrm>
            <a:off x="468000" y="5543999"/>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76000" y="5705999"/>
            <a:ext cx="558000" cy="558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Picture 32" descr="calendar-event.png"/>
          <p:cNvPicPr>
            <a:picLocks noChangeAspect="1"/>
          </p:cNvPicPr>
          <p:nvPr/>
        </p:nvPicPr>
        <p:blipFill>
          <a:blip r:embed="rId9"/>
          <a:stretch>
            <a:fillRect/>
          </a:stretch>
        </p:blipFill>
        <p:spPr>
          <a:xfrm>
            <a:off x="655200" y="5785200"/>
            <a:ext cx="396000" cy="396000"/>
          </a:xfrm>
          <a:prstGeom prst="rect">
            <a:avLst/>
          </a:prstGeom>
        </p:spPr>
      </p:pic>
      <p:sp>
        <p:nvSpPr>
          <p:cNvPr id="34" name="TextBox 33"/>
          <p:cNvSpPr txBox="1"/>
          <p:nvPr/>
        </p:nvSpPr>
        <p:spPr>
          <a:xfrm>
            <a:off x="1296000" y="5633999"/>
            <a:ext cx="5760000" cy="360000"/>
          </a:xfrm>
          <a:prstGeom prst="rect">
            <a:avLst/>
          </a:prstGeom>
          <a:noFill/>
        </p:spPr>
        <p:txBody>
          <a:bodyPr wrap="square" lIns="36000" rIns="36000" tIns="18000" bIns="18000">
            <a:spAutoFit/>
          </a:bodyPr>
          <a:lstStyle/>
          <a:p>
            <a:pPr>
              <a:spcAft>
                <a:spcPts val="300"/>
              </a:spcAft>
            </a:pPr>
            <a:r>
              <a:rPr sz="1500" b="1">
                <a:solidFill>
                  <a:srgbClr val="062A26"/>
                </a:solidFill>
                <a:latin typeface="Saira"/>
              </a:rPr>
              <a:t>Date</a:t>
            </a:r>
          </a:p>
        </p:txBody>
      </p:sp>
      <p:sp>
        <p:nvSpPr>
          <p:cNvPr id="35" name="TextBox 34"/>
          <p:cNvSpPr txBox="1"/>
          <p:nvPr/>
        </p:nvSpPr>
        <p:spPr>
          <a:xfrm>
            <a:off x="1296000" y="5975999"/>
            <a:ext cx="6120000" cy="432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8, 9 et 10 septembre 2027, à Abidjan.</a:t>
            </a:r>
          </a:p>
        </p:txBody>
      </p:sp>
      <p:sp>
        <p:nvSpPr>
          <p:cNvPr id="36" name="TextBox 3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8 / 39</a:t>
            </a:r>
          </a:p>
        </p:txBody>
      </p:sp>
      <p:sp>
        <p:nvSpPr>
          <p:cNvPr id="37" name="TextBox 3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world.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DISPOSITIF</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Canaux et rythme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512000"/>
            <a:ext cx="3600000" cy="169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brand-linkedin.png"/>
          <p:cNvPicPr>
            <a:picLocks noChangeAspect="1"/>
          </p:cNvPicPr>
          <p:nvPr/>
        </p:nvPicPr>
        <p:blipFill>
          <a:blip r:embed="rId4"/>
          <a:stretch>
            <a:fillRect/>
          </a:stretch>
        </p:blipFill>
        <p:spPr>
          <a:xfrm>
            <a:off x="684000" y="1728000"/>
            <a:ext cx="576000" cy="576000"/>
          </a:xfrm>
          <a:prstGeom prst="rect">
            <a:avLst/>
          </a:prstGeom>
        </p:spPr>
      </p:pic>
      <p:sp>
        <p:nvSpPr>
          <p:cNvPr id="12" name="TextBox 11"/>
          <p:cNvSpPr txBox="1"/>
          <p:nvPr/>
        </p:nvSpPr>
        <p:spPr>
          <a:xfrm>
            <a:off x="1404000" y="1746000"/>
            <a:ext cx="2520000" cy="432000"/>
          </a:xfrm>
          <a:prstGeom prst="rect">
            <a:avLst/>
          </a:prstGeom>
          <a:noFill/>
        </p:spPr>
        <p:txBody>
          <a:bodyPr wrap="square" lIns="36000" rIns="36000" tIns="18000" bIns="18000">
            <a:spAutoFit/>
          </a:bodyPr>
          <a:lstStyle/>
          <a:p>
            <a:pPr>
              <a:spcAft>
                <a:spcPts val="300"/>
              </a:spcAft>
            </a:pPr>
            <a:r>
              <a:rPr sz="1600" b="1">
                <a:solidFill>
                  <a:srgbClr val="062A26"/>
                </a:solidFill>
                <a:latin typeface="Saira"/>
              </a:rPr>
              <a:t>LinkedIn</a:t>
            </a:r>
          </a:p>
        </p:txBody>
      </p:sp>
      <p:sp>
        <p:nvSpPr>
          <p:cNvPr id="13" name="TextBox 12"/>
          <p:cNvSpPr txBox="1"/>
          <p:nvPr/>
        </p:nvSpPr>
        <p:spPr>
          <a:xfrm>
            <a:off x="684000" y="2412000"/>
            <a:ext cx="3240000" cy="36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Décideurs, entreprises, partenaires</a:t>
            </a:r>
          </a:p>
        </p:txBody>
      </p:sp>
      <p:sp>
        <p:nvSpPr>
          <p:cNvPr id="14" name="TextBox 13"/>
          <p:cNvSpPr txBox="1"/>
          <p:nvPr/>
        </p:nvSpPr>
        <p:spPr>
          <a:xfrm>
            <a:off x="684000" y="2736000"/>
            <a:ext cx="3240000" cy="360000"/>
          </a:xfrm>
          <a:prstGeom prst="rect">
            <a:avLst/>
          </a:prstGeom>
          <a:noFill/>
        </p:spPr>
        <p:txBody>
          <a:bodyPr wrap="square" lIns="36000" rIns="36000" tIns="18000" bIns="18000">
            <a:spAutoFit/>
          </a:bodyPr>
          <a:lstStyle/>
          <a:p>
            <a:pPr>
              <a:spcAft>
                <a:spcPts val="300"/>
              </a:spcAft>
            </a:pPr>
            <a:r>
              <a:rPr sz="1200" b="1">
                <a:solidFill>
                  <a:srgbClr val="FF8A00"/>
                </a:solidFill>
                <a:latin typeface="Inter"/>
              </a:rPr>
              <a:t>2 publications / semaine</a:t>
            </a:r>
          </a:p>
        </p:txBody>
      </p:sp>
      <p:sp>
        <p:nvSpPr>
          <p:cNvPr id="15" name="Rounded Rectangle 14"/>
          <p:cNvSpPr/>
          <p:nvPr/>
        </p:nvSpPr>
        <p:spPr>
          <a:xfrm>
            <a:off x="4284000" y="1512000"/>
            <a:ext cx="3600000" cy="169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6" name="Picture 15" descr="brand-facebook.png"/>
          <p:cNvPicPr>
            <a:picLocks noChangeAspect="1"/>
          </p:cNvPicPr>
          <p:nvPr/>
        </p:nvPicPr>
        <p:blipFill>
          <a:blip r:embed="rId5"/>
          <a:stretch>
            <a:fillRect/>
          </a:stretch>
        </p:blipFill>
        <p:spPr>
          <a:xfrm>
            <a:off x="4500000" y="1728000"/>
            <a:ext cx="576000" cy="576000"/>
          </a:xfrm>
          <a:prstGeom prst="rect">
            <a:avLst/>
          </a:prstGeom>
        </p:spPr>
      </p:pic>
      <p:sp>
        <p:nvSpPr>
          <p:cNvPr id="17" name="TextBox 16"/>
          <p:cNvSpPr txBox="1"/>
          <p:nvPr/>
        </p:nvSpPr>
        <p:spPr>
          <a:xfrm>
            <a:off x="5220000" y="1746000"/>
            <a:ext cx="2520000" cy="432000"/>
          </a:xfrm>
          <a:prstGeom prst="rect">
            <a:avLst/>
          </a:prstGeom>
          <a:noFill/>
        </p:spPr>
        <p:txBody>
          <a:bodyPr wrap="square" lIns="36000" rIns="36000" tIns="18000" bIns="18000">
            <a:spAutoFit/>
          </a:bodyPr>
          <a:lstStyle/>
          <a:p>
            <a:pPr>
              <a:spcAft>
                <a:spcPts val="300"/>
              </a:spcAft>
            </a:pPr>
            <a:r>
              <a:rPr sz="1600" b="1">
                <a:solidFill>
                  <a:srgbClr val="062A26"/>
                </a:solidFill>
                <a:latin typeface="Saira"/>
              </a:rPr>
              <a:t>Facebook</a:t>
            </a:r>
          </a:p>
        </p:txBody>
      </p:sp>
      <p:sp>
        <p:nvSpPr>
          <p:cNvPr id="18" name="TextBox 17"/>
          <p:cNvSpPr txBox="1"/>
          <p:nvPr/>
        </p:nvSpPr>
        <p:spPr>
          <a:xfrm>
            <a:off x="4500000" y="2412000"/>
            <a:ext cx="3240000" cy="36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Grand public, étudiants</a:t>
            </a:r>
          </a:p>
        </p:txBody>
      </p:sp>
      <p:sp>
        <p:nvSpPr>
          <p:cNvPr id="19" name="TextBox 18"/>
          <p:cNvSpPr txBox="1"/>
          <p:nvPr/>
        </p:nvSpPr>
        <p:spPr>
          <a:xfrm>
            <a:off x="4500000" y="2736000"/>
            <a:ext cx="3240000" cy="360000"/>
          </a:xfrm>
          <a:prstGeom prst="rect">
            <a:avLst/>
          </a:prstGeom>
          <a:noFill/>
        </p:spPr>
        <p:txBody>
          <a:bodyPr wrap="square" lIns="36000" rIns="36000" tIns="18000" bIns="18000">
            <a:spAutoFit/>
          </a:bodyPr>
          <a:lstStyle/>
          <a:p>
            <a:pPr>
              <a:spcAft>
                <a:spcPts val="300"/>
              </a:spcAft>
            </a:pPr>
            <a:r>
              <a:rPr sz="1200" b="1">
                <a:solidFill>
                  <a:srgbClr val="FF8A00"/>
                </a:solidFill>
                <a:latin typeface="Inter"/>
              </a:rPr>
              <a:t>2 / semaine</a:t>
            </a:r>
          </a:p>
        </p:txBody>
      </p:sp>
      <p:sp>
        <p:nvSpPr>
          <p:cNvPr id="20" name="Rounded Rectangle 19"/>
          <p:cNvSpPr/>
          <p:nvPr/>
        </p:nvSpPr>
        <p:spPr>
          <a:xfrm>
            <a:off x="8100000" y="1512000"/>
            <a:ext cx="3600000" cy="169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1" name="Picture 20" descr="brand-instagram.png"/>
          <p:cNvPicPr>
            <a:picLocks noChangeAspect="1"/>
          </p:cNvPicPr>
          <p:nvPr/>
        </p:nvPicPr>
        <p:blipFill>
          <a:blip r:embed="rId6"/>
          <a:stretch>
            <a:fillRect/>
          </a:stretch>
        </p:blipFill>
        <p:spPr>
          <a:xfrm>
            <a:off x="8316000" y="1728000"/>
            <a:ext cx="576000" cy="576000"/>
          </a:xfrm>
          <a:prstGeom prst="rect">
            <a:avLst/>
          </a:prstGeom>
        </p:spPr>
      </p:pic>
      <p:sp>
        <p:nvSpPr>
          <p:cNvPr id="22" name="TextBox 21"/>
          <p:cNvSpPr txBox="1"/>
          <p:nvPr/>
        </p:nvSpPr>
        <p:spPr>
          <a:xfrm>
            <a:off x="9036000" y="1746000"/>
            <a:ext cx="2520000" cy="432000"/>
          </a:xfrm>
          <a:prstGeom prst="rect">
            <a:avLst/>
          </a:prstGeom>
          <a:noFill/>
        </p:spPr>
        <p:txBody>
          <a:bodyPr wrap="square" lIns="36000" rIns="36000" tIns="18000" bIns="18000">
            <a:spAutoFit/>
          </a:bodyPr>
          <a:lstStyle/>
          <a:p>
            <a:pPr>
              <a:spcAft>
                <a:spcPts val="300"/>
              </a:spcAft>
            </a:pPr>
            <a:r>
              <a:rPr sz="1600" b="1">
                <a:solidFill>
                  <a:srgbClr val="062A26"/>
                </a:solidFill>
                <a:latin typeface="Saira"/>
              </a:rPr>
              <a:t>Instagram</a:t>
            </a:r>
          </a:p>
        </p:txBody>
      </p:sp>
      <p:sp>
        <p:nvSpPr>
          <p:cNvPr id="23" name="TextBox 22"/>
          <p:cNvSpPr txBox="1"/>
          <p:nvPr/>
        </p:nvSpPr>
        <p:spPr>
          <a:xfrm>
            <a:off x="8316000" y="2412000"/>
            <a:ext cx="3240000" cy="36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Écosystème tech, jeunes</a:t>
            </a:r>
          </a:p>
        </p:txBody>
      </p:sp>
      <p:sp>
        <p:nvSpPr>
          <p:cNvPr id="24" name="TextBox 23"/>
          <p:cNvSpPr txBox="1"/>
          <p:nvPr/>
        </p:nvSpPr>
        <p:spPr>
          <a:xfrm>
            <a:off x="8316000" y="2736000"/>
            <a:ext cx="3240000" cy="360000"/>
          </a:xfrm>
          <a:prstGeom prst="rect">
            <a:avLst/>
          </a:prstGeom>
          <a:noFill/>
        </p:spPr>
        <p:txBody>
          <a:bodyPr wrap="square" lIns="36000" rIns="36000" tIns="18000" bIns="18000">
            <a:spAutoFit/>
          </a:bodyPr>
          <a:lstStyle/>
          <a:p>
            <a:pPr>
              <a:spcAft>
                <a:spcPts val="300"/>
              </a:spcAft>
            </a:pPr>
            <a:r>
              <a:rPr sz="1200" b="1">
                <a:solidFill>
                  <a:srgbClr val="FF8A00"/>
                </a:solidFill>
                <a:latin typeface="Inter"/>
              </a:rPr>
              <a:t>2 / semaine + stories</a:t>
            </a:r>
          </a:p>
        </p:txBody>
      </p:sp>
      <p:sp>
        <p:nvSpPr>
          <p:cNvPr id="25" name="Rounded Rectangle 24"/>
          <p:cNvSpPr/>
          <p:nvPr/>
        </p:nvSpPr>
        <p:spPr>
          <a:xfrm>
            <a:off x="468000" y="3384000"/>
            <a:ext cx="3600000" cy="169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brand-x.png"/>
          <p:cNvPicPr>
            <a:picLocks noChangeAspect="1"/>
          </p:cNvPicPr>
          <p:nvPr/>
        </p:nvPicPr>
        <p:blipFill>
          <a:blip r:embed="rId7"/>
          <a:stretch>
            <a:fillRect/>
          </a:stretch>
        </p:blipFill>
        <p:spPr>
          <a:xfrm>
            <a:off x="684000" y="3600000"/>
            <a:ext cx="576000" cy="576000"/>
          </a:xfrm>
          <a:prstGeom prst="rect">
            <a:avLst/>
          </a:prstGeom>
        </p:spPr>
      </p:pic>
      <p:sp>
        <p:nvSpPr>
          <p:cNvPr id="27" name="TextBox 26"/>
          <p:cNvSpPr txBox="1"/>
          <p:nvPr/>
        </p:nvSpPr>
        <p:spPr>
          <a:xfrm>
            <a:off x="1404000" y="3618000"/>
            <a:ext cx="2520000" cy="432000"/>
          </a:xfrm>
          <a:prstGeom prst="rect">
            <a:avLst/>
          </a:prstGeom>
          <a:noFill/>
        </p:spPr>
        <p:txBody>
          <a:bodyPr wrap="square" lIns="36000" rIns="36000" tIns="18000" bIns="18000">
            <a:spAutoFit/>
          </a:bodyPr>
          <a:lstStyle/>
          <a:p>
            <a:pPr>
              <a:spcAft>
                <a:spcPts val="300"/>
              </a:spcAft>
            </a:pPr>
            <a:r>
              <a:rPr sz="1600" b="1">
                <a:solidFill>
                  <a:srgbClr val="062A26"/>
                </a:solidFill>
                <a:latin typeface="Saira"/>
              </a:rPr>
              <a:t>X</a:t>
            </a:r>
          </a:p>
        </p:txBody>
      </p:sp>
      <p:sp>
        <p:nvSpPr>
          <p:cNvPr id="28" name="TextBox 27"/>
          <p:cNvSpPr txBox="1"/>
          <p:nvPr/>
        </p:nvSpPr>
        <p:spPr>
          <a:xfrm>
            <a:off x="684000" y="4284000"/>
            <a:ext cx="3240000" cy="36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Presse et institutions</a:t>
            </a:r>
          </a:p>
        </p:txBody>
      </p:sp>
      <p:sp>
        <p:nvSpPr>
          <p:cNvPr id="29" name="TextBox 28"/>
          <p:cNvSpPr txBox="1"/>
          <p:nvPr/>
        </p:nvSpPr>
        <p:spPr>
          <a:xfrm>
            <a:off x="684000" y="4608000"/>
            <a:ext cx="3240000" cy="360000"/>
          </a:xfrm>
          <a:prstGeom prst="rect">
            <a:avLst/>
          </a:prstGeom>
          <a:noFill/>
        </p:spPr>
        <p:txBody>
          <a:bodyPr wrap="square" lIns="36000" rIns="36000" tIns="18000" bIns="18000">
            <a:spAutoFit/>
          </a:bodyPr>
          <a:lstStyle/>
          <a:p>
            <a:pPr>
              <a:spcAft>
                <a:spcPts val="300"/>
              </a:spcAft>
            </a:pPr>
            <a:r>
              <a:rPr sz="1200" b="1">
                <a:solidFill>
                  <a:srgbClr val="FF8A00"/>
                </a:solidFill>
                <a:latin typeface="Inter"/>
              </a:rPr>
              <a:t>Aux annonces</a:t>
            </a:r>
          </a:p>
        </p:txBody>
      </p:sp>
      <p:sp>
        <p:nvSpPr>
          <p:cNvPr id="30" name="Rounded Rectangle 29"/>
          <p:cNvSpPr/>
          <p:nvPr/>
        </p:nvSpPr>
        <p:spPr>
          <a:xfrm>
            <a:off x="4284000" y="3384000"/>
            <a:ext cx="3600000" cy="169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brand-whatsapp.png"/>
          <p:cNvPicPr>
            <a:picLocks noChangeAspect="1"/>
          </p:cNvPicPr>
          <p:nvPr/>
        </p:nvPicPr>
        <p:blipFill>
          <a:blip r:embed="rId8"/>
          <a:stretch>
            <a:fillRect/>
          </a:stretch>
        </p:blipFill>
        <p:spPr>
          <a:xfrm>
            <a:off x="4500000" y="3600000"/>
            <a:ext cx="576000" cy="576000"/>
          </a:xfrm>
          <a:prstGeom prst="rect">
            <a:avLst/>
          </a:prstGeom>
        </p:spPr>
      </p:pic>
      <p:sp>
        <p:nvSpPr>
          <p:cNvPr id="32" name="TextBox 31"/>
          <p:cNvSpPr txBox="1"/>
          <p:nvPr/>
        </p:nvSpPr>
        <p:spPr>
          <a:xfrm>
            <a:off x="5220000" y="3618000"/>
            <a:ext cx="2520000" cy="432000"/>
          </a:xfrm>
          <a:prstGeom prst="rect">
            <a:avLst/>
          </a:prstGeom>
          <a:noFill/>
        </p:spPr>
        <p:txBody>
          <a:bodyPr wrap="square" lIns="36000" rIns="36000" tIns="18000" bIns="18000">
            <a:spAutoFit/>
          </a:bodyPr>
          <a:lstStyle/>
          <a:p>
            <a:pPr>
              <a:spcAft>
                <a:spcPts val="300"/>
              </a:spcAft>
            </a:pPr>
            <a:r>
              <a:rPr sz="1600" b="1">
                <a:solidFill>
                  <a:srgbClr val="062A26"/>
                </a:solidFill>
                <a:latin typeface="Saira"/>
              </a:rPr>
              <a:t>Chaîne WhatsApp</a:t>
            </a:r>
          </a:p>
        </p:txBody>
      </p:sp>
      <p:sp>
        <p:nvSpPr>
          <p:cNvPr id="33" name="TextBox 32"/>
          <p:cNvSpPr txBox="1"/>
          <p:nvPr/>
        </p:nvSpPr>
        <p:spPr>
          <a:xfrm>
            <a:off x="4500000" y="4284000"/>
            <a:ext cx="3240000" cy="36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Relais rapide</a:t>
            </a:r>
          </a:p>
        </p:txBody>
      </p:sp>
      <p:sp>
        <p:nvSpPr>
          <p:cNvPr id="34" name="TextBox 33"/>
          <p:cNvSpPr txBox="1"/>
          <p:nvPr/>
        </p:nvSpPr>
        <p:spPr>
          <a:xfrm>
            <a:off x="4500000" y="4608000"/>
            <a:ext cx="3240000" cy="360000"/>
          </a:xfrm>
          <a:prstGeom prst="rect">
            <a:avLst/>
          </a:prstGeom>
          <a:noFill/>
        </p:spPr>
        <p:txBody>
          <a:bodyPr wrap="square" lIns="36000" rIns="36000" tIns="18000" bIns="18000">
            <a:spAutoFit/>
          </a:bodyPr>
          <a:lstStyle/>
          <a:p>
            <a:pPr>
              <a:spcAft>
                <a:spcPts val="300"/>
              </a:spcAft>
            </a:pPr>
            <a:r>
              <a:rPr sz="1200" b="1">
                <a:solidFill>
                  <a:srgbClr val="FF8A00"/>
                </a:solidFill>
                <a:latin typeface="Inter"/>
              </a:rPr>
              <a:t>1 message / semaine</a:t>
            </a:r>
          </a:p>
        </p:txBody>
      </p:sp>
      <p:sp>
        <p:nvSpPr>
          <p:cNvPr id="35" name="Rounded Rectangle 34"/>
          <p:cNvSpPr/>
          <p:nvPr/>
        </p:nvSpPr>
        <p:spPr>
          <a:xfrm>
            <a:off x="8100000" y="3384000"/>
            <a:ext cx="3600000" cy="169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users-group.png"/>
          <p:cNvPicPr>
            <a:picLocks noChangeAspect="1"/>
          </p:cNvPicPr>
          <p:nvPr/>
        </p:nvPicPr>
        <p:blipFill>
          <a:blip r:embed="rId9"/>
          <a:stretch>
            <a:fillRect/>
          </a:stretch>
        </p:blipFill>
        <p:spPr>
          <a:xfrm>
            <a:off x="8316000" y="3600000"/>
            <a:ext cx="576000" cy="576000"/>
          </a:xfrm>
          <a:prstGeom prst="rect">
            <a:avLst/>
          </a:prstGeom>
        </p:spPr>
      </p:pic>
      <p:sp>
        <p:nvSpPr>
          <p:cNvPr id="37" name="TextBox 36"/>
          <p:cNvSpPr txBox="1"/>
          <p:nvPr/>
        </p:nvSpPr>
        <p:spPr>
          <a:xfrm>
            <a:off x="9036000" y="3618000"/>
            <a:ext cx="2520000" cy="432000"/>
          </a:xfrm>
          <a:prstGeom prst="rect">
            <a:avLst/>
          </a:prstGeom>
          <a:noFill/>
        </p:spPr>
        <p:txBody>
          <a:bodyPr wrap="square" lIns="36000" rIns="36000" tIns="18000" bIns="18000">
            <a:spAutoFit/>
          </a:bodyPr>
          <a:lstStyle/>
          <a:p>
            <a:pPr>
              <a:spcAft>
                <a:spcPts val="300"/>
              </a:spcAft>
            </a:pPr>
            <a:r>
              <a:rPr sz="1600" b="1">
                <a:solidFill>
                  <a:srgbClr val="062A26"/>
                </a:solidFill>
                <a:latin typeface="Saira"/>
              </a:rPr>
              <a:t>Relais partenaires</a:t>
            </a:r>
          </a:p>
        </p:txBody>
      </p:sp>
      <p:sp>
        <p:nvSpPr>
          <p:cNvPr id="38" name="TextBox 37"/>
          <p:cNvSpPr txBox="1"/>
          <p:nvPr/>
        </p:nvSpPr>
        <p:spPr>
          <a:xfrm>
            <a:off x="8316000" y="4284000"/>
            <a:ext cx="3240000" cy="360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CGECI, CCI, incubateurs</a:t>
            </a:r>
          </a:p>
        </p:txBody>
      </p:sp>
      <p:sp>
        <p:nvSpPr>
          <p:cNvPr id="39" name="TextBox 38"/>
          <p:cNvSpPr txBox="1"/>
          <p:nvPr/>
        </p:nvSpPr>
        <p:spPr>
          <a:xfrm>
            <a:off x="8316000" y="4608000"/>
            <a:ext cx="3240000" cy="360000"/>
          </a:xfrm>
          <a:prstGeom prst="rect">
            <a:avLst/>
          </a:prstGeom>
          <a:noFill/>
        </p:spPr>
        <p:txBody>
          <a:bodyPr wrap="square" lIns="36000" rIns="36000" tIns="18000" bIns="18000">
            <a:spAutoFit/>
          </a:bodyPr>
          <a:lstStyle/>
          <a:p>
            <a:pPr>
              <a:spcAft>
                <a:spcPts val="300"/>
              </a:spcAft>
            </a:pPr>
            <a:r>
              <a:rPr sz="1200" b="1">
                <a:solidFill>
                  <a:srgbClr val="FF8A00"/>
                </a:solidFill>
                <a:latin typeface="Inter"/>
              </a:rPr>
              <a:t>Kit envoyé le 11 janvier</a:t>
            </a:r>
          </a:p>
        </p:txBody>
      </p:sp>
      <p:sp>
        <p:nvSpPr>
          <p:cNvPr id="40" name="Rounded Rectangle 39"/>
          <p:cNvSpPr/>
          <p:nvPr/>
        </p:nvSpPr>
        <p:spPr>
          <a:xfrm>
            <a:off x="468000" y="5328000"/>
            <a:ext cx="11232000" cy="936000"/>
          </a:xfrm>
          <a:prstGeom prst="round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1" name="Picture 40" descr="clock.png"/>
          <p:cNvPicPr>
            <a:picLocks noChangeAspect="1"/>
          </p:cNvPicPr>
          <p:nvPr/>
        </p:nvPicPr>
        <p:blipFill>
          <a:blip r:embed="rId10"/>
          <a:stretch>
            <a:fillRect/>
          </a:stretch>
        </p:blipFill>
        <p:spPr>
          <a:xfrm>
            <a:off x="684000" y="5544000"/>
            <a:ext cx="503999" cy="503999"/>
          </a:xfrm>
          <a:prstGeom prst="rect">
            <a:avLst/>
          </a:prstGeom>
        </p:spPr>
      </p:pic>
      <p:sp>
        <p:nvSpPr>
          <p:cNvPr id="42" name="TextBox 41"/>
          <p:cNvSpPr txBox="1"/>
          <p:nvPr/>
        </p:nvSpPr>
        <p:spPr>
          <a:xfrm>
            <a:off x="1332000" y="5472000"/>
            <a:ext cx="10080000" cy="720000"/>
          </a:xfrm>
          <a:prstGeom prst="rect">
            <a:avLst/>
          </a:prstGeom>
          <a:noFill/>
        </p:spPr>
        <p:txBody>
          <a:bodyPr wrap="square" lIns="36000" rIns="36000" tIns="18000" bIns="18000" anchor="ctr">
            <a:spAutoFit/>
          </a:bodyPr>
          <a:lstStyle/>
          <a:p>
            <a:pPr>
              <a:spcAft>
                <a:spcPts val="300"/>
              </a:spcAft>
            </a:pPr>
            <a:r>
              <a:rPr sz="1400" b="1">
                <a:solidFill>
                  <a:srgbClr val="FFFFFF"/>
                </a:solidFill>
                <a:latin typeface="Inter"/>
              </a:rPr>
              <a:t>Publication le mardi et le jeudi à 10 h · #AccelerateIA2027 · #IAenCôtedIvoire · #ImpactIA</a:t>
            </a:r>
          </a:p>
        </p:txBody>
      </p:sp>
      <p:sp>
        <p:nvSpPr>
          <p:cNvPr id="43" name="TextBox 4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9 / 39</a:t>
            </a:r>
          </a:p>
        </p:txBody>
      </p:sp>
      <p:sp>
        <p:nvSpPr>
          <p:cNvPr id="44" name="TextBox 4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ap_900_0.8398950131233596.jpg"/>
          <p:cNvPicPr>
            <a:picLocks noChangeAspect="1"/>
          </p:cNvPicPr>
          <p:nvPr/>
        </p:nvPicPr>
        <p:blipFill>
          <a:blip r:embed="rId2"/>
          <a:stretch>
            <a:fillRect/>
          </a:stretch>
        </p:blipFill>
        <p:spPr>
          <a:xfrm>
            <a:off x="6433200" y="0"/>
            <a:ext cx="5760000" cy="6858000"/>
          </a:xfrm>
          <a:prstGeom prst="rect">
            <a:avLst/>
          </a:prstGeom>
        </p:spPr>
      </p:pic>
      <p:sp>
        <p:nvSpPr>
          <p:cNvPr id="3" name="Rectangle 2"/>
          <p:cNvSpPr/>
          <p:nvPr/>
        </p:nvSpPr>
        <p:spPr>
          <a:xfrm>
            <a:off x="0" y="0"/>
            <a:ext cx="64332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2160000" cy="1080000"/>
          </a:xfrm>
          <a:prstGeom prst="rect">
            <a:avLst/>
          </a:prstGeom>
          <a:noFill/>
        </p:spPr>
        <p:txBody>
          <a:bodyPr wrap="square" lIns="36000" rIns="36000" tIns="18000" bIns="18000">
            <a:spAutoFit/>
          </a:bodyPr>
          <a:lstStyle/>
          <a:p>
            <a:pPr>
              <a:spcAft>
                <a:spcPts val="300"/>
              </a:spcAft>
            </a:pPr>
            <a:r>
              <a:rPr sz="7200" b="1">
                <a:solidFill>
                  <a:srgbClr val="FF8A00"/>
                </a:solidFill>
                <a:latin typeface="Saira"/>
              </a:rPr>
              <a:t>03</a:t>
            </a:r>
          </a:p>
        </p:txBody>
      </p:sp>
      <p:sp>
        <p:nvSpPr>
          <p:cNvPr id="5" name="TextBox 4"/>
          <p:cNvSpPr txBox="1"/>
          <p:nvPr/>
        </p:nvSpPr>
        <p:spPr>
          <a:xfrm>
            <a:off x="648000" y="3096000"/>
            <a:ext cx="5400000" cy="1080000"/>
          </a:xfrm>
          <a:prstGeom prst="rect">
            <a:avLst/>
          </a:prstGeom>
          <a:noFill/>
        </p:spPr>
        <p:txBody>
          <a:bodyPr wrap="square" lIns="36000" rIns="36000" tIns="18000" bIns="18000">
            <a:spAutoFit/>
          </a:bodyPr>
          <a:lstStyle/>
          <a:p>
            <a:pPr>
              <a:spcAft>
                <a:spcPts val="300"/>
              </a:spcAft>
            </a:pPr>
            <a:r>
              <a:rPr sz="3400" b="1">
                <a:solidFill>
                  <a:srgbClr val="FFFFFF"/>
                </a:solidFill>
                <a:latin typeface="Saira"/>
              </a:rPr>
              <a:t>Calendrier et publications</a:t>
            </a:r>
          </a:p>
        </p:txBody>
      </p:sp>
      <p:sp>
        <p:nvSpPr>
          <p:cNvPr id="6" name="TextBox 5"/>
          <p:cNvSpPr txBox="1"/>
          <p:nvPr/>
        </p:nvSpPr>
        <p:spPr>
          <a:xfrm>
            <a:off x="648000" y="4176000"/>
            <a:ext cx="5220000" cy="1080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Dix publications, du 5 janvier au 23 février 2027, avec leur texte.</a:t>
            </a:r>
          </a:p>
        </p:txBody>
      </p:sp>
      <p:pic>
        <p:nvPicPr>
          <p:cNvPr id="7" name="Picture 6" descr="04_logo_piste-A_fond-sombre_900_None.jpg"/>
          <p:cNvPicPr>
            <a:picLocks noChangeAspect="1"/>
          </p:cNvPicPr>
          <p:nvPr/>
        </p:nvPicPr>
        <p:blipFill>
          <a:blip r:embed="rId3"/>
          <a:stretch>
            <a:fillRect/>
          </a:stretch>
        </p:blipFill>
        <p:spPr>
          <a:xfrm>
            <a:off x="324000" y="5544000"/>
            <a:ext cx="2880000" cy="1619200"/>
          </a:xfrm>
          <a:prstGeom prst="rect">
            <a:avLst/>
          </a:prstGeom>
        </p:spPr>
      </p:pic>
      <p:sp>
        <p:nvSpPr>
          <p:cNvPr id="8" name="TextBox 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BFE5DC"/>
                </a:solidFill>
                <a:latin typeface="Inter"/>
              </a:rPr>
              <a:t>10 / 39</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lendar-event.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JANVIER ET FÉVRIER 2027</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Calendrier des dix publications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512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1_teaser_400_1.6527777777777777.jpg"/>
          <p:cNvPicPr>
            <a:picLocks noChangeAspect="1"/>
          </p:cNvPicPr>
          <p:nvPr/>
        </p:nvPicPr>
        <p:blipFill>
          <a:blip r:embed="rId4"/>
          <a:stretch>
            <a:fillRect/>
          </a:stretch>
        </p:blipFill>
        <p:spPr>
          <a:xfrm>
            <a:off x="468000" y="1512000"/>
            <a:ext cx="2142000" cy="1296000"/>
          </a:xfrm>
          <a:prstGeom prst="rect">
            <a:avLst/>
          </a:prstGeom>
        </p:spPr>
      </p:pic>
      <p:sp>
        <p:nvSpPr>
          <p:cNvPr id="12" name="TextBox 11"/>
          <p:cNvSpPr txBox="1"/>
          <p:nvPr/>
        </p:nvSpPr>
        <p:spPr>
          <a:xfrm>
            <a:off x="576000" y="2862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5 janv. · 10 h</a:t>
            </a:r>
          </a:p>
        </p:txBody>
      </p:sp>
      <p:sp>
        <p:nvSpPr>
          <p:cNvPr id="13" name="TextBox 12"/>
          <p:cNvSpPr txBox="1"/>
          <p:nvPr/>
        </p:nvSpPr>
        <p:spPr>
          <a:xfrm>
            <a:off x="576000" y="3131999"/>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Teaser</a:t>
            </a:r>
          </a:p>
        </p:txBody>
      </p:sp>
      <p:sp>
        <p:nvSpPr>
          <p:cNvPr id="14" name="Rounded Rectangle 13"/>
          <p:cNvSpPr/>
          <p:nvPr/>
        </p:nvSpPr>
        <p:spPr>
          <a:xfrm>
            <a:off x="2754000" y="1512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post02_annonce_400_1.6527777777777777.jpg"/>
          <p:cNvPicPr>
            <a:picLocks noChangeAspect="1"/>
          </p:cNvPicPr>
          <p:nvPr/>
        </p:nvPicPr>
        <p:blipFill>
          <a:blip r:embed="rId5"/>
          <a:stretch>
            <a:fillRect/>
          </a:stretch>
        </p:blipFill>
        <p:spPr>
          <a:xfrm>
            <a:off x="2754000" y="1512000"/>
            <a:ext cx="2142000" cy="1296000"/>
          </a:xfrm>
          <a:prstGeom prst="rect">
            <a:avLst/>
          </a:prstGeom>
        </p:spPr>
      </p:pic>
      <p:sp>
        <p:nvSpPr>
          <p:cNvPr id="16" name="TextBox 15"/>
          <p:cNvSpPr txBox="1"/>
          <p:nvPr/>
        </p:nvSpPr>
        <p:spPr>
          <a:xfrm>
            <a:off x="2861999" y="2862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12 janv. · 10 h</a:t>
            </a:r>
          </a:p>
        </p:txBody>
      </p:sp>
      <p:sp>
        <p:nvSpPr>
          <p:cNvPr id="17" name="TextBox 16"/>
          <p:cNvSpPr txBox="1"/>
          <p:nvPr/>
        </p:nvSpPr>
        <p:spPr>
          <a:xfrm>
            <a:off x="2861999" y="3131999"/>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Annonce officielle</a:t>
            </a:r>
          </a:p>
        </p:txBody>
      </p:sp>
      <p:sp>
        <p:nvSpPr>
          <p:cNvPr id="18" name="Rounded Rectangle 17"/>
          <p:cNvSpPr/>
          <p:nvPr/>
        </p:nvSpPr>
        <p:spPr>
          <a:xfrm>
            <a:off x="5040000" y="1512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post03_77_400_1.6527777777777777.jpg"/>
          <p:cNvPicPr>
            <a:picLocks noChangeAspect="1"/>
          </p:cNvPicPr>
          <p:nvPr/>
        </p:nvPicPr>
        <p:blipFill>
          <a:blip r:embed="rId6"/>
          <a:stretch>
            <a:fillRect/>
          </a:stretch>
        </p:blipFill>
        <p:spPr>
          <a:xfrm>
            <a:off x="5040000" y="1512000"/>
            <a:ext cx="2142000" cy="1296000"/>
          </a:xfrm>
          <a:prstGeom prst="rect">
            <a:avLst/>
          </a:prstGeom>
        </p:spPr>
      </p:pic>
      <p:sp>
        <p:nvSpPr>
          <p:cNvPr id="20" name="TextBox 19"/>
          <p:cNvSpPr txBox="1"/>
          <p:nvPr/>
        </p:nvSpPr>
        <p:spPr>
          <a:xfrm>
            <a:off x="5148000" y="2862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Jeu. 14 janv. · 10 h</a:t>
            </a:r>
          </a:p>
        </p:txBody>
      </p:sp>
      <p:sp>
        <p:nvSpPr>
          <p:cNvPr id="21" name="TextBox 20"/>
          <p:cNvSpPr txBox="1"/>
          <p:nvPr/>
        </p:nvSpPr>
        <p:spPr>
          <a:xfrm>
            <a:off x="5148000" y="3131999"/>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Rappel IMPACT IA</a:t>
            </a:r>
          </a:p>
        </p:txBody>
      </p:sp>
      <p:sp>
        <p:nvSpPr>
          <p:cNvPr id="22" name="Rounded Rectangle 21"/>
          <p:cNvSpPr/>
          <p:nvPr/>
        </p:nvSpPr>
        <p:spPr>
          <a:xfrm>
            <a:off x="7325999" y="1512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3" name="Picture 22" descr="post04_theme_400_1.6527777777777777.jpg"/>
          <p:cNvPicPr>
            <a:picLocks noChangeAspect="1"/>
          </p:cNvPicPr>
          <p:nvPr/>
        </p:nvPicPr>
        <p:blipFill>
          <a:blip r:embed="rId7"/>
          <a:stretch>
            <a:fillRect/>
          </a:stretch>
        </p:blipFill>
        <p:spPr>
          <a:xfrm>
            <a:off x="7325999" y="1512000"/>
            <a:ext cx="2142000" cy="1296000"/>
          </a:xfrm>
          <a:prstGeom prst="rect">
            <a:avLst/>
          </a:prstGeom>
        </p:spPr>
      </p:pic>
      <p:sp>
        <p:nvSpPr>
          <p:cNvPr id="24" name="TextBox 23"/>
          <p:cNvSpPr txBox="1"/>
          <p:nvPr/>
        </p:nvSpPr>
        <p:spPr>
          <a:xfrm>
            <a:off x="7433999" y="2862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19 janv. · 10 h</a:t>
            </a:r>
          </a:p>
        </p:txBody>
      </p:sp>
      <p:sp>
        <p:nvSpPr>
          <p:cNvPr id="25" name="TextBox 24"/>
          <p:cNvSpPr txBox="1"/>
          <p:nvPr/>
        </p:nvSpPr>
        <p:spPr>
          <a:xfrm>
            <a:off x="7433999" y="3131999"/>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Le thème</a:t>
            </a:r>
          </a:p>
        </p:txBody>
      </p:sp>
      <p:sp>
        <p:nvSpPr>
          <p:cNvPr id="26" name="Rounded Rectangle 25"/>
          <p:cNvSpPr/>
          <p:nvPr/>
        </p:nvSpPr>
        <p:spPr>
          <a:xfrm>
            <a:off x="9612000" y="1512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post05_partis-pris_400_1.6527777777777777.jpg"/>
          <p:cNvPicPr>
            <a:picLocks noChangeAspect="1"/>
          </p:cNvPicPr>
          <p:nvPr/>
        </p:nvPicPr>
        <p:blipFill>
          <a:blip r:embed="rId8"/>
          <a:stretch>
            <a:fillRect/>
          </a:stretch>
        </p:blipFill>
        <p:spPr>
          <a:xfrm>
            <a:off x="9612000" y="1512000"/>
            <a:ext cx="2142000" cy="1296000"/>
          </a:xfrm>
          <a:prstGeom prst="rect">
            <a:avLst/>
          </a:prstGeom>
        </p:spPr>
      </p:pic>
      <p:sp>
        <p:nvSpPr>
          <p:cNvPr id="28" name="TextBox 27"/>
          <p:cNvSpPr txBox="1"/>
          <p:nvPr/>
        </p:nvSpPr>
        <p:spPr>
          <a:xfrm>
            <a:off x="9720000" y="2862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Jeu. 21 janv. · 10 h</a:t>
            </a:r>
          </a:p>
        </p:txBody>
      </p:sp>
      <p:sp>
        <p:nvSpPr>
          <p:cNvPr id="29" name="TextBox 28"/>
          <p:cNvSpPr txBox="1"/>
          <p:nvPr/>
        </p:nvSpPr>
        <p:spPr>
          <a:xfrm>
            <a:off x="9720000" y="3131999"/>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Ce qui change</a:t>
            </a:r>
          </a:p>
        </p:txBody>
      </p:sp>
      <p:sp>
        <p:nvSpPr>
          <p:cNvPr id="30" name="Rounded Rectangle 29"/>
          <p:cNvSpPr/>
          <p:nvPr/>
        </p:nvSpPr>
        <p:spPr>
          <a:xfrm>
            <a:off x="468000" y="4068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1" name="Picture 30" descr="post06_alliance_400_1.6527777777777777.jpg"/>
          <p:cNvPicPr>
            <a:picLocks noChangeAspect="1"/>
          </p:cNvPicPr>
          <p:nvPr/>
        </p:nvPicPr>
        <p:blipFill>
          <a:blip r:embed="rId9"/>
          <a:stretch>
            <a:fillRect/>
          </a:stretch>
        </p:blipFill>
        <p:spPr>
          <a:xfrm>
            <a:off x="468000" y="4068000"/>
            <a:ext cx="2142000" cy="1296000"/>
          </a:xfrm>
          <a:prstGeom prst="rect">
            <a:avLst/>
          </a:prstGeom>
        </p:spPr>
      </p:pic>
      <p:sp>
        <p:nvSpPr>
          <p:cNvPr id="32" name="TextBox 31"/>
          <p:cNvSpPr txBox="1"/>
          <p:nvPr/>
        </p:nvSpPr>
        <p:spPr>
          <a:xfrm>
            <a:off x="576000" y="5418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26 janv. · 10 h</a:t>
            </a:r>
          </a:p>
        </p:txBody>
      </p:sp>
      <p:sp>
        <p:nvSpPr>
          <p:cNvPr id="33" name="TextBox 32"/>
          <p:cNvSpPr txBox="1"/>
          <p:nvPr/>
        </p:nvSpPr>
        <p:spPr>
          <a:xfrm>
            <a:off x="576000" y="5688000"/>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Alliance nationale</a:t>
            </a:r>
          </a:p>
        </p:txBody>
      </p:sp>
      <p:sp>
        <p:nvSpPr>
          <p:cNvPr id="34" name="Rounded Rectangle 33"/>
          <p:cNvSpPr/>
          <p:nvPr/>
        </p:nvSpPr>
        <p:spPr>
          <a:xfrm>
            <a:off x="2754000" y="4068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Picture 34" descr="post08_partenaires_400_1.6527777777777777.jpg"/>
          <p:cNvPicPr>
            <a:picLocks noChangeAspect="1"/>
          </p:cNvPicPr>
          <p:nvPr/>
        </p:nvPicPr>
        <p:blipFill>
          <a:blip r:embed="rId10"/>
          <a:stretch>
            <a:fillRect/>
          </a:stretch>
        </p:blipFill>
        <p:spPr>
          <a:xfrm>
            <a:off x="2754000" y="4068000"/>
            <a:ext cx="2142000" cy="1296000"/>
          </a:xfrm>
          <a:prstGeom prst="rect">
            <a:avLst/>
          </a:prstGeom>
        </p:spPr>
      </p:pic>
      <p:sp>
        <p:nvSpPr>
          <p:cNvPr id="36" name="TextBox 35"/>
          <p:cNvSpPr txBox="1"/>
          <p:nvPr/>
        </p:nvSpPr>
        <p:spPr>
          <a:xfrm>
            <a:off x="2861999" y="5418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2 févr. · 10 h</a:t>
            </a:r>
          </a:p>
        </p:txBody>
      </p:sp>
      <p:sp>
        <p:nvSpPr>
          <p:cNvPr id="37" name="TextBox 36"/>
          <p:cNvSpPr txBox="1"/>
          <p:nvPr/>
        </p:nvSpPr>
        <p:spPr>
          <a:xfrm>
            <a:off x="2861999" y="5688000"/>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Partenaires</a:t>
            </a:r>
          </a:p>
        </p:txBody>
      </p:sp>
      <p:sp>
        <p:nvSpPr>
          <p:cNvPr id="38" name="Rounded Rectangle 37"/>
          <p:cNvSpPr/>
          <p:nvPr/>
        </p:nvSpPr>
        <p:spPr>
          <a:xfrm>
            <a:off x="5040000" y="4068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9" name="Picture 38" descr="post09_save-the-date_400_1.6527777777777777.jpg"/>
          <p:cNvPicPr>
            <a:picLocks noChangeAspect="1"/>
          </p:cNvPicPr>
          <p:nvPr/>
        </p:nvPicPr>
        <p:blipFill>
          <a:blip r:embed="rId11"/>
          <a:stretch>
            <a:fillRect/>
          </a:stretch>
        </p:blipFill>
        <p:spPr>
          <a:xfrm>
            <a:off x="5040000" y="4068000"/>
            <a:ext cx="2142000" cy="1296000"/>
          </a:xfrm>
          <a:prstGeom prst="rect">
            <a:avLst/>
          </a:prstGeom>
        </p:spPr>
      </p:pic>
      <p:sp>
        <p:nvSpPr>
          <p:cNvPr id="40" name="TextBox 39"/>
          <p:cNvSpPr txBox="1"/>
          <p:nvPr/>
        </p:nvSpPr>
        <p:spPr>
          <a:xfrm>
            <a:off x="5148000" y="5418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9 févr. · 10 h</a:t>
            </a:r>
          </a:p>
        </p:txBody>
      </p:sp>
      <p:sp>
        <p:nvSpPr>
          <p:cNvPr id="41" name="TextBox 40"/>
          <p:cNvSpPr txBox="1"/>
          <p:nvPr/>
        </p:nvSpPr>
        <p:spPr>
          <a:xfrm>
            <a:off x="5148000" y="5688000"/>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Réservez la date</a:t>
            </a:r>
          </a:p>
        </p:txBody>
      </p:sp>
      <p:sp>
        <p:nvSpPr>
          <p:cNvPr id="42" name="Rounded Rectangle 41"/>
          <p:cNvSpPr/>
          <p:nvPr/>
        </p:nvSpPr>
        <p:spPr>
          <a:xfrm>
            <a:off x="7325999" y="4068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3" name="Picture 42" descr="post07_prix_400_1.6527777777777777.jpg"/>
          <p:cNvPicPr>
            <a:picLocks noChangeAspect="1"/>
          </p:cNvPicPr>
          <p:nvPr/>
        </p:nvPicPr>
        <p:blipFill>
          <a:blip r:embed="rId12"/>
          <a:stretch>
            <a:fillRect/>
          </a:stretch>
        </p:blipFill>
        <p:spPr>
          <a:xfrm>
            <a:off x="7325999" y="4068000"/>
            <a:ext cx="2142000" cy="1296000"/>
          </a:xfrm>
          <a:prstGeom prst="rect">
            <a:avLst/>
          </a:prstGeom>
        </p:spPr>
      </p:pic>
      <p:sp>
        <p:nvSpPr>
          <p:cNvPr id="44" name="TextBox 43"/>
          <p:cNvSpPr txBox="1"/>
          <p:nvPr/>
        </p:nvSpPr>
        <p:spPr>
          <a:xfrm>
            <a:off x="7433999" y="5418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16 févr. · 10 h</a:t>
            </a:r>
          </a:p>
        </p:txBody>
      </p:sp>
      <p:sp>
        <p:nvSpPr>
          <p:cNvPr id="45" name="TextBox 44"/>
          <p:cNvSpPr txBox="1"/>
          <p:nvPr/>
        </p:nvSpPr>
        <p:spPr>
          <a:xfrm>
            <a:off x="7433999" y="5688000"/>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Prix ACCELERATE IA</a:t>
            </a:r>
          </a:p>
        </p:txBody>
      </p:sp>
      <p:sp>
        <p:nvSpPr>
          <p:cNvPr id="46" name="Rounded Rectangle 45"/>
          <p:cNvSpPr/>
          <p:nvPr/>
        </p:nvSpPr>
        <p:spPr>
          <a:xfrm>
            <a:off x="9612000" y="4068000"/>
            <a:ext cx="2142000" cy="241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post10_inscriptions_400_1.6527777777777777.jpg"/>
          <p:cNvPicPr>
            <a:picLocks noChangeAspect="1"/>
          </p:cNvPicPr>
          <p:nvPr/>
        </p:nvPicPr>
        <p:blipFill>
          <a:blip r:embed="rId13"/>
          <a:stretch>
            <a:fillRect/>
          </a:stretch>
        </p:blipFill>
        <p:spPr>
          <a:xfrm>
            <a:off x="9612000" y="4068000"/>
            <a:ext cx="2142000" cy="1296000"/>
          </a:xfrm>
          <a:prstGeom prst="rect">
            <a:avLst/>
          </a:prstGeom>
        </p:spPr>
      </p:pic>
      <p:sp>
        <p:nvSpPr>
          <p:cNvPr id="48" name="TextBox 47"/>
          <p:cNvSpPr txBox="1"/>
          <p:nvPr/>
        </p:nvSpPr>
        <p:spPr>
          <a:xfrm>
            <a:off x="9720000" y="5418000"/>
            <a:ext cx="1944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23 févr. · 10 h</a:t>
            </a:r>
          </a:p>
        </p:txBody>
      </p:sp>
      <p:sp>
        <p:nvSpPr>
          <p:cNvPr id="49" name="TextBox 48"/>
          <p:cNvSpPr txBox="1"/>
          <p:nvPr/>
        </p:nvSpPr>
        <p:spPr>
          <a:xfrm>
            <a:off x="9720000" y="5688000"/>
            <a:ext cx="1944000" cy="720000"/>
          </a:xfrm>
          <a:prstGeom prst="rect">
            <a:avLst/>
          </a:prstGeom>
          <a:noFill/>
        </p:spPr>
        <p:txBody>
          <a:bodyPr wrap="square" lIns="36000" rIns="36000" tIns="18000" bIns="18000">
            <a:spAutoFit/>
          </a:bodyPr>
          <a:lstStyle/>
          <a:p>
            <a:pPr>
              <a:spcAft>
                <a:spcPts val="300"/>
              </a:spcAft>
            </a:pPr>
            <a:r>
              <a:rPr sz="1250" b="1">
                <a:solidFill>
                  <a:srgbClr val="062A26"/>
                </a:solidFill>
                <a:latin typeface="Saira"/>
              </a:rPr>
              <a:t>Inscriptions</a:t>
            </a:r>
          </a:p>
        </p:txBody>
      </p:sp>
      <p:sp>
        <p:nvSpPr>
          <p:cNvPr id="50" name="TextBox 49"/>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11 / 39</a:t>
            </a:r>
          </a:p>
        </p:txBody>
      </p:sp>
      <p:sp>
        <p:nvSpPr>
          <p:cNvPr id="51" name="TextBox 50"/>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5 JANV.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Teaser</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1_teaser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Il y a un an, IMPACT IA réunissait l'État, les entreprises, les chercheurs et les startups autour de l'intelligence artificielle. 77 cas d'usage prioritaires en sont sortis.</a:t>
            </a:r>
          </a:p>
          <a:p>
            <a:pPr>
              <a:spcAft>
                <a:spcPts val="300"/>
              </a:spcAft>
            </a:pPr>
            <a:r>
              <a:rPr sz="1300" b="0">
                <a:solidFill>
                  <a:srgbClr val="062A26"/>
                </a:solidFill>
                <a:latin typeface="Inter"/>
              </a:rPr>
              <a:t/>
            </a:r>
          </a:p>
          <a:p>
            <a:pPr>
              <a:spcAft>
                <a:spcPts val="300"/>
              </a:spcAft>
            </a:pPr>
            <a:r>
              <a:rPr sz="1300" b="0">
                <a:solidFill>
                  <a:srgbClr val="062A26"/>
                </a:solidFill>
                <a:latin typeface="Inter"/>
              </a:rPr>
              <a:t>En 2027, on passe à la vitesse supérieure. Annonce officielle le 12 janvier.</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12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12 JANV.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Annonce officielle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2_annonce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C'est officiel : les 3e assises nationales sur l'intelligence artificielle s'appellent ACCELERATE IA. Elles se tiendront du 8 au 10 septembre 2027 à Abidjan.</a:t>
            </a:r>
          </a:p>
          <a:p>
            <a:pPr>
              <a:spcAft>
                <a:spcPts val="300"/>
              </a:spcAft>
            </a:pPr>
            <a:r>
              <a:rPr sz="1300" b="0">
                <a:solidFill>
                  <a:srgbClr val="062A26"/>
                </a:solidFill>
                <a:latin typeface="Inter"/>
              </a:rPr>
              <a:t/>
            </a:r>
          </a:p>
          <a:p>
            <a:pPr>
              <a:spcAft>
                <a:spcPts val="300"/>
              </a:spcAft>
            </a:pPr>
            <a:r>
              <a:rPr sz="1300" b="0">
                <a:solidFill>
                  <a:srgbClr val="062A26"/>
                </a:solidFill>
                <a:latin typeface="Inter"/>
              </a:rPr>
              <a:t>Après la vision en 2025 et les cas d'usage en 2026, place au déploiement. Thème : « Des cas d'usage au déploiement : accélérer l'IA au service des Ivoiriens ».</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13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JEU. 14 JANV.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Rappel IMPACT IA</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3_77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77. C'est le nombre de cas d'usage de l'IA retenus lors d'IMPACT IA 2026, dans l'administration, l'agriculture, la santé, l'éducation et les services aux populations.</a:t>
            </a:r>
          </a:p>
          <a:p>
            <a:pPr>
              <a:spcAft>
                <a:spcPts val="300"/>
              </a:spcAft>
            </a:pPr>
            <a:r>
              <a:rPr sz="1300" b="0">
                <a:solidFill>
                  <a:srgbClr val="062A26"/>
                </a:solidFill>
                <a:latin typeface="Inter"/>
              </a:rPr>
              <a:t/>
            </a:r>
          </a:p>
          <a:p>
            <a:pPr>
              <a:spcAft>
                <a:spcPts val="300"/>
              </a:spcAft>
            </a:pPr>
            <a:r>
              <a:rPr sz="1300" b="0">
                <a:solidFill>
                  <a:srgbClr val="062A26"/>
                </a:solidFill>
                <a:latin typeface="Inter"/>
              </a:rPr>
              <a:t>À ACCELERATE IA, nous présenterons publiquement l'état d'avancement de chacun : le Bilan des 77.</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14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19 JANV.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Le thème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4_theme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Le thème d'ACCELERATE IA 2027 tient en une ligne : des cas d'usage au déploiement.</a:t>
            </a:r>
          </a:p>
          <a:p>
            <a:pPr>
              <a:spcAft>
                <a:spcPts val="300"/>
              </a:spcAft>
            </a:pPr>
            <a:r>
              <a:rPr sz="1300" b="0">
                <a:solidFill>
                  <a:srgbClr val="062A26"/>
                </a:solidFill>
                <a:latin typeface="Inter"/>
              </a:rPr>
              <a:t/>
            </a:r>
          </a:p>
          <a:p>
            <a:pPr>
              <a:spcAft>
                <a:spcPts val="300"/>
              </a:spcAft>
            </a:pPr>
            <a:r>
              <a:rPr sz="1300" b="0">
                <a:solidFill>
                  <a:srgbClr val="062A26"/>
                </a:solidFill>
                <a:latin typeface="Inter"/>
              </a:rPr>
              <a:t>L'objectif est de montrer l'IA qui fonctionne déjà en Côte d'Ivoire, et d'engager les moyens pour la déployer partout.</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15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JEU. 21 JANV.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Ce qui change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5_partis-pris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Trois choses changent en 2027.</a:t>
            </a:r>
          </a:p>
          <a:p>
            <a:pPr>
              <a:spcAft>
                <a:spcPts val="300"/>
              </a:spcAft>
            </a:pPr>
            <a:r>
              <a:rPr sz="1300" b="0">
                <a:solidFill>
                  <a:srgbClr val="062A26"/>
                </a:solidFill>
                <a:latin typeface="Inter"/>
              </a:rPr>
              <a:t>1. Rendre des comptes : un état public des 77 cas d'usage.</a:t>
            </a:r>
          </a:p>
          <a:p>
            <a:pPr>
              <a:spcAft>
                <a:spcPts val="300"/>
              </a:spcAft>
            </a:pPr>
            <a:r>
              <a:rPr sz="1300" b="0">
                <a:solidFill>
                  <a:srgbClr val="062A26"/>
                </a:solidFill>
                <a:latin typeface="Inter"/>
              </a:rPr>
              <a:t>2. Montrer : chaque déploiement présenté par ceux qui l'utilisent.</a:t>
            </a:r>
          </a:p>
          <a:p>
            <a:pPr>
              <a:spcAft>
                <a:spcPts val="300"/>
              </a:spcAft>
            </a:pPr>
            <a:r>
              <a:rPr sz="1300" b="0">
                <a:solidFill>
                  <a:srgbClr val="062A26"/>
                </a:solidFill>
                <a:latin typeface="Inter"/>
              </a:rPr>
              <a:t>3. S'engager : des conventions, des pilotes et des financements signés sur place.</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16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26 JANV.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Alliance nationale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6_alliance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En septembre 2026, l'État, la CGECI et la Chambre de commerce et d'industrie signaient le Pacte de l'Alliance nationale pour l'IA.</a:t>
            </a:r>
          </a:p>
          <a:p>
            <a:pPr>
              <a:spcAft>
                <a:spcPts val="300"/>
              </a:spcAft>
            </a:pPr>
            <a:r>
              <a:rPr sz="1300" b="0">
                <a:solidFill>
                  <a:srgbClr val="062A26"/>
                </a:solidFill>
                <a:latin typeface="Inter"/>
              </a:rPr>
              <a:t/>
            </a:r>
          </a:p>
          <a:p>
            <a:pPr>
              <a:spcAft>
                <a:spcPts val="300"/>
              </a:spcAft>
            </a:pPr>
            <a:r>
              <a:rPr sz="1300" b="0">
                <a:solidFill>
                  <a:srgbClr val="062A26"/>
                </a:solidFill>
                <a:latin typeface="Inter"/>
              </a:rPr>
              <a:t>À ACCELERATE IA, les signataires présenteront ce qu'ils ont engagé en un an, et ce qu'ils engagent pour 2028.</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17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2 FÉVR.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Partenaires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8_partenaires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Entreprises, institutions, partenaires techniques et financiers : associez votre organisation à ACCELERATE IA.</a:t>
            </a:r>
          </a:p>
          <a:p>
            <a:pPr>
              <a:spcAft>
                <a:spcPts val="300"/>
              </a:spcAft>
            </a:pPr>
            <a:r>
              <a:rPr sz="1300" b="0">
                <a:solidFill>
                  <a:srgbClr val="062A26"/>
                </a:solidFill>
                <a:latin typeface="Inter"/>
              </a:rPr>
              <a:t/>
            </a:r>
          </a:p>
          <a:p>
            <a:pPr>
              <a:spcAft>
                <a:spcPts val="300"/>
              </a:spcAft>
            </a:pPr>
            <a:r>
              <a:rPr sz="1300" b="0">
                <a:solidFill>
                  <a:srgbClr val="062A26"/>
                </a:solidFill>
                <a:latin typeface="Inter"/>
              </a:rPr>
              <a:t>Quatre niveaux de partenariat, du Bronze au Platine : stand de démonstration, prise de parole, présence dans le Bilan des 77. Dossier partenaires sur demande.</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18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9 FÉVR.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Réservez la date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9_save-the-date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Notez-le dès maintenant : ACCELERATE IA, du 8 au 10 septembre 2027 à Abidjan.</a:t>
            </a:r>
          </a:p>
          <a:p>
            <a:pPr>
              <a:spcAft>
                <a:spcPts val="300"/>
              </a:spcAft>
            </a:pPr>
            <a:r>
              <a:rPr sz="1300" b="0">
                <a:solidFill>
                  <a:srgbClr val="062A26"/>
                </a:solidFill>
                <a:latin typeface="Inter"/>
              </a:rPr>
              <a:t/>
            </a:r>
          </a:p>
          <a:p>
            <a:pPr>
              <a:spcAft>
                <a:spcPts val="300"/>
              </a:spcAft>
            </a:pPr>
            <a:r>
              <a:rPr sz="1300" b="0">
                <a:solidFill>
                  <a:srgbClr val="062A26"/>
                </a:solidFill>
                <a:latin typeface="Inter"/>
              </a:rPr>
              <a:t>Trois jours pour voir l'IA en service, rencontrer ceux qui la financent et repartir avec un projet engagé.</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19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16 FÉVR.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Prix ACCELERATE IA</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07_prix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Vous avez déployé une solution d'IA en Côte d'Ivoire ? Startup, laboratoire ou équipe publique, le Prix ACCELERATE IA est pour vous.</a:t>
            </a:r>
          </a:p>
          <a:p>
            <a:pPr>
              <a:spcAft>
                <a:spcPts val="300"/>
              </a:spcAft>
            </a:pPr>
            <a:r>
              <a:rPr sz="1300" b="0">
                <a:solidFill>
                  <a:srgbClr val="062A26"/>
                </a:solidFill>
                <a:latin typeface="Inter"/>
              </a:rPr>
              <a:t/>
            </a:r>
          </a:p>
          <a:p>
            <a:pPr>
              <a:spcAft>
                <a:spcPts val="300"/>
              </a:spcAft>
            </a:pPr>
            <a:r>
              <a:rPr sz="1300" b="0">
                <a:solidFill>
                  <a:srgbClr val="062A26"/>
                </a:solidFill>
                <a:latin typeface="Inter"/>
              </a:rPr>
              <a:t>Candidatures du 1er mars au 30 juin 2027. Une catégorie par secteur prioritaire et un prix dédié à l'administration.</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20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MAR. 23 FÉVR. · 10 H</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Inscriptions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396000" y="1422000"/>
            <a:ext cx="3924000" cy="495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post10_inscriptions_640_None.jpg"/>
          <p:cNvPicPr>
            <a:picLocks noChangeAspect="1"/>
          </p:cNvPicPr>
          <p:nvPr/>
        </p:nvPicPr>
        <p:blipFill>
          <a:blip r:embed="rId4"/>
          <a:stretch>
            <a:fillRect/>
          </a:stretch>
        </p:blipFill>
        <p:spPr>
          <a:xfrm>
            <a:off x="503999" y="1512000"/>
            <a:ext cx="3801600" cy="4752000"/>
          </a:xfrm>
          <a:prstGeom prst="rect">
            <a:avLst/>
          </a:prstGeom>
        </p:spPr>
      </p:pic>
      <p:sp>
        <p:nvSpPr>
          <p:cNvPr id="12" name="Rounded Rectangle 11"/>
          <p:cNvSpPr/>
          <p:nvPr/>
        </p:nvSpPr>
        <p:spPr>
          <a:xfrm>
            <a:off x="4716000" y="1512000"/>
            <a:ext cx="7020000" cy="478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716000" y="1512000"/>
            <a:ext cx="7020000" cy="46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mail.png"/>
          <p:cNvPicPr>
            <a:picLocks noChangeAspect="1"/>
          </p:cNvPicPr>
          <p:nvPr/>
        </p:nvPicPr>
        <p:blipFill>
          <a:blip r:embed="rId5"/>
          <a:stretch>
            <a:fillRect/>
          </a:stretch>
        </p:blipFill>
        <p:spPr>
          <a:xfrm>
            <a:off x="4860000" y="1584000"/>
            <a:ext cx="324000" cy="324000"/>
          </a:xfrm>
          <a:prstGeom prst="rect">
            <a:avLst/>
          </a:prstGeom>
        </p:spPr>
      </p:pic>
      <p:sp>
        <p:nvSpPr>
          <p:cNvPr id="15" name="TextBox 14"/>
          <p:cNvSpPr txBox="1"/>
          <p:nvPr/>
        </p:nvSpPr>
        <p:spPr>
          <a:xfrm>
            <a:off x="5292000" y="1565999"/>
            <a:ext cx="612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Texte à publier</a:t>
            </a:r>
          </a:p>
        </p:txBody>
      </p:sp>
      <p:sp>
        <p:nvSpPr>
          <p:cNvPr id="16" name="TextBox 15"/>
          <p:cNvSpPr txBox="1"/>
          <p:nvPr/>
        </p:nvSpPr>
        <p:spPr>
          <a:xfrm>
            <a:off x="4896000" y="2124000"/>
            <a:ext cx="6696000" cy="3311999"/>
          </a:xfrm>
          <a:prstGeom prst="rect">
            <a:avLst/>
          </a:prstGeom>
          <a:noFill/>
        </p:spPr>
        <p:txBody>
          <a:bodyPr wrap="square" lIns="36000" rIns="36000" tIns="18000" bIns="18000">
            <a:spAutoFit/>
          </a:bodyPr>
          <a:lstStyle/>
          <a:p>
            <a:pPr>
              <a:spcAft>
                <a:spcPts val="300"/>
              </a:spcAft>
            </a:pPr>
            <a:r>
              <a:rPr sz="1300" b="0">
                <a:solidFill>
                  <a:srgbClr val="062A26"/>
                </a:solidFill>
                <a:latin typeface="Inter"/>
              </a:rPr>
              <a:t>Le 1er mars 2027, les inscriptions à ACCELERATE IA ouvrent pour les participants, les exposants et les candidats au Prix.</a:t>
            </a:r>
          </a:p>
          <a:p>
            <a:pPr>
              <a:spcAft>
                <a:spcPts val="300"/>
              </a:spcAft>
            </a:pPr>
            <a:r>
              <a:rPr sz="1300" b="0">
                <a:solidFill>
                  <a:srgbClr val="062A26"/>
                </a:solidFill>
                <a:latin typeface="Inter"/>
              </a:rPr>
              <a:t/>
            </a:r>
          </a:p>
          <a:p>
            <a:pPr>
              <a:spcAft>
                <a:spcPts val="300"/>
              </a:spcAft>
            </a:pPr>
            <a:r>
              <a:rPr sz="1300" b="0">
                <a:solidFill>
                  <a:srgbClr val="062A26"/>
                </a:solidFill>
                <a:latin typeface="Inter"/>
              </a:rPr>
              <a:t>Tout se passera sur le site officiel de l'événement.</a:t>
            </a:r>
          </a:p>
          <a:p>
            <a:pPr>
              <a:spcAft>
                <a:spcPts val="300"/>
              </a:spcAft>
            </a:pPr>
            <a:r>
              <a:rPr sz="1300" b="0">
                <a:solidFill>
                  <a:srgbClr val="062A26"/>
                </a:solidFill>
                <a:latin typeface="Inter"/>
              </a:rPr>
              <a:t/>
            </a:r>
          </a:p>
          <a:p>
            <a:pPr>
              <a:spcAft>
                <a:spcPts val="300"/>
              </a:spcAft>
            </a:pPr>
            <a:r>
              <a:rPr sz="1300" b="0">
                <a:solidFill>
                  <a:srgbClr val="062A26"/>
                </a:solidFill>
                <a:latin typeface="Inter"/>
              </a:rPr>
              <a:t>#AccelerateIA2027 #IAenCôtedIvoire</a:t>
            </a:r>
          </a:p>
        </p:txBody>
      </p:sp>
      <p:sp>
        <p:nvSpPr>
          <p:cNvPr id="17" name="Rectangle 16"/>
          <p:cNvSpPr/>
          <p:nvPr/>
        </p:nvSpPr>
        <p:spPr>
          <a:xfrm>
            <a:off x="4896000" y="5580000"/>
            <a:ext cx="6696000" cy="1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brand-linkedin.png"/>
          <p:cNvPicPr>
            <a:picLocks noChangeAspect="1"/>
          </p:cNvPicPr>
          <p:nvPr/>
        </p:nvPicPr>
        <p:blipFill>
          <a:blip r:embed="rId6"/>
          <a:stretch>
            <a:fillRect/>
          </a:stretch>
        </p:blipFill>
        <p:spPr>
          <a:xfrm>
            <a:off x="4896000" y="5724000"/>
            <a:ext cx="360000" cy="360000"/>
          </a:xfrm>
          <a:prstGeom prst="rect">
            <a:avLst/>
          </a:prstGeom>
        </p:spPr>
      </p:pic>
      <p:pic>
        <p:nvPicPr>
          <p:cNvPr id="19" name="Picture 18" descr="brand-facebook.png"/>
          <p:cNvPicPr>
            <a:picLocks noChangeAspect="1"/>
          </p:cNvPicPr>
          <p:nvPr/>
        </p:nvPicPr>
        <p:blipFill>
          <a:blip r:embed="rId7"/>
          <a:stretch>
            <a:fillRect/>
          </a:stretch>
        </p:blipFill>
        <p:spPr>
          <a:xfrm>
            <a:off x="5364000" y="5724000"/>
            <a:ext cx="360000" cy="360000"/>
          </a:xfrm>
          <a:prstGeom prst="rect">
            <a:avLst/>
          </a:prstGeom>
        </p:spPr>
      </p:pic>
      <p:pic>
        <p:nvPicPr>
          <p:cNvPr id="20" name="Picture 19" descr="brand-instagram.png"/>
          <p:cNvPicPr>
            <a:picLocks noChangeAspect="1"/>
          </p:cNvPicPr>
          <p:nvPr/>
        </p:nvPicPr>
        <p:blipFill>
          <a:blip r:embed="rId8"/>
          <a:stretch>
            <a:fillRect/>
          </a:stretch>
        </p:blipFill>
        <p:spPr>
          <a:xfrm>
            <a:off x="5832000" y="5724000"/>
            <a:ext cx="360000" cy="360000"/>
          </a:xfrm>
          <a:prstGeom prst="rect">
            <a:avLst/>
          </a:prstGeom>
        </p:spPr>
      </p:pic>
      <p:pic>
        <p:nvPicPr>
          <p:cNvPr id="21" name="Picture 20" descr="brand-x.png"/>
          <p:cNvPicPr>
            <a:picLocks noChangeAspect="1"/>
          </p:cNvPicPr>
          <p:nvPr/>
        </p:nvPicPr>
        <p:blipFill>
          <a:blip r:embed="rId9"/>
          <a:stretch>
            <a:fillRect/>
          </a:stretch>
        </p:blipFill>
        <p:spPr>
          <a:xfrm>
            <a:off x="6300000" y="5724000"/>
            <a:ext cx="360000" cy="360000"/>
          </a:xfrm>
          <a:prstGeom prst="rect">
            <a:avLst/>
          </a:prstGeom>
        </p:spPr>
      </p:pic>
      <p:sp>
        <p:nvSpPr>
          <p:cNvPr id="22" name="TextBox 21"/>
          <p:cNvSpPr txBox="1"/>
          <p:nvPr/>
        </p:nvSpPr>
        <p:spPr>
          <a:xfrm>
            <a:off x="6876000" y="5724000"/>
            <a:ext cx="4680000" cy="432000"/>
          </a:xfrm>
          <a:prstGeom prst="rect">
            <a:avLst/>
          </a:prstGeom>
          <a:noFill/>
        </p:spPr>
        <p:txBody>
          <a:bodyPr wrap="square" lIns="36000" rIns="36000" tIns="18000" bIns="18000">
            <a:spAutoFit/>
          </a:bodyPr>
          <a:lstStyle/>
          <a:p>
            <a:pPr>
              <a:spcAft>
                <a:spcPts val="300"/>
              </a:spcAft>
            </a:pPr>
            <a:r>
              <a:rPr sz="1000" b="0">
                <a:solidFill>
                  <a:srgbClr val="3B4B48"/>
                </a:solidFill>
                <a:latin typeface="Inter"/>
              </a:rPr>
              <a:t>Format 4:5 · sur X, le texte se limite à la première phrase et au lien</a:t>
            </a:r>
          </a:p>
        </p:txBody>
      </p:sp>
      <p:sp>
        <p:nvSpPr>
          <p:cNvPr id="23" name="TextBox 22"/>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21 / 39</a:t>
            </a:r>
          </a:p>
        </p:txBody>
      </p:sp>
      <p:sp>
        <p:nvSpPr>
          <p:cNvPr id="24" name="TextBox 23"/>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hand_900_0.8398950131233596.jpg"/>
          <p:cNvPicPr>
            <a:picLocks noChangeAspect="1"/>
          </p:cNvPicPr>
          <p:nvPr/>
        </p:nvPicPr>
        <p:blipFill>
          <a:blip r:embed="rId2"/>
          <a:stretch>
            <a:fillRect/>
          </a:stretch>
        </p:blipFill>
        <p:spPr>
          <a:xfrm>
            <a:off x="6433200" y="0"/>
            <a:ext cx="5760000" cy="6858000"/>
          </a:xfrm>
          <a:prstGeom prst="rect">
            <a:avLst/>
          </a:prstGeom>
        </p:spPr>
      </p:pic>
      <p:sp>
        <p:nvSpPr>
          <p:cNvPr id="3" name="Rectangle 2"/>
          <p:cNvSpPr/>
          <p:nvPr/>
        </p:nvSpPr>
        <p:spPr>
          <a:xfrm>
            <a:off x="0" y="0"/>
            <a:ext cx="64332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2160000" cy="1080000"/>
          </a:xfrm>
          <a:prstGeom prst="rect">
            <a:avLst/>
          </a:prstGeom>
          <a:noFill/>
        </p:spPr>
        <p:txBody>
          <a:bodyPr wrap="square" lIns="36000" rIns="36000" tIns="18000" bIns="18000">
            <a:spAutoFit/>
          </a:bodyPr>
          <a:lstStyle/>
          <a:p>
            <a:pPr>
              <a:spcAft>
                <a:spcPts val="300"/>
              </a:spcAft>
            </a:pPr>
            <a:r>
              <a:rPr sz="7200" b="1">
                <a:solidFill>
                  <a:srgbClr val="FF8A00"/>
                </a:solidFill>
                <a:latin typeface="Saira"/>
              </a:rPr>
              <a:t>04</a:t>
            </a:r>
          </a:p>
        </p:txBody>
      </p:sp>
      <p:sp>
        <p:nvSpPr>
          <p:cNvPr id="5" name="TextBox 4"/>
          <p:cNvSpPr txBox="1"/>
          <p:nvPr/>
        </p:nvSpPr>
        <p:spPr>
          <a:xfrm>
            <a:off x="648000" y="3096000"/>
            <a:ext cx="5400000" cy="1080000"/>
          </a:xfrm>
          <a:prstGeom prst="rect">
            <a:avLst/>
          </a:prstGeom>
          <a:noFill/>
        </p:spPr>
        <p:txBody>
          <a:bodyPr wrap="square" lIns="36000" rIns="36000" tIns="18000" bIns="18000">
            <a:spAutoFit/>
          </a:bodyPr>
          <a:lstStyle/>
          <a:p>
            <a:pPr>
              <a:spcAft>
                <a:spcPts val="300"/>
              </a:spcAft>
            </a:pPr>
            <a:r>
              <a:rPr sz="3400" b="1">
                <a:solidFill>
                  <a:srgbClr val="FFFFFF"/>
                </a:solidFill>
                <a:latin typeface="Saira"/>
              </a:rPr>
              <a:t>Flyers et invitation officielle</a:t>
            </a:r>
          </a:p>
        </p:txBody>
      </p:sp>
      <p:sp>
        <p:nvSpPr>
          <p:cNvPr id="6" name="TextBox 5"/>
          <p:cNvSpPr txBox="1"/>
          <p:nvPr/>
        </p:nvSpPr>
        <p:spPr>
          <a:xfrm>
            <a:off x="648000" y="4176000"/>
            <a:ext cx="5220000" cy="1080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Deux flyers A5, le carton de cérémonie, sa version numérique et les courriers.</a:t>
            </a:r>
          </a:p>
        </p:txBody>
      </p:sp>
      <p:pic>
        <p:nvPicPr>
          <p:cNvPr id="7" name="Picture 6" descr="04_logo_piste-A_fond-sombre_900_None.jpg"/>
          <p:cNvPicPr>
            <a:picLocks noChangeAspect="1"/>
          </p:cNvPicPr>
          <p:nvPr/>
        </p:nvPicPr>
        <p:blipFill>
          <a:blip r:embed="rId3"/>
          <a:stretch>
            <a:fillRect/>
          </a:stretch>
        </p:blipFill>
        <p:spPr>
          <a:xfrm>
            <a:off x="324000" y="5544000"/>
            <a:ext cx="2880000" cy="1619200"/>
          </a:xfrm>
          <a:prstGeom prst="rect">
            <a:avLst/>
          </a:prstGeom>
        </p:spPr>
      </p:pic>
      <p:sp>
        <p:nvSpPr>
          <p:cNvPr id="8" name="TextBox 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BFE5DC"/>
                </a:solidFill>
                <a:latin typeface="Inter"/>
              </a:rPr>
              <a:t>22 / 39</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news.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IMPRIMÉ</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Flyer participants, A5 recto verso</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flyer-participants_A5_recto_720_None.jpg"/>
          <p:cNvPicPr>
            <a:picLocks noChangeAspect="1"/>
          </p:cNvPicPr>
          <p:nvPr/>
        </p:nvPicPr>
        <p:blipFill>
          <a:blip r:embed="rId4"/>
          <a:stretch>
            <a:fillRect/>
          </a:stretch>
        </p:blipFill>
        <p:spPr>
          <a:xfrm>
            <a:off x="468000" y="1440000"/>
            <a:ext cx="3525323" cy="5004000"/>
          </a:xfrm>
          <a:prstGeom prst="rect">
            <a:avLst/>
          </a:prstGeom>
        </p:spPr>
      </p:pic>
      <p:pic>
        <p:nvPicPr>
          <p:cNvPr id="11" name="Picture 10" descr="flyer-participants_A5_verso_720_None.jpg"/>
          <p:cNvPicPr>
            <a:picLocks noChangeAspect="1"/>
          </p:cNvPicPr>
          <p:nvPr/>
        </p:nvPicPr>
        <p:blipFill>
          <a:blip r:embed="rId5"/>
          <a:stretch>
            <a:fillRect/>
          </a:stretch>
        </p:blipFill>
        <p:spPr>
          <a:xfrm>
            <a:off x="4104000" y="1440000"/>
            <a:ext cx="3525323" cy="5004000"/>
          </a:xfrm>
          <a:prstGeom prst="rect">
            <a:avLst/>
          </a:prstGeom>
        </p:spPr>
      </p:pic>
      <p:sp>
        <p:nvSpPr>
          <p:cNvPr id="12" name="Rounded Rectangle 11"/>
          <p:cNvSpPr/>
          <p:nvPr/>
        </p:nvSpPr>
        <p:spPr>
          <a:xfrm>
            <a:off x="7776000" y="1440000"/>
            <a:ext cx="3960000" cy="2376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776000" y="1440000"/>
            <a:ext cx="64800" cy="2376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4" name="Picture 13" descr="users-group.png"/>
          <p:cNvPicPr>
            <a:picLocks noChangeAspect="1"/>
          </p:cNvPicPr>
          <p:nvPr/>
        </p:nvPicPr>
        <p:blipFill>
          <a:blip r:embed="rId6"/>
          <a:stretch>
            <a:fillRect/>
          </a:stretch>
        </p:blipFill>
        <p:spPr>
          <a:xfrm>
            <a:off x="7992000" y="1620000"/>
            <a:ext cx="432000" cy="432000"/>
          </a:xfrm>
          <a:prstGeom prst="rect">
            <a:avLst/>
          </a:prstGeom>
        </p:spPr>
      </p:pic>
      <p:sp>
        <p:nvSpPr>
          <p:cNvPr id="15" name="TextBox 14"/>
          <p:cNvSpPr txBox="1"/>
          <p:nvPr/>
        </p:nvSpPr>
        <p:spPr>
          <a:xfrm>
            <a:off x="8532000" y="1620000"/>
            <a:ext cx="306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Pour qui, où</a:t>
            </a:r>
          </a:p>
        </p:txBody>
      </p:sp>
      <p:sp>
        <p:nvSpPr>
          <p:cNvPr id="16" name="TextBox 15"/>
          <p:cNvSpPr txBox="1"/>
          <p:nvPr/>
        </p:nvSpPr>
        <p:spPr>
          <a:xfrm>
            <a:off x="7992000" y="2124000"/>
            <a:ext cx="3564000" cy="1620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Distribué en université, chez les partenaires et lors des rencontres préparatoires. Le recto part seul sur WhatsApp.</a:t>
            </a:r>
          </a:p>
        </p:txBody>
      </p:sp>
      <p:sp>
        <p:nvSpPr>
          <p:cNvPr id="17" name="Rounded Rectangle 16"/>
          <p:cNvSpPr/>
          <p:nvPr/>
        </p:nvSpPr>
        <p:spPr>
          <a:xfrm>
            <a:off x="7776000" y="4031999"/>
            <a:ext cx="3960000" cy="241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7776000" y="4031999"/>
            <a:ext cx="64800" cy="2412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9" name="Picture 18" descr="tools.png"/>
          <p:cNvPicPr>
            <a:picLocks noChangeAspect="1"/>
          </p:cNvPicPr>
          <p:nvPr/>
        </p:nvPicPr>
        <p:blipFill>
          <a:blip r:embed="rId7"/>
          <a:stretch>
            <a:fillRect/>
          </a:stretch>
        </p:blipFill>
        <p:spPr>
          <a:xfrm>
            <a:off x="7992000" y="4212000"/>
            <a:ext cx="432000" cy="432000"/>
          </a:xfrm>
          <a:prstGeom prst="rect">
            <a:avLst/>
          </a:prstGeom>
        </p:spPr>
      </p:pic>
      <p:sp>
        <p:nvSpPr>
          <p:cNvPr id="20" name="TextBox 19"/>
          <p:cNvSpPr txBox="1"/>
          <p:nvPr/>
        </p:nvSpPr>
        <p:spPr>
          <a:xfrm>
            <a:off x="8532000" y="4212000"/>
            <a:ext cx="306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Impression</a:t>
            </a:r>
          </a:p>
        </p:txBody>
      </p:sp>
      <p:sp>
        <p:nvSpPr>
          <p:cNvPr id="21" name="TextBox 20"/>
          <p:cNvSpPr txBox="1"/>
          <p:nvPr/>
        </p:nvSpPr>
        <p:spPr>
          <a:xfrm>
            <a:off x="7992000" y="4716000"/>
            <a:ext cx="3564000" cy="1655999"/>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A5 (148 × 210 mm), papier couché mat 350 g, recto verso en quadrichromie. Fichiers en CMJN avec 3 mm de fonds perdus, une fois le logo validé.</a:t>
            </a:r>
          </a:p>
        </p:txBody>
      </p:sp>
      <p:sp>
        <p:nvSpPr>
          <p:cNvPr id="22" name="TextBox 21"/>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23 / 39</a:t>
            </a:r>
          </a:p>
        </p:txBody>
      </p:sp>
      <p:sp>
        <p:nvSpPr>
          <p:cNvPr id="23" name="TextBox 22"/>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building-store.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IMPRIMÉ ET ENVOI PAR E-MAIL</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Flyer partenaires et exposants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flyer-partenaires_A5_recto_720_None.jpg"/>
          <p:cNvPicPr>
            <a:picLocks noChangeAspect="1"/>
          </p:cNvPicPr>
          <p:nvPr/>
        </p:nvPicPr>
        <p:blipFill>
          <a:blip r:embed="rId4"/>
          <a:stretch>
            <a:fillRect/>
          </a:stretch>
        </p:blipFill>
        <p:spPr>
          <a:xfrm>
            <a:off x="468000" y="1440000"/>
            <a:ext cx="3525323" cy="5004000"/>
          </a:xfrm>
          <a:prstGeom prst="rect">
            <a:avLst/>
          </a:prstGeom>
        </p:spPr>
      </p:pic>
      <p:sp>
        <p:nvSpPr>
          <p:cNvPr id="11" name="Rounded Rectangle 10"/>
          <p:cNvSpPr/>
          <p:nvPr/>
        </p:nvSpPr>
        <p:spPr>
          <a:xfrm>
            <a:off x="4176000" y="1440000"/>
            <a:ext cx="7560000" cy="2304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176000" y="1440000"/>
            <a:ext cx="64800" cy="2304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target.png"/>
          <p:cNvPicPr>
            <a:picLocks noChangeAspect="1"/>
          </p:cNvPicPr>
          <p:nvPr/>
        </p:nvPicPr>
        <p:blipFill>
          <a:blip r:embed="rId5"/>
          <a:stretch>
            <a:fillRect/>
          </a:stretch>
        </p:blipFill>
        <p:spPr>
          <a:xfrm>
            <a:off x="4392000" y="1620000"/>
            <a:ext cx="432000" cy="432000"/>
          </a:xfrm>
          <a:prstGeom prst="rect">
            <a:avLst/>
          </a:prstGeom>
        </p:spPr>
      </p:pic>
      <p:sp>
        <p:nvSpPr>
          <p:cNvPr id="14" name="TextBox 13"/>
          <p:cNvSpPr txBox="1"/>
          <p:nvPr/>
        </p:nvSpPr>
        <p:spPr>
          <a:xfrm>
            <a:off x="4932000" y="1620000"/>
            <a:ext cx="666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Rôle</a:t>
            </a:r>
          </a:p>
        </p:txBody>
      </p:sp>
      <p:sp>
        <p:nvSpPr>
          <p:cNvPr id="15" name="TextBox 14"/>
          <p:cNvSpPr txBox="1"/>
          <p:nvPr/>
        </p:nvSpPr>
        <p:spPr>
          <a:xfrm>
            <a:off x="4392000" y="2124000"/>
            <a:ext cx="7163999" cy="1548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Ouvrir la conversation avec les entreprises et les bailleurs. Il renvoie vers le dossier partenaires (note de concept), qui détaille les niveaux et les contreparties.</a:t>
            </a:r>
          </a:p>
        </p:txBody>
      </p:sp>
      <p:sp>
        <p:nvSpPr>
          <p:cNvPr id="16" name="Rounded Rectangle 15"/>
          <p:cNvSpPr/>
          <p:nvPr/>
        </p:nvSpPr>
        <p:spPr>
          <a:xfrm>
            <a:off x="4176000" y="3960000"/>
            <a:ext cx="7560000" cy="2484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176000" y="3960000"/>
            <a:ext cx="64800" cy="2484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heart-handshake.png"/>
          <p:cNvPicPr>
            <a:picLocks noChangeAspect="1"/>
          </p:cNvPicPr>
          <p:nvPr/>
        </p:nvPicPr>
        <p:blipFill>
          <a:blip r:embed="rId6"/>
          <a:stretch>
            <a:fillRect/>
          </a:stretch>
        </p:blipFill>
        <p:spPr>
          <a:xfrm>
            <a:off x="4392000" y="4140000"/>
            <a:ext cx="432000" cy="432000"/>
          </a:xfrm>
          <a:prstGeom prst="rect">
            <a:avLst/>
          </a:prstGeom>
        </p:spPr>
      </p:pic>
      <p:sp>
        <p:nvSpPr>
          <p:cNvPr id="19" name="TextBox 18"/>
          <p:cNvSpPr txBox="1"/>
          <p:nvPr/>
        </p:nvSpPr>
        <p:spPr>
          <a:xfrm>
            <a:off x="4932000" y="4140000"/>
            <a:ext cx="666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Où il circule</a:t>
            </a:r>
          </a:p>
        </p:txBody>
      </p:sp>
      <p:sp>
        <p:nvSpPr>
          <p:cNvPr id="20" name="TextBox 19"/>
          <p:cNvSpPr txBox="1"/>
          <p:nvPr/>
        </p:nvSpPr>
        <p:spPr>
          <a:xfrm>
            <a:off x="4392000" y="4644000"/>
            <a:ext cx="7163999" cy="1728000"/>
          </a:xfrm>
          <a:prstGeom prst="rect">
            <a:avLst/>
          </a:prstGeom>
          <a:noFill/>
        </p:spPr>
        <p:txBody>
          <a:bodyPr wrap="square" lIns="36000" rIns="36000" tIns="18000" bIns="18000">
            <a:spAutoFit/>
          </a:bodyPr>
          <a:lstStyle/>
          <a:p>
            <a:pPr>
              <a:spcAft>
                <a:spcPts val="300"/>
              </a:spcAft>
            </a:pPr>
            <a:r>
              <a:rPr sz="1200" b="0">
                <a:solidFill>
                  <a:srgbClr val="3B4B48"/>
                </a:solidFill>
                <a:latin typeface="Inter"/>
              </a:rPr>
              <a:t>Rendez-vous de prospection, envoi par e-mail en PDF avec le dossier partenaires, stands de l'écosystème (Ivoire Tech, incubateurs, CGECI).</a:t>
            </a:r>
          </a:p>
        </p:txBody>
      </p:sp>
      <p:sp>
        <p:nvSpPr>
          <p:cNvPr id="21" name="TextBox 20"/>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24 / 39</a:t>
            </a:r>
          </a:p>
        </p:txBody>
      </p:sp>
      <p:sp>
        <p:nvSpPr>
          <p:cNvPr id="22" name="TextBox 21"/>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il.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CÉRÉMONIE OFFICIELLE D'OUVERTURE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Le carton d'invitation</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carton-invitation_maquette_900_None.jpg"/>
          <p:cNvPicPr>
            <a:picLocks noChangeAspect="1"/>
          </p:cNvPicPr>
          <p:nvPr/>
        </p:nvPicPr>
        <p:blipFill>
          <a:blip r:embed="rId4"/>
          <a:stretch>
            <a:fillRect/>
          </a:stretch>
        </p:blipFill>
        <p:spPr>
          <a:xfrm>
            <a:off x="468000" y="1440000"/>
            <a:ext cx="7740000" cy="4841800"/>
          </a:xfrm>
          <a:prstGeom prst="rect">
            <a:avLst/>
          </a:prstGeom>
        </p:spPr>
      </p:pic>
      <p:sp>
        <p:nvSpPr>
          <p:cNvPr id="11" name="Rounded Rectangle 10"/>
          <p:cNvSpPr/>
          <p:nvPr/>
        </p:nvSpPr>
        <p:spPr>
          <a:xfrm>
            <a:off x="8424000" y="1440000"/>
            <a:ext cx="3311999" cy="241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24000" y="1440000"/>
            <a:ext cx="64800" cy="2412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certificate.png"/>
          <p:cNvPicPr>
            <a:picLocks noChangeAspect="1"/>
          </p:cNvPicPr>
          <p:nvPr/>
        </p:nvPicPr>
        <p:blipFill>
          <a:blip r:embed="rId5"/>
          <a:stretch>
            <a:fillRect/>
          </a:stretch>
        </p:blipFill>
        <p:spPr>
          <a:xfrm>
            <a:off x="8640000" y="1620000"/>
            <a:ext cx="432000" cy="432000"/>
          </a:xfrm>
          <a:prstGeom prst="rect">
            <a:avLst/>
          </a:prstGeom>
        </p:spPr>
      </p:pic>
      <p:sp>
        <p:nvSpPr>
          <p:cNvPr id="14" name="TextBox 13"/>
          <p:cNvSpPr txBox="1"/>
          <p:nvPr/>
        </p:nvSpPr>
        <p:spPr>
          <a:xfrm>
            <a:off x="9180000" y="1620000"/>
            <a:ext cx="2411999"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Format</a:t>
            </a:r>
          </a:p>
        </p:txBody>
      </p:sp>
      <p:sp>
        <p:nvSpPr>
          <p:cNvPr id="15" name="TextBox 14"/>
          <p:cNvSpPr txBox="1"/>
          <p:nvPr/>
        </p:nvSpPr>
        <p:spPr>
          <a:xfrm>
            <a:off x="8640000" y="2124000"/>
            <a:ext cx="2916000" cy="1655999"/>
          </a:xfrm>
          <a:prstGeom prst="rect">
            <a:avLst/>
          </a:prstGeom>
          <a:noFill/>
        </p:spPr>
        <p:txBody>
          <a:bodyPr wrap="square" lIns="36000" rIns="36000" tIns="18000" bIns="18000">
            <a:spAutoFit/>
          </a:bodyPr>
          <a:lstStyle/>
          <a:p>
            <a:pPr>
              <a:spcAft>
                <a:spcPts val="300"/>
              </a:spcAft>
            </a:pPr>
            <a:r>
              <a:rPr sz="1100" b="0">
                <a:solidFill>
                  <a:srgbClr val="3B4B48"/>
                </a:solidFill>
                <a:latin typeface="Inter"/>
              </a:rPr>
              <a:t>Carton 21 × 14,8 cm, recto sur fond nuit, verso ivoire, double filet doré. Enveloppe nuit à rabat orange.</a:t>
            </a:r>
          </a:p>
        </p:txBody>
      </p:sp>
      <p:sp>
        <p:nvSpPr>
          <p:cNvPr id="16" name="Rounded Rectangle 15"/>
          <p:cNvSpPr/>
          <p:nvPr/>
        </p:nvSpPr>
        <p:spPr>
          <a:xfrm>
            <a:off x="8424000" y="4031999"/>
            <a:ext cx="3311999" cy="2412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424000" y="4031999"/>
            <a:ext cx="64800" cy="2412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lert-triangle.png"/>
          <p:cNvPicPr>
            <a:picLocks noChangeAspect="1"/>
          </p:cNvPicPr>
          <p:nvPr/>
        </p:nvPicPr>
        <p:blipFill>
          <a:blip r:embed="rId6"/>
          <a:stretch>
            <a:fillRect/>
          </a:stretch>
        </p:blipFill>
        <p:spPr>
          <a:xfrm>
            <a:off x="8640000" y="4212000"/>
            <a:ext cx="432000" cy="432000"/>
          </a:xfrm>
          <a:prstGeom prst="rect">
            <a:avLst/>
          </a:prstGeom>
        </p:spPr>
      </p:pic>
      <p:sp>
        <p:nvSpPr>
          <p:cNvPr id="19" name="TextBox 18"/>
          <p:cNvSpPr txBox="1"/>
          <p:nvPr/>
        </p:nvSpPr>
        <p:spPr>
          <a:xfrm>
            <a:off x="9180000" y="4212000"/>
            <a:ext cx="2411999"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À valider</a:t>
            </a:r>
          </a:p>
        </p:txBody>
      </p:sp>
      <p:sp>
        <p:nvSpPr>
          <p:cNvPr id="20" name="TextBox 19"/>
          <p:cNvSpPr txBox="1"/>
          <p:nvPr/>
        </p:nvSpPr>
        <p:spPr>
          <a:xfrm>
            <a:off x="8640000" y="4716000"/>
            <a:ext cx="2916000" cy="1655999"/>
          </a:xfrm>
          <a:prstGeom prst="rect">
            <a:avLst/>
          </a:prstGeom>
          <a:noFill/>
        </p:spPr>
        <p:txBody>
          <a:bodyPr wrap="square" lIns="36000" rIns="36000" tIns="18000" bIns="18000">
            <a:spAutoFit/>
          </a:bodyPr>
          <a:lstStyle/>
          <a:p>
            <a:pPr>
              <a:spcAft>
                <a:spcPts val="300"/>
              </a:spcAft>
            </a:pPr>
            <a:r>
              <a:rPr sz="1100" b="0">
                <a:solidFill>
                  <a:srgbClr val="3B4B48"/>
                </a:solidFill>
                <a:latin typeface="Inter"/>
              </a:rPr>
              <a:t>Haut patronage, heure, lieu et date de réponse sont repris de 2026 ou supposés : le cabinet doit les confirmer avant impression.</a:t>
            </a:r>
          </a:p>
        </p:txBody>
      </p:sp>
      <p:sp>
        <p:nvSpPr>
          <p:cNvPr id="21" name="TextBox 20"/>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25 / 39</a:t>
            </a:r>
          </a:p>
        </p:txBody>
      </p:sp>
      <p:sp>
        <p:nvSpPr>
          <p:cNvPr id="22" name="TextBox 21"/>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il.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INVITATION OFFICIELLE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Carton : recto, verso et version numérique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carton-invitation_recto_720_None.jpg"/>
          <p:cNvPicPr>
            <a:picLocks noChangeAspect="1"/>
          </p:cNvPicPr>
          <p:nvPr/>
        </p:nvPicPr>
        <p:blipFill>
          <a:blip r:embed="rId4"/>
          <a:stretch>
            <a:fillRect/>
          </a:stretch>
        </p:blipFill>
        <p:spPr>
          <a:xfrm>
            <a:off x="468000" y="1475999"/>
            <a:ext cx="4031999" cy="2839199"/>
          </a:xfrm>
          <a:prstGeom prst="rect">
            <a:avLst/>
          </a:prstGeom>
        </p:spPr>
      </p:pic>
      <p:pic>
        <p:nvPicPr>
          <p:cNvPr id="11" name="Picture 10" descr="carton-invitation_verso_720_None.jpg"/>
          <p:cNvPicPr>
            <a:picLocks noChangeAspect="1"/>
          </p:cNvPicPr>
          <p:nvPr/>
        </p:nvPicPr>
        <p:blipFill>
          <a:blip r:embed="rId5"/>
          <a:stretch>
            <a:fillRect/>
          </a:stretch>
        </p:blipFill>
        <p:spPr>
          <a:xfrm>
            <a:off x="468000" y="4284000"/>
            <a:ext cx="4031999" cy="2839199"/>
          </a:xfrm>
          <a:prstGeom prst="rect">
            <a:avLst/>
          </a:prstGeom>
        </p:spPr>
      </p:pic>
      <p:pic>
        <p:nvPicPr>
          <p:cNvPr id="12" name="Picture 11" descr="invitation-numerique_1080x1350_560_None.jpg"/>
          <p:cNvPicPr>
            <a:picLocks noChangeAspect="1"/>
          </p:cNvPicPr>
          <p:nvPr/>
        </p:nvPicPr>
        <p:blipFill>
          <a:blip r:embed="rId6"/>
          <a:stretch>
            <a:fillRect/>
          </a:stretch>
        </p:blipFill>
        <p:spPr>
          <a:xfrm>
            <a:off x="4824000" y="1475999"/>
            <a:ext cx="3974400" cy="4968000"/>
          </a:xfrm>
          <a:prstGeom prst="rect">
            <a:avLst/>
          </a:prstGeom>
        </p:spPr>
      </p:pic>
      <p:sp>
        <p:nvSpPr>
          <p:cNvPr id="13" name="Rounded Rectangle 12"/>
          <p:cNvSpPr/>
          <p:nvPr/>
        </p:nvSpPr>
        <p:spPr>
          <a:xfrm>
            <a:off x="9000000" y="1475999"/>
            <a:ext cx="2736000" cy="4968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9000000" y="1475999"/>
            <a:ext cx="64800" cy="4968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brand-whatsapp.png"/>
          <p:cNvPicPr>
            <a:picLocks noChangeAspect="1"/>
          </p:cNvPicPr>
          <p:nvPr/>
        </p:nvPicPr>
        <p:blipFill>
          <a:blip r:embed="rId7"/>
          <a:stretch>
            <a:fillRect/>
          </a:stretch>
        </p:blipFill>
        <p:spPr>
          <a:xfrm>
            <a:off x="9216000" y="1655999"/>
            <a:ext cx="432000" cy="432000"/>
          </a:xfrm>
          <a:prstGeom prst="rect">
            <a:avLst/>
          </a:prstGeom>
        </p:spPr>
      </p:pic>
      <p:sp>
        <p:nvSpPr>
          <p:cNvPr id="16" name="TextBox 15"/>
          <p:cNvSpPr txBox="1"/>
          <p:nvPr/>
        </p:nvSpPr>
        <p:spPr>
          <a:xfrm>
            <a:off x="9756000" y="1655999"/>
            <a:ext cx="1835999"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Version numérique</a:t>
            </a:r>
          </a:p>
        </p:txBody>
      </p:sp>
      <p:sp>
        <p:nvSpPr>
          <p:cNvPr id="17" name="TextBox 16"/>
          <p:cNvSpPr txBox="1"/>
          <p:nvPr/>
        </p:nvSpPr>
        <p:spPr>
          <a:xfrm>
            <a:off x="9216000" y="2160000"/>
            <a:ext cx="2340000" cy="4212000"/>
          </a:xfrm>
          <a:prstGeom prst="rect">
            <a:avLst/>
          </a:prstGeom>
          <a:noFill/>
        </p:spPr>
        <p:txBody>
          <a:bodyPr wrap="square" lIns="36000" rIns="36000" tIns="18000" bIns="18000">
            <a:spAutoFit/>
          </a:bodyPr>
          <a:lstStyle/>
          <a:p>
            <a:pPr>
              <a:spcAft>
                <a:spcPts val="300"/>
              </a:spcAft>
            </a:pPr>
            <a:r>
              <a:rPr sz="1100" b="0">
                <a:solidFill>
                  <a:srgbClr val="3B4B48"/>
                </a:solidFill>
                <a:latin typeface="Inter"/>
              </a:rPr>
              <a:t>Envoyée par WhatsApp et par e-mail aux invités qui ne reçoivent pas le carton papier.</a:t>
            </a:r>
          </a:p>
          <a:p>
            <a:pPr>
              <a:spcAft>
                <a:spcPts val="300"/>
              </a:spcAft>
            </a:pPr>
            <a:r>
              <a:rPr sz="1100" b="0">
                <a:solidFill>
                  <a:srgbClr val="3B4B48"/>
                </a:solidFill>
                <a:latin typeface="Inter"/>
              </a:rPr>
              <a:t/>
            </a:r>
          </a:p>
          <a:p>
            <a:pPr>
              <a:spcAft>
                <a:spcPts val="300"/>
              </a:spcAft>
            </a:pPr>
            <a:r>
              <a:rPr sz="1100" b="0">
                <a:solidFill>
                  <a:srgbClr val="3B4B48"/>
                </a:solidFill>
                <a:latin typeface="Inter"/>
              </a:rPr>
              <a:t>Le nom de l'événement et la date se lisent dès la miniature.</a:t>
            </a:r>
          </a:p>
        </p:txBody>
      </p:sp>
      <p:sp>
        <p:nvSpPr>
          <p:cNvPr id="18" name="TextBox 1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26 / 39</a:t>
            </a:r>
          </a:p>
        </p:txBody>
      </p:sp>
      <p:sp>
        <p:nvSpPr>
          <p:cNvPr id="19" name="TextBox 18"/>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il.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TEXTES OFFICIELS</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Courriers d'invitation</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475999"/>
            <a:ext cx="5544000" cy="496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000" y="1475999"/>
            <a:ext cx="5544000" cy="432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8000" y="1530000"/>
            <a:ext cx="504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Lettre aux personnalités</a:t>
            </a:r>
          </a:p>
        </p:txBody>
      </p:sp>
      <p:sp>
        <p:nvSpPr>
          <p:cNvPr id="13" name="TextBox 12"/>
          <p:cNvSpPr txBox="1"/>
          <p:nvPr/>
        </p:nvSpPr>
        <p:spPr>
          <a:xfrm>
            <a:off x="648000" y="2015999"/>
            <a:ext cx="5220000" cy="4320000"/>
          </a:xfrm>
          <a:prstGeom prst="rect">
            <a:avLst/>
          </a:prstGeom>
          <a:noFill/>
        </p:spPr>
        <p:txBody>
          <a:bodyPr wrap="square" lIns="36000" rIns="36000" tIns="18000" bIns="18000">
            <a:spAutoFit/>
          </a:bodyPr>
          <a:lstStyle/>
          <a:p>
            <a:pPr>
              <a:spcAft>
                <a:spcPts val="300"/>
              </a:spcAft>
            </a:pPr>
            <a:r>
              <a:rPr sz="1000" b="0">
                <a:solidFill>
                  <a:srgbClr val="062A26"/>
                </a:solidFill>
                <a:latin typeface="Inter"/>
              </a:rPr>
              <a:t>Excellence, Madame, Monsieur,</a:t>
            </a:r>
          </a:p>
          <a:p>
            <a:pPr>
              <a:spcAft>
                <a:spcPts val="300"/>
              </a:spcAft>
            </a:pPr>
            <a:r>
              <a:rPr sz="1000" b="0">
                <a:solidFill>
                  <a:srgbClr val="062A26"/>
                </a:solidFill>
                <a:latin typeface="Inter"/>
              </a:rPr>
              <a:t/>
            </a:r>
          </a:p>
          <a:p>
            <a:pPr>
              <a:spcAft>
                <a:spcPts val="300"/>
              </a:spcAft>
            </a:pPr>
            <a:r>
              <a:rPr sz="1000" b="0">
                <a:solidFill>
                  <a:srgbClr val="062A26"/>
                </a:solidFill>
                <a:latin typeface="Inter"/>
              </a:rPr>
              <a:t>Un an après IMPACT IA, qui a permis de retenir 77 cas d'usage prioritaires et de signer le Pacte de l'Alliance nationale pour l'intelligence artificielle, le Ministère de la Transition Numérique et de l'Innovation Technologique organise ACCELERATE IA, 3e assises nationales sur l'intelligence artificielle, du 8 au 10 septembre 2027 à Abidjan.</a:t>
            </a:r>
          </a:p>
          <a:p>
            <a:pPr>
              <a:spcAft>
                <a:spcPts val="300"/>
              </a:spcAft>
            </a:pPr>
            <a:r>
              <a:rPr sz="1000" b="0">
                <a:solidFill>
                  <a:srgbClr val="062A26"/>
                </a:solidFill>
                <a:latin typeface="Inter"/>
              </a:rPr>
              <a:t/>
            </a:r>
          </a:p>
          <a:p>
            <a:pPr>
              <a:spcAft>
                <a:spcPts val="300"/>
              </a:spcAft>
            </a:pPr>
            <a:r>
              <a:rPr sz="1000" b="0">
                <a:solidFill>
                  <a:srgbClr val="062A26"/>
                </a:solidFill>
                <a:latin typeface="Inter"/>
              </a:rPr>
              <a:t>Placées sous le thème « Des cas d'usage au déploiement : accélérer l'IA au service des Ivoiriens », ces assises présenteront l'état d'avancement des cas d'usage et réuniront les engagements de l'État, du secteur privé et des partenaires.</a:t>
            </a:r>
          </a:p>
          <a:p>
            <a:pPr>
              <a:spcAft>
                <a:spcPts val="300"/>
              </a:spcAft>
            </a:pPr>
            <a:r>
              <a:rPr sz="1000" b="0">
                <a:solidFill>
                  <a:srgbClr val="062A26"/>
                </a:solidFill>
                <a:latin typeface="Inter"/>
              </a:rPr>
              <a:t/>
            </a:r>
          </a:p>
          <a:p>
            <a:pPr>
              <a:spcAft>
                <a:spcPts val="300"/>
              </a:spcAft>
            </a:pPr>
            <a:r>
              <a:rPr sz="1000" b="0">
                <a:solidFill>
                  <a:srgbClr val="062A26"/>
                </a:solidFill>
                <a:latin typeface="Inter"/>
              </a:rPr>
              <a:t>J'ai l'honneur de vous inviter à la cérémonie officielle d'ouverture, le jeudi 9 septembre 2027 à 9 h 00.</a:t>
            </a:r>
          </a:p>
          <a:p>
            <a:pPr>
              <a:spcAft>
                <a:spcPts val="300"/>
              </a:spcAft>
            </a:pPr>
            <a:r>
              <a:rPr sz="1000" b="0">
                <a:solidFill>
                  <a:srgbClr val="062A26"/>
                </a:solidFill>
                <a:latin typeface="Inter"/>
              </a:rPr>
              <a:t/>
            </a:r>
          </a:p>
          <a:p>
            <a:pPr>
              <a:spcAft>
                <a:spcPts val="300"/>
              </a:spcAft>
            </a:pPr>
            <a:r>
              <a:rPr sz="1000" b="0">
                <a:solidFill>
                  <a:srgbClr val="062A26"/>
                </a:solidFill>
                <a:latin typeface="Inter"/>
              </a:rPr>
              <a:t>Veuillez agréer, Excellence, Madame, Monsieur, l'expression de ma haute considération.</a:t>
            </a:r>
          </a:p>
        </p:txBody>
      </p:sp>
      <p:sp>
        <p:nvSpPr>
          <p:cNvPr id="14" name="Rounded Rectangle 13"/>
          <p:cNvSpPr/>
          <p:nvPr/>
        </p:nvSpPr>
        <p:spPr>
          <a:xfrm>
            <a:off x="6192000" y="1475999"/>
            <a:ext cx="5544000" cy="4968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192000" y="1475999"/>
            <a:ext cx="5544000" cy="432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72000" y="1530000"/>
            <a:ext cx="5040000" cy="360000"/>
          </a:xfrm>
          <a:prstGeom prst="rect">
            <a:avLst/>
          </a:prstGeom>
          <a:noFill/>
        </p:spPr>
        <p:txBody>
          <a:bodyPr wrap="square" lIns="36000" rIns="36000" tIns="18000" bIns="18000">
            <a:spAutoFit/>
          </a:bodyPr>
          <a:lstStyle/>
          <a:p>
            <a:pPr>
              <a:spcAft>
                <a:spcPts val="300"/>
              </a:spcAft>
            </a:pPr>
            <a:r>
              <a:rPr sz="1300" b="1">
                <a:solidFill>
                  <a:srgbClr val="FFFFFF"/>
                </a:solidFill>
                <a:latin typeface="Saira"/>
              </a:rPr>
              <a:t>Courriel aux participants inscrits</a:t>
            </a:r>
          </a:p>
        </p:txBody>
      </p:sp>
      <p:sp>
        <p:nvSpPr>
          <p:cNvPr id="17" name="TextBox 16"/>
          <p:cNvSpPr txBox="1"/>
          <p:nvPr/>
        </p:nvSpPr>
        <p:spPr>
          <a:xfrm>
            <a:off x="6372000" y="2015999"/>
            <a:ext cx="5220000" cy="4320000"/>
          </a:xfrm>
          <a:prstGeom prst="rect">
            <a:avLst/>
          </a:prstGeom>
          <a:noFill/>
        </p:spPr>
        <p:txBody>
          <a:bodyPr wrap="square" lIns="36000" rIns="36000" tIns="18000" bIns="18000">
            <a:spAutoFit/>
          </a:bodyPr>
          <a:lstStyle/>
          <a:p>
            <a:pPr>
              <a:spcAft>
                <a:spcPts val="300"/>
              </a:spcAft>
            </a:pPr>
            <a:r>
              <a:rPr sz="1000" b="0">
                <a:solidFill>
                  <a:srgbClr val="062A26"/>
                </a:solidFill>
                <a:latin typeface="Inter"/>
              </a:rPr>
              <a:t>Objet : Votre invitation à ACCELERATE IA, 8 au 10 septembre 2027</a:t>
            </a:r>
          </a:p>
          <a:p>
            <a:pPr>
              <a:spcAft>
                <a:spcPts val="300"/>
              </a:spcAft>
            </a:pPr>
            <a:r>
              <a:rPr sz="1000" b="0">
                <a:solidFill>
                  <a:srgbClr val="062A26"/>
                </a:solidFill>
                <a:latin typeface="Inter"/>
              </a:rPr>
              <a:t/>
            </a:r>
          </a:p>
          <a:p>
            <a:pPr>
              <a:spcAft>
                <a:spcPts val="300"/>
              </a:spcAft>
            </a:pPr>
            <a:r>
              <a:rPr sz="1000" b="0">
                <a:solidFill>
                  <a:srgbClr val="062A26"/>
                </a:solidFill>
                <a:latin typeface="Inter"/>
              </a:rPr>
              <a:t>Madame, Monsieur,</a:t>
            </a:r>
          </a:p>
          <a:p>
            <a:pPr>
              <a:spcAft>
                <a:spcPts val="300"/>
              </a:spcAft>
            </a:pPr>
            <a:r>
              <a:rPr sz="1000" b="0">
                <a:solidFill>
                  <a:srgbClr val="062A26"/>
                </a:solidFill>
                <a:latin typeface="Inter"/>
              </a:rPr>
              <a:t/>
            </a:r>
          </a:p>
          <a:p>
            <a:pPr>
              <a:spcAft>
                <a:spcPts val="300"/>
              </a:spcAft>
            </a:pPr>
            <a:r>
              <a:rPr sz="1000" b="0">
                <a:solidFill>
                  <a:srgbClr val="062A26"/>
                </a:solidFill>
                <a:latin typeface="Inter"/>
              </a:rPr>
              <a:t>Votre inscription à ACCELERATE IA, les 3e assises nationales sur l'intelligence artificielle, est confirmée.</a:t>
            </a:r>
          </a:p>
          <a:p>
            <a:pPr>
              <a:spcAft>
                <a:spcPts val="300"/>
              </a:spcAft>
            </a:pPr>
            <a:r>
              <a:rPr sz="1000" b="0">
                <a:solidFill>
                  <a:srgbClr val="062A26"/>
                </a:solidFill>
                <a:latin typeface="Inter"/>
              </a:rPr>
              <a:t/>
            </a:r>
          </a:p>
          <a:p>
            <a:pPr>
              <a:spcAft>
                <a:spcPts val="300"/>
              </a:spcAft>
            </a:pPr>
            <a:r>
              <a:rPr sz="1000" b="0">
                <a:solidFill>
                  <a:srgbClr val="062A26"/>
                </a:solidFill>
                <a:latin typeface="Inter"/>
              </a:rPr>
              <a:t>Rendez-vous du 8 au 10 septembre 2027 à Abidjan. Le jeudi 9 septembre, la cérémonie officielle ouvre deux journées de panels, de masterclasses et de démonstrations à la Clinique IA.</a:t>
            </a:r>
          </a:p>
          <a:p>
            <a:pPr>
              <a:spcAft>
                <a:spcPts val="300"/>
              </a:spcAft>
            </a:pPr>
            <a:r>
              <a:rPr sz="1000" b="0">
                <a:solidFill>
                  <a:srgbClr val="062A26"/>
                </a:solidFill>
                <a:latin typeface="Inter"/>
              </a:rPr>
              <a:t/>
            </a:r>
          </a:p>
          <a:p>
            <a:pPr>
              <a:spcAft>
                <a:spcPts val="300"/>
              </a:spcAft>
            </a:pPr>
            <a:r>
              <a:rPr sz="1000" b="0">
                <a:solidFill>
                  <a:srgbClr val="062A26"/>
                </a:solidFill>
                <a:latin typeface="Inter"/>
              </a:rPr>
              <a:t>Votre badge vous sera envoyé par courriel une semaine avant l'événement, avec le programme détaillé et le plan d'accès.</a:t>
            </a:r>
          </a:p>
          <a:p>
            <a:pPr>
              <a:spcAft>
                <a:spcPts val="300"/>
              </a:spcAft>
            </a:pPr>
            <a:r>
              <a:rPr sz="1000" b="0">
                <a:solidFill>
                  <a:srgbClr val="062A26"/>
                </a:solidFill>
                <a:latin typeface="Inter"/>
              </a:rPr>
              <a:t/>
            </a:r>
          </a:p>
          <a:p>
            <a:pPr>
              <a:spcAft>
                <a:spcPts val="300"/>
              </a:spcAft>
            </a:pPr>
            <a:r>
              <a:rPr sz="1000" b="0">
                <a:solidFill>
                  <a:srgbClr val="062A26"/>
                </a:solidFill>
                <a:latin typeface="Inter"/>
              </a:rPr>
              <a:t>Au plaisir de vous accueillir,</a:t>
            </a:r>
          </a:p>
          <a:p>
            <a:pPr>
              <a:spcAft>
                <a:spcPts val="300"/>
              </a:spcAft>
            </a:pPr>
            <a:r>
              <a:rPr sz="1000" b="0">
                <a:solidFill>
                  <a:srgbClr val="062A26"/>
                </a:solidFill>
                <a:latin typeface="Inter"/>
              </a:rPr>
              <a:t>Le comité d'organisation d'ACCELERATE IA</a:t>
            </a:r>
          </a:p>
        </p:txBody>
      </p:sp>
      <p:sp>
        <p:nvSpPr>
          <p:cNvPr id="18" name="TextBox 1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27 / 39</a:t>
            </a:r>
          </a:p>
        </p:txBody>
      </p:sp>
      <p:sp>
        <p:nvSpPr>
          <p:cNvPr id="19" name="TextBox 18"/>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expo_900_0.8398950131233596.jpg"/>
          <p:cNvPicPr>
            <a:picLocks noChangeAspect="1"/>
          </p:cNvPicPr>
          <p:nvPr/>
        </p:nvPicPr>
        <p:blipFill>
          <a:blip r:embed="rId2"/>
          <a:stretch>
            <a:fillRect/>
          </a:stretch>
        </p:blipFill>
        <p:spPr>
          <a:xfrm>
            <a:off x="6433200" y="0"/>
            <a:ext cx="5760000" cy="6858000"/>
          </a:xfrm>
          <a:prstGeom prst="rect">
            <a:avLst/>
          </a:prstGeom>
        </p:spPr>
      </p:pic>
      <p:sp>
        <p:nvSpPr>
          <p:cNvPr id="3" name="Rectangle 2"/>
          <p:cNvSpPr/>
          <p:nvPr/>
        </p:nvSpPr>
        <p:spPr>
          <a:xfrm>
            <a:off x="0" y="0"/>
            <a:ext cx="64332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2160000" cy="1080000"/>
          </a:xfrm>
          <a:prstGeom prst="rect">
            <a:avLst/>
          </a:prstGeom>
          <a:noFill/>
        </p:spPr>
        <p:txBody>
          <a:bodyPr wrap="square" lIns="36000" rIns="36000" tIns="18000" bIns="18000">
            <a:spAutoFit/>
          </a:bodyPr>
          <a:lstStyle/>
          <a:p>
            <a:pPr>
              <a:spcAft>
                <a:spcPts val="300"/>
              </a:spcAft>
            </a:pPr>
            <a:r>
              <a:rPr sz="7200" b="1">
                <a:solidFill>
                  <a:srgbClr val="FF8A00"/>
                </a:solidFill>
                <a:latin typeface="Saira"/>
              </a:rPr>
              <a:t>05</a:t>
            </a:r>
          </a:p>
        </p:txBody>
      </p:sp>
      <p:sp>
        <p:nvSpPr>
          <p:cNvPr id="5" name="TextBox 4"/>
          <p:cNvSpPr txBox="1"/>
          <p:nvPr/>
        </p:nvSpPr>
        <p:spPr>
          <a:xfrm>
            <a:off x="648000" y="3096000"/>
            <a:ext cx="5400000" cy="1080000"/>
          </a:xfrm>
          <a:prstGeom prst="rect">
            <a:avLst/>
          </a:prstGeom>
          <a:noFill/>
        </p:spPr>
        <p:txBody>
          <a:bodyPr wrap="square" lIns="36000" rIns="36000" tIns="18000" bIns="18000">
            <a:spAutoFit/>
          </a:bodyPr>
          <a:lstStyle/>
          <a:p>
            <a:pPr>
              <a:spcAft>
                <a:spcPts val="300"/>
              </a:spcAft>
            </a:pPr>
            <a:r>
              <a:rPr sz="3400" b="1">
                <a:solidFill>
                  <a:srgbClr val="FFFFFF"/>
                </a:solidFill>
                <a:latin typeface="Saira"/>
              </a:rPr>
              <a:t>Plan de masse et vues 3D</a:t>
            </a:r>
          </a:p>
        </p:txBody>
      </p:sp>
      <p:sp>
        <p:nvSpPr>
          <p:cNvPr id="6" name="TextBox 5"/>
          <p:cNvSpPr txBox="1"/>
          <p:nvPr/>
        </p:nvSpPr>
        <p:spPr>
          <a:xfrm>
            <a:off x="648000" y="4176000"/>
            <a:ext cx="5220000" cy="1080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L'implantation de principe, cotée, et six points de vue sur l'espace.</a:t>
            </a:r>
          </a:p>
        </p:txBody>
      </p:sp>
      <p:pic>
        <p:nvPicPr>
          <p:cNvPr id="7" name="Picture 6" descr="04_logo_piste-A_fond-sombre_900_None.jpg"/>
          <p:cNvPicPr>
            <a:picLocks noChangeAspect="1"/>
          </p:cNvPicPr>
          <p:nvPr/>
        </p:nvPicPr>
        <p:blipFill>
          <a:blip r:embed="rId3"/>
          <a:stretch>
            <a:fillRect/>
          </a:stretch>
        </p:blipFill>
        <p:spPr>
          <a:xfrm>
            <a:off x="324000" y="5544000"/>
            <a:ext cx="2880000" cy="1619200"/>
          </a:xfrm>
          <a:prstGeom prst="rect">
            <a:avLst/>
          </a:prstGeom>
        </p:spPr>
      </p:pic>
      <p:sp>
        <p:nvSpPr>
          <p:cNvPr id="8" name="TextBox 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BFE5DC"/>
                </a:solidFill>
                <a:latin typeface="Inter"/>
              </a:rPr>
              <a:t>28 / 39</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p-pin.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IMPLANTATION DE PRINCIPE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Plan de masse coté</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plan-de-masse_cote_900_None.jpg"/>
          <p:cNvPicPr>
            <a:picLocks noChangeAspect="1"/>
          </p:cNvPicPr>
          <p:nvPr/>
        </p:nvPicPr>
        <p:blipFill>
          <a:blip r:embed="rId4"/>
          <a:stretch>
            <a:fillRect/>
          </a:stretch>
        </p:blipFill>
        <p:spPr>
          <a:xfrm>
            <a:off x="468000" y="1368000"/>
            <a:ext cx="6801166" cy="5184000"/>
          </a:xfrm>
          <a:prstGeom prst="rect">
            <a:avLst/>
          </a:prstGeom>
        </p:spPr>
      </p:pic>
      <p:sp>
        <p:nvSpPr>
          <p:cNvPr id="11" name="Rounded Rectangle 10"/>
          <p:cNvSpPr/>
          <p:nvPr/>
        </p:nvSpPr>
        <p:spPr>
          <a:xfrm>
            <a:off x="7415999" y="1368000"/>
            <a:ext cx="4320000" cy="252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7415999" y="1368000"/>
            <a:ext cx="64800" cy="252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route.png"/>
          <p:cNvPicPr>
            <a:picLocks noChangeAspect="1"/>
          </p:cNvPicPr>
          <p:nvPr/>
        </p:nvPicPr>
        <p:blipFill>
          <a:blip r:embed="rId5"/>
          <a:stretch>
            <a:fillRect/>
          </a:stretch>
        </p:blipFill>
        <p:spPr>
          <a:xfrm>
            <a:off x="7632000" y="1548000"/>
            <a:ext cx="432000" cy="432000"/>
          </a:xfrm>
          <a:prstGeom prst="rect">
            <a:avLst/>
          </a:prstGeom>
        </p:spPr>
      </p:pic>
      <p:sp>
        <p:nvSpPr>
          <p:cNvPr id="14" name="TextBox 13"/>
          <p:cNvSpPr txBox="1"/>
          <p:nvPr/>
        </p:nvSpPr>
        <p:spPr>
          <a:xfrm>
            <a:off x="8172000" y="1548000"/>
            <a:ext cx="342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Parcours</a:t>
            </a:r>
          </a:p>
        </p:txBody>
      </p:sp>
      <p:sp>
        <p:nvSpPr>
          <p:cNvPr id="15" name="TextBox 14"/>
          <p:cNvSpPr txBox="1"/>
          <p:nvPr/>
        </p:nvSpPr>
        <p:spPr>
          <a:xfrm>
            <a:off x="7632000" y="2051999"/>
            <a:ext cx="3924000" cy="1764000"/>
          </a:xfrm>
          <a:prstGeom prst="rect">
            <a:avLst/>
          </a:prstGeom>
          <a:noFill/>
        </p:spPr>
        <p:txBody>
          <a:bodyPr wrap="square" lIns="36000" rIns="36000" tIns="18000" bIns="18000">
            <a:spAutoFit/>
          </a:bodyPr>
          <a:lstStyle/>
          <a:p>
            <a:pPr>
              <a:spcAft>
                <a:spcPts val="300"/>
              </a:spcAft>
            </a:pPr>
            <a:r>
              <a:rPr sz="1050" b="0">
                <a:solidFill>
                  <a:srgbClr val="3B4B48"/>
                </a:solidFill>
                <a:latin typeface="Inter"/>
              </a:rPr>
              <a:t>Le public entre au sud, passe l'accueil puis longe le Mur des engagements vers la plénière ou la Clinique IA. Les officiels ont leur entrée et leur salon.</a:t>
            </a:r>
          </a:p>
        </p:txBody>
      </p:sp>
      <p:sp>
        <p:nvSpPr>
          <p:cNvPr id="16" name="Rounded Rectangle 15"/>
          <p:cNvSpPr/>
          <p:nvPr/>
        </p:nvSpPr>
        <p:spPr>
          <a:xfrm>
            <a:off x="7415999" y="4031999"/>
            <a:ext cx="4320000" cy="252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415999" y="4031999"/>
            <a:ext cx="64800" cy="252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shield-check.png"/>
          <p:cNvPicPr>
            <a:picLocks noChangeAspect="1"/>
          </p:cNvPicPr>
          <p:nvPr/>
        </p:nvPicPr>
        <p:blipFill>
          <a:blip r:embed="rId6"/>
          <a:stretch>
            <a:fillRect/>
          </a:stretch>
        </p:blipFill>
        <p:spPr>
          <a:xfrm>
            <a:off x="7632000" y="4212000"/>
            <a:ext cx="432000" cy="432000"/>
          </a:xfrm>
          <a:prstGeom prst="rect">
            <a:avLst/>
          </a:prstGeom>
        </p:spPr>
      </p:pic>
      <p:sp>
        <p:nvSpPr>
          <p:cNvPr id="19" name="TextBox 18"/>
          <p:cNvSpPr txBox="1"/>
          <p:nvPr/>
        </p:nvSpPr>
        <p:spPr>
          <a:xfrm>
            <a:off x="8172000" y="4212000"/>
            <a:ext cx="3420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Sécurité</a:t>
            </a:r>
          </a:p>
        </p:txBody>
      </p:sp>
      <p:sp>
        <p:nvSpPr>
          <p:cNvPr id="20" name="TextBox 19"/>
          <p:cNvSpPr txBox="1"/>
          <p:nvPr/>
        </p:nvSpPr>
        <p:spPr>
          <a:xfrm>
            <a:off x="7632000" y="4716000"/>
            <a:ext cx="3924000" cy="1764000"/>
          </a:xfrm>
          <a:prstGeom prst="rect">
            <a:avLst/>
          </a:prstGeom>
          <a:noFill/>
        </p:spPr>
        <p:txBody>
          <a:bodyPr wrap="square" lIns="36000" rIns="36000" tIns="18000" bIns="18000">
            <a:spAutoFit/>
          </a:bodyPr>
          <a:lstStyle/>
          <a:p>
            <a:pPr>
              <a:spcAft>
                <a:spcPts val="300"/>
              </a:spcAft>
            </a:pPr>
            <a:r>
              <a:rPr sz="1050" b="0">
                <a:solidFill>
                  <a:srgbClr val="3B4B48"/>
                </a:solidFill>
                <a:latin typeface="Inter"/>
              </a:rPr>
              <a:t>Sept issues de secours de principe et une allée principale de 6 m. Jauge et issues réelles à reprendre sur le plan du lieu.</a:t>
            </a:r>
          </a:p>
        </p:txBody>
      </p:sp>
      <p:sp>
        <p:nvSpPr>
          <p:cNvPr id="21" name="TextBox 20"/>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29 / 39</a:t>
            </a:r>
          </a:p>
        </p:txBody>
      </p:sp>
      <p:sp>
        <p:nvSpPr>
          <p:cNvPr id="22" name="TextBox 21"/>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eye.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MISE EN SITUATION</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Vue aérienne en 3D</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vue_aerienne_900_None.jpg"/>
          <p:cNvPicPr>
            <a:picLocks noChangeAspect="1"/>
          </p:cNvPicPr>
          <p:nvPr/>
        </p:nvPicPr>
        <p:blipFill>
          <a:blip r:embed="rId4"/>
          <a:stretch>
            <a:fillRect/>
          </a:stretch>
        </p:blipFill>
        <p:spPr>
          <a:xfrm>
            <a:off x="468000" y="1368000"/>
            <a:ext cx="8063999" cy="5044479"/>
          </a:xfrm>
          <a:prstGeom prst="rect">
            <a:avLst/>
          </a:prstGeom>
        </p:spPr>
      </p:pic>
      <p:sp>
        <p:nvSpPr>
          <p:cNvPr id="11" name="Rounded Rectangle 10"/>
          <p:cNvSpPr/>
          <p:nvPr/>
        </p:nvSpPr>
        <p:spPr>
          <a:xfrm>
            <a:off x="8712000" y="1368000"/>
            <a:ext cx="3024000" cy="50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000" y="1368000"/>
            <a:ext cx="64800" cy="504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users-group.png"/>
          <p:cNvPicPr>
            <a:picLocks noChangeAspect="1"/>
          </p:cNvPicPr>
          <p:nvPr/>
        </p:nvPicPr>
        <p:blipFill>
          <a:blip r:embed="rId5"/>
          <a:stretch>
            <a:fillRect/>
          </a:stretch>
        </p:blipFill>
        <p:spPr>
          <a:xfrm>
            <a:off x="8928000" y="1548000"/>
            <a:ext cx="432000" cy="432000"/>
          </a:xfrm>
          <a:prstGeom prst="rect">
            <a:avLst/>
          </a:prstGeom>
        </p:spPr>
      </p:pic>
      <p:sp>
        <p:nvSpPr>
          <p:cNvPr id="14" name="TextBox 13"/>
          <p:cNvSpPr txBox="1"/>
          <p:nvPr/>
        </p:nvSpPr>
        <p:spPr>
          <a:xfrm>
            <a:off x="9468000" y="1548000"/>
            <a:ext cx="2124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En chiffres</a:t>
            </a:r>
          </a:p>
        </p:txBody>
      </p:sp>
      <p:sp>
        <p:nvSpPr>
          <p:cNvPr id="15" name="TextBox 14"/>
          <p:cNvSpPr txBox="1"/>
          <p:nvPr/>
        </p:nvSpPr>
        <p:spPr>
          <a:xfrm>
            <a:off x="8928000" y="2051999"/>
            <a:ext cx="2628000" cy="4284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1 000 places en plénière</a:t>
            </a:r>
          </a:p>
          <a:p>
            <a:pPr>
              <a:spcAft>
                <a:spcPts val="300"/>
              </a:spcAft>
            </a:pPr>
            <a:r>
              <a:rPr sz="1150" b="0">
                <a:solidFill>
                  <a:srgbClr val="3B4B48"/>
                </a:solidFill>
                <a:latin typeface="Inter"/>
              </a:rPr>
              <a:t>288 places en ateliers</a:t>
            </a:r>
          </a:p>
          <a:p>
            <a:pPr>
              <a:spcAft>
                <a:spcPts val="300"/>
              </a:spcAft>
            </a:pPr>
            <a:r>
              <a:rPr sz="1150" b="0">
                <a:solidFill>
                  <a:srgbClr val="3B4B48"/>
                </a:solidFill>
                <a:latin typeface="Inter"/>
              </a:rPr>
              <a:t>72 places en restauration</a:t>
            </a:r>
          </a:p>
          <a:p>
            <a:pPr>
              <a:spcAft>
                <a:spcPts val="300"/>
              </a:spcAft>
            </a:pPr>
            <a:r>
              <a:rPr sz="1150" b="0">
                <a:solidFill>
                  <a:srgbClr val="3B4B48"/>
                </a:solidFill>
                <a:latin typeface="Inter"/>
              </a:rPr>
              <a:t>24 places en rendez-vous B2B</a:t>
            </a:r>
          </a:p>
          <a:p>
            <a:pPr>
              <a:spcAft>
                <a:spcPts val="300"/>
              </a:spcAft>
            </a:pPr>
            <a:r>
              <a:rPr sz="1150" b="0">
                <a:solidFill>
                  <a:srgbClr val="3B4B48"/>
                </a:solidFill>
                <a:latin typeface="Inter"/>
              </a:rPr>
              <a:t/>
            </a:r>
          </a:p>
          <a:p>
            <a:pPr>
              <a:spcAft>
                <a:spcPts val="300"/>
              </a:spcAft>
            </a:pPr>
            <a:r>
              <a:rPr sz="1150" b="0">
                <a:solidFill>
                  <a:srgbClr val="3B4B48"/>
                </a:solidFill>
                <a:latin typeface="Inter"/>
              </a:rPr>
              <a:t>1 384 places assises</a:t>
            </a:r>
          </a:p>
          <a:p>
            <a:pPr>
              <a:spcAft>
                <a:spcPts val="300"/>
              </a:spcAft>
            </a:pPr>
            <a:r>
              <a:rPr sz="1150" b="0">
                <a:solidFill>
                  <a:srgbClr val="3B4B48"/>
                </a:solidFill>
                <a:latin typeface="Inter"/>
              </a:rPr>
              <a:t>32 stands</a:t>
            </a:r>
          </a:p>
          <a:p>
            <a:pPr>
              <a:spcAft>
                <a:spcPts val="300"/>
              </a:spcAft>
            </a:pPr>
            <a:r>
              <a:rPr sz="1150" b="0">
                <a:solidFill>
                  <a:srgbClr val="3B4B48"/>
                </a:solidFill>
                <a:latin typeface="Inter"/>
              </a:rPr>
              <a:t>Halle de 80 × 50 m</a:t>
            </a:r>
          </a:p>
        </p:txBody>
      </p:sp>
      <p:sp>
        <p:nvSpPr>
          <p:cNvPr id="16" name="TextBox 1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30 / 39</a:t>
            </a:r>
          </a:p>
        </p:txBody>
      </p:sp>
      <p:sp>
        <p:nvSpPr>
          <p:cNvPr id="17" name="TextBox 1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map-pin.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MISE EN SITUATION</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Vue de dessus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vue_dessus_900_None.jpg"/>
          <p:cNvPicPr>
            <a:picLocks noChangeAspect="1"/>
          </p:cNvPicPr>
          <p:nvPr/>
        </p:nvPicPr>
        <p:blipFill>
          <a:blip r:embed="rId4"/>
          <a:stretch>
            <a:fillRect/>
          </a:stretch>
        </p:blipFill>
        <p:spPr>
          <a:xfrm>
            <a:off x="468000" y="1368000"/>
            <a:ext cx="8063999" cy="5044479"/>
          </a:xfrm>
          <a:prstGeom prst="rect">
            <a:avLst/>
          </a:prstGeom>
        </p:spPr>
      </p:pic>
      <p:sp>
        <p:nvSpPr>
          <p:cNvPr id="11" name="Rounded Rectangle 10"/>
          <p:cNvSpPr/>
          <p:nvPr/>
        </p:nvSpPr>
        <p:spPr>
          <a:xfrm>
            <a:off x="8712000" y="1368000"/>
            <a:ext cx="3024000" cy="50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000" y="1368000"/>
            <a:ext cx="64800" cy="504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png"/>
          <p:cNvPicPr>
            <a:picLocks noChangeAspect="1"/>
          </p:cNvPicPr>
          <p:nvPr/>
        </p:nvPicPr>
        <p:blipFill>
          <a:blip r:embed="rId5"/>
          <a:stretch>
            <a:fillRect/>
          </a:stretch>
        </p:blipFill>
        <p:spPr>
          <a:xfrm>
            <a:off x="8928000" y="1548000"/>
            <a:ext cx="432000" cy="432000"/>
          </a:xfrm>
          <a:prstGeom prst="rect">
            <a:avLst/>
          </a:prstGeom>
        </p:spPr>
      </p:pic>
      <p:sp>
        <p:nvSpPr>
          <p:cNvPr id="14" name="TextBox 13"/>
          <p:cNvSpPr txBox="1"/>
          <p:nvPr/>
        </p:nvSpPr>
        <p:spPr>
          <a:xfrm>
            <a:off x="9468000" y="1548000"/>
            <a:ext cx="2124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Lecture</a:t>
            </a:r>
          </a:p>
        </p:txBody>
      </p:sp>
      <p:sp>
        <p:nvSpPr>
          <p:cNvPr id="15" name="TextBox 14"/>
          <p:cNvSpPr txBox="1"/>
          <p:nvPr/>
        </p:nvSpPr>
        <p:spPr>
          <a:xfrm>
            <a:off x="8928000" y="2051999"/>
            <a:ext cx="2628000" cy="4284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La plénière occupe l'aile ouest. La Clinique IA se divise en quatre secteurs de couleur. Les ateliers et les salons fermés sont regroupés au sud-est.</a:t>
            </a:r>
          </a:p>
        </p:txBody>
      </p:sp>
      <p:sp>
        <p:nvSpPr>
          <p:cNvPr id="16" name="TextBox 1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31 / 39</a:t>
            </a:r>
          </a:p>
        </p:txBody>
      </p:sp>
      <p:sp>
        <p:nvSpPr>
          <p:cNvPr id="17" name="TextBox 1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VUE 3D</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La plénière vue du public</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vue_pleniere_900_None.jpg"/>
          <p:cNvPicPr>
            <a:picLocks noChangeAspect="1"/>
          </p:cNvPicPr>
          <p:nvPr/>
        </p:nvPicPr>
        <p:blipFill>
          <a:blip r:embed="rId4"/>
          <a:stretch>
            <a:fillRect/>
          </a:stretch>
        </p:blipFill>
        <p:spPr>
          <a:xfrm>
            <a:off x="468000" y="1368000"/>
            <a:ext cx="8063999" cy="5044479"/>
          </a:xfrm>
          <a:prstGeom prst="rect">
            <a:avLst/>
          </a:prstGeom>
        </p:spPr>
      </p:pic>
      <p:sp>
        <p:nvSpPr>
          <p:cNvPr id="11" name="Rounded Rectangle 10"/>
          <p:cNvSpPr/>
          <p:nvPr/>
        </p:nvSpPr>
        <p:spPr>
          <a:xfrm>
            <a:off x="8712000" y="1368000"/>
            <a:ext cx="3024000" cy="50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000" y="1368000"/>
            <a:ext cx="64800" cy="504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png"/>
          <p:cNvPicPr>
            <a:picLocks noChangeAspect="1"/>
          </p:cNvPicPr>
          <p:nvPr/>
        </p:nvPicPr>
        <p:blipFill>
          <a:blip r:embed="rId5"/>
          <a:stretch>
            <a:fillRect/>
          </a:stretch>
        </p:blipFill>
        <p:spPr>
          <a:xfrm>
            <a:off x="8928000" y="1548000"/>
            <a:ext cx="432000" cy="432000"/>
          </a:xfrm>
          <a:prstGeom prst="rect">
            <a:avLst/>
          </a:prstGeom>
        </p:spPr>
      </p:pic>
      <p:sp>
        <p:nvSpPr>
          <p:cNvPr id="14" name="TextBox 13"/>
          <p:cNvSpPr txBox="1"/>
          <p:nvPr/>
        </p:nvSpPr>
        <p:spPr>
          <a:xfrm>
            <a:off x="9468000" y="1548000"/>
            <a:ext cx="2124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Ce qu'on voit</a:t>
            </a:r>
          </a:p>
        </p:txBody>
      </p:sp>
      <p:sp>
        <p:nvSpPr>
          <p:cNvPr id="15" name="TextBox 14"/>
          <p:cNvSpPr txBox="1"/>
          <p:nvPr/>
        </p:nvSpPr>
        <p:spPr>
          <a:xfrm>
            <a:off x="8928000" y="2051999"/>
            <a:ext cx="2628000" cy="4284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Scène de 23 m, écran central et deux écrans latéraux, allée centrale, régie en fond de salle.</a:t>
            </a:r>
          </a:p>
          <a:p>
            <a:pPr>
              <a:spcAft>
                <a:spcPts val="300"/>
              </a:spcAft>
            </a:pPr>
            <a:r>
              <a:rPr sz="1150" b="0">
                <a:solidFill>
                  <a:srgbClr val="3B4B48"/>
                </a:solidFill>
                <a:latin typeface="Inter"/>
              </a:rPr>
              <a:t/>
            </a:r>
          </a:p>
          <a:p>
            <a:pPr>
              <a:spcAft>
                <a:spcPts val="300"/>
              </a:spcAft>
            </a:pPr>
            <a:r>
              <a:rPr sz="1150" b="0">
                <a:solidFill>
                  <a:srgbClr val="3B4B48"/>
                </a:solidFill>
                <a:latin typeface="Inter"/>
              </a:rPr>
              <a:t>La page 3D se fait tourner au doigt ; ces images en sont des captures.</a:t>
            </a:r>
          </a:p>
        </p:txBody>
      </p:sp>
      <p:sp>
        <p:nvSpPr>
          <p:cNvPr id="16" name="TextBox 1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32 / 39</a:t>
            </a:r>
          </a:p>
        </p:txBody>
      </p:sp>
      <p:sp>
        <p:nvSpPr>
          <p:cNvPr id="17" name="TextBox 1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VUE 3D</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La Clinique IA</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vue_expo_900_None.jpg"/>
          <p:cNvPicPr>
            <a:picLocks noChangeAspect="1"/>
          </p:cNvPicPr>
          <p:nvPr/>
        </p:nvPicPr>
        <p:blipFill>
          <a:blip r:embed="rId4"/>
          <a:stretch>
            <a:fillRect/>
          </a:stretch>
        </p:blipFill>
        <p:spPr>
          <a:xfrm>
            <a:off x="468000" y="1368000"/>
            <a:ext cx="8063999" cy="5044479"/>
          </a:xfrm>
          <a:prstGeom prst="rect">
            <a:avLst/>
          </a:prstGeom>
        </p:spPr>
      </p:pic>
      <p:sp>
        <p:nvSpPr>
          <p:cNvPr id="11" name="Rounded Rectangle 10"/>
          <p:cNvSpPr/>
          <p:nvPr/>
        </p:nvSpPr>
        <p:spPr>
          <a:xfrm>
            <a:off x="8712000" y="1368000"/>
            <a:ext cx="3024000" cy="50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000" y="1368000"/>
            <a:ext cx="64800" cy="504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png"/>
          <p:cNvPicPr>
            <a:picLocks noChangeAspect="1"/>
          </p:cNvPicPr>
          <p:nvPr/>
        </p:nvPicPr>
        <p:blipFill>
          <a:blip r:embed="rId5"/>
          <a:stretch>
            <a:fillRect/>
          </a:stretch>
        </p:blipFill>
        <p:spPr>
          <a:xfrm>
            <a:off x="8928000" y="1548000"/>
            <a:ext cx="432000" cy="432000"/>
          </a:xfrm>
          <a:prstGeom prst="rect">
            <a:avLst/>
          </a:prstGeom>
        </p:spPr>
      </p:pic>
      <p:sp>
        <p:nvSpPr>
          <p:cNvPr id="14" name="TextBox 13"/>
          <p:cNvSpPr txBox="1"/>
          <p:nvPr/>
        </p:nvSpPr>
        <p:spPr>
          <a:xfrm>
            <a:off x="9468000" y="1548000"/>
            <a:ext cx="2124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Ce qu'on voit</a:t>
            </a:r>
          </a:p>
        </p:txBody>
      </p:sp>
      <p:sp>
        <p:nvSpPr>
          <p:cNvPr id="15" name="TextBox 14"/>
          <p:cNvSpPr txBox="1"/>
          <p:nvPr/>
        </p:nvSpPr>
        <p:spPr>
          <a:xfrm>
            <a:off x="8928000" y="2051999"/>
            <a:ext cx="2628000" cy="4284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Quatre secteurs de couleur, stands avec comptoir et écran de démonstration, îlot startups au premier plan.</a:t>
            </a:r>
          </a:p>
          <a:p>
            <a:pPr>
              <a:spcAft>
                <a:spcPts val="300"/>
              </a:spcAft>
            </a:pPr>
            <a:r>
              <a:rPr sz="1150" b="0">
                <a:solidFill>
                  <a:srgbClr val="3B4B48"/>
                </a:solidFill>
                <a:latin typeface="Inter"/>
              </a:rPr>
              <a:t/>
            </a:r>
          </a:p>
          <a:p>
            <a:pPr>
              <a:spcAft>
                <a:spcPts val="300"/>
              </a:spcAft>
            </a:pPr>
            <a:r>
              <a:rPr sz="1150" b="0">
                <a:solidFill>
                  <a:srgbClr val="3B4B48"/>
                </a:solidFill>
                <a:latin typeface="Inter"/>
              </a:rPr>
              <a:t>La page 3D se fait tourner au doigt ; ces images en sont des captures.</a:t>
            </a:r>
          </a:p>
        </p:txBody>
      </p:sp>
      <p:sp>
        <p:nvSpPr>
          <p:cNvPr id="16" name="TextBox 1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33 / 39</a:t>
            </a:r>
          </a:p>
        </p:txBody>
      </p:sp>
      <p:sp>
        <p:nvSpPr>
          <p:cNvPr id="17" name="TextBox 1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VUE 3D</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L'accueil</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vue_accueil_900_None.jpg"/>
          <p:cNvPicPr>
            <a:picLocks noChangeAspect="1"/>
          </p:cNvPicPr>
          <p:nvPr/>
        </p:nvPicPr>
        <p:blipFill>
          <a:blip r:embed="rId4"/>
          <a:stretch>
            <a:fillRect/>
          </a:stretch>
        </p:blipFill>
        <p:spPr>
          <a:xfrm>
            <a:off x="468000" y="1368000"/>
            <a:ext cx="8063999" cy="5044479"/>
          </a:xfrm>
          <a:prstGeom prst="rect">
            <a:avLst/>
          </a:prstGeom>
        </p:spPr>
      </p:pic>
      <p:sp>
        <p:nvSpPr>
          <p:cNvPr id="11" name="Rounded Rectangle 10"/>
          <p:cNvSpPr/>
          <p:nvPr/>
        </p:nvSpPr>
        <p:spPr>
          <a:xfrm>
            <a:off x="8712000" y="1368000"/>
            <a:ext cx="3024000" cy="50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000" y="1368000"/>
            <a:ext cx="64800" cy="504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png"/>
          <p:cNvPicPr>
            <a:picLocks noChangeAspect="1"/>
          </p:cNvPicPr>
          <p:nvPr/>
        </p:nvPicPr>
        <p:blipFill>
          <a:blip r:embed="rId5"/>
          <a:stretch>
            <a:fillRect/>
          </a:stretch>
        </p:blipFill>
        <p:spPr>
          <a:xfrm>
            <a:off x="8928000" y="1548000"/>
            <a:ext cx="432000" cy="432000"/>
          </a:xfrm>
          <a:prstGeom prst="rect">
            <a:avLst/>
          </a:prstGeom>
        </p:spPr>
      </p:pic>
      <p:sp>
        <p:nvSpPr>
          <p:cNvPr id="14" name="TextBox 13"/>
          <p:cNvSpPr txBox="1"/>
          <p:nvPr/>
        </p:nvSpPr>
        <p:spPr>
          <a:xfrm>
            <a:off x="9468000" y="1548000"/>
            <a:ext cx="2124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Ce qu'on voit</a:t>
            </a:r>
          </a:p>
        </p:txBody>
      </p:sp>
      <p:sp>
        <p:nvSpPr>
          <p:cNvPr id="15" name="TextBox 14"/>
          <p:cNvSpPr txBox="1"/>
          <p:nvPr/>
        </p:nvSpPr>
        <p:spPr>
          <a:xfrm>
            <a:off x="8928000" y="2051999"/>
            <a:ext cx="2628000" cy="4284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Banque d'accueil au logo, portiques de contrôle et kakémonos dès l'entrée.</a:t>
            </a:r>
          </a:p>
          <a:p>
            <a:pPr>
              <a:spcAft>
                <a:spcPts val="300"/>
              </a:spcAft>
            </a:pPr>
            <a:r>
              <a:rPr sz="1150" b="0">
                <a:solidFill>
                  <a:srgbClr val="3B4B48"/>
                </a:solidFill>
                <a:latin typeface="Inter"/>
              </a:rPr>
              <a:t/>
            </a:r>
          </a:p>
          <a:p>
            <a:pPr>
              <a:spcAft>
                <a:spcPts val="300"/>
              </a:spcAft>
            </a:pPr>
            <a:r>
              <a:rPr sz="1150" b="0">
                <a:solidFill>
                  <a:srgbClr val="3B4B48"/>
                </a:solidFill>
                <a:latin typeface="Inter"/>
              </a:rPr>
              <a:t>La page 3D se fait tourner au doigt ; ces images en sont des captures.</a:t>
            </a:r>
          </a:p>
        </p:txBody>
      </p:sp>
      <p:sp>
        <p:nvSpPr>
          <p:cNvPr id="16" name="TextBox 1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34 / 39</a:t>
            </a:r>
          </a:p>
        </p:txBody>
      </p:sp>
      <p:sp>
        <p:nvSpPr>
          <p:cNvPr id="17" name="TextBox 1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amera.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VUE 3D</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Le Mur des engagements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vue_engagements_900_None.jpg"/>
          <p:cNvPicPr>
            <a:picLocks noChangeAspect="1"/>
          </p:cNvPicPr>
          <p:nvPr/>
        </p:nvPicPr>
        <p:blipFill>
          <a:blip r:embed="rId4"/>
          <a:stretch>
            <a:fillRect/>
          </a:stretch>
        </p:blipFill>
        <p:spPr>
          <a:xfrm>
            <a:off x="468000" y="1368000"/>
            <a:ext cx="8063999" cy="5044479"/>
          </a:xfrm>
          <a:prstGeom prst="rect">
            <a:avLst/>
          </a:prstGeom>
        </p:spPr>
      </p:pic>
      <p:sp>
        <p:nvSpPr>
          <p:cNvPr id="11" name="Rounded Rectangle 10"/>
          <p:cNvSpPr/>
          <p:nvPr/>
        </p:nvSpPr>
        <p:spPr>
          <a:xfrm>
            <a:off x="8712000" y="1368000"/>
            <a:ext cx="3024000" cy="504000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712000" y="1368000"/>
            <a:ext cx="64800" cy="504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3" name="Picture 12" descr="eye.png"/>
          <p:cNvPicPr>
            <a:picLocks noChangeAspect="1"/>
          </p:cNvPicPr>
          <p:nvPr/>
        </p:nvPicPr>
        <p:blipFill>
          <a:blip r:embed="rId5"/>
          <a:stretch>
            <a:fillRect/>
          </a:stretch>
        </p:blipFill>
        <p:spPr>
          <a:xfrm>
            <a:off x="8928000" y="1548000"/>
            <a:ext cx="432000" cy="432000"/>
          </a:xfrm>
          <a:prstGeom prst="rect">
            <a:avLst/>
          </a:prstGeom>
        </p:spPr>
      </p:pic>
      <p:sp>
        <p:nvSpPr>
          <p:cNvPr id="14" name="TextBox 13"/>
          <p:cNvSpPr txBox="1"/>
          <p:nvPr/>
        </p:nvSpPr>
        <p:spPr>
          <a:xfrm>
            <a:off x="9468000" y="1548000"/>
            <a:ext cx="2124000" cy="432000"/>
          </a:xfrm>
          <a:prstGeom prst="rect">
            <a:avLst/>
          </a:prstGeom>
          <a:noFill/>
        </p:spPr>
        <p:txBody>
          <a:bodyPr wrap="square" lIns="36000" rIns="36000" tIns="18000" bIns="18000" anchor="ctr">
            <a:spAutoFit/>
          </a:bodyPr>
          <a:lstStyle/>
          <a:p>
            <a:pPr>
              <a:spcAft>
                <a:spcPts val="300"/>
              </a:spcAft>
            </a:pPr>
            <a:r>
              <a:rPr sz="1350" b="1">
                <a:solidFill>
                  <a:srgbClr val="062A26"/>
                </a:solidFill>
                <a:latin typeface="Saira"/>
              </a:rPr>
              <a:t>Ce qu'on voit</a:t>
            </a:r>
          </a:p>
        </p:txBody>
      </p:sp>
      <p:sp>
        <p:nvSpPr>
          <p:cNvPr id="15" name="TextBox 14"/>
          <p:cNvSpPr txBox="1"/>
          <p:nvPr/>
        </p:nvSpPr>
        <p:spPr>
          <a:xfrm>
            <a:off x="8928000" y="2051999"/>
            <a:ext cx="2628000" cy="4284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Les engagements signés s'y affichent au fil des trois jours, avec la table de signature devant.</a:t>
            </a:r>
          </a:p>
          <a:p>
            <a:pPr>
              <a:spcAft>
                <a:spcPts val="300"/>
              </a:spcAft>
            </a:pPr>
            <a:r>
              <a:rPr sz="1150" b="0">
                <a:solidFill>
                  <a:srgbClr val="3B4B48"/>
                </a:solidFill>
                <a:latin typeface="Inter"/>
              </a:rPr>
              <a:t/>
            </a:r>
          </a:p>
          <a:p>
            <a:pPr>
              <a:spcAft>
                <a:spcPts val="300"/>
              </a:spcAft>
            </a:pPr>
            <a:r>
              <a:rPr sz="1150" b="0">
                <a:solidFill>
                  <a:srgbClr val="3B4B48"/>
                </a:solidFill>
                <a:latin typeface="Inter"/>
              </a:rPr>
              <a:t>La page 3D se fait tourner au doigt ; ces images en sont des captures.</a:t>
            </a:r>
          </a:p>
        </p:txBody>
      </p:sp>
      <p:sp>
        <p:nvSpPr>
          <p:cNvPr id="16" name="TextBox 1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35 / 39</a:t>
            </a:r>
          </a:p>
        </p:txBody>
      </p:sp>
      <p:sp>
        <p:nvSpPr>
          <p:cNvPr id="17" name="TextBox 1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erver_900_0.8398950131233596.jpg"/>
          <p:cNvPicPr>
            <a:picLocks noChangeAspect="1"/>
          </p:cNvPicPr>
          <p:nvPr/>
        </p:nvPicPr>
        <p:blipFill>
          <a:blip r:embed="rId2"/>
          <a:stretch>
            <a:fillRect/>
          </a:stretch>
        </p:blipFill>
        <p:spPr>
          <a:xfrm>
            <a:off x="6433200" y="0"/>
            <a:ext cx="5760000" cy="6858000"/>
          </a:xfrm>
          <a:prstGeom prst="rect">
            <a:avLst/>
          </a:prstGeom>
        </p:spPr>
      </p:pic>
      <p:sp>
        <p:nvSpPr>
          <p:cNvPr id="3" name="Rectangle 2"/>
          <p:cNvSpPr/>
          <p:nvPr/>
        </p:nvSpPr>
        <p:spPr>
          <a:xfrm>
            <a:off x="0" y="0"/>
            <a:ext cx="6433200" cy="6858000"/>
          </a:xfrm>
          <a:prstGeom prst="rect">
            <a:avLst/>
          </a:prstGeom>
          <a:solidFill>
            <a:srgbClr val="062A2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8000" y="1620000"/>
            <a:ext cx="2160000" cy="1080000"/>
          </a:xfrm>
          <a:prstGeom prst="rect">
            <a:avLst/>
          </a:prstGeom>
          <a:noFill/>
        </p:spPr>
        <p:txBody>
          <a:bodyPr wrap="square" lIns="36000" rIns="36000" tIns="18000" bIns="18000">
            <a:spAutoFit/>
          </a:bodyPr>
          <a:lstStyle/>
          <a:p>
            <a:pPr>
              <a:spcAft>
                <a:spcPts val="300"/>
              </a:spcAft>
            </a:pPr>
            <a:r>
              <a:rPr sz="7200" b="1">
                <a:solidFill>
                  <a:srgbClr val="FF8A00"/>
                </a:solidFill>
                <a:latin typeface="Saira"/>
              </a:rPr>
              <a:t>06</a:t>
            </a:r>
          </a:p>
        </p:txBody>
      </p:sp>
      <p:sp>
        <p:nvSpPr>
          <p:cNvPr id="5" name="TextBox 4"/>
          <p:cNvSpPr txBox="1"/>
          <p:nvPr/>
        </p:nvSpPr>
        <p:spPr>
          <a:xfrm>
            <a:off x="648000" y="3096000"/>
            <a:ext cx="5400000" cy="1080000"/>
          </a:xfrm>
          <a:prstGeom prst="rect">
            <a:avLst/>
          </a:prstGeom>
          <a:noFill/>
        </p:spPr>
        <p:txBody>
          <a:bodyPr wrap="square" lIns="36000" rIns="36000" tIns="18000" bIns="18000">
            <a:spAutoFit/>
          </a:bodyPr>
          <a:lstStyle/>
          <a:p>
            <a:pPr>
              <a:spcAft>
                <a:spcPts val="300"/>
              </a:spcAft>
            </a:pPr>
            <a:r>
              <a:rPr sz="3400" b="1">
                <a:solidFill>
                  <a:srgbClr val="FFFFFF"/>
                </a:solidFill>
                <a:latin typeface="Saira"/>
              </a:rPr>
              <a:t>Autocritique</a:t>
            </a:r>
          </a:p>
        </p:txBody>
      </p:sp>
      <p:sp>
        <p:nvSpPr>
          <p:cNvPr id="6" name="TextBox 5"/>
          <p:cNvSpPr txBox="1"/>
          <p:nvPr/>
        </p:nvSpPr>
        <p:spPr>
          <a:xfrm>
            <a:off x="648000" y="4176000"/>
            <a:ext cx="5220000" cy="1080000"/>
          </a:xfrm>
          <a:prstGeom prst="rect">
            <a:avLst/>
          </a:prstGeom>
          <a:noFill/>
        </p:spPr>
        <p:txBody>
          <a:bodyPr wrap="square" lIns="36000" rIns="36000" tIns="18000" bIns="18000">
            <a:spAutoFit/>
          </a:bodyPr>
          <a:lstStyle/>
          <a:p>
            <a:pPr>
              <a:spcAft>
                <a:spcPts val="300"/>
              </a:spcAft>
            </a:pPr>
            <a:r>
              <a:rPr sz="1500" b="0">
                <a:solidFill>
                  <a:srgbClr val="BFE5DC"/>
                </a:solidFill>
                <a:latin typeface="Inter"/>
              </a:rPr>
              <a:t>Ce qui manque au plan, et ce qui reste fragile.</a:t>
            </a:r>
          </a:p>
        </p:txBody>
      </p:sp>
      <p:pic>
        <p:nvPicPr>
          <p:cNvPr id="7" name="Picture 6" descr="04_logo_piste-A_fond-sombre_900_None.jpg"/>
          <p:cNvPicPr>
            <a:picLocks noChangeAspect="1"/>
          </p:cNvPicPr>
          <p:nvPr/>
        </p:nvPicPr>
        <p:blipFill>
          <a:blip r:embed="rId3"/>
          <a:stretch>
            <a:fillRect/>
          </a:stretch>
        </p:blipFill>
        <p:spPr>
          <a:xfrm>
            <a:off x="324000" y="5544000"/>
            <a:ext cx="2880000" cy="1619200"/>
          </a:xfrm>
          <a:prstGeom prst="rect">
            <a:avLst/>
          </a:prstGeom>
        </p:spPr>
      </p:pic>
      <p:sp>
        <p:nvSpPr>
          <p:cNvPr id="8" name="TextBox 7"/>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BFE5DC"/>
                </a:solidFill>
                <a:latin typeface="Inter"/>
              </a:rPr>
              <a:t>36 / 39</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lert-triangle.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AUTOCRITIQUE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Ce qui manque ou reste fragile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440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000" y="1440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alert-triangle.png"/>
          <p:cNvPicPr>
            <a:picLocks noChangeAspect="1"/>
          </p:cNvPicPr>
          <p:nvPr/>
        </p:nvPicPr>
        <p:blipFill>
          <a:blip r:embed="rId4"/>
          <a:stretch>
            <a:fillRect/>
          </a:stretch>
        </p:blipFill>
        <p:spPr>
          <a:xfrm>
            <a:off x="648000" y="1584000"/>
            <a:ext cx="396000" cy="396000"/>
          </a:xfrm>
          <a:prstGeom prst="rect">
            <a:avLst/>
          </a:prstGeom>
        </p:spPr>
      </p:pic>
      <p:sp>
        <p:nvSpPr>
          <p:cNvPr id="13" name="TextBox 12"/>
          <p:cNvSpPr txBox="1"/>
          <p:nvPr/>
        </p:nvSpPr>
        <p:spPr>
          <a:xfrm>
            <a:off x="1152000" y="1548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Validations officielles</a:t>
            </a:r>
          </a:p>
        </p:txBody>
      </p:sp>
      <p:sp>
        <p:nvSpPr>
          <p:cNvPr id="14" name="TextBox 13"/>
          <p:cNvSpPr txBox="1"/>
          <p:nvPr/>
        </p:nvSpPr>
        <p:spPr>
          <a:xfrm>
            <a:off x="1152000" y="1854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Haut patronage, présence du Premier ministre, heure de la cérémonie : repris de 2026, à confirmer par le cabinet. Aucune publication sans le service communication du Ministère.</a:t>
            </a:r>
          </a:p>
        </p:txBody>
      </p:sp>
      <p:sp>
        <p:nvSpPr>
          <p:cNvPr id="15" name="Rounded Rectangle 14"/>
          <p:cNvSpPr/>
          <p:nvPr/>
        </p:nvSpPr>
        <p:spPr>
          <a:xfrm>
            <a:off x="6156000" y="1440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6000" y="1440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map-pin.png"/>
          <p:cNvPicPr>
            <a:picLocks noChangeAspect="1"/>
          </p:cNvPicPr>
          <p:nvPr/>
        </p:nvPicPr>
        <p:blipFill>
          <a:blip r:embed="rId5"/>
          <a:stretch>
            <a:fillRect/>
          </a:stretch>
        </p:blipFill>
        <p:spPr>
          <a:xfrm>
            <a:off x="6336000" y="1584000"/>
            <a:ext cx="396000" cy="396000"/>
          </a:xfrm>
          <a:prstGeom prst="rect">
            <a:avLst/>
          </a:prstGeom>
        </p:spPr>
      </p:pic>
      <p:sp>
        <p:nvSpPr>
          <p:cNvPr id="18" name="TextBox 17"/>
          <p:cNvSpPr txBox="1"/>
          <p:nvPr/>
        </p:nvSpPr>
        <p:spPr>
          <a:xfrm>
            <a:off x="6840000" y="1548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Le lieu</a:t>
            </a:r>
          </a:p>
        </p:txBody>
      </p:sp>
      <p:sp>
        <p:nvSpPr>
          <p:cNvPr id="19" name="TextBox 18"/>
          <p:cNvSpPr txBox="1"/>
          <p:nvPr/>
        </p:nvSpPr>
        <p:spPr>
          <a:xfrm>
            <a:off x="6840000" y="1854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lieu retenu : plan et 3D sont des principes. Jauge, issues, électricité, climatisation, accès des personnes handicapées et parkings dépendent de lui.</a:t>
            </a:r>
          </a:p>
        </p:txBody>
      </p:sp>
      <p:sp>
        <p:nvSpPr>
          <p:cNvPr id="20" name="Rounded Rectangle 19"/>
          <p:cNvSpPr/>
          <p:nvPr/>
        </p:nvSpPr>
        <p:spPr>
          <a:xfrm>
            <a:off x="468000" y="2718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8000" y="2718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coin.png"/>
          <p:cNvPicPr>
            <a:picLocks noChangeAspect="1"/>
          </p:cNvPicPr>
          <p:nvPr/>
        </p:nvPicPr>
        <p:blipFill>
          <a:blip r:embed="rId6"/>
          <a:stretch>
            <a:fillRect/>
          </a:stretch>
        </p:blipFill>
        <p:spPr>
          <a:xfrm>
            <a:off x="648000" y="2862000"/>
            <a:ext cx="396000" cy="396000"/>
          </a:xfrm>
          <a:prstGeom prst="rect">
            <a:avLst/>
          </a:prstGeom>
        </p:spPr>
      </p:pic>
      <p:sp>
        <p:nvSpPr>
          <p:cNvPr id="23" name="TextBox 22"/>
          <p:cNvSpPr txBox="1"/>
          <p:nvPr/>
        </p:nvSpPr>
        <p:spPr>
          <a:xfrm>
            <a:off x="1152000" y="2826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Le budget</a:t>
            </a:r>
          </a:p>
        </p:txBody>
      </p:sp>
      <p:sp>
        <p:nvSpPr>
          <p:cNvPr id="24" name="TextBox 23"/>
          <p:cNvSpPr txBox="1"/>
          <p:nvPr/>
        </p:nvSpPr>
        <p:spPr>
          <a:xfrm>
            <a:off x="1152000" y="3131999"/>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Aucun montant en francs CFA : achat d'espace publicitaire, impression, production vidéo, influenceurs, location du lieu. Chiffrage à faire avec notre expert finance.</a:t>
            </a:r>
          </a:p>
        </p:txBody>
      </p:sp>
      <p:sp>
        <p:nvSpPr>
          <p:cNvPr id="25" name="Rounded Rectangle 24"/>
          <p:cNvSpPr/>
          <p:nvPr/>
        </p:nvSpPr>
        <p:spPr>
          <a:xfrm>
            <a:off x="6156000" y="2718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6000" y="2718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chart-bar.png"/>
          <p:cNvPicPr>
            <a:picLocks noChangeAspect="1"/>
          </p:cNvPicPr>
          <p:nvPr/>
        </p:nvPicPr>
        <p:blipFill>
          <a:blip r:embed="rId7"/>
          <a:stretch>
            <a:fillRect/>
          </a:stretch>
        </p:blipFill>
        <p:spPr>
          <a:xfrm>
            <a:off x="6336000" y="2862000"/>
            <a:ext cx="396000" cy="396000"/>
          </a:xfrm>
          <a:prstGeom prst="rect">
            <a:avLst/>
          </a:prstGeom>
        </p:spPr>
      </p:pic>
      <p:sp>
        <p:nvSpPr>
          <p:cNvPr id="28" name="TextBox 27"/>
          <p:cNvSpPr txBox="1"/>
          <p:nvPr/>
        </p:nvSpPr>
        <p:spPr>
          <a:xfrm>
            <a:off x="6840000" y="2826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Les chiffres de départ</a:t>
            </a:r>
          </a:p>
        </p:txBody>
      </p:sp>
      <p:sp>
        <p:nvSpPr>
          <p:cNvPr id="29" name="TextBox 28"/>
          <p:cNvSpPr txBox="1"/>
          <p:nvPr/>
        </p:nvSpPr>
        <p:spPr>
          <a:xfrm>
            <a:off x="6840000" y="3131999"/>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bilan public d'IMPACT IA 2026 : participants, audiences des comptes, retombées. Les cibles restent des propositions.</a:t>
            </a:r>
          </a:p>
        </p:txBody>
      </p:sp>
      <p:sp>
        <p:nvSpPr>
          <p:cNvPr id="30" name="Rounded Rectangle 29"/>
          <p:cNvSpPr/>
          <p:nvPr/>
        </p:nvSpPr>
        <p:spPr>
          <a:xfrm>
            <a:off x="468000" y="3996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8000" y="3996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users-group.png"/>
          <p:cNvPicPr>
            <a:picLocks noChangeAspect="1"/>
          </p:cNvPicPr>
          <p:nvPr/>
        </p:nvPicPr>
        <p:blipFill>
          <a:blip r:embed="rId8"/>
          <a:stretch>
            <a:fillRect/>
          </a:stretch>
        </p:blipFill>
        <p:spPr>
          <a:xfrm>
            <a:off x="648000" y="4140000"/>
            <a:ext cx="396000" cy="396000"/>
          </a:xfrm>
          <a:prstGeom prst="rect">
            <a:avLst/>
          </a:prstGeom>
        </p:spPr>
      </p:pic>
      <p:sp>
        <p:nvSpPr>
          <p:cNvPr id="33" name="TextBox 32"/>
          <p:cNvSpPr txBox="1"/>
          <p:nvPr/>
        </p:nvSpPr>
        <p:spPr>
          <a:xfrm>
            <a:off x="1152000" y="4104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Intervenants et invités</a:t>
            </a:r>
          </a:p>
        </p:txBody>
      </p:sp>
      <p:sp>
        <p:nvSpPr>
          <p:cNvPr id="34" name="TextBox 33"/>
          <p:cNvSpPr txBox="1"/>
          <p:nvPr/>
        </p:nvSpPr>
        <p:spPr>
          <a:xfrm>
            <a:off x="1152000" y="4410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Aucun nom d'intervenant, de délégation étrangère ni de partenaire : sans eux, les publications de mars à juin manquent de matière.</a:t>
            </a:r>
          </a:p>
        </p:txBody>
      </p:sp>
      <p:sp>
        <p:nvSpPr>
          <p:cNvPr id="35" name="Rounded Rectangle 34"/>
          <p:cNvSpPr/>
          <p:nvPr/>
        </p:nvSpPr>
        <p:spPr>
          <a:xfrm>
            <a:off x="6156000" y="3996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56000" y="3996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brand-instagram.png"/>
          <p:cNvPicPr>
            <a:picLocks noChangeAspect="1"/>
          </p:cNvPicPr>
          <p:nvPr/>
        </p:nvPicPr>
        <p:blipFill>
          <a:blip r:embed="rId9"/>
          <a:stretch>
            <a:fillRect/>
          </a:stretch>
        </p:blipFill>
        <p:spPr>
          <a:xfrm>
            <a:off x="6336000" y="4140000"/>
            <a:ext cx="396000" cy="396000"/>
          </a:xfrm>
          <a:prstGeom prst="rect">
            <a:avLst/>
          </a:prstGeom>
        </p:spPr>
      </p:pic>
      <p:sp>
        <p:nvSpPr>
          <p:cNvPr id="38" name="TextBox 37"/>
          <p:cNvSpPr txBox="1"/>
          <p:nvPr/>
        </p:nvSpPr>
        <p:spPr>
          <a:xfrm>
            <a:off x="6840000" y="4104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Contenus vidéo</a:t>
            </a:r>
          </a:p>
        </p:txBody>
      </p:sp>
      <p:sp>
        <p:nvSpPr>
          <p:cNvPr id="39" name="TextBox 38"/>
          <p:cNvSpPr txBox="1"/>
          <p:nvPr/>
        </p:nvSpPr>
        <p:spPr>
          <a:xfrm>
            <a:off x="6840000" y="4410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vidéo dans la phase d'annonce (teaser, portraits « Témoins de l'IA ») alors que c'est le format qui porte le plus.</a:t>
            </a:r>
          </a:p>
        </p:txBody>
      </p:sp>
      <p:sp>
        <p:nvSpPr>
          <p:cNvPr id="40" name="Rounded Rectangle 39"/>
          <p:cNvSpPr/>
          <p:nvPr/>
        </p:nvSpPr>
        <p:spPr>
          <a:xfrm>
            <a:off x="468000" y="5273999"/>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68000" y="5273999"/>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coin.png"/>
          <p:cNvPicPr>
            <a:picLocks noChangeAspect="1"/>
          </p:cNvPicPr>
          <p:nvPr/>
        </p:nvPicPr>
        <p:blipFill>
          <a:blip r:embed="rId6"/>
          <a:stretch>
            <a:fillRect/>
          </a:stretch>
        </p:blipFill>
        <p:spPr>
          <a:xfrm>
            <a:off x="648000" y="5418000"/>
            <a:ext cx="396000" cy="396000"/>
          </a:xfrm>
          <a:prstGeom prst="rect">
            <a:avLst/>
          </a:prstGeom>
        </p:spPr>
      </p:pic>
      <p:sp>
        <p:nvSpPr>
          <p:cNvPr id="43" name="TextBox 42"/>
          <p:cNvSpPr txBox="1"/>
          <p:nvPr/>
        </p:nvSpPr>
        <p:spPr>
          <a:xfrm>
            <a:off x="1152000" y="5382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Publicité payante</a:t>
            </a:r>
          </a:p>
        </p:txBody>
      </p:sp>
      <p:sp>
        <p:nvSpPr>
          <p:cNvPr id="44" name="TextBox 43"/>
          <p:cNvSpPr txBox="1"/>
          <p:nvPr/>
        </p:nvSpPr>
        <p:spPr>
          <a:xfrm>
            <a:off x="1152000" y="5688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dispositif sponsorisé ni de budget d'achat d'espace : la portée de 500 000 personnes ne s'atteint pas en organique seul.</a:t>
            </a:r>
          </a:p>
        </p:txBody>
      </p:sp>
      <p:sp>
        <p:nvSpPr>
          <p:cNvPr id="45" name="Rounded Rectangle 44"/>
          <p:cNvSpPr/>
          <p:nvPr/>
        </p:nvSpPr>
        <p:spPr>
          <a:xfrm>
            <a:off x="6156000" y="5273999"/>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56000" y="5273999"/>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news.png"/>
          <p:cNvPicPr>
            <a:picLocks noChangeAspect="1"/>
          </p:cNvPicPr>
          <p:nvPr/>
        </p:nvPicPr>
        <p:blipFill>
          <a:blip r:embed="rId10"/>
          <a:stretch>
            <a:fillRect/>
          </a:stretch>
        </p:blipFill>
        <p:spPr>
          <a:xfrm>
            <a:off x="6336000" y="5418000"/>
            <a:ext cx="396000" cy="396000"/>
          </a:xfrm>
          <a:prstGeom prst="rect">
            <a:avLst/>
          </a:prstGeom>
        </p:spPr>
      </p:pic>
      <p:sp>
        <p:nvSpPr>
          <p:cNvPr id="48" name="TextBox 47"/>
          <p:cNvSpPr txBox="1"/>
          <p:nvPr/>
        </p:nvSpPr>
        <p:spPr>
          <a:xfrm>
            <a:off x="6840000" y="5382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Presse et accréditations</a:t>
            </a:r>
          </a:p>
        </p:txBody>
      </p:sp>
      <p:sp>
        <p:nvSpPr>
          <p:cNvPr id="49" name="TextBox 48"/>
          <p:cNvSpPr txBox="1"/>
          <p:nvPr/>
        </p:nvSpPr>
        <p:spPr>
          <a:xfrm>
            <a:off x="6840000" y="5688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plan presse détaillé : liste de médias, conférence de lancement, accréditations, salle de presse, communiqués datés.</a:t>
            </a:r>
          </a:p>
        </p:txBody>
      </p:sp>
      <p:sp>
        <p:nvSpPr>
          <p:cNvPr id="50" name="TextBox 49"/>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37 / 39</a:t>
            </a:r>
          </a:p>
        </p:txBody>
      </p:sp>
      <p:sp>
        <p:nvSpPr>
          <p:cNvPr id="51" name="TextBox 50"/>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alert-triangle.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AUTOCRITIQUE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Ce qui manque ou reste fragile (suite)</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sp>
        <p:nvSpPr>
          <p:cNvPr id="10" name="Rounded Rectangle 9"/>
          <p:cNvSpPr/>
          <p:nvPr/>
        </p:nvSpPr>
        <p:spPr>
          <a:xfrm>
            <a:off x="468000" y="1440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000" y="1440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shield-check.png"/>
          <p:cNvPicPr>
            <a:picLocks noChangeAspect="1"/>
          </p:cNvPicPr>
          <p:nvPr/>
        </p:nvPicPr>
        <p:blipFill>
          <a:blip r:embed="rId4"/>
          <a:stretch>
            <a:fillRect/>
          </a:stretch>
        </p:blipFill>
        <p:spPr>
          <a:xfrm>
            <a:off x="648000" y="1584000"/>
            <a:ext cx="396000" cy="396000"/>
          </a:xfrm>
          <a:prstGeom prst="rect">
            <a:avLst/>
          </a:prstGeom>
        </p:spPr>
      </p:pic>
      <p:sp>
        <p:nvSpPr>
          <p:cNvPr id="13" name="TextBox 12"/>
          <p:cNvSpPr txBox="1"/>
          <p:nvPr/>
        </p:nvSpPr>
        <p:spPr>
          <a:xfrm>
            <a:off x="1152000" y="1548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Protocole et sécurité</a:t>
            </a:r>
          </a:p>
        </p:txBody>
      </p:sp>
      <p:sp>
        <p:nvSpPr>
          <p:cNvPr id="14" name="TextBox 13"/>
          <p:cNvSpPr txBox="1"/>
          <p:nvPr/>
        </p:nvSpPr>
        <p:spPr>
          <a:xfrm>
            <a:off x="1152000" y="1854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Ordre protocolaire, préséances, sécurité des personnalités, accueil des délégations : à écrire avec le protocole d'État.</a:t>
            </a:r>
          </a:p>
        </p:txBody>
      </p:sp>
      <p:sp>
        <p:nvSpPr>
          <p:cNvPr id="15" name="Rounded Rectangle 14"/>
          <p:cNvSpPr/>
          <p:nvPr/>
        </p:nvSpPr>
        <p:spPr>
          <a:xfrm>
            <a:off x="6156000" y="1440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156000" y="1440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7" name="Picture 16" descr="language.png"/>
          <p:cNvPicPr>
            <a:picLocks noChangeAspect="1"/>
          </p:cNvPicPr>
          <p:nvPr/>
        </p:nvPicPr>
        <p:blipFill>
          <a:blip r:embed="rId5"/>
          <a:stretch>
            <a:fillRect/>
          </a:stretch>
        </p:blipFill>
        <p:spPr>
          <a:xfrm>
            <a:off x="6336000" y="1584000"/>
            <a:ext cx="396000" cy="396000"/>
          </a:xfrm>
          <a:prstGeom prst="rect">
            <a:avLst/>
          </a:prstGeom>
        </p:spPr>
      </p:pic>
      <p:sp>
        <p:nvSpPr>
          <p:cNvPr id="18" name="TextBox 17"/>
          <p:cNvSpPr txBox="1"/>
          <p:nvPr/>
        </p:nvSpPr>
        <p:spPr>
          <a:xfrm>
            <a:off x="6840000" y="1548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Langues et accessibilité</a:t>
            </a:r>
          </a:p>
        </p:txBody>
      </p:sp>
      <p:sp>
        <p:nvSpPr>
          <p:cNvPr id="19" name="TextBox 18"/>
          <p:cNvSpPr txBox="1"/>
          <p:nvPr/>
        </p:nvSpPr>
        <p:spPr>
          <a:xfrm>
            <a:off x="6840000" y="1854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version anglaise pour les partenaires internationaux, ni d'interprétation, de sous-titres ou d'accès pour les personnes malentendantes.</a:t>
            </a:r>
          </a:p>
        </p:txBody>
      </p:sp>
      <p:sp>
        <p:nvSpPr>
          <p:cNvPr id="20" name="Rounded Rectangle 19"/>
          <p:cNvSpPr/>
          <p:nvPr/>
        </p:nvSpPr>
        <p:spPr>
          <a:xfrm>
            <a:off x="468000" y="2718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8000" y="2718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2" name="Picture 21" descr="lock.png"/>
          <p:cNvPicPr>
            <a:picLocks noChangeAspect="1"/>
          </p:cNvPicPr>
          <p:nvPr/>
        </p:nvPicPr>
        <p:blipFill>
          <a:blip r:embed="rId6"/>
          <a:stretch>
            <a:fillRect/>
          </a:stretch>
        </p:blipFill>
        <p:spPr>
          <a:xfrm>
            <a:off x="648000" y="2862000"/>
            <a:ext cx="396000" cy="396000"/>
          </a:xfrm>
          <a:prstGeom prst="rect">
            <a:avLst/>
          </a:prstGeom>
        </p:spPr>
      </p:pic>
      <p:sp>
        <p:nvSpPr>
          <p:cNvPr id="23" name="TextBox 22"/>
          <p:cNvSpPr txBox="1"/>
          <p:nvPr/>
        </p:nvSpPr>
        <p:spPr>
          <a:xfrm>
            <a:off x="1152000" y="2826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Données des inscrits</a:t>
            </a:r>
          </a:p>
        </p:txBody>
      </p:sp>
      <p:sp>
        <p:nvSpPr>
          <p:cNvPr id="24" name="TextBox 23"/>
          <p:cNvSpPr txBox="1"/>
          <p:nvPr/>
        </p:nvSpPr>
        <p:spPr>
          <a:xfrm>
            <a:off x="1152000" y="3131999"/>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Formulaire d'inscription, consentement et déclaration à l'ARTCI (loi 2013-450) non prévus.</a:t>
            </a:r>
          </a:p>
        </p:txBody>
      </p:sp>
      <p:sp>
        <p:nvSpPr>
          <p:cNvPr id="25" name="Rounded Rectangle 24"/>
          <p:cNvSpPr/>
          <p:nvPr/>
        </p:nvSpPr>
        <p:spPr>
          <a:xfrm>
            <a:off x="6156000" y="2718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156000" y="2718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7" name="Picture 26" descr="world.png"/>
          <p:cNvPicPr>
            <a:picLocks noChangeAspect="1"/>
          </p:cNvPicPr>
          <p:nvPr/>
        </p:nvPicPr>
        <p:blipFill>
          <a:blip r:embed="rId7"/>
          <a:stretch>
            <a:fillRect/>
          </a:stretch>
        </p:blipFill>
        <p:spPr>
          <a:xfrm>
            <a:off x="6336000" y="2862000"/>
            <a:ext cx="396000" cy="396000"/>
          </a:xfrm>
          <a:prstGeom prst="rect">
            <a:avLst/>
          </a:prstGeom>
        </p:spPr>
      </p:pic>
      <p:sp>
        <p:nvSpPr>
          <p:cNvPr id="28" name="TextBox 27"/>
          <p:cNvSpPr txBox="1"/>
          <p:nvPr/>
        </p:nvSpPr>
        <p:spPr>
          <a:xfrm>
            <a:off x="6840000" y="2826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Site et inscriptions</a:t>
            </a:r>
          </a:p>
        </p:txBody>
      </p:sp>
      <p:sp>
        <p:nvSpPr>
          <p:cNvPr id="29" name="TextBox 28"/>
          <p:cNvSpPr txBox="1"/>
          <p:nvPr/>
        </p:nvSpPr>
        <p:spPr>
          <a:xfrm>
            <a:off x="6840000" y="3131999"/>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site, de billetterie ni de badge numérique alors que tout renvoie au « site officiel ».</a:t>
            </a:r>
          </a:p>
        </p:txBody>
      </p:sp>
      <p:sp>
        <p:nvSpPr>
          <p:cNvPr id="30" name="Rounded Rectangle 29"/>
          <p:cNvSpPr/>
          <p:nvPr/>
        </p:nvSpPr>
        <p:spPr>
          <a:xfrm>
            <a:off x="468000" y="3996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468000" y="3996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2" name="Picture 31" descr="route.png"/>
          <p:cNvPicPr>
            <a:picLocks noChangeAspect="1"/>
          </p:cNvPicPr>
          <p:nvPr/>
        </p:nvPicPr>
        <p:blipFill>
          <a:blip r:embed="rId8"/>
          <a:stretch>
            <a:fillRect/>
          </a:stretch>
        </p:blipFill>
        <p:spPr>
          <a:xfrm>
            <a:off x="648000" y="4140000"/>
            <a:ext cx="396000" cy="396000"/>
          </a:xfrm>
          <a:prstGeom prst="rect">
            <a:avLst/>
          </a:prstGeom>
        </p:spPr>
      </p:pic>
      <p:sp>
        <p:nvSpPr>
          <p:cNvPr id="33" name="TextBox 32"/>
          <p:cNvSpPr txBox="1"/>
          <p:nvPr/>
        </p:nvSpPr>
        <p:spPr>
          <a:xfrm>
            <a:off x="1152000" y="4104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Ville et intérieur du pays</a:t>
            </a:r>
          </a:p>
        </p:txBody>
      </p:sp>
      <p:sp>
        <p:nvSpPr>
          <p:cNvPr id="34" name="TextBox 33"/>
          <p:cNvSpPr txBox="1"/>
          <p:nvPr/>
        </p:nvSpPr>
        <p:spPr>
          <a:xfrm>
            <a:off x="1152000" y="4410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Rien pour toucher les régions : relais dans les universités et les mairies, retransmission en direct, présence dans les médias locaux.</a:t>
            </a:r>
          </a:p>
        </p:txBody>
      </p:sp>
      <p:sp>
        <p:nvSpPr>
          <p:cNvPr id="35" name="Rounded Rectangle 34"/>
          <p:cNvSpPr/>
          <p:nvPr/>
        </p:nvSpPr>
        <p:spPr>
          <a:xfrm>
            <a:off x="6156000" y="3996000"/>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6156000" y="3996000"/>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7" name="Picture 36" descr="plant-2.png"/>
          <p:cNvPicPr>
            <a:picLocks noChangeAspect="1"/>
          </p:cNvPicPr>
          <p:nvPr/>
        </p:nvPicPr>
        <p:blipFill>
          <a:blip r:embed="rId9"/>
          <a:stretch>
            <a:fillRect/>
          </a:stretch>
        </p:blipFill>
        <p:spPr>
          <a:xfrm>
            <a:off x="6336000" y="4140000"/>
            <a:ext cx="396000" cy="396000"/>
          </a:xfrm>
          <a:prstGeom prst="rect">
            <a:avLst/>
          </a:prstGeom>
        </p:spPr>
      </p:pic>
      <p:sp>
        <p:nvSpPr>
          <p:cNvPr id="38" name="TextBox 37"/>
          <p:cNvSpPr txBox="1"/>
          <p:nvPr/>
        </p:nvSpPr>
        <p:spPr>
          <a:xfrm>
            <a:off x="6840000" y="4104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Impact environnemental et après</a:t>
            </a:r>
          </a:p>
        </p:txBody>
      </p:sp>
      <p:sp>
        <p:nvSpPr>
          <p:cNvPr id="39" name="TextBox 38"/>
          <p:cNvSpPr txBox="1"/>
          <p:nvPr/>
        </p:nvSpPr>
        <p:spPr>
          <a:xfrm>
            <a:off x="6840000" y="4410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Pas de règle sur le plastique, l'impression, les déchets ; pas de plan de suivi des engagements après l'événement.</a:t>
            </a:r>
          </a:p>
        </p:txBody>
      </p:sp>
      <p:sp>
        <p:nvSpPr>
          <p:cNvPr id="40" name="Rounded Rectangle 39"/>
          <p:cNvSpPr/>
          <p:nvPr/>
        </p:nvSpPr>
        <p:spPr>
          <a:xfrm>
            <a:off x="468000" y="5273999"/>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68000" y="5273999"/>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2" name="Picture 41" descr="alert-triangle.png"/>
          <p:cNvPicPr>
            <a:picLocks noChangeAspect="1"/>
          </p:cNvPicPr>
          <p:nvPr/>
        </p:nvPicPr>
        <p:blipFill>
          <a:blip r:embed="rId10"/>
          <a:stretch>
            <a:fillRect/>
          </a:stretch>
        </p:blipFill>
        <p:spPr>
          <a:xfrm>
            <a:off x="648000" y="5418000"/>
            <a:ext cx="396000" cy="396000"/>
          </a:xfrm>
          <a:prstGeom prst="rect">
            <a:avLst/>
          </a:prstGeom>
        </p:spPr>
      </p:pic>
      <p:sp>
        <p:nvSpPr>
          <p:cNvPr id="43" name="TextBox 42"/>
          <p:cNvSpPr txBox="1"/>
          <p:nvPr/>
        </p:nvSpPr>
        <p:spPr>
          <a:xfrm>
            <a:off x="1152000" y="5382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Communication de crise</a:t>
            </a:r>
          </a:p>
        </p:txBody>
      </p:sp>
      <p:sp>
        <p:nvSpPr>
          <p:cNvPr id="44" name="TextBox 43"/>
          <p:cNvSpPr txBox="1"/>
          <p:nvPr/>
        </p:nvSpPr>
        <p:spPr>
          <a:xfrm>
            <a:off x="1152000" y="5688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Aucun scénario : panne, polémique sur l'IA, annulation d'un ministre, fuite de données. Messages d'attente à préparer.</a:t>
            </a:r>
          </a:p>
        </p:txBody>
      </p:sp>
      <p:sp>
        <p:nvSpPr>
          <p:cNvPr id="45" name="Rounded Rectangle 44"/>
          <p:cNvSpPr/>
          <p:nvPr/>
        </p:nvSpPr>
        <p:spPr>
          <a:xfrm>
            <a:off x="6156000" y="5273999"/>
            <a:ext cx="5508000" cy="1170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6156000" y="5273999"/>
            <a:ext cx="64800" cy="11700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7" name="Picture 46" descr="checklist.png"/>
          <p:cNvPicPr>
            <a:picLocks noChangeAspect="1"/>
          </p:cNvPicPr>
          <p:nvPr/>
        </p:nvPicPr>
        <p:blipFill>
          <a:blip r:embed="rId11"/>
          <a:stretch>
            <a:fillRect/>
          </a:stretch>
        </p:blipFill>
        <p:spPr>
          <a:xfrm>
            <a:off x="6336000" y="5418000"/>
            <a:ext cx="396000" cy="396000"/>
          </a:xfrm>
          <a:prstGeom prst="rect">
            <a:avLst/>
          </a:prstGeom>
        </p:spPr>
      </p:pic>
      <p:sp>
        <p:nvSpPr>
          <p:cNvPr id="48" name="TextBox 47"/>
          <p:cNvSpPr txBox="1"/>
          <p:nvPr/>
        </p:nvSpPr>
        <p:spPr>
          <a:xfrm>
            <a:off x="6840000" y="5382000"/>
            <a:ext cx="4680000" cy="360000"/>
          </a:xfrm>
          <a:prstGeom prst="rect">
            <a:avLst/>
          </a:prstGeom>
          <a:noFill/>
        </p:spPr>
        <p:txBody>
          <a:bodyPr wrap="square" lIns="36000" rIns="36000" tIns="18000" bIns="18000">
            <a:spAutoFit/>
          </a:bodyPr>
          <a:lstStyle/>
          <a:p>
            <a:pPr>
              <a:spcAft>
                <a:spcPts val="300"/>
              </a:spcAft>
            </a:pPr>
            <a:r>
              <a:rPr sz="1300" b="1">
                <a:solidFill>
                  <a:srgbClr val="062A26"/>
                </a:solidFill>
                <a:latin typeface="Saira"/>
              </a:rPr>
              <a:t>Gouvernance</a:t>
            </a:r>
          </a:p>
        </p:txBody>
      </p:sp>
      <p:sp>
        <p:nvSpPr>
          <p:cNvPr id="49" name="TextBox 48"/>
          <p:cNvSpPr txBox="1"/>
          <p:nvPr/>
        </p:nvSpPr>
        <p:spPr>
          <a:xfrm>
            <a:off x="6840000" y="5688000"/>
            <a:ext cx="4716000" cy="756000"/>
          </a:xfrm>
          <a:prstGeom prst="rect">
            <a:avLst/>
          </a:prstGeom>
          <a:noFill/>
        </p:spPr>
        <p:txBody>
          <a:bodyPr wrap="square" lIns="36000" rIns="36000" tIns="18000" bIns="18000">
            <a:spAutoFit/>
          </a:bodyPr>
          <a:lstStyle/>
          <a:p>
            <a:pPr>
              <a:spcAft>
                <a:spcPts val="300"/>
              </a:spcAft>
            </a:pPr>
            <a:r>
              <a:rPr sz="980" b="0">
                <a:solidFill>
                  <a:srgbClr val="3B4B48"/>
                </a:solidFill>
                <a:latin typeface="Inter"/>
              </a:rPr>
              <a:t>Qui valide quoi, en combien de temps, et qui publie : circuit de validation entre Mstudio et le Ministère à fixer.</a:t>
            </a:r>
          </a:p>
        </p:txBody>
      </p:sp>
      <p:sp>
        <p:nvSpPr>
          <p:cNvPr id="50" name="TextBox 49"/>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38 / 39</a:t>
            </a:r>
          </a:p>
        </p:txBody>
      </p:sp>
      <p:sp>
        <p:nvSpPr>
          <p:cNvPr id="51" name="TextBox 50"/>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3200" cy="6858000"/>
          </a:xfrm>
          <a:prstGeom prst="rect">
            <a:avLst/>
          </a:prstGeom>
          <a:solidFill>
            <a:srgbClr val="F4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3200" cy="1188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1188000"/>
            <a:ext cx="12193200" cy="43200"/>
          </a:xfrm>
          <a:prstGeom prst="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468000" y="270000"/>
            <a:ext cx="684000" cy="684000"/>
          </a:xfrm>
          <a:prstGeom prst="roundRect">
            <a:avLst/>
          </a:prstGeom>
          <a:solidFill>
            <a:srgbClr val="FF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route.png"/>
          <p:cNvPicPr>
            <a:picLocks noChangeAspect="1"/>
          </p:cNvPicPr>
          <p:nvPr/>
        </p:nvPicPr>
        <p:blipFill>
          <a:blip r:embed="rId2"/>
          <a:stretch>
            <a:fillRect/>
          </a:stretch>
        </p:blipFill>
        <p:spPr>
          <a:xfrm>
            <a:off x="558000" y="360000"/>
            <a:ext cx="503999" cy="503999"/>
          </a:xfrm>
          <a:prstGeom prst="rect">
            <a:avLst/>
          </a:prstGeom>
        </p:spPr>
      </p:pic>
      <p:sp>
        <p:nvSpPr>
          <p:cNvPr id="7" name="TextBox 6"/>
          <p:cNvSpPr txBox="1"/>
          <p:nvPr/>
        </p:nvSpPr>
        <p:spPr>
          <a:xfrm>
            <a:off x="1332000" y="198000"/>
            <a:ext cx="7200000" cy="288000"/>
          </a:xfrm>
          <a:prstGeom prst="rect">
            <a:avLst/>
          </a:prstGeom>
          <a:noFill/>
        </p:spPr>
        <p:txBody>
          <a:bodyPr wrap="square" lIns="36000" rIns="36000" tIns="18000" bIns="18000">
            <a:spAutoFit/>
          </a:bodyPr>
          <a:lstStyle/>
          <a:p>
            <a:pPr>
              <a:spcAft>
                <a:spcPts val="300"/>
              </a:spcAft>
            </a:pPr>
            <a:r>
              <a:rPr sz="1000" b="1">
                <a:solidFill>
                  <a:srgbClr val="FF8A00"/>
                </a:solidFill>
                <a:latin typeface="Saira"/>
              </a:rPr>
              <a:t>PILOTAGE</a:t>
            </a:r>
          </a:p>
        </p:txBody>
      </p:sp>
      <p:sp>
        <p:nvSpPr>
          <p:cNvPr id="8" name="TextBox 7"/>
          <p:cNvSpPr txBox="1"/>
          <p:nvPr/>
        </p:nvSpPr>
        <p:spPr>
          <a:xfrm>
            <a:off x="1332000" y="413999"/>
            <a:ext cx="7920000" cy="648000"/>
          </a:xfrm>
          <a:prstGeom prst="rect">
            <a:avLst/>
          </a:prstGeom>
          <a:noFill/>
        </p:spPr>
        <p:txBody>
          <a:bodyPr wrap="square" lIns="36000" rIns="36000" tIns="18000" bIns="18000">
            <a:spAutoFit/>
          </a:bodyPr>
          <a:lstStyle/>
          <a:p>
            <a:pPr>
              <a:spcAft>
                <a:spcPts val="300"/>
              </a:spcAft>
            </a:pPr>
            <a:r>
              <a:rPr sz="2400" b="1">
                <a:solidFill>
                  <a:srgbClr val="062A26"/>
                </a:solidFill>
                <a:latin typeface="Saira"/>
              </a:rPr>
              <a:t>Prochaines étapes</a:t>
            </a:r>
          </a:p>
        </p:txBody>
      </p:sp>
      <p:pic>
        <p:nvPicPr>
          <p:cNvPr id="9" name="Picture 8" descr="01_logo_piste-A_chevrons_560_None.jpg"/>
          <p:cNvPicPr>
            <a:picLocks noChangeAspect="1"/>
          </p:cNvPicPr>
          <p:nvPr/>
        </p:nvPicPr>
        <p:blipFill>
          <a:blip r:embed="rId3"/>
          <a:stretch>
            <a:fillRect/>
          </a:stretch>
        </p:blipFill>
        <p:spPr>
          <a:xfrm>
            <a:off x="9576000" y="198000"/>
            <a:ext cx="1408000" cy="792000"/>
          </a:xfrm>
          <a:prstGeom prst="rect">
            <a:avLst/>
          </a:prstGeom>
        </p:spPr>
      </p:pic>
      <p:pic>
        <p:nvPicPr>
          <p:cNvPr id="10" name="Picture 9" descr="abidjan_900_0.7971014492753623.jpg"/>
          <p:cNvPicPr>
            <a:picLocks noChangeAspect="1"/>
          </p:cNvPicPr>
          <p:nvPr/>
        </p:nvPicPr>
        <p:blipFill>
          <a:blip r:embed="rId4"/>
          <a:stretch>
            <a:fillRect/>
          </a:stretch>
        </p:blipFill>
        <p:spPr>
          <a:xfrm>
            <a:off x="468000" y="1475999"/>
            <a:ext cx="3960000" cy="4968000"/>
          </a:xfrm>
          <a:prstGeom prst="rect">
            <a:avLst/>
          </a:prstGeom>
        </p:spPr>
      </p:pic>
      <p:sp>
        <p:nvSpPr>
          <p:cNvPr id="11" name="Rounded Rectangle 10"/>
          <p:cNvSpPr/>
          <p:nvPr/>
        </p:nvSpPr>
        <p:spPr>
          <a:xfrm>
            <a:off x="4680000" y="1475999"/>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24000" y="1583999"/>
            <a:ext cx="576000" cy="648000"/>
          </a:xfrm>
          <a:prstGeom prst="rect">
            <a:avLst/>
          </a:prstGeom>
          <a:noFill/>
        </p:spPr>
        <p:txBody>
          <a:bodyPr wrap="square" lIns="36000" rIns="36000" tIns="18000" bIns="18000">
            <a:spAutoFit/>
          </a:bodyPr>
          <a:lstStyle/>
          <a:p>
            <a:pPr>
              <a:spcAft>
                <a:spcPts val="300"/>
              </a:spcAft>
            </a:pPr>
            <a:r>
              <a:rPr sz="2400" b="1">
                <a:solidFill>
                  <a:srgbClr val="FF8A00"/>
                </a:solidFill>
                <a:latin typeface="Saira"/>
              </a:rPr>
              <a:t>1</a:t>
            </a:r>
          </a:p>
        </p:txBody>
      </p:sp>
      <p:pic>
        <p:nvPicPr>
          <p:cNvPr id="13" name="Picture 12" descr="certificate.png"/>
          <p:cNvPicPr>
            <a:picLocks noChangeAspect="1"/>
          </p:cNvPicPr>
          <p:nvPr/>
        </p:nvPicPr>
        <p:blipFill>
          <a:blip r:embed="rId5"/>
          <a:stretch>
            <a:fillRect/>
          </a:stretch>
        </p:blipFill>
        <p:spPr>
          <a:xfrm>
            <a:off x="5436000" y="1710000"/>
            <a:ext cx="396000" cy="396000"/>
          </a:xfrm>
          <a:prstGeom prst="rect">
            <a:avLst/>
          </a:prstGeom>
        </p:spPr>
      </p:pic>
      <p:sp>
        <p:nvSpPr>
          <p:cNvPr id="14" name="TextBox 13"/>
          <p:cNvSpPr txBox="1"/>
          <p:nvPr/>
        </p:nvSpPr>
        <p:spPr>
          <a:xfrm>
            <a:off x="6012000" y="1565999"/>
            <a:ext cx="5400000" cy="360000"/>
          </a:xfrm>
          <a:prstGeom prst="rect">
            <a:avLst/>
          </a:prstGeom>
          <a:noFill/>
        </p:spPr>
        <p:txBody>
          <a:bodyPr wrap="square" lIns="36000" rIns="36000" tIns="18000" bIns="18000">
            <a:spAutoFit/>
          </a:bodyPr>
          <a:lstStyle/>
          <a:p>
            <a:pPr>
              <a:spcAft>
                <a:spcPts val="300"/>
              </a:spcAft>
            </a:pPr>
            <a:r>
              <a:rPr sz="1400" b="1">
                <a:solidFill>
                  <a:srgbClr val="062A26"/>
                </a:solidFill>
                <a:latin typeface="Saira"/>
              </a:rPr>
              <a:t>Choix du logo</a:t>
            </a:r>
          </a:p>
        </p:txBody>
      </p:sp>
      <p:sp>
        <p:nvSpPr>
          <p:cNvPr id="15" name="TextBox 14"/>
          <p:cNvSpPr txBox="1"/>
          <p:nvPr/>
        </p:nvSpPr>
        <p:spPr>
          <a:xfrm>
            <a:off x="6012000" y="1908000"/>
            <a:ext cx="5580000" cy="432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Le Ministère retient une piste ; Koffi la finalise en fichiers vectoriels.</a:t>
            </a:r>
          </a:p>
        </p:txBody>
      </p:sp>
      <p:sp>
        <p:nvSpPr>
          <p:cNvPr id="16" name="Rounded Rectangle 15"/>
          <p:cNvSpPr/>
          <p:nvPr/>
        </p:nvSpPr>
        <p:spPr>
          <a:xfrm>
            <a:off x="4680000" y="2484000"/>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24000" y="2591999"/>
            <a:ext cx="576000" cy="648000"/>
          </a:xfrm>
          <a:prstGeom prst="rect">
            <a:avLst/>
          </a:prstGeom>
          <a:noFill/>
        </p:spPr>
        <p:txBody>
          <a:bodyPr wrap="square" lIns="36000" rIns="36000" tIns="18000" bIns="18000">
            <a:spAutoFit/>
          </a:bodyPr>
          <a:lstStyle/>
          <a:p>
            <a:pPr>
              <a:spcAft>
                <a:spcPts val="300"/>
              </a:spcAft>
            </a:pPr>
            <a:r>
              <a:rPr sz="2400" b="1">
                <a:solidFill>
                  <a:srgbClr val="FF8A00"/>
                </a:solidFill>
                <a:latin typeface="Saira"/>
              </a:rPr>
              <a:t>2</a:t>
            </a:r>
          </a:p>
        </p:txBody>
      </p:sp>
      <p:pic>
        <p:nvPicPr>
          <p:cNvPr id="18" name="Picture 17" descr="map-pin.png"/>
          <p:cNvPicPr>
            <a:picLocks noChangeAspect="1"/>
          </p:cNvPicPr>
          <p:nvPr/>
        </p:nvPicPr>
        <p:blipFill>
          <a:blip r:embed="rId6"/>
          <a:stretch>
            <a:fillRect/>
          </a:stretch>
        </p:blipFill>
        <p:spPr>
          <a:xfrm>
            <a:off x="5436000" y="2718000"/>
            <a:ext cx="396000" cy="396000"/>
          </a:xfrm>
          <a:prstGeom prst="rect">
            <a:avLst/>
          </a:prstGeom>
        </p:spPr>
      </p:pic>
      <p:sp>
        <p:nvSpPr>
          <p:cNvPr id="19" name="TextBox 18"/>
          <p:cNvSpPr txBox="1"/>
          <p:nvPr/>
        </p:nvSpPr>
        <p:spPr>
          <a:xfrm>
            <a:off x="6012000" y="2574000"/>
            <a:ext cx="5400000" cy="360000"/>
          </a:xfrm>
          <a:prstGeom prst="rect">
            <a:avLst/>
          </a:prstGeom>
          <a:noFill/>
        </p:spPr>
        <p:txBody>
          <a:bodyPr wrap="square" lIns="36000" rIns="36000" tIns="18000" bIns="18000">
            <a:spAutoFit/>
          </a:bodyPr>
          <a:lstStyle/>
          <a:p>
            <a:pPr>
              <a:spcAft>
                <a:spcPts val="300"/>
              </a:spcAft>
            </a:pPr>
            <a:r>
              <a:rPr sz="1400" b="1">
                <a:solidFill>
                  <a:srgbClr val="062A26"/>
                </a:solidFill>
                <a:latin typeface="Saira"/>
              </a:rPr>
              <a:t>Choix du lieu</a:t>
            </a:r>
          </a:p>
        </p:txBody>
      </p:sp>
      <p:sp>
        <p:nvSpPr>
          <p:cNvPr id="20" name="TextBox 19"/>
          <p:cNvSpPr txBox="1"/>
          <p:nvPr/>
        </p:nvSpPr>
        <p:spPr>
          <a:xfrm>
            <a:off x="6012000" y="2916000"/>
            <a:ext cx="5580000" cy="432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Le plan coté du lieu remplace le plan de principe.</a:t>
            </a:r>
          </a:p>
        </p:txBody>
      </p:sp>
      <p:sp>
        <p:nvSpPr>
          <p:cNvPr id="21" name="Rounded Rectangle 20"/>
          <p:cNvSpPr/>
          <p:nvPr/>
        </p:nvSpPr>
        <p:spPr>
          <a:xfrm>
            <a:off x="4680000" y="3491999"/>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824000" y="3600000"/>
            <a:ext cx="576000" cy="648000"/>
          </a:xfrm>
          <a:prstGeom prst="rect">
            <a:avLst/>
          </a:prstGeom>
          <a:noFill/>
        </p:spPr>
        <p:txBody>
          <a:bodyPr wrap="square" lIns="36000" rIns="36000" tIns="18000" bIns="18000">
            <a:spAutoFit/>
          </a:bodyPr>
          <a:lstStyle/>
          <a:p>
            <a:pPr>
              <a:spcAft>
                <a:spcPts val="300"/>
              </a:spcAft>
            </a:pPr>
            <a:r>
              <a:rPr sz="2400" b="1">
                <a:solidFill>
                  <a:srgbClr val="FF8A00"/>
                </a:solidFill>
                <a:latin typeface="Saira"/>
              </a:rPr>
              <a:t>3</a:t>
            </a:r>
          </a:p>
        </p:txBody>
      </p:sp>
      <p:pic>
        <p:nvPicPr>
          <p:cNvPr id="23" name="Picture 22" descr="heart-handshake.png"/>
          <p:cNvPicPr>
            <a:picLocks noChangeAspect="1"/>
          </p:cNvPicPr>
          <p:nvPr/>
        </p:nvPicPr>
        <p:blipFill>
          <a:blip r:embed="rId7"/>
          <a:stretch>
            <a:fillRect/>
          </a:stretch>
        </p:blipFill>
        <p:spPr>
          <a:xfrm>
            <a:off x="5436000" y="3726000"/>
            <a:ext cx="396000" cy="396000"/>
          </a:xfrm>
          <a:prstGeom prst="rect">
            <a:avLst/>
          </a:prstGeom>
        </p:spPr>
      </p:pic>
      <p:sp>
        <p:nvSpPr>
          <p:cNvPr id="24" name="TextBox 23"/>
          <p:cNvSpPr txBox="1"/>
          <p:nvPr/>
        </p:nvSpPr>
        <p:spPr>
          <a:xfrm>
            <a:off x="6012000" y="3581999"/>
            <a:ext cx="5400000" cy="360000"/>
          </a:xfrm>
          <a:prstGeom prst="rect">
            <a:avLst/>
          </a:prstGeom>
          <a:noFill/>
        </p:spPr>
        <p:txBody>
          <a:bodyPr wrap="square" lIns="36000" rIns="36000" tIns="18000" bIns="18000">
            <a:spAutoFit/>
          </a:bodyPr>
          <a:lstStyle/>
          <a:p>
            <a:pPr>
              <a:spcAft>
                <a:spcPts val="300"/>
              </a:spcAft>
            </a:pPr>
            <a:r>
              <a:rPr sz="1400" b="1">
                <a:solidFill>
                  <a:srgbClr val="062A26"/>
                </a:solidFill>
                <a:latin typeface="Saira"/>
              </a:rPr>
              <a:t>Dossier partenaires</a:t>
            </a:r>
          </a:p>
        </p:txBody>
      </p:sp>
      <p:sp>
        <p:nvSpPr>
          <p:cNvPr id="25" name="TextBox 24"/>
          <p:cNvSpPr txBox="1"/>
          <p:nvPr/>
        </p:nvSpPr>
        <p:spPr>
          <a:xfrm>
            <a:off x="6012000" y="3923999"/>
            <a:ext cx="5580000" cy="432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La note de concept part vers les sponsors pressentis.</a:t>
            </a:r>
          </a:p>
        </p:txBody>
      </p:sp>
      <p:sp>
        <p:nvSpPr>
          <p:cNvPr id="26" name="Rounded Rectangle 25"/>
          <p:cNvSpPr/>
          <p:nvPr/>
        </p:nvSpPr>
        <p:spPr>
          <a:xfrm>
            <a:off x="4680000" y="4499999"/>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824000" y="4608000"/>
            <a:ext cx="576000" cy="648000"/>
          </a:xfrm>
          <a:prstGeom prst="rect">
            <a:avLst/>
          </a:prstGeom>
          <a:noFill/>
        </p:spPr>
        <p:txBody>
          <a:bodyPr wrap="square" lIns="36000" rIns="36000" tIns="18000" bIns="18000">
            <a:spAutoFit/>
          </a:bodyPr>
          <a:lstStyle/>
          <a:p>
            <a:pPr>
              <a:spcAft>
                <a:spcPts val="300"/>
              </a:spcAft>
            </a:pPr>
            <a:r>
              <a:rPr sz="2400" b="1">
                <a:solidFill>
                  <a:srgbClr val="FF8A00"/>
                </a:solidFill>
                <a:latin typeface="Saira"/>
              </a:rPr>
              <a:t>4</a:t>
            </a:r>
          </a:p>
        </p:txBody>
      </p:sp>
      <p:pic>
        <p:nvPicPr>
          <p:cNvPr id="28" name="Picture 27" descr="coin.png"/>
          <p:cNvPicPr>
            <a:picLocks noChangeAspect="1"/>
          </p:cNvPicPr>
          <p:nvPr/>
        </p:nvPicPr>
        <p:blipFill>
          <a:blip r:embed="rId8"/>
          <a:stretch>
            <a:fillRect/>
          </a:stretch>
        </p:blipFill>
        <p:spPr>
          <a:xfrm>
            <a:off x="5436000" y="4733999"/>
            <a:ext cx="396000" cy="396000"/>
          </a:xfrm>
          <a:prstGeom prst="rect">
            <a:avLst/>
          </a:prstGeom>
        </p:spPr>
      </p:pic>
      <p:sp>
        <p:nvSpPr>
          <p:cNvPr id="29" name="TextBox 28"/>
          <p:cNvSpPr txBox="1"/>
          <p:nvPr/>
        </p:nvSpPr>
        <p:spPr>
          <a:xfrm>
            <a:off x="6012000" y="4589999"/>
            <a:ext cx="5400000" cy="360000"/>
          </a:xfrm>
          <a:prstGeom prst="rect">
            <a:avLst/>
          </a:prstGeom>
          <a:noFill/>
        </p:spPr>
        <p:txBody>
          <a:bodyPr wrap="square" lIns="36000" rIns="36000" tIns="18000" bIns="18000">
            <a:spAutoFit/>
          </a:bodyPr>
          <a:lstStyle/>
          <a:p>
            <a:pPr>
              <a:spcAft>
                <a:spcPts val="300"/>
              </a:spcAft>
            </a:pPr>
            <a:r>
              <a:rPr sz="1400" b="1">
                <a:solidFill>
                  <a:srgbClr val="062A26"/>
                </a:solidFill>
                <a:latin typeface="Saira"/>
              </a:rPr>
              <a:t>Budget</a:t>
            </a:r>
          </a:p>
        </p:txBody>
      </p:sp>
      <p:sp>
        <p:nvSpPr>
          <p:cNvPr id="30" name="TextBox 29"/>
          <p:cNvSpPr txBox="1"/>
          <p:nvPr/>
        </p:nvSpPr>
        <p:spPr>
          <a:xfrm>
            <a:off x="6012000" y="4931999"/>
            <a:ext cx="5580000" cy="432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Chiffrage en francs CFA de la communication et de la production.</a:t>
            </a:r>
          </a:p>
        </p:txBody>
      </p:sp>
      <p:sp>
        <p:nvSpPr>
          <p:cNvPr id="31" name="Rounded Rectangle 30"/>
          <p:cNvSpPr/>
          <p:nvPr/>
        </p:nvSpPr>
        <p:spPr>
          <a:xfrm>
            <a:off x="4680000" y="5508000"/>
            <a:ext cx="7056000" cy="882000"/>
          </a:xfrm>
          <a:prstGeom prst="round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24000" y="5616000"/>
            <a:ext cx="576000" cy="648000"/>
          </a:xfrm>
          <a:prstGeom prst="rect">
            <a:avLst/>
          </a:prstGeom>
          <a:noFill/>
        </p:spPr>
        <p:txBody>
          <a:bodyPr wrap="square" lIns="36000" rIns="36000" tIns="18000" bIns="18000">
            <a:spAutoFit/>
          </a:bodyPr>
          <a:lstStyle/>
          <a:p>
            <a:pPr>
              <a:spcAft>
                <a:spcPts val="300"/>
              </a:spcAft>
            </a:pPr>
            <a:r>
              <a:rPr sz="2400" b="1">
                <a:solidFill>
                  <a:srgbClr val="FF8A00"/>
                </a:solidFill>
                <a:latin typeface="Saira"/>
              </a:rPr>
              <a:t>5</a:t>
            </a:r>
          </a:p>
        </p:txBody>
      </p:sp>
      <p:pic>
        <p:nvPicPr>
          <p:cNvPr id="33" name="Picture 32" descr="checklist.png"/>
          <p:cNvPicPr>
            <a:picLocks noChangeAspect="1"/>
          </p:cNvPicPr>
          <p:nvPr/>
        </p:nvPicPr>
        <p:blipFill>
          <a:blip r:embed="rId9"/>
          <a:stretch>
            <a:fillRect/>
          </a:stretch>
        </p:blipFill>
        <p:spPr>
          <a:xfrm>
            <a:off x="5436000" y="5742000"/>
            <a:ext cx="396000" cy="396000"/>
          </a:xfrm>
          <a:prstGeom prst="rect">
            <a:avLst/>
          </a:prstGeom>
        </p:spPr>
      </p:pic>
      <p:sp>
        <p:nvSpPr>
          <p:cNvPr id="34" name="TextBox 33"/>
          <p:cNvSpPr txBox="1"/>
          <p:nvPr/>
        </p:nvSpPr>
        <p:spPr>
          <a:xfrm>
            <a:off x="6012000" y="5598000"/>
            <a:ext cx="5400000" cy="360000"/>
          </a:xfrm>
          <a:prstGeom prst="rect">
            <a:avLst/>
          </a:prstGeom>
          <a:noFill/>
        </p:spPr>
        <p:txBody>
          <a:bodyPr wrap="square" lIns="36000" rIns="36000" tIns="18000" bIns="18000">
            <a:spAutoFit/>
          </a:bodyPr>
          <a:lstStyle/>
          <a:p>
            <a:pPr>
              <a:spcAft>
                <a:spcPts val="300"/>
              </a:spcAft>
            </a:pPr>
            <a:r>
              <a:rPr sz="1400" b="1">
                <a:solidFill>
                  <a:srgbClr val="062A26"/>
                </a:solidFill>
                <a:latin typeface="Saira"/>
              </a:rPr>
              <a:t>Circuit de validation</a:t>
            </a:r>
          </a:p>
        </p:txBody>
      </p:sp>
      <p:sp>
        <p:nvSpPr>
          <p:cNvPr id="35" name="TextBox 34"/>
          <p:cNvSpPr txBox="1"/>
          <p:nvPr/>
        </p:nvSpPr>
        <p:spPr>
          <a:xfrm>
            <a:off x="6012000" y="5940000"/>
            <a:ext cx="5580000" cy="432000"/>
          </a:xfrm>
          <a:prstGeom prst="rect">
            <a:avLst/>
          </a:prstGeom>
          <a:noFill/>
        </p:spPr>
        <p:txBody>
          <a:bodyPr wrap="square" lIns="36000" rIns="36000" tIns="18000" bIns="18000">
            <a:spAutoFit/>
          </a:bodyPr>
          <a:lstStyle/>
          <a:p>
            <a:pPr>
              <a:spcAft>
                <a:spcPts val="300"/>
              </a:spcAft>
            </a:pPr>
            <a:r>
              <a:rPr sz="1150" b="0">
                <a:solidFill>
                  <a:srgbClr val="3B4B48"/>
                </a:solidFill>
                <a:latin typeface="Inter"/>
              </a:rPr>
              <a:t>Qui valide chaque publication, et en combien de temps.</a:t>
            </a:r>
          </a:p>
        </p:txBody>
      </p:sp>
      <p:sp>
        <p:nvSpPr>
          <p:cNvPr id="36" name="TextBox 35"/>
          <p:cNvSpPr txBox="1"/>
          <p:nvPr/>
        </p:nvSpPr>
        <p:spPr>
          <a:xfrm>
            <a:off x="9540000" y="6498000"/>
            <a:ext cx="2268000" cy="251999"/>
          </a:xfrm>
          <a:prstGeom prst="rect">
            <a:avLst/>
          </a:prstGeom>
          <a:noFill/>
        </p:spPr>
        <p:txBody>
          <a:bodyPr wrap="square" lIns="36000" rIns="36000" tIns="18000" bIns="18000">
            <a:spAutoFit/>
          </a:bodyPr>
          <a:lstStyle/>
          <a:p>
            <a:pPr algn="r">
              <a:spcAft>
                <a:spcPts val="300"/>
              </a:spcAft>
            </a:pPr>
            <a:r>
              <a:rPr sz="1000" b="1">
                <a:solidFill>
                  <a:srgbClr val="3B4B48"/>
                </a:solidFill>
                <a:latin typeface="Inter"/>
              </a:rPr>
              <a:t>39 / 39</a:t>
            </a:r>
          </a:p>
        </p:txBody>
      </p:sp>
      <p:sp>
        <p:nvSpPr>
          <p:cNvPr id="37" name="TextBox 36"/>
          <p:cNvSpPr txBox="1"/>
          <p:nvPr/>
        </p:nvSpPr>
        <p:spPr>
          <a:xfrm>
            <a:off x="468000" y="6498000"/>
            <a:ext cx="7920000" cy="251999"/>
          </a:xfrm>
          <a:prstGeom prst="rect">
            <a:avLst/>
          </a:prstGeom>
          <a:noFill/>
        </p:spPr>
        <p:txBody>
          <a:bodyPr wrap="square" lIns="36000" rIns="36000" tIns="18000" bIns="18000">
            <a:spAutoFit/>
          </a:bodyPr>
          <a:lstStyle/>
          <a:p>
            <a:pPr>
              <a:spcAft>
                <a:spcPts val="300"/>
              </a:spcAft>
            </a:pPr>
            <a:r>
              <a:rPr sz="900" b="0">
                <a:solidFill>
                  <a:srgbClr val="3B4B48"/>
                </a:solidFill>
                <a:latin typeface="Inter"/>
              </a:rPr>
              <a:t>ACCELERATE IA 2027 · Plan réseaux sociaux de lancement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