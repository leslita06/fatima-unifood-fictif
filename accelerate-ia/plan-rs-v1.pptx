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6.jp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1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1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1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1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18.jpg"/><Relationship Id="rId4" Type="http://schemas.openxmlformats.org/officeDocument/2006/relationships/image" Target="../media/image1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62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04_logo_piste-A_fond-sombre.jpg"/>
          <p:cNvPicPr>
            <a:picLocks noChangeAspect="1"/>
          </p:cNvPicPr>
          <p:nvPr/>
        </p:nvPicPr>
        <p:blipFill>
          <a:blip r:embed="rId2"/>
          <a:stretch>
            <a:fillRect/>
          </a:stretch>
        </p:blipFill>
        <p:spPr>
          <a:xfrm>
            <a:off x="360000" y="180000"/>
            <a:ext cx="7200000" cy="4050000"/>
          </a:xfrm>
          <a:prstGeom prst="rect">
            <a:avLst/>
          </a:prstGeom>
        </p:spPr>
      </p:pic>
      <p:sp>
        <p:nvSpPr>
          <p:cNvPr id="4" name="TextBox 3"/>
          <p:cNvSpPr txBox="1"/>
          <p:nvPr/>
        </p:nvSpPr>
        <p:spPr>
          <a:xfrm>
            <a:off x="720000" y="4248000"/>
            <a:ext cx="7200000" cy="720000"/>
          </a:xfrm>
          <a:prstGeom prst="rect">
            <a:avLst/>
          </a:prstGeom>
          <a:noFill/>
        </p:spPr>
        <p:txBody>
          <a:bodyPr wrap="square">
            <a:spAutoFit/>
          </a:bodyPr>
          <a:lstStyle/>
          <a:p>
            <a:pPr>
              <a:spcAft>
                <a:spcPts val="400"/>
              </a:spcAft>
            </a:pPr>
            <a:r>
              <a:rPr sz="3400" b="1">
                <a:solidFill>
                  <a:srgbClr val="FFFFFF"/>
                </a:solidFill>
                <a:latin typeface="Saira"/>
              </a:rPr>
              <a:t>Plan réseaux sociaux de lancement</a:t>
            </a:r>
          </a:p>
        </p:txBody>
      </p:sp>
      <p:sp>
        <p:nvSpPr>
          <p:cNvPr id="5" name="TextBox 4"/>
          <p:cNvSpPr txBox="1"/>
          <p:nvPr/>
        </p:nvSpPr>
        <p:spPr>
          <a:xfrm>
            <a:off x="720000" y="5112000"/>
            <a:ext cx="7920000" cy="1080000"/>
          </a:xfrm>
          <a:prstGeom prst="rect">
            <a:avLst/>
          </a:prstGeom>
          <a:noFill/>
        </p:spPr>
        <p:txBody>
          <a:bodyPr wrap="square">
            <a:spAutoFit/>
          </a:bodyPr>
          <a:lstStyle/>
          <a:p>
            <a:pPr>
              <a:spcAft>
                <a:spcPts val="400"/>
              </a:spcAft>
            </a:pPr>
            <a:r>
              <a:rPr sz="1600" b="0">
                <a:solidFill>
                  <a:srgbClr val="BFE5DC"/>
                </a:solidFill>
                <a:latin typeface="Inter"/>
              </a:rPr>
              <a:t>Phase d'annonce · janvier et février 2027</a:t>
            </a:r>
          </a:p>
          <a:p>
            <a:pPr>
              <a:spcAft>
                <a:spcPts val="400"/>
              </a:spcAft>
            </a:pPr>
            <a:r>
              <a:rPr sz="1600" b="0">
                <a:solidFill>
                  <a:srgbClr val="BFE5DC"/>
                </a:solidFill>
                <a:latin typeface="Inter"/>
              </a:rPr>
              <a:t>Logo, publications, flyer, invitation officielle, plan de masse</a:t>
            </a:r>
          </a:p>
        </p:txBody>
      </p:sp>
      <p:sp>
        <p:nvSpPr>
          <p:cNvPr id="6" name="TextBox 5"/>
          <p:cNvSpPr txBox="1"/>
          <p:nvPr/>
        </p:nvSpPr>
        <p:spPr>
          <a:xfrm>
            <a:off x="720000" y="6228000"/>
            <a:ext cx="7920000" cy="360000"/>
          </a:xfrm>
          <a:prstGeom prst="rect">
            <a:avLst/>
          </a:prstGeom>
          <a:noFill/>
        </p:spPr>
        <p:txBody>
          <a:bodyPr wrap="square">
            <a:spAutoFit/>
          </a:bodyPr>
          <a:lstStyle/>
          <a:p>
            <a:pPr>
              <a:spcAft>
                <a:spcPts val="400"/>
              </a:spcAft>
            </a:pPr>
            <a:r>
              <a:rPr sz="1200" b="1">
                <a:solidFill>
                  <a:srgbClr val="FF8A00"/>
                </a:solidFill>
                <a:latin typeface="Inter"/>
              </a:rPr>
              <a:t>Ministère de la Transition Numérique et de l'Innovation Technologique · Mstudio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2741" cy="1116000"/>
          </a:xfrm>
          <a:prstGeom prst="rect">
            <a:avLst/>
          </a:prstGeom>
        </p:spPr>
      </p:pic>
      <p:sp>
        <p:nvSpPr>
          <p:cNvPr id="5" name="TextBox 4"/>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Sommaire</a:t>
            </a:r>
          </a:p>
        </p:txBody>
      </p:sp>
      <p:sp>
        <p:nvSpPr>
          <p:cNvPr id="6" name="TextBox 5"/>
          <p:cNvSpPr txBox="1"/>
          <p:nvPr/>
        </p:nvSpPr>
        <p:spPr>
          <a:xfrm>
            <a:off x="540000" y="1512000"/>
            <a:ext cx="8640000" cy="4320000"/>
          </a:xfrm>
          <a:prstGeom prst="rect">
            <a:avLst/>
          </a:prstGeom>
          <a:noFill/>
        </p:spPr>
        <p:txBody>
          <a:bodyPr wrap="square">
            <a:spAutoFit/>
          </a:bodyPr>
          <a:lstStyle/>
          <a:p>
            <a:pPr>
              <a:spcAft>
                <a:spcPts val="400"/>
              </a:spcAft>
            </a:pPr>
            <a:r>
              <a:rPr sz="1800" b="0">
                <a:solidFill>
                  <a:srgbClr val="062A26"/>
                </a:solidFill>
                <a:latin typeface="Inter"/>
              </a:rPr>
              <a:t>1. Les pistes de logo</a:t>
            </a:r>
          </a:p>
          <a:p>
            <a:pPr>
              <a:spcAft>
                <a:spcPts val="400"/>
              </a:spcAft>
            </a:pPr>
            <a:r>
              <a:rPr sz="1800" b="0">
                <a:solidFill>
                  <a:srgbClr val="062A26"/>
                </a:solidFill>
                <a:latin typeface="Inter"/>
              </a:rPr>
              <a:t>2. Objectifs et cibles du lancement</a:t>
            </a:r>
          </a:p>
          <a:p>
            <a:pPr>
              <a:spcAft>
                <a:spcPts val="400"/>
              </a:spcAft>
            </a:pPr>
            <a:r>
              <a:rPr sz="1800" b="0">
                <a:solidFill>
                  <a:srgbClr val="062A26"/>
                </a:solidFill>
                <a:latin typeface="Inter"/>
              </a:rPr>
              <a:t>3. Les cinq messages de l'annonce</a:t>
            </a:r>
          </a:p>
          <a:p>
            <a:pPr>
              <a:spcAft>
                <a:spcPts val="400"/>
              </a:spcAft>
            </a:pPr>
            <a:r>
              <a:rPr sz="1800" b="0">
                <a:solidFill>
                  <a:srgbClr val="062A26"/>
                </a:solidFill>
                <a:latin typeface="Inter"/>
              </a:rPr>
              <a:t>4. Canaux et rythme</a:t>
            </a:r>
          </a:p>
          <a:p>
            <a:pPr>
              <a:spcAft>
                <a:spcPts val="400"/>
              </a:spcAft>
            </a:pPr>
            <a:r>
              <a:rPr sz="1800" b="0">
                <a:solidFill>
                  <a:srgbClr val="062A26"/>
                </a:solidFill>
                <a:latin typeface="Inter"/>
              </a:rPr>
              <a:t>5. Calendrier des 10 publications</a:t>
            </a:r>
          </a:p>
          <a:p>
            <a:pPr>
              <a:spcAft>
                <a:spcPts val="400"/>
              </a:spcAft>
            </a:pPr>
            <a:r>
              <a:rPr sz="1800" b="0">
                <a:solidFill>
                  <a:srgbClr val="062A26"/>
                </a:solidFill>
                <a:latin typeface="Inter"/>
              </a:rPr>
              <a:t>6. Les publications, une par une, avec leur texte</a:t>
            </a:r>
          </a:p>
          <a:p>
            <a:pPr>
              <a:spcAft>
                <a:spcPts val="400"/>
              </a:spcAft>
            </a:pPr>
            <a:r>
              <a:rPr sz="1800" b="0">
                <a:solidFill>
                  <a:srgbClr val="062A26"/>
                </a:solidFill>
                <a:latin typeface="Inter"/>
              </a:rPr>
              <a:t>7. Le flyer A5</a:t>
            </a:r>
          </a:p>
          <a:p>
            <a:pPr>
              <a:spcAft>
                <a:spcPts val="400"/>
              </a:spcAft>
            </a:pPr>
            <a:r>
              <a:rPr sz="1800" b="0">
                <a:solidFill>
                  <a:srgbClr val="062A26"/>
                </a:solidFill>
                <a:latin typeface="Inter"/>
              </a:rPr>
              <a:t>8. L'invitation officielle</a:t>
            </a:r>
          </a:p>
          <a:p>
            <a:pPr>
              <a:spcAft>
                <a:spcPts val="400"/>
              </a:spcAft>
            </a:pPr>
            <a:r>
              <a:rPr sz="1800" b="0">
                <a:solidFill>
                  <a:srgbClr val="062A26"/>
                </a:solidFill>
                <a:latin typeface="Inter"/>
              </a:rPr>
              <a:t>9. Le plan de masse de principe</a:t>
            </a:r>
          </a:p>
          <a:p>
            <a:pPr>
              <a:spcAft>
                <a:spcPts val="400"/>
              </a:spcAft>
            </a:pPr>
            <a:r>
              <a:rPr sz="1800" b="0">
                <a:solidFill>
                  <a:srgbClr val="062A26"/>
                </a:solidFill>
                <a:latin typeface="Inter"/>
              </a:rPr>
              <a:t>10. Mesure, validation et suite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2741"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IDENTITÉ</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Trois pistes de logo</a:t>
            </a:r>
          </a:p>
        </p:txBody>
      </p:sp>
      <p:pic>
        <p:nvPicPr>
          <p:cNvPr id="7" name="Picture 6" descr="01_logo_piste-A_chevrons.jpg"/>
          <p:cNvPicPr>
            <a:picLocks noChangeAspect="1"/>
          </p:cNvPicPr>
          <p:nvPr/>
        </p:nvPicPr>
        <p:blipFill>
          <a:blip r:embed="rId3"/>
          <a:stretch>
            <a:fillRect/>
          </a:stretch>
        </p:blipFill>
        <p:spPr>
          <a:xfrm>
            <a:off x="540000" y="1584000"/>
            <a:ext cx="3600000" cy="2024000"/>
          </a:xfrm>
          <a:prstGeom prst="rect">
            <a:avLst/>
          </a:prstGeom>
        </p:spPr>
      </p:pic>
      <p:sp>
        <p:nvSpPr>
          <p:cNvPr id="8" name="TextBox 7"/>
          <p:cNvSpPr txBox="1"/>
          <p:nvPr/>
        </p:nvSpPr>
        <p:spPr>
          <a:xfrm>
            <a:off x="540000" y="3708000"/>
            <a:ext cx="3600000" cy="360000"/>
          </a:xfrm>
          <a:prstGeom prst="rect">
            <a:avLst/>
          </a:prstGeom>
          <a:noFill/>
        </p:spPr>
        <p:txBody>
          <a:bodyPr wrap="square">
            <a:spAutoFit/>
          </a:bodyPr>
          <a:lstStyle/>
          <a:p>
            <a:pPr>
              <a:spcAft>
                <a:spcPts val="400"/>
              </a:spcAft>
            </a:pPr>
            <a:r>
              <a:rPr sz="1600" b="1">
                <a:solidFill>
                  <a:srgbClr val="FF8A00"/>
                </a:solidFill>
                <a:latin typeface="Saira"/>
              </a:rPr>
              <a:t>A · Chevrons</a:t>
            </a:r>
          </a:p>
        </p:txBody>
      </p:sp>
      <p:sp>
        <p:nvSpPr>
          <p:cNvPr id="9" name="TextBox 8"/>
          <p:cNvSpPr txBox="1"/>
          <p:nvPr/>
        </p:nvSpPr>
        <p:spPr>
          <a:xfrm>
            <a:off x="540000" y="4068000"/>
            <a:ext cx="3600000" cy="1800000"/>
          </a:xfrm>
          <a:prstGeom prst="rect">
            <a:avLst/>
          </a:prstGeom>
          <a:noFill/>
        </p:spPr>
        <p:txBody>
          <a:bodyPr wrap="square">
            <a:spAutoFit/>
          </a:bodyPr>
          <a:lstStyle/>
          <a:p>
            <a:pPr>
              <a:spcAft>
                <a:spcPts val="400"/>
              </a:spcAft>
            </a:pPr>
            <a:r>
              <a:rPr sz="1200" b="0">
                <a:solidFill>
                  <a:srgbClr val="3B4B48"/>
                </a:solidFill>
                <a:latin typeface="Inter"/>
              </a:rPr>
              <a:t>Le nom en italique, vert vers orange comme IMPACT IA, trois chevrons qui marquent l'accélération. La plus lisible en petit.</a:t>
            </a:r>
          </a:p>
        </p:txBody>
      </p:sp>
      <p:pic>
        <p:nvPicPr>
          <p:cNvPr id="10" name="Picture 9" descr="02_logo_piste-B_trajectoire.jpg"/>
          <p:cNvPicPr>
            <a:picLocks noChangeAspect="1"/>
          </p:cNvPicPr>
          <p:nvPr/>
        </p:nvPicPr>
        <p:blipFill>
          <a:blip r:embed="rId4"/>
          <a:stretch>
            <a:fillRect/>
          </a:stretch>
        </p:blipFill>
        <p:spPr>
          <a:xfrm>
            <a:off x="4356000" y="1584000"/>
            <a:ext cx="3600000" cy="2024000"/>
          </a:xfrm>
          <a:prstGeom prst="rect">
            <a:avLst/>
          </a:prstGeom>
        </p:spPr>
      </p:pic>
      <p:sp>
        <p:nvSpPr>
          <p:cNvPr id="11" name="TextBox 10"/>
          <p:cNvSpPr txBox="1"/>
          <p:nvPr/>
        </p:nvSpPr>
        <p:spPr>
          <a:xfrm>
            <a:off x="4356000" y="3708000"/>
            <a:ext cx="3600000" cy="360000"/>
          </a:xfrm>
          <a:prstGeom prst="rect">
            <a:avLst/>
          </a:prstGeom>
          <a:noFill/>
        </p:spPr>
        <p:txBody>
          <a:bodyPr wrap="square">
            <a:spAutoFit/>
          </a:bodyPr>
          <a:lstStyle/>
          <a:p>
            <a:pPr>
              <a:spcAft>
                <a:spcPts val="400"/>
              </a:spcAft>
            </a:pPr>
            <a:r>
              <a:rPr sz="1600" b="1">
                <a:solidFill>
                  <a:srgbClr val="FF8A00"/>
                </a:solidFill>
                <a:latin typeface="Saira"/>
              </a:rPr>
              <a:t>B · Trajectoire</a:t>
            </a:r>
          </a:p>
        </p:txBody>
      </p:sp>
      <p:sp>
        <p:nvSpPr>
          <p:cNvPr id="12" name="TextBox 11"/>
          <p:cNvSpPr txBox="1"/>
          <p:nvPr/>
        </p:nvSpPr>
        <p:spPr>
          <a:xfrm>
            <a:off x="4356000" y="4068000"/>
            <a:ext cx="3600000" cy="1800000"/>
          </a:xfrm>
          <a:prstGeom prst="rect">
            <a:avLst/>
          </a:prstGeom>
          <a:noFill/>
        </p:spPr>
        <p:txBody>
          <a:bodyPr wrap="square">
            <a:spAutoFit/>
          </a:bodyPr>
          <a:lstStyle/>
          <a:p>
            <a:pPr>
              <a:spcAft>
                <a:spcPts val="400"/>
              </a:spcAft>
            </a:pPr>
            <a:r>
              <a:rPr sz="1200" b="0">
                <a:solidFill>
                  <a:srgbClr val="3B4B48"/>
                </a:solidFill>
                <a:latin typeface="Inter"/>
              </a:rPr>
              <a:t>Une courbe qui monte d'IMPACT vers IA. Plus narrative, moins compacte : convient aux grands formats.</a:t>
            </a:r>
          </a:p>
        </p:txBody>
      </p:sp>
      <p:pic>
        <p:nvPicPr>
          <p:cNvPr id="13" name="Picture 12" descr="03_logo_piste-C_embleme.jpg"/>
          <p:cNvPicPr>
            <a:picLocks noChangeAspect="1"/>
          </p:cNvPicPr>
          <p:nvPr/>
        </p:nvPicPr>
        <p:blipFill>
          <a:blip r:embed="rId5"/>
          <a:stretch>
            <a:fillRect/>
          </a:stretch>
        </p:blipFill>
        <p:spPr>
          <a:xfrm>
            <a:off x="8172000" y="1584000"/>
            <a:ext cx="3600000" cy="2024000"/>
          </a:xfrm>
          <a:prstGeom prst="rect">
            <a:avLst/>
          </a:prstGeom>
        </p:spPr>
      </p:pic>
      <p:sp>
        <p:nvSpPr>
          <p:cNvPr id="14" name="TextBox 13"/>
          <p:cNvSpPr txBox="1"/>
          <p:nvPr/>
        </p:nvSpPr>
        <p:spPr>
          <a:xfrm>
            <a:off x="8172000" y="3708000"/>
            <a:ext cx="3600000" cy="360000"/>
          </a:xfrm>
          <a:prstGeom prst="rect">
            <a:avLst/>
          </a:prstGeom>
          <a:noFill/>
        </p:spPr>
        <p:txBody>
          <a:bodyPr wrap="square">
            <a:spAutoFit/>
          </a:bodyPr>
          <a:lstStyle/>
          <a:p>
            <a:pPr>
              <a:spcAft>
                <a:spcPts val="400"/>
              </a:spcAft>
            </a:pPr>
            <a:r>
              <a:rPr sz="1600" b="1">
                <a:solidFill>
                  <a:srgbClr val="FF8A00"/>
                </a:solidFill>
                <a:latin typeface="Saira"/>
              </a:rPr>
              <a:t>C · Emblème</a:t>
            </a:r>
          </a:p>
        </p:txBody>
      </p:sp>
      <p:sp>
        <p:nvSpPr>
          <p:cNvPr id="15" name="TextBox 14"/>
          <p:cNvSpPr txBox="1"/>
          <p:nvPr/>
        </p:nvSpPr>
        <p:spPr>
          <a:xfrm>
            <a:off x="8172000" y="4068000"/>
            <a:ext cx="3600000" cy="1800000"/>
          </a:xfrm>
          <a:prstGeom prst="rect">
            <a:avLst/>
          </a:prstGeom>
          <a:noFill/>
        </p:spPr>
        <p:txBody>
          <a:bodyPr wrap="square">
            <a:spAutoFit/>
          </a:bodyPr>
          <a:lstStyle/>
          <a:p>
            <a:pPr>
              <a:spcAft>
                <a:spcPts val="400"/>
              </a:spcAft>
            </a:pPr>
            <a:r>
              <a:rPr sz="1200" b="0">
                <a:solidFill>
                  <a:srgbClr val="3B4B48"/>
                </a:solidFill>
                <a:latin typeface="Inter"/>
              </a:rPr>
              <a:t>Un « A » en flèche montante, utilisable seul en avatar ou en tampon. Demande plus de temps de mise au point.</a:t>
            </a:r>
          </a:p>
        </p:txBody>
      </p:sp>
      <p:sp>
        <p:nvSpPr>
          <p:cNvPr id="16" name="TextBox 15"/>
          <p:cNvSpPr txBox="1"/>
          <p:nvPr/>
        </p:nvSpPr>
        <p:spPr>
          <a:xfrm>
            <a:off x="540000" y="5832000"/>
            <a:ext cx="10800000" cy="720000"/>
          </a:xfrm>
          <a:prstGeom prst="rect">
            <a:avLst/>
          </a:prstGeom>
          <a:noFill/>
        </p:spPr>
        <p:txBody>
          <a:bodyPr wrap="square">
            <a:spAutoFit/>
          </a:bodyPr>
          <a:lstStyle/>
          <a:p>
            <a:pPr>
              <a:spcAft>
                <a:spcPts val="400"/>
              </a:spcAft>
            </a:pPr>
            <a:r>
              <a:rPr sz="1300" b="1">
                <a:solidFill>
                  <a:srgbClr val="062A26"/>
                </a:solidFill>
                <a:latin typeface="Inter"/>
              </a:rPr>
              <a:t>Recommandation : piste A. Elle reprend la typographie, le dégradé et l'orange d'IMPACT IA, ce qui rend la filiation évidente, et elle tient sur un avatar.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IDENTITÉ</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Piste A déclinée</a:t>
            </a:r>
          </a:p>
        </p:txBody>
      </p:sp>
      <p:pic>
        <p:nvPicPr>
          <p:cNvPr id="7" name="Picture 6" descr="04_logo_piste-A_fond-sombre.jpg"/>
          <p:cNvPicPr>
            <a:picLocks noChangeAspect="1"/>
          </p:cNvPicPr>
          <p:nvPr/>
        </p:nvPicPr>
        <p:blipFill>
          <a:blip r:embed="rId3"/>
          <a:stretch>
            <a:fillRect/>
          </a:stretch>
        </p:blipFill>
        <p:spPr>
          <a:xfrm>
            <a:off x="540000" y="1584000"/>
            <a:ext cx="5400000" cy="3036000"/>
          </a:xfrm>
          <a:prstGeom prst="rect">
            <a:avLst/>
          </a:prstGeom>
        </p:spPr>
      </p:pic>
      <p:pic>
        <p:nvPicPr>
          <p:cNvPr id="8" name="Picture 7" descr="05_avatar-reseaux.jpg"/>
          <p:cNvPicPr>
            <a:picLocks noChangeAspect="1"/>
          </p:cNvPicPr>
          <p:nvPr/>
        </p:nvPicPr>
        <p:blipFill>
          <a:blip r:embed="rId4"/>
          <a:stretch>
            <a:fillRect/>
          </a:stretch>
        </p:blipFill>
        <p:spPr>
          <a:xfrm>
            <a:off x="6300000" y="1584000"/>
            <a:ext cx="3024000" cy="3024000"/>
          </a:xfrm>
          <a:prstGeom prst="rect">
            <a:avLst/>
          </a:prstGeom>
        </p:spPr>
      </p:pic>
      <p:sp>
        <p:nvSpPr>
          <p:cNvPr id="9" name="TextBox 8"/>
          <p:cNvSpPr txBox="1"/>
          <p:nvPr/>
        </p:nvSpPr>
        <p:spPr>
          <a:xfrm>
            <a:off x="9540000" y="1584000"/>
            <a:ext cx="2340000" cy="3600000"/>
          </a:xfrm>
          <a:prstGeom prst="rect">
            <a:avLst/>
          </a:prstGeom>
          <a:noFill/>
        </p:spPr>
        <p:txBody>
          <a:bodyPr wrap="square">
            <a:spAutoFit/>
          </a:bodyPr>
          <a:lstStyle/>
          <a:p>
            <a:pPr>
              <a:spcAft>
                <a:spcPts val="400"/>
              </a:spcAft>
            </a:pPr>
            <a:r>
              <a:rPr sz="1200" b="0">
                <a:solidFill>
                  <a:srgbClr val="062A26"/>
                </a:solidFill>
                <a:latin typeface="Inter"/>
              </a:rPr>
              <a:t>Palette</a:t>
            </a:r>
          </a:p>
          <a:p>
            <a:pPr>
              <a:spcAft>
                <a:spcPts val="400"/>
              </a:spcAft>
            </a:pPr>
            <a:r>
              <a:rPr sz="1200" b="0">
                <a:solidFill>
                  <a:srgbClr val="062A26"/>
                </a:solidFill>
                <a:latin typeface="Inter"/>
              </a:rPr>
              <a:t/>
            </a:r>
          </a:p>
          <a:p>
            <a:pPr>
              <a:spcAft>
                <a:spcPts val="400"/>
              </a:spcAft>
            </a:pPr>
            <a:r>
              <a:rPr sz="1200" b="0">
                <a:solidFill>
                  <a:srgbClr val="062A26"/>
                </a:solidFill>
                <a:latin typeface="Inter"/>
              </a:rPr>
              <a:t>Turquoise #00ADA8</a:t>
            </a:r>
          </a:p>
          <a:p>
            <a:pPr>
              <a:spcAft>
                <a:spcPts val="400"/>
              </a:spcAft>
            </a:pPr>
            <a:r>
              <a:rPr sz="1200" b="0">
                <a:solidFill>
                  <a:srgbClr val="062A26"/>
                </a:solidFill>
                <a:latin typeface="Inter"/>
              </a:rPr>
              <a:t>Vert #00AE6B</a:t>
            </a:r>
          </a:p>
          <a:p>
            <a:pPr>
              <a:spcAft>
                <a:spcPts val="400"/>
              </a:spcAft>
            </a:pPr>
            <a:r>
              <a:rPr sz="1200" b="0">
                <a:solidFill>
                  <a:srgbClr val="062A26"/>
                </a:solidFill>
                <a:latin typeface="Inter"/>
              </a:rPr>
              <a:t>Orange #FF8A00</a:t>
            </a:r>
          </a:p>
          <a:p>
            <a:pPr>
              <a:spcAft>
                <a:spcPts val="400"/>
              </a:spcAft>
            </a:pPr>
            <a:r>
              <a:rPr sz="1200" b="0">
                <a:solidFill>
                  <a:srgbClr val="062A26"/>
                </a:solidFill>
                <a:latin typeface="Inter"/>
              </a:rPr>
              <a:t>Nuit #062A26</a:t>
            </a:r>
          </a:p>
          <a:p>
            <a:pPr>
              <a:spcAft>
                <a:spcPts val="400"/>
              </a:spcAft>
            </a:pPr>
            <a:r>
              <a:rPr sz="1200" b="0">
                <a:solidFill>
                  <a:srgbClr val="062A26"/>
                </a:solidFill>
                <a:latin typeface="Inter"/>
              </a:rPr>
              <a:t>Fond #F4F7F2</a:t>
            </a:r>
          </a:p>
          <a:p>
            <a:pPr>
              <a:spcAft>
                <a:spcPts val="400"/>
              </a:spcAft>
            </a:pPr>
            <a:r>
              <a:rPr sz="1200" b="0">
                <a:solidFill>
                  <a:srgbClr val="062A26"/>
                </a:solidFill>
                <a:latin typeface="Inter"/>
              </a:rPr>
              <a:t/>
            </a:r>
          </a:p>
          <a:p>
            <a:pPr>
              <a:spcAft>
                <a:spcPts val="400"/>
              </a:spcAft>
            </a:pPr>
            <a:r>
              <a:rPr sz="1200" b="0">
                <a:solidFill>
                  <a:srgbClr val="062A26"/>
                </a:solidFill>
                <a:latin typeface="Inter"/>
              </a:rPr>
              <a:t>Typographies</a:t>
            </a:r>
          </a:p>
          <a:p>
            <a:pPr>
              <a:spcAft>
                <a:spcPts val="400"/>
              </a:spcAft>
            </a:pPr>
            <a:r>
              <a:rPr sz="1200" b="0">
                <a:solidFill>
                  <a:srgbClr val="062A26"/>
                </a:solidFill>
                <a:latin typeface="Inter"/>
              </a:rPr>
              <a:t>Saira (titres)</a:t>
            </a:r>
          </a:p>
          <a:p>
            <a:pPr>
              <a:spcAft>
                <a:spcPts val="400"/>
              </a:spcAft>
            </a:pPr>
            <a:r>
              <a:rPr sz="1200" b="0">
                <a:solidFill>
                  <a:srgbClr val="062A26"/>
                </a:solidFill>
                <a:latin typeface="Inter"/>
              </a:rPr>
              <a:t>Inter (texte)</a:t>
            </a:r>
          </a:p>
        </p:txBody>
      </p:sp>
      <p:sp>
        <p:nvSpPr>
          <p:cNvPr id="10" name="TextBox 9"/>
          <p:cNvSpPr txBox="1"/>
          <p:nvPr/>
        </p:nvSpPr>
        <p:spPr>
          <a:xfrm>
            <a:off x="540000" y="4860000"/>
            <a:ext cx="8640000" cy="1080000"/>
          </a:xfrm>
          <a:prstGeom prst="rect">
            <a:avLst/>
          </a:prstGeom>
          <a:noFill/>
        </p:spPr>
        <p:txBody>
          <a:bodyPr wrap="square">
            <a:spAutoFit/>
          </a:bodyPr>
          <a:lstStyle/>
          <a:p>
            <a:pPr>
              <a:spcAft>
                <a:spcPts val="400"/>
              </a:spcAft>
            </a:pPr>
            <a:r>
              <a:rPr sz="1300" b="0">
                <a:solidFill>
                  <a:srgbClr val="3B4B48"/>
                </a:solidFill>
                <a:latin typeface="Inter"/>
              </a:rPr>
              <a:t>Fond sombre pour les annonces, fond clair pour les contenus d'explication. Avatar carré pour les comptes et la chaîne WhatsApp.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JANVIER ET FÉVRIER 2027</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Objectifs du lancement</a:t>
            </a:r>
          </a:p>
        </p:txBody>
      </p:sp>
      <p:graphicFrame>
        <p:nvGraphicFramePr>
          <p:cNvPr id="7" name="Table 6"/>
          <p:cNvGraphicFramePr>
            <a:graphicFrameLocks noGrp="1"/>
          </p:cNvGraphicFramePr>
          <p:nvPr/>
        </p:nvGraphicFramePr>
        <p:xfrm>
          <a:off x="540000" y="1584000"/>
          <a:ext cx="10440000" cy="1944000"/>
        </p:xfrm>
        <a:graphic>
          <a:graphicData uri="http://schemas.openxmlformats.org/drawingml/2006/table">
            <a:tbl>
              <a:tblPr firstRow="1" bandRow="1">
                <a:tableStyleId>{5C22544A-7EE6-4342-B048-85BDC9FD1C3A}</a:tableStyleId>
              </a:tblPr>
              <a:tblGrid>
                <a:gridCol w="3240000"/>
                <a:gridCol w="4680000"/>
                <a:gridCol w="2520000"/>
              </a:tblGrid>
              <a:tr h="324000">
                <a:tc>
                  <a:txBody>
                    <a:bodyPr/>
                    <a:lstStyle/>
                    <a:p>
                      <a:r>
                        <a:rPr sz="1200" b="1">
                          <a:solidFill>
                            <a:srgbClr val="FFFFFF"/>
                          </a:solidFill>
                          <a:latin typeface="Inter"/>
                        </a:rPr>
                        <a:t>Objectif</a:t>
                      </a:r>
                    </a:p>
                  </a:txBody>
                  <a:tcPr>
                    <a:solidFill>
                      <a:srgbClr val="062A26"/>
                    </a:solidFill>
                  </a:tcPr>
                </a:tc>
                <a:tc>
                  <a:txBody>
                    <a:bodyPr/>
                    <a:lstStyle/>
                    <a:p>
                      <a:r>
                        <a:rPr sz="1200" b="1">
                          <a:solidFill>
                            <a:srgbClr val="FFFFFF"/>
                          </a:solidFill>
                          <a:latin typeface="Inter"/>
                        </a:rPr>
                        <a:t>Indicateur</a:t>
                      </a:r>
                    </a:p>
                  </a:txBody>
                  <a:tcPr>
                    <a:solidFill>
                      <a:srgbClr val="062A26"/>
                    </a:solidFill>
                  </a:tcPr>
                </a:tc>
                <a:tc>
                  <a:txBody>
                    <a:bodyPr/>
                    <a:lstStyle/>
                    <a:p>
                      <a:r>
                        <a:rPr sz="1200" b="1">
                          <a:solidFill>
                            <a:srgbClr val="FFFFFF"/>
                          </a:solidFill>
                          <a:latin typeface="Inter"/>
                        </a:rPr>
                        <a:t>Cible à fin février</a:t>
                      </a:r>
                    </a:p>
                  </a:txBody>
                  <a:tcPr>
                    <a:solidFill>
                      <a:srgbClr val="062A26"/>
                    </a:solidFill>
                  </a:tcPr>
                </a:tc>
              </a:tr>
              <a:tr h="324000">
                <a:tc>
                  <a:txBody>
                    <a:bodyPr/>
                    <a:lstStyle/>
                    <a:p>
                      <a:r>
                        <a:rPr sz="1200" b="0">
                          <a:solidFill>
                            <a:srgbClr val="062A26"/>
                          </a:solidFill>
                          <a:latin typeface="Inter"/>
                        </a:rPr>
                        <a:t>Installer le nom et la date</a:t>
                      </a:r>
                    </a:p>
                  </a:txBody>
                  <a:tcPr>
                    <a:solidFill>
                      <a:srgbClr val="FFFFFF"/>
                    </a:solidFill>
                  </a:tcPr>
                </a:tc>
                <a:tc>
                  <a:txBody>
                    <a:bodyPr/>
                    <a:lstStyle/>
                    <a:p>
                      <a:r>
                        <a:rPr sz="1200" b="0">
                          <a:solidFill>
                            <a:srgbClr val="062A26"/>
                          </a:solidFill>
                          <a:latin typeface="Inter"/>
                        </a:rPr>
                        <a:t>Personnes touchées sur les comptes du Ministère et des relais</a:t>
                      </a:r>
                    </a:p>
                  </a:txBody>
                  <a:tcPr>
                    <a:solidFill>
                      <a:srgbClr val="FFFFFF"/>
                    </a:solidFill>
                  </a:tcPr>
                </a:tc>
                <a:tc>
                  <a:txBody>
                    <a:bodyPr/>
                    <a:lstStyle/>
                    <a:p>
                      <a:r>
                        <a:rPr sz="1200" b="0">
                          <a:solidFill>
                            <a:srgbClr val="062A26"/>
                          </a:solidFill>
                          <a:latin typeface="Inter"/>
                        </a:rPr>
                        <a:t>500 000</a:t>
                      </a:r>
                    </a:p>
                  </a:txBody>
                  <a:tcPr>
                    <a:solidFill>
                      <a:srgbClr val="FFFFFF"/>
                    </a:solidFill>
                  </a:tcPr>
                </a:tc>
              </a:tr>
              <a:tr h="324000">
                <a:tc>
                  <a:txBody>
                    <a:bodyPr/>
                    <a:lstStyle/>
                    <a:p>
                      <a:r>
                        <a:rPr sz="1200" b="0">
                          <a:solidFill>
                            <a:srgbClr val="062A26"/>
                          </a:solidFill>
                          <a:latin typeface="Inter"/>
                        </a:rPr>
                        <a:t>Faire le lien avec IMPACT IA</a:t>
                      </a:r>
                    </a:p>
                  </a:txBody>
                  <a:tcPr>
                    <a:solidFill>
                      <a:srgbClr val="E6F4EF"/>
                    </a:solidFill>
                  </a:tcPr>
                </a:tc>
                <a:tc>
                  <a:txBody>
                    <a:bodyPr/>
                    <a:lstStyle/>
                    <a:p>
                      <a:r>
                        <a:rPr sz="1200" b="0">
                          <a:solidFill>
                            <a:srgbClr val="062A26"/>
                          </a:solidFill>
                          <a:latin typeface="Inter"/>
                        </a:rPr>
                        <a:t>Reprises presse mentionnant « 3e assises nationales »</a:t>
                      </a:r>
                    </a:p>
                  </a:txBody>
                  <a:tcPr>
                    <a:solidFill>
                      <a:srgbClr val="E6F4EF"/>
                    </a:solidFill>
                  </a:tcPr>
                </a:tc>
                <a:tc>
                  <a:txBody>
                    <a:bodyPr/>
                    <a:lstStyle/>
                    <a:p>
                      <a:r>
                        <a:rPr sz="1200" b="0">
                          <a:solidFill>
                            <a:srgbClr val="062A26"/>
                          </a:solidFill>
                          <a:latin typeface="Inter"/>
                        </a:rPr>
                        <a:t>30 articles</a:t>
                      </a:r>
                    </a:p>
                  </a:txBody>
                  <a:tcPr>
                    <a:solidFill>
                      <a:srgbClr val="E6F4EF"/>
                    </a:solidFill>
                  </a:tcPr>
                </a:tc>
              </a:tr>
              <a:tr h="324000">
                <a:tc>
                  <a:txBody>
                    <a:bodyPr/>
                    <a:lstStyle/>
                    <a:p>
                      <a:r>
                        <a:rPr sz="1200" b="0">
                          <a:solidFill>
                            <a:srgbClr val="062A26"/>
                          </a:solidFill>
                          <a:latin typeface="Inter"/>
                        </a:rPr>
                        <a:t>Préparer la mobilisation</a:t>
                      </a:r>
                    </a:p>
                  </a:txBody>
                  <a:tcPr>
                    <a:solidFill>
                      <a:srgbClr val="FFFFFF"/>
                    </a:solidFill>
                  </a:tcPr>
                </a:tc>
                <a:tc>
                  <a:txBody>
                    <a:bodyPr/>
                    <a:lstStyle/>
                    <a:p>
                      <a:r>
                        <a:rPr sz="1200" b="0">
                          <a:solidFill>
                            <a:srgbClr val="062A26"/>
                          </a:solidFill>
                          <a:latin typeface="Inter"/>
                        </a:rPr>
                        <a:t>Inscrits à la liste d'attente « Réservez la date »</a:t>
                      </a:r>
                    </a:p>
                  </a:txBody>
                  <a:tcPr>
                    <a:solidFill>
                      <a:srgbClr val="FFFFFF"/>
                    </a:solidFill>
                  </a:tcPr>
                </a:tc>
                <a:tc>
                  <a:txBody>
                    <a:bodyPr/>
                    <a:lstStyle/>
                    <a:p>
                      <a:r>
                        <a:rPr sz="1200" b="0">
                          <a:solidFill>
                            <a:srgbClr val="062A26"/>
                          </a:solidFill>
                          <a:latin typeface="Inter"/>
                        </a:rPr>
                        <a:t>3 000</a:t>
                      </a:r>
                    </a:p>
                  </a:txBody>
                  <a:tcPr>
                    <a:solidFill>
                      <a:srgbClr val="FFFFFF"/>
                    </a:solidFill>
                  </a:tcPr>
                </a:tc>
              </a:tr>
              <a:tr h="324000">
                <a:tc>
                  <a:txBody>
                    <a:bodyPr/>
                    <a:lstStyle/>
                    <a:p>
                      <a:r>
                        <a:rPr sz="1200" b="0">
                          <a:solidFill>
                            <a:srgbClr val="062A26"/>
                          </a:solidFill>
                          <a:latin typeface="Inter"/>
                        </a:rPr>
                        <a:t>Recruter partenaires et sponsors</a:t>
                      </a:r>
                    </a:p>
                  </a:txBody>
                  <a:tcPr>
                    <a:solidFill>
                      <a:srgbClr val="E6F4EF"/>
                    </a:solidFill>
                  </a:tcPr>
                </a:tc>
                <a:tc>
                  <a:txBody>
                    <a:bodyPr/>
                    <a:lstStyle/>
                    <a:p>
                      <a:r>
                        <a:rPr sz="1200" b="0">
                          <a:solidFill>
                            <a:srgbClr val="062A26"/>
                          </a:solidFill>
                          <a:latin typeface="Inter"/>
                        </a:rPr>
                        <a:t>Demandes de dossier partenaires reçues</a:t>
                      </a:r>
                    </a:p>
                  </a:txBody>
                  <a:tcPr>
                    <a:solidFill>
                      <a:srgbClr val="E6F4EF"/>
                    </a:solidFill>
                  </a:tcPr>
                </a:tc>
                <a:tc>
                  <a:txBody>
                    <a:bodyPr/>
                    <a:lstStyle/>
                    <a:p>
                      <a:r>
                        <a:rPr sz="1200" b="0">
                          <a:solidFill>
                            <a:srgbClr val="062A26"/>
                          </a:solidFill>
                          <a:latin typeface="Inter"/>
                        </a:rPr>
                        <a:t>25</a:t>
                      </a:r>
                    </a:p>
                  </a:txBody>
                  <a:tcPr>
                    <a:solidFill>
                      <a:srgbClr val="E6F4EF"/>
                    </a:solidFill>
                  </a:tcPr>
                </a:tc>
              </a:tr>
              <a:tr h="324000">
                <a:tc>
                  <a:txBody>
                    <a:bodyPr/>
                    <a:lstStyle/>
                    <a:p>
                      <a:r>
                        <a:rPr sz="1200" b="0">
                          <a:solidFill>
                            <a:srgbClr val="062A26"/>
                          </a:solidFill>
                          <a:latin typeface="Inter"/>
                        </a:rPr>
                        <a:t>Préparer l'appel à candidatures</a:t>
                      </a:r>
                    </a:p>
                  </a:txBody>
                  <a:tcPr>
                    <a:solidFill>
                      <a:srgbClr val="FFFFFF"/>
                    </a:solidFill>
                  </a:tcPr>
                </a:tc>
                <a:tc>
                  <a:txBody>
                    <a:bodyPr/>
                    <a:lstStyle/>
                    <a:p>
                      <a:r>
                        <a:rPr sz="1200" b="0">
                          <a:solidFill>
                            <a:srgbClr val="062A26"/>
                          </a:solidFill>
                          <a:latin typeface="Inter"/>
                        </a:rPr>
                        <a:t>Startups et équipes ayant manifesté leur intérêt</a:t>
                      </a:r>
                    </a:p>
                  </a:txBody>
                  <a:tcPr>
                    <a:solidFill>
                      <a:srgbClr val="FFFFFF"/>
                    </a:solidFill>
                  </a:tcPr>
                </a:tc>
                <a:tc>
                  <a:txBody>
                    <a:bodyPr/>
                    <a:lstStyle/>
                    <a:p>
                      <a:r>
                        <a:rPr sz="1200" b="0">
                          <a:solidFill>
                            <a:srgbClr val="062A26"/>
                          </a:solidFill>
                          <a:latin typeface="Inter"/>
                        </a:rPr>
                        <a:t>150</a:t>
                      </a:r>
                    </a:p>
                  </a:txBody>
                  <a:tcPr>
                    <a:solidFill>
                      <a:srgbClr val="FFFFFF"/>
                    </a:solidFill>
                  </a:tcPr>
                </a:tc>
              </a:tr>
            </a:tbl>
          </a:graphicData>
        </a:graphic>
      </p:graphicFrame>
      <p:sp>
        <p:nvSpPr>
          <p:cNvPr id="8" name="TextBox 7"/>
          <p:cNvSpPr txBox="1"/>
          <p:nvPr/>
        </p:nvSpPr>
        <p:spPr>
          <a:xfrm>
            <a:off x="540000" y="4104000"/>
            <a:ext cx="10440000" cy="1440000"/>
          </a:xfrm>
          <a:prstGeom prst="rect">
            <a:avLst/>
          </a:prstGeom>
          <a:noFill/>
        </p:spPr>
        <p:txBody>
          <a:bodyPr wrap="square">
            <a:spAutoFit/>
          </a:bodyPr>
          <a:lstStyle/>
          <a:p>
            <a:pPr>
              <a:spcAft>
                <a:spcPts val="400"/>
              </a:spcAft>
            </a:pPr>
            <a:r>
              <a:rPr sz="1300" b="0">
                <a:solidFill>
                  <a:srgbClr val="3B4B48"/>
                </a:solidFill>
                <a:latin typeface="Inter"/>
              </a:rPr>
              <a:t>Cibles proposées, à recaler avec le Ministère sur les audiences réelles d'IMPACT IA 2026.</a:t>
            </a:r>
          </a:p>
          <a:p>
            <a:pPr>
              <a:spcAft>
                <a:spcPts val="400"/>
              </a:spcAft>
            </a:pPr>
            <a:r>
              <a:rPr sz="1300" b="0">
                <a:solidFill>
                  <a:srgbClr val="3B4B48"/>
                </a:solidFill>
                <a:latin typeface="Inter"/>
              </a:rPr>
              <a:t>Publics prioritaires de la phase : décideurs publics et privés (LinkedIn, X), écosystème tech (LinkedIn, Instagram), grand public et étudiants (Facebook, WhatsApp).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CE QUE L'ON RÉPÈTE</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Les cinq messages de l'annonce</a:t>
            </a:r>
          </a:p>
        </p:txBody>
      </p:sp>
      <p:sp>
        <p:nvSpPr>
          <p:cNvPr id="7" name="TextBox 6"/>
          <p:cNvSpPr txBox="1"/>
          <p:nvPr/>
        </p:nvSpPr>
        <p:spPr>
          <a:xfrm>
            <a:off x="540000" y="1548000"/>
            <a:ext cx="540000" cy="720000"/>
          </a:xfrm>
          <a:prstGeom prst="rect">
            <a:avLst/>
          </a:prstGeom>
          <a:noFill/>
        </p:spPr>
        <p:txBody>
          <a:bodyPr wrap="square">
            <a:spAutoFit/>
          </a:bodyPr>
          <a:lstStyle/>
          <a:p>
            <a:pPr>
              <a:spcAft>
                <a:spcPts val="400"/>
              </a:spcAft>
            </a:pPr>
            <a:r>
              <a:rPr sz="2600" b="1">
                <a:solidFill>
                  <a:srgbClr val="FF8A00"/>
                </a:solidFill>
                <a:latin typeface="Saira"/>
              </a:rPr>
              <a:t>01</a:t>
            </a:r>
          </a:p>
        </p:txBody>
      </p:sp>
      <p:sp>
        <p:nvSpPr>
          <p:cNvPr id="8" name="TextBox 7"/>
          <p:cNvSpPr txBox="1"/>
          <p:nvPr/>
        </p:nvSpPr>
        <p:spPr>
          <a:xfrm>
            <a:off x="1260000" y="1548000"/>
            <a:ext cx="2880000" cy="360000"/>
          </a:xfrm>
          <a:prstGeom prst="rect">
            <a:avLst/>
          </a:prstGeom>
          <a:noFill/>
        </p:spPr>
        <p:txBody>
          <a:bodyPr wrap="square">
            <a:spAutoFit/>
          </a:bodyPr>
          <a:lstStyle/>
          <a:p>
            <a:pPr>
              <a:spcAft>
                <a:spcPts val="400"/>
              </a:spcAft>
            </a:pPr>
            <a:r>
              <a:rPr sz="1800" b="1">
                <a:solidFill>
                  <a:srgbClr val="062A26"/>
                </a:solidFill>
                <a:latin typeface="Saira"/>
              </a:rPr>
              <a:t>Continuité</a:t>
            </a:r>
          </a:p>
        </p:txBody>
      </p:sp>
      <p:sp>
        <p:nvSpPr>
          <p:cNvPr id="9" name="TextBox 8"/>
          <p:cNvSpPr txBox="1"/>
          <p:nvPr/>
        </p:nvSpPr>
        <p:spPr>
          <a:xfrm>
            <a:off x="1260000" y="1908000"/>
            <a:ext cx="9720000" cy="540000"/>
          </a:xfrm>
          <a:prstGeom prst="rect">
            <a:avLst/>
          </a:prstGeom>
          <a:noFill/>
        </p:spPr>
        <p:txBody>
          <a:bodyPr wrap="square">
            <a:spAutoFit/>
          </a:bodyPr>
          <a:lstStyle/>
          <a:p>
            <a:pPr>
              <a:spcAft>
                <a:spcPts val="400"/>
              </a:spcAft>
            </a:pPr>
            <a:r>
              <a:rPr sz="1400" b="0">
                <a:solidFill>
                  <a:srgbClr val="3B4B48"/>
                </a:solidFill>
                <a:latin typeface="Inter"/>
              </a:rPr>
              <a:t>ACCELERATE IA, ce sont les 3e assises nationales, un an après IMPACT IA.</a:t>
            </a:r>
          </a:p>
        </p:txBody>
      </p:sp>
      <p:sp>
        <p:nvSpPr>
          <p:cNvPr id="10" name="TextBox 9"/>
          <p:cNvSpPr txBox="1"/>
          <p:nvPr/>
        </p:nvSpPr>
        <p:spPr>
          <a:xfrm>
            <a:off x="540000" y="2484000"/>
            <a:ext cx="540000" cy="720000"/>
          </a:xfrm>
          <a:prstGeom prst="rect">
            <a:avLst/>
          </a:prstGeom>
          <a:noFill/>
        </p:spPr>
        <p:txBody>
          <a:bodyPr wrap="square">
            <a:spAutoFit/>
          </a:bodyPr>
          <a:lstStyle/>
          <a:p>
            <a:pPr>
              <a:spcAft>
                <a:spcPts val="400"/>
              </a:spcAft>
            </a:pPr>
            <a:r>
              <a:rPr sz="2600" b="1">
                <a:solidFill>
                  <a:srgbClr val="FF8A00"/>
                </a:solidFill>
                <a:latin typeface="Saira"/>
              </a:rPr>
              <a:t>02</a:t>
            </a:r>
          </a:p>
        </p:txBody>
      </p:sp>
      <p:sp>
        <p:nvSpPr>
          <p:cNvPr id="11" name="TextBox 10"/>
          <p:cNvSpPr txBox="1"/>
          <p:nvPr/>
        </p:nvSpPr>
        <p:spPr>
          <a:xfrm>
            <a:off x="1260000" y="2484000"/>
            <a:ext cx="2880000" cy="360000"/>
          </a:xfrm>
          <a:prstGeom prst="rect">
            <a:avLst/>
          </a:prstGeom>
          <a:noFill/>
        </p:spPr>
        <p:txBody>
          <a:bodyPr wrap="square">
            <a:spAutoFit/>
          </a:bodyPr>
          <a:lstStyle/>
          <a:p>
            <a:pPr>
              <a:spcAft>
                <a:spcPts val="400"/>
              </a:spcAft>
            </a:pPr>
            <a:r>
              <a:rPr sz="1800" b="1">
                <a:solidFill>
                  <a:srgbClr val="062A26"/>
                </a:solidFill>
                <a:latin typeface="Saira"/>
              </a:rPr>
              <a:t>Résultats</a:t>
            </a:r>
          </a:p>
        </p:txBody>
      </p:sp>
      <p:sp>
        <p:nvSpPr>
          <p:cNvPr id="12" name="TextBox 11"/>
          <p:cNvSpPr txBox="1"/>
          <p:nvPr/>
        </p:nvSpPr>
        <p:spPr>
          <a:xfrm>
            <a:off x="1260000" y="2844000"/>
            <a:ext cx="9720000" cy="540000"/>
          </a:xfrm>
          <a:prstGeom prst="rect">
            <a:avLst/>
          </a:prstGeom>
          <a:noFill/>
        </p:spPr>
        <p:txBody>
          <a:bodyPr wrap="square">
            <a:spAutoFit/>
          </a:bodyPr>
          <a:lstStyle/>
          <a:p>
            <a:pPr>
              <a:spcAft>
                <a:spcPts val="400"/>
              </a:spcAft>
            </a:pPr>
            <a:r>
              <a:rPr sz="1400" b="0">
                <a:solidFill>
                  <a:srgbClr val="3B4B48"/>
                </a:solidFill>
                <a:latin typeface="Inter"/>
              </a:rPr>
              <a:t>77 cas d'usage retenus en 2026 : en 2027, on montre où ils en sont.</a:t>
            </a:r>
          </a:p>
        </p:txBody>
      </p:sp>
      <p:sp>
        <p:nvSpPr>
          <p:cNvPr id="13" name="TextBox 12"/>
          <p:cNvSpPr txBox="1"/>
          <p:nvPr/>
        </p:nvSpPr>
        <p:spPr>
          <a:xfrm>
            <a:off x="540000" y="3420000"/>
            <a:ext cx="540000" cy="720000"/>
          </a:xfrm>
          <a:prstGeom prst="rect">
            <a:avLst/>
          </a:prstGeom>
          <a:noFill/>
        </p:spPr>
        <p:txBody>
          <a:bodyPr wrap="square">
            <a:spAutoFit/>
          </a:bodyPr>
          <a:lstStyle/>
          <a:p>
            <a:pPr>
              <a:spcAft>
                <a:spcPts val="400"/>
              </a:spcAft>
            </a:pPr>
            <a:r>
              <a:rPr sz="2600" b="1">
                <a:solidFill>
                  <a:srgbClr val="FF8A00"/>
                </a:solidFill>
                <a:latin typeface="Saira"/>
              </a:rPr>
              <a:t>03</a:t>
            </a:r>
          </a:p>
        </p:txBody>
      </p:sp>
      <p:sp>
        <p:nvSpPr>
          <p:cNvPr id="14" name="TextBox 13"/>
          <p:cNvSpPr txBox="1"/>
          <p:nvPr/>
        </p:nvSpPr>
        <p:spPr>
          <a:xfrm>
            <a:off x="1260000" y="3420000"/>
            <a:ext cx="2880000" cy="360000"/>
          </a:xfrm>
          <a:prstGeom prst="rect">
            <a:avLst/>
          </a:prstGeom>
          <a:noFill/>
        </p:spPr>
        <p:txBody>
          <a:bodyPr wrap="square">
            <a:spAutoFit/>
          </a:bodyPr>
          <a:lstStyle/>
          <a:p>
            <a:pPr>
              <a:spcAft>
                <a:spcPts val="400"/>
              </a:spcAft>
            </a:pPr>
            <a:r>
              <a:rPr sz="1800" b="1">
                <a:solidFill>
                  <a:srgbClr val="062A26"/>
                </a:solidFill>
                <a:latin typeface="Saira"/>
              </a:rPr>
              <a:t>Déploiement</a:t>
            </a:r>
          </a:p>
        </p:txBody>
      </p:sp>
      <p:sp>
        <p:nvSpPr>
          <p:cNvPr id="15" name="TextBox 14"/>
          <p:cNvSpPr txBox="1"/>
          <p:nvPr/>
        </p:nvSpPr>
        <p:spPr>
          <a:xfrm>
            <a:off x="1260000" y="3780000"/>
            <a:ext cx="9720000" cy="540000"/>
          </a:xfrm>
          <a:prstGeom prst="rect">
            <a:avLst/>
          </a:prstGeom>
          <a:noFill/>
        </p:spPr>
        <p:txBody>
          <a:bodyPr wrap="square">
            <a:spAutoFit/>
          </a:bodyPr>
          <a:lstStyle/>
          <a:p>
            <a:pPr>
              <a:spcAft>
                <a:spcPts val="400"/>
              </a:spcAft>
            </a:pPr>
            <a:r>
              <a:rPr sz="1400" b="0">
                <a:solidFill>
                  <a:srgbClr val="3B4B48"/>
                </a:solidFill>
                <a:latin typeface="Inter"/>
              </a:rPr>
              <a:t>Le thème : des cas d'usage au déploiement.</a:t>
            </a:r>
          </a:p>
        </p:txBody>
      </p:sp>
      <p:sp>
        <p:nvSpPr>
          <p:cNvPr id="16" name="TextBox 15"/>
          <p:cNvSpPr txBox="1"/>
          <p:nvPr/>
        </p:nvSpPr>
        <p:spPr>
          <a:xfrm>
            <a:off x="540000" y="4356000"/>
            <a:ext cx="540000" cy="720000"/>
          </a:xfrm>
          <a:prstGeom prst="rect">
            <a:avLst/>
          </a:prstGeom>
          <a:noFill/>
        </p:spPr>
        <p:txBody>
          <a:bodyPr wrap="square">
            <a:spAutoFit/>
          </a:bodyPr>
          <a:lstStyle/>
          <a:p>
            <a:pPr>
              <a:spcAft>
                <a:spcPts val="400"/>
              </a:spcAft>
            </a:pPr>
            <a:r>
              <a:rPr sz="2600" b="1">
                <a:solidFill>
                  <a:srgbClr val="FF8A00"/>
                </a:solidFill>
                <a:latin typeface="Saira"/>
              </a:rPr>
              <a:t>04</a:t>
            </a:r>
          </a:p>
        </p:txBody>
      </p:sp>
      <p:sp>
        <p:nvSpPr>
          <p:cNvPr id="17" name="TextBox 16"/>
          <p:cNvSpPr txBox="1"/>
          <p:nvPr/>
        </p:nvSpPr>
        <p:spPr>
          <a:xfrm>
            <a:off x="1260000" y="4356000"/>
            <a:ext cx="2880000" cy="360000"/>
          </a:xfrm>
          <a:prstGeom prst="rect">
            <a:avLst/>
          </a:prstGeom>
          <a:noFill/>
        </p:spPr>
        <p:txBody>
          <a:bodyPr wrap="square">
            <a:spAutoFit/>
          </a:bodyPr>
          <a:lstStyle/>
          <a:p>
            <a:pPr>
              <a:spcAft>
                <a:spcPts val="400"/>
              </a:spcAft>
            </a:pPr>
            <a:r>
              <a:rPr sz="1800" b="1">
                <a:solidFill>
                  <a:srgbClr val="062A26"/>
                </a:solidFill>
                <a:latin typeface="Saira"/>
              </a:rPr>
              <a:t>Engagement</a:t>
            </a:r>
          </a:p>
        </p:txBody>
      </p:sp>
      <p:sp>
        <p:nvSpPr>
          <p:cNvPr id="18" name="TextBox 17"/>
          <p:cNvSpPr txBox="1"/>
          <p:nvPr/>
        </p:nvSpPr>
        <p:spPr>
          <a:xfrm>
            <a:off x="1260000" y="4716000"/>
            <a:ext cx="9720000" cy="540000"/>
          </a:xfrm>
          <a:prstGeom prst="rect">
            <a:avLst/>
          </a:prstGeom>
          <a:noFill/>
        </p:spPr>
        <p:txBody>
          <a:bodyPr wrap="square">
            <a:spAutoFit/>
          </a:bodyPr>
          <a:lstStyle/>
          <a:p>
            <a:pPr>
              <a:spcAft>
                <a:spcPts val="400"/>
              </a:spcAft>
            </a:pPr>
            <a:r>
              <a:rPr sz="1400" b="0">
                <a:solidFill>
                  <a:srgbClr val="3B4B48"/>
                </a:solidFill>
                <a:latin typeface="Inter"/>
              </a:rPr>
              <a:t>On vient pour signer, financer, déployer.</a:t>
            </a:r>
          </a:p>
        </p:txBody>
      </p:sp>
      <p:sp>
        <p:nvSpPr>
          <p:cNvPr id="19" name="TextBox 18"/>
          <p:cNvSpPr txBox="1"/>
          <p:nvPr/>
        </p:nvSpPr>
        <p:spPr>
          <a:xfrm>
            <a:off x="540000" y="5292000"/>
            <a:ext cx="540000" cy="720000"/>
          </a:xfrm>
          <a:prstGeom prst="rect">
            <a:avLst/>
          </a:prstGeom>
          <a:noFill/>
        </p:spPr>
        <p:txBody>
          <a:bodyPr wrap="square">
            <a:spAutoFit/>
          </a:bodyPr>
          <a:lstStyle/>
          <a:p>
            <a:pPr>
              <a:spcAft>
                <a:spcPts val="400"/>
              </a:spcAft>
            </a:pPr>
            <a:r>
              <a:rPr sz="2600" b="1">
                <a:solidFill>
                  <a:srgbClr val="FF8A00"/>
                </a:solidFill>
                <a:latin typeface="Saira"/>
              </a:rPr>
              <a:t>05</a:t>
            </a:r>
          </a:p>
        </p:txBody>
      </p:sp>
      <p:sp>
        <p:nvSpPr>
          <p:cNvPr id="20" name="TextBox 19"/>
          <p:cNvSpPr txBox="1"/>
          <p:nvPr/>
        </p:nvSpPr>
        <p:spPr>
          <a:xfrm>
            <a:off x="1260000" y="5292000"/>
            <a:ext cx="2880000" cy="360000"/>
          </a:xfrm>
          <a:prstGeom prst="rect">
            <a:avLst/>
          </a:prstGeom>
          <a:noFill/>
        </p:spPr>
        <p:txBody>
          <a:bodyPr wrap="square">
            <a:spAutoFit/>
          </a:bodyPr>
          <a:lstStyle/>
          <a:p>
            <a:pPr>
              <a:spcAft>
                <a:spcPts val="400"/>
              </a:spcAft>
            </a:pPr>
            <a:r>
              <a:rPr sz="1800" b="1">
                <a:solidFill>
                  <a:srgbClr val="062A26"/>
                </a:solidFill>
                <a:latin typeface="Saira"/>
              </a:rPr>
              <a:t>Date</a:t>
            </a:r>
          </a:p>
        </p:txBody>
      </p:sp>
      <p:sp>
        <p:nvSpPr>
          <p:cNvPr id="21" name="TextBox 20"/>
          <p:cNvSpPr txBox="1"/>
          <p:nvPr/>
        </p:nvSpPr>
        <p:spPr>
          <a:xfrm>
            <a:off x="1260000" y="5652000"/>
            <a:ext cx="9720000" cy="540000"/>
          </a:xfrm>
          <a:prstGeom prst="rect">
            <a:avLst/>
          </a:prstGeom>
          <a:noFill/>
        </p:spPr>
        <p:txBody>
          <a:bodyPr wrap="square">
            <a:spAutoFit/>
          </a:bodyPr>
          <a:lstStyle/>
          <a:p>
            <a:pPr>
              <a:spcAft>
                <a:spcPts val="400"/>
              </a:spcAft>
            </a:pPr>
            <a:r>
              <a:rPr sz="1400" b="0">
                <a:solidFill>
                  <a:srgbClr val="3B4B48"/>
                </a:solidFill>
                <a:latin typeface="Inter"/>
              </a:rPr>
              <a:t>8, 9 et 10 septembre 2027, à Abidjan.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DISPOSITIF</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Canaux et rythme</a:t>
            </a:r>
          </a:p>
        </p:txBody>
      </p:sp>
      <p:graphicFrame>
        <p:nvGraphicFramePr>
          <p:cNvPr id="7" name="Table 6"/>
          <p:cNvGraphicFramePr>
            <a:graphicFrameLocks noGrp="1"/>
          </p:cNvGraphicFramePr>
          <p:nvPr/>
        </p:nvGraphicFramePr>
        <p:xfrm>
          <a:off x="540000" y="1584000"/>
          <a:ext cx="10440000" cy="2268000"/>
        </p:xfrm>
        <a:graphic>
          <a:graphicData uri="http://schemas.openxmlformats.org/drawingml/2006/table">
            <a:tbl>
              <a:tblPr firstRow="1" bandRow="1">
                <a:tableStyleId>{5C22544A-7EE6-4342-B048-85BDC9FD1C3A}</a:tableStyleId>
              </a:tblPr>
              <a:tblGrid>
                <a:gridCol w="3600000"/>
                <a:gridCol w="3960000"/>
                <a:gridCol w="2880000"/>
              </a:tblGrid>
              <a:tr h="324000">
                <a:tc>
                  <a:txBody>
                    <a:bodyPr/>
                    <a:lstStyle/>
                    <a:p>
                      <a:r>
                        <a:rPr sz="1200" b="1">
                          <a:solidFill>
                            <a:srgbClr val="FFFFFF"/>
                          </a:solidFill>
                          <a:latin typeface="Inter"/>
                        </a:rPr>
                        <a:t>Canal</a:t>
                      </a:r>
                    </a:p>
                  </a:txBody>
                  <a:tcPr>
                    <a:solidFill>
                      <a:srgbClr val="062A26"/>
                    </a:solidFill>
                  </a:tcPr>
                </a:tc>
                <a:tc>
                  <a:txBody>
                    <a:bodyPr/>
                    <a:lstStyle/>
                    <a:p>
                      <a:r>
                        <a:rPr sz="1200" b="1">
                          <a:solidFill>
                            <a:srgbClr val="FFFFFF"/>
                          </a:solidFill>
                          <a:latin typeface="Inter"/>
                        </a:rPr>
                        <a:t>Rôle dans le lancement</a:t>
                      </a:r>
                    </a:p>
                  </a:txBody>
                  <a:tcPr>
                    <a:solidFill>
                      <a:srgbClr val="062A26"/>
                    </a:solidFill>
                  </a:tcPr>
                </a:tc>
                <a:tc>
                  <a:txBody>
                    <a:bodyPr/>
                    <a:lstStyle/>
                    <a:p>
                      <a:r>
                        <a:rPr sz="1200" b="1">
                          <a:solidFill>
                            <a:srgbClr val="FFFFFF"/>
                          </a:solidFill>
                          <a:latin typeface="Inter"/>
                        </a:rPr>
                        <a:t>Rythme</a:t>
                      </a:r>
                    </a:p>
                  </a:txBody>
                  <a:tcPr>
                    <a:solidFill>
                      <a:srgbClr val="062A26"/>
                    </a:solidFill>
                  </a:tcPr>
                </a:tc>
              </a:tr>
              <a:tr h="324000">
                <a:tc>
                  <a:txBody>
                    <a:bodyPr/>
                    <a:lstStyle/>
                    <a:p>
                      <a:r>
                        <a:rPr sz="1200" b="0">
                          <a:solidFill>
                            <a:srgbClr val="062A26"/>
                          </a:solidFill>
                          <a:latin typeface="Inter"/>
                        </a:rPr>
                        <a:t>LinkedIn (Ministère, Mstudio, intervenants)</a:t>
                      </a:r>
                    </a:p>
                  </a:txBody>
                  <a:tcPr>
                    <a:solidFill>
                      <a:srgbClr val="FFFFFF"/>
                    </a:solidFill>
                  </a:tcPr>
                </a:tc>
                <a:tc>
                  <a:txBody>
                    <a:bodyPr/>
                    <a:lstStyle/>
                    <a:p>
                      <a:r>
                        <a:rPr sz="1200" b="0">
                          <a:solidFill>
                            <a:srgbClr val="062A26"/>
                          </a:solidFill>
                          <a:latin typeface="Inter"/>
                        </a:rPr>
                        <a:t>Décideurs, entreprises, partenaires</a:t>
                      </a:r>
                    </a:p>
                  </a:txBody>
                  <a:tcPr>
                    <a:solidFill>
                      <a:srgbClr val="FFFFFF"/>
                    </a:solidFill>
                  </a:tcPr>
                </a:tc>
                <a:tc>
                  <a:txBody>
                    <a:bodyPr/>
                    <a:lstStyle/>
                    <a:p>
                      <a:r>
                        <a:rPr sz="1200" b="0">
                          <a:solidFill>
                            <a:srgbClr val="062A26"/>
                          </a:solidFill>
                          <a:latin typeface="Inter"/>
                        </a:rPr>
                        <a:t>2 publications par semaine</a:t>
                      </a:r>
                    </a:p>
                  </a:txBody>
                  <a:tcPr>
                    <a:solidFill>
                      <a:srgbClr val="FFFFFF"/>
                    </a:solidFill>
                  </a:tcPr>
                </a:tc>
              </a:tr>
              <a:tr h="324000">
                <a:tc>
                  <a:txBody>
                    <a:bodyPr/>
                    <a:lstStyle/>
                    <a:p>
                      <a:r>
                        <a:rPr sz="1200" b="0">
                          <a:solidFill>
                            <a:srgbClr val="062A26"/>
                          </a:solidFill>
                          <a:latin typeface="Inter"/>
                        </a:rPr>
                        <a:t>Facebook (Ministère)</a:t>
                      </a:r>
                    </a:p>
                  </a:txBody>
                  <a:tcPr>
                    <a:solidFill>
                      <a:srgbClr val="E6F4EF"/>
                    </a:solidFill>
                  </a:tcPr>
                </a:tc>
                <a:tc>
                  <a:txBody>
                    <a:bodyPr/>
                    <a:lstStyle/>
                    <a:p>
                      <a:r>
                        <a:rPr sz="1200" b="0">
                          <a:solidFill>
                            <a:srgbClr val="062A26"/>
                          </a:solidFill>
                          <a:latin typeface="Inter"/>
                        </a:rPr>
                        <a:t>Grand public, étudiants</a:t>
                      </a:r>
                    </a:p>
                  </a:txBody>
                  <a:tcPr>
                    <a:solidFill>
                      <a:srgbClr val="E6F4EF"/>
                    </a:solidFill>
                  </a:tcPr>
                </a:tc>
                <a:tc>
                  <a:txBody>
                    <a:bodyPr/>
                    <a:lstStyle/>
                    <a:p>
                      <a:r>
                        <a:rPr sz="1200" b="0">
                          <a:solidFill>
                            <a:srgbClr val="062A26"/>
                          </a:solidFill>
                          <a:latin typeface="Inter"/>
                        </a:rPr>
                        <a:t>2 par semaine, mêmes visuels</a:t>
                      </a:r>
                    </a:p>
                  </a:txBody>
                  <a:tcPr>
                    <a:solidFill>
                      <a:srgbClr val="E6F4EF"/>
                    </a:solidFill>
                  </a:tcPr>
                </a:tc>
              </a:tr>
              <a:tr h="324000">
                <a:tc>
                  <a:txBody>
                    <a:bodyPr/>
                    <a:lstStyle/>
                    <a:p>
                      <a:r>
                        <a:rPr sz="1200" b="0">
                          <a:solidFill>
                            <a:srgbClr val="062A26"/>
                          </a:solidFill>
                          <a:latin typeface="Inter"/>
                        </a:rPr>
                        <a:t>Instagram</a:t>
                      </a:r>
                    </a:p>
                  </a:txBody>
                  <a:tcPr>
                    <a:solidFill>
                      <a:srgbClr val="FFFFFF"/>
                    </a:solidFill>
                  </a:tcPr>
                </a:tc>
                <a:tc>
                  <a:txBody>
                    <a:bodyPr/>
                    <a:lstStyle/>
                    <a:p>
                      <a:r>
                        <a:rPr sz="1200" b="0">
                          <a:solidFill>
                            <a:srgbClr val="062A26"/>
                          </a:solidFill>
                          <a:latin typeface="Inter"/>
                        </a:rPr>
                        <a:t>Écosystème tech, jeunes</a:t>
                      </a:r>
                    </a:p>
                  </a:txBody>
                  <a:tcPr>
                    <a:solidFill>
                      <a:srgbClr val="FFFFFF"/>
                    </a:solidFill>
                  </a:tcPr>
                </a:tc>
                <a:tc>
                  <a:txBody>
                    <a:bodyPr/>
                    <a:lstStyle/>
                    <a:p>
                      <a:r>
                        <a:rPr sz="1200" b="0">
                          <a:solidFill>
                            <a:srgbClr val="062A26"/>
                          </a:solidFill>
                          <a:latin typeface="Inter"/>
                        </a:rPr>
                        <a:t>2 par semaine + stories</a:t>
                      </a:r>
                    </a:p>
                  </a:txBody>
                  <a:tcPr>
                    <a:solidFill>
                      <a:srgbClr val="FFFFFF"/>
                    </a:solidFill>
                  </a:tcPr>
                </a:tc>
              </a:tr>
              <a:tr h="324000">
                <a:tc>
                  <a:txBody>
                    <a:bodyPr/>
                    <a:lstStyle/>
                    <a:p>
                      <a:r>
                        <a:rPr sz="1200" b="0">
                          <a:solidFill>
                            <a:srgbClr val="062A26"/>
                          </a:solidFill>
                          <a:latin typeface="Inter"/>
                        </a:rPr>
                        <a:t>X</a:t>
                      </a:r>
                    </a:p>
                  </a:txBody>
                  <a:tcPr>
                    <a:solidFill>
                      <a:srgbClr val="E6F4EF"/>
                    </a:solidFill>
                  </a:tcPr>
                </a:tc>
                <a:tc>
                  <a:txBody>
                    <a:bodyPr/>
                    <a:lstStyle/>
                    <a:p>
                      <a:r>
                        <a:rPr sz="1200" b="0">
                          <a:solidFill>
                            <a:srgbClr val="062A26"/>
                          </a:solidFill>
                          <a:latin typeface="Inter"/>
                        </a:rPr>
                        <a:t>Presse et institutions</a:t>
                      </a:r>
                    </a:p>
                  </a:txBody>
                  <a:tcPr>
                    <a:solidFill>
                      <a:srgbClr val="E6F4EF"/>
                    </a:solidFill>
                  </a:tcPr>
                </a:tc>
                <a:tc>
                  <a:txBody>
                    <a:bodyPr/>
                    <a:lstStyle/>
                    <a:p>
                      <a:r>
                        <a:rPr sz="1200" b="0">
                          <a:solidFill>
                            <a:srgbClr val="062A26"/>
                          </a:solidFill>
                          <a:latin typeface="Inter"/>
                        </a:rPr>
                        <a:t>Aux annonces, avec mots-dièse</a:t>
                      </a:r>
                    </a:p>
                  </a:txBody>
                  <a:tcPr>
                    <a:solidFill>
                      <a:srgbClr val="E6F4EF"/>
                    </a:solidFill>
                  </a:tcPr>
                </a:tc>
              </a:tr>
              <a:tr h="324000">
                <a:tc>
                  <a:txBody>
                    <a:bodyPr/>
                    <a:lstStyle/>
                    <a:p>
                      <a:r>
                        <a:rPr sz="1200" b="0">
                          <a:solidFill>
                            <a:srgbClr val="062A26"/>
                          </a:solidFill>
                          <a:latin typeface="Inter"/>
                        </a:rPr>
                        <a:t>Chaîne WhatsApp du Ministère</a:t>
                      </a:r>
                    </a:p>
                  </a:txBody>
                  <a:tcPr>
                    <a:solidFill>
                      <a:srgbClr val="FFFFFF"/>
                    </a:solidFill>
                  </a:tcPr>
                </a:tc>
                <a:tc>
                  <a:txBody>
                    <a:bodyPr/>
                    <a:lstStyle/>
                    <a:p>
                      <a:r>
                        <a:rPr sz="1200" b="0">
                          <a:solidFill>
                            <a:srgbClr val="062A26"/>
                          </a:solidFill>
                          <a:latin typeface="Inter"/>
                        </a:rPr>
                        <a:t>Relais rapide</a:t>
                      </a:r>
                    </a:p>
                  </a:txBody>
                  <a:tcPr>
                    <a:solidFill>
                      <a:srgbClr val="FFFFFF"/>
                    </a:solidFill>
                  </a:tcPr>
                </a:tc>
                <a:tc>
                  <a:txBody>
                    <a:bodyPr/>
                    <a:lstStyle/>
                    <a:p>
                      <a:r>
                        <a:rPr sz="1200" b="0">
                          <a:solidFill>
                            <a:srgbClr val="062A26"/>
                          </a:solidFill>
                          <a:latin typeface="Inter"/>
                        </a:rPr>
                        <a:t>1 message par semaine</a:t>
                      </a:r>
                    </a:p>
                  </a:txBody>
                  <a:tcPr>
                    <a:solidFill>
                      <a:srgbClr val="FFFFFF"/>
                    </a:solidFill>
                  </a:tcPr>
                </a:tc>
              </a:tr>
              <a:tr h="324000">
                <a:tc>
                  <a:txBody>
                    <a:bodyPr/>
                    <a:lstStyle/>
                    <a:p>
                      <a:r>
                        <a:rPr sz="1200" b="0">
                          <a:solidFill>
                            <a:srgbClr val="062A26"/>
                          </a:solidFill>
                          <a:latin typeface="Inter"/>
                        </a:rPr>
                        <a:t>Relais partenaires (CGECI, CCI, incubateurs)</a:t>
                      </a:r>
                    </a:p>
                  </a:txBody>
                  <a:tcPr>
                    <a:solidFill>
                      <a:srgbClr val="E6F4EF"/>
                    </a:solidFill>
                  </a:tcPr>
                </a:tc>
                <a:tc>
                  <a:txBody>
                    <a:bodyPr/>
                    <a:lstStyle/>
                    <a:p>
                      <a:r>
                        <a:rPr sz="1200" b="0">
                          <a:solidFill>
                            <a:srgbClr val="062A26"/>
                          </a:solidFill>
                          <a:latin typeface="Inter"/>
                        </a:rPr>
                        <a:t>Démultiplier la portée</a:t>
                      </a:r>
                    </a:p>
                  </a:txBody>
                  <a:tcPr>
                    <a:solidFill>
                      <a:srgbClr val="E6F4EF"/>
                    </a:solidFill>
                  </a:tcPr>
                </a:tc>
                <a:tc>
                  <a:txBody>
                    <a:bodyPr/>
                    <a:lstStyle/>
                    <a:p>
                      <a:r>
                        <a:rPr sz="1200" b="0">
                          <a:solidFill>
                            <a:srgbClr val="062A26"/>
                          </a:solidFill>
                          <a:latin typeface="Inter"/>
                        </a:rPr>
                        <a:t>Kit de partage envoyé le 11 janvier</a:t>
                      </a:r>
                    </a:p>
                  </a:txBody>
                  <a:tcPr>
                    <a:solidFill>
                      <a:srgbClr val="E6F4EF"/>
                    </a:solidFill>
                  </a:tcPr>
                </a:tc>
              </a:tr>
            </a:tbl>
          </a:graphicData>
        </a:graphic>
      </p:graphicFrame>
      <p:sp>
        <p:nvSpPr>
          <p:cNvPr id="8" name="TextBox 7"/>
          <p:cNvSpPr txBox="1"/>
          <p:nvPr/>
        </p:nvSpPr>
        <p:spPr>
          <a:xfrm>
            <a:off x="540000" y="4392000"/>
            <a:ext cx="10440000" cy="720000"/>
          </a:xfrm>
          <a:prstGeom prst="rect">
            <a:avLst/>
          </a:prstGeom>
          <a:noFill/>
        </p:spPr>
        <p:txBody>
          <a:bodyPr wrap="square">
            <a:spAutoFit/>
          </a:bodyPr>
          <a:lstStyle/>
          <a:p>
            <a:pPr>
              <a:spcAft>
                <a:spcPts val="400"/>
              </a:spcAft>
            </a:pPr>
            <a:r>
              <a:rPr sz="1300" b="1">
                <a:solidFill>
                  <a:srgbClr val="062A26"/>
                </a:solidFill>
                <a:latin typeface="Inter"/>
              </a:rPr>
              <a:t>Publication le mardi et le jeudi à 10 h. Mots-dièse : #AccelerateIA2027 #IAenCôtedIvoire #ImpactIA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JANVIER ET FÉVRIER 2027</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Calendrier des 10 publications</a:t>
            </a:r>
          </a:p>
        </p:txBody>
      </p:sp>
      <p:graphicFrame>
        <p:nvGraphicFramePr>
          <p:cNvPr id="7" name="Table 6"/>
          <p:cNvGraphicFramePr>
            <a:graphicFrameLocks noGrp="1"/>
          </p:cNvGraphicFramePr>
          <p:nvPr/>
        </p:nvGraphicFramePr>
        <p:xfrm>
          <a:off x="540000" y="1512000"/>
          <a:ext cx="10440000" cy="3564000"/>
        </p:xfrm>
        <a:graphic>
          <a:graphicData uri="http://schemas.openxmlformats.org/drawingml/2006/table">
            <a:tbl>
              <a:tblPr firstRow="1" bandRow="1">
                <a:tableStyleId>{5C22544A-7EE6-4342-B048-85BDC9FD1C3A}</a:tableStyleId>
              </a:tblPr>
              <a:tblGrid>
                <a:gridCol w="1440000"/>
                <a:gridCol w="1800000"/>
                <a:gridCol w="4680000"/>
                <a:gridCol w="2520000"/>
              </a:tblGrid>
              <a:tr h="324000">
                <a:tc>
                  <a:txBody>
                    <a:bodyPr/>
                    <a:lstStyle/>
                    <a:p>
                      <a:r>
                        <a:rPr sz="1000" b="1">
                          <a:solidFill>
                            <a:srgbClr val="FFFFFF"/>
                          </a:solidFill>
                          <a:latin typeface="Inter"/>
                        </a:rPr>
                        <a:t>Date (10 h)</a:t>
                      </a:r>
                    </a:p>
                  </a:txBody>
                  <a:tcPr>
                    <a:solidFill>
                      <a:srgbClr val="062A26"/>
                    </a:solidFill>
                  </a:tcPr>
                </a:tc>
                <a:tc>
                  <a:txBody>
                    <a:bodyPr/>
                    <a:lstStyle/>
                    <a:p>
                      <a:r>
                        <a:rPr sz="1000" b="1">
                          <a:solidFill>
                            <a:srgbClr val="FFFFFF"/>
                          </a:solidFill>
                          <a:latin typeface="Inter"/>
                        </a:rPr>
                        <a:t>Publication</a:t>
                      </a:r>
                    </a:p>
                  </a:txBody>
                  <a:tcPr>
                    <a:solidFill>
                      <a:srgbClr val="062A26"/>
                    </a:solidFill>
                  </a:tcPr>
                </a:tc>
                <a:tc>
                  <a:txBody>
                    <a:bodyPr/>
                    <a:lstStyle/>
                    <a:p>
                      <a:r>
                        <a:rPr sz="1000" b="1">
                          <a:solidFill>
                            <a:srgbClr val="FFFFFF"/>
                          </a:solidFill>
                          <a:latin typeface="Inter"/>
                        </a:rPr>
                        <a:t>Message</a:t>
                      </a:r>
                    </a:p>
                  </a:txBody>
                  <a:tcPr>
                    <a:solidFill>
                      <a:srgbClr val="062A26"/>
                    </a:solidFill>
                  </a:tcPr>
                </a:tc>
                <a:tc>
                  <a:txBody>
                    <a:bodyPr/>
                    <a:lstStyle/>
                    <a:p>
                      <a:r>
                        <a:rPr sz="1000" b="1">
                          <a:solidFill>
                            <a:srgbClr val="FFFFFF"/>
                          </a:solidFill>
                          <a:latin typeface="Inter"/>
                        </a:rPr>
                        <a:t>Canaux</a:t>
                      </a:r>
                    </a:p>
                  </a:txBody>
                  <a:tcPr>
                    <a:solidFill>
                      <a:srgbClr val="062A26"/>
                    </a:solidFill>
                  </a:tcPr>
                </a:tc>
              </a:tr>
              <a:tr h="324000">
                <a:tc>
                  <a:txBody>
                    <a:bodyPr/>
                    <a:lstStyle/>
                    <a:p>
                      <a:r>
                        <a:rPr sz="1000" b="0">
                          <a:solidFill>
                            <a:srgbClr val="062A26"/>
                          </a:solidFill>
                          <a:latin typeface="Inter"/>
                        </a:rPr>
                        <a:t>Mar. 5 janv.</a:t>
                      </a:r>
                    </a:p>
                  </a:txBody>
                  <a:tcPr>
                    <a:solidFill>
                      <a:srgbClr val="FFFFFF"/>
                    </a:solidFill>
                  </a:tcPr>
                </a:tc>
                <a:tc>
                  <a:txBody>
                    <a:bodyPr/>
                    <a:lstStyle/>
                    <a:p>
                      <a:r>
                        <a:rPr sz="1000" b="0">
                          <a:solidFill>
                            <a:srgbClr val="062A26"/>
                          </a:solidFill>
                          <a:latin typeface="Inter"/>
                        </a:rPr>
                        <a:t>Teaser</a:t>
                      </a:r>
                    </a:p>
                  </a:txBody>
                  <a:tcPr>
                    <a:solidFill>
                      <a:srgbClr val="FFFFFF"/>
                    </a:solidFill>
                  </a:tcPr>
                </a:tc>
                <a:tc>
                  <a:txBody>
                    <a:bodyPr/>
                    <a:lstStyle/>
                    <a:p>
                      <a:r>
                        <a:rPr sz="1000" b="0">
                          <a:solidFill>
                            <a:srgbClr val="062A26"/>
                          </a:solidFill>
                          <a:latin typeface="Inter"/>
                        </a:rPr>
                        <a:t>Un an après IMPACT IA, on passe à la vitesse supérieure.</a:t>
                      </a:r>
                    </a:p>
                  </a:txBody>
                  <a:tcPr>
                    <a:solidFill>
                      <a:srgbClr val="FFFFFF"/>
                    </a:solidFill>
                  </a:tcPr>
                </a:tc>
                <a:tc>
                  <a:txBody>
                    <a:bodyPr/>
                    <a:lstStyle/>
                    <a:p>
                      <a:r>
                        <a:rPr sz="1000" b="0">
                          <a:solidFill>
                            <a:srgbClr val="062A26"/>
                          </a:solidFill>
                          <a:latin typeface="Inter"/>
                        </a:rPr>
                        <a:t>LinkedIn, Facebook, Instagram, X</a:t>
                      </a:r>
                    </a:p>
                  </a:txBody>
                  <a:tcPr>
                    <a:solidFill>
                      <a:srgbClr val="FFFFFF"/>
                    </a:solidFill>
                  </a:tcPr>
                </a:tc>
              </a:tr>
              <a:tr h="324000">
                <a:tc>
                  <a:txBody>
                    <a:bodyPr/>
                    <a:lstStyle/>
                    <a:p>
                      <a:r>
                        <a:rPr sz="1000" b="0">
                          <a:solidFill>
                            <a:srgbClr val="062A26"/>
                          </a:solidFill>
                          <a:latin typeface="Inter"/>
                        </a:rPr>
                        <a:t>Mar. 12 janv.</a:t>
                      </a:r>
                    </a:p>
                  </a:txBody>
                  <a:tcPr>
                    <a:solidFill>
                      <a:srgbClr val="E6F4EF"/>
                    </a:solidFill>
                  </a:tcPr>
                </a:tc>
                <a:tc>
                  <a:txBody>
                    <a:bodyPr/>
                    <a:lstStyle/>
                    <a:p>
                      <a:r>
                        <a:rPr sz="1000" b="0">
                          <a:solidFill>
                            <a:srgbClr val="062A26"/>
                          </a:solidFill>
                          <a:latin typeface="Inter"/>
                        </a:rPr>
                        <a:t>Annonce officielle</a:t>
                      </a:r>
                    </a:p>
                  </a:txBody>
                  <a:tcPr>
                    <a:solidFill>
                      <a:srgbClr val="E6F4EF"/>
                    </a:solidFill>
                  </a:tcPr>
                </a:tc>
                <a:tc>
                  <a:txBody>
                    <a:bodyPr/>
                    <a:lstStyle/>
                    <a:p>
                      <a:r>
                        <a:rPr sz="1000" b="0">
                          <a:solidFill>
                            <a:srgbClr val="062A26"/>
                          </a:solidFill>
                          <a:latin typeface="Inter"/>
                        </a:rPr>
                        <a:t>ACCELERATE IA, 8 au 10 septembre 2027</a:t>
                      </a:r>
                    </a:p>
                  </a:txBody>
                  <a:tcPr>
                    <a:solidFill>
                      <a:srgbClr val="E6F4EF"/>
                    </a:solidFill>
                  </a:tcPr>
                </a:tc>
                <a:tc>
                  <a:txBody>
                    <a:bodyPr/>
                    <a:lstStyle/>
                    <a:p>
                      <a:r>
                        <a:rPr sz="1000" b="0">
                          <a:solidFill>
                            <a:srgbClr val="062A26"/>
                          </a:solidFill>
                          <a:latin typeface="Inter"/>
                        </a:rPr>
                        <a:t>LinkedIn, Facebook, Instagram, X</a:t>
                      </a:r>
                    </a:p>
                  </a:txBody>
                  <a:tcPr>
                    <a:solidFill>
                      <a:srgbClr val="E6F4EF"/>
                    </a:solidFill>
                  </a:tcPr>
                </a:tc>
              </a:tr>
              <a:tr h="324000">
                <a:tc>
                  <a:txBody>
                    <a:bodyPr/>
                    <a:lstStyle/>
                    <a:p>
                      <a:r>
                        <a:rPr sz="1000" b="0">
                          <a:solidFill>
                            <a:srgbClr val="062A26"/>
                          </a:solidFill>
                          <a:latin typeface="Inter"/>
                        </a:rPr>
                        <a:t>Jeu. 14 janv.</a:t>
                      </a:r>
                    </a:p>
                  </a:txBody>
                  <a:tcPr>
                    <a:solidFill>
                      <a:srgbClr val="FFFFFF"/>
                    </a:solidFill>
                  </a:tcPr>
                </a:tc>
                <a:tc>
                  <a:txBody>
                    <a:bodyPr/>
                    <a:lstStyle/>
                    <a:p>
                      <a:r>
                        <a:rPr sz="1000" b="0">
                          <a:solidFill>
                            <a:srgbClr val="062A26"/>
                          </a:solidFill>
                          <a:latin typeface="Inter"/>
                        </a:rPr>
                        <a:t>Rappel IMPACT IA</a:t>
                      </a:r>
                    </a:p>
                  </a:txBody>
                  <a:tcPr>
                    <a:solidFill>
                      <a:srgbClr val="FFFFFF"/>
                    </a:solidFill>
                  </a:tcPr>
                </a:tc>
                <a:tc>
                  <a:txBody>
                    <a:bodyPr/>
                    <a:lstStyle/>
                    <a:p>
                      <a:r>
                        <a:rPr sz="1000" b="0">
                          <a:solidFill>
                            <a:srgbClr val="062A26"/>
                          </a:solidFill>
                          <a:latin typeface="Inter"/>
                        </a:rPr>
                        <a:t>77 cas d'usage prioritaires retenus</a:t>
                      </a:r>
                    </a:p>
                  </a:txBody>
                  <a:tcPr>
                    <a:solidFill>
                      <a:srgbClr val="FFFFFF"/>
                    </a:solidFill>
                  </a:tcPr>
                </a:tc>
                <a:tc>
                  <a:txBody>
                    <a:bodyPr/>
                    <a:lstStyle/>
                    <a:p>
                      <a:r>
                        <a:rPr sz="1000" b="0">
                          <a:solidFill>
                            <a:srgbClr val="062A26"/>
                          </a:solidFill>
                          <a:latin typeface="Inter"/>
                        </a:rPr>
                        <a:t>LinkedIn, Facebook, Instagram, X</a:t>
                      </a:r>
                    </a:p>
                  </a:txBody>
                  <a:tcPr>
                    <a:solidFill>
                      <a:srgbClr val="FFFFFF"/>
                    </a:solidFill>
                  </a:tcPr>
                </a:tc>
              </a:tr>
              <a:tr h="324000">
                <a:tc>
                  <a:txBody>
                    <a:bodyPr/>
                    <a:lstStyle/>
                    <a:p>
                      <a:r>
                        <a:rPr sz="1000" b="0">
                          <a:solidFill>
                            <a:srgbClr val="062A26"/>
                          </a:solidFill>
                          <a:latin typeface="Inter"/>
                        </a:rPr>
                        <a:t>Mar. 19 janv.</a:t>
                      </a:r>
                    </a:p>
                  </a:txBody>
                  <a:tcPr>
                    <a:solidFill>
                      <a:srgbClr val="E6F4EF"/>
                    </a:solidFill>
                  </a:tcPr>
                </a:tc>
                <a:tc>
                  <a:txBody>
                    <a:bodyPr/>
                    <a:lstStyle/>
                    <a:p>
                      <a:r>
                        <a:rPr sz="1000" b="0">
                          <a:solidFill>
                            <a:srgbClr val="062A26"/>
                          </a:solidFill>
                          <a:latin typeface="Inter"/>
                        </a:rPr>
                        <a:t>Le thème</a:t>
                      </a:r>
                    </a:p>
                  </a:txBody>
                  <a:tcPr>
                    <a:solidFill>
                      <a:srgbClr val="E6F4EF"/>
                    </a:solidFill>
                  </a:tcPr>
                </a:tc>
                <a:tc>
                  <a:txBody>
                    <a:bodyPr/>
                    <a:lstStyle/>
                    <a:p>
                      <a:r>
                        <a:rPr sz="1000" b="0">
                          <a:solidFill>
                            <a:srgbClr val="062A26"/>
                          </a:solidFill>
                          <a:latin typeface="Inter"/>
                        </a:rPr>
                        <a:t>Des cas d'usage au déploiement</a:t>
                      </a:r>
                    </a:p>
                  </a:txBody>
                  <a:tcPr>
                    <a:solidFill>
                      <a:srgbClr val="E6F4EF"/>
                    </a:solidFill>
                  </a:tcPr>
                </a:tc>
                <a:tc>
                  <a:txBody>
                    <a:bodyPr/>
                    <a:lstStyle/>
                    <a:p>
                      <a:r>
                        <a:rPr sz="1000" b="0">
                          <a:solidFill>
                            <a:srgbClr val="062A26"/>
                          </a:solidFill>
                          <a:latin typeface="Inter"/>
                        </a:rPr>
                        <a:t>LinkedIn, Facebook, Instagram, X</a:t>
                      </a:r>
                    </a:p>
                  </a:txBody>
                  <a:tcPr>
                    <a:solidFill>
                      <a:srgbClr val="E6F4EF"/>
                    </a:solidFill>
                  </a:tcPr>
                </a:tc>
              </a:tr>
              <a:tr h="324000">
                <a:tc>
                  <a:txBody>
                    <a:bodyPr/>
                    <a:lstStyle/>
                    <a:p>
                      <a:r>
                        <a:rPr sz="1000" b="0">
                          <a:solidFill>
                            <a:srgbClr val="062A26"/>
                          </a:solidFill>
                          <a:latin typeface="Inter"/>
                        </a:rPr>
                        <a:t>Jeu. 21 janv.</a:t>
                      </a:r>
                    </a:p>
                  </a:txBody>
                  <a:tcPr>
                    <a:solidFill>
                      <a:srgbClr val="FFFFFF"/>
                    </a:solidFill>
                  </a:tcPr>
                </a:tc>
                <a:tc>
                  <a:txBody>
                    <a:bodyPr/>
                    <a:lstStyle/>
                    <a:p>
                      <a:r>
                        <a:rPr sz="1000" b="0">
                          <a:solidFill>
                            <a:srgbClr val="062A26"/>
                          </a:solidFill>
                          <a:latin typeface="Inter"/>
                        </a:rPr>
                        <a:t>Ce qui change</a:t>
                      </a:r>
                    </a:p>
                  </a:txBody>
                  <a:tcPr>
                    <a:solidFill>
                      <a:srgbClr val="FFFFFF"/>
                    </a:solidFill>
                  </a:tcPr>
                </a:tc>
                <a:tc>
                  <a:txBody>
                    <a:bodyPr/>
                    <a:lstStyle/>
                    <a:p>
                      <a:r>
                        <a:rPr sz="1000" b="0">
                          <a:solidFill>
                            <a:srgbClr val="062A26"/>
                          </a:solidFill>
                          <a:latin typeface="Inter"/>
                        </a:rPr>
                        <a:t>Rendre des comptes. Montrer. S'engager.</a:t>
                      </a:r>
                    </a:p>
                  </a:txBody>
                  <a:tcPr>
                    <a:solidFill>
                      <a:srgbClr val="FFFFFF"/>
                    </a:solidFill>
                  </a:tcPr>
                </a:tc>
                <a:tc>
                  <a:txBody>
                    <a:bodyPr/>
                    <a:lstStyle/>
                    <a:p>
                      <a:r>
                        <a:rPr sz="1000" b="0">
                          <a:solidFill>
                            <a:srgbClr val="062A26"/>
                          </a:solidFill>
                          <a:latin typeface="Inter"/>
                        </a:rPr>
                        <a:t>LinkedIn, Facebook, Instagram, X</a:t>
                      </a:r>
                    </a:p>
                  </a:txBody>
                  <a:tcPr>
                    <a:solidFill>
                      <a:srgbClr val="FFFFFF"/>
                    </a:solidFill>
                  </a:tcPr>
                </a:tc>
              </a:tr>
              <a:tr h="324000">
                <a:tc>
                  <a:txBody>
                    <a:bodyPr/>
                    <a:lstStyle/>
                    <a:p>
                      <a:r>
                        <a:rPr sz="1000" b="0">
                          <a:solidFill>
                            <a:srgbClr val="062A26"/>
                          </a:solidFill>
                          <a:latin typeface="Inter"/>
                        </a:rPr>
                        <a:t>Mar. 26 janv.</a:t>
                      </a:r>
                    </a:p>
                  </a:txBody>
                  <a:tcPr>
                    <a:solidFill>
                      <a:srgbClr val="E6F4EF"/>
                    </a:solidFill>
                  </a:tcPr>
                </a:tc>
                <a:tc>
                  <a:txBody>
                    <a:bodyPr/>
                    <a:lstStyle/>
                    <a:p>
                      <a:r>
                        <a:rPr sz="1000" b="0">
                          <a:solidFill>
                            <a:srgbClr val="062A26"/>
                          </a:solidFill>
                          <a:latin typeface="Inter"/>
                        </a:rPr>
                        <a:t>Alliance nationale</a:t>
                      </a:r>
                    </a:p>
                  </a:txBody>
                  <a:tcPr>
                    <a:solidFill>
                      <a:srgbClr val="E6F4EF"/>
                    </a:solidFill>
                  </a:tcPr>
                </a:tc>
                <a:tc>
                  <a:txBody>
                    <a:bodyPr/>
                    <a:lstStyle/>
                    <a:p>
                      <a:r>
                        <a:rPr sz="1000" b="0">
                          <a:solidFill>
                            <a:srgbClr val="062A26"/>
                          </a:solidFill>
                          <a:latin typeface="Inter"/>
                        </a:rPr>
                        <a:t>Un an après le Pacte, les engagements</a:t>
                      </a:r>
                    </a:p>
                  </a:txBody>
                  <a:tcPr>
                    <a:solidFill>
                      <a:srgbClr val="E6F4EF"/>
                    </a:solidFill>
                  </a:tcPr>
                </a:tc>
                <a:tc>
                  <a:txBody>
                    <a:bodyPr/>
                    <a:lstStyle/>
                    <a:p>
                      <a:r>
                        <a:rPr sz="1000" b="0">
                          <a:solidFill>
                            <a:srgbClr val="062A26"/>
                          </a:solidFill>
                          <a:latin typeface="Inter"/>
                        </a:rPr>
                        <a:t>LinkedIn, Facebook, Instagram, X</a:t>
                      </a:r>
                    </a:p>
                  </a:txBody>
                  <a:tcPr>
                    <a:solidFill>
                      <a:srgbClr val="E6F4EF"/>
                    </a:solidFill>
                  </a:tcPr>
                </a:tc>
              </a:tr>
              <a:tr h="324000">
                <a:tc>
                  <a:txBody>
                    <a:bodyPr/>
                    <a:lstStyle/>
                    <a:p>
                      <a:r>
                        <a:rPr sz="1000" b="0">
                          <a:solidFill>
                            <a:srgbClr val="062A26"/>
                          </a:solidFill>
                          <a:latin typeface="Inter"/>
                        </a:rPr>
                        <a:t>Mar. 2 févr.</a:t>
                      </a:r>
                    </a:p>
                  </a:txBody>
                  <a:tcPr>
                    <a:solidFill>
                      <a:srgbClr val="FFFFFF"/>
                    </a:solidFill>
                  </a:tcPr>
                </a:tc>
                <a:tc>
                  <a:txBody>
                    <a:bodyPr/>
                    <a:lstStyle/>
                    <a:p>
                      <a:r>
                        <a:rPr sz="1000" b="0">
                          <a:solidFill>
                            <a:srgbClr val="062A26"/>
                          </a:solidFill>
                          <a:latin typeface="Inter"/>
                        </a:rPr>
                        <a:t>Partenaires</a:t>
                      </a:r>
                    </a:p>
                  </a:txBody>
                  <a:tcPr>
                    <a:solidFill>
                      <a:srgbClr val="FFFFFF"/>
                    </a:solidFill>
                  </a:tcPr>
                </a:tc>
                <a:tc>
                  <a:txBody>
                    <a:bodyPr/>
                    <a:lstStyle/>
                    <a:p>
                      <a:r>
                        <a:rPr sz="1000" b="0">
                          <a:solidFill>
                            <a:srgbClr val="062A26"/>
                          </a:solidFill>
                          <a:latin typeface="Inter"/>
                        </a:rPr>
                        <a:t>Associez votre organisation à l'IA qui se déploie</a:t>
                      </a:r>
                    </a:p>
                  </a:txBody>
                  <a:tcPr>
                    <a:solidFill>
                      <a:srgbClr val="FFFFFF"/>
                    </a:solidFill>
                  </a:tcPr>
                </a:tc>
                <a:tc>
                  <a:txBody>
                    <a:bodyPr/>
                    <a:lstStyle/>
                    <a:p>
                      <a:r>
                        <a:rPr sz="1000" b="0">
                          <a:solidFill>
                            <a:srgbClr val="062A26"/>
                          </a:solidFill>
                          <a:latin typeface="Inter"/>
                        </a:rPr>
                        <a:t>LinkedIn, Facebook, Instagram, X</a:t>
                      </a:r>
                    </a:p>
                  </a:txBody>
                  <a:tcPr>
                    <a:solidFill>
                      <a:srgbClr val="FFFFFF"/>
                    </a:solidFill>
                  </a:tcPr>
                </a:tc>
              </a:tr>
              <a:tr h="324000">
                <a:tc>
                  <a:txBody>
                    <a:bodyPr/>
                    <a:lstStyle/>
                    <a:p>
                      <a:r>
                        <a:rPr sz="1000" b="0">
                          <a:solidFill>
                            <a:srgbClr val="062A26"/>
                          </a:solidFill>
                          <a:latin typeface="Inter"/>
                        </a:rPr>
                        <a:t>Mar. 9 févr.</a:t>
                      </a:r>
                    </a:p>
                  </a:txBody>
                  <a:tcPr>
                    <a:solidFill>
                      <a:srgbClr val="E6F4EF"/>
                    </a:solidFill>
                  </a:tcPr>
                </a:tc>
                <a:tc>
                  <a:txBody>
                    <a:bodyPr/>
                    <a:lstStyle/>
                    <a:p>
                      <a:r>
                        <a:rPr sz="1000" b="0">
                          <a:solidFill>
                            <a:srgbClr val="062A26"/>
                          </a:solidFill>
                          <a:latin typeface="Inter"/>
                        </a:rPr>
                        <a:t>Réservez la date</a:t>
                      </a:r>
                    </a:p>
                  </a:txBody>
                  <a:tcPr>
                    <a:solidFill>
                      <a:srgbClr val="E6F4EF"/>
                    </a:solidFill>
                  </a:tcPr>
                </a:tc>
                <a:tc>
                  <a:txBody>
                    <a:bodyPr/>
                    <a:lstStyle/>
                    <a:p>
                      <a:r>
                        <a:rPr sz="1000" b="0">
                          <a:solidFill>
                            <a:srgbClr val="062A26"/>
                          </a:solidFill>
                          <a:latin typeface="Inter"/>
                        </a:rPr>
                        <a:t>8 · 9 · 10 septembre 2027</a:t>
                      </a:r>
                    </a:p>
                  </a:txBody>
                  <a:tcPr>
                    <a:solidFill>
                      <a:srgbClr val="E6F4EF"/>
                    </a:solidFill>
                  </a:tcPr>
                </a:tc>
                <a:tc>
                  <a:txBody>
                    <a:bodyPr/>
                    <a:lstStyle/>
                    <a:p>
                      <a:r>
                        <a:rPr sz="1000" b="0">
                          <a:solidFill>
                            <a:srgbClr val="062A26"/>
                          </a:solidFill>
                          <a:latin typeface="Inter"/>
                        </a:rPr>
                        <a:t>LinkedIn, Facebook, Instagram, X</a:t>
                      </a:r>
                    </a:p>
                  </a:txBody>
                  <a:tcPr>
                    <a:solidFill>
                      <a:srgbClr val="E6F4EF"/>
                    </a:solidFill>
                  </a:tcPr>
                </a:tc>
              </a:tr>
              <a:tr h="324000">
                <a:tc>
                  <a:txBody>
                    <a:bodyPr/>
                    <a:lstStyle/>
                    <a:p>
                      <a:r>
                        <a:rPr sz="1000" b="0">
                          <a:solidFill>
                            <a:srgbClr val="062A26"/>
                          </a:solidFill>
                          <a:latin typeface="Inter"/>
                        </a:rPr>
                        <a:t>Mar. 16 févr.</a:t>
                      </a:r>
                    </a:p>
                  </a:txBody>
                  <a:tcPr>
                    <a:solidFill>
                      <a:srgbClr val="FFFFFF"/>
                    </a:solidFill>
                  </a:tcPr>
                </a:tc>
                <a:tc>
                  <a:txBody>
                    <a:bodyPr/>
                    <a:lstStyle/>
                    <a:p>
                      <a:r>
                        <a:rPr sz="1000" b="0">
                          <a:solidFill>
                            <a:srgbClr val="062A26"/>
                          </a:solidFill>
                          <a:latin typeface="Inter"/>
                        </a:rPr>
                        <a:t>Prix ACCELERATE IA</a:t>
                      </a:r>
                    </a:p>
                  </a:txBody>
                  <a:tcPr>
                    <a:solidFill>
                      <a:srgbClr val="FFFFFF"/>
                    </a:solidFill>
                  </a:tcPr>
                </a:tc>
                <a:tc>
                  <a:txBody>
                    <a:bodyPr/>
                    <a:lstStyle/>
                    <a:p>
                      <a:r>
                        <a:rPr sz="1000" b="0">
                          <a:solidFill>
                            <a:srgbClr val="062A26"/>
                          </a:solidFill>
                          <a:latin typeface="Inter"/>
                        </a:rPr>
                        <a:t>Appel à candidatures dès le 1er mars</a:t>
                      </a:r>
                    </a:p>
                  </a:txBody>
                  <a:tcPr>
                    <a:solidFill>
                      <a:srgbClr val="FFFFFF"/>
                    </a:solidFill>
                  </a:tcPr>
                </a:tc>
                <a:tc>
                  <a:txBody>
                    <a:bodyPr/>
                    <a:lstStyle/>
                    <a:p>
                      <a:r>
                        <a:rPr sz="1000" b="0">
                          <a:solidFill>
                            <a:srgbClr val="062A26"/>
                          </a:solidFill>
                          <a:latin typeface="Inter"/>
                        </a:rPr>
                        <a:t>LinkedIn, Facebook, Instagram, X</a:t>
                      </a:r>
                    </a:p>
                  </a:txBody>
                  <a:tcPr>
                    <a:solidFill>
                      <a:srgbClr val="FFFFFF"/>
                    </a:solidFill>
                  </a:tcPr>
                </a:tc>
              </a:tr>
              <a:tr h="324000">
                <a:tc>
                  <a:txBody>
                    <a:bodyPr/>
                    <a:lstStyle/>
                    <a:p>
                      <a:r>
                        <a:rPr sz="1000" b="0">
                          <a:solidFill>
                            <a:srgbClr val="062A26"/>
                          </a:solidFill>
                          <a:latin typeface="Inter"/>
                        </a:rPr>
                        <a:t>Mar. 23 févr.</a:t>
                      </a:r>
                    </a:p>
                  </a:txBody>
                  <a:tcPr>
                    <a:solidFill>
                      <a:srgbClr val="E6F4EF"/>
                    </a:solidFill>
                  </a:tcPr>
                </a:tc>
                <a:tc>
                  <a:txBody>
                    <a:bodyPr/>
                    <a:lstStyle/>
                    <a:p>
                      <a:r>
                        <a:rPr sz="1000" b="0">
                          <a:solidFill>
                            <a:srgbClr val="062A26"/>
                          </a:solidFill>
                          <a:latin typeface="Inter"/>
                        </a:rPr>
                        <a:t>Inscriptions</a:t>
                      </a:r>
                    </a:p>
                  </a:txBody>
                  <a:tcPr>
                    <a:solidFill>
                      <a:srgbClr val="E6F4EF"/>
                    </a:solidFill>
                  </a:tcPr>
                </a:tc>
                <a:tc>
                  <a:txBody>
                    <a:bodyPr/>
                    <a:lstStyle/>
                    <a:p>
                      <a:r>
                        <a:rPr sz="1000" b="0">
                          <a:solidFill>
                            <a:srgbClr val="062A26"/>
                          </a:solidFill>
                          <a:latin typeface="Inter"/>
                        </a:rPr>
                        <a:t>Ouverture des inscriptions le 1er mars</a:t>
                      </a:r>
                    </a:p>
                  </a:txBody>
                  <a:tcPr>
                    <a:solidFill>
                      <a:srgbClr val="E6F4EF"/>
                    </a:solidFill>
                  </a:tcPr>
                </a:tc>
                <a:tc>
                  <a:txBody>
                    <a:bodyPr/>
                    <a:lstStyle/>
                    <a:p>
                      <a:r>
                        <a:rPr sz="1000" b="0">
                          <a:solidFill>
                            <a:srgbClr val="062A26"/>
                          </a:solidFill>
                          <a:latin typeface="Inter"/>
                        </a:rPr>
                        <a:t>LinkedIn, Facebook, Instagram, X</a:t>
                      </a:r>
                    </a:p>
                  </a:txBody>
                  <a:tcPr>
                    <a:solidFill>
                      <a:srgbClr val="E6F4E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MAR. 5 JANV. · 10 H</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Teaser</a:t>
            </a:r>
          </a:p>
        </p:txBody>
      </p:sp>
      <p:pic>
        <p:nvPicPr>
          <p:cNvPr id="7" name="Picture 6" descr="post01_teaser.jpg"/>
          <p:cNvPicPr>
            <a:picLocks noChangeAspect="1"/>
          </p:cNvPicPr>
          <p:nvPr/>
        </p:nvPicPr>
        <p:blipFill>
          <a:blip r:embed="rId3"/>
          <a:stretch>
            <a:fillRect/>
          </a:stretch>
        </p:blipFill>
        <p:spPr>
          <a:xfrm>
            <a:off x="540000" y="1512000"/>
            <a:ext cx="4032000" cy="5040000"/>
          </a:xfrm>
          <a:prstGeom prst="rect">
            <a:avLst/>
          </a:prstGeom>
        </p:spPr>
      </p:pic>
      <p:sp>
        <p:nvSpPr>
          <p:cNvPr id="8" name="TextBox 7"/>
          <p:cNvSpPr txBox="1"/>
          <p:nvPr/>
        </p:nvSpPr>
        <p:spPr>
          <a:xfrm>
            <a:off x="4860000" y="1512000"/>
            <a:ext cx="6660000" cy="360000"/>
          </a:xfrm>
          <a:prstGeom prst="rect">
            <a:avLst/>
          </a:prstGeom>
          <a:noFill/>
        </p:spPr>
        <p:txBody>
          <a:bodyPr wrap="square">
            <a:spAutoFit/>
          </a:bodyPr>
          <a:lstStyle/>
          <a:p>
            <a:pPr>
              <a:spcAft>
                <a:spcPts val="400"/>
              </a:spcAft>
            </a:pPr>
            <a:r>
              <a:rPr sz="1300" b="1">
                <a:solidFill>
                  <a:srgbClr val="FF8A00"/>
                </a:solidFill>
                <a:latin typeface="Inter"/>
              </a:rPr>
              <a:t>Texte de la publication</a:t>
            </a:r>
          </a:p>
        </p:txBody>
      </p:sp>
      <p:sp>
        <p:nvSpPr>
          <p:cNvPr id="9" name="TextBox 8"/>
          <p:cNvSpPr txBox="1"/>
          <p:nvPr/>
        </p:nvSpPr>
        <p:spPr>
          <a:xfrm>
            <a:off x="4860000" y="1872000"/>
            <a:ext cx="6660000" cy="3600000"/>
          </a:xfrm>
          <a:prstGeom prst="rect">
            <a:avLst/>
          </a:prstGeom>
          <a:noFill/>
        </p:spPr>
        <p:txBody>
          <a:bodyPr wrap="square">
            <a:spAutoFit/>
          </a:bodyPr>
          <a:lstStyle/>
          <a:p>
            <a:pPr>
              <a:spcAft>
                <a:spcPts val="400"/>
              </a:spcAft>
            </a:pPr>
            <a:r>
              <a:rPr sz="1300" b="0">
                <a:solidFill>
                  <a:srgbClr val="062A26"/>
                </a:solidFill>
                <a:latin typeface="Inter"/>
              </a:rPr>
              <a:t>Il y a un an, IMPACT IA réunissait l'État, les entreprises, les chercheurs et les startups autour de l'intelligence artificielle. 77 cas d'usage prioritaires en sont sortis.</a:t>
            </a:r>
          </a:p>
          <a:p>
            <a:pPr>
              <a:spcAft>
                <a:spcPts val="400"/>
              </a:spcAft>
            </a:pPr>
            <a:r>
              <a:rPr sz="1300" b="0">
                <a:solidFill>
                  <a:srgbClr val="062A26"/>
                </a:solidFill>
                <a:latin typeface="Inter"/>
              </a:rPr>
              <a:t/>
            </a:r>
          </a:p>
          <a:p>
            <a:pPr>
              <a:spcAft>
                <a:spcPts val="400"/>
              </a:spcAft>
            </a:pPr>
            <a:r>
              <a:rPr sz="1300" b="0">
                <a:solidFill>
                  <a:srgbClr val="062A26"/>
                </a:solidFill>
                <a:latin typeface="Inter"/>
              </a:rPr>
              <a:t>En 2027, on passe à la vitesse supérieure. Annonce officielle le 12 janvier.</a:t>
            </a:r>
          </a:p>
          <a:p>
            <a:pPr>
              <a:spcAft>
                <a:spcPts val="400"/>
              </a:spcAft>
            </a:pPr>
            <a:r>
              <a:rPr sz="1300" b="0">
                <a:solidFill>
                  <a:srgbClr val="062A26"/>
                </a:solidFill>
                <a:latin typeface="Inter"/>
              </a:rPr>
              <a:t/>
            </a:r>
          </a:p>
          <a:p>
            <a:pPr>
              <a:spcAft>
                <a:spcPts val="400"/>
              </a:spcAft>
            </a:pPr>
            <a:r>
              <a:rPr sz="1300" b="0">
                <a:solidFill>
                  <a:srgbClr val="062A26"/>
                </a:solidFill>
                <a:latin typeface="Inter"/>
              </a:rPr>
              <a:t>#AccelerateIA2027 #IAenCôtedIvoire</a:t>
            </a:r>
          </a:p>
        </p:txBody>
      </p:sp>
      <p:sp>
        <p:nvSpPr>
          <p:cNvPr id="10" name="TextBox 9"/>
          <p:cNvSpPr txBox="1"/>
          <p:nvPr/>
        </p:nvSpPr>
        <p:spPr>
          <a:xfrm>
            <a:off x="4860000" y="5868000"/>
            <a:ext cx="6660000" cy="720000"/>
          </a:xfrm>
          <a:prstGeom prst="rect">
            <a:avLst/>
          </a:prstGeom>
          <a:noFill/>
        </p:spPr>
        <p:txBody>
          <a:bodyPr wrap="square">
            <a:spAutoFit/>
          </a:bodyPr>
          <a:lstStyle/>
          <a:p>
            <a:pPr>
              <a:spcAft>
                <a:spcPts val="400"/>
              </a:spcAft>
            </a:pPr>
            <a:r>
              <a:rPr sz="1000" b="0">
                <a:solidFill>
                  <a:srgbClr val="3B4B48"/>
                </a:solidFill>
                <a:latin typeface="Inter"/>
              </a:rPr>
              <a:t>Format 4:5 (1080 × 1350) · LinkedIn, Facebook, Instagram · version X : texte réduit à la première phrase + lien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MAR. 12 JANV. · 10 H</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Annonce officielle</a:t>
            </a:r>
          </a:p>
        </p:txBody>
      </p:sp>
      <p:pic>
        <p:nvPicPr>
          <p:cNvPr id="7" name="Picture 6" descr="post02_annonce.jpg"/>
          <p:cNvPicPr>
            <a:picLocks noChangeAspect="1"/>
          </p:cNvPicPr>
          <p:nvPr/>
        </p:nvPicPr>
        <p:blipFill>
          <a:blip r:embed="rId3"/>
          <a:stretch>
            <a:fillRect/>
          </a:stretch>
        </p:blipFill>
        <p:spPr>
          <a:xfrm>
            <a:off x="540000" y="1512000"/>
            <a:ext cx="4032000" cy="5040000"/>
          </a:xfrm>
          <a:prstGeom prst="rect">
            <a:avLst/>
          </a:prstGeom>
        </p:spPr>
      </p:pic>
      <p:sp>
        <p:nvSpPr>
          <p:cNvPr id="8" name="TextBox 7"/>
          <p:cNvSpPr txBox="1"/>
          <p:nvPr/>
        </p:nvSpPr>
        <p:spPr>
          <a:xfrm>
            <a:off x="4860000" y="1512000"/>
            <a:ext cx="6660000" cy="360000"/>
          </a:xfrm>
          <a:prstGeom prst="rect">
            <a:avLst/>
          </a:prstGeom>
          <a:noFill/>
        </p:spPr>
        <p:txBody>
          <a:bodyPr wrap="square">
            <a:spAutoFit/>
          </a:bodyPr>
          <a:lstStyle/>
          <a:p>
            <a:pPr>
              <a:spcAft>
                <a:spcPts val="400"/>
              </a:spcAft>
            </a:pPr>
            <a:r>
              <a:rPr sz="1300" b="1">
                <a:solidFill>
                  <a:srgbClr val="FF8A00"/>
                </a:solidFill>
                <a:latin typeface="Inter"/>
              </a:rPr>
              <a:t>Texte de la publication</a:t>
            </a:r>
          </a:p>
        </p:txBody>
      </p:sp>
      <p:sp>
        <p:nvSpPr>
          <p:cNvPr id="9" name="TextBox 8"/>
          <p:cNvSpPr txBox="1"/>
          <p:nvPr/>
        </p:nvSpPr>
        <p:spPr>
          <a:xfrm>
            <a:off x="4860000" y="1872000"/>
            <a:ext cx="6660000" cy="3600000"/>
          </a:xfrm>
          <a:prstGeom prst="rect">
            <a:avLst/>
          </a:prstGeom>
          <a:noFill/>
        </p:spPr>
        <p:txBody>
          <a:bodyPr wrap="square">
            <a:spAutoFit/>
          </a:bodyPr>
          <a:lstStyle/>
          <a:p>
            <a:pPr>
              <a:spcAft>
                <a:spcPts val="400"/>
              </a:spcAft>
            </a:pPr>
            <a:r>
              <a:rPr sz="1300" b="0">
                <a:solidFill>
                  <a:srgbClr val="062A26"/>
                </a:solidFill>
                <a:latin typeface="Inter"/>
              </a:rPr>
              <a:t>C'est officiel : les 3e assises nationales sur l'intelligence artificielle s'appellent ACCELERATE IA. Elles se tiendront du 8 au 10 septembre 2027 à Abidjan.</a:t>
            </a:r>
          </a:p>
          <a:p>
            <a:pPr>
              <a:spcAft>
                <a:spcPts val="400"/>
              </a:spcAft>
            </a:pPr>
            <a:r>
              <a:rPr sz="1300" b="0">
                <a:solidFill>
                  <a:srgbClr val="062A26"/>
                </a:solidFill>
                <a:latin typeface="Inter"/>
              </a:rPr>
              <a:t/>
            </a:r>
          </a:p>
          <a:p>
            <a:pPr>
              <a:spcAft>
                <a:spcPts val="400"/>
              </a:spcAft>
            </a:pPr>
            <a:r>
              <a:rPr sz="1300" b="0">
                <a:solidFill>
                  <a:srgbClr val="062A26"/>
                </a:solidFill>
                <a:latin typeface="Inter"/>
              </a:rPr>
              <a:t>Après la vision en 2025 et les cas d'usage en 2026, place au déploiement. Thème : « Des cas d'usage au déploiement : accélérer l'IA au service des Ivoiriens ».</a:t>
            </a:r>
          </a:p>
          <a:p>
            <a:pPr>
              <a:spcAft>
                <a:spcPts val="400"/>
              </a:spcAft>
            </a:pPr>
            <a:r>
              <a:rPr sz="1300" b="0">
                <a:solidFill>
                  <a:srgbClr val="062A26"/>
                </a:solidFill>
                <a:latin typeface="Inter"/>
              </a:rPr>
              <a:t/>
            </a:r>
          </a:p>
          <a:p>
            <a:pPr>
              <a:spcAft>
                <a:spcPts val="400"/>
              </a:spcAft>
            </a:pPr>
            <a:r>
              <a:rPr sz="1300" b="0">
                <a:solidFill>
                  <a:srgbClr val="062A26"/>
                </a:solidFill>
                <a:latin typeface="Inter"/>
              </a:rPr>
              <a:t>#AccelerateIA2027 #IAenCôtedIvoire</a:t>
            </a:r>
          </a:p>
        </p:txBody>
      </p:sp>
      <p:sp>
        <p:nvSpPr>
          <p:cNvPr id="10" name="TextBox 9"/>
          <p:cNvSpPr txBox="1"/>
          <p:nvPr/>
        </p:nvSpPr>
        <p:spPr>
          <a:xfrm>
            <a:off x="4860000" y="5868000"/>
            <a:ext cx="6660000" cy="720000"/>
          </a:xfrm>
          <a:prstGeom prst="rect">
            <a:avLst/>
          </a:prstGeom>
          <a:noFill/>
        </p:spPr>
        <p:txBody>
          <a:bodyPr wrap="square">
            <a:spAutoFit/>
          </a:bodyPr>
          <a:lstStyle/>
          <a:p>
            <a:pPr>
              <a:spcAft>
                <a:spcPts val="400"/>
              </a:spcAft>
            </a:pPr>
            <a:r>
              <a:rPr sz="1000" b="0">
                <a:solidFill>
                  <a:srgbClr val="3B4B48"/>
                </a:solidFill>
                <a:latin typeface="Inter"/>
              </a:rPr>
              <a:t>Format 4:5 (1080 × 1350) · LinkedIn, Facebook, Instagram · version X : texte réduit à la première phrase + lien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JEU. 14 JANV. · 10 H</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Rappel IMPACT IA</a:t>
            </a:r>
          </a:p>
        </p:txBody>
      </p:sp>
      <p:pic>
        <p:nvPicPr>
          <p:cNvPr id="7" name="Picture 6" descr="post03_77.jpg"/>
          <p:cNvPicPr>
            <a:picLocks noChangeAspect="1"/>
          </p:cNvPicPr>
          <p:nvPr/>
        </p:nvPicPr>
        <p:blipFill>
          <a:blip r:embed="rId3"/>
          <a:stretch>
            <a:fillRect/>
          </a:stretch>
        </p:blipFill>
        <p:spPr>
          <a:xfrm>
            <a:off x="540000" y="1512000"/>
            <a:ext cx="4032000" cy="5040000"/>
          </a:xfrm>
          <a:prstGeom prst="rect">
            <a:avLst/>
          </a:prstGeom>
        </p:spPr>
      </p:pic>
      <p:sp>
        <p:nvSpPr>
          <p:cNvPr id="8" name="TextBox 7"/>
          <p:cNvSpPr txBox="1"/>
          <p:nvPr/>
        </p:nvSpPr>
        <p:spPr>
          <a:xfrm>
            <a:off x="4860000" y="1512000"/>
            <a:ext cx="6660000" cy="360000"/>
          </a:xfrm>
          <a:prstGeom prst="rect">
            <a:avLst/>
          </a:prstGeom>
          <a:noFill/>
        </p:spPr>
        <p:txBody>
          <a:bodyPr wrap="square">
            <a:spAutoFit/>
          </a:bodyPr>
          <a:lstStyle/>
          <a:p>
            <a:pPr>
              <a:spcAft>
                <a:spcPts val="400"/>
              </a:spcAft>
            </a:pPr>
            <a:r>
              <a:rPr sz="1300" b="1">
                <a:solidFill>
                  <a:srgbClr val="FF8A00"/>
                </a:solidFill>
                <a:latin typeface="Inter"/>
              </a:rPr>
              <a:t>Texte de la publication</a:t>
            </a:r>
          </a:p>
        </p:txBody>
      </p:sp>
      <p:sp>
        <p:nvSpPr>
          <p:cNvPr id="9" name="TextBox 8"/>
          <p:cNvSpPr txBox="1"/>
          <p:nvPr/>
        </p:nvSpPr>
        <p:spPr>
          <a:xfrm>
            <a:off x="4860000" y="1872000"/>
            <a:ext cx="6660000" cy="3600000"/>
          </a:xfrm>
          <a:prstGeom prst="rect">
            <a:avLst/>
          </a:prstGeom>
          <a:noFill/>
        </p:spPr>
        <p:txBody>
          <a:bodyPr wrap="square">
            <a:spAutoFit/>
          </a:bodyPr>
          <a:lstStyle/>
          <a:p>
            <a:pPr>
              <a:spcAft>
                <a:spcPts val="400"/>
              </a:spcAft>
            </a:pPr>
            <a:r>
              <a:rPr sz="1300" b="0">
                <a:solidFill>
                  <a:srgbClr val="062A26"/>
                </a:solidFill>
                <a:latin typeface="Inter"/>
              </a:rPr>
              <a:t>77. C'est le nombre de cas d'usage de l'IA retenus lors d'IMPACT IA 2026, dans l'administration, l'agriculture, la santé, l'éducation et les services aux populations.</a:t>
            </a:r>
          </a:p>
          <a:p>
            <a:pPr>
              <a:spcAft>
                <a:spcPts val="400"/>
              </a:spcAft>
            </a:pPr>
            <a:r>
              <a:rPr sz="1300" b="0">
                <a:solidFill>
                  <a:srgbClr val="062A26"/>
                </a:solidFill>
                <a:latin typeface="Inter"/>
              </a:rPr>
              <a:t/>
            </a:r>
          </a:p>
          <a:p>
            <a:pPr>
              <a:spcAft>
                <a:spcPts val="400"/>
              </a:spcAft>
            </a:pPr>
            <a:r>
              <a:rPr sz="1300" b="0">
                <a:solidFill>
                  <a:srgbClr val="062A26"/>
                </a:solidFill>
                <a:latin typeface="Inter"/>
              </a:rPr>
              <a:t>À ACCELERATE IA, nous présenterons publiquement l'état d'avancement de chacun : le Bilan des 77.</a:t>
            </a:r>
          </a:p>
          <a:p>
            <a:pPr>
              <a:spcAft>
                <a:spcPts val="400"/>
              </a:spcAft>
            </a:pPr>
            <a:r>
              <a:rPr sz="1300" b="0">
                <a:solidFill>
                  <a:srgbClr val="062A26"/>
                </a:solidFill>
                <a:latin typeface="Inter"/>
              </a:rPr>
              <a:t/>
            </a:r>
          </a:p>
          <a:p>
            <a:pPr>
              <a:spcAft>
                <a:spcPts val="400"/>
              </a:spcAft>
            </a:pPr>
            <a:r>
              <a:rPr sz="1300" b="0">
                <a:solidFill>
                  <a:srgbClr val="062A26"/>
                </a:solidFill>
                <a:latin typeface="Inter"/>
              </a:rPr>
              <a:t>#AccelerateIA2027 #IAenCôtedIvoire</a:t>
            </a:r>
          </a:p>
        </p:txBody>
      </p:sp>
      <p:sp>
        <p:nvSpPr>
          <p:cNvPr id="10" name="TextBox 9"/>
          <p:cNvSpPr txBox="1"/>
          <p:nvPr/>
        </p:nvSpPr>
        <p:spPr>
          <a:xfrm>
            <a:off x="4860000" y="5868000"/>
            <a:ext cx="6660000" cy="720000"/>
          </a:xfrm>
          <a:prstGeom prst="rect">
            <a:avLst/>
          </a:prstGeom>
          <a:noFill/>
        </p:spPr>
        <p:txBody>
          <a:bodyPr wrap="square">
            <a:spAutoFit/>
          </a:bodyPr>
          <a:lstStyle/>
          <a:p>
            <a:pPr>
              <a:spcAft>
                <a:spcPts val="400"/>
              </a:spcAft>
            </a:pPr>
            <a:r>
              <a:rPr sz="1000" b="0">
                <a:solidFill>
                  <a:srgbClr val="3B4B48"/>
                </a:solidFill>
                <a:latin typeface="Inter"/>
              </a:rPr>
              <a:t>Format 4:5 (1080 × 1350) · LinkedIn, Facebook, Instagram · version X : texte réduit à la première phrase + lien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MAR. 19 JANV. · 10 H</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Le thème</a:t>
            </a:r>
          </a:p>
        </p:txBody>
      </p:sp>
      <p:pic>
        <p:nvPicPr>
          <p:cNvPr id="7" name="Picture 6" descr="post04_theme.jpg"/>
          <p:cNvPicPr>
            <a:picLocks noChangeAspect="1"/>
          </p:cNvPicPr>
          <p:nvPr/>
        </p:nvPicPr>
        <p:blipFill>
          <a:blip r:embed="rId3"/>
          <a:stretch>
            <a:fillRect/>
          </a:stretch>
        </p:blipFill>
        <p:spPr>
          <a:xfrm>
            <a:off x="540000" y="1512000"/>
            <a:ext cx="4032000" cy="5040000"/>
          </a:xfrm>
          <a:prstGeom prst="rect">
            <a:avLst/>
          </a:prstGeom>
        </p:spPr>
      </p:pic>
      <p:sp>
        <p:nvSpPr>
          <p:cNvPr id="8" name="TextBox 7"/>
          <p:cNvSpPr txBox="1"/>
          <p:nvPr/>
        </p:nvSpPr>
        <p:spPr>
          <a:xfrm>
            <a:off x="4860000" y="1512000"/>
            <a:ext cx="6660000" cy="360000"/>
          </a:xfrm>
          <a:prstGeom prst="rect">
            <a:avLst/>
          </a:prstGeom>
          <a:noFill/>
        </p:spPr>
        <p:txBody>
          <a:bodyPr wrap="square">
            <a:spAutoFit/>
          </a:bodyPr>
          <a:lstStyle/>
          <a:p>
            <a:pPr>
              <a:spcAft>
                <a:spcPts val="400"/>
              </a:spcAft>
            </a:pPr>
            <a:r>
              <a:rPr sz="1300" b="1">
                <a:solidFill>
                  <a:srgbClr val="FF8A00"/>
                </a:solidFill>
                <a:latin typeface="Inter"/>
              </a:rPr>
              <a:t>Texte de la publication</a:t>
            </a:r>
          </a:p>
        </p:txBody>
      </p:sp>
      <p:sp>
        <p:nvSpPr>
          <p:cNvPr id="9" name="TextBox 8"/>
          <p:cNvSpPr txBox="1"/>
          <p:nvPr/>
        </p:nvSpPr>
        <p:spPr>
          <a:xfrm>
            <a:off x="4860000" y="1872000"/>
            <a:ext cx="6660000" cy="3600000"/>
          </a:xfrm>
          <a:prstGeom prst="rect">
            <a:avLst/>
          </a:prstGeom>
          <a:noFill/>
        </p:spPr>
        <p:txBody>
          <a:bodyPr wrap="square">
            <a:spAutoFit/>
          </a:bodyPr>
          <a:lstStyle/>
          <a:p>
            <a:pPr>
              <a:spcAft>
                <a:spcPts val="400"/>
              </a:spcAft>
            </a:pPr>
            <a:r>
              <a:rPr sz="1300" b="0">
                <a:solidFill>
                  <a:srgbClr val="062A26"/>
                </a:solidFill>
                <a:latin typeface="Inter"/>
              </a:rPr>
              <a:t>Le thème d'ACCELERATE IA 2027 tient en une ligne : des cas d'usage au déploiement.</a:t>
            </a:r>
          </a:p>
          <a:p>
            <a:pPr>
              <a:spcAft>
                <a:spcPts val="400"/>
              </a:spcAft>
            </a:pPr>
            <a:r>
              <a:rPr sz="1300" b="0">
                <a:solidFill>
                  <a:srgbClr val="062A26"/>
                </a:solidFill>
                <a:latin typeface="Inter"/>
              </a:rPr>
              <a:t/>
            </a:r>
          </a:p>
          <a:p>
            <a:pPr>
              <a:spcAft>
                <a:spcPts val="400"/>
              </a:spcAft>
            </a:pPr>
            <a:r>
              <a:rPr sz="1300" b="0">
                <a:solidFill>
                  <a:srgbClr val="062A26"/>
                </a:solidFill>
                <a:latin typeface="Inter"/>
              </a:rPr>
              <a:t>L'objectif est de montrer l'IA qui fonctionne déjà en Côte d'Ivoire, et d'engager les moyens pour la déployer partout.</a:t>
            </a:r>
          </a:p>
          <a:p>
            <a:pPr>
              <a:spcAft>
                <a:spcPts val="400"/>
              </a:spcAft>
            </a:pPr>
            <a:r>
              <a:rPr sz="1300" b="0">
                <a:solidFill>
                  <a:srgbClr val="062A26"/>
                </a:solidFill>
                <a:latin typeface="Inter"/>
              </a:rPr>
              <a:t/>
            </a:r>
          </a:p>
          <a:p>
            <a:pPr>
              <a:spcAft>
                <a:spcPts val="400"/>
              </a:spcAft>
            </a:pPr>
            <a:r>
              <a:rPr sz="1300" b="0">
                <a:solidFill>
                  <a:srgbClr val="062A26"/>
                </a:solidFill>
                <a:latin typeface="Inter"/>
              </a:rPr>
              <a:t>#AccelerateIA2027 #IAenCôtedIvoire</a:t>
            </a:r>
          </a:p>
        </p:txBody>
      </p:sp>
      <p:sp>
        <p:nvSpPr>
          <p:cNvPr id="10" name="TextBox 9"/>
          <p:cNvSpPr txBox="1"/>
          <p:nvPr/>
        </p:nvSpPr>
        <p:spPr>
          <a:xfrm>
            <a:off x="4860000" y="5868000"/>
            <a:ext cx="6660000" cy="720000"/>
          </a:xfrm>
          <a:prstGeom prst="rect">
            <a:avLst/>
          </a:prstGeom>
          <a:noFill/>
        </p:spPr>
        <p:txBody>
          <a:bodyPr wrap="square">
            <a:spAutoFit/>
          </a:bodyPr>
          <a:lstStyle/>
          <a:p>
            <a:pPr>
              <a:spcAft>
                <a:spcPts val="400"/>
              </a:spcAft>
            </a:pPr>
            <a:r>
              <a:rPr sz="1000" b="0">
                <a:solidFill>
                  <a:srgbClr val="3B4B48"/>
                </a:solidFill>
                <a:latin typeface="Inter"/>
              </a:rPr>
              <a:t>Format 4:5 (1080 × 1350) · LinkedIn, Facebook, Instagram · version X : texte réduit à la première phrase + lien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JEU. 21 JANV. · 10 H</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Ce qui change</a:t>
            </a:r>
          </a:p>
        </p:txBody>
      </p:sp>
      <p:pic>
        <p:nvPicPr>
          <p:cNvPr id="7" name="Picture 6" descr="post05_partis-pris.jpg"/>
          <p:cNvPicPr>
            <a:picLocks noChangeAspect="1"/>
          </p:cNvPicPr>
          <p:nvPr/>
        </p:nvPicPr>
        <p:blipFill>
          <a:blip r:embed="rId3"/>
          <a:stretch>
            <a:fillRect/>
          </a:stretch>
        </p:blipFill>
        <p:spPr>
          <a:xfrm>
            <a:off x="540000" y="1512000"/>
            <a:ext cx="4032000" cy="5040000"/>
          </a:xfrm>
          <a:prstGeom prst="rect">
            <a:avLst/>
          </a:prstGeom>
        </p:spPr>
      </p:pic>
      <p:sp>
        <p:nvSpPr>
          <p:cNvPr id="8" name="TextBox 7"/>
          <p:cNvSpPr txBox="1"/>
          <p:nvPr/>
        </p:nvSpPr>
        <p:spPr>
          <a:xfrm>
            <a:off x="4860000" y="1512000"/>
            <a:ext cx="6660000" cy="360000"/>
          </a:xfrm>
          <a:prstGeom prst="rect">
            <a:avLst/>
          </a:prstGeom>
          <a:noFill/>
        </p:spPr>
        <p:txBody>
          <a:bodyPr wrap="square">
            <a:spAutoFit/>
          </a:bodyPr>
          <a:lstStyle/>
          <a:p>
            <a:pPr>
              <a:spcAft>
                <a:spcPts val="400"/>
              </a:spcAft>
            </a:pPr>
            <a:r>
              <a:rPr sz="1300" b="1">
                <a:solidFill>
                  <a:srgbClr val="FF8A00"/>
                </a:solidFill>
                <a:latin typeface="Inter"/>
              </a:rPr>
              <a:t>Texte de la publication</a:t>
            </a:r>
          </a:p>
        </p:txBody>
      </p:sp>
      <p:sp>
        <p:nvSpPr>
          <p:cNvPr id="9" name="TextBox 8"/>
          <p:cNvSpPr txBox="1"/>
          <p:nvPr/>
        </p:nvSpPr>
        <p:spPr>
          <a:xfrm>
            <a:off x="4860000" y="1872000"/>
            <a:ext cx="6660000" cy="3600000"/>
          </a:xfrm>
          <a:prstGeom prst="rect">
            <a:avLst/>
          </a:prstGeom>
          <a:noFill/>
        </p:spPr>
        <p:txBody>
          <a:bodyPr wrap="square">
            <a:spAutoFit/>
          </a:bodyPr>
          <a:lstStyle/>
          <a:p>
            <a:pPr>
              <a:spcAft>
                <a:spcPts val="400"/>
              </a:spcAft>
            </a:pPr>
            <a:r>
              <a:rPr sz="1300" b="0">
                <a:solidFill>
                  <a:srgbClr val="062A26"/>
                </a:solidFill>
                <a:latin typeface="Inter"/>
              </a:rPr>
              <a:t>Trois choses changent en 2027.</a:t>
            </a:r>
          </a:p>
          <a:p>
            <a:pPr>
              <a:spcAft>
                <a:spcPts val="400"/>
              </a:spcAft>
            </a:pPr>
            <a:r>
              <a:rPr sz="1300" b="0">
                <a:solidFill>
                  <a:srgbClr val="062A26"/>
                </a:solidFill>
                <a:latin typeface="Inter"/>
              </a:rPr>
              <a:t>1. Rendre des comptes : un état public des 77 cas d'usage.</a:t>
            </a:r>
          </a:p>
          <a:p>
            <a:pPr>
              <a:spcAft>
                <a:spcPts val="400"/>
              </a:spcAft>
            </a:pPr>
            <a:r>
              <a:rPr sz="1300" b="0">
                <a:solidFill>
                  <a:srgbClr val="062A26"/>
                </a:solidFill>
                <a:latin typeface="Inter"/>
              </a:rPr>
              <a:t>2. Montrer : chaque déploiement présenté par ceux qui l'utilisent.</a:t>
            </a:r>
          </a:p>
          <a:p>
            <a:pPr>
              <a:spcAft>
                <a:spcPts val="400"/>
              </a:spcAft>
            </a:pPr>
            <a:r>
              <a:rPr sz="1300" b="0">
                <a:solidFill>
                  <a:srgbClr val="062A26"/>
                </a:solidFill>
                <a:latin typeface="Inter"/>
              </a:rPr>
              <a:t>3. S'engager : des conventions, des pilotes et des financements signés sur place.</a:t>
            </a:r>
          </a:p>
          <a:p>
            <a:pPr>
              <a:spcAft>
                <a:spcPts val="400"/>
              </a:spcAft>
            </a:pPr>
            <a:r>
              <a:rPr sz="1300" b="0">
                <a:solidFill>
                  <a:srgbClr val="062A26"/>
                </a:solidFill>
                <a:latin typeface="Inter"/>
              </a:rPr>
              <a:t/>
            </a:r>
          </a:p>
          <a:p>
            <a:pPr>
              <a:spcAft>
                <a:spcPts val="400"/>
              </a:spcAft>
            </a:pPr>
            <a:r>
              <a:rPr sz="1300" b="0">
                <a:solidFill>
                  <a:srgbClr val="062A26"/>
                </a:solidFill>
                <a:latin typeface="Inter"/>
              </a:rPr>
              <a:t>#AccelerateIA2027 #IAenCôtedIvoire</a:t>
            </a:r>
          </a:p>
        </p:txBody>
      </p:sp>
      <p:sp>
        <p:nvSpPr>
          <p:cNvPr id="10" name="TextBox 9"/>
          <p:cNvSpPr txBox="1"/>
          <p:nvPr/>
        </p:nvSpPr>
        <p:spPr>
          <a:xfrm>
            <a:off x="4860000" y="5868000"/>
            <a:ext cx="6660000" cy="720000"/>
          </a:xfrm>
          <a:prstGeom prst="rect">
            <a:avLst/>
          </a:prstGeom>
          <a:noFill/>
        </p:spPr>
        <p:txBody>
          <a:bodyPr wrap="square">
            <a:spAutoFit/>
          </a:bodyPr>
          <a:lstStyle/>
          <a:p>
            <a:pPr>
              <a:spcAft>
                <a:spcPts val="400"/>
              </a:spcAft>
            </a:pPr>
            <a:r>
              <a:rPr sz="1000" b="0">
                <a:solidFill>
                  <a:srgbClr val="3B4B48"/>
                </a:solidFill>
                <a:latin typeface="Inter"/>
              </a:rPr>
              <a:t>Format 4:5 (1080 × 1350) · LinkedIn, Facebook, Instagram · version X : texte réduit à la première phrase + lien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MAR. 26 JANV. · 10 H</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Alliance nationale</a:t>
            </a:r>
          </a:p>
        </p:txBody>
      </p:sp>
      <p:pic>
        <p:nvPicPr>
          <p:cNvPr id="7" name="Picture 6" descr="post06_alliance.jpg"/>
          <p:cNvPicPr>
            <a:picLocks noChangeAspect="1"/>
          </p:cNvPicPr>
          <p:nvPr/>
        </p:nvPicPr>
        <p:blipFill>
          <a:blip r:embed="rId3"/>
          <a:stretch>
            <a:fillRect/>
          </a:stretch>
        </p:blipFill>
        <p:spPr>
          <a:xfrm>
            <a:off x="540000" y="1512000"/>
            <a:ext cx="4032000" cy="5040000"/>
          </a:xfrm>
          <a:prstGeom prst="rect">
            <a:avLst/>
          </a:prstGeom>
        </p:spPr>
      </p:pic>
      <p:sp>
        <p:nvSpPr>
          <p:cNvPr id="8" name="TextBox 7"/>
          <p:cNvSpPr txBox="1"/>
          <p:nvPr/>
        </p:nvSpPr>
        <p:spPr>
          <a:xfrm>
            <a:off x="4860000" y="1512000"/>
            <a:ext cx="6660000" cy="360000"/>
          </a:xfrm>
          <a:prstGeom prst="rect">
            <a:avLst/>
          </a:prstGeom>
          <a:noFill/>
        </p:spPr>
        <p:txBody>
          <a:bodyPr wrap="square">
            <a:spAutoFit/>
          </a:bodyPr>
          <a:lstStyle/>
          <a:p>
            <a:pPr>
              <a:spcAft>
                <a:spcPts val="400"/>
              </a:spcAft>
            </a:pPr>
            <a:r>
              <a:rPr sz="1300" b="1">
                <a:solidFill>
                  <a:srgbClr val="FF8A00"/>
                </a:solidFill>
                <a:latin typeface="Inter"/>
              </a:rPr>
              <a:t>Texte de la publication</a:t>
            </a:r>
          </a:p>
        </p:txBody>
      </p:sp>
      <p:sp>
        <p:nvSpPr>
          <p:cNvPr id="9" name="TextBox 8"/>
          <p:cNvSpPr txBox="1"/>
          <p:nvPr/>
        </p:nvSpPr>
        <p:spPr>
          <a:xfrm>
            <a:off x="4860000" y="1872000"/>
            <a:ext cx="6660000" cy="3600000"/>
          </a:xfrm>
          <a:prstGeom prst="rect">
            <a:avLst/>
          </a:prstGeom>
          <a:noFill/>
        </p:spPr>
        <p:txBody>
          <a:bodyPr wrap="square">
            <a:spAutoFit/>
          </a:bodyPr>
          <a:lstStyle/>
          <a:p>
            <a:pPr>
              <a:spcAft>
                <a:spcPts val="400"/>
              </a:spcAft>
            </a:pPr>
            <a:r>
              <a:rPr sz="1300" b="0">
                <a:solidFill>
                  <a:srgbClr val="062A26"/>
                </a:solidFill>
                <a:latin typeface="Inter"/>
              </a:rPr>
              <a:t>En septembre 2026, l'État, la CGECI et la Chambre de commerce et d'industrie signaient le Pacte de l'Alliance nationale pour l'IA.</a:t>
            </a:r>
          </a:p>
          <a:p>
            <a:pPr>
              <a:spcAft>
                <a:spcPts val="400"/>
              </a:spcAft>
            </a:pPr>
            <a:r>
              <a:rPr sz="1300" b="0">
                <a:solidFill>
                  <a:srgbClr val="062A26"/>
                </a:solidFill>
                <a:latin typeface="Inter"/>
              </a:rPr>
              <a:t/>
            </a:r>
          </a:p>
          <a:p>
            <a:pPr>
              <a:spcAft>
                <a:spcPts val="400"/>
              </a:spcAft>
            </a:pPr>
            <a:r>
              <a:rPr sz="1300" b="0">
                <a:solidFill>
                  <a:srgbClr val="062A26"/>
                </a:solidFill>
                <a:latin typeface="Inter"/>
              </a:rPr>
              <a:t>À ACCELERATE IA, les signataires présenteront ce qu'ils ont engagé en un an, et ce qu'ils engagent pour 2028.</a:t>
            </a:r>
          </a:p>
          <a:p>
            <a:pPr>
              <a:spcAft>
                <a:spcPts val="400"/>
              </a:spcAft>
            </a:pPr>
            <a:r>
              <a:rPr sz="1300" b="0">
                <a:solidFill>
                  <a:srgbClr val="062A26"/>
                </a:solidFill>
                <a:latin typeface="Inter"/>
              </a:rPr>
              <a:t/>
            </a:r>
          </a:p>
          <a:p>
            <a:pPr>
              <a:spcAft>
                <a:spcPts val="400"/>
              </a:spcAft>
            </a:pPr>
            <a:r>
              <a:rPr sz="1300" b="0">
                <a:solidFill>
                  <a:srgbClr val="062A26"/>
                </a:solidFill>
                <a:latin typeface="Inter"/>
              </a:rPr>
              <a:t>#AccelerateIA2027 #IAenCôtedIvoire</a:t>
            </a:r>
          </a:p>
        </p:txBody>
      </p:sp>
      <p:sp>
        <p:nvSpPr>
          <p:cNvPr id="10" name="TextBox 9"/>
          <p:cNvSpPr txBox="1"/>
          <p:nvPr/>
        </p:nvSpPr>
        <p:spPr>
          <a:xfrm>
            <a:off x="4860000" y="5868000"/>
            <a:ext cx="6660000" cy="720000"/>
          </a:xfrm>
          <a:prstGeom prst="rect">
            <a:avLst/>
          </a:prstGeom>
          <a:noFill/>
        </p:spPr>
        <p:txBody>
          <a:bodyPr wrap="square">
            <a:spAutoFit/>
          </a:bodyPr>
          <a:lstStyle/>
          <a:p>
            <a:pPr>
              <a:spcAft>
                <a:spcPts val="400"/>
              </a:spcAft>
            </a:pPr>
            <a:r>
              <a:rPr sz="1000" b="0">
                <a:solidFill>
                  <a:srgbClr val="3B4B48"/>
                </a:solidFill>
                <a:latin typeface="Inter"/>
              </a:rPr>
              <a:t>Format 4:5 (1080 × 1350) · LinkedIn, Facebook, Instagram · version X : texte réduit à la première phrase + lien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MAR. 2 FÉVR. · 10 H</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Partenaires</a:t>
            </a:r>
          </a:p>
        </p:txBody>
      </p:sp>
      <p:pic>
        <p:nvPicPr>
          <p:cNvPr id="7" name="Picture 6" descr="post08_partenaires.jpg"/>
          <p:cNvPicPr>
            <a:picLocks noChangeAspect="1"/>
          </p:cNvPicPr>
          <p:nvPr/>
        </p:nvPicPr>
        <p:blipFill>
          <a:blip r:embed="rId3"/>
          <a:stretch>
            <a:fillRect/>
          </a:stretch>
        </p:blipFill>
        <p:spPr>
          <a:xfrm>
            <a:off x="540000" y="1512000"/>
            <a:ext cx="4032000" cy="5040000"/>
          </a:xfrm>
          <a:prstGeom prst="rect">
            <a:avLst/>
          </a:prstGeom>
        </p:spPr>
      </p:pic>
      <p:sp>
        <p:nvSpPr>
          <p:cNvPr id="8" name="TextBox 7"/>
          <p:cNvSpPr txBox="1"/>
          <p:nvPr/>
        </p:nvSpPr>
        <p:spPr>
          <a:xfrm>
            <a:off x="4860000" y="1512000"/>
            <a:ext cx="6660000" cy="360000"/>
          </a:xfrm>
          <a:prstGeom prst="rect">
            <a:avLst/>
          </a:prstGeom>
          <a:noFill/>
        </p:spPr>
        <p:txBody>
          <a:bodyPr wrap="square">
            <a:spAutoFit/>
          </a:bodyPr>
          <a:lstStyle/>
          <a:p>
            <a:pPr>
              <a:spcAft>
                <a:spcPts val="400"/>
              </a:spcAft>
            </a:pPr>
            <a:r>
              <a:rPr sz="1300" b="1">
                <a:solidFill>
                  <a:srgbClr val="FF8A00"/>
                </a:solidFill>
                <a:latin typeface="Inter"/>
              </a:rPr>
              <a:t>Texte de la publication</a:t>
            </a:r>
          </a:p>
        </p:txBody>
      </p:sp>
      <p:sp>
        <p:nvSpPr>
          <p:cNvPr id="9" name="TextBox 8"/>
          <p:cNvSpPr txBox="1"/>
          <p:nvPr/>
        </p:nvSpPr>
        <p:spPr>
          <a:xfrm>
            <a:off x="4860000" y="1872000"/>
            <a:ext cx="6660000" cy="3600000"/>
          </a:xfrm>
          <a:prstGeom prst="rect">
            <a:avLst/>
          </a:prstGeom>
          <a:noFill/>
        </p:spPr>
        <p:txBody>
          <a:bodyPr wrap="square">
            <a:spAutoFit/>
          </a:bodyPr>
          <a:lstStyle/>
          <a:p>
            <a:pPr>
              <a:spcAft>
                <a:spcPts val="400"/>
              </a:spcAft>
            </a:pPr>
            <a:r>
              <a:rPr sz="1300" b="0">
                <a:solidFill>
                  <a:srgbClr val="062A26"/>
                </a:solidFill>
                <a:latin typeface="Inter"/>
              </a:rPr>
              <a:t>Entreprises, institutions, partenaires techniques et financiers : associez votre organisation à ACCELERATE IA.</a:t>
            </a:r>
          </a:p>
          <a:p>
            <a:pPr>
              <a:spcAft>
                <a:spcPts val="400"/>
              </a:spcAft>
            </a:pPr>
            <a:r>
              <a:rPr sz="1300" b="0">
                <a:solidFill>
                  <a:srgbClr val="062A26"/>
                </a:solidFill>
                <a:latin typeface="Inter"/>
              </a:rPr>
              <a:t/>
            </a:r>
          </a:p>
          <a:p>
            <a:pPr>
              <a:spcAft>
                <a:spcPts val="400"/>
              </a:spcAft>
            </a:pPr>
            <a:r>
              <a:rPr sz="1300" b="0">
                <a:solidFill>
                  <a:srgbClr val="062A26"/>
                </a:solidFill>
                <a:latin typeface="Inter"/>
              </a:rPr>
              <a:t>Quatre niveaux de partenariat, du Bronze au Platine : stand de démonstration, prise de parole, présence dans le Bilan des 77. Dossier partenaires sur demande.</a:t>
            </a:r>
          </a:p>
          <a:p>
            <a:pPr>
              <a:spcAft>
                <a:spcPts val="400"/>
              </a:spcAft>
            </a:pPr>
            <a:r>
              <a:rPr sz="1300" b="0">
                <a:solidFill>
                  <a:srgbClr val="062A26"/>
                </a:solidFill>
                <a:latin typeface="Inter"/>
              </a:rPr>
              <a:t/>
            </a:r>
          </a:p>
          <a:p>
            <a:pPr>
              <a:spcAft>
                <a:spcPts val="400"/>
              </a:spcAft>
            </a:pPr>
            <a:r>
              <a:rPr sz="1300" b="0">
                <a:solidFill>
                  <a:srgbClr val="062A26"/>
                </a:solidFill>
                <a:latin typeface="Inter"/>
              </a:rPr>
              <a:t>#AccelerateIA2027 #IAenCôtedIvoire</a:t>
            </a:r>
          </a:p>
        </p:txBody>
      </p:sp>
      <p:sp>
        <p:nvSpPr>
          <p:cNvPr id="10" name="TextBox 9"/>
          <p:cNvSpPr txBox="1"/>
          <p:nvPr/>
        </p:nvSpPr>
        <p:spPr>
          <a:xfrm>
            <a:off x="4860000" y="5868000"/>
            <a:ext cx="6660000" cy="720000"/>
          </a:xfrm>
          <a:prstGeom prst="rect">
            <a:avLst/>
          </a:prstGeom>
          <a:noFill/>
        </p:spPr>
        <p:txBody>
          <a:bodyPr wrap="square">
            <a:spAutoFit/>
          </a:bodyPr>
          <a:lstStyle/>
          <a:p>
            <a:pPr>
              <a:spcAft>
                <a:spcPts val="400"/>
              </a:spcAft>
            </a:pPr>
            <a:r>
              <a:rPr sz="1000" b="0">
                <a:solidFill>
                  <a:srgbClr val="3B4B48"/>
                </a:solidFill>
                <a:latin typeface="Inter"/>
              </a:rPr>
              <a:t>Format 4:5 (1080 × 1350) · LinkedIn, Facebook, Instagram · version X : texte réduit à la première phrase + lien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MAR. 9 FÉVR. · 10 H</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Réservez la date</a:t>
            </a:r>
          </a:p>
        </p:txBody>
      </p:sp>
      <p:pic>
        <p:nvPicPr>
          <p:cNvPr id="7" name="Picture 6" descr="post09_save-the-date.jpg"/>
          <p:cNvPicPr>
            <a:picLocks noChangeAspect="1"/>
          </p:cNvPicPr>
          <p:nvPr/>
        </p:nvPicPr>
        <p:blipFill>
          <a:blip r:embed="rId3"/>
          <a:stretch>
            <a:fillRect/>
          </a:stretch>
        </p:blipFill>
        <p:spPr>
          <a:xfrm>
            <a:off x="540000" y="1512000"/>
            <a:ext cx="4032000" cy="5040000"/>
          </a:xfrm>
          <a:prstGeom prst="rect">
            <a:avLst/>
          </a:prstGeom>
        </p:spPr>
      </p:pic>
      <p:sp>
        <p:nvSpPr>
          <p:cNvPr id="8" name="TextBox 7"/>
          <p:cNvSpPr txBox="1"/>
          <p:nvPr/>
        </p:nvSpPr>
        <p:spPr>
          <a:xfrm>
            <a:off x="4860000" y="1512000"/>
            <a:ext cx="6660000" cy="360000"/>
          </a:xfrm>
          <a:prstGeom prst="rect">
            <a:avLst/>
          </a:prstGeom>
          <a:noFill/>
        </p:spPr>
        <p:txBody>
          <a:bodyPr wrap="square">
            <a:spAutoFit/>
          </a:bodyPr>
          <a:lstStyle/>
          <a:p>
            <a:pPr>
              <a:spcAft>
                <a:spcPts val="400"/>
              </a:spcAft>
            </a:pPr>
            <a:r>
              <a:rPr sz="1300" b="1">
                <a:solidFill>
                  <a:srgbClr val="FF8A00"/>
                </a:solidFill>
                <a:latin typeface="Inter"/>
              </a:rPr>
              <a:t>Texte de la publication</a:t>
            </a:r>
          </a:p>
        </p:txBody>
      </p:sp>
      <p:sp>
        <p:nvSpPr>
          <p:cNvPr id="9" name="TextBox 8"/>
          <p:cNvSpPr txBox="1"/>
          <p:nvPr/>
        </p:nvSpPr>
        <p:spPr>
          <a:xfrm>
            <a:off x="4860000" y="1872000"/>
            <a:ext cx="6660000" cy="3600000"/>
          </a:xfrm>
          <a:prstGeom prst="rect">
            <a:avLst/>
          </a:prstGeom>
          <a:noFill/>
        </p:spPr>
        <p:txBody>
          <a:bodyPr wrap="square">
            <a:spAutoFit/>
          </a:bodyPr>
          <a:lstStyle/>
          <a:p>
            <a:pPr>
              <a:spcAft>
                <a:spcPts val="400"/>
              </a:spcAft>
            </a:pPr>
            <a:r>
              <a:rPr sz="1300" b="0">
                <a:solidFill>
                  <a:srgbClr val="062A26"/>
                </a:solidFill>
                <a:latin typeface="Inter"/>
              </a:rPr>
              <a:t>Notez-le dès maintenant : ACCELERATE IA, du 8 au 10 septembre 2027 à Abidjan.</a:t>
            </a:r>
          </a:p>
          <a:p>
            <a:pPr>
              <a:spcAft>
                <a:spcPts val="400"/>
              </a:spcAft>
            </a:pPr>
            <a:r>
              <a:rPr sz="1300" b="0">
                <a:solidFill>
                  <a:srgbClr val="062A26"/>
                </a:solidFill>
                <a:latin typeface="Inter"/>
              </a:rPr>
              <a:t/>
            </a:r>
          </a:p>
          <a:p>
            <a:pPr>
              <a:spcAft>
                <a:spcPts val="400"/>
              </a:spcAft>
            </a:pPr>
            <a:r>
              <a:rPr sz="1300" b="0">
                <a:solidFill>
                  <a:srgbClr val="062A26"/>
                </a:solidFill>
                <a:latin typeface="Inter"/>
              </a:rPr>
              <a:t>Trois jours pour voir l'IA en service, rencontrer ceux qui la financent et repartir avec un projet engagé.</a:t>
            </a:r>
          </a:p>
          <a:p>
            <a:pPr>
              <a:spcAft>
                <a:spcPts val="400"/>
              </a:spcAft>
            </a:pPr>
            <a:r>
              <a:rPr sz="1300" b="0">
                <a:solidFill>
                  <a:srgbClr val="062A26"/>
                </a:solidFill>
                <a:latin typeface="Inter"/>
              </a:rPr>
              <a:t/>
            </a:r>
          </a:p>
          <a:p>
            <a:pPr>
              <a:spcAft>
                <a:spcPts val="400"/>
              </a:spcAft>
            </a:pPr>
            <a:r>
              <a:rPr sz="1300" b="0">
                <a:solidFill>
                  <a:srgbClr val="062A26"/>
                </a:solidFill>
                <a:latin typeface="Inter"/>
              </a:rPr>
              <a:t>#AccelerateIA2027 #IAenCôtedIvoire</a:t>
            </a:r>
          </a:p>
        </p:txBody>
      </p:sp>
      <p:sp>
        <p:nvSpPr>
          <p:cNvPr id="10" name="TextBox 9"/>
          <p:cNvSpPr txBox="1"/>
          <p:nvPr/>
        </p:nvSpPr>
        <p:spPr>
          <a:xfrm>
            <a:off x="4860000" y="5868000"/>
            <a:ext cx="6660000" cy="720000"/>
          </a:xfrm>
          <a:prstGeom prst="rect">
            <a:avLst/>
          </a:prstGeom>
          <a:noFill/>
        </p:spPr>
        <p:txBody>
          <a:bodyPr wrap="square">
            <a:spAutoFit/>
          </a:bodyPr>
          <a:lstStyle/>
          <a:p>
            <a:pPr>
              <a:spcAft>
                <a:spcPts val="400"/>
              </a:spcAft>
            </a:pPr>
            <a:r>
              <a:rPr sz="1000" b="0">
                <a:solidFill>
                  <a:srgbClr val="3B4B48"/>
                </a:solidFill>
                <a:latin typeface="Inter"/>
              </a:rPr>
              <a:t>Format 4:5 (1080 × 1350) · LinkedIn, Facebook, Instagram · version X : texte réduit à la première phrase + lien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MAR. 16 FÉVR. · 10 H</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Prix ACCELERATE IA</a:t>
            </a:r>
          </a:p>
        </p:txBody>
      </p:sp>
      <p:pic>
        <p:nvPicPr>
          <p:cNvPr id="7" name="Picture 6" descr="post07_prix.jpg"/>
          <p:cNvPicPr>
            <a:picLocks noChangeAspect="1"/>
          </p:cNvPicPr>
          <p:nvPr/>
        </p:nvPicPr>
        <p:blipFill>
          <a:blip r:embed="rId3"/>
          <a:stretch>
            <a:fillRect/>
          </a:stretch>
        </p:blipFill>
        <p:spPr>
          <a:xfrm>
            <a:off x="540000" y="1512000"/>
            <a:ext cx="4032000" cy="5040000"/>
          </a:xfrm>
          <a:prstGeom prst="rect">
            <a:avLst/>
          </a:prstGeom>
        </p:spPr>
      </p:pic>
      <p:sp>
        <p:nvSpPr>
          <p:cNvPr id="8" name="TextBox 7"/>
          <p:cNvSpPr txBox="1"/>
          <p:nvPr/>
        </p:nvSpPr>
        <p:spPr>
          <a:xfrm>
            <a:off x="4860000" y="1512000"/>
            <a:ext cx="6660000" cy="360000"/>
          </a:xfrm>
          <a:prstGeom prst="rect">
            <a:avLst/>
          </a:prstGeom>
          <a:noFill/>
        </p:spPr>
        <p:txBody>
          <a:bodyPr wrap="square">
            <a:spAutoFit/>
          </a:bodyPr>
          <a:lstStyle/>
          <a:p>
            <a:pPr>
              <a:spcAft>
                <a:spcPts val="400"/>
              </a:spcAft>
            </a:pPr>
            <a:r>
              <a:rPr sz="1300" b="1">
                <a:solidFill>
                  <a:srgbClr val="FF8A00"/>
                </a:solidFill>
                <a:latin typeface="Inter"/>
              </a:rPr>
              <a:t>Texte de la publication</a:t>
            </a:r>
          </a:p>
        </p:txBody>
      </p:sp>
      <p:sp>
        <p:nvSpPr>
          <p:cNvPr id="9" name="TextBox 8"/>
          <p:cNvSpPr txBox="1"/>
          <p:nvPr/>
        </p:nvSpPr>
        <p:spPr>
          <a:xfrm>
            <a:off x="4860000" y="1872000"/>
            <a:ext cx="6660000" cy="3600000"/>
          </a:xfrm>
          <a:prstGeom prst="rect">
            <a:avLst/>
          </a:prstGeom>
          <a:noFill/>
        </p:spPr>
        <p:txBody>
          <a:bodyPr wrap="square">
            <a:spAutoFit/>
          </a:bodyPr>
          <a:lstStyle/>
          <a:p>
            <a:pPr>
              <a:spcAft>
                <a:spcPts val="400"/>
              </a:spcAft>
            </a:pPr>
            <a:r>
              <a:rPr sz="1300" b="0">
                <a:solidFill>
                  <a:srgbClr val="062A26"/>
                </a:solidFill>
                <a:latin typeface="Inter"/>
              </a:rPr>
              <a:t>Vous avez déployé une solution d'IA en Côte d'Ivoire ? Startup, laboratoire ou équipe publique, le Prix ACCELERATE IA est pour vous.</a:t>
            </a:r>
          </a:p>
          <a:p>
            <a:pPr>
              <a:spcAft>
                <a:spcPts val="400"/>
              </a:spcAft>
            </a:pPr>
            <a:r>
              <a:rPr sz="1300" b="0">
                <a:solidFill>
                  <a:srgbClr val="062A26"/>
                </a:solidFill>
                <a:latin typeface="Inter"/>
              </a:rPr>
              <a:t/>
            </a:r>
          </a:p>
          <a:p>
            <a:pPr>
              <a:spcAft>
                <a:spcPts val="400"/>
              </a:spcAft>
            </a:pPr>
            <a:r>
              <a:rPr sz="1300" b="0">
                <a:solidFill>
                  <a:srgbClr val="062A26"/>
                </a:solidFill>
                <a:latin typeface="Inter"/>
              </a:rPr>
              <a:t>Candidatures du 1er mars au 30 juin 2027. Une catégorie par secteur prioritaire et un prix dédié à l'administration.</a:t>
            </a:r>
          </a:p>
          <a:p>
            <a:pPr>
              <a:spcAft>
                <a:spcPts val="400"/>
              </a:spcAft>
            </a:pPr>
            <a:r>
              <a:rPr sz="1300" b="0">
                <a:solidFill>
                  <a:srgbClr val="062A26"/>
                </a:solidFill>
                <a:latin typeface="Inter"/>
              </a:rPr>
              <a:t/>
            </a:r>
          </a:p>
          <a:p>
            <a:pPr>
              <a:spcAft>
                <a:spcPts val="400"/>
              </a:spcAft>
            </a:pPr>
            <a:r>
              <a:rPr sz="1300" b="0">
                <a:solidFill>
                  <a:srgbClr val="062A26"/>
                </a:solidFill>
                <a:latin typeface="Inter"/>
              </a:rPr>
              <a:t>#AccelerateIA2027 #IAenCôtedIvoire</a:t>
            </a:r>
          </a:p>
        </p:txBody>
      </p:sp>
      <p:sp>
        <p:nvSpPr>
          <p:cNvPr id="10" name="TextBox 9"/>
          <p:cNvSpPr txBox="1"/>
          <p:nvPr/>
        </p:nvSpPr>
        <p:spPr>
          <a:xfrm>
            <a:off x="4860000" y="5868000"/>
            <a:ext cx="6660000" cy="720000"/>
          </a:xfrm>
          <a:prstGeom prst="rect">
            <a:avLst/>
          </a:prstGeom>
          <a:noFill/>
        </p:spPr>
        <p:txBody>
          <a:bodyPr wrap="square">
            <a:spAutoFit/>
          </a:bodyPr>
          <a:lstStyle/>
          <a:p>
            <a:pPr>
              <a:spcAft>
                <a:spcPts val="400"/>
              </a:spcAft>
            </a:pPr>
            <a:r>
              <a:rPr sz="1000" b="0">
                <a:solidFill>
                  <a:srgbClr val="3B4B48"/>
                </a:solidFill>
                <a:latin typeface="Inter"/>
              </a:rPr>
              <a:t>Format 4:5 (1080 × 1350) · LinkedIn, Facebook, Instagram · version X : texte réduit à la première phrase + lien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MAR. 23 FÉVR. · 10 H</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Inscriptions</a:t>
            </a:r>
          </a:p>
        </p:txBody>
      </p:sp>
      <p:pic>
        <p:nvPicPr>
          <p:cNvPr id="7" name="Picture 6" descr="post10_inscriptions.jpg"/>
          <p:cNvPicPr>
            <a:picLocks noChangeAspect="1"/>
          </p:cNvPicPr>
          <p:nvPr/>
        </p:nvPicPr>
        <p:blipFill>
          <a:blip r:embed="rId3"/>
          <a:stretch>
            <a:fillRect/>
          </a:stretch>
        </p:blipFill>
        <p:spPr>
          <a:xfrm>
            <a:off x="540000" y="1512000"/>
            <a:ext cx="4032000" cy="5040000"/>
          </a:xfrm>
          <a:prstGeom prst="rect">
            <a:avLst/>
          </a:prstGeom>
        </p:spPr>
      </p:pic>
      <p:sp>
        <p:nvSpPr>
          <p:cNvPr id="8" name="TextBox 7"/>
          <p:cNvSpPr txBox="1"/>
          <p:nvPr/>
        </p:nvSpPr>
        <p:spPr>
          <a:xfrm>
            <a:off x="4860000" y="1512000"/>
            <a:ext cx="6660000" cy="360000"/>
          </a:xfrm>
          <a:prstGeom prst="rect">
            <a:avLst/>
          </a:prstGeom>
          <a:noFill/>
        </p:spPr>
        <p:txBody>
          <a:bodyPr wrap="square">
            <a:spAutoFit/>
          </a:bodyPr>
          <a:lstStyle/>
          <a:p>
            <a:pPr>
              <a:spcAft>
                <a:spcPts val="400"/>
              </a:spcAft>
            </a:pPr>
            <a:r>
              <a:rPr sz="1300" b="1">
                <a:solidFill>
                  <a:srgbClr val="FF8A00"/>
                </a:solidFill>
                <a:latin typeface="Inter"/>
              </a:rPr>
              <a:t>Texte de la publication</a:t>
            </a:r>
          </a:p>
        </p:txBody>
      </p:sp>
      <p:sp>
        <p:nvSpPr>
          <p:cNvPr id="9" name="TextBox 8"/>
          <p:cNvSpPr txBox="1"/>
          <p:nvPr/>
        </p:nvSpPr>
        <p:spPr>
          <a:xfrm>
            <a:off x="4860000" y="1872000"/>
            <a:ext cx="6660000" cy="3600000"/>
          </a:xfrm>
          <a:prstGeom prst="rect">
            <a:avLst/>
          </a:prstGeom>
          <a:noFill/>
        </p:spPr>
        <p:txBody>
          <a:bodyPr wrap="square">
            <a:spAutoFit/>
          </a:bodyPr>
          <a:lstStyle/>
          <a:p>
            <a:pPr>
              <a:spcAft>
                <a:spcPts val="400"/>
              </a:spcAft>
            </a:pPr>
            <a:r>
              <a:rPr sz="1300" b="0">
                <a:solidFill>
                  <a:srgbClr val="062A26"/>
                </a:solidFill>
                <a:latin typeface="Inter"/>
              </a:rPr>
              <a:t>Le 1er mars 2027, les inscriptions à ACCELERATE IA ouvrent pour les participants, les exposants et les candidats au Prix.</a:t>
            </a:r>
          </a:p>
          <a:p>
            <a:pPr>
              <a:spcAft>
                <a:spcPts val="400"/>
              </a:spcAft>
            </a:pPr>
            <a:r>
              <a:rPr sz="1300" b="0">
                <a:solidFill>
                  <a:srgbClr val="062A26"/>
                </a:solidFill>
                <a:latin typeface="Inter"/>
              </a:rPr>
              <a:t/>
            </a:r>
          </a:p>
          <a:p>
            <a:pPr>
              <a:spcAft>
                <a:spcPts val="400"/>
              </a:spcAft>
            </a:pPr>
            <a:r>
              <a:rPr sz="1300" b="0">
                <a:solidFill>
                  <a:srgbClr val="062A26"/>
                </a:solidFill>
                <a:latin typeface="Inter"/>
              </a:rPr>
              <a:t>Tout se passera sur le site officiel de l'événement.</a:t>
            </a:r>
          </a:p>
          <a:p>
            <a:pPr>
              <a:spcAft>
                <a:spcPts val="400"/>
              </a:spcAft>
            </a:pPr>
            <a:r>
              <a:rPr sz="1300" b="0">
                <a:solidFill>
                  <a:srgbClr val="062A26"/>
                </a:solidFill>
                <a:latin typeface="Inter"/>
              </a:rPr>
              <a:t/>
            </a:r>
          </a:p>
          <a:p>
            <a:pPr>
              <a:spcAft>
                <a:spcPts val="400"/>
              </a:spcAft>
            </a:pPr>
            <a:r>
              <a:rPr sz="1300" b="0">
                <a:solidFill>
                  <a:srgbClr val="062A26"/>
                </a:solidFill>
                <a:latin typeface="Inter"/>
              </a:rPr>
              <a:t>#AccelerateIA2027 #IAenCôtedIvoire</a:t>
            </a:r>
          </a:p>
        </p:txBody>
      </p:sp>
      <p:sp>
        <p:nvSpPr>
          <p:cNvPr id="10" name="TextBox 9"/>
          <p:cNvSpPr txBox="1"/>
          <p:nvPr/>
        </p:nvSpPr>
        <p:spPr>
          <a:xfrm>
            <a:off x="4860000" y="5868000"/>
            <a:ext cx="6660000" cy="720000"/>
          </a:xfrm>
          <a:prstGeom prst="rect">
            <a:avLst/>
          </a:prstGeom>
          <a:noFill/>
        </p:spPr>
        <p:txBody>
          <a:bodyPr wrap="square">
            <a:spAutoFit/>
          </a:bodyPr>
          <a:lstStyle/>
          <a:p>
            <a:pPr>
              <a:spcAft>
                <a:spcPts val="400"/>
              </a:spcAft>
            </a:pPr>
            <a:r>
              <a:rPr sz="1000" b="0">
                <a:solidFill>
                  <a:srgbClr val="3B4B48"/>
                </a:solidFill>
                <a:latin typeface="Inter"/>
              </a:rPr>
              <a:t>Format 4:5 (1080 × 1350) · LinkedIn, Facebook, Instagram · version X : texte réduit à la première phrase + lien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IMPRIMÉ ET PARTAGE WHATSAPP</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Flyer A5 recto verso</a:t>
            </a:r>
          </a:p>
        </p:txBody>
      </p:sp>
      <p:pic>
        <p:nvPicPr>
          <p:cNvPr id="7" name="Picture 6" descr="flyer_A5_recto.jpg"/>
          <p:cNvPicPr>
            <a:picLocks noChangeAspect="1"/>
          </p:cNvPicPr>
          <p:nvPr/>
        </p:nvPicPr>
        <p:blipFill>
          <a:blip r:embed="rId3"/>
          <a:stretch>
            <a:fillRect/>
          </a:stretch>
        </p:blipFill>
        <p:spPr>
          <a:xfrm>
            <a:off x="540000" y="1512000"/>
            <a:ext cx="3574468" cy="5040000"/>
          </a:xfrm>
          <a:prstGeom prst="rect">
            <a:avLst/>
          </a:prstGeom>
        </p:spPr>
      </p:pic>
      <p:pic>
        <p:nvPicPr>
          <p:cNvPr id="8" name="Picture 7" descr="flyer_A5_verso.jpg"/>
          <p:cNvPicPr>
            <a:picLocks noChangeAspect="1"/>
          </p:cNvPicPr>
          <p:nvPr/>
        </p:nvPicPr>
        <p:blipFill>
          <a:blip r:embed="rId4"/>
          <a:stretch>
            <a:fillRect/>
          </a:stretch>
        </p:blipFill>
        <p:spPr>
          <a:xfrm>
            <a:off x="4320000" y="1512000"/>
            <a:ext cx="3574468" cy="5040000"/>
          </a:xfrm>
          <a:prstGeom prst="rect">
            <a:avLst/>
          </a:prstGeom>
        </p:spPr>
      </p:pic>
      <p:sp>
        <p:nvSpPr>
          <p:cNvPr id="9" name="TextBox 8"/>
          <p:cNvSpPr txBox="1"/>
          <p:nvPr/>
        </p:nvSpPr>
        <p:spPr>
          <a:xfrm>
            <a:off x="8100000" y="1512000"/>
            <a:ext cx="3600000" cy="5040000"/>
          </a:xfrm>
          <a:prstGeom prst="rect">
            <a:avLst/>
          </a:prstGeom>
          <a:noFill/>
        </p:spPr>
        <p:txBody>
          <a:bodyPr wrap="square">
            <a:spAutoFit/>
          </a:bodyPr>
          <a:lstStyle/>
          <a:p>
            <a:pPr>
              <a:spcAft>
                <a:spcPts val="400"/>
              </a:spcAft>
            </a:pPr>
            <a:r>
              <a:rPr sz="1200" b="0">
                <a:solidFill>
                  <a:srgbClr val="062A26"/>
                </a:solidFill>
                <a:latin typeface="Inter"/>
              </a:rPr>
              <a:t>Usage</a:t>
            </a:r>
          </a:p>
          <a:p>
            <a:pPr>
              <a:spcAft>
                <a:spcPts val="400"/>
              </a:spcAft>
            </a:pPr>
            <a:r>
              <a:rPr sz="1200" b="0">
                <a:solidFill>
                  <a:srgbClr val="062A26"/>
                </a:solidFill>
                <a:latin typeface="Inter"/>
              </a:rPr>
              <a:t>Distribué lors des rencontres préparatoires, en université et chez les partenaires ; recto envoyé seul sur WhatsApp.</a:t>
            </a:r>
          </a:p>
          <a:p>
            <a:pPr>
              <a:spcAft>
                <a:spcPts val="400"/>
              </a:spcAft>
            </a:pPr>
            <a:r>
              <a:rPr sz="1200" b="0">
                <a:solidFill>
                  <a:srgbClr val="062A26"/>
                </a:solidFill>
                <a:latin typeface="Inter"/>
              </a:rPr>
              <a:t/>
            </a:r>
          </a:p>
          <a:p>
            <a:pPr>
              <a:spcAft>
                <a:spcPts val="400"/>
              </a:spcAft>
            </a:pPr>
            <a:r>
              <a:rPr sz="1200" b="0">
                <a:solidFill>
                  <a:srgbClr val="062A26"/>
                </a:solidFill>
                <a:latin typeface="Inter"/>
              </a:rPr>
              <a:t>Impression</a:t>
            </a:r>
          </a:p>
          <a:p>
            <a:pPr>
              <a:spcAft>
                <a:spcPts val="400"/>
              </a:spcAft>
            </a:pPr>
            <a:r>
              <a:rPr sz="1200" b="0">
                <a:solidFill>
                  <a:srgbClr val="062A26"/>
                </a:solidFill>
                <a:latin typeface="Inter"/>
              </a:rPr>
              <a:t>A5, 350 g couché mat, quadrichromie recto verso. Fichiers d'impression à préparer en CMJN avec 3 mm de fonds perdus après validation du logo.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CARTON ET COURRIER</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Invitation officielle</a:t>
            </a:r>
          </a:p>
        </p:txBody>
      </p:sp>
      <p:pic>
        <p:nvPicPr>
          <p:cNvPr id="7" name="Picture 6" descr="invitation_carton.jpg"/>
          <p:cNvPicPr>
            <a:picLocks noChangeAspect="1"/>
          </p:cNvPicPr>
          <p:nvPr/>
        </p:nvPicPr>
        <p:blipFill>
          <a:blip r:embed="rId3"/>
          <a:stretch>
            <a:fillRect/>
          </a:stretch>
        </p:blipFill>
        <p:spPr>
          <a:xfrm>
            <a:off x="540000" y="1512000"/>
            <a:ext cx="5760000" cy="3841920"/>
          </a:xfrm>
          <a:prstGeom prst="rect">
            <a:avLst/>
          </a:prstGeom>
        </p:spPr>
      </p:pic>
      <p:sp>
        <p:nvSpPr>
          <p:cNvPr id="8" name="TextBox 7"/>
          <p:cNvSpPr txBox="1"/>
          <p:nvPr/>
        </p:nvSpPr>
        <p:spPr>
          <a:xfrm>
            <a:off x="6660000" y="1512000"/>
            <a:ext cx="5040000" cy="360000"/>
          </a:xfrm>
          <a:prstGeom prst="rect">
            <a:avLst/>
          </a:prstGeom>
          <a:noFill/>
        </p:spPr>
        <p:txBody>
          <a:bodyPr wrap="square">
            <a:spAutoFit/>
          </a:bodyPr>
          <a:lstStyle/>
          <a:p>
            <a:pPr>
              <a:spcAft>
                <a:spcPts val="400"/>
              </a:spcAft>
            </a:pPr>
            <a:r>
              <a:rPr sz="1300" b="1">
                <a:solidFill>
                  <a:srgbClr val="FF8A00"/>
                </a:solidFill>
                <a:latin typeface="Inter"/>
              </a:rPr>
              <a:t>Texte du carton</a:t>
            </a:r>
          </a:p>
        </p:txBody>
      </p:sp>
      <p:sp>
        <p:nvSpPr>
          <p:cNvPr id="9" name="TextBox 8"/>
          <p:cNvSpPr txBox="1"/>
          <p:nvPr/>
        </p:nvSpPr>
        <p:spPr>
          <a:xfrm>
            <a:off x="6660000" y="1872000"/>
            <a:ext cx="5040000" cy="4320000"/>
          </a:xfrm>
          <a:prstGeom prst="rect">
            <a:avLst/>
          </a:prstGeom>
          <a:noFill/>
        </p:spPr>
        <p:txBody>
          <a:bodyPr wrap="square">
            <a:spAutoFit/>
          </a:bodyPr>
          <a:lstStyle/>
          <a:p>
            <a:pPr>
              <a:spcAft>
                <a:spcPts val="400"/>
              </a:spcAft>
            </a:pPr>
            <a:r>
              <a:rPr sz="1100" b="0">
                <a:solidFill>
                  <a:srgbClr val="062A26"/>
                </a:solidFill>
                <a:latin typeface="Inter"/>
              </a:rPr>
              <a:t>Le Ministre de la Transition Numérique et de l'Innovation Technologique a l'honneur de vous inviter à la cérémonie officielle d'ouverture d'ACCELERATE IA, 3e assises nationales sur l'intelligence artificielle, placée sous le haut patronage de Son Excellence Monsieur le Premier Ministre, Chef du Gouvernement.</a:t>
            </a:r>
          </a:p>
          <a:p>
            <a:pPr>
              <a:spcAft>
                <a:spcPts val="400"/>
              </a:spcAft>
            </a:pPr>
            <a:r>
              <a:rPr sz="1100" b="0">
                <a:solidFill>
                  <a:srgbClr val="062A26"/>
                </a:solidFill>
                <a:latin typeface="Inter"/>
              </a:rPr>
              <a:t/>
            </a:r>
          </a:p>
          <a:p>
            <a:pPr>
              <a:spcAft>
                <a:spcPts val="400"/>
              </a:spcAft>
            </a:pPr>
            <a:r>
              <a:rPr sz="1100" b="0">
                <a:solidFill>
                  <a:srgbClr val="062A26"/>
                </a:solidFill>
                <a:latin typeface="Inter"/>
              </a:rPr>
              <a:t>Jeudi 9 septembre 2027 à 9 h 00, à Abidjan.</a:t>
            </a:r>
          </a:p>
          <a:p>
            <a:pPr>
              <a:spcAft>
                <a:spcPts val="400"/>
              </a:spcAft>
            </a:pPr>
            <a:r>
              <a:rPr sz="1100" b="0">
                <a:solidFill>
                  <a:srgbClr val="062A26"/>
                </a:solidFill>
                <a:latin typeface="Inter"/>
              </a:rPr>
              <a:t/>
            </a:r>
          </a:p>
          <a:p>
            <a:pPr>
              <a:spcAft>
                <a:spcPts val="400"/>
              </a:spcAft>
            </a:pPr>
            <a:r>
              <a:rPr sz="1100" b="0">
                <a:solidFill>
                  <a:srgbClr val="062A26"/>
                </a:solidFill>
                <a:latin typeface="Inter"/>
              </a:rPr>
              <a:t>Carton strictement personnel, à présenter à l'entrée. Tenue de ville. Réponse souhaitée avant le 25 août 2027.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TEXTES OFFICIELS</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Courriers d'invitation</a:t>
            </a:r>
          </a:p>
        </p:txBody>
      </p:sp>
      <p:sp>
        <p:nvSpPr>
          <p:cNvPr id="7" name="TextBox 6"/>
          <p:cNvSpPr txBox="1"/>
          <p:nvPr/>
        </p:nvSpPr>
        <p:spPr>
          <a:xfrm>
            <a:off x="540000" y="1512000"/>
            <a:ext cx="5220000" cy="360000"/>
          </a:xfrm>
          <a:prstGeom prst="rect">
            <a:avLst/>
          </a:prstGeom>
          <a:noFill/>
        </p:spPr>
        <p:txBody>
          <a:bodyPr wrap="square">
            <a:spAutoFit/>
          </a:bodyPr>
          <a:lstStyle/>
          <a:p>
            <a:pPr>
              <a:spcAft>
                <a:spcPts val="400"/>
              </a:spcAft>
            </a:pPr>
            <a:r>
              <a:rPr sz="1300" b="1">
                <a:solidFill>
                  <a:srgbClr val="FF8A00"/>
                </a:solidFill>
                <a:latin typeface="Inter"/>
              </a:rPr>
              <a:t>Lettre aux personnalités (ministres, ambassadeurs, dirigeants)</a:t>
            </a:r>
          </a:p>
        </p:txBody>
      </p:sp>
      <p:sp>
        <p:nvSpPr>
          <p:cNvPr id="8" name="TextBox 7"/>
          <p:cNvSpPr txBox="1"/>
          <p:nvPr/>
        </p:nvSpPr>
        <p:spPr>
          <a:xfrm>
            <a:off x="540000" y="1944000"/>
            <a:ext cx="5220000" cy="4680000"/>
          </a:xfrm>
          <a:prstGeom prst="rect">
            <a:avLst/>
          </a:prstGeom>
          <a:noFill/>
        </p:spPr>
        <p:txBody>
          <a:bodyPr wrap="square">
            <a:spAutoFit/>
          </a:bodyPr>
          <a:lstStyle/>
          <a:p>
            <a:pPr>
              <a:spcAft>
                <a:spcPts val="400"/>
              </a:spcAft>
            </a:pPr>
            <a:r>
              <a:rPr sz="1050" b="0">
                <a:solidFill>
                  <a:srgbClr val="062A26"/>
                </a:solidFill>
                <a:latin typeface="Inter"/>
              </a:rPr>
              <a:t>Excellence, Madame, Monsieur,</a:t>
            </a:r>
          </a:p>
          <a:p>
            <a:pPr>
              <a:spcAft>
                <a:spcPts val="400"/>
              </a:spcAft>
            </a:pPr>
            <a:r>
              <a:rPr sz="1050" b="0">
                <a:solidFill>
                  <a:srgbClr val="062A26"/>
                </a:solidFill>
                <a:latin typeface="Inter"/>
              </a:rPr>
              <a:t/>
            </a:r>
          </a:p>
          <a:p>
            <a:pPr>
              <a:spcAft>
                <a:spcPts val="400"/>
              </a:spcAft>
            </a:pPr>
            <a:r>
              <a:rPr sz="1050" b="0">
                <a:solidFill>
                  <a:srgbClr val="062A26"/>
                </a:solidFill>
                <a:latin typeface="Inter"/>
              </a:rPr>
              <a:t>Un an après IMPACT IA, qui a permis de retenir 77 cas d'usage prioritaires et de signer le Pacte de l'Alliance nationale pour l'intelligence artificielle, le Ministère de la Transition Numérique et de l'Innovation Technologique organise ACCELERATE IA, 3e assises nationales sur l'intelligence artificielle, du 8 au 10 septembre 2027 à Abidjan.</a:t>
            </a:r>
          </a:p>
          <a:p>
            <a:pPr>
              <a:spcAft>
                <a:spcPts val="400"/>
              </a:spcAft>
            </a:pPr>
            <a:r>
              <a:rPr sz="1050" b="0">
                <a:solidFill>
                  <a:srgbClr val="062A26"/>
                </a:solidFill>
                <a:latin typeface="Inter"/>
              </a:rPr>
              <a:t/>
            </a:r>
          </a:p>
          <a:p>
            <a:pPr>
              <a:spcAft>
                <a:spcPts val="400"/>
              </a:spcAft>
            </a:pPr>
            <a:r>
              <a:rPr sz="1050" b="0">
                <a:solidFill>
                  <a:srgbClr val="062A26"/>
                </a:solidFill>
                <a:latin typeface="Inter"/>
              </a:rPr>
              <a:t>Placées sous le thème « Des cas d'usage au déploiement : accélérer l'IA au service des Ivoiriens », ces assises présenteront l'état d'avancement des cas d'usage et réuniront les engagements de l'État, du secteur privé et des partenaires.</a:t>
            </a:r>
          </a:p>
          <a:p>
            <a:pPr>
              <a:spcAft>
                <a:spcPts val="400"/>
              </a:spcAft>
            </a:pPr>
            <a:r>
              <a:rPr sz="1050" b="0">
                <a:solidFill>
                  <a:srgbClr val="062A26"/>
                </a:solidFill>
                <a:latin typeface="Inter"/>
              </a:rPr>
              <a:t/>
            </a:r>
          </a:p>
          <a:p>
            <a:pPr>
              <a:spcAft>
                <a:spcPts val="400"/>
              </a:spcAft>
            </a:pPr>
            <a:r>
              <a:rPr sz="1050" b="0">
                <a:solidFill>
                  <a:srgbClr val="062A26"/>
                </a:solidFill>
                <a:latin typeface="Inter"/>
              </a:rPr>
              <a:t>J'ai l'honneur de vous inviter à la cérémonie officielle d'ouverture, le jeudi 9 septembre 2027 à 9 h 00.</a:t>
            </a:r>
          </a:p>
          <a:p>
            <a:pPr>
              <a:spcAft>
                <a:spcPts val="400"/>
              </a:spcAft>
            </a:pPr>
            <a:r>
              <a:rPr sz="1050" b="0">
                <a:solidFill>
                  <a:srgbClr val="062A26"/>
                </a:solidFill>
                <a:latin typeface="Inter"/>
              </a:rPr>
              <a:t/>
            </a:r>
          </a:p>
          <a:p>
            <a:pPr>
              <a:spcAft>
                <a:spcPts val="400"/>
              </a:spcAft>
            </a:pPr>
            <a:r>
              <a:rPr sz="1050" b="0">
                <a:solidFill>
                  <a:srgbClr val="062A26"/>
                </a:solidFill>
                <a:latin typeface="Inter"/>
              </a:rPr>
              <a:t>Veuillez agréer, Excellence, Madame, Monsieur, l'expression de ma haute considération.</a:t>
            </a:r>
          </a:p>
        </p:txBody>
      </p:sp>
      <p:sp>
        <p:nvSpPr>
          <p:cNvPr id="9" name="TextBox 8"/>
          <p:cNvSpPr txBox="1"/>
          <p:nvPr/>
        </p:nvSpPr>
        <p:spPr>
          <a:xfrm>
            <a:off x="6120000" y="1512000"/>
            <a:ext cx="5400000" cy="360000"/>
          </a:xfrm>
          <a:prstGeom prst="rect">
            <a:avLst/>
          </a:prstGeom>
          <a:noFill/>
        </p:spPr>
        <p:txBody>
          <a:bodyPr wrap="square">
            <a:spAutoFit/>
          </a:bodyPr>
          <a:lstStyle/>
          <a:p>
            <a:pPr>
              <a:spcAft>
                <a:spcPts val="400"/>
              </a:spcAft>
            </a:pPr>
            <a:r>
              <a:rPr sz="1300" b="1">
                <a:solidFill>
                  <a:srgbClr val="FF8A00"/>
                </a:solidFill>
                <a:latin typeface="Inter"/>
              </a:rPr>
              <a:t>Courriel aux participants inscrits</a:t>
            </a:r>
          </a:p>
        </p:txBody>
      </p:sp>
      <p:sp>
        <p:nvSpPr>
          <p:cNvPr id="10" name="TextBox 9"/>
          <p:cNvSpPr txBox="1"/>
          <p:nvPr/>
        </p:nvSpPr>
        <p:spPr>
          <a:xfrm>
            <a:off x="6120000" y="1944000"/>
            <a:ext cx="5400000" cy="4680000"/>
          </a:xfrm>
          <a:prstGeom prst="rect">
            <a:avLst/>
          </a:prstGeom>
          <a:noFill/>
        </p:spPr>
        <p:txBody>
          <a:bodyPr wrap="square">
            <a:spAutoFit/>
          </a:bodyPr>
          <a:lstStyle/>
          <a:p>
            <a:pPr>
              <a:spcAft>
                <a:spcPts val="400"/>
              </a:spcAft>
            </a:pPr>
            <a:r>
              <a:rPr sz="1050" b="0">
                <a:solidFill>
                  <a:srgbClr val="062A26"/>
                </a:solidFill>
                <a:latin typeface="Inter"/>
              </a:rPr>
              <a:t>Objet : Votre invitation à ACCELERATE IA, 8 au 10 septembre 2027</a:t>
            </a:r>
          </a:p>
          <a:p>
            <a:pPr>
              <a:spcAft>
                <a:spcPts val="400"/>
              </a:spcAft>
            </a:pPr>
            <a:r>
              <a:rPr sz="1050" b="0">
                <a:solidFill>
                  <a:srgbClr val="062A26"/>
                </a:solidFill>
                <a:latin typeface="Inter"/>
              </a:rPr>
              <a:t/>
            </a:r>
          </a:p>
          <a:p>
            <a:pPr>
              <a:spcAft>
                <a:spcPts val="400"/>
              </a:spcAft>
            </a:pPr>
            <a:r>
              <a:rPr sz="1050" b="0">
                <a:solidFill>
                  <a:srgbClr val="062A26"/>
                </a:solidFill>
                <a:latin typeface="Inter"/>
              </a:rPr>
              <a:t>Madame, Monsieur,</a:t>
            </a:r>
          </a:p>
          <a:p>
            <a:pPr>
              <a:spcAft>
                <a:spcPts val="400"/>
              </a:spcAft>
            </a:pPr>
            <a:r>
              <a:rPr sz="1050" b="0">
                <a:solidFill>
                  <a:srgbClr val="062A26"/>
                </a:solidFill>
                <a:latin typeface="Inter"/>
              </a:rPr>
              <a:t/>
            </a:r>
          </a:p>
          <a:p>
            <a:pPr>
              <a:spcAft>
                <a:spcPts val="400"/>
              </a:spcAft>
            </a:pPr>
            <a:r>
              <a:rPr sz="1050" b="0">
                <a:solidFill>
                  <a:srgbClr val="062A26"/>
                </a:solidFill>
                <a:latin typeface="Inter"/>
              </a:rPr>
              <a:t>Votre inscription à ACCELERATE IA, les 3e assises nationales sur l'intelligence artificielle, est confirmée.</a:t>
            </a:r>
          </a:p>
          <a:p>
            <a:pPr>
              <a:spcAft>
                <a:spcPts val="400"/>
              </a:spcAft>
            </a:pPr>
            <a:r>
              <a:rPr sz="1050" b="0">
                <a:solidFill>
                  <a:srgbClr val="062A26"/>
                </a:solidFill>
                <a:latin typeface="Inter"/>
              </a:rPr>
              <a:t/>
            </a:r>
          </a:p>
          <a:p>
            <a:pPr>
              <a:spcAft>
                <a:spcPts val="400"/>
              </a:spcAft>
            </a:pPr>
            <a:r>
              <a:rPr sz="1050" b="0">
                <a:solidFill>
                  <a:srgbClr val="062A26"/>
                </a:solidFill>
                <a:latin typeface="Inter"/>
              </a:rPr>
              <a:t>Rendez-vous du 8 au 10 septembre 2027 à Abidjan. Le jeudi 9 septembre, la cérémonie officielle ouvre deux journées de panels, de masterclasses et de démonstrations à la Clinique IA.</a:t>
            </a:r>
          </a:p>
          <a:p>
            <a:pPr>
              <a:spcAft>
                <a:spcPts val="400"/>
              </a:spcAft>
            </a:pPr>
            <a:r>
              <a:rPr sz="1050" b="0">
                <a:solidFill>
                  <a:srgbClr val="062A26"/>
                </a:solidFill>
                <a:latin typeface="Inter"/>
              </a:rPr>
              <a:t/>
            </a:r>
          </a:p>
          <a:p>
            <a:pPr>
              <a:spcAft>
                <a:spcPts val="400"/>
              </a:spcAft>
            </a:pPr>
            <a:r>
              <a:rPr sz="1050" b="0">
                <a:solidFill>
                  <a:srgbClr val="062A26"/>
                </a:solidFill>
                <a:latin typeface="Inter"/>
              </a:rPr>
              <a:t>Votre badge vous sera envoyé par courriel une semaine avant l'événement, avec le programme détaillé et le plan d'accès.</a:t>
            </a:r>
          </a:p>
          <a:p>
            <a:pPr>
              <a:spcAft>
                <a:spcPts val="400"/>
              </a:spcAft>
            </a:pPr>
            <a:r>
              <a:rPr sz="1050" b="0">
                <a:solidFill>
                  <a:srgbClr val="062A26"/>
                </a:solidFill>
                <a:latin typeface="Inter"/>
              </a:rPr>
              <a:t/>
            </a:r>
          </a:p>
          <a:p>
            <a:pPr>
              <a:spcAft>
                <a:spcPts val="400"/>
              </a:spcAft>
            </a:pPr>
            <a:r>
              <a:rPr sz="1050" b="0">
                <a:solidFill>
                  <a:srgbClr val="062A26"/>
                </a:solidFill>
                <a:latin typeface="Inter"/>
              </a:rPr>
              <a:t>Au plaisir de vous accueillir,</a:t>
            </a:r>
          </a:p>
          <a:p>
            <a:pPr>
              <a:spcAft>
                <a:spcPts val="400"/>
              </a:spcAft>
            </a:pPr>
            <a:r>
              <a:rPr sz="1050" b="0">
                <a:solidFill>
                  <a:srgbClr val="062A26"/>
                </a:solidFill>
                <a:latin typeface="Inter"/>
              </a:rPr>
              <a:t>Le comité d'organisation d'ACCELERATE IA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AMÉNAGEMENT</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Plan de masse de principe</a:t>
            </a:r>
          </a:p>
        </p:txBody>
      </p:sp>
      <p:pic>
        <p:nvPicPr>
          <p:cNvPr id="7" name="Picture 6" descr="plan-de-masse.jpg"/>
          <p:cNvPicPr>
            <a:picLocks noChangeAspect="1"/>
          </p:cNvPicPr>
          <p:nvPr/>
        </p:nvPicPr>
        <p:blipFill>
          <a:blip r:embed="rId3"/>
          <a:stretch>
            <a:fillRect/>
          </a:stretch>
        </p:blipFill>
        <p:spPr>
          <a:xfrm>
            <a:off x="540000" y="1440000"/>
            <a:ext cx="7560000" cy="5292000"/>
          </a:xfrm>
          <a:prstGeom prst="rect">
            <a:avLst/>
          </a:prstGeom>
        </p:spPr>
      </p:pic>
      <p:sp>
        <p:nvSpPr>
          <p:cNvPr id="8" name="TextBox 7"/>
          <p:cNvSpPr txBox="1"/>
          <p:nvPr/>
        </p:nvSpPr>
        <p:spPr>
          <a:xfrm>
            <a:off x="8280000" y="1512000"/>
            <a:ext cx="3420000" cy="5040000"/>
          </a:xfrm>
          <a:prstGeom prst="rect">
            <a:avLst/>
          </a:prstGeom>
          <a:noFill/>
        </p:spPr>
        <p:txBody>
          <a:bodyPr wrap="square">
            <a:spAutoFit/>
          </a:bodyPr>
          <a:lstStyle/>
          <a:p>
            <a:pPr>
              <a:spcAft>
                <a:spcPts val="400"/>
              </a:spcAft>
            </a:pPr>
            <a:r>
              <a:rPr sz="1150" b="0">
                <a:solidFill>
                  <a:srgbClr val="062A26"/>
                </a:solidFill>
                <a:latin typeface="Inter"/>
              </a:rPr>
              <a:t>Principe</a:t>
            </a:r>
          </a:p>
          <a:p>
            <a:pPr>
              <a:spcAft>
                <a:spcPts val="400"/>
              </a:spcAft>
            </a:pPr>
            <a:r>
              <a:rPr sz="1150" b="0">
                <a:solidFill>
                  <a:srgbClr val="062A26"/>
                </a:solidFill>
                <a:latin typeface="Inter"/>
              </a:rPr>
              <a:t>L'entrée unique mène à l'accueil, puis à la plénière ou à la Clinique IA. Le Mur des engagements est sur le passage, entre les deux.</a:t>
            </a:r>
          </a:p>
          <a:p>
            <a:pPr>
              <a:spcAft>
                <a:spcPts val="400"/>
              </a:spcAft>
            </a:pPr>
            <a:r>
              <a:rPr sz="1150" b="0">
                <a:solidFill>
                  <a:srgbClr val="062A26"/>
                </a:solidFill>
                <a:latin typeface="Inter"/>
              </a:rPr>
              <a:t/>
            </a:r>
          </a:p>
          <a:p>
            <a:pPr>
              <a:spcAft>
                <a:spcPts val="400"/>
              </a:spcAft>
            </a:pPr>
            <a:r>
              <a:rPr sz="1150" b="0">
                <a:solidFill>
                  <a:srgbClr val="062A26"/>
                </a:solidFill>
                <a:latin typeface="Inter"/>
              </a:rPr>
              <a:t>Surfaces</a:t>
            </a:r>
          </a:p>
          <a:p>
            <a:pPr>
              <a:spcAft>
                <a:spcPts val="400"/>
              </a:spcAft>
            </a:pPr>
            <a:r>
              <a:rPr sz="1150" b="0">
                <a:solidFill>
                  <a:srgbClr val="062A26"/>
                </a:solidFill>
                <a:latin typeface="Inter"/>
              </a:rPr>
              <a:t>Environ 3 500 m², dont 600 m² d'exposition comme en 2026.</a:t>
            </a:r>
          </a:p>
          <a:p>
            <a:pPr>
              <a:spcAft>
                <a:spcPts val="400"/>
              </a:spcAft>
            </a:pPr>
            <a:r>
              <a:rPr sz="1150" b="0">
                <a:solidFill>
                  <a:srgbClr val="062A26"/>
                </a:solidFill>
                <a:latin typeface="Inter"/>
              </a:rPr>
              <a:t/>
            </a:r>
          </a:p>
          <a:p>
            <a:pPr>
              <a:spcAft>
                <a:spcPts val="400"/>
              </a:spcAft>
            </a:pPr>
            <a:r>
              <a:rPr sz="1150" b="0">
                <a:solidFill>
                  <a:srgbClr val="062A26"/>
                </a:solidFill>
                <a:latin typeface="Inter"/>
              </a:rPr>
              <a:t>À faire</a:t>
            </a:r>
          </a:p>
          <a:p>
            <a:pPr>
              <a:spcAft>
                <a:spcPts val="400"/>
              </a:spcAft>
            </a:pPr>
            <a:r>
              <a:rPr sz="1150" b="0">
                <a:solidFill>
                  <a:srgbClr val="062A26"/>
                </a:solidFill>
                <a:latin typeface="Inter"/>
              </a:rPr>
              <a:t>Reporter sur le plan coté du lieu retenu, avec issues de secours, alimentation électrique et accès des personnes à mobilité réduite.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FF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1_logo_piste-A_chevrons.jpg"/>
          <p:cNvPicPr>
            <a:picLocks noChangeAspect="1"/>
          </p:cNvPicPr>
          <p:nvPr/>
        </p:nvPicPr>
        <p:blipFill>
          <a:blip r:embed="rId2"/>
          <a:stretch>
            <a:fillRect/>
          </a:stretch>
        </p:blipFill>
        <p:spPr>
          <a:xfrm>
            <a:off x="9792000" y="180000"/>
            <a:ext cx="1984980" cy="1116000"/>
          </a:xfrm>
          <a:prstGeom prst="rect">
            <a:avLst/>
          </a:prstGeom>
        </p:spPr>
      </p:pic>
      <p:sp>
        <p:nvSpPr>
          <p:cNvPr id="5" name="TextBox 4"/>
          <p:cNvSpPr txBox="1"/>
          <p:nvPr/>
        </p:nvSpPr>
        <p:spPr>
          <a:xfrm>
            <a:off x="540000" y="324000"/>
            <a:ext cx="8640000" cy="360000"/>
          </a:xfrm>
          <a:prstGeom prst="rect">
            <a:avLst/>
          </a:prstGeom>
          <a:noFill/>
        </p:spPr>
        <p:txBody>
          <a:bodyPr wrap="square">
            <a:spAutoFit/>
          </a:bodyPr>
          <a:lstStyle/>
          <a:p>
            <a:pPr>
              <a:spcAft>
                <a:spcPts val="400"/>
              </a:spcAft>
            </a:pPr>
            <a:r>
              <a:rPr sz="1200" b="1">
                <a:solidFill>
                  <a:srgbClr val="FF8A00"/>
                </a:solidFill>
                <a:latin typeface="Inter"/>
              </a:rPr>
              <a:t>PILOTAGE</a:t>
            </a:r>
          </a:p>
        </p:txBody>
      </p:sp>
      <p:sp>
        <p:nvSpPr>
          <p:cNvPr id="6" name="TextBox 5"/>
          <p:cNvSpPr txBox="1"/>
          <p:nvPr/>
        </p:nvSpPr>
        <p:spPr>
          <a:xfrm>
            <a:off x="540000" y="576000"/>
            <a:ext cx="9000000" cy="720000"/>
          </a:xfrm>
          <a:prstGeom prst="rect">
            <a:avLst/>
          </a:prstGeom>
          <a:noFill/>
        </p:spPr>
        <p:txBody>
          <a:bodyPr wrap="square">
            <a:spAutoFit/>
          </a:bodyPr>
          <a:lstStyle/>
          <a:p>
            <a:pPr>
              <a:spcAft>
                <a:spcPts val="400"/>
              </a:spcAft>
            </a:pPr>
            <a:r>
              <a:rPr sz="2800" b="1">
                <a:solidFill>
                  <a:srgbClr val="062A26"/>
                </a:solidFill>
                <a:latin typeface="Saira"/>
              </a:rPr>
              <a:t>Mesure, validation et suite</a:t>
            </a:r>
          </a:p>
        </p:txBody>
      </p:sp>
      <p:sp>
        <p:nvSpPr>
          <p:cNvPr id="7" name="TextBox 6"/>
          <p:cNvSpPr txBox="1"/>
          <p:nvPr/>
        </p:nvSpPr>
        <p:spPr>
          <a:xfrm>
            <a:off x="540000" y="1512000"/>
            <a:ext cx="5220000" cy="5040000"/>
          </a:xfrm>
          <a:prstGeom prst="rect">
            <a:avLst/>
          </a:prstGeom>
          <a:noFill/>
        </p:spPr>
        <p:txBody>
          <a:bodyPr wrap="square">
            <a:spAutoFit/>
          </a:bodyPr>
          <a:lstStyle/>
          <a:p>
            <a:pPr>
              <a:spcAft>
                <a:spcPts val="400"/>
              </a:spcAft>
            </a:pPr>
            <a:r>
              <a:rPr sz="1300" b="0">
                <a:solidFill>
                  <a:srgbClr val="062A26"/>
                </a:solidFill>
                <a:latin typeface="Inter"/>
              </a:rPr>
              <a:t>Mesure</a:t>
            </a:r>
          </a:p>
          <a:p>
            <a:pPr>
              <a:spcAft>
                <a:spcPts val="400"/>
              </a:spcAft>
            </a:pPr>
            <a:r>
              <a:rPr sz="1300" b="0">
                <a:solidFill>
                  <a:srgbClr val="062A26"/>
                </a:solidFill>
                <a:latin typeface="Inter"/>
              </a:rPr>
              <a:t>Chaque vendredi : portée, interactions et clics par réseau, inscrits à la liste d'attente, demandes de dossier partenaires. Bilan de phase le 26 février 2027.</a:t>
            </a:r>
          </a:p>
          <a:p>
            <a:pPr>
              <a:spcAft>
                <a:spcPts val="400"/>
              </a:spcAft>
            </a:pPr>
            <a:r>
              <a:rPr sz="1300" b="0">
                <a:solidFill>
                  <a:srgbClr val="062A26"/>
                </a:solidFill>
                <a:latin typeface="Inter"/>
              </a:rPr>
              <a:t/>
            </a:r>
          </a:p>
          <a:p>
            <a:pPr>
              <a:spcAft>
                <a:spcPts val="400"/>
              </a:spcAft>
            </a:pPr>
            <a:r>
              <a:rPr sz="1300" b="0">
                <a:solidFill>
                  <a:srgbClr val="062A26"/>
                </a:solidFill>
                <a:latin typeface="Inter"/>
              </a:rPr>
              <a:t>Validation</a:t>
            </a:r>
          </a:p>
          <a:p>
            <a:pPr>
              <a:spcAft>
                <a:spcPts val="400"/>
              </a:spcAft>
            </a:pPr>
            <a:r>
              <a:rPr sz="1300" b="0">
                <a:solidFill>
                  <a:srgbClr val="062A26"/>
                </a:solidFill>
                <a:latin typeface="Inter"/>
              </a:rPr>
              <a:t>Toute publication part au nom du Ministère après validation de son service communication. Calendrier partagé validé chaque lundi pour la semaine.</a:t>
            </a:r>
          </a:p>
        </p:txBody>
      </p:sp>
      <p:sp>
        <p:nvSpPr>
          <p:cNvPr id="8" name="TextBox 7"/>
          <p:cNvSpPr txBox="1"/>
          <p:nvPr/>
        </p:nvSpPr>
        <p:spPr>
          <a:xfrm>
            <a:off x="6120000" y="1512000"/>
            <a:ext cx="5400000" cy="5040000"/>
          </a:xfrm>
          <a:prstGeom prst="rect">
            <a:avLst/>
          </a:prstGeom>
          <a:noFill/>
        </p:spPr>
        <p:txBody>
          <a:bodyPr wrap="square">
            <a:spAutoFit/>
          </a:bodyPr>
          <a:lstStyle/>
          <a:p>
            <a:pPr>
              <a:spcAft>
                <a:spcPts val="400"/>
              </a:spcAft>
            </a:pPr>
            <a:r>
              <a:rPr sz="1300" b="0">
                <a:solidFill>
                  <a:srgbClr val="062A26"/>
                </a:solidFill>
                <a:latin typeface="Inter"/>
              </a:rPr>
              <a:t>Prochaines étapes</a:t>
            </a:r>
          </a:p>
          <a:p>
            <a:pPr>
              <a:spcAft>
                <a:spcPts val="400"/>
              </a:spcAft>
            </a:pPr>
            <a:r>
              <a:rPr sz="1300" b="0">
                <a:solidFill>
                  <a:srgbClr val="062A26"/>
                </a:solidFill>
                <a:latin typeface="Inter"/>
              </a:rPr>
              <a:t>1. Choix de la piste de logo par le Ministère.</a:t>
            </a:r>
          </a:p>
          <a:p>
            <a:pPr>
              <a:spcAft>
                <a:spcPts val="400"/>
              </a:spcAft>
            </a:pPr>
            <a:r>
              <a:rPr sz="1300" b="0">
                <a:solidFill>
                  <a:srgbClr val="062A26"/>
                </a:solidFill>
                <a:latin typeface="Inter"/>
              </a:rPr>
              <a:t>2. Mise au point du logo retenu (fichiers vectoriels, versions monochromes).</a:t>
            </a:r>
          </a:p>
          <a:p>
            <a:pPr>
              <a:spcAft>
                <a:spcPts val="400"/>
              </a:spcAft>
            </a:pPr>
            <a:r>
              <a:rPr sz="1300" b="0">
                <a:solidFill>
                  <a:srgbClr val="062A26"/>
                </a:solidFill>
                <a:latin typeface="Inter"/>
              </a:rPr>
              <a:t>3. Fichiers d'impression du flyer et du carton.</a:t>
            </a:r>
          </a:p>
          <a:p>
            <a:pPr>
              <a:spcAft>
                <a:spcPts val="400"/>
              </a:spcAft>
            </a:pPr>
            <a:r>
              <a:rPr sz="1300" b="0">
                <a:solidFill>
                  <a:srgbClr val="062A26"/>
                </a:solidFill>
                <a:latin typeface="Inter"/>
              </a:rPr>
              <a:t>4. Kit de partage pour les relais partenaires.</a:t>
            </a:r>
          </a:p>
          <a:p>
            <a:pPr>
              <a:spcAft>
                <a:spcPts val="400"/>
              </a:spcAft>
            </a:pPr>
            <a:r>
              <a:rPr sz="1300" b="0">
                <a:solidFill>
                  <a:srgbClr val="062A26"/>
                </a:solidFill>
                <a:latin typeface="Inter"/>
              </a:rPr>
              <a:t>5. Calendrier de la phase de mobilisation (mars à juin 2027).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