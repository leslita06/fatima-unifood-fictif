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4" name="Picture 3" descr="Logo-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463040" cy="1027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852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D8103"/>
                </a:solidFill>
                <a:latin typeface="Space Grotesk"/>
              </a:rPr>
              <a:t>STRATÉGIE RÉSEAUX SOCIAUX · CLIENTS PROFESSIONNELS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85216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pace Grotesk"/>
              </a:rPr>
              <a:t>Des publications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pace Grotesk"/>
              </a:rPr>
              <a:t>aux demandes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pace Grotesk"/>
              </a:rPr>
              <a:t>de devis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486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3E5E8"/>
                </a:solidFill>
                <a:latin typeface="Work Sans"/>
              </a:rPr>
              <a:t>Une méthode simple pour que LinkedIn, Facebook et WhatsApp apportent à COTIPLAST de nouveaux clients en Côte d’Ivoire.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3E5E8"/>
                </a:solidFill>
                <a:latin typeface="Work Sans"/>
              </a:rPr>
              <a:t>Proposition · octobre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Le principe : un seul objectif, la demande de devis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Les réseaux ne vendent pas un big bag. Ils ouvrent la conversation avec la personne qui achète.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246120" cy="310896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972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D8103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697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81B"/>
                </a:solidFill>
                <a:latin typeface="Space Grotesk"/>
              </a:rPr>
              <a:t>Être trouvé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26974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46C"/>
                </a:solidFill>
                <a:latin typeface="Work Sans"/>
              </a:rPr>
              <a:t>Quand un acheteur cherche un fournisseur d’emballages, il voit une entreprise solide, active et joignable.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103120"/>
            <a:ext cx="3246120" cy="310896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10972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D8103"/>
                </a:solidFill>
                <a:latin typeface="Space Grotes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2697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81B"/>
                </a:solidFill>
                <a:latin typeface="Space Grotesk"/>
              </a:rPr>
              <a:t>Être contacté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11880"/>
            <a:ext cx="26974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46C"/>
                </a:solidFill>
                <a:latin typeface="Work Sans"/>
              </a:rPr>
              <a:t>Chaque publication finit par une seule action : écrire sur WhatsApp ou demander un devis sur le 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103120"/>
            <a:ext cx="3246120" cy="310896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10972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6181B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017520"/>
            <a:ext cx="2697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81B"/>
                </a:solidFill>
                <a:latin typeface="Space Grotesk"/>
              </a:rPr>
              <a:t>Être mesuré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611880"/>
            <a:ext cx="26974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81B"/>
                </a:solidFill>
                <a:latin typeface="Work Sans"/>
              </a:rPr>
              <a:t>On compte les demandes de devis qui viennent des réseaux, pas les mentions « J’aime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Qui viser en priorité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Quatre familles d’acheteurs, chacune reliée à une gamme de COTIPLAST.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Agro-industrie et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Cacao, café, riz, sucre, engrais.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Sacs tissés, big bags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Responsable achats, directeur d’usine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201168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79" y="201168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19" y="214884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BTP et matériaux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19" y="256032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Ciment, sable, granulats, produits chimiques.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Sacs, big bags, films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Directeur achats, responsable logistique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Agroalimentaire et cosmétique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Marques qui vendent en rayon.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Packaging, étiquettes, manchons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Directeur marketing, responsable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379476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79" y="379476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19" y="393192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Eau, boissons et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19" y="434340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Usines, entrepôts, grossistes.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Films étirables et rétractables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Responsable supply chain, chef d’entrepôt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Un rôle précis pour chaque canal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72768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Convaincre les décideurs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La page COTIPLAST montre l’usine, la qualité et les gammes. Les commerciaux et la direction contactent directement les acheteurs ciblés depuis leur propre profil.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2377440" cy="9144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51760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Toucher les PME et les distributeurs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Beaucoup de transformateurs, de grossistes et de petites marques ivoiriennes y sont actifs. Des publicités ciblées en Côte d’Ivoire y coûtent peu.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12463"/>
            <a:ext cx="2377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3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WhatsApp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30751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Transformer l’intérêt en devis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78223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Un numéro dédié, le catalogue des gammes, des réponses prêtes à l’emploi et un message d’accueil qui pose les bonnes questions.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91456"/>
            <a:ext cx="2377440" cy="9144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91456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Le site cotiplast.net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09744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Rassurer et recueillir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57216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Un formulaire de devis court, lié depuis chaque publication, pour ceux qui préfèrent écrire par e-mail.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De la publication au devis : le chemin du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C’est ce chemin qui fait des résultats. Une belle publication sans réponse rapide ne rapporte rien.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Il voit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une publication ou une publicité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59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Il écrit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sur WhatsApp ou via le formulaire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1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8303" y="2194560"/>
            <a:ext cx="1874519" cy="13716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3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On qualifie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81B"/>
                </a:solidFill>
                <a:latin typeface="Work Sans"/>
              </a:rPr>
              <a:t>4 questions posées tout de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2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3136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6016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On chiffre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devis envoyé rapidement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5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7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7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On relance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7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appel ou message après quelques jours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D8103"/>
                </a:solidFill>
                <a:latin typeface="Space Grotesk"/>
              </a:rPr>
              <a:t>LES 4 QUESTIONS DE QUALIFICATION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5196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6181B"/>
                </a:solidFill>
                <a:latin typeface="Work Sans"/>
              </a:rPr>
              <a:t>1. Quel produit voulez-vous emballer ?   2. Quel type d’emballage et quelles dimensions ?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6181B"/>
                </a:solidFill>
                <a:latin typeface="Work Sans"/>
              </a:rPr>
              <a:t>3. Quel volume par mois ?   4. Pour quand, et dans quelle ville livrer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6</a:t>
            </a:r>
          </a:p>
        </p:txBody>
      </p:sp>
      <p:pic>
        <p:nvPicPr>
          <p:cNvPr id="5" name="Picture 4" descr="cr_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4572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D8103"/>
                </a:solidFill>
                <a:latin typeface="Space Grotesk"/>
              </a:rPr>
              <a:t>CE QU’ON PUBLIE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61569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6181B"/>
                </a:solidFill>
                <a:latin typeface="Space Grotesk"/>
              </a:rPr>
              <a:t>Quatre types de publications, en rotation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La gamme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un produit, le problème qu’il règle, la demande de devis. Les 5 publications déjà prêtes ouvrent la série.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L’usine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machines, contrôle qualité, équipes, recyclage. C’est ce qui prouve qu’on peut suivre de gros volumes.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Le conseil d’expert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comment choisir son big bag, quel film pour quelle palette, quelles mentions sur une étiquette.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Le client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une réalisation racontée avec son accord écrit, avec le problème, la solution et le résultat.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937760"/>
            <a:ext cx="7254240" cy="685800"/>
          </a:xfrm>
          <a:prstGeom prst="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93776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81B"/>
                </a:solidFill>
                <a:latin typeface="Work Sans"/>
              </a:rPr>
              <a:t>Rythme :</a:t>
            </a:r>
            <a:r>
              <a:rPr sz="1300" b="0">
                <a:solidFill>
                  <a:srgbClr val="16181B"/>
                </a:solidFill>
                <a:latin typeface="Work Sans"/>
              </a:rPr>
              <a:t> 2 publications par semaine sur LinkedIn, 3 sur Facebook, le matin en semaine.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Aller chercher les clients sur LinkedIn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Le canal qui rapporte le plus vite en B2B : des personnes qui contactent des personnes.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937760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1. Une liste de 50 entreprises cibles</a:t>
            </a:r>
            <a:r>
              <a:rPr sz="1350" b="0">
                <a:solidFill>
                  <a:srgbClr val="16181B"/>
                </a:solidFill>
                <a:latin typeface="Work Sans"/>
              </a:rPr>
              <a:t> par famille d’acheteurs, avec le nom du décideur.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2. Des profils soignés</a:t>
            </a:r>
            <a:r>
              <a:rPr sz="1350" b="0">
                <a:solidFill>
                  <a:srgbClr val="16181B"/>
                </a:solidFill>
                <a:latin typeface="Work Sans"/>
              </a:rPr>
              <a:t> pour la direction et les commerciaux : photo, titre clair, lien vers COTIPLAST.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3. Chaque semaine, chaque commercial</a:t>
            </a:r>
            <a:r>
              <a:rPr sz="1350" b="0">
                <a:solidFill>
                  <a:srgbClr val="16181B"/>
                </a:solidFill>
                <a:latin typeface="Work Sans"/>
              </a:rPr>
              <a:t> invite une vingtaine de décideurs, commente leurs publications et partage celles de COTIPLAST.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4. Pas de vente dans l’invitation.</a:t>
            </a:r>
            <a:r>
              <a:rPr sz="1350" b="0">
                <a:solidFill>
                  <a:srgbClr val="16181B"/>
                </a:solidFill>
                <a:latin typeface="Work Sans"/>
              </a:rPr>
              <a:t> On propose de l’aide, puis un échange.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5. Tout est noté</a:t>
            </a:r>
            <a:r>
              <a:rPr sz="1350" b="0">
                <a:solidFill>
                  <a:srgbClr val="16181B"/>
                </a:solidFill>
                <a:latin typeface="Work Sans"/>
              </a:rPr>
              <a:t> dans un tableau ou le logiciel de suivi commercial.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965960"/>
            <a:ext cx="4754880" cy="34290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D8103"/>
                </a:solidFill>
                <a:latin typeface="Space Grotesk"/>
              </a:rPr>
              <a:t>EXEMPLE DE PREMIER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14600"/>
            <a:ext cx="420624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Work Sans"/>
              </a:rPr>
              <a:t>Bonjour [Prénom], je suis [Prénom], chez COTIPLAST, fabricant d’emballages à Yopougon.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Work Sans"/>
              </a:rPr>
              <a:t>Je vois que [Entreprise] conditionne [produit]. Nous fabriquons des [sacs tissés / big bags / films] sur mesure pour ce type d’activité.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Work Sans"/>
              </a:rPr>
              <a:t>Seriez-vous d’accord pour un échange de 15 minutes sur vos besoins actuels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La publicité payante : petit, mesuré, puis élargi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On teste sur 4 semaines, on garde ce qui apporte des demandes de devis, on coupe le reste.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846320" cy="2743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6181B"/>
                </a:solidFill>
                <a:latin typeface="Space Grotesk"/>
              </a:rPr>
              <a:t>Facebook et Instagram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194560"/>
            <a:ext cx="1645920" cy="347472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1645920" cy="34747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81B"/>
                </a:solidFill>
                <a:latin typeface="Space Grotesk"/>
              </a:rPr>
              <a:t>À lancer en premier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297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Ciblage : Côte d’Ivoire, Abidjan et les zones industrielles, personnes qui s’intéressent à l’industrie, à l’agro-industrie, au commerce de gros.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Format : formulaire de contact intégré ou bouton « Envoyer un message WhatsApp ».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Message : une gamme, un bénéfice, « Devis gratuit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2011680"/>
            <a:ext cx="4846320" cy="2743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9" y="214884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6181B"/>
                </a:solidFill>
                <a:latin typeface="Space Grotesk"/>
              </a:rPr>
              <a:t>LinkedIn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79" y="2194560"/>
            <a:ext cx="1645920" cy="34747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79" y="2194560"/>
            <a:ext cx="1645920" cy="34747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81B"/>
                </a:solidFill>
                <a:latin typeface="Space Grotesk"/>
              </a:rPr>
              <a:t>À tester ensuite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9" y="2697480"/>
            <a:ext cx="4297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Ciblage précis par poste (achats, supply chain, production) et par secteur.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Plus cher par contact, mais chaque contact est un décideur.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À réserver aux familles d’acheteurs qui ont le plus de valeur.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9966960" cy="594360"/>
          </a:xfrm>
          <a:prstGeom prst="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9601200" cy="594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81B"/>
                </a:solidFill>
                <a:latin typeface="Work Sans"/>
              </a:rPr>
              <a:t>Le chiffre qui décide :</a:t>
            </a:r>
            <a:r>
              <a:rPr sz="1300" b="0">
                <a:solidFill>
                  <a:srgbClr val="16181B"/>
                </a:solidFill>
                <a:latin typeface="Work Sans"/>
              </a:rPr>
              <a:t> ce que coûte une demande de devis, comparé à ce que rapporte un nouveau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Le plan sur 90 jours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246120" cy="82296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269748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pace Grotesk"/>
              </a:rPr>
              <a:t>MOIS 1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Préparer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3246120" cy="306324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69748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Pages LinkedIn et Facebook mises à jour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WhatsApp Business avec catalogue et réponses prêtes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Formulaire de devis sur le site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Liste des 50 entreprises cibles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Relevé des demandes actuelles (point de départ)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600200"/>
            <a:ext cx="3246120" cy="82296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269748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81B"/>
                </a:solidFill>
                <a:latin typeface="Space Grotesk"/>
              </a:rPr>
              <a:t>MOIS 2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6181B"/>
                </a:solidFill>
                <a:latin typeface="Space Grotesk"/>
              </a:rPr>
              <a:t>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2423160"/>
            <a:ext cx="3246120" cy="306324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606040"/>
            <a:ext cx="269748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Publications au rythme prévu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Prospection LinkedIn par les commerciaux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Première campagne publicitaire test sur Facebook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Point hebdomadaire sur les demandes reçues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00200"/>
            <a:ext cx="3246120" cy="82296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600200"/>
            <a:ext cx="269748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pace Grotesk"/>
              </a:rPr>
              <a:t>MOIS 3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Accélérer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423160"/>
            <a:ext cx="3246120" cy="306324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606040"/>
            <a:ext cx="269748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On garde ce qui apporte des devis, on arrête le reste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Premier témoignage client publié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Test de la publicité LinkedIn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Bilan chiffré et objectifs du trimestre suivant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Les chiffres à suivre chaque mois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Un seul tableau, rempli par l’équipe commerciale. Les objectifs se fixent après le premier mois, une fois le point de départ connu.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Demandes de devis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Combien, et par quel canal (LinkedIn, Facebook, WhatsApp, site).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2057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9" y="2057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Devis envoyés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9" y="2468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Combien de demandes deviennent un vrai chiffrage.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Clients signés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Nouveaux clients venus des réseaux et chiffre d’affaires réalisé.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200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9" y="3200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Coût par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99" y="3611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Budget publicitaire du mois divisé par le nombre de demandes.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91440" cy="914400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Délai de réponse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Temps moyen entre le premier message et la réponse de COTIPLAST.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9" y="4343400"/>
            <a:ext cx="91440" cy="914400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599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Audience utile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599" y="4754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Abonnés et vues chez les décideurs ciblés : à suivre, sans en faire un objectif.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46C"/>
                </a:solidFill>
                <a:latin typeface="Work Sans"/>
              </a:rPr>
              <a:t>Astuce : demander à chaque nouveau contact « Comment nous avez-vous connus ? » et noter la réponse.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Ce qu’il faut de COTIPLAST pour démarrer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996696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Une personne responsable des réponses</a:t>
            </a:r>
            <a:r>
              <a:rPr sz="1500" b="0">
                <a:solidFill>
                  <a:srgbClr val="16181B"/>
                </a:solidFill>
                <a:latin typeface="Work Sans"/>
              </a:rPr>
              <a:t>, sur WhatsApp et en messages privés, qui répond dans la journée.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Les accès</a:t>
            </a:r>
            <a:r>
              <a:rPr sz="1500" b="0">
                <a:solidFill>
                  <a:srgbClr val="16181B"/>
                </a:solidFill>
                <a:latin typeface="Work Sans"/>
              </a:rPr>
              <a:t> aux pages LinkedIn et Facebook, et un numéro WhatsApp Business dédié.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Des photos et vidéos de l’usine</a:t>
            </a:r>
            <a:r>
              <a:rPr sz="1500" b="0">
                <a:solidFill>
                  <a:srgbClr val="16181B"/>
                </a:solidFill>
                <a:latin typeface="Work Sans"/>
              </a:rPr>
              <a:t>, prises sur place, et l’accord d’utiliser les photos produits.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L’accord écrit des clients</a:t>
            </a:r>
            <a:r>
              <a:rPr sz="1500" b="0">
                <a:solidFill>
                  <a:srgbClr val="16181B"/>
                </a:solidFill>
                <a:latin typeface="Work Sans"/>
              </a:rPr>
              <a:t> avant de citer leur nom ou leur emballage.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Un budget publicitaire de test</a:t>
            </a:r>
            <a:r>
              <a:rPr sz="1500" b="0">
                <a:solidFill>
                  <a:srgbClr val="16181B"/>
                </a:solidFill>
                <a:latin typeface="Work Sans"/>
              </a:rPr>
              <a:t> pour le deuxième mois, à fixer par la direction.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La liste des secteurs et des clients prioritaires</a:t>
            </a:r>
            <a:r>
              <a:rPr sz="1500" b="0">
                <a:solidFill>
                  <a:srgbClr val="16181B"/>
                </a:solidFill>
                <a:latin typeface="Work Sans"/>
              </a:rPr>
              <a:t>, validée par la direction commerciale.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92040"/>
            <a:ext cx="9966960" cy="64008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960120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Work Sans"/>
              </a:rPr>
              <a:t>Première étape :</a:t>
            </a:r>
            <a:r>
              <a:rPr sz="1400" b="0">
                <a:solidFill>
                  <a:srgbClr val="FFFFFF"/>
                </a:solidFill>
                <a:latin typeface="Work Sans"/>
              </a:rPr>
              <a:t> une réunion d’une heure pour valider les cibles et désigner le responsable des réponses.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