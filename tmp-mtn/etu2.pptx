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_c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360" y="0"/>
            <a:ext cx="5120640" cy="6858000"/>
          </a:xfrm>
          <a:prstGeom prst="rect">
            <a:avLst/>
          </a:prstGeom>
        </p:spPr>
      </p:pic>
      <p:pic>
        <p:nvPicPr>
          <p:cNvPr id="4" name="Picture 3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164592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91640"/>
            <a:ext cx="57607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STRATÉGIE DE LANCEMENT · RÉSEAUX SOCIAUX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585216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000000"/>
                </a:solidFill>
                <a:latin typeface="Montserrat"/>
              </a:rPr>
              <a:t>La nouvelle offre</a:t>
            </a:r>
          </a:p>
          <a:p>
            <a:pPr algn="l">
              <a:spcAft>
                <a:spcPts val="0"/>
              </a:spcAft>
            </a:pPr>
            <a:r>
              <a:rPr sz="4600" b="1">
                <a:solidFill>
                  <a:srgbClr val="000000"/>
                </a:solidFill>
                <a:latin typeface="Montserrat"/>
              </a:rPr>
              <a:t>Internet étudiants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54864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Comment faire connaître l’offre sur les campus de Côte d’Ivoire, avec des accroches et des idées de vidéos prêtes à tourner.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Proposition ·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Une stratégie prête, une offre à compléter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ontserrat"/>
              </a:rPr>
              <a:t>Les caractéristiques de l’offre ne sont pas encore connues. Rien n’est inventé dans ce document.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3200400" cy="31546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CB05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2651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Ce qui est prêt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265176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La cible, l’idée de campagne, le déroulé en 4 temps, les accroches, les vidéos et les indicateurs de suivi.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2057400"/>
            <a:ext cx="3200400" cy="31546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194560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CB05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971800"/>
            <a:ext cx="2651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Ce qui attend MTN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566160"/>
            <a:ext cx="265176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Le prix, le volume de data, la durée, les conditions pour être éligible, la façon de souscrire et la date de lancement.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057400"/>
            <a:ext cx="3200400" cy="31546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194560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00000"/>
                </a:solidFill>
                <a:latin typeface="Montserra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971800"/>
            <a:ext cx="26517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La méthode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566160"/>
            <a:ext cx="265176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Les accroches contiennent des cases [entre crochets]. On les remplit avec les vraies données, puis on tourne et on publie.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3</a:t>
            </a:r>
          </a:p>
        </p:txBody>
      </p:sp>
      <p:pic>
        <p:nvPicPr>
          <p:cNvPr id="5" name="Picture 4" descr="cr_p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23360" cy="6858000"/>
          </a:xfrm>
          <a:prstGeom prst="rect">
            <a:avLst/>
          </a:prstGeom>
        </p:spPr>
      </p:pic>
      <p:pic>
        <p:nvPicPr>
          <p:cNvPr id="6" name="Picture 5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457200"/>
            <a:ext cx="5882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LA CIBLE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777240"/>
            <a:ext cx="70713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Les étudiants, de la licence au master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78308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725424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Qui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18-25 ans, dans les universités publiques et les grandes écoles d’Abidjan, de Bouaké, de Yamoussoukro et des autres villes universitaires.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Ce qu’ils font en ligne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cours et documents partagés, recherches pour les exposés et le mémoire, groupes WhatsApp de promo, TikTok et musique pour décompresser.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Ce qui les freine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un budget serré, la peur de finir le forfait avant la fin du mois, une connexion qui lâche au mauvais moment.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Où les toucher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TikTok et Instagram d’abord, WhatsApp pour le bouche-à-oreille, Facebook pour les parents et les étudiants des villes de l’intérieur.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892040"/>
            <a:ext cx="7254240" cy="6858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892040"/>
            <a:ext cx="6797040" cy="6858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Montserrat"/>
              </a:rPr>
              <a:t>Ce qu’ils veulent entendre :</a:t>
            </a:r>
            <a:r>
              <a:rPr sz="1300" b="0">
                <a:solidFill>
                  <a:srgbClr val="000000"/>
                </a:solidFill>
                <a:latin typeface="Montserrat"/>
              </a:rPr>
              <a:t> « tu peux bosser et te détendre sans compter chaque mégaoctet 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B05"/>
                </a:solidFill>
                <a:latin typeface="Montserrat"/>
              </a:rPr>
              <a:t>L’IDÉE DE CAMPAGNE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CB05"/>
                </a:solidFill>
                <a:latin typeface="Montserrat"/>
              </a:rPr>
              <a:t>Ta connexion valide ton année.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969264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Montserrat"/>
              </a:rPr>
              <a:t>On ne vend pas des gigas, on parle de la vie d’étudiant : l’exposé à rendre à minuit, le mémoire, le groupe de la promo, la pause TikTok entre deux TD. L’offre est l’outil qui permet de tenir l’année.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Montserrat"/>
              </a:rPr>
              <a:t>Mot-dièse : </a:t>
            </a:r>
            <a:r>
              <a:rPr sz="1700" b="1">
                <a:solidFill>
                  <a:srgbClr val="FFFFFF"/>
                </a:solidFill>
                <a:latin typeface="Montserrat"/>
              </a:rPr>
              <a:t>#TaConnexionValideTonAnnée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10058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CB05"/>
                </a:solidFill>
                <a:latin typeface="Montserrat"/>
              </a:rPr>
              <a:t>DÉCLINAISONS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26280"/>
            <a:ext cx="3200400" cy="7772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3200400" cy="7772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Ton exposé passe.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4526280"/>
            <a:ext cx="3200400" cy="7772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4526280"/>
            <a:ext cx="3200400" cy="7772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Ton mémoire avance.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526280"/>
            <a:ext cx="3200400" cy="7772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526280"/>
            <a:ext cx="3200400" cy="7772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Ta promo reste connectée.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Le lancement en 4 temps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ontserrat"/>
              </a:rPr>
              <a:t>Sur environ 5 semaines, calées sur la rentrée universitaire.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2468880" cy="5486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246888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J-7 à J-1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2468880" cy="26974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Intriguer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2103120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Montserrat"/>
              </a:rPr>
              <a:t>Vidéos « on a entendu vos plaintes » sur le forfait qui finit trop vite. Pas d’offre montrée. Sondages en story.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057400"/>
            <a:ext cx="246888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057400"/>
            <a:ext cx="246888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CB05"/>
                </a:solidFill>
                <a:latin typeface="Montserrat"/>
              </a:rPr>
              <a:t>Jour 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606040"/>
            <a:ext cx="2468880" cy="26974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74320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Révéler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291840"/>
            <a:ext cx="2103120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Montserrat"/>
              </a:rPr>
              <a:t>Vidéo de révélation de l’offre, publication fixe, publicité payante ciblée 18-25 ans près des campus.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59" y="2057400"/>
            <a:ext cx="2468880" cy="5486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59" y="2057400"/>
            <a:ext cx="246888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Semaines 1 à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59" y="2606040"/>
            <a:ext cx="2468880" cy="26974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39" y="274320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Faire essayer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39" y="3291840"/>
            <a:ext cx="2103120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Montserrat"/>
              </a:rPr>
              <a:t>Ambassadeurs sur chaque campus, défi TikTok, stands de souscription, réponses aux questions en direct.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19" y="2057400"/>
            <a:ext cx="246888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9" y="2057400"/>
            <a:ext cx="246888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CB05"/>
                </a:solidFill>
                <a:latin typeface="Montserrat"/>
              </a:rPr>
              <a:t>Semaine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19" y="2606040"/>
            <a:ext cx="2468880" cy="269748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799" y="2743200"/>
            <a:ext cx="2103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Faire parler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799" y="3291840"/>
            <a:ext cx="2103120" cy="1920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Montserrat"/>
              </a:rPr>
              <a:t>Témoignages d’étudiants qui ont pris l’offre, meilleures vidéos du défi reprises par MTN.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Un rôle pour chaque canal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194560" cy="65836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1945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TikTok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645920"/>
            <a:ext cx="76809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Le cœur du lancement : vidéos courtes, défi, créateurs étudiants. Là où l’offre doit devenir un sujet de conversation.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32304"/>
            <a:ext cx="219456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32304"/>
            <a:ext cx="21945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CB05"/>
                </a:solidFill>
                <a:latin typeface="Montserrat"/>
              </a:rPr>
              <a:t>Instagram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432304"/>
            <a:ext cx="76809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Reels repris de TikTok, stories avec sondages et questions, carrousel « tout savoir sur l’offre ».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18688"/>
            <a:ext cx="2194560" cy="65836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18688"/>
            <a:ext cx="21945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218688"/>
            <a:ext cx="76809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Un message simple et un visuel que les ambassadeurs et délégués de promo font circuler dans les groupes, avec leur accord.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05072"/>
            <a:ext cx="219456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05072"/>
            <a:ext cx="21945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CB05"/>
                </a:solidFill>
                <a:latin typeface="Montserrat"/>
              </a:rPr>
              <a:t>Facebook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005072"/>
            <a:ext cx="76809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Publication complète de l’offre, publicité payante, réponses aux questions. Touche aussi les parents qui paient souvent le forfait.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91456"/>
            <a:ext cx="2194560" cy="65836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91456"/>
            <a:ext cx="21945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Sur le campus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791456"/>
            <a:ext cx="7680960" cy="65836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Stands, ambassadeurs, affiches avec un code QR qui renvoie vers la souscription. Ce qui se passe sur place nourrit les réseaux.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10 accroches pour le lancement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ontserrat"/>
              </a:rPr>
              <a:t>Les [crochets] se remplissent avec les vraies caractéristiques de l’offre.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Exposé à rendre à minuit ? Ta connexion, elle, ne lâche pas. 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0" y="1965960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965960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Le forfait qui tient jusqu’à la fin du mois… et du semestre. 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79191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79191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Étudiant ? MTN a pensé à toi. [prix] pour [volume].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2679191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679191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Révise, scrolle, partage. Sans compter. 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92424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392424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Ton mémoire ne va pas se télécharger tout seul. 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3392424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3392424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Le groupe de la promo à 2 h du matin ? On est là. 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05656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05656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Ta carte étudiant vaut plus que tu ne crois. 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0" y="4105656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105656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Pour [prix], ton année est connectée. 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18888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818888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La bourse ne suit pas ? Ton forfait, si. 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0" y="4818888"/>
            <a:ext cx="91440" cy="5669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4818888"/>
            <a:ext cx="4754880" cy="56692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« Moins de stress, plus de data. Offre étudiants MTN.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8</a:t>
            </a:r>
          </a:p>
        </p:txBody>
      </p:sp>
      <p:pic>
        <p:nvPicPr>
          <p:cNvPr id="5" name="Picture 4" descr="cr_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23360" cy="6858000"/>
          </a:xfrm>
          <a:prstGeom prst="rect">
            <a:avLst/>
          </a:prstGeom>
        </p:spPr>
      </p:pic>
      <p:pic>
        <p:nvPicPr>
          <p:cNvPr id="6" name="Picture 5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457200"/>
            <a:ext cx="5882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IDÉES DE VIDÉOS · 1 ET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777240"/>
            <a:ext cx="70713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La vie d’étudiant, version connectée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78308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725424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1. « Minuit moins cinq ».</a:t>
            </a:r>
            <a:r>
              <a:rPr sz="1400" b="0">
                <a:solidFill>
                  <a:srgbClr val="000000"/>
                </a:solidFill>
                <a:latin typeface="Montserrat"/>
              </a:rPr>
              <a:t> 20 s. Un étudiant finit son exposé, l’envoie au dernier moment, le message part. Il s’effondre de soulagement sur son lit. Texte : « Ta connexion valide ton année. »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2. « Le groupe de la promo ».</a:t>
            </a:r>
            <a:r>
              <a:rPr sz="1400" b="0">
                <a:solidFill>
                  <a:srgbClr val="000000"/>
                </a:solidFill>
                <a:latin typeface="Montserrat"/>
              </a:rPr>
              <a:t> 15 s. Écran d’un groupe WhatsApp qui s’affole : « quelqu’un a le cours ? », « c’est pour demain ?? ». Un seul envoie le document. Il devient le héros de la promo.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892040"/>
            <a:ext cx="7254240" cy="6858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892040"/>
            <a:ext cx="6797040" cy="6858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ontserrat"/>
              </a:rPr>
              <a:t>Format vertical · TikTok et Reels · humour et situations que tous les étudiants reconnaissent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9</a:t>
            </a:r>
          </a:p>
        </p:txBody>
      </p:sp>
      <p:pic>
        <p:nvPicPr>
          <p:cNvPr id="5" name="Picture 4" descr="cr_p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23360" cy="6858000"/>
          </a:xfrm>
          <a:prstGeom prst="rect">
            <a:avLst/>
          </a:prstGeom>
        </p:spPr>
      </p:pic>
      <p:pic>
        <p:nvPicPr>
          <p:cNvPr id="6" name="Picture 5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457200"/>
            <a:ext cx="5882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IDÉES DE VIDÉOS · 3 ET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777240"/>
            <a:ext cx="70713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Faire parler les étudiants eux-mêmes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78308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725424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3. Micro-trottoir sur le campus.</a:t>
            </a:r>
            <a:r>
              <a:rPr sz="1400" b="0">
                <a:solidFill>
                  <a:srgbClr val="000000"/>
                </a:solidFill>
                <a:latin typeface="Montserrat"/>
              </a:rPr>
              <a:t> 30 s. « Ton forfait te tient combien de jours ? » Réponses spontanées, rires, puis révélation de l’offre aux étudiants filmés, et leur réaction.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4. Défi #TaConnexionValideTonAnnée.</a:t>
            </a:r>
            <a:r>
              <a:rPr sz="1400" b="0">
                <a:solidFill>
                  <a:srgbClr val="000000"/>
                </a:solidFill>
                <a:latin typeface="Montserrat"/>
              </a:rPr>
              <a:t> 15 s. Chaque étudiant montre en une vidéo « ma vie de [filière] » : la médecine, le droit, l’informatique. Les meilleures sont reprises par MTN.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892040"/>
            <a:ext cx="7254240" cy="6858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892040"/>
            <a:ext cx="6797040" cy="6858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ontserrat"/>
              </a:rPr>
              <a:t>Tourné avec de vrais étudiants · autorisation écrite de chaque personne filmée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10</a:t>
            </a:r>
          </a:p>
        </p:txBody>
      </p:sp>
      <p:pic>
        <p:nvPicPr>
          <p:cNvPr id="5" name="Picture 4" descr="cr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23360" cy="6858000"/>
          </a:xfrm>
          <a:prstGeom prst="rect">
            <a:avLst/>
          </a:prstGeom>
        </p:spPr>
      </p:pic>
      <p:pic>
        <p:nvPicPr>
          <p:cNvPr id="6" name="Picture 5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457200"/>
            <a:ext cx="5882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IDÉES DE VIDÉOS · 5 ET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777240"/>
            <a:ext cx="70713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Expliquer l’offre, raconter l’année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78308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725424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5. « L’offre en 30 secondes ».</a:t>
            </a:r>
            <a:r>
              <a:rPr sz="1400" b="0">
                <a:solidFill>
                  <a:srgbClr val="000000"/>
                </a:solidFill>
                <a:latin typeface="Montserrat"/>
              </a:rPr>
              <a:t> Un ambassadeur étudiant explique, face caméra, ce que contient l’offre et comment la prendre, étape par étape à l’écran. À tourner une fois les caractéristiques validées.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6. « De la première année au diplôme ».</a:t>
            </a:r>
            <a:r>
              <a:rPr sz="1400" b="0">
                <a:solidFill>
                  <a:srgbClr val="000000"/>
                </a:solidFill>
                <a:latin typeface="Montserrat"/>
              </a:rPr>
              <a:t> 30 s. Le parcours d’une étudiante en accéléré : inscription, partiels, stage, soutenance, remise du diplôme. Le téléphone est là à chaque étape.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892040"/>
            <a:ext cx="7254240" cy="6858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892040"/>
            <a:ext cx="6797040" cy="6858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ontserrat"/>
              </a:rPr>
              <a:t>Vidéo 5 en publicité payante · vidéo 6 en film de marque pour la fin du lancement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11</a:t>
            </a:r>
          </a:p>
        </p:txBody>
      </p:sp>
      <p:pic>
        <p:nvPicPr>
          <p:cNvPr id="5" name="Picture 4" descr="cr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23360" cy="6858000"/>
          </a:xfrm>
          <a:prstGeom prst="rect">
            <a:avLst/>
          </a:prstGeom>
        </p:spPr>
      </p:pic>
      <p:pic>
        <p:nvPicPr>
          <p:cNvPr id="6" name="Picture 5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457200"/>
            <a:ext cx="5882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55555"/>
                </a:solidFill>
                <a:latin typeface="Montserrat"/>
              </a:rPr>
              <a:t>SUR LE TERRAIN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777240"/>
            <a:ext cx="70713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Des ambassadeurs sur chaque campus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78308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725424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Qui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2 à 3 étudiants par campus, actifs sur les réseaux et connus de leur promo.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Ce qu’ils font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publier leurs propres vidéos, relayer le défi, tenir les stands, répondre aux questions de leurs camarades.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Ce qu’on leur donne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un kit (visuels, accroches, réponses aux questions fréquentes), un message clair sur ce qu’ils peuvent promettre et ce qu’ils ne doivent pas dire.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Leur rémunération et leurs conditions</a:t>
            </a:r>
            <a:r>
              <a:rPr sz="1400" b="0">
                <a:solidFill>
                  <a:srgbClr val="000000"/>
                </a:solidFill>
                <a:latin typeface="Montserrat"/>
              </a:rPr>
              <a:t> sont à fixer avec MTN.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892040"/>
            <a:ext cx="7254240" cy="6858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892040"/>
            <a:ext cx="6797040" cy="6858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Montserrat"/>
              </a:rPr>
              <a:t>Règle :</a:t>
            </a:r>
            <a:r>
              <a:rPr sz="1300" b="0">
                <a:solidFill>
                  <a:srgbClr val="000000"/>
                </a:solidFill>
                <a:latin typeface="Montserrat"/>
              </a:rPr>
              <a:t> chaque publication d’ambassadeur mentionne qu’il s’agit d’un partenariat avec MTN.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Comment on saura que ça marche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ontserrat"/>
              </a:rPr>
              <a:t>Les objectifs chiffrés se fixent avec MTN, à partir de ses résultats habituels.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09728" cy="128016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480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ontserrat"/>
              </a:rPr>
              <a:t>Souscriptions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4480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Nombre d’étudiants qui prennent l’offre, par campus et par canal (codes ou liens différents).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79" y="2103120"/>
            <a:ext cx="109728" cy="128016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19" y="2103120"/>
            <a:ext cx="4480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ontserrat"/>
              </a:rPr>
              <a:t>Visibilité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19" y="2606040"/>
            <a:ext cx="4480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Vues des vidéos, portée auprès des 18-25 ans dans les villes universitaires.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109728" cy="128016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4480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ontserrat"/>
              </a:rPr>
              <a:t>Participation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06240"/>
            <a:ext cx="4480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Vidéos publiées avec #TaConnexionValideTonAnnée, partages, identifications d’amis.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79" y="3703320"/>
            <a:ext cx="109728" cy="128016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19" y="3703320"/>
            <a:ext cx="4480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ontserrat"/>
              </a:rPr>
              <a:t>Questions et avis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19" y="4206240"/>
            <a:ext cx="44805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Ce que les étudiants demandent et reprochent en commentaires, pour ajuster les messages.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Lancement de l’offre Internet étudiants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À recevoir de MTN avant de lancer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9875520" cy="4023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Les caractéristiques de l’offre :</a:t>
            </a:r>
            <a:r>
              <a:rPr sz="1600" b="0">
                <a:solidFill>
                  <a:srgbClr val="000000"/>
                </a:solidFill>
                <a:latin typeface="Montserrat"/>
              </a:rPr>
              <a:t> prix, volume de data, durée de validité, services inclus ou non.</a:t>
            </a:r>
          </a:p>
          <a:p>
            <a:pPr algn="l">
              <a:spcAft>
                <a:spcPts val="13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Les conditions d’éligibilité :</a:t>
            </a:r>
            <a:r>
              <a:rPr sz="1600" b="0">
                <a:solidFill>
                  <a:srgbClr val="000000"/>
                </a:solidFill>
                <a:latin typeface="Montserrat"/>
              </a:rPr>
              <a:t> qui peut la prendre, et comment on prouve qu’on est étudiant.</a:t>
            </a:r>
          </a:p>
          <a:p>
            <a:pPr algn="l">
              <a:spcAft>
                <a:spcPts val="13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La façon de souscrire :</a:t>
            </a:r>
            <a:r>
              <a:rPr sz="1600" b="0">
                <a:solidFill>
                  <a:srgbClr val="000000"/>
                </a:solidFill>
                <a:latin typeface="Montserrat"/>
              </a:rPr>
              <a:t> code, application, point de vente, stand sur le campus.</a:t>
            </a:r>
          </a:p>
          <a:p>
            <a:pPr algn="l">
              <a:spcAft>
                <a:spcPts val="13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La date de lancement</a:t>
            </a:r>
            <a:r>
              <a:rPr sz="1600" b="0">
                <a:solidFill>
                  <a:srgbClr val="000000"/>
                </a:solidFill>
                <a:latin typeface="Montserrat"/>
              </a:rPr>
              <a:t> et les campus prioritaires.</a:t>
            </a:r>
          </a:p>
          <a:p>
            <a:pPr algn="l">
              <a:spcAft>
                <a:spcPts val="13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Le budget</a:t>
            </a:r>
            <a:r>
              <a:rPr sz="1600" b="0">
                <a:solidFill>
                  <a:srgbClr val="000000"/>
                </a:solidFill>
                <a:latin typeface="Montserrat"/>
              </a:rPr>
              <a:t> de publicité payante, de production et d’ambassadeurs.</a:t>
            </a:r>
          </a:p>
          <a:p>
            <a:pPr algn="l">
              <a:spcAft>
                <a:spcPts val="13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La relecture juridique</a:t>
            </a:r>
            <a:r>
              <a:rPr sz="1600" b="0">
                <a:solidFill>
                  <a:srgbClr val="000000"/>
                </a:solidFill>
                <a:latin typeface="Montserrat"/>
              </a:rPr>
              <a:t> des accroches et du règlement du défi.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