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v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645920" cy="722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DC4FF"/>
                </a:solidFill>
                <a:latin typeface="Montserrat"/>
              </a:rPr>
              <a:t>AUDIT DES RÉSEAUX ·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E0D5D"/>
                </a:solidFill>
                <a:latin typeface="Montserrat"/>
              </a:rPr>
              <a:t>Facebook et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0E0D5D"/>
                </a:solidFill>
                <a:latin typeface="Montserrat"/>
              </a:rPr>
              <a:t>LinkedIn : quoi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0E0D5D"/>
                </a:solidFill>
                <a:latin typeface="Montserrat"/>
              </a:rPr>
              <a:t>corriger en premier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48463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78"/>
                </a:solidFill>
                <a:latin typeface="Montserrat"/>
              </a:rPr>
              <a:t>Pages Wave Côte d’Ivoire, relevées le 23 octobre 2026.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78"/>
                </a:solidFill>
                <a:latin typeface="Montserrat"/>
              </a:rPr>
              <a:t>Pour Aïcha,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Les trois corrections, dans l’ordre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0149840" cy="914400"/>
          </a:xfrm>
          <a:prstGeom prst="rect">
            <a:avLst/>
          </a:prstGeom>
          <a:solidFill>
            <a:srgbClr val="0E0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95097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FFFFFF"/>
                </a:solidFill>
                <a:latin typeface="Montserrat"/>
              </a:rPr>
              <a:t>Les pages sont actives et suivies. Ce qui coûte le plus aujourd’hui : </a:t>
            </a:r>
            <a:r>
              <a:rPr sz="1450" b="1">
                <a:solidFill>
                  <a:srgbClr val="FFFFFF"/>
                </a:solidFill>
                <a:latin typeface="Montserrat"/>
              </a:rPr>
              <a:t>26 490 commentaires Facebook en dix semaines</a:t>
            </a:r>
            <a:r>
              <a:rPr sz="1450" b="0">
                <a:solidFill>
                  <a:srgbClr val="FFFFFF"/>
                </a:solidFill>
                <a:latin typeface="Montserrat"/>
              </a:rPr>
              <a:t>, et aucune réponse visible de Wave sous les commentaires les plus vus.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3200400" cy="274320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34640"/>
            <a:ext cx="28346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0D5D"/>
                </a:solidFill>
                <a:latin typeface="Montserrat"/>
              </a:rPr>
              <a:t>1. Répondre sous les posts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11880"/>
            <a:ext cx="283464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Une réponse courte et un renvoi vers le 1315 sous chaque question ou plainte, en moins de 24 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846320"/>
            <a:ext cx="2834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DC4FF"/>
                </a:solidFill>
                <a:latin typeface="Montserrat"/>
              </a:rPr>
              <a:t>À suivre : part des commentaires avec réponse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2697480"/>
            <a:ext cx="3200400" cy="274320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2834640"/>
            <a:ext cx="28346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0D5D"/>
                </a:solidFill>
                <a:latin typeface="Montserrat"/>
              </a:rPr>
              <a:t>2. Présenter les services par une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3611880"/>
            <a:ext cx="283464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Le même service, Bank to Wallet : 8 682 réactions posé en question, 88 en mode d’emploi.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4846320"/>
            <a:ext cx="2834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DC4FF"/>
                </a:solidFill>
                <a:latin typeface="Montserrat"/>
              </a:rPr>
              <a:t>À suivre : réactions des posts produit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697480"/>
            <a:ext cx="3200400" cy="274320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2834640"/>
            <a:ext cx="28346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0D5D"/>
                </a:solidFill>
                <a:latin typeface="Montserrat"/>
              </a:rPr>
              <a:t>3. Recentrer LinkedIn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611880"/>
            <a:ext cx="283464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Les partenariats et les équipes y marchent ; les promos grand public au « tu » y font les plus faibles scores.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4846320"/>
            <a:ext cx="2834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DC4FF"/>
                </a:solidFill>
                <a:latin typeface="Montserrat"/>
              </a:rPr>
              <a:t>À suivre : réactions médianes (179 aujourd’hui)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1. Répondre sous les publications Facebook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Le plus gros levier : la page parle beaucoup, mais ne répond pas.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C4FF"/>
                </a:solidFill>
                <a:latin typeface="Montserrat"/>
              </a:rPr>
              <a:t>26 490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95978"/>
                </a:solidFill>
                <a:latin typeface="Montserrat"/>
              </a:rPr>
              <a:t>commentaires sur 60 publications
(10 août – 22 octobre)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874519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C4FF"/>
                </a:solidFill>
                <a:latin typeface="Montserrat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651760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95978"/>
                </a:solidFill>
                <a:latin typeface="Montserrat"/>
              </a:rPr>
              <a:t>réponse visible de Wave parmi les
51 commentaires mis en avant relevés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74519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C4FF"/>
                </a:solidFill>
                <a:latin typeface="Montserrat"/>
              </a:rPr>
              <a:t>1315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651760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95978"/>
                </a:solidFill>
                <a:latin typeface="Montserrat"/>
              </a:rPr>
              <a:t>le numéro du service client déjà
affiché sur la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10149840" cy="182880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49039"/>
            <a:ext cx="960120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Ce qu’on lit dans ces commentaires :</a:t>
            </a:r>
            <a:r>
              <a:rPr sz="1300" b="0">
                <a:solidFill>
                  <a:srgbClr val="1C1C1C"/>
                </a:solidFill>
                <a:latin typeface="Montserrat"/>
              </a:rPr>
              <a:t> des bonus réclamés, des questions sur une transaction, des idées de fonctions, des remerciements.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Pourquoi c’est prioritaire :</a:t>
            </a:r>
            <a:r>
              <a:rPr sz="1300" b="0">
                <a:solidFill>
                  <a:srgbClr val="1C1C1C"/>
                </a:solidFill>
                <a:latin typeface="Montserrat"/>
              </a:rPr>
              <a:t> un client sans réponse en public le dit à d’autres, et les escrocs que vos alertes dénoncent se glissent justement dans ces fils.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Ce qu’on change :</a:t>
            </a:r>
            <a:r>
              <a:rPr sz="1300" b="0">
                <a:solidFill>
                  <a:srgbClr val="1C1C1C"/>
                </a:solidFill>
                <a:latin typeface="Montserrat"/>
              </a:rPr>
              <a:t> trois réponses types (page 6), une réponse en moins de 24 h, et jamais de détail de compte en public.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2. Présenter un service par une question, pas par un mode d’emploi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Même service, même page, deux manières de le présenter.</a:t>
            </a:r>
          </a:p>
        </p:txBody>
      </p:sp>
      <p:pic>
        <p:nvPicPr>
          <p:cNvPr id="9" name="Picture 8" descr="fb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2487168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0" y="178308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Facebook · 31 août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03120"/>
            <a:ext cx="23774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DC4FF"/>
                </a:solidFill>
                <a:latin typeface="Montserrat"/>
              </a:rPr>
              <a:t>8 682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88920"/>
            <a:ext cx="23774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réactions, commentaires et partages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83280"/>
            <a:ext cx="237744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« Quelle banque aimerais-tu voir sur Wave ? » Question ouverte, 3 941 commentaires.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83080"/>
            <a:ext cx="2487168" cy="310896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011680"/>
            <a:ext cx="210312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0E0D5D"/>
                </a:solidFill>
                <a:latin typeface="Montserrat"/>
              </a:rPr>
              <a:t>1. Accède à « Banque »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0E0D5D"/>
                </a:solidFill>
                <a:latin typeface="Montserrat"/>
              </a:rPr>
              <a:t>2. Sélectionne ta banque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0E0D5D"/>
                </a:solidFill>
                <a:latin typeface="Montserrat"/>
              </a:rPr>
              <a:t>3. Obtiens ta clé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0E0D5D"/>
                </a:solidFill>
                <a:latin typeface="Montserrat"/>
              </a:rPr>
              <a:t>4. Partage-la en agence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78308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LinkedIn · 13 octobre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23774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7900"/>
                </a:solidFill>
                <a:latin typeface="Montserrat"/>
              </a:rPr>
              <a:t>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88920"/>
            <a:ext cx="23774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réactions, commentaires et partages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383280"/>
            <a:ext cx="237744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« Tu souhaites relier ton compte bancaire ? » Mode d’emploi en 4 étapes, 4 commentaires.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29200"/>
            <a:ext cx="10149840" cy="502920"/>
          </a:xfrm>
          <a:prstGeom prst="rect">
            <a:avLst/>
          </a:prstGeom>
          <a:solidFill>
            <a:srgbClr val="0E0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02352"/>
            <a:ext cx="978408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Même constat avec Glovo (77) et la carte Visa (105) : les deux plus faibles posts Facebook présentaient un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3. Recentrer LinkedIn sur l’entreprise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Sur LinkedIn on suit Wave comme employeur et partenaire, pas comme application.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937760" cy="361188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45354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0D5D"/>
                </a:solidFill>
                <a:latin typeface="Montserrat"/>
              </a:rPr>
              <a:t>Ce qui marche (réactions)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41448"/>
            <a:ext cx="4535424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695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partenaire premium du concert de Tiakola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538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partenariat stratégique avec Glovo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472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vidéo « grandir chez Wave », un salarié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364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offre d’emploi en marketing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304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rencontre avec les Premium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783080"/>
            <a:ext cx="4937760" cy="3611880"/>
          </a:xfrm>
          <a:prstGeom prst="rect">
            <a:avLst/>
          </a:prstGeom>
          <a:solidFill>
            <a:srgbClr val="FF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947672"/>
            <a:ext cx="45354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67900"/>
                </a:solidFill>
                <a:latin typeface="Montserrat"/>
              </a:rPr>
              <a:t>Ce qui ne marche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441448"/>
            <a:ext cx="4535424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43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sponsor du Salon de l’Épargne, en vidéo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78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terrain de basket à Koumassi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87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la rentrée avec Wave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88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Bank to Wallet, mode d’emploi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89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shopping chez les commerçants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0149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0D5D"/>
                </a:solidFill>
                <a:latin typeface="Montserrat"/>
              </a:rPr>
              <a:t>Garder : partenariats, équipes, agents et commerçants. Laisser à Facebook : promos et tutoriels grand public.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Premier lot · trois réponses types à valider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À adapter au prénom du client, publiées sous le commentaire.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200400" cy="310896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279806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Problème de transaction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41448"/>
            <a:ext cx="2798064" cy="2331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« Bonjour [prénom], merci de nous l’avoir signalé. Pour votre sécurité, ne partagez jamais votre code ni votre numéro ici. Notre service client vous aide au 1315.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783080"/>
            <a:ext cx="3200400" cy="310896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7" y="1947672"/>
            <a:ext cx="279806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Bonus ou cadeau réclamé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7" y="2441448"/>
            <a:ext cx="2798064" cy="2331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« Bonjour [prénom], merci pour votre fidélité 🩵 Les offres de Wave sont annoncées uniquement sur nos pages officielles. Pour une question sur votre compte, appelez le 1315.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783080"/>
            <a:ext cx="3200400" cy="310896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1947672"/>
            <a:ext cx="279806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Lien ou message douteux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2441448"/>
            <a:ext cx="2798064" cy="2331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« Merci [prénom] de votre vigilance 🙏🏾 Ce message ne vient pas de Wave. Ne cliquez pas, ne donnez jamais votre code. En cas de doute, appelez le 1315.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01498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Chaque réponse renvoie vers le 1315 et ne promet rien : aucune offre, aucun délai de remboursement.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Premier lot · deux posts réécrits en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Mêmes services que les deux posts les plus faibles, à publier un samedi vers 9 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937760" cy="329184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45354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Glovo (77 réactions le 6 octobre)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41448"/>
            <a:ext cx="4535424" cy="2514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« Ta dernière commande Glovo, tu l’as payée comment ? 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Depuis peu, tu peux payer avec Wave directement dans l’application Glovo.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Dis-nous en commentaire ce que tu commandes le plus 👇🏾 »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#WaveCI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783080"/>
            <a:ext cx="4937760" cy="329184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947672"/>
            <a:ext cx="45354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Carte Visa virtuelle (105 réactions le 21 octobre)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441448"/>
            <a:ext cx="4535424" cy="2514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« Netflix, Spotify, Canva… Combien d’abonnements passent sur ta carte Visa virtuelle Wave ? 💳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Réponds en commentaire, et regarde La Minute Wave : Jean-Israël t’explique comment éviter les prélèvements imprévus. »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#WaveCI #CarteVirtuelleWave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10149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Les services sont tirés de vos posts. Les marques citées dans le second sont à valider avant publication.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Relevé · la page Facebook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Page « Wave Côte d’Ivoire », relevée le 23 octobre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492 367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abonnés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96 %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recommandent (428 avis)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5,8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posts par semaine, jamais plus de 3 jours sans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913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réactions, commentaires et partages par post (médiane)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Par format (médiane)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Photo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922776"/>
            <a:ext cx="1872234" cy="219456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6714" y="388620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1 170  (46 posts)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Album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334256"/>
            <a:ext cx="1113739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68219" y="429768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696  (6 posts)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Vidéo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745736"/>
            <a:ext cx="403250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57730" y="470916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252  (8 posts)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Par jour (médiane)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88620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Samedi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922776"/>
            <a:ext cx="2461164" cy="219456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9164" y="388620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1 595  (12 posts)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29768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Vendredi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334256"/>
            <a:ext cx="1127969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85969" y="429768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731  (9 posts)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70916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Lundi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4745736"/>
            <a:ext cx="1121797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9797" y="470916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727  (10 posts)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12064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Mercredi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5157216"/>
            <a:ext cx="469087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27087" y="512064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304  (11 posts)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32120"/>
            <a:ext cx="10149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95978"/>
                </a:solidFill>
                <a:latin typeface="Montserrat"/>
              </a:rPr>
              <a:t>Aucune publicité en cours sur la page à la date du relevé. Le nombre de vues des vidéos n’est pas visible publiquement.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Facebook · ce qui fait réagir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Les quatre meilleurs posts : une fête, deux alertes contre les arnaques, une question.</a:t>
            </a:r>
          </a:p>
        </p:txBody>
      </p:sp>
      <p:pic>
        <p:nvPicPr>
          <p:cNvPr id="9" name="Picture 8" descr="fbimg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2084832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462272"/>
            <a:ext cx="2377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DC4FF"/>
                </a:solidFill>
                <a:latin typeface="Montserrat"/>
              </a:rPr>
              <a:t>18 563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1C1C"/>
                </a:solidFill>
                <a:latin typeface="Montserrat"/>
              </a:rPr>
              <a:t>Assomption · 15 août</a:t>
            </a:r>
          </a:p>
        </p:txBody>
      </p:sp>
      <p:pic>
        <p:nvPicPr>
          <p:cNvPr id="12" name="Picture 11" descr="fbimg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783080"/>
            <a:ext cx="2084832" cy="2606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54680" y="4462272"/>
            <a:ext cx="2377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DC4FF"/>
                </a:solidFill>
                <a:latin typeface="Montserrat"/>
              </a:rPr>
              <a:t>14 895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89204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1C1C"/>
                </a:solidFill>
                <a:latin typeface="Montserrat"/>
              </a:rPr>
              <a:t>Alerte arnaque · 11 août
4 170 partages</a:t>
            </a:r>
          </a:p>
        </p:txBody>
      </p:sp>
      <p:pic>
        <p:nvPicPr>
          <p:cNvPr id="15" name="Picture 14" descr="fbimg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783080"/>
            <a:ext cx="2084832" cy="2606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0720" y="4462272"/>
            <a:ext cx="2377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DC4FF"/>
                </a:solidFill>
                <a:latin typeface="Montserrat"/>
              </a:rPr>
              <a:t>8 682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89204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1C1C"/>
                </a:solidFill>
                <a:latin typeface="Montserrat"/>
              </a:rPr>
              <a:t>Question banques · 31 août</a:t>
            </a:r>
          </a:p>
        </p:txBody>
      </p:sp>
      <p:pic>
        <p:nvPicPr>
          <p:cNvPr id="18" name="Picture 17" descr="fbimg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1783080"/>
            <a:ext cx="2084832" cy="2606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60" y="4462272"/>
            <a:ext cx="2377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DC4FF"/>
                </a:solidFill>
                <a:latin typeface="Montserrat"/>
              </a:rPr>
              <a:t>8 396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89204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1C1C"/>
                </a:solidFill>
                <a:latin typeface="Montserrat"/>
              </a:rPr>
              <a:t>Faux liens · 19 sept.
2 580 partages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101498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0D5D"/>
                </a:solidFill>
                <a:latin typeface="Montserrat"/>
              </a:rPr>
              <a:t>Les alertes sont les posts les plus partagés : vos abonnés les relaient eux-mêmes. À garder, une fois par mois au moins.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Relevé · la page LinkedIn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Page « Wave Côte d’Ivoire », relevée le 23 octobre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89 149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abonnés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2,7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posts par semaine, jusqu’à 8 jours sans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réactions, commentaires et partages par post (médiane)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3,5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commentaires par post (médiane)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Par format (médiane)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Album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922776"/>
            <a:ext cx="2309774" cy="219456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5694" y="388620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421  (2 posts)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Document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4334256"/>
            <a:ext cx="1113739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59659" y="429768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203  (10 posts)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Vidéo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745736"/>
            <a:ext cx="949147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95067" y="470916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173  (7 posts)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Photo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5157216"/>
            <a:ext cx="768096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14016" y="512064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140  (15 posts)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3429000"/>
            <a:ext cx="4937760" cy="182880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3566160"/>
            <a:ext cx="457200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C1C1C"/>
                </a:solidFill>
                <a:latin typeface="Montserrat"/>
              </a:rPr>
              <a:t>Peu de conversation :</a:t>
            </a:r>
            <a:r>
              <a:rPr sz="1250" b="0">
                <a:solidFill>
                  <a:srgbClr val="1C1C1C"/>
                </a:solidFill>
                <a:latin typeface="Montserrat"/>
              </a:rPr>
              <a:t> 3 à 4 commentaires par post en médiane.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C1C1C"/>
                </a:solidFill>
                <a:latin typeface="Montserrat"/>
              </a:rPr>
              <a:t>Les albums</a:t>
            </a:r>
            <a:r>
              <a:rPr sz="1250" b="0">
                <a:solidFill>
                  <a:srgbClr val="1C1C1C"/>
                </a:solidFill>
                <a:latin typeface="Montserrat"/>
              </a:rPr>
              <a:t> arrivent en tête, mais sur 2 posts seulement : à tester avant d’en faire une règle.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C1C1C"/>
                </a:solidFill>
                <a:latin typeface="Montserrat"/>
              </a:rPr>
              <a:t>Meilleur créneau :</a:t>
            </a:r>
            <a:r>
              <a:rPr sz="1250" b="0">
                <a:solidFill>
                  <a:srgbClr val="1C1C1C"/>
                </a:solidFill>
                <a:latin typeface="Montserrat"/>
              </a:rPr>
              <a:t> 11 h en semaine.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Méthode et limites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149840" cy="3840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1C1C1C"/>
                </a:solidFill>
                <a:latin typeface="Montserrat"/>
              </a:rPr>
              <a:t>Ce qui a été relevé :</a:t>
            </a:r>
            <a:r>
              <a:rPr sz="1350" b="0">
                <a:solidFill>
                  <a:srgbClr val="1C1C1C"/>
                </a:solidFill>
                <a:latin typeface="Montserrat"/>
              </a:rPr>
              <a:t> les 60 derniers posts Facebook (10 août – 22 octobre 2026) et les 34 derniers posts LinkedIn (24 juillet – 22 octobre 2026), avec leurs réactions, commentaires et partages publics.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1C1C1C"/>
                </a:solidFill>
                <a:latin typeface="Montserrat"/>
              </a:rPr>
              <a:t>Engagement d’un post :</a:t>
            </a:r>
            <a:r>
              <a:rPr sz="1350" b="0">
                <a:solidFill>
                  <a:srgbClr val="1C1C1C"/>
                </a:solidFill>
                <a:latin typeface="Montserrat"/>
              </a:rPr>
              <a:t> réactions + commentaires + partages. On compare des médianes, moins sensibles qu’une moyenne à un post exceptionnel.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1C1C1C"/>
                </a:solidFill>
                <a:latin typeface="Montserrat"/>
              </a:rPr>
              <a:t>Ce qui n’est pas visible sans accès administrateur :</a:t>
            </a:r>
            <a:r>
              <a:rPr sz="1350" b="0">
                <a:solidFill>
                  <a:srgbClr val="1C1C1C"/>
                </a:solidFill>
                <a:latin typeface="Montserrat"/>
              </a:rPr>
              <a:t> portée, vues des vidéos, clics, messages privés, profil des abonnés. Ces chiffres préciseraient les priorités 2 et 3.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1C1C1C"/>
                </a:solidFill>
                <a:latin typeface="Montserrat"/>
              </a:rPr>
              <a:t>Les réponses de Wave</a:t>
            </a:r>
            <a:r>
              <a:rPr sz="1350" b="0">
                <a:solidFill>
                  <a:srgbClr val="1C1C1C"/>
                </a:solidFill>
                <a:latin typeface="Montserrat"/>
              </a:rPr>
              <a:t> sont relevées parmi les commentaires mis en avant sous chaque post, pas sur la totalité des 26 490.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1C1C1C"/>
                </a:solidFill>
                <a:latin typeface="Montserrat"/>
              </a:rPr>
              <a:t>Hors de cet audit :</a:t>
            </a:r>
            <a:r>
              <a:rPr sz="1350" b="0">
                <a:solidFill>
                  <a:srgbClr val="1C1C1C"/>
                </a:solidFill>
                <a:latin typeface="Montserrat"/>
              </a:rPr>
              <a:t> Instagram, TikTok et 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