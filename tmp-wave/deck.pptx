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r_cover.jpg"/>
          <p:cNvPicPr>
            <a:picLocks noChangeAspect="1"/>
          </p:cNvPicPr>
          <p:nvPr/>
        </p:nvPicPr>
        <p:blipFill>
          <a:blip r:embed="rId2"/>
          <a:stretch>
            <a:fillRect/>
          </a:stretch>
        </p:blipFill>
        <p:spPr>
          <a:xfrm>
            <a:off x="6705600" y="0"/>
            <a:ext cx="5486400" cy="6858000"/>
          </a:xfrm>
          <a:prstGeom prst="rect">
            <a:avLst/>
          </a:prstGeom>
        </p:spPr>
      </p:pic>
      <p:sp>
        <p:nvSpPr>
          <p:cNvPr id="4" name="Rectangle 3"/>
          <p:cNvSpPr/>
          <p:nvPr/>
        </p:nvSpPr>
        <p:spPr>
          <a:xfrm>
            <a:off x="0" y="0"/>
            <a:ext cx="164592" cy="685800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av-logo.png"/>
          <p:cNvPicPr>
            <a:picLocks noChangeAspect="1"/>
          </p:cNvPicPr>
          <p:nvPr/>
        </p:nvPicPr>
        <p:blipFill>
          <a:blip r:embed="rId3"/>
          <a:stretch>
            <a:fillRect/>
          </a:stretch>
        </p:blipFill>
        <p:spPr>
          <a:xfrm>
            <a:off x="640080" y="548640"/>
            <a:ext cx="1645920" cy="722774"/>
          </a:xfrm>
          <a:prstGeom prst="rect">
            <a:avLst/>
          </a:prstGeom>
        </p:spPr>
      </p:pic>
      <p:sp>
        <p:nvSpPr>
          <p:cNvPr id="6" name="TextBox 5"/>
          <p:cNvSpPr txBox="1"/>
          <p:nvPr/>
        </p:nvSpPr>
        <p:spPr>
          <a:xfrm>
            <a:off x="640080" y="1600200"/>
            <a:ext cx="5120640" cy="365760"/>
          </a:xfrm>
          <a:prstGeom prst="rect">
            <a:avLst/>
          </a:prstGeom>
          <a:noFill/>
        </p:spPr>
        <p:txBody>
          <a:bodyPr wrap="square" anchor="t" lIns="0" rIns="0">
            <a:spAutoFit/>
          </a:bodyPr>
          <a:lstStyle/>
          <a:p>
            <a:pPr algn="l">
              <a:spcAft>
                <a:spcPts val="600"/>
              </a:spcAft>
            </a:pPr>
            <a:r>
              <a:rPr sz="1300" b="1">
                <a:solidFill>
                  <a:srgbClr val="1DC4FF"/>
                </a:solidFill>
                <a:latin typeface="Montserrat"/>
              </a:rPr>
              <a:t>ÉTUDE DE CIBLE · MARKETING</a:t>
            </a:r>
          </a:p>
        </p:txBody>
      </p:sp>
      <p:sp>
        <p:nvSpPr>
          <p:cNvPr id="7" name="TextBox 6"/>
          <p:cNvSpPr txBox="1"/>
          <p:nvPr/>
        </p:nvSpPr>
        <p:spPr>
          <a:xfrm>
            <a:off x="640080" y="2011680"/>
            <a:ext cx="5029200" cy="1828800"/>
          </a:xfrm>
          <a:prstGeom prst="rect">
            <a:avLst/>
          </a:prstGeom>
          <a:noFill/>
        </p:spPr>
        <p:txBody>
          <a:bodyPr wrap="square" anchor="t" lIns="0" rIns="0">
            <a:spAutoFit/>
          </a:bodyPr>
          <a:lstStyle/>
          <a:p>
            <a:pPr algn="l">
              <a:spcAft>
                <a:spcPts val="0"/>
              </a:spcAft>
            </a:pPr>
            <a:r>
              <a:rPr sz="3600" b="1">
                <a:solidFill>
                  <a:srgbClr val="0E0D5D"/>
                </a:solidFill>
                <a:latin typeface="Montserrat"/>
              </a:rPr>
              <a:t>Les commerçants</a:t>
            </a:r>
          </a:p>
          <a:p>
            <a:pPr algn="l">
              <a:spcAft>
                <a:spcPts val="0"/>
              </a:spcAft>
            </a:pPr>
            <a:r>
              <a:rPr sz="3600" b="1">
                <a:solidFill>
                  <a:srgbClr val="0E0D5D"/>
                </a:solidFill>
                <a:latin typeface="Montserrat"/>
              </a:rPr>
              <a:t>des marchés qui</a:t>
            </a:r>
          </a:p>
          <a:p>
            <a:pPr algn="l">
              <a:spcAft>
                <a:spcPts val="0"/>
              </a:spcAft>
            </a:pPr>
            <a:r>
              <a:rPr sz="3600" b="1">
                <a:solidFill>
                  <a:srgbClr val="0E0D5D"/>
                </a:solidFill>
                <a:latin typeface="Montserrat"/>
              </a:rPr>
              <a:t>acceptent Wave</a:t>
            </a:r>
          </a:p>
        </p:txBody>
      </p:sp>
      <p:sp>
        <p:nvSpPr>
          <p:cNvPr id="8" name="TextBox 7"/>
          <p:cNvSpPr txBox="1"/>
          <p:nvPr/>
        </p:nvSpPr>
        <p:spPr>
          <a:xfrm>
            <a:off x="640080" y="3977639"/>
            <a:ext cx="4846320" cy="1097280"/>
          </a:xfrm>
          <a:prstGeom prst="rect">
            <a:avLst/>
          </a:prstGeom>
          <a:noFill/>
        </p:spPr>
        <p:txBody>
          <a:bodyPr wrap="square" anchor="t" lIns="0" rIns="0">
            <a:spAutoFit/>
          </a:bodyPr>
          <a:lstStyle/>
          <a:p>
            <a:pPr algn="l">
              <a:spcAft>
                <a:spcPts val="600"/>
              </a:spcAft>
            </a:pPr>
            <a:r>
              <a:rPr sz="1500" b="0">
                <a:solidFill>
                  <a:srgbClr val="595978"/>
                </a:solidFill>
                <a:latin typeface="Montserrat"/>
              </a:rPr>
              <a:t>Qui sont-ils, et sur qui concentrer les efforts en premier.</a:t>
            </a:r>
          </a:p>
          <a:p>
            <a:pPr algn="l">
              <a:spcAft>
                <a:spcPts val="600"/>
              </a:spcAft>
            </a:pPr>
            <a:r>
              <a:rPr sz="1500" b="0">
                <a:solidFill>
                  <a:srgbClr val="595978"/>
                </a:solidFill>
                <a:latin typeface="Montserrat"/>
              </a:rPr>
              <a:t>Proposition pour Aïcha, marketing ·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2</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La réponse en bref</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10149840" cy="141732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9509760" cy="1188720"/>
          </a:xfrm>
          <a:prstGeom prst="rect">
            <a:avLst/>
          </a:prstGeom>
          <a:noFill/>
        </p:spPr>
        <p:txBody>
          <a:bodyPr wrap="square" anchor="t" lIns="0" rIns="0">
            <a:spAutoFit/>
          </a:bodyPr>
          <a:lstStyle/>
          <a:p>
            <a:pPr algn="l">
              <a:spcAft>
                <a:spcPts val="800"/>
              </a:spcAft>
            </a:pPr>
            <a:r>
              <a:rPr sz="1550" b="1">
                <a:solidFill>
                  <a:srgbClr val="FFFFFF"/>
                </a:solidFill>
                <a:latin typeface="Montserrat"/>
              </a:rPr>
              <a:t>Commencer par les vendeuses de vivrier au détail</a:t>
            </a:r>
            <a:r>
              <a:rPr sz="1550" b="0">
                <a:solidFill>
                  <a:srgbClr val="FFFFFF"/>
                </a:solidFill>
                <a:latin typeface="Montserrat"/>
              </a:rPr>
              <a:t>, celles qui vendent tomates, piment, légumes et condiments sur les étals.</a:t>
            </a:r>
          </a:p>
          <a:p>
            <a:pPr algn="l">
              <a:spcAft>
                <a:spcPts val="800"/>
              </a:spcAft>
            </a:pPr>
            <a:r>
              <a:rPr sz="1550" b="0">
                <a:solidFill>
                  <a:srgbClr val="FFFFFF"/>
                </a:solidFill>
                <a:latin typeface="Montserrat"/>
              </a:rPr>
              <a:t>C’est là que le paiement Wave règle le problème de tous les jours, la monnaie, sur des achats que les familles font chaque jour.</a:t>
            </a:r>
          </a:p>
        </p:txBody>
      </p:sp>
      <p:sp>
        <p:nvSpPr>
          <p:cNvPr id="10" name="Rectangle 9"/>
          <p:cNvSpPr/>
          <p:nvPr/>
        </p:nvSpPr>
        <p:spPr>
          <a:xfrm>
            <a:off x="548640" y="3291840"/>
            <a:ext cx="3200400" cy="21488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456432"/>
            <a:ext cx="2798064" cy="457200"/>
          </a:xfrm>
          <a:prstGeom prst="rect">
            <a:avLst/>
          </a:prstGeom>
          <a:noFill/>
        </p:spPr>
        <p:txBody>
          <a:bodyPr wrap="square" anchor="t" lIns="0" rIns="0">
            <a:spAutoFit/>
          </a:bodyPr>
          <a:lstStyle/>
          <a:p>
            <a:pPr algn="l">
              <a:spcAft>
                <a:spcPts val="600"/>
              </a:spcAft>
            </a:pPr>
            <a:r>
              <a:rPr sz="1800" b="1">
                <a:solidFill>
                  <a:srgbClr val="0E0D5D"/>
                </a:solidFill>
                <a:latin typeface="Montserrat"/>
              </a:rPr>
              <a:t>6 catégories</a:t>
            </a:r>
          </a:p>
        </p:txBody>
      </p:sp>
      <p:sp>
        <p:nvSpPr>
          <p:cNvPr id="12" name="TextBox 11"/>
          <p:cNvSpPr txBox="1"/>
          <p:nvPr/>
        </p:nvSpPr>
        <p:spPr>
          <a:xfrm>
            <a:off x="749808" y="3950208"/>
            <a:ext cx="2798064" cy="1371600"/>
          </a:xfrm>
          <a:prstGeom prst="rect">
            <a:avLst/>
          </a:prstGeom>
          <a:noFill/>
        </p:spPr>
        <p:txBody>
          <a:bodyPr wrap="square" anchor="t" lIns="0" rIns="0">
            <a:spAutoFit/>
          </a:bodyPr>
          <a:lstStyle/>
          <a:p>
            <a:pPr algn="l">
              <a:spcAft>
                <a:spcPts val="500"/>
              </a:spcAft>
            </a:pPr>
            <a:r>
              <a:rPr sz="1300" b="0">
                <a:solidFill>
                  <a:srgbClr val="1C1C1C"/>
                </a:solidFill>
                <a:latin typeface="Montserrat"/>
              </a:rPr>
              <a:t>de commerçants dans les marchés, du vivrier au détail jusqu’aux grossistes, en passant par les maquis et les boutiques.</a:t>
            </a:r>
          </a:p>
        </p:txBody>
      </p:sp>
      <p:sp>
        <p:nvSpPr>
          <p:cNvPr id="13" name="Rectangle 12"/>
          <p:cNvSpPr/>
          <p:nvPr/>
        </p:nvSpPr>
        <p:spPr>
          <a:xfrm>
            <a:off x="3977639" y="3291840"/>
            <a:ext cx="3200400" cy="21488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78807" y="3456432"/>
            <a:ext cx="2798064" cy="457200"/>
          </a:xfrm>
          <a:prstGeom prst="rect">
            <a:avLst/>
          </a:prstGeom>
          <a:noFill/>
        </p:spPr>
        <p:txBody>
          <a:bodyPr wrap="square" anchor="t" lIns="0" rIns="0">
            <a:spAutoFit/>
          </a:bodyPr>
          <a:lstStyle/>
          <a:p>
            <a:pPr algn="l">
              <a:spcAft>
                <a:spcPts val="600"/>
              </a:spcAft>
            </a:pPr>
            <a:r>
              <a:rPr sz="1800" b="1">
                <a:solidFill>
                  <a:srgbClr val="0E0D5D"/>
                </a:solidFill>
                <a:latin typeface="Montserrat"/>
              </a:rPr>
              <a:t>Une porte d’entrée</a:t>
            </a:r>
          </a:p>
        </p:txBody>
      </p:sp>
      <p:sp>
        <p:nvSpPr>
          <p:cNvPr id="15" name="TextBox 14"/>
          <p:cNvSpPr txBox="1"/>
          <p:nvPr/>
        </p:nvSpPr>
        <p:spPr>
          <a:xfrm>
            <a:off x="4178807" y="3950208"/>
            <a:ext cx="2798064" cy="1371600"/>
          </a:xfrm>
          <a:prstGeom prst="rect">
            <a:avLst/>
          </a:prstGeom>
          <a:noFill/>
        </p:spPr>
        <p:txBody>
          <a:bodyPr wrap="square" anchor="t" lIns="0" rIns="0">
            <a:spAutoFit/>
          </a:bodyPr>
          <a:lstStyle/>
          <a:p>
            <a:pPr algn="l">
              <a:spcAft>
                <a:spcPts val="500"/>
              </a:spcAft>
            </a:pPr>
            <a:r>
              <a:rPr sz="1300" b="0">
                <a:solidFill>
                  <a:srgbClr val="1C1C1C"/>
                </a:solidFill>
                <a:latin typeface="Montserrat"/>
              </a:rPr>
              <a:t>les responsables et présidentes de marché : ce sont eux qui font adopter, ou rejeter, un nouvel outil.</a:t>
            </a:r>
          </a:p>
        </p:txBody>
      </p:sp>
      <p:sp>
        <p:nvSpPr>
          <p:cNvPr id="16" name="Rectangle 15"/>
          <p:cNvSpPr/>
          <p:nvPr/>
        </p:nvSpPr>
        <p:spPr>
          <a:xfrm>
            <a:off x="7406640" y="3291840"/>
            <a:ext cx="3200400" cy="21488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8" y="3456432"/>
            <a:ext cx="2798064" cy="457200"/>
          </a:xfrm>
          <a:prstGeom prst="rect">
            <a:avLst/>
          </a:prstGeom>
          <a:noFill/>
        </p:spPr>
        <p:txBody>
          <a:bodyPr wrap="square" anchor="t" lIns="0" rIns="0">
            <a:spAutoFit/>
          </a:bodyPr>
          <a:lstStyle/>
          <a:p>
            <a:pPr algn="l">
              <a:spcAft>
                <a:spcPts val="600"/>
              </a:spcAft>
            </a:pPr>
            <a:r>
              <a:rPr sz="1800" b="1">
                <a:solidFill>
                  <a:srgbClr val="0E0D5D"/>
                </a:solidFill>
                <a:latin typeface="Montserrat"/>
              </a:rPr>
              <a:t>Un message</a:t>
            </a:r>
          </a:p>
        </p:txBody>
      </p:sp>
      <p:sp>
        <p:nvSpPr>
          <p:cNvPr id="18" name="TextBox 17"/>
          <p:cNvSpPr txBox="1"/>
          <p:nvPr/>
        </p:nvSpPr>
        <p:spPr>
          <a:xfrm>
            <a:off x="7607808" y="3950208"/>
            <a:ext cx="2798064" cy="1371600"/>
          </a:xfrm>
          <a:prstGeom prst="rect">
            <a:avLst/>
          </a:prstGeom>
          <a:noFill/>
        </p:spPr>
        <p:txBody>
          <a:bodyPr wrap="square" anchor="t" lIns="0" rIns="0">
            <a:spAutoFit/>
          </a:bodyPr>
          <a:lstStyle/>
          <a:p>
            <a:pPr algn="l">
              <a:spcAft>
                <a:spcPts val="500"/>
              </a:spcAft>
            </a:pPr>
            <a:r>
              <a:rPr sz="1300" b="0">
                <a:solidFill>
                  <a:srgbClr val="1C1C1C"/>
                </a:solidFill>
                <a:latin typeface="Montserrat"/>
              </a:rPr>
              <a:t>« Fini les problèmes de monnaie, ton argent est en sécurité » plutôt que des arguments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3</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Ce que l’on sait déjà</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9875520" cy="457200"/>
          </a:xfrm>
          <a:prstGeom prst="rect">
            <a:avLst/>
          </a:prstGeom>
          <a:noFill/>
        </p:spPr>
        <p:txBody>
          <a:bodyPr wrap="square" anchor="t" lIns="0" rIns="0">
            <a:spAutoFit/>
          </a:bodyPr>
          <a:lstStyle/>
          <a:p>
            <a:pPr algn="l">
              <a:spcAft>
                <a:spcPts val="600"/>
              </a:spcAft>
            </a:pPr>
            <a:r>
              <a:rPr sz="1400" b="0">
                <a:solidFill>
                  <a:srgbClr val="595978"/>
                </a:solidFill>
                <a:latin typeface="Montserrat"/>
              </a:rPr>
              <a:t>Uniquement des faits publiés, avec leur source.</a:t>
            </a:r>
          </a:p>
        </p:txBody>
      </p:sp>
      <p:sp>
        <p:nvSpPr>
          <p:cNvPr id="9" name="Rectangle 8"/>
          <p:cNvSpPr/>
          <p:nvPr/>
        </p:nvSpPr>
        <p:spPr>
          <a:xfrm>
            <a:off x="548640" y="1874519"/>
            <a:ext cx="91440" cy="164592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572000" cy="365760"/>
          </a:xfrm>
          <a:prstGeom prst="rect">
            <a:avLst/>
          </a:prstGeom>
          <a:noFill/>
        </p:spPr>
        <p:txBody>
          <a:bodyPr wrap="square" anchor="t" lIns="0" rIns="0">
            <a:spAutoFit/>
          </a:bodyPr>
          <a:lstStyle/>
          <a:p>
            <a:pPr algn="l">
              <a:spcAft>
                <a:spcPts val="600"/>
              </a:spcAft>
            </a:pPr>
            <a:r>
              <a:rPr sz="1600" b="1">
                <a:solidFill>
                  <a:srgbClr val="0E0D5D"/>
                </a:solidFill>
                <a:latin typeface="Montserrat"/>
              </a:rPr>
              <a:t>Le paiement marchand Wave</a:t>
            </a:r>
          </a:p>
        </p:txBody>
      </p:sp>
      <p:sp>
        <p:nvSpPr>
          <p:cNvPr id="11" name="TextBox 10"/>
          <p:cNvSpPr txBox="1"/>
          <p:nvPr/>
        </p:nvSpPr>
        <p:spPr>
          <a:xfrm>
            <a:off x="822960" y="2258567"/>
            <a:ext cx="4572000" cy="1005840"/>
          </a:xfrm>
          <a:prstGeom prst="rect">
            <a:avLst/>
          </a:prstGeom>
          <a:noFill/>
        </p:spPr>
        <p:txBody>
          <a:bodyPr wrap="square" anchor="t" lIns="0" rIns="0">
            <a:spAutoFit/>
          </a:bodyPr>
          <a:lstStyle/>
          <a:p>
            <a:pPr algn="l">
              <a:spcAft>
                <a:spcPts val="300"/>
              </a:spcAft>
            </a:pPr>
            <a:r>
              <a:rPr sz="1250" b="0">
                <a:solidFill>
                  <a:srgbClr val="1C1C1C"/>
                </a:solidFill>
                <a:latin typeface="Montserrat"/>
              </a:rPr>
              <a:t>Lancé auprès des commerçants le 16 janvier 2025 au marché Forum d’Adjamé, avec le slogan « Payez partout, pour tout et sans frais ». Le client scanne un QR code ; une carte QR existe pour les téléphones simples.</a:t>
            </a:r>
          </a:p>
        </p:txBody>
      </p:sp>
      <p:sp>
        <p:nvSpPr>
          <p:cNvPr id="12" name="TextBox 11"/>
          <p:cNvSpPr txBox="1"/>
          <p:nvPr/>
        </p:nvSpPr>
        <p:spPr>
          <a:xfrm>
            <a:off x="822960" y="3246119"/>
            <a:ext cx="4572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Source : Life Radio, janvier 2025</a:t>
            </a:r>
          </a:p>
        </p:txBody>
      </p:sp>
      <p:sp>
        <p:nvSpPr>
          <p:cNvPr id="13" name="Rectangle 12"/>
          <p:cNvSpPr/>
          <p:nvPr/>
        </p:nvSpPr>
        <p:spPr>
          <a:xfrm>
            <a:off x="5669279" y="1874519"/>
            <a:ext cx="91440" cy="164592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599" y="1874519"/>
            <a:ext cx="4572000" cy="365760"/>
          </a:xfrm>
          <a:prstGeom prst="rect">
            <a:avLst/>
          </a:prstGeom>
          <a:noFill/>
        </p:spPr>
        <p:txBody>
          <a:bodyPr wrap="square" anchor="t" lIns="0" rIns="0">
            <a:spAutoFit/>
          </a:bodyPr>
          <a:lstStyle/>
          <a:p>
            <a:pPr algn="l">
              <a:spcAft>
                <a:spcPts val="600"/>
              </a:spcAft>
            </a:pPr>
            <a:r>
              <a:rPr sz="1600" b="1">
                <a:solidFill>
                  <a:srgbClr val="0E0D5D"/>
                </a:solidFill>
                <a:latin typeface="Montserrat"/>
              </a:rPr>
              <a:t>Les marchés d’Abidjan</a:t>
            </a:r>
          </a:p>
        </p:txBody>
      </p:sp>
      <p:sp>
        <p:nvSpPr>
          <p:cNvPr id="15" name="TextBox 14"/>
          <p:cNvSpPr txBox="1"/>
          <p:nvPr/>
        </p:nvSpPr>
        <p:spPr>
          <a:xfrm>
            <a:off x="5943599" y="2258567"/>
            <a:ext cx="4572000" cy="1005840"/>
          </a:xfrm>
          <a:prstGeom prst="rect">
            <a:avLst/>
          </a:prstGeom>
          <a:noFill/>
        </p:spPr>
        <p:txBody>
          <a:bodyPr wrap="square" anchor="t" lIns="0" rIns="0">
            <a:spAutoFit/>
          </a:bodyPr>
          <a:lstStyle/>
          <a:p>
            <a:pPr algn="l">
              <a:spcAft>
                <a:spcPts val="300"/>
              </a:spcAft>
            </a:pPr>
            <a:r>
              <a:rPr sz="1250" b="0">
                <a:solidFill>
                  <a:srgbClr val="1C1C1C"/>
                </a:solidFill>
                <a:latin typeface="Montserrat"/>
              </a:rPr>
              <a:t>Près de 150 marchés dans le district, certains ouverts le jour, d’autres la nuit, spécialisés par produits.</a:t>
            </a:r>
          </a:p>
        </p:txBody>
      </p:sp>
      <p:sp>
        <p:nvSpPr>
          <p:cNvPr id="16" name="TextBox 15"/>
          <p:cNvSpPr txBox="1"/>
          <p:nvPr/>
        </p:nvSpPr>
        <p:spPr>
          <a:xfrm>
            <a:off x="5943599" y="3246119"/>
            <a:ext cx="4572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Source : European Scientific Journal, 2016</a:t>
            </a:r>
          </a:p>
        </p:txBody>
      </p:sp>
      <p:sp>
        <p:nvSpPr>
          <p:cNvPr id="17" name="Rectangle 16"/>
          <p:cNvSpPr/>
          <p:nvPr/>
        </p:nvSpPr>
        <p:spPr>
          <a:xfrm>
            <a:off x="548640" y="3749039"/>
            <a:ext cx="91440" cy="164592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749039"/>
            <a:ext cx="4572000" cy="365760"/>
          </a:xfrm>
          <a:prstGeom prst="rect">
            <a:avLst/>
          </a:prstGeom>
          <a:noFill/>
        </p:spPr>
        <p:txBody>
          <a:bodyPr wrap="square" anchor="t" lIns="0" rIns="0">
            <a:spAutoFit/>
          </a:bodyPr>
          <a:lstStyle/>
          <a:p>
            <a:pPr algn="l">
              <a:spcAft>
                <a:spcPts val="600"/>
              </a:spcAft>
            </a:pPr>
            <a:r>
              <a:rPr sz="1600" b="1">
                <a:solidFill>
                  <a:srgbClr val="0E0D5D"/>
                </a:solidFill>
                <a:latin typeface="Montserrat"/>
              </a:rPr>
              <a:t>Les commerçantes du vivrier</a:t>
            </a:r>
          </a:p>
        </p:txBody>
      </p:sp>
      <p:sp>
        <p:nvSpPr>
          <p:cNvPr id="19" name="TextBox 18"/>
          <p:cNvSpPr txBox="1"/>
          <p:nvPr/>
        </p:nvSpPr>
        <p:spPr>
          <a:xfrm>
            <a:off x="822960" y="4133087"/>
            <a:ext cx="4572000" cy="1005840"/>
          </a:xfrm>
          <a:prstGeom prst="rect">
            <a:avLst/>
          </a:prstGeom>
          <a:noFill/>
        </p:spPr>
        <p:txBody>
          <a:bodyPr wrap="square" anchor="t" lIns="0" rIns="0">
            <a:spAutoFit/>
          </a:bodyPr>
          <a:lstStyle/>
          <a:p>
            <a:pPr algn="l">
              <a:spcAft>
                <a:spcPts val="300"/>
              </a:spcAft>
            </a:pPr>
            <a:r>
              <a:rPr sz="1250" b="0">
                <a:solidFill>
                  <a:srgbClr val="1C1C1C"/>
                </a:solidFill>
                <a:latin typeface="Montserrat"/>
              </a:rPr>
              <a:t>À Yopougon (Siporex, Sicogi), 69 % ont de 1 à 5 personnes à charge. Seules 4 % utilisent une banque ou une microfinance, alors que le mobile money est courant.</a:t>
            </a:r>
          </a:p>
        </p:txBody>
      </p:sp>
      <p:sp>
        <p:nvSpPr>
          <p:cNvPr id="20" name="TextBox 19"/>
          <p:cNvSpPr txBox="1"/>
          <p:nvPr/>
        </p:nvSpPr>
        <p:spPr>
          <a:xfrm>
            <a:off x="822960" y="5120639"/>
            <a:ext cx="4572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Source : Revue Djiboul, juillet 2025</a:t>
            </a:r>
          </a:p>
        </p:txBody>
      </p:sp>
      <p:sp>
        <p:nvSpPr>
          <p:cNvPr id="21" name="Rectangle 20"/>
          <p:cNvSpPr/>
          <p:nvPr/>
        </p:nvSpPr>
        <p:spPr>
          <a:xfrm>
            <a:off x="5669279" y="3749039"/>
            <a:ext cx="91440" cy="164592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599" y="3749039"/>
            <a:ext cx="4572000" cy="365760"/>
          </a:xfrm>
          <a:prstGeom prst="rect">
            <a:avLst/>
          </a:prstGeom>
          <a:noFill/>
        </p:spPr>
        <p:txBody>
          <a:bodyPr wrap="square" anchor="t" lIns="0" rIns="0">
            <a:spAutoFit/>
          </a:bodyPr>
          <a:lstStyle/>
          <a:p>
            <a:pPr algn="l">
              <a:spcAft>
                <a:spcPts val="600"/>
              </a:spcAft>
            </a:pPr>
            <a:r>
              <a:rPr sz="1600" b="1">
                <a:solidFill>
                  <a:srgbClr val="0E0D5D"/>
                </a:solidFill>
                <a:latin typeface="Montserrat"/>
              </a:rPr>
              <a:t>Plusieurs comptes à la fois</a:t>
            </a:r>
          </a:p>
        </p:txBody>
      </p:sp>
      <p:sp>
        <p:nvSpPr>
          <p:cNvPr id="23" name="TextBox 22"/>
          <p:cNvSpPr txBox="1"/>
          <p:nvPr/>
        </p:nvSpPr>
        <p:spPr>
          <a:xfrm>
            <a:off x="5943599" y="4133087"/>
            <a:ext cx="4572000" cy="1005840"/>
          </a:xfrm>
          <a:prstGeom prst="rect">
            <a:avLst/>
          </a:prstGeom>
          <a:noFill/>
        </p:spPr>
        <p:txBody>
          <a:bodyPr wrap="square" anchor="t" lIns="0" rIns="0">
            <a:spAutoFit/>
          </a:bodyPr>
          <a:lstStyle/>
          <a:p>
            <a:pPr algn="l">
              <a:spcAft>
                <a:spcPts val="300"/>
              </a:spcAft>
            </a:pPr>
            <a:r>
              <a:rPr sz="1250" b="0">
                <a:solidFill>
                  <a:srgbClr val="1C1C1C"/>
                </a:solidFill>
                <a:latin typeface="Montserrat"/>
              </a:rPr>
              <a:t>Une commerçante interrogée dit avoir « tous les comptes », un par produit vendu, pour séparer ses bénéfices.</a:t>
            </a:r>
          </a:p>
        </p:txBody>
      </p:sp>
      <p:sp>
        <p:nvSpPr>
          <p:cNvPr id="24" name="TextBox 23"/>
          <p:cNvSpPr txBox="1"/>
          <p:nvPr/>
        </p:nvSpPr>
        <p:spPr>
          <a:xfrm>
            <a:off x="5943599" y="5120639"/>
            <a:ext cx="4572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Source : Revue Djiboul, juillet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4</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Six catégories de commerçants</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9875520" cy="457200"/>
          </a:xfrm>
          <a:prstGeom prst="rect">
            <a:avLst/>
          </a:prstGeom>
          <a:noFill/>
        </p:spPr>
        <p:txBody>
          <a:bodyPr wrap="square" anchor="t" lIns="0" rIns="0">
            <a:spAutoFit/>
          </a:bodyPr>
          <a:lstStyle/>
          <a:p>
            <a:pPr algn="l">
              <a:spcAft>
                <a:spcPts val="600"/>
              </a:spcAft>
            </a:pPr>
            <a:r>
              <a:rPr sz="1400" b="0">
                <a:solidFill>
                  <a:srgbClr val="595978"/>
                </a:solidFill>
                <a:latin typeface="Montserrat"/>
              </a:rPr>
              <a:t>Classées par ce qu’ils vendent et par la façon dont l’argent circule chez eux.</a:t>
            </a:r>
          </a:p>
        </p:txBody>
      </p:sp>
      <p:sp>
        <p:nvSpPr>
          <p:cNvPr id="9" name="Rectangle 8"/>
          <p:cNvSpPr/>
          <p:nvPr/>
        </p:nvSpPr>
        <p:spPr>
          <a:xfrm>
            <a:off x="548640" y="1874519"/>
            <a:ext cx="3200400" cy="164592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39111"/>
            <a:ext cx="2798064" cy="457200"/>
          </a:xfrm>
          <a:prstGeom prst="rect">
            <a:avLst/>
          </a:prstGeom>
          <a:noFill/>
        </p:spPr>
        <p:txBody>
          <a:bodyPr wrap="square" anchor="t" lIns="0" rIns="0">
            <a:spAutoFit/>
          </a:bodyPr>
          <a:lstStyle/>
          <a:p>
            <a:pPr algn="l">
              <a:spcAft>
                <a:spcPts val="600"/>
              </a:spcAft>
            </a:pPr>
            <a:r>
              <a:rPr sz="1500" b="1">
                <a:solidFill>
                  <a:srgbClr val="1DC4FF"/>
                </a:solidFill>
                <a:latin typeface="Montserrat"/>
              </a:rPr>
              <a:t>1. Vivrier au détail</a:t>
            </a:r>
          </a:p>
        </p:txBody>
      </p:sp>
      <p:sp>
        <p:nvSpPr>
          <p:cNvPr id="11" name="TextBox 10"/>
          <p:cNvSpPr txBox="1"/>
          <p:nvPr/>
        </p:nvSpPr>
        <p:spPr>
          <a:xfrm>
            <a:off x="749808" y="2532887"/>
            <a:ext cx="2798064" cy="868680"/>
          </a:xfrm>
          <a:prstGeom prst="rect">
            <a:avLst/>
          </a:prstGeom>
          <a:noFill/>
        </p:spPr>
        <p:txBody>
          <a:bodyPr wrap="square" anchor="t" lIns="0" rIns="0">
            <a:spAutoFit/>
          </a:bodyPr>
          <a:lstStyle/>
          <a:p>
            <a:pPr algn="l">
              <a:spcAft>
                <a:spcPts val="500"/>
              </a:spcAft>
            </a:pPr>
            <a:r>
              <a:rPr sz="1200" b="0">
                <a:solidFill>
                  <a:srgbClr val="FFFFFF"/>
                </a:solidFill>
                <a:latin typeface="Montserrat"/>
              </a:rPr>
              <a:t>Tomates, piment, légumes, condiments. Petits montants, beaucoup de clients par jour.</a:t>
            </a:r>
          </a:p>
        </p:txBody>
      </p:sp>
      <p:sp>
        <p:nvSpPr>
          <p:cNvPr id="12" name="Rectangle 11"/>
          <p:cNvSpPr/>
          <p:nvPr/>
        </p:nvSpPr>
        <p:spPr>
          <a:xfrm>
            <a:off x="3977639" y="1874519"/>
            <a:ext cx="3200400" cy="16459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78807" y="2039111"/>
            <a:ext cx="2798064" cy="457200"/>
          </a:xfrm>
          <a:prstGeom prst="rect">
            <a:avLst/>
          </a:prstGeom>
          <a:noFill/>
        </p:spPr>
        <p:txBody>
          <a:bodyPr wrap="square" anchor="t" lIns="0" rIns="0">
            <a:spAutoFit/>
          </a:bodyPr>
          <a:lstStyle/>
          <a:p>
            <a:pPr algn="l">
              <a:spcAft>
                <a:spcPts val="600"/>
              </a:spcAft>
            </a:pPr>
            <a:r>
              <a:rPr sz="1500" b="1">
                <a:solidFill>
                  <a:srgbClr val="0E0D5D"/>
                </a:solidFill>
                <a:latin typeface="Montserrat"/>
              </a:rPr>
              <a:t>2. Restauration de marché</a:t>
            </a:r>
          </a:p>
        </p:txBody>
      </p:sp>
      <p:sp>
        <p:nvSpPr>
          <p:cNvPr id="14" name="TextBox 13"/>
          <p:cNvSpPr txBox="1"/>
          <p:nvPr/>
        </p:nvSpPr>
        <p:spPr>
          <a:xfrm>
            <a:off x="4178807" y="2532887"/>
            <a:ext cx="2798064" cy="868680"/>
          </a:xfrm>
          <a:prstGeom prst="rect">
            <a:avLst/>
          </a:prstGeom>
          <a:noFill/>
        </p:spPr>
        <p:txBody>
          <a:bodyPr wrap="square" anchor="t" lIns="0" rIns="0">
            <a:spAutoFit/>
          </a:bodyPr>
          <a:lstStyle/>
          <a:p>
            <a:pPr algn="l">
              <a:spcAft>
                <a:spcPts val="500"/>
              </a:spcAft>
            </a:pPr>
            <a:r>
              <a:rPr sz="1200" b="0">
                <a:solidFill>
                  <a:srgbClr val="1C1C1C"/>
                </a:solidFill>
                <a:latin typeface="Montserrat"/>
              </a:rPr>
              <a:t>Garba, alloco, attiéké, café. Paiements très fréquents, souvent sans monnaie.</a:t>
            </a:r>
          </a:p>
        </p:txBody>
      </p:sp>
      <p:sp>
        <p:nvSpPr>
          <p:cNvPr id="15" name="Rectangle 14"/>
          <p:cNvSpPr/>
          <p:nvPr/>
        </p:nvSpPr>
        <p:spPr>
          <a:xfrm>
            <a:off x="7406640" y="1874519"/>
            <a:ext cx="3200400" cy="16459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07808" y="2039111"/>
            <a:ext cx="2798064" cy="457200"/>
          </a:xfrm>
          <a:prstGeom prst="rect">
            <a:avLst/>
          </a:prstGeom>
          <a:noFill/>
        </p:spPr>
        <p:txBody>
          <a:bodyPr wrap="square" anchor="t" lIns="0" rIns="0">
            <a:spAutoFit/>
          </a:bodyPr>
          <a:lstStyle/>
          <a:p>
            <a:pPr algn="l">
              <a:spcAft>
                <a:spcPts val="600"/>
              </a:spcAft>
            </a:pPr>
            <a:r>
              <a:rPr sz="1500" b="1">
                <a:solidFill>
                  <a:srgbClr val="0E0D5D"/>
                </a:solidFill>
                <a:latin typeface="Montserrat"/>
              </a:rPr>
              <a:t>3. Boutiques de marché</a:t>
            </a:r>
          </a:p>
        </p:txBody>
      </p:sp>
      <p:sp>
        <p:nvSpPr>
          <p:cNvPr id="17" name="TextBox 16"/>
          <p:cNvSpPr txBox="1"/>
          <p:nvPr/>
        </p:nvSpPr>
        <p:spPr>
          <a:xfrm>
            <a:off x="7607808" y="2532887"/>
            <a:ext cx="2798064" cy="868680"/>
          </a:xfrm>
          <a:prstGeom prst="rect">
            <a:avLst/>
          </a:prstGeom>
          <a:noFill/>
        </p:spPr>
        <p:txBody>
          <a:bodyPr wrap="square" anchor="t" lIns="0" rIns="0">
            <a:spAutoFit/>
          </a:bodyPr>
          <a:lstStyle/>
          <a:p>
            <a:pPr algn="l">
              <a:spcAft>
                <a:spcPts val="500"/>
              </a:spcAft>
            </a:pPr>
            <a:r>
              <a:rPr sz="1200" b="0">
                <a:solidFill>
                  <a:srgbClr val="1C1C1C"/>
                </a:solidFill>
                <a:latin typeface="Montserrat"/>
              </a:rPr>
              <a:t>Pagnes, téléphones, cosmétiques, ustensiles. Montants moyens, clientèle plus jeune.</a:t>
            </a:r>
          </a:p>
        </p:txBody>
      </p:sp>
      <p:sp>
        <p:nvSpPr>
          <p:cNvPr id="18" name="Rectangle 17"/>
          <p:cNvSpPr/>
          <p:nvPr/>
        </p:nvSpPr>
        <p:spPr>
          <a:xfrm>
            <a:off x="548640" y="3703320"/>
            <a:ext cx="3200400" cy="16459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867912"/>
            <a:ext cx="2798064" cy="457200"/>
          </a:xfrm>
          <a:prstGeom prst="rect">
            <a:avLst/>
          </a:prstGeom>
          <a:noFill/>
        </p:spPr>
        <p:txBody>
          <a:bodyPr wrap="square" anchor="t" lIns="0" rIns="0">
            <a:spAutoFit/>
          </a:bodyPr>
          <a:lstStyle/>
          <a:p>
            <a:pPr algn="l">
              <a:spcAft>
                <a:spcPts val="600"/>
              </a:spcAft>
            </a:pPr>
            <a:r>
              <a:rPr sz="1500" b="1">
                <a:solidFill>
                  <a:srgbClr val="0E0D5D"/>
                </a:solidFill>
                <a:latin typeface="Montserrat"/>
              </a:rPr>
              <a:t>4. Grossistes et semi-grossistes</a:t>
            </a:r>
          </a:p>
        </p:txBody>
      </p:sp>
      <p:sp>
        <p:nvSpPr>
          <p:cNvPr id="20" name="TextBox 19"/>
          <p:cNvSpPr txBox="1"/>
          <p:nvPr/>
        </p:nvSpPr>
        <p:spPr>
          <a:xfrm>
            <a:off x="749808" y="4361688"/>
            <a:ext cx="2798064" cy="868680"/>
          </a:xfrm>
          <a:prstGeom prst="rect">
            <a:avLst/>
          </a:prstGeom>
          <a:noFill/>
        </p:spPr>
        <p:txBody>
          <a:bodyPr wrap="square" anchor="t" lIns="0" rIns="0">
            <a:spAutoFit/>
          </a:bodyPr>
          <a:lstStyle/>
          <a:p>
            <a:pPr algn="l">
              <a:spcAft>
                <a:spcPts val="500"/>
              </a:spcAft>
            </a:pPr>
            <a:r>
              <a:rPr sz="1200" b="0">
                <a:solidFill>
                  <a:srgbClr val="1C1C1C"/>
                </a:solidFill>
                <a:latin typeface="Montserrat"/>
              </a:rPr>
              <a:t>Vivres et produits en gros (Adjamé, marchés de gros). Gros montants, beaucoup de liquide.</a:t>
            </a:r>
          </a:p>
        </p:txBody>
      </p:sp>
      <p:sp>
        <p:nvSpPr>
          <p:cNvPr id="21" name="Rectangle 20"/>
          <p:cNvSpPr/>
          <p:nvPr/>
        </p:nvSpPr>
        <p:spPr>
          <a:xfrm>
            <a:off x="3977639" y="3703320"/>
            <a:ext cx="3200400" cy="16459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78807" y="3867912"/>
            <a:ext cx="2798064" cy="457200"/>
          </a:xfrm>
          <a:prstGeom prst="rect">
            <a:avLst/>
          </a:prstGeom>
          <a:noFill/>
        </p:spPr>
        <p:txBody>
          <a:bodyPr wrap="square" anchor="t" lIns="0" rIns="0">
            <a:spAutoFit/>
          </a:bodyPr>
          <a:lstStyle/>
          <a:p>
            <a:pPr algn="l">
              <a:spcAft>
                <a:spcPts val="600"/>
              </a:spcAft>
            </a:pPr>
            <a:r>
              <a:rPr sz="1500" b="1">
                <a:solidFill>
                  <a:srgbClr val="0E0D5D"/>
                </a:solidFill>
                <a:latin typeface="Montserrat"/>
              </a:rPr>
              <a:t>5. Vendeurs ambulants</a:t>
            </a:r>
          </a:p>
        </p:txBody>
      </p:sp>
      <p:sp>
        <p:nvSpPr>
          <p:cNvPr id="23" name="TextBox 22"/>
          <p:cNvSpPr txBox="1"/>
          <p:nvPr/>
        </p:nvSpPr>
        <p:spPr>
          <a:xfrm>
            <a:off x="4178807" y="4361688"/>
            <a:ext cx="2798064" cy="868680"/>
          </a:xfrm>
          <a:prstGeom prst="rect">
            <a:avLst/>
          </a:prstGeom>
          <a:noFill/>
        </p:spPr>
        <p:txBody>
          <a:bodyPr wrap="square" anchor="t" lIns="0" rIns="0">
            <a:spAutoFit/>
          </a:bodyPr>
          <a:lstStyle/>
          <a:p>
            <a:pPr algn="l">
              <a:spcAft>
                <a:spcPts val="500"/>
              </a:spcAft>
            </a:pPr>
            <a:r>
              <a:rPr sz="1200" b="0">
                <a:solidFill>
                  <a:srgbClr val="1C1C1C"/>
                </a:solidFill>
                <a:latin typeface="Montserrat"/>
              </a:rPr>
              <a:t>Ils circulent dans les allées. Petits montants, pas d’étal fixe pour afficher un QR code.</a:t>
            </a:r>
          </a:p>
        </p:txBody>
      </p:sp>
      <p:sp>
        <p:nvSpPr>
          <p:cNvPr id="24" name="Rectangle 23"/>
          <p:cNvSpPr/>
          <p:nvPr/>
        </p:nvSpPr>
        <p:spPr>
          <a:xfrm>
            <a:off x="7406640" y="3703320"/>
            <a:ext cx="3200400" cy="16459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07808" y="3867912"/>
            <a:ext cx="2798064" cy="457200"/>
          </a:xfrm>
          <a:prstGeom prst="rect">
            <a:avLst/>
          </a:prstGeom>
          <a:noFill/>
        </p:spPr>
        <p:txBody>
          <a:bodyPr wrap="square" anchor="t" lIns="0" rIns="0">
            <a:spAutoFit/>
          </a:bodyPr>
          <a:lstStyle/>
          <a:p>
            <a:pPr algn="l">
              <a:spcAft>
                <a:spcPts val="600"/>
              </a:spcAft>
            </a:pPr>
            <a:r>
              <a:rPr sz="1500" b="1">
                <a:solidFill>
                  <a:srgbClr val="0E0D5D"/>
                </a:solidFill>
                <a:latin typeface="Montserrat"/>
              </a:rPr>
              <a:t>6. Responsables de marché</a:t>
            </a:r>
          </a:p>
        </p:txBody>
      </p:sp>
      <p:sp>
        <p:nvSpPr>
          <p:cNvPr id="26" name="TextBox 25"/>
          <p:cNvSpPr txBox="1"/>
          <p:nvPr/>
        </p:nvSpPr>
        <p:spPr>
          <a:xfrm>
            <a:off x="7607808" y="4361688"/>
            <a:ext cx="2798064" cy="868680"/>
          </a:xfrm>
          <a:prstGeom prst="rect">
            <a:avLst/>
          </a:prstGeom>
          <a:noFill/>
        </p:spPr>
        <p:txBody>
          <a:bodyPr wrap="square" anchor="t" lIns="0" rIns="0">
            <a:spAutoFit/>
          </a:bodyPr>
          <a:lstStyle/>
          <a:p>
            <a:pPr algn="l">
              <a:spcAft>
                <a:spcPts val="500"/>
              </a:spcAft>
            </a:pPr>
            <a:r>
              <a:rPr sz="1200" b="0">
                <a:solidFill>
                  <a:srgbClr val="1C1C1C"/>
                </a:solidFill>
                <a:latin typeface="Montserrat"/>
              </a:rPr>
              <a:t>Présidentes, gestionnaires, associations. Elles ne vendent pas forcément mais font adopter.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4" name="TextBox 3"/>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5</a:t>
            </a:r>
          </a:p>
        </p:txBody>
      </p:sp>
      <p:pic>
        <p:nvPicPr>
          <p:cNvPr id="5" name="Picture 4" descr="cr_d5.jpg"/>
          <p:cNvPicPr>
            <a:picLocks noChangeAspect="1"/>
          </p:cNvPicPr>
          <p:nvPr/>
        </p:nvPicPr>
        <p:blipFill>
          <a:blip r:embed="rId2"/>
          <a:stretch>
            <a:fillRect/>
          </a:stretch>
        </p:blipFill>
        <p:spPr>
          <a:xfrm>
            <a:off x="0" y="0"/>
            <a:ext cx="3566160" cy="6858000"/>
          </a:xfrm>
          <a:prstGeom prst="rect">
            <a:avLst/>
          </a:prstGeom>
        </p:spPr>
      </p:pic>
      <p:pic>
        <p:nvPicPr>
          <p:cNvPr id="6" name="Picture 5" descr="nav-logo.png"/>
          <p:cNvPicPr>
            <a:picLocks noChangeAspect="1"/>
          </p:cNvPicPr>
          <p:nvPr/>
        </p:nvPicPr>
        <p:blipFill>
          <a:blip r:embed="rId3"/>
          <a:stretch>
            <a:fillRect/>
          </a:stretch>
        </p:blipFill>
        <p:spPr>
          <a:xfrm>
            <a:off x="10591800" y="256032"/>
            <a:ext cx="1234440" cy="542080"/>
          </a:xfrm>
          <a:prstGeom prst="rect">
            <a:avLst/>
          </a:prstGeom>
        </p:spPr>
      </p:pic>
      <p:sp>
        <p:nvSpPr>
          <p:cNvPr id="7" name="TextBox 6"/>
          <p:cNvSpPr txBox="1"/>
          <p:nvPr/>
        </p:nvSpPr>
        <p:spPr>
          <a:xfrm>
            <a:off x="4023360" y="54864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Vivrier au détail</a:t>
            </a:r>
          </a:p>
        </p:txBody>
      </p:sp>
      <p:sp>
        <p:nvSpPr>
          <p:cNvPr id="8" name="Rectangle 7"/>
          <p:cNvSpPr/>
          <p:nvPr/>
        </p:nvSpPr>
        <p:spPr>
          <a:xfrm>
            <a:off x="4023360" y="105156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20700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Comment l’argent circule :</a:t>
            </a:r>
            <a:r>
              <a:rPr sz="1250" b="0">
                <a:solidFill>
                  <a:srgbClr val="1C1C1C"/>
                </a:solidFill>
                <a:latin typeface="Montserrat"/>
              </a:rPr>
              <a:t> des centaines de petits achats par jour, la monnaie manque souvent.</a:t>
            </a:r>
          </a:p>
          <a:p>
            <a:pPr algn="l">
              <a:spcAft>
                <a:spcPts val="400"/>
              </a:spcAft>
            </a:pPr>
            <a:r>
              <a:rPr sz="1250" b="1">
                <a:solidFill>
                  <a:srgbClr val="1C1C1C"/>
                </a:solidFill>
                <a:latin typeface="Montserrat"/>
              </a:rPr>
              <a:t>Ce qui compte pour elles :</a:t>
            </a:r>
            <a:r>
              <a:rPr sz="1250" b="0">
                <a:solidFill>
                  <a:srgbClr val="1C1C1C"/>
                </a:solidFill>
                <a:latin typeface="Montserrat"/>
              </a:rPr>
              <a:t> ne pas perdre de vente faute de monnaie, mettre l’argent à l’abri, séparer les gains de chaque produit.</a:t>
            </a:r>
          </a:p>
          <a:p>
            <a:pPr algn="l">
              <a:spcAft>
                <a:spcPts val="400"/>
              </a:spcAft>
            </a:pPr>
            <a:r>
              <a:rPr sz="1250" b="1">
                <a:solidFill>
                  <a:srgbClr val="1C1C1C"/>
                </a:solidFill>
                <a:latin typeface="Montserrat"/>
              </a:rPr>
              <a:t>À éviter :</a:t>
            </a:r>
            <a:r>
              <a:rPr sz="1250" b="0">
                <a:solidFill>
                  <a:srgbClr val="1C1C1C"/>
                </a:solidFill>
                <a:latin typeface="Montserrat"/>
              </a:rPr>
              <a:t> les étals tenus par une aide qui ne décide pas, le compte étant au nom d’une autre personne.</a:t>
            </a:r>
          </a:p>
        </p:txBody>
      </p:sp>
      <p:sp>
        <p:nvSpPr>
          <p:cNvPr id="10" name="TextBox 9"/>
          <p:cNvSpPr txBox="1"/>
          <p:nvPr/>
        </p:nvSpPr>
        <p:spPr>
          <a:xfrm>
            <a:off x="4023360" y="324612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Restauration de marché</a:t>
            </a:r>
          </a:p>
        </p:txBody>
      </p:sp>
      <p:sp>
        <p:nvSpPr>
          <p:cNvPr id="11" name="Rectangle 10"/>
          <p:cNvSpPr/>
          <p:nvPr/>
        </p:nvSpPr>
        <p:spPr>
          <a:xfrm>
            <a:off x="4023360" y="374904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390448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Comment l’argent circule :</a:t>
            </a:r>
            <a:r>
              <a:rPr sz="1250" b="0">
                <a:solidFill>
                  <a:srgbClr val="1C1C1C"/>
                </a:solidFill>
                <a:latin typeface="Montserrat"/>
              </a:rPr>
              <a:t> paiements très rapides, souvent sous pression à l’heure du repas.</a:t>
            </a:r>
          </a:p>
          <a:p>
            <a:pPr algn="l">
              <a:spcAft>
                <a:spcPts val="400"/>
              </a:spcAft>
            </a:pPr>
            <a:r>
              <a:rPr sz="1250" b="1">
                <a:solidFill>
                  <a:srgbClr val="1C1C1C"/>
                </a:solidFill>
                <a:latin typeface="Montserrat"/>
              </a:rPr>
              <a:t>Ce qui compte pour eux :</a:t>
            </a:r>
            <a:r>
              <a:rPr sz="1250" b="0">
                <a:solidFill>
                  <a:srgbClr val="1C1C1C"/>
                </a:solidFill>
                <a:latin typeface="Montserrat"/>
              </a:rPr>
              <a:t> encaisser vite, sans file ni erreur de monnaie.</a:t>
            </a:r>
          </a:p>
          <a:p>
            <a:pPr algn="l">
              <a:spcAft>
                <a:spcPts val="400"/>
              </a:spcAft>
            </a:pPr>
            <a:r>
              <a:rPr sz="1250" b="1">
                <a:solidFill>
                  <a:srgbClr val="1C1C1C"/>
                </a:solidFill>
                <a:latin typeface="Montserrat"/>
              </a:rPr>
              <a:t>À éviter :</a:t>
            </a:r>
            <a:r>
              <a:rPr sz="1250" b="0">
                <a:solidFill>
                  <a:srgbClr val="1C1C1C"/>
                </a:solidFill>
                <a:latin typeface="Montserrat"/>
              </a:rPr>
              <a:t> les points qui n’ouvrent que quelques jours, sans clientèle d’habitués.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4" name="TextBox 3"/>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6</a:t>
            </a:r>
          </a:p>
        </p:txBody>
      </p:sp>
      <p:pic>
        <p:nvPicPr>
          <p:cNvPr id="5" name="Picture 4" descr="cr_d6.jpg"/>
          <p:cNvPicPr>
            <a:picLocks noChangeAspect="1"/>
          </p:cNvPicPr>
          <p:nvPr/>
        </p:nvPicPr>
        <p:blipFill>
          <a:blip r:embed="rId2"/>
          <a:stretch>
            <a:fillRect/>
          </a:stretch>
        </p:blipFill>
        <p:spPr>
          <a:xfrm>
            <a:off x="0" y="0"/>
            <a:ext cx="3566160" cy="6858000"/>
          </a:xfrm>
          <a:prstGeom prst="rect">
            <a:avLst/>
          </a:prstGeom>
        </p:spPr>
      </p:pic>
      <p:pic>
        <p:nvPicPr>
          <p:cNvPr id="6" name="Picture 5" descr="nav-logo.png"/>
          <p:cNvPicPr>
            <a:picLocks noChangeAspect="1"/>
          </p:cNvPicPr>
          <p:nvPr/>
        </p:nvPicPr>
        <p:blipFill>
          <a:blip r:embed="rId3"/>
          <a:stretch>
            <a:fillRect/>
          </a:stretch>
        </p:blipFill>
        <p:spPr>
          <a:xfrm>
            <a:off x="10591800" y="256032"/>
            <a:ext cx="1234440" cy="542080"/>
          </a:xfrm>
          <a:prstGeom prst="rect">
            <a:avLst/>
          </a:prstGeom>
        </p:spPr>
      </p:pic>
      <p:sp>
        <p:nvSpPr>
          <p:cNvPr id="7" name="TextBox 6"/>
          <p:cNvSpPr txBox="1"/>
          <p:nvPr/>
        </p:nvSpPr>
        <p:spPr>
          <a:xfrm>
            <a:off x="4023360" y="54864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Boutiques de marché</a:t>
            </a:r>
          </a:p>
        </p:txBody>
      </p:sp>
      <p:sp>
        <p:nvSpPr>
          <p:cNvPr id="8" name="Rectangle 7"/>
          <p:cNvSpPr/>
          <p:nvPr/>
        </p:nvSpPr>
        <p:spPr>
          <a:xfrm>
            <a:off x="4023360" y="105156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20700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Comment l’argent circule :</a:t>
            </a:r>
            <a:r>
              <a:rPr sz="1250" b="0">
                <a:solidFill>
                  <a:srgbClr val="1C1C1C"/>
                </a:solidFill>
                <a:latin typeface="Montserrat"/>
              </a:rPr>
              <a:t> montants moyens, clients plus jeunes et plus connectés.</a:t>
            </a:r>
          </a:p>
          <a:p>
            <a:pPr algn="l">
              <a:spcAft>
                <a:spcPts val="400"/>
              </a:spcAft>
            </a:pPr>
            <a:r>
              <a:rPr sz="1250" b="1">
                <a:solidFill>
                  <a:srgbClr val="1C1C1C"/>
                </a:solidFill>
                <a:latin typeface="Montserrat"/>
              </a:rPr>
              <a:t>Ce qui compte pour eux :</a:t>
            </a:r>
            <a:r>
              <a:rPr sz="1250" b="0">
                <a:solidFill>
                  <a:srgbClr val="1C1C1C"/>
                </a:solidFill>
                <a:latin typeface="Montserrat"/>
              </a:rPr>
              <a:t> ne pas refuser un client qui n’a pas de liquide, suivre leurs ventes.</a:t>
            </a:r>
          </a:p>
          <a:p>
            <a:pPr algn="l">
              <a:spcAft>
                <a:spcPts val="400"/>
              </a:spcAft>
            </a:pPr>
            <a:r>
              <a:rPr sz="1250" b="1">
                <a:solidFill>
                  <a:srgbClr val="1C1C1C"/>
                </a:solidFill>
                <a:latin typeface="Montserrat"/>
              </a:rPr>
              <a:t>À éviter :</a:t>
            </a:r>
            <a:r>
              <a:rPr sz="1250" b="0">
                <a:solidFill>
                  <a:srgbClr val="1C1C1C"/>
                </a:solidFill>
                <a:latin typeface="Montserrat"/>
              </a:rPr>
              <a:t> les boutiques déjà équipées d’un terminal multi-opérateurs, qui comparent surtout les frais.</a:t>
            </a:r>
          </a:p>
        </p:txBody>
      </p:sp>
      <p:sp>
        <p:nvSpPr>
          <p:cNvPr id="10" name="TextBox 9"/>
          <p:cNvSpPr txBox="1"/>
          <p:nvPr/>
        </p:nvSpPr>
        <p:spPr>
          <a:xfrm>
            <a:off x="4023360" y="324612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Vendeurs ambulants</a:t>
            </a:r>
          </a:p>
        </p:txBody>
      </p:sp>
      <p:sp>
        <p:nvSpPr>
          <p:cNvPr id="11" name="Rectangle 10"/>
          <p:cNvSpPr/>
          <p:nvPr/>
        </p:nvSpPr>
        <p:spPr>
          <a:xfrm>
            <a:off x="4023360" y="374904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390448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Comment l’argent circule :</a:t>
            </a:r>
            <a:r>
              <a:rPr sz="1250" b="0">
                <a:solidFill>
                  <a:srgbClr val="1C1C1C"/>
                </a:solidFill>
                <a:latin typeface="Montserrat"/>
              </a:rPr>
              <a:t> petits montants, en mouvement, sans étal.</a:t>
            </a:r>
          </a:p>
          <a:p>
            <a:pPr algn="l">
              <a:spcAft>
                <a:spcPts val="400"/>
              </a:spcAft>
            </a:pPr>
            <a:r>
              <a:rPr sz="1250" b="1">
                <a:solidFill>
                  <a:srgbClr val="1C1C1C"/>
                </a:solidFill>
                <a:latin typeface="Montserrat"/>
              </a:rPr>
              <a:t>Ce qui compte pour eux :</a:t>
            </a:r>
            <a:r>
              <a:rPr sz="1250" b="0">
                <a:solidFill>
                  <a:srgbClr val="1C1C1C"/>
                </a:solidFill>
                <a:latin typeface="Montserrat"/>
              </a:rPr>
              <a:t> un moyen de paiement qui tient dans la poche (carte QR).</a:t>
            </a:r>
          </a:p>
          <a:p>
            <a:pPr algn="l">
              <a:spcAft>
                <a:spcPts val="400"/>
              </a:spcAft>
            </a:pPr>
            <a:r>
              <a:rPr sz="1250" b="1">
                <a:solidFill>
                  <a:srgbClr val="1C1C1C"/>
                </a:solidFill>
                <a:latin typeface="Montserrat"/>
              </a:rPr>
              <a:t>À éviter :</a:t>
            </a:r>
            <a:r>
              <a:rPr sz="1250" b="0">
                <a:solidFill>
                  <a:srgbClr val="1C1C1C"/>
                </a:solidFill>
                <a:latin typeface="Montserrat"/>
              </a:rPr>
              <a:t> les vendeurs de passage, qui ne restent pas sur le même marché.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4" name="TextBox 3"/>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7</a:t>
            </a:r>
          </a:p>
        </p:txBody>
      </p:sp>
      <p:pic>
        <p:nvPicPr>
          <p:cNvPr id="5" name="Picture 4" descr="cr_d7.jpg"/>
          <p:cNvPicPr>
            <a:picLocks noChangeAspect="1"/>
          </p:cNvPicPr>
          <p:nvPr/>
        </p:nvPicPr>
        <p:blipFill>
          <a:blip r:embed="rId2"/>
          <a:stretch>
            <a:fillRect/>
          </a:stretch>
        </p:blipFill>
        <p:spPr>
          <a:xfrm>
            <a:off x="0" y="0"/>
            <a:ext cx="3566160" cy="6858000"/>
          </a:xfrm>
          <a:prstGeom prst="rect">
            <a:avLst/>
          </a:prstGeom>
        </p:spPr>
      </p:pic>
      <p:pic>
        <p:nvPicPr>
          <p:cNvPr id="6" name="Picture 5" descr="nav-logo.png"/>
          <p:cNvPicPr>
            <a:picLocks noChangeAspect="1"/>
          </p:cNvPicPr>
          <p:nvPr/>
        </p:nvPicPr>
        <p:blipFill>
          <a:blip r:embed="rId3"/>
          <a:stretch>
            <a:fillRect/>
          </a:stretch>
        </p:blipFill>
        <p:spPr>
          <a:xfrm>
            <a:off x="10591800" y="256032"/>
            <a:ext cx="1234440" cy="542080"/>
          </a:xfrm>
          <a:prstGeom prst="rect">
            <a:avLst/>
          </a:prstGeom>
        </p:spPr>
      </p:pic>
      <p:sp>
        <p:nvSpPr>
          <p:cNvPr id="7" name="TextBox 6"/>
          <p:cNvSpPr txBox="1"/>
          <p:nvPr/>
        </p:nvSpPr>
        <p:spPr>
          <a:xfrm>
            <a:off x="4023360" y="54864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Grossistes et semi-grossistes</a:t>
            </a:r>
          </a:p>
        </p:txBody>
      </p:sp>
      <p:sp>
        <p:nvSpPr>
          <p:cNvPr id="8" name="Rectangle 7"/>
          <p:cNvSpPr/>
          <p:nvPr/>
        </p:nvSpPr>
        <p:spPr>
          <a:xfrm>
            <a:off x="4023360" y="105156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20700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Comment l’argent circule :</a:t>
            </a:r>
            <a:r>
              <a:rPr sz="1250" b="0">
                <a:solidFill>
                  <a:srgbClr val="1C1C1C"/>
                </a:solidFill>
                <a:latin typeface="Montserrat"/>
              </a:rPr>
              <a:t> gros montants, beaucoup de liquide, paiement des fournisseurs.</a:t>
            </a:r>
          </a:p>
          <a:p>
            <a:pPr algn="l">
              <a:spcAft>
                <a:spcPts val="400"/>
              </a:spcAft>
            </a:pPr>
            <a:r>
              <a:rPr sz="1250" b="1">
                <a:solidFill>
                  <a:srgbClr val="1C1C1C"/>
                </a:solidFill>
                <a:latin typeface="Montserrat"/>
              </a:rPr>
              <a:t>Ce qui compte pour eux :</a:t>
            </a:r>
            <a:r>
              <a:rPr sz="1250" b="0">
                <a:solidFill>
                  <a:srgbClr val="1C1C1C"/>
                </a:solidFill>
                <a:latin typeface="Montserrat"/>
              </a:rPr>
              <a:t> la sécurité de l’argent, les plafonds, la rapidité des fonds.</a:t>
            </a:r>
          </a:p>
          <a:p>
            <a:pPr algn="l">
              <a:spcAft>
                <a:spcPts val="400"/>
              </a:spcAft>
            </a:pPr>
            <a:r>
              <a:rPr sz="1250" b="1">
                <a:solidFill>
                  <a:srgbClr val="1C1C1C"/>
                </a:solidFill>
                <a:latin typeface="Montserrat"/>
              </a:rPr>
              <a:t>À éviter :</a:t>
            </a:r>
            <a:r>
              <a:rPr sz="1250" b="0">
                <a:solidFill>
                  <a:srgbClr val="1C1C1C"/>
                </a:solidFill>
                <a:latin typeface="Montserrat"/>
              </a:rPr>
              <a:t> ceux qui affichent le QR code mais réclament des frais en liquide au client après paiement : ils abîment la promesse « sans frais ».</a:t>
            </a:r>
          </a:p>
        </p:txBody>
      </p:sp>
      <p:sp>
        <p:nvSpPr>
          <p:cNvPr id="10" name="TextBox 9"/>
          <p:cNvSpPr txBox="1"/>
          <p:nvPr/>
        </p:nvSpPr>
        <p:spPr>
          <a:xfrm>
            <a:off x="4023360" y="3246120"/>
            <a:ext cx="5486400" cy="457200"/>
          </a:xfrm>
          <a:prstGeom prst="rect">
            <a:avLst/>
          </a:prstGeom>
          <a:noFill/>
        </p:spPr>
        <p:txBody>
          <a:bodyPr wrap="square" anchor="t" lIns="0" rIns="0">
            <a:spAutoFit/>
          </a:bodyPr>
          <a:lstStyle/>
          <a:p>
            <a:pPr algn="l">
              <a:spcAft>
                <a:spcPts val="600"/>
              </a:spcAft>
            </a:pPr>
            <a:r>
              <a:rPr sz="2000" b="1">
                <a:solidFill>
                  <a:srgbClr val="0E0D5D"/>
                </a:solidFill>
                <a:latin typeface="Montserrat"/>
              </a:rPr>
              <a:t>Responsables de marché</a:t>
            </a:r>
          </a:p>
        </p:txBody>
      </p:sp>
      <p:sp>
        <p:nvSpPr>
          <p:cNvPr id="11" name="Rectangle 10"/>
          <p:cNvSpPr/>
          <p:nvPr/>
        </p:nvSpPr>
        <p:spPr>
          <a:xfrm>
            <a:off x="4023360" y="3749040"/>
            <a:ext cx="822960" cy="54864"/>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3904488"/>
            <a:ext cx="6675120" cy="1828800"/>
          </a:xfrm>
          <a:prstGeom prst="rect">
            <a:avLst/>
          </a:prstGeom>
          <a:noFill/>
        </p:spPr>
        <p:txBody>
          <a:bodyPr wrap="square" anchor="t" lIns="0" rIns="0">
            <a:spAutoFit/>
          </a:bodyPr>
          <a:lstStyle/>
          <a:p>
            <a:pPr algn="l">
              <a:spcAft>
                <a:spcPts val="400"/>
              </a:spcAft>
            </a:pPr>
            <a:r>
              <a:rPr sz="1250" b="1">
                <a:solidFill>
                  <a:srgbClr val="1C1C1C"/>
                </a:solidFill>
                <a:latin typeface="Montserrat"/>
              </a:rPr>
              <a:t>Leur rôle :</a:t>
            </a:r>
            <a:r>
              <a:rPr sz="1250" b="0">
                <a:solidFill>
                  <a:srgbClr val="1C1C1C"/>
                </a:solidFill>
                <a:latin typeface="Montserrat"/>
              </a:rPr>
              <a:t> relais entre la mairie, les gestionnaires et les commerçantes. Leur avis se diffuse vite.</a:t>
            </a:r>
          </a:p>
          <a:p>
            <a:pPr algn="l">
              <a:spcAft>
                <a:spcPts val="400"/>
              </a:spcAft>
            </a:pPr>
            <a:r>
              <a:rPr sz="1250" b="1">
                <a:solidFill>
                  <a:srgbClr val="1C1C1C"/>
                </a:solidFill>
                <a:latin typeface="Montserrat"/>
              </a:rPr>
              <a:t>Ce qui compte pour elles :</a:t>
            </a:r>
            <a:r>
              <a:rPr sz="1250" b="0">
                <a:solidFill>
                  <a:srgbClr val="1C1C1C"/>
                </a:solidFill>
                <a:latin typeface="Montserrat"/>
              </a:rPr>
              <a:t> la paix dans le marché, des avantages visibles pour leurs membres.</a:t>
            </a:r>
          </a:p>
          <a:p>
            <a:pPr algn="l">
              <a:spcAft>
                <a:spcPts val="400"/>
              </a:spcAft>
            </a:pPr>
            <a:r>
              <a:rPr sz="1250" b="1">
                <a:solidFill>
                  <a:srgbClr val="1C1C1C"/>
                </a:solidFill>
                <a:latin typeface="Montserrat"/>
              </a:rPr>
              <a:t>À éviter :</a:t>
            </a:r>
            <a:r>
              <a:rPr sz="1250" b="0">
                <a:solidFill>
                  <a:srgbClr val="1C1C1C"/>
                </a:solidFill>
                <a:latin typeface="Montserrat"/>
              </a:rPr>
              <a:t> les relais sans vraie légitimité auprès des commerçantes.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8</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Qui compte le plus pour l’adoption</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9875520" cy="457200"/>
          </a:xfrm>
          <a:prstGeom prst="rect">
            <a:avLst/>
          </a:prstGeom>
          <a:noFill/>
        </p:spPr>
        <p:txBody>
          <a:bodyPr wrap="square" anchor="t" lIns="0" rIns="0">
            <a:spAutoFit/>
          </a:bodyPr>
          <a:lstStyle/>
          <a:p>
            <a:pPr algn="l">
              <a:spcAft>
                <a:spcPts val="600"/>
              </a:spcAft>
            </a:pPr>
            <a:r>
              <a:rPr sz="1400" b="0">
                <a:solidFill>
                  <a:srgbClr val="595978"/>
                </a:solidFill>
                <a:latin typeface="Montserrat"/>
              </a:rPr>
              <a:t>Notation sur 10 par critère. C’est une appréciation : à vérifier avec les données de Wave.</a:t>
            </a:r>
          </a:p>
        </p:txBody>
      </p:sp>
      <p:sp>
        <p:nvSpPr>
          <p:cNvPr id="9" name="Rectangle 8"/>
          <p:cNvSpPr/>
          <p:nvPr/>
        </p:nvSpPr>
        <p:spPr>
          <a:xfrm>
            <a:off x="548640" y="1920240"/>
            <a:ext cx="10789920" cy="566928"/>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20240"/>
            <a:ext cx="2834640" cy="566928"/>
          </a:xfrm>
          <a:prstGeom prst="rect">
            <a:avLst/>
          </a:prstGeom>
          <a:noFill/>
        </p:spPr>
        <p:txBody>
          <a:bodyPr wrap="square" anchor="ctr" lIns="0" rIns="0">
            <a:spAutoFit/>
          </a:bodyPr>
          <a:lstStyle/>
          <a:p>
            <a:pPr algn="l">
              <a:spcAft>
                <a:spcPts val="600"/>
              </a:spcAft>
            </a:pPr>
            <a:r>
              <a:rPr sz="1300" b="1">
                <a:solidFill>
                  <a:srgbClr val="FFFFFF"/>
                </a:solidFill>
                <a:latin typeface="Montserrat"/>
              </a:rPr>
              <a:t>Catégorie</a:t>
            </a:r>
          </a:p>
        </p:txBody>
      </p:sp>
      <p:sp>
        <p:nvSpPr>
          <p:cNvPr id="11" name="TextBox 10"/>
          <p:cNvSpPr txBox="1"/>
          <p:nvPr/>
        </p:nvSpPr>
        <p:spPr>
          <a:xfrm>
            <a:off x="338328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Fait adopter</a:t>
            </a:r>
          </a:p>
        </p:txBody>
      </p:sp>
      <p:sp>
        <p:nvSpPr>
          <p:cNvPr id="12" name="TextBox 11"/>
          <p:cNvSpPr txBox="1"/>
          <p:nvPr/>
        </p:nvSpPr>
        <p:spPr>
          <a:xfrm>
            <a:off x="470916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Usage quotidien</a:t>
            </a:r>
          </a:p>
        </p:txBody>
      </p:sp>
      <p:sp>
        <p:nvSpPr>
          <p:cNvPr id="13" name="TextBox 12"/>
          <p:cNvSpPr txBox="1"/>
          <p:nvPr/>
        </p:nvSpPr>
        <p:spPr>
          <a:xfrm>
            <a:off x="603504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Bénéfice ressenti</a:t>
            </a:r>
          </a:p>
        </p:txBody>
      </p:sp>
      <p:sp>
        <p:nvSpPr>
          <p:cNvPr id="14" name="TextBox 13"/>
          <p:cNvSpPr txBox="1"/>
          <p:nvPr/>
        </p:nvSpPr>
        <p:spPr>
          <a:xfrm>
            <a:off x="736092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Bouche-à-oreille</a:t>
            </a:r>
          </a:p>
        </p:txBody>
      </p:sp>
      <p:sp>
        <p:nvSpPr>
          <p:cNvPr id="15" name="TextBox 14"/>
          <p:cNvSpPr txBox="1"/>
          <p:nvPr/>
        </p:nvSpPr>
        <p:spPr>
          <a:xfrm>
            <a:off x="868680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Taille du groupe</a:t>
            </a:r>
          </a:p>
        </p:txBody>
      </p:sp>
      <p:sp>
        <p:nvSpPr>
          <p:cNvPr id="16" name="TextBox 15"/>
          <p:cNvSpPr txBox="1"/>
          <p:nvPr/>
        </p:nvSpPr>
        <p:spPr>
          <a:xfrm>
            <a:off x="10012680" y="1920240"/>
            <a:ext cx="1325880" cy="566928"/>
          </a:xfrm>
          <a:prstGeom prst="rect">
            <a:avLst/>
          </a:prstGeom>
          <a:noFill/>
        </p:spPr>
        <p:txBody>
          <a:bodyPr wrap="square" anchor="ctr" lIns="0" rIns="0">
            <a:spAutoFit/>
          </a:bodyPr>
          <a:lstStyle/>
          <a:p>
            <a:pPr algn="ctr">
              <a:spcAft>
                <a:spcPts val="0"/>
              </a:spcAft>
            </a:pPr>
            <a:r>
              <a:rPr sz="1150" b="1">
                <a:solidFill>
                  <a:srgbClr val="FFFFFF"/>
                </a:solidFill>
                <a:latin typeface="Montserrat"/>
              </a:rPr>
              <a:t>Total</a:t>
            </a:r>
          </a:p>
        </p:txBody>
      </p:sp>
      <p:sp>
        <p:nvSpPr>
          <p:cNvPr id="17" name="Rectangle 16"/>
          <p:cNvSpPr/>
          <p:nvPr/>
        </p:nvSpPr>
        <p:spPr>
          <a:xfrm>
            <a:off x="548640" y="2487168"/>
            <a:ext cx="10789920" cy="566928"/>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487168"/>
            <a:ext cx="2834640" cy="566928"/>
          </a:xfrm>
          <a:prstGeom prst="rect">
            <a:avLst/>
          </a:prstGeom>
          <a:noFill/>
        </p:spPr>
        <p:txBody>
          <a:bodyPr wrap="square" anchor="ctr" lIns="0" rIns="0">
            <a:spAutoFit/>
          </a:bodyPr>
          <a:lstStyle/>
          <a:p>
            <a:pPr algn="l">
              <a:spcAft>
                <a:spcPts val="600"/>
              </a:spcAft>
            </a:pPr>
            <a:r>
              <a:rPr sz="1300" b="1">
                <a:solidFill>
                  <a:srgbClr val="0E0D5D"/>
                </a:solidFill>
                <a:latin typeface="Montserrat"/>
              </a:rPr>
              <a:t>Vivrier au détail</a:t>
            </a:r>
          </a:p>
        </p:txBody>
      </p:sp>
      <p:sp>
        <p:nvSpPr>
          <p:cNvPr id="19" name="TextBox 18"/>
          <p:cNvSpPr txBox="1"/>
          <p:nvPr/>
        </p:nvSpPr>
        <p:spPr>
          <a:xfrm>
            <a:off x="338328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8</a:t>
            </a:r>
          </a:p>
        </p:txBody>
      </p:sp>
      <p:sp>
        <p:nvSpPr>
          <p:cNvPr id="20" name="TextBox 19"/>
          <p:cNvSpPr txBox="1"/>
          <p:nvPr/>
        </p:nvSpPr>
        <p:spPr>
          <a:xfrm>
            <a:off x="470916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10</a:t>
            </a:r>
          </a:p>
        </p:txBody>
      </p:sp>
      <p:sp>
        <p:nvSpPr>
          <p:cNvPr id="21" name="TextBox 20"/>
          <p:cNvSpPr txBox="1"/>
          <p:nvPr/>
        </p:nvSpPr>
        <p:spPr>
          <a:xfrm>
            <a:off x="603504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9</a:t>
            </a:r>
          </a:p>
        </p:txBody>
      </p:sp>
      <p:sp>
        <p:nvSpPr>
          <p:cNvPr id="22" name="TextBox 21"/>
          <p:cNvSpPr txBox="1"/>
          <p:nvPr/>
        </p:nvSpPr>
        <p:spPr>
          <a:xfrm>
            <a:off x="736092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9</a:t>
            </a:r>
          </a:p>
        </p:txBody>
      </p:sp>
      <p:sp>
        <p:nvSpPr>
          <p:cNvPr id="23" name="TextBox 22"/>
          <p:cNvSpPr txBox="1"/>
          <p:nvPr/>
        </p:nvSpPr>
        <p:spPr>
          <a:xfrm>
            <a:off x="868680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10</a:t>
            </a:r>
          </a:p>
        </p:txBody>
      </p:sp>
      <p:sp>
        <p:nvSpPr>
          <p:cNvPr id="24" name="TextBox 23"/>
          <p:cNvSpPr txBox="1"/>
          <p:nvPr/>
        </p:nvSpPr>
        <p:spPr>
          <a:xfrm>
            <a:off x="10012680" y="2487168"/>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46/50</a:t>
            </a:r>
          </a:p>
        </p:txBody>
      </p:sp>
      <p:sp>
        <p:nvSpPr>
          <p:cNvPr id="25" name="Rectangle 24"/>
          <p:cNvSpPr/>
          <p:nvPr/>
        </p:nvSpPr>
        <p:spPr>
          <a:xfrm>
            <a:off x="548640" y="3054096"/>
            <a:ext cx="10789920" cy="566928"/>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054096"/>
            <a:ext cx="2834640" cy="566928"/>
          </a:xfrm>
          <a:prstGeom prst="rect">
            <a:avLst/>
          </a:prstGeom>
          <a:noFill/>
        </p:spPr>
        <p:txBody>
          <a:bodyPr wrap="square" anchor="ctr" lIns="0" rIns="0">
            <a:spAutoFit/>
          </a:bodyPr>
          <a:lstStyle/>
          <a:p>
            <a:pPr algn="l">
              <a:spcAft>
                <a:spcPts val="600"/>
              </a:spcAft>
            </a:pPr>
            <a:r>
              <a:rPr sz="1300" b="0">
                <a:solidFill>
                  <a:srgbClr val="0E0D5D"/>
                </a:solidFill>
                <a:latin typeface="Montserrat"/>
              </a:rPr>
              <a:t>Restauration de marché</a:t>
            </a:r>
          </a:p>
        </p:txBody>
      </p:sp>
      <p:sp>
        <p:nvSpPr>
          <p:cNvPr id="27" name="TextBox 26"/>
          <p:cNvSpPr txBox="1"/>
          <p:nvPr/>
        </p:nvSpPr>
        <p:spPr>
          <a:xfrm>
            <a:off x="3383280" y="3054096"/>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6</a:t>
            </a:r>
          </a:p>
        </p:txBody>
      </p:sp>
      <p:sp>
        <p:nvSpPr>
          <p:cNvPr id="28" name="TextBox 27"/>
          <p:cNvSpPr txBox="1"/>
          <p:nvPr/>
        </p:nvSpPr>
        <p:spPr>
          <a:xfrm>
            <a:off x="4709160" y="3054096"/>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10</a:t>
            </a:r>
          </a:p>
        </p:txBody>
      </p:sp>
      <p:sp>
        <p:nvSpPr>
          <p:cNvPr id="29" name="TextBox 28"/>
          <p:cNvSpPr txBox="1"/>
          <p:nvPr/>
        </p:nvSpPr>
        <p:spPr>
          <a:xfrm>
            <a:off x="6035040" y="3054096"/>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8</a:t>
            </a:r>
          </a:p>
        </p:txBody>
      </p:sp>
      <p:sp>
        <p:nvSpPr>
          <p:cNvPr id="30" name="TextBox 29"/>
          <p:cNvSpPr txBox="1"/>
          <p:nvPr/>
        </p:nvSpPr>
        <p:spPr>
          <a:xfrm>
            <a:off x="7360920" y="3054096"/>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7</a:t>
            </a:r>
          </a:p>
        </p:txBody>
      </p:sp>
      <p:sp>
        <p:nvSpPr>
          <p:cNvPr id="31" name="TextBox 30"/>
          <p:cNvSpPr txBox="1"/>
          <p:nvPr/>
        </p:nvSpPr>
        <p:spPr>
          <a:xfrm>
            <a:off x="8686800" y="3054096"/>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8</a:t>
            </a:r>
          </a:p>
        </p:txBody>
      </p:sp>
      <p:sp>
        <p:nvSpPr>
          <p:cNvPr id="32" name="TextBox 31"/>
          <p:cNvSpPr txBox="1"/>
          <p:nvPr/>
        </p:nvSpPr>
        <p:spPr>
          <a:xfrm>
            <a:off x="10012680" y="3054096"/>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39/50</a:t>
            </a:r>
          </a:p>
        </p:txBody>
      </p:sp>
      <p:sp>
        <p:nvSpPr>
          <p:cNvPr id="33" name="Rectangle 32"/>
          <p:cNvSpPr/>
          <p:nvPr/>
        </p:nvSpPr>
        <p:spPr>
          <a:xfrm>
            <a:off x="548640" y="3621024"/>
            <a:ext cx="107899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621024"/>
            <a:ext cx="2834640" cy="566928"/>
          </a:xfrm>
          <a:prstGeom prst="rect">
            <a:avLst/>
          </a:prstGeom>
          <a:noFill/>
        </p:spPr>
        <p:txBody>
          <a:bodyPr wrap="square" anchor="ctr" lIns="0" rIns="0">
            <a:spAutoFit/>
          </a:bodyPr>
          <a:lstStyle/>
          <a:p>
            <a:pPr algn="l">
              <a:spcAft>
                <a:spcPts val="600"/>
              </a:spcAft>
            </a:pPr>
            <a:r>
              <a:rPr sz="1300" b="0">
                <a:solidFill>
                  <a:srgbClr val="0E0D5D"/>
                </a:solidFill>
                <a:latin typeface="Montserrat"/>
              </a:rPr>
              <a:t>Responsables de marché</a:t>
            </a:r>
          </a:p>
        </p:txBody>
      </p:sp>
      <p:sp>
        <p:nvSpPr>
          <p:cNvPr id="35" name="TextBox 34"/>
          <p:cNvSpPr txBox="1"/>
          <p:nvPr/>
        </p:nvSpPr>
        <p:spPr>
          <a:xfrm>
            <a:off x="3383280" y="3621024"/>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10</a:t>
            </a:r>
          </a:p>
        </p:txBody>
      </p:sp>
      <p:sp>
        <p:nvSpPr>
          <p:cNvPr id="36" name="TextBox 35"/>
          <p:cNvSpPr txBox="1"/>
          <p:nvPr/>
        </p:nvSpPr>
        <p:spPr>
          <a:xfrm>
            <a:off x="4709160" y="3621024"/>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3</a:t>
            </a:r>
          </a:p>
        </p:txBody>
      </p:sp>
      <p:sp>
        <p:nvSpPr>
          <p:cNvPr id="37" name="TextBox 36"/>
          <p:cNvSpPr txBox="1"/>
          <p:nvPr/>
        </p:nvSpPr>
        <p:spPr>
          <a:xfrm>
            <a:off x="6035040" y="3621024"/>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6</a:t>
            </a:r>
          </a:p>
        </p:txBody>
      </p:sp>
      <p:sp>
        <p:nvSpPr>
          <p:cNvPr id="38" name="TextBox 37"/>
          <p:cNvSpPr txBox="1"/>
          <p:nvPr/>
        </p:nvSpPr>
        <p:spPr>
          <a:xfrm>
            <a:off x="7360920" y="3621024"/>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10</a:t>
            </a:r>
          </a:p>
        </p:txBody>
      </p:sp>
      <p:sp>
        <p:nvSpPr>
          <p:cNvPr id="39" name="TextBox 38"/>
          <p:cNvSpPr txBox="1"/>
          <p:nvPr/>
        </p:nvSpPr>
        <p:spPr>
          <a:xfrm>
            <a:off x="8686800" y="3621024"/>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2</a:t>
            </a:r>
          </a:p>
        </p:txBody>
      </p:sp>
      <p:sp>
        <p:nvSpPr>
          <p:cNvPr id="40" name="TextBox 39"/>
          <p:cNvSpPr txBox="1"/>
          <p:nvPr/>
        </p:nvSpPr>
        <p:spPr>
          <a:xfrm>
            <a:off x="10012680" y="3621024"/>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31/50</a:t>
            </a:r>
          </a:p>
        </p:txBody>
      </p:sp>
      <p:sp>
        <p:nvSpPr>
          <p:cNvPr id="41" name="Rectangle 40"/>
          <p:cNvSpPr/>
          <p:nvPr/>
        </p:nvSpPr>
        <p:spPr>
          <a:xfrm>
            <a:off x="548640" y="4187952"/>
            <a:ext cx="10789920" cy="566928"/>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187952"/>
            <a:ext cx="2834640" cy="566928"/>
          </a:xfrm>
          <a:prstGeom prst="rect">
            <a:avLst/>
          </a:prstGeom>
          <a:noFill/>
        </p:spPr>
        <p:txBody>
          <a:bodyPr wrap="square" anchor="ctr" lIns="0" rIns="0">
            <a:spAutoFit/>
          </a:bodyPr>
          <a:lstStyle/>
          <a:p>
            <a:pPr algn="l">
              <a:spcAft>
                <a:spcPts val="600"/>
              </a:spcAft>
            </a:pPr>
            <a:r>
              <a:rPr sz="1300" b="0">
                <a:solidFill>
                  <a:srgbClr val="0E0D5D"/>
                </a:solidFill>
                <a:latin typeface="Montserrat"/>
              </a:rPr>
              <a:t>Boutiques de marché</a:t>
            </a:r>
          </a:p>
        </p:txBody>
      </p:sp>
      <p:sp>
        <p:nvSpPr>
          <p:cNvPr id="43" name="TextBox 42"/>
          <p:cNvSpPr txBox="1"/>
          <p:nvPr/>
        </p:nvSpPr>
        <p:spPr>
          <a:xfrm>
            <a:off x="3383280" y="4187952"/>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6</a:t>
            </a:r>
          </a:p>
        </p:txBody>
      </p:sp>
      <p:sp>
        <p:nvSpPr>
          <p:cNvPr id="44" name="TextBox 43"/>
          <p:cNvSpPr txBox="1"/>
          <p:nvPr/>
        </p:nvSpPr>
        <p:spPr>
          <a:xfrm>
            <a:off x="4709160" y="4187952"/>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7</a:t>
            </a:r>
          </a:p>
        </p:txBody>
      </p:sp>
      <p:sp>
        <p:nvSpPr>
          <p:cNvPr id="45" name="TextBox 44"/>
          <p:cNvSpPr txBox="1"/>
          <p:nvPr/>
        </p:nvSpPr>
        <p:spPr>
          <a:xfrm>
            <a:off x="6035040" y="4187952"/>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7</a:t>
            </a:r>
          </a:p>
        </p:txBody>
      </p:sp>
      <p:sp>
        <p:nvSpPr>
          <p:cNvPr id="46" name="TextBox 45"/>
          <p:cNvSpPr txBox="1"/>
          <p:nvPr/>
        </p:nvSpPr>
        <p:spPr>
          <a:xfrm>
            <a:off x="7360920" y="4187952"/>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6</a:t>
            </a:r>
          </a:p>
        </p:txBody>
      </p:sp>
      <p:sp>
        <p:nvSpPr>
          <p:cNvPr id="47" name="TextBox 46"/>
          <p:cNvSpPr txBox="1"/>
          <p:nvPr/>
        </p:nvSpPr>
        <p:spPr>
          <a:xfrm>
            <a:off x="8686800" y="4187952"/>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7</a:t>
            </a:r>
          </a:p>
        </p:txBody>
      </p:sp>
      <p:sp>
        <p:nvSpPr>
          <p:cNvPr id="48" name="TextBox 47"/>
          <p:cNvSpPr txBox="1"/>
          <p:nvPr/>
        </p:nvSpPr>
        <p:spPr>
          <a:xfrm>
            <a:off x="10012680" y="4187952"/>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33/50</a:t>
            </a:r>
          </a:p>
        </p:txBody>
      </p:sp>
      <p:sp>
        <p:nvSpPr>
          <p:cNvPr id="49" name="Rectangle 48"/>
          <p:cNvSpPr/>
          <p:nvPr/>
        </p:nvSpPr>
        <p:spPr>
          <a:xfrm>
            <a:off x="548640" y="4754880"/>
            <a:ext cx="107899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4754880"/>
            <a:ext cx="2834640" cy="566928"/>
          </a:xfrm>
          <a:prstGeom prst="rect">
            <a:avLst/>
          </a:prstGeom>
          <a:noFill/>
        </p:spPr>
        <p:txBody>
          <a:bodyPr wrap="square" anchor="ctr" lIns="0" rIns="0">
            <a:spAutoFit/>
          </a:bodyPr>
          <a:lstStyle/>
          <a:p>
            <a:pPr algn="l">
              <a:spcAft>
                <a:spcPts val="600"/>
              </a:spcAft>
            </a:pPr>
            <a:r>
              <a:rPr sz="1300" b="0">
                <a:solidFill>
                  <a:srgbClr val="0E0D5D"/>
                </a:solidFill>
                <a:latin typeface="Montserrat"/>
              </a:rPr>
              <a:t>Grossistes</a:t>
            </a:r>
          </a:p>
        </p:txBody>
      </p:sp>
      <p:sp>
        <p:nvSpPr>
          <p:cNvPr id="51" name="TextBox 50"/>
          <p:cNvSpPr txBox="1"/>
          <p:nvPr/>
        </p:nvSpPr>
        <p:spPr>
          <a:xfrm>
            <a:off x="3383280" y="4754880"/>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7</a:t>
            </a:r>
          </a:p>
        </p:txBody>
      </p:sp>
      <p:sp>
        <p:nvSpPr>
          <p:cNvPr id="52" name="TextBox 51"/>
          <p:cNvSpPr txBox="1"/>
          <p:nvPr/>
        </p:nvSpPr>
        <p:spPr>
          <a:xfrm>
            <a:off x="4709160" y="4754880"/>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5</a:t>
            </a:r>
          </a:p>
        </p:txBody>
      </p:sp>
      <p:sp>
        <p:nvSpPr>
          <p:cNvPr id="53" name="TextBox 52"/>
          <p:cNvSpPr txBox="1"/>
          <p:nvPr/>
        </p:nvSpPr>
        <p:spPr>
          <a:xfrm>
            <a:off x="6035040" y="4754880"/>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6</a:t>
            </a:r>
          </a:p>
        </p:txBody>
      </p:sp>
      <p:sp>
        <p:nvSpPr>
          <p:cNvPr id="54" name="TextBox 53"/>
          <p:cNvSpPr txBox="1"/>
          <p:nvPr/>
        </p:nvSpPr>
        <p:spPr>
          <a:xfrm>
            <a:off x="7360920" y="4754880"/>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5</a:t>
            </a:r>
          </a:p>
        </p:txBody>
      </p:sp>
      <p:sp>
        <p:nvSpPr>
          <p:cNvPr id="55" name="TextBox 54"/>
          <p:cNvSpPr txBox="1"/>
          <p:nvPr/>
        </p:nvSpPr>
        <p:spPr>
          <a:xfrm>
            <a:off x="8686800" y="4754880"/>
            <a:ext cx="1325880" cy="566928"/>
          </a:xfrm>
          <a:prstGeom prst="rect">
            <a:avLst/>
          </a:prstGeom>
          <a:noFill/>
        </p:spPr>
        <p:txBody>
          <a:bodyPr wrap="square" anchor="ctr" lIns="0" rIns="0">
            <a:spAutoFit/>
          </a:bodyPr>
          <a:lstStyle/>
          <a:p>
            <a:pPr algn="ctr">
              <a:spcAft>
                <a:spcPts val="0"/>
              </a:spcAft>
            </a:pPr>
            <a:r>
              <a:rPr sz="1300" b="0">
                <a:solidFill>
                  <a:srgbClr val="0E0D5D"/>
                </a:solidFill>
                <a:latin typeface="Montserrat"/>
              </a:rPr>
              <a:t>4</a:t>
            </a:r>
          </a:p>
        </p:txBody>
      </p:sp>
      <p:sp>
        <p:nvSpPr>
          <p:cNvPr id="56" name="TextBox 55"/>
          <p:cNvSpPr txBox="1"/>
          <p:nvPr/>
        </p:nvSpPr>
        <p:spPr>
          <a:xfrm>
            <a:off x="10012680" y="4754880"/>
            <a:ext cx="1325880" cy="566928"/>
          </a:xfrm>
          <a:prstGeom prst="rect">
            <a:avLst/>
          </a:prstGeom>
          <a:noFill/>
        </p:spPr>
        <p:txBody>
          <a:bodyPr wrap="square" anchor="ctr" lIns="0" rIns="0">
            <a:spAutoFit/>
          </a:bodyPr>
          <a:lstStyle/>
          <a:p>
            <a:pPr algn="ctr">
              <a:spcAft>
                <a:spcPts val="0"/>
              </a:spcAft>
            </a:pPr>
            <a:r>
              <a:rPr sz="1300" b="1">
                <a:solidFill>
                  <a:srgbClr val="0E0D5D"/>
                </a:solidFill>
                <a:latin typeface="Montserrat"/>
              </a:rPr>
              <a:t>27/50</a:t>
            </a:r>
          </a:p>
        </p:txBody>
      </p:sp>
      <p:sp>
        <p:nvSpPr>
          <p:cNvPr id="57" name="TextBox 56"/>
          <p:cNvSpPr txBox="1"/>
          <p:nvPr/>
        </p:nvSpPr>
        <p:spPr>
          <a:xfrm>
            <a:off x="548640" y="5458968"/>
            <a:ext cx="10058400" cy="548640"/>
          </a:xfrm>
          <a:prstGeom prst="rect">
            <a:avLst/>
          </a:prstGeom>
          <a:noFill/>
        </p:spPr>
        <p:txBody>
          <a:bodyPr wrap="square" anchor="t" lIns="0" rIns="0">
            <a:spAutoFit/>
          </a:bodyPr>
          <a:lstStyle/>
          <a:p>
            <a:pPr algn="l">
              <a:spcAft>
                <a:spcPts val="600"/>
              </a:spcAft>
            </a:pPr>
            <a:r>
              <a:rPr sz="1250" b="0">
                <a:solidFill>
                  <a:srgbClr val="595978"/>
                </a:solidFill>
                <a:latin typeface="Montserrat"/>
              </a:rPr>
              <a:t>Les responsables de marché comptent peu en usage, mais aucune adoption à grande échelle ne se fait sans elles : elles deviennent la porte d’entrée, pas la cible.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4" name="TextBox 3"/>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9</a:t>
            </a:r>
          </a:p>
        </p:txBody>
      </p:sp>
      <p:pic>
        <p:nvPicPr>
          <p:cNvPr id="5" name="Picture 4" descr="cr_cible.jpg"/>
          <p:cNvPicPr>
            <a:picLocks noChangeAspect="1"/>
          </p:cNvPicPr>
          <p:nvPr/>
        </p:nvPicPr>
        <p:blipFill>
          <a:blip r:embed="rId2"/>
          <a:stretch>
            <a:fillRect/>
          </a:stretch>
        </p:blipFill>
        <p:spPr>
          <a:xfrm>
            <a:off x="0" y="0"/>
            <a:ext cx="4663440" cy="6858000"/>
          </a:xfrm>
          <a:prstGeom prst="rect">
            <a:avLst/>
          </a:prstGeom>
        </p:spPr>
      </p:pic>
      <p:pic>
        <p:nvPicPr>
          <p:cNvPr id="6" name="Picture 5" descr="nav-logo.png"/>
          <p:cNvPicPr>
            <a:picLocks noChangeAspect="1"/>
          </p:cNvPicPr>
          <p:nvPr/>
        </p:nvPicPr>
        <p:blipFill>
          <a:blip r:embed="rId3"/>
          <a:stretch>
            <a:fillRect/>
          </a:stretch>
        </p:blipFill>
        <p:spPr>
          <a:xfrm>
            <a:off x="10591800" y="256032"/>
            <a:ext cx="1234440" cy="542080"/>
          </a:xfrm>
          <a:prstGeom prst="rect">
            <a:avLst/>
          </a:prstGeom>
        </p:spPr>
      </p:pic>
      <p:sp>
        <p:nvSpPr>
          <p:cNvPr id="7" name="TextBox 6"/>
          <p:cNvSpPr txBox="1"/>
          <p:nvPr/>
        </p:nvSpPr>
        <p:spPr>
          <a:xfrm>
            <a:off x="5120640" y="548640"/>
            <a:ext cx="4572000" cy="365760"/>
          </a:xfrm>
          <a:prstGeom prst="rect">
            <a:avLst/>
          </a:prstGeom>
          <a:noFill/>
        </p:spPr>
        <p:txBody>
          <a:bodyPr wrap="square" anchor="t" lIns="0" rIns="0">
            <a:spAutoFit/>
          </a:bodyPr>
          <a:lstStyle/>
          <a:p>
            <a:pPr algn="l">
              <a:spcAft>
                <a:spcPts val="600"/>
              </a:spcAft>
            </a:pPr>
            <a:r>
              <a:rPr sz="1300" b="1">
                <a:solidFill>
                  <a:srgbClr val="1DC4FF"/>
                </a:solidFill>
                <a:latin typeface="Montserrat"/>
              </a:rPr>
              <a:t>LA CIBLE PRIORITAIRE</a:t>
            </a:r>
          </a:p>
        </p:txBody>
      </p:sp>
      <p:sp>
        <p:nvSpPr>
          <p:cNvPr id="8" name="TextBox 7"/>
          <p:cNvSpPr txBox="1"/>
          <p:nvPr/>
        </p:nvSpPr>
        <p:spPr>
          <a:xfrm>
            <a:off x="5120640" y="914400"/>
            <a:ext cx="5669280" cy="914400"/>
          </a:xfrm>
          <a:prstGeom prst="rect">
            <a:avLst/>
          </a:prstGeom>
          <a:noFill/>
        </p:spPr>
        <p:txBody>
          <a:bodyPr wrap="square" anchor="t" lIns="0" rIns="0">
            <a:spAutoFit/>
          </a:bodyPr>
          <a:lstStyle/>
          <a:p>
            <a:pPr algn="l">
              <a:spcAft>
                <a:spcPts val="600"/>
              </a:spcAft>
            </a:pPr>
            <a:r>
              <a:rPr sz="2600" b="1">
                <a:solidFill>
                  <a:srgbClr val="0E0D5D"/>
                </a:solidFill>
                <a:latin typeface="Montserrat"/>
              </a:rPr>
              <a:t>Les vendeuses de vivrier au détail</a:t>
            </a:r>
          </a:p>
        </p:txBody>
      </p:sp>
      <p:sp>
        <p:nvSpPr>
          <p:cNvPr id="9" name="Rectangle 8"/>
          <p:cNvSpPr/>
          <p:nvPr/>
        </p:nvSpPr>
        <p:spPr>
          <a:xfrm>
            <a:off x="5120640" y="1783080"/>
            <a:ext cx="914400" cy="64008"/>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2011680"/>
            <a:ext cx="5669280" cy="2926080"/>
          </a:xfrm>
          <a:prstGeom prst="rect">
            <a:avLst/>
          </a:prstGeom>
          <a:noFill/>
        </p:spPr>
        <p:txBody>
          <a:bodyPr wrap="square" anchor="t" lIns="0" rIns="0">
            <a:spAutoFit/>
          </a:bodyPr>
          <a:lstStyle/>
          <a:p>
            <a:pPr algn="l">
              <a:spcAft>
                <a:spcPts val="900"/>
              </a:spcAft>
            </a:pPr>
            <a:r>
              <a:rPr sz="1350" b="1">
                <a:solidFill>
                  <a:srgbClr val="1C1C1C"/>
                </a:solidFill>
                <a:latin typeface="Montserrat"/>
              </a:rPr>
              <a:t>Pourquoi elles :</a:t>
            </a:r>
            <a:r>
              <a:rPr sz="1350" b="0">
                <a:solidFill>
                  <a:srgbClr val="1C1C1C"/>
                </a:solidFill>
                <a:latin typeface="Montserrat"/>
              </a:rPr>
              <a:t> elles touchent chaque jour le plus grand nombre de clients, sur les achats que les familles font tous les jours. Si elles acceptent Wave, les clientes prennent l’habitude de payer au marché.</a:t>
            </a:r>
          </a:p>
          <a:p>
            <a:pPr algn="l">
              <a:spcAft>
                <a:spcPts val="900"/>
              </a:spcAft>
            </a:pPr>
            <a:r>
              <a:rPr sz="1350" b="1">
                <a:solidFill>
                  <a:srgbClr val="1C1C1C"/>
                </a:solidFill>
                <a:latin typeface="Montserrat"/>
              </a:rPr>
              <a:t>Ce qu’on leur apporte :</a:t>
            </a:r>
            <a:r>
              <a:rPr sz="1350" b="0">
                <a:solidFill>
                  <a:srgbClr val="1C1C1C"/>
                </a:solidFill>
                <a:latin typeface="Montserrat"/>
              </a:rPr>
              <a:t> la fin des ventes perdues faute de monnaie, l’argent à l’abri des vols et des pertes, une trace de ce qu’elles ont vendu.</a:t>
            </a:r>
          </a:p>
          <a:p>
            <a:pPr algn="l">
              <a:spcAft>
                <a:spcPts val="900"/>
              </a:spcAft>
            </a:pPr>
            <a:r>
              <a:rPr sz="1350" b="1">
                <a:solidFill>
                  <a:srgbClr val="1C1C1C"/>
                </a:solidFill>
                <a:latin typeface="Montserrat"/>
              </a:rPr>
              <a:t>Leur force :</a:t>
            </a:r>
            <a:r>
              <a:rPr sz="1350" b="0">
                <a:solidFill>
                  <a:srgbClr val="1C1C1C"/>
                </a:solidFill>
                <a:latin typeface="Montserrat"/>
              </a:rPr>
              <a:t> elles se parlent beaucoup, dans les tontines et les associations. Une vendeuse convaincue en entraîne d’autres.</a:t>
            </a:r>
          </a:p>
        </p:txBody>
      </p:sp>
      <p:sp>
        <p:nvSpPr>
          <p:cNvPr id="11" name="Rectangle 10"/>
          <p:cNvSpPr/>
          <p:nvPr/>
        </p:nvSpPr>
        <p:spPr>
          <a:xfrm>
            <a:off x="5120640" y="4892040"/>
            <a:ext cx="5669280" cy="7772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4892040"/>
            <a:ext cx="5303520" cy="777240"/>
          </a:xfrm>
          <a:prstGeom prst="rect">
            <a:avLst/>
          </a:prstGeom>
          <a:noFill/>
        </p:spPr>
        <p:txBody>
          <a:bodyPr wrap="square" anchor="ctr" lIns="0" rIns="0">
            <a:spAutoFit/>
          </a:bodyPr>
          <a:lstStyle/>
          <a:p>
            <a:pPr algn="l">
              <a:spcAft>
                <a:spcPts val="0"/>
              </a:spcAft>
            </a:pPr>
            <a:r>
              <a:rPr sz="1250" b="1">
                <a:solidFill>
                  <a:srgbClr val="0E0D5D"/>
                </a:solidFill>
                <a:latin typeface="Montserrat"/>
              </a:rPr>
              <a:t>Profil à éviter :</a:t>
            </a:r>
            <a:r>
              <a:rPr sz="1250" b="0">
                <a:solidFill>
                  <a:srgbClr val="0E0D5D"/>
                </a:solidFill>
                <a:latin typeface="Montserrat"/>
              </a:rPr>
              <a:t> l’étal tenu par une aide qui encaisse pour une autre et ne décide de rien.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10</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Comment leur parler</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9875520" cy="457200"/>
          </a:xfrm>
          <a:prstGeom prst="rect">
            <a:avLst/>
          </a:prstGeom>
          <a:noFill/>
        </p:spPr>
        <p:txBody>
          <a:bodyPr wrap="square" anchor="t" lIns="0" rIns="0">
            <a:spAutoFit/>
          </a:bodyPr>
          <a:lstStyle/>
          <a:p>
            <a:pPr algn="l">
              <a:spcAft>
                <a:spcPts val="600"/>
              </a:spcAft>
            </a:pPr>
            <a:r>
              <a:rPr sz="1400" b="0">
                <a:solidFill>
                  <a:srgbClr val="595978"/>
                </a:solidFill>
                <a:latin typeface="Montserrat"/>
              </a:rPr>
              <a:t>Parler de leur journée, pas de la technologie.</a:t>
            </a:r>
          </a:p>
        </p:txBody>
      </p:sp>
      <p:sp>
        <p:nvSpPr>
          <p:cNvPr id="9" name="Rectangle 8"/>
          <p:cNvSpPr/>
          <p:nvPr/>
        </p:nvSpPr>
        <p:spPr>
          <a:xfrm>
            <a:off x="548640" y="1874519"/>
            <a:ext cx="3200400" cy="54864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19"/>
            <a:ext cx="2834640" cy="548640"/>
          </a:xfrm>
          <a:prstGeom prst="rect">
            <a:avLst/>
          </a:prstGeom>
          <a:noFill/>
        </p:spPr>
        <p:txBody>
          <a:bodyPr wrap="square" anchor="ctr" lIns="0" rIns="0">
            <a:spAutoFit/>
          </a:bodyPr>
          <a:lstStyle/>
          <a:p>
            <a:pPr algn="l">
              <a:spcAft>
                <a:spcPts val="600"/>
              </a:spcAft>
            </a:pPr>
            <a:r>
              <a:rPr sz="1600" b="1">
                <a:solidFill>
                  <a:srgbClr val="FFFFFF"/>
                </a:solidFill>
                <a:latin typeface="Montserrat"/>
              </a:rPr>
              <a:t>Les messages</a:t>
            </a:r>
          </a:p>
        </p:txBody>
      </p:sp>
      <p:sp>
        <p:nvSpPr>
          <p:cNvPr id="11" name="Rectangle 10"/>
          <p:cNvSpPr/>
          <p:nvPr/>
        </p:nvSpPr>
        <p:spPr>
          <a:xfrm>
            <a:off x="548640" y="2423160"/>
            <a:ext cx="3200400" cy="30632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2834640" cy="2743200"/>
          </a:xfrm>
          <a:prstGeom prst="rect">
            <a:avLst/>
          </a:prstGeom>
          <a:noFill/>
        </p:spPr>
        <p:txBody>
          <a:bodyPr wrap="square" anchor="t" lIns="0" rIns="0">
            <a:spAutoFit/>
          </a:bodyPr>
          <a:lstStyle/>
          <a:p>
            <a:pPr algn="l">
              <a:spcAft>
                <a:spcPts val="1000"/>
              </a:spcAft>
            </a:pPr>
            <a:r>
              <a:rPr sz="1300" b="0">
                <a:solidFill>
                  <a:srgbClr val="1C1C1C"/>
                </a:solidFill>
                <a:latin typeface="Montserrat"/>
              </a:rPr>
              <a:t>« Plus de client perdu pour une question de monnaie. »</a:t>
            </a:r>
          </a:p>
          <a:p>
            <a:pPr algn="l">
              <a:spcAft>
                <a:spcPts val="1000"/>
              </a:spcAft>
            </a:pPr>
            <a:r>
              <a:rPr sz="1300" b="0">
                <a:solidFill>
                  <a:srgbClr val="1C1C1C"/>
                </a:solidFill>
                <a:latin typeface="Montserrat"/>
              </a:rPr>
              <a:t>« Ton argent dort en sécurité, pas dans ton pagne. »</a:t>
            </a:r>
          </a:p>
          <a:p>
            <a:pPr algn="l">
              <a:spcAft>
                <a:spcPts val="1000"/>
              </a:spcAft>
            </a:pPr>
            <a:r>
              <a:rPr sz="1300" b="0">
                <a:solidFill>
                  <a:srgbClr val="1C1C1C"/>
                </a:solidFill>
                <a:latin typeface="Montserrat"/>
              </a:rPr>
              <a:t>« Tu sais ce que tu as vendu, produit par produit. »</a:t>
            </a:r>
          </a:p>
        </p:txBody>
      </p:sp>
      <p:sp>
        <p:nvSpPr>
          <p:cNvPr id="13" name="Rectangle 12"/>
          <p:cNvSpPr/>
          <p:nvPr/>
        </p:nvSpPr>
        <p:spPr>
          <a:xfrm>
            <a:off x="3977639" y="1874519"/>
            <a:ext cx="3200400" cy="54864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19" y="1874519"/>
            <a:ext cx="2834640" cy="548640"/>
          </a:xfrm>
          <a:prstGeom prst="rect">
            <a:avLst/>
          </a:prstGeom>
          <a:noFill/>
        </p:spPr>
        <p:txBody>
          <a:bodyPr wrap="square" anchor="ctr" lIns="0" rIns="0">
            <a:spAutoFit/>
          </a:bodyPr>
          <a:lstStyle/>
          <a:p>
            <a:pPr algn="l">
              <a:spcAft>
                <a:spcPts val="600"/>
              </a:spcAft>
            </a:pPr>
            <a:r>
              <a:rPr sz="1600" b="1">
                <a:solidFill>
                  <a:srgbClr val="FFFFFF"/>
                </a:solidFill>
                <a:latin typeface="Montserrat"/>
              </a:rPr>
              <a:t>Le ton</a:t>
            </a:r>
          </a:p>
        </p:txBody>
      </p:sp>
      <p:sp>
        <p:nvSpPr>
          <p:cNvPr id="15" name="Rectangle 14"/>
          <p:cNvSpPr/>
          <p:nvPr/>
        </p:nvSpPr>
        <p:spPr>
          <a:xfrm>
            <a:off x="3977639" y="2423160"/>
            <a:ext cx="3200400" cy="30632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19" y="2606040"/>
            <a:ext cx="2834640" cy="2743200"/>
          </a:xfrm>
          <a:prstGeom prst="rect">
            <a:avLst/>
          </a:prstGeom>
          <a:noFill/>
        </p:spPr>
        <p:txBody>
          <a:bodyPr wrap="square" anchor="t" lIns="0" rIns="0">
            <a:spAutoFit/>
          </a:bodyPr>
          <a:lstStyle/>
          <a:p>
            <a:pPr algn="l">
              <a:spcAft>
                <a:spcPts val="1000"/>
              </a:spcAft>
            </a:pPr>
            <a:r>
              <a:rPr sz="1300" b="0">
                <a:solidFill>
                  <a:srgbClr val="1C1C1C"/>
                </a:solidFill>
                <a:latin typeface="Montserrat"/>
              </a:rPr>
              <a:t>Français simple, phrases courtes, tutoiement.</a:t>
            </a:r>
          </a:p>
          <a:p>
            <a:pPr algn="l">
              <a:spcAft>
                <a:spcPts val="1000"/>
              </a:spcAft>
            </a:pPr>
            <a:r>
              <a:rPr sz="1300" b="0">
                <a:solidFill>
                  <a:srgbClr val="1C1C1C"/>
                </a:solidFill>
                <a:latin typeface="Montserrat"/>
              </a:rPr>
              <a:t>Des exemples tirés du marché : la cliente pressée, la monnaie qui manque, le soir au moment de compter.</a:t>
            </a:r>
          </a:p>
          <a:p>
            <a:pPr algn="l">
              <a:spcAft>
                <a:spcPts val="1000"/>
              </a:spcAft>
            </a:pPr>
            <a:r>
              <a:rPr sz="1300" b="0">
                <a:solidFill>
                  <a:srgbClr val="1C1C1C"/>
                </a:solidFill>
                <a:latin typeface="Montserrat"/>
              </a:rPr>
              <a:t>Des visages de vraies commerçantes, pas de mannequins.</a:t>
            </a:r>
          </a:p>
        </p:txBody>
      </p:sp>
      <p:sp>
        <p:nvSpPr>
          <p:cNvPr id="17" name="Rectangle 16"/>
          <p:cNvSpPr/>
          <p:nvPr/>
        </p:nvSpPr>
        <p:spPr>
          <a:xfrm>
            <a:off x="7406640" y="1874519"/>
            <a:ext cx="3200400" cy="54864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1874519"/>
            <a:ext cx="2834640" cy="548640"/>
          </a:xfrm>
          <a:prstGeom prst="rect">
            <a:avLst/>
          </a:prstGeom>
          <a:noFill/>
        </p:spPr>
        <p:txBody>
          <a:bodyPr wrap="square" anchor="ctr" lIns="0" rIns="0">
            <a:spAutoFit/>
          </a:bodyPr>
          <a:lstStyle/>
          <a:p>
            <a:pPr algn="l">
              <a:spcAft>
                <a:spcPts val="600"/>
              </a:spcAft>
            </a:pPr>
            <a:r>
              <a:rPr sz="1600" b="1">
                <a:solidFill>
                  <a:srgbClr val="FFFFFF"/>
                </a:solidFill>
                <a:latin typeface="Montserrat"/>
              </a:rPr>
              <a:t>Les canaux</a:t>
            </a:r>
          </a:p>
        </p:txBody>
      </p:sp>
      <p:sp>
        <p:nvSpPr>
          <p:cNvPr id="19" name="Rectangle 18"/>
          <p:cNvSpPr/>
          <p:nvPr/>
        </p:nvSpPr>
        <p:spPr>
          <a:xfrm>
            <a:off x="7406640" y="2423160"/>
            <a:ext cx="3200400" cy="306324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2606040"/>
            <a:ext cx="2834640" cy="2743200"/>
          </a:xfrm>
          <a:prstGeom prst="rect">
            <a:avLst/>
          </a:prstGeom>
          <a:noFill/>
        </p:spPr>
        <p:txBody>
          <a:bodyPr wrap="square" anchor="t" lIns="0" rIns="0">
            <a:spAutoFit/>
          </a:bodyPr>
          <a:lstStyle/>
          <a:p>
            <a:pPr algn="l">
              <a:spcAft>
                <a:spcPts val="1000"/>
              </a:spcAft>
            </a:pPr>
            <a:r>
              <a:rPr sz="1300" b="0">
                <a:solidFill>
                  <a:srgbClr val="1C1C1C"/>
                </a:solidFill>
                <a:latin typeface="Montserrat"/>
              </a:rPr>
              <a:t>Sur place : équipes dans les allées, démonstration à l’étal.</a:t>
            </a:r>
          </a:p>
          <a:p>
            <a:pPr algn="l">
              <a:spcAft>
                <a:spcPts val="1000"/>
              </a:spcAft>
            </a:pPr>
            <a:r>
              <a:rPr sz="1300" b="0">
                <a:solidFill>
                  <a:srgbClr val="1C1C1C"/>
                </a:solidFill>
                <a:latin typeface="Montserrat"/>
              </a:rPr>
              <a:t>Les groupes WhatsApp des associations de marché.</a:t>
            </a:r>
          </a:p>
          <a:p>
            <a:pPr algn="l">
              <a:spcAft>
                <a:spcPts val="1000"/>
              </a:spcAft>
            </a:pPr>
            <a:r>
              <a:rPr sz="1300" b="0">
                <a:solidFill>
                  <a:srgbClr val="1C1C1C"/>
                </a:solidFill>
                <a:latin typeface="Montserrat"/>
              </a:rPr>
              <a:t>Radios de proximité et messages vocaux, pour celles qui lisent peu.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4" name="TextBox 3"/>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11</a:t>
            </a:r>
          </a:p>
        </p:txBody>
      </p:sp>
      <p:pic>
        <p:nvPicPr>
          <p:cNvPr id="5" name="Picture 4" descr="cr_porte.jpg"/>
          <p:cNvPicPr>
            <a:picLocks noChangeAspect="1"/>
          </p:cNvPicPr>
          <p:nvPr/>
        </p:nvPicPr>
        <p:blipFill>
          <a:blip r:embed="rId2"/>
          <a:stretch>
            <a:fillRect/>
          </a:stretch>
        </p:blipFill>
        <p:spPr>
          <a:xfrm>
            <a:off x="7985760" y="0"/>
            <a:ext cx="4206240" cy="6858000"/>
          </a:xfrm>
          <a:prstGeom prst="rect">
            <a:avLst/>
          </a:prstGeom>
        </p:spPr>
      </p:pic>
      <p:pic>
        <p:nvPicPr>
          <p:cNvPr id="6" name="Picture 5" descr="favicon.png"/>
          <p:cNvPicPr>
            <a:picLocks noChangeAspect="1"/>
          </p:cNvPicPr>
          <p:nvPr/>
        </p:nvPicPr>
        <p:blipFill>
          <a:blip r:embed="rId3"/>
          <a:stretch>
            <a:fillRect/>
          </a:stretch>
        </p:blipFill>
        <p:spPr>
          <a:xfrm>
            <a:off x="7071360" y="274320"/>
            <a:ext cx="548640" cy="548640"/>
          </a:xfrm>
          <a:prstGeom prst="rect">
            <a:avLst/>
          </a:prstGeom>
        </p:spPr>
      </p:pic>
      <p:sp>
        <p:nvSpPr>
          <p:cNvPr id="7" name="TextBox 6"/>
          <p:cNvSpPr txBox="1"/>
          <p:nvPr/>
        </p:nvSpPr>
        <p:spPr>
          <a:xfrm>
            <a:off x="548640" y="457200"/>
            <a:ext cx="5486400" cy="365760"/>
          </a:xfrm>
          <a:prstGeom prst="rect">
            <a:avLst/>
          </a:prstGeom>
          <a:noFill/>
        </p:spPr>
        <p:txBody>
          <a:bodyPr wrap="square" anchor="t" lIns="0" rIns="0">
            <a:spAutoFit/>
          </a:bodyPr>
          <a:lstStyle/>
          <a:p>
            <a:pPr algn="l">
              <a:spcAft>
                <a:spcPts val="600"/>
              </a:spcAft>
            </a:pPr>
            <a:r>
              <a:rPr sz="1300" b="1">
                <a:solidFill>
                  <a:srgbClr val="1DC4FF"/>
                </a:solidFill>
                <a:latin typeface="Montserrat"/>
              </a:rPr>
              <a:t>LA PORTE D’ENTRÉE</a:t>
            </a:r>
          </a:p>
        </p:txBody>
      </p:sp>
      <p:sp>
        <p:nvSpPr>
          <p:cNvPr id="8" name="TextBox 7"/>
          <p:cNvSpPr txBox="1"/>
          <p:nvPr/>
        </p:nvSpPr>
        <p:spPr>
          <a:xfrm>
            <a:off x="548640" y="822960"/>
            <a:ext cx="5852160" cy="914400"/>
          </a:xfrm>
          <a:prstGeom prst="rect">
            <a:avLst/>
          </a:prstGeom>
          <a:noFill/>
        </p:spPr>
        <p:txBody>
          <a:bodyPr wrap="square" anchor="t" lIns="0" rIns="0">
            <a:spAutoFit/>
          </a:bodyPr>
          <a:lstStyle/>
          <a:p>
            <a:pPr algn="l">
              <a:spcAft>
                <a:spcPts val="600"/>
              </a:spcAft>
            </a:pPr>
            <a:r>
              <a:rPr sz="2500" b="1">
                <a:solidFill>
                  <a:srgbClr val="0E0D5D"/>
                </a:solidFill>
                <a:latin typeface="Montserrat"/>
              </a:rPr>
              <a:t>Passer par les responsables de marché</a:t>
            </a:r>
          </a:p>
        </p:txBody>
      </p:sp>
      <p:sp>
        <p:nvSpPr>
          <p:cNvPr id="9" name="Rectangle 8"/>
          <p:cNvSpPr/>
          <p:nvPr/>
        </p:nvSpPr>
        <p:spPr>
          <a:xfrm>
            <a:off x="548640" y="1691640"/>
            <a:ext cx="914400" cy="64008"/>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965960"/>
            <a:ext cx="548640" cy="548640"/>
          </a:xfrm>
          <a:prstGeom prst="ellipse">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65960"/>
            <a:ext cx="548640" cy="548640"/>
          </a:xfrm>
          <a:prstGeom prst="rect">
            <a:avLst/>
          </a:prstGeom>
          <a:noFill/>
        </p:spPr>
        <p:txBody>
          <a:bodyPr wrap="square" anchor="ctr" lIns="0" rIns="0">
            <a:spAutoFit/>
          </a:bodyPr>
          <a:lstStyle/>
          <a:p>
            <a:pPr algn="ctr">
              <a:spcAft>
                <a:spcPts val="0"/>
              </a:spcAft>
            </a:pPr>
            <a:r>
              <a:rPr sz="1600" b="1">
                <a:solidFill>
                  <a:srgbClr val="0E0D5D"/>
                </a:solidFill>
                <a:latin typeface="Montserrat"/>
              </a:rPr>
              <a:t>1</a:t>
            </a:r>
          </a:p>
        </p:txBody>
      </p:sp>
      <p:sp>
        <p:nvSpPr>
          <p:cNvPr id="12" name="TextBox 11"/>
          <p:cNvSpPr txBox="1"/>
          <p:nvPr/>
        </p:nvSpPr>
        <p:spPr>
          <a:xfrm>
            <a:off x="1280160" y="1965960"/>
            <a:ext cx="5120640" cy="731520"/>
          </a:xfrm>
          <a:prstGeom prst="rect">
            <a:avLst/>
          </a:prstGeom>
          <a:noFill/>
        </p:spPr>
        <p:txBody>
          <a:bodyPr wrap="square" anchor="ctr" lIns="0" rIns="0">
            <a:spAutoFit/>
          </a:bodyPr>
          <a:lstStyle/>
          <a:p>
            <a:pPr algn="l">
              <a:spcAft>
                <a:spcPts val="0"/>
              </a:spcAft>
            </a:pPr>
            <a:r>
              <a:rPr sz="1350" b="0">
                <a:solidFill>
                  <a:srgbClr val="1C1C1C"/>
                </a:solidFill>
                <a:latin typeface="Montserrat"/>
              </a:rPr>
              <a:t>Rencontrer la présidente ou le bureau du marché avant toute action dans les allées.</a:t>
            </a:r>
          </a:p>
        </p:txBody>
      </p:sp>
      <p:sp>
        <p:nvSpPr>
          <p:cNvPr id="13" name="Oval 12"/>
          <p:cNvSpPr/>
          <p:nvPr/>
        </p:nvSpPr>
        <p:spPr>
          <a:xfrm>
            <a:off x="548640" y="2834639"/>
            <a:ext cx="548640" cy="548640"/>
          </a:xfrm>
          <a:prstGeom prst="ellipse">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34639"/>
            <a:ext cx="548640" cy="548640"/>
          </a:xfrm>
          <a:prstGeom prst="rect">
            <a:avLst/>
          </a:prstGeom>
          <a:noFill/>
        </p:spPr>
        <p:txBody>
          <a:bodyPr wrap="square" anchor="ctr" lIns="0" rIns="0">
            <a:spAutoFit/>
          </a:bodyPr>
          <a:lstStyle/>
          <a:p>
            <a:pPr algn="ctr">
              <a:spcAft>
                <a:spcPts val="0"/>
              </a:spcAft>
            </a:pPr>
            <a:r>
              <a:rPr sz="1600" b="1">
                <a:solidFill>
                  <a:srgbClr val="0E0D5D"/>
                </a:solidFill>
                <a:latin typeface="Montserrat"/>
              </a:rPr>
              <a:t>2</a:t>
            </a:r>
          </a:p>
        </p:txBody>
      </p:sp>
      <p:sp>
        <p:nvSpPr>
          <p:cNvPr id="15" name="TextBox 14"/>
          <p:cNvSpPr txBox="1"/>
          <p:nvPr/>
        </p:nvSpPr>
        <p:spPr>
          <a:xfrm>
            <a:off x="1280160" y="2834639"/>
            <a:ext cx="5120640" cy="731520"/>
          </a:xfrm>
          <a:prstGeom prst="rect">
            <a:avLst/>
          </a:prstGeom>
          <a:noFill/>
        </p:spPr>
        <p:txBody>
          <a:bodyPr wrap="square" anchor="ctr" lIns="0" rIns="0">
            <a:spAutoFit/>
          </a:bodyPr>
          <a:lstStyle/>
          <a:p>
            <a:pPr algn="l">
              <a:spcAft>
                <a:spcPts val="0"/>
              </a:spcAft>
            </a:pPr>
            <a:r>
              <a:rPr sz="1350" b="0">
                <a:solidFill>
                  <a:srgbClr val="1C1C1C"/>
                </a:solidFill>
                <a:latin typeface="Montserrat"/>
              </a:rPr>
              <a:t>Leur proposer d’être les premières équipées et de présenter Wave à leurs membres.</a:t>
            </a:r>
          </a:p>
        </p:txBody>
      </p:sp>
      <p:sp>
        <p:nvSpPr>
          <p:cNvPr id="16" name="Oval 15"/>
          <p:cNvSpPr/>
          <p:nvPr/>
        </p:nvSpPr>
        <p:spPr>
          <a:xfrm>
            <a:off x="548640" y="3703320"/>
            <a:ext cx="548640" cy="548640"/>
          </a:xfrm>
          <a:prstGeom prst="ellipse">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03320"/>
            <a:ext cx="548640" cy="548640"/>
          </a:xfrm>
          <a:prstGeom prst="rect">
            <a:avLst/>
          </a:prstGeom>
          <a:noFill/>
        </p:spPr>
        <p:txBody>
          <a:bodyPr wrap="square" anchor="ctr" lIns="0" rIns="0">
            <a:spAutoFit/>
          </a:bodyPr>
          <a:lstStyle/>
          <a:p>
            <a:pPr algn="ctr">
              <a:spcAft>
                <a:spcPts val="0"/>
              </a:spcAft>
            </a:pPr>
            <a:r>
              <a:rPr sz="1600" b="1">
                <a:solidFill>
                  <a:srgbClr val="0E0D5D"/>
                </a:solidFill>
                <a:latin typeface="Montserrat"/>
              </a:rPr>
              <a:t>3</a:t>
            </a:r>
          </a:p>
        </p:txBody>
      </p:sp>
      <p:sp>
        <p:nvSpPr>
          <p:cNvPr id="18" name="TextBox 17"/>
          <p:cNvSpPr txBox="1"/>
          <p:nvPr/>
        </p:nvSpPr>
        <p:spPr>
          <a:xfrm>
            <a:off x="1280160" y="3703320"/>
            <a:ext cx="5120640" cy="731520"/>
          </a:xfrm>
          <a:prstGeom prst="rect">
            <a:avLst/>
          </a:prstGeom>
          <a:noFill/>
        </p:spPr>
        <p:txBody>
          <a:bodyPr wrap="square" anchor="ctr" lIns="0" rIns="0">
            <a:spAutoFit/>
          </a:bodyPr>
          <a:lstStyle/>
          <a:p>
            <a:pPr algn="l">
              <a:spcAft>
                <a:spcPts val="0"/>
              </a:spcAft>
            </a:pPr>
            <a:r>
              <a:rPr sz="1350" b="0">
                <a:solidFill>
                  <a:srgbClr val="1C1C1C"/>
                </a:solidFill>
                <a:latin typeface="Montserrat"/>
              </a:rPr>
              <a:t>Organiser une matinée de démonstration au marché, avec elles à côté des équipes.</a:t>
            </a:r>
          </a:p>
        </p:txBody>
      </p:sp>
      <p:sp>
        <p:nvSpPr>
          <p:cNvPr id="19" name="Oval 18"/>
          <p:cNvSpPr/>
          <p:nvPr/>
        </p:nvSpPr>
        <p:spPr>
          <a:xfrm>
            <a:off x="548640" y="4572000"/>
            <a:ext cx="548640" cy="548640"/>
          </a:xfrm>
          <a:prstGeom prst="ellipse">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72000"/>
            <a:ext cx="548640" cy="548640"/>
          </a:xfrm>
          <a:prstGeom prst="rect">
            <a:avLst/>
          </a:prstGeom>
          <a:noFill/>
        </p:spPr>
        <p:txBody>
          <a:bodyPr wrap="square" anchor="ctr" lIns="0" rIns="0">
            <a:spAutoFit/>
          </a:bodyPr>
          <a:lstStyle/>
          <a:p>
            <a:pPr algn="ctr">
              <a:spcAft>
                <a:spcPts val="0"/>
              </a:spcAft>
            </a:pPr>
            <a:r>
              <a:rPr sz="1600" b="1">
                <a:solidFill>
                  <a:srgbClr val="0E0D5D"/>
                </a:solidFill>
                <a:latin typeface="Montserrat"/>
              </a:rPr>
              <a:t>4</a:t>
            </a:r>
          </a:p>
        </p:txBody>
      </p:sp>
      <p:sp>
        <p:nvSpPr>
          <p:cNvPr id="21" name="TextBox 20"/>
          <p:cNvSpPr txBox="1"/>
          <p:nvPr/>
        </p:nvSpPr>
        <p:spPr>
          <a:xfrm>
            <a:off x="1280160" y="4572000"/>
            <a:ext cx="5120640" cy="731520"/>
          </a:xfrm>
          <a:prstGeom prst="rect">
            <a:avLst/>
          </a:prstGeom>
          <a:noFill/>
        </p:spPr>
        <p:txBody>
          <a:bodyPr wrap="square" anchor="ctr" lIns="0" rIns="0">
            <a:spAutoFit/>
          </a:bodyPr>
          <a:lstStyle/>
          <a:p>
            <a:pPr algn="l">
              <a:spcAft>
                <a:spcPts val="0"/>
              </a:spcAft>
            </a:pPr>
            <a:r>
              <a:rPr sz="1350" b="0">
                <a:solidFill>
                  <a:srgbClr val="1C1C1C"/>
                </a:solidFill>
                <a:latin typeface="Montserrat"/>
              </a:rPr>
              <a:t>Leur rendre compte : combien de commerçantes équipées, combien utilisent vraiment.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12</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Les 90 premiers jours</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9875520" cy="457200"/>
          </a:xfrm>
          <a:prstGeom prst="rect">
            <a:avLst/>
          </a:prstGeom>
          <a:noFill/>
        </p:spPr>
        <p:txBody>
          <a:bodyPr wrap="square" anchor="t" lIns="0" rIns="0">
            <a:spAutoFit/>
          </a:bodyPr>
          <a:lstStyle/>
          <a:p>
            <a:pPr algn="l">
              <a:spcAft>
                <a:spcPts val="600"/>
              </a:spcAft>
            </a:pPr>
            <a:r>
              <a:rPr sz="1400" b="0">
                <a:solidFill>
                  <a:srgbClr val="595978"/>
                </a:solidFill>
                <a:latin typeface="Montserrat"/>
              </a:rPr>
              <a:t>Un test sur quelques marchés, mesuré, avant d’étendre.</a:t>
            </a:r>
          </a:p>
        </p:txBody>
      </p:sp>
      <p:sp>
        <p:nvSpPr>
          <p:cNvPr id="9" name="Rectangle 8"/>
          <p:cNvSpPr/>
          <p:nvPr/>
        </p:nvSpPr>
        <p:spPr>
          <a:xfrm>
            <a:off x="548640" y="1828800"/>
            <a:ext cx="3200400" cy="2011680"/>
          </a:xfrm>
          <a:prstGeom prst="rect">
            <a:avLst/>
          </a:prstGeom>
          <a:solidFill>
            <a:srgbClr val="0E0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93392"/>
            <a:ext cx="2798064" cy="457200"/>
          </a:xfrm>
          <a:prstGeom prst="rect">
            <a:avLst/>
          </a:prstGeom>
          <a:noFill/>
        </p:spPr>
        <p:txBody>
          <a:bodyPr wrap="square" anchor="t" lIns="0" rIns="0">
            <a:spAutoFit/>
          </a:bodyPr>
          <a:lstStyle/>
          <a:p>
            <a:pPr algn="l">
              <a:spcAft>
                <a:spcPts val="600"/>
              </a:spcAft>
            </a:pPr>
            <a:r>
              <a:rPr sz="1800" b="1">
                <a:solidFill>
                  <a:srgbClr val="1DC4FF"/>
                </a:solidFill>
                <a:latin typeface="Montserrat"/>
              </a:rPr>
              <a:t>Mois 1</a:t>
            </a:r>
          </a:p>
        </p:txBody>
      </p:sp>
      <p:sp>
        <p:nvSpPr>
          <p:cNvPr id="11" name="TextBox 10"/>
          <p:cNvSpPr txBox="1"/>
          <p:nvPr/>
        </p:nvSpPr>
        <p:spPr>
          <a:xfrm>
            <a:off x="749808" y="2487168"/>
            <a:ext cx="2798064" cy="1234440"/>
          </a:xfrm>
          <a:prstGeom prst="rect">
            <a:avLst/>
          </a:prstGeom>
          <a:noFill/>
        </p:spPr>
        <p:txBody>
          <a:bodyPr wrap="square" anchor="t" lIns="0" rIns="0">
            <a:spAutoFit/>
          </a:bodyPr>
          <a:lstStyle/>
          <a:p>
            <a:pPr algn="l">
              <a:spcAft>
                <a:spcPts val="500"/>
              </a:spcAft>
            </a:pPr>
            <a:r>
              <a:rPr sz="1250" b="0">
                <a:solidFill>
                  <a:srgbClr val="FFFFFF"/>
                </a:solidFill>
                <a:latin typeface="Montserrat"/>
              </a:rPr>
              <a:t>Choisir 3 marchés tests. Rencontrer leurs responsables. Mesurer le point de départ : combien de vendeuses de vivrier acceptent Wave et l’utilisent.</a:t>
            </a:r>
          </a:p>
        </p:txBody>
      </p:sp>
      <p:sp>
        <p:nvSpPr>
          <p:cNvPr id="12" name="Rectangle 11"/>
          <p:cNvSpPr/>
          <p:nvPr/>
        </p:nvSpPr>
        <p:spPr>
          <a:xfrm>
            <a:off x="3977639" y="1828800"/>
            <a:ext cx="3200400" cy="201168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78807" y="1993392"/>
            <a:ext cx="2798064" cy="457200"/>
          </a:xfrm>
          <a:prstGeom prst="rect">
            <a:avLst/>
          </a:prstGeom>
          <a:noFill/>
        </p:spPr>
        <p:txBody>
          <a:bodyPr wrap="square" anchor="t" lIns="0" rIns="0">
            <a:spAutoFit/>
          </a:bodyPr>
          <a:lstStyle/>
          <a:p>
            <a:pPr algn="l">
              <a:spcAft>
                <a:spcPts val="600"/>
              </a:spcAft>
            </a:pPr>
            <a:r>
              <a:rPr sz="1800" b="1">
                <a:solidFill>
                  <a:srgbClr val="0E0D5D"/>
                </a:solidFill>
                <a:latin typeface="Montserrat"/>
              </a:rPr>
              <a:t>Mois 2</a:t>
            </a:r>
          </a:p>
        </p:txBody>
      </p:sp>
      <p:sp>
        <p:nvSpPr>
          <p:cNvPr id="14" name="TextBox 13"/>
          <p:cNvSpPr txBox="1"/>
          <p:nvPr/>
        </p:nvSpPr>
        <p:spPr>
          <a:xfrm>
            <a:off x="4178807" y="2487168"/>
            <a:ext cx="2798064" cy="1234440"/>
          </a:xfrm>
          <a:prstGeom prst="rect">
            <a:avLst/>
          </a:prstGeom>
          <a:noFill/>
        </p:spPr>
        <p:txBody>
          <a:bodyPr wrap="square" anchor="t" lIns="0" rIns="0">
            <a:spAutoFit/>
          </a:bodyPr>
          <a:lstStyle/>
          <a:p>
            <a:pPr algn="l">
              <a:spcAft>
                <a:spcPts val="500"/>
              </a:spcAft>
            </a:pPr>
            <a:r>
              <a:rPr sz="1250" b="0">
                <a:solidFill>
                  <a:srgbClr val="1C1C1C"/>
                </a:solidFill>
                <a:latin typeface="Montserrat"/>
              </a:rPr>
              <a:t>Démonstrations à l’étal, messages sur les groupes WhatsApp, cartes QR pour les étals sans smartphone.</a:t>
            </a:r>
          </a:p>
        </p:txBody>
      </p:sp>
      <p:sp>
        <p:nvSpPr>
          <p:cNvPr id="15" name="Rectangle 14"/>
          <p:cNvSpPr/>
          <p:nvPr/>
        </p:nvSpPr>
        <p:spPr>
          <a:xfrm>
            <a:off x="7406640" y="1828800"/>
            <a:ext cx="3200400" cy="201168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07808" y="1993392"/>
            <a:ext cx="2798064" cy="457200"/>
          </a:xfrm>
          <a:prstGeom prst="rect">
            <a:avLst/>
          </a:prstGeom>
          <a:noFill/>
        </p:spPr>
        <p:txBody>
          <a:bodyPr wrap="square" anchor="t" lIns="0" rIns="0">
            <a:spAutoFit/>
          </a:bodyPr>
          <a:lstStyle/>
          <a:p>
            <a:pPr algn="l">
              <a:spcAft>
                <a:spcPts val="600"/>
              </a:spcAft>
            </a:pPr>
            <a:r>
              <a:rPr sz="1800" b="1">
                <a:solidFill>
                  <a:srgbClr val="0E0D5D"/>
                </a:solidFill>
                <a:latin typeface="Montserrat"/>
              </a:rPr>
              <a:t>Mois 3</a:t>
            </a:r>
          </a:p>
        </p:txBody>
      </p:sp>
      <p:sp>
        <p:nvSpPr>
          <p:cNvPr id="17" name="TextBox 16"/>
          <p:cNvSpPr txBox="1"/>
          <p:nvPr/>
        </p:nvSpPr>
        <p:spPr>
          <a:xfrm>
            <a:off x="7607808" y="2487168"/>
            <a:ext cx="2798064" cy="1234440"/>
          </a:xfrm>
          <a:prstGeom prst="rect">
            <a:avLst/>
          </a:prstGeom>
          <a:noFill/>
        </p:spPr>
        <p:txBody>
          <a:bodyPr wrap="square" anchor="t" lIns="0" rIns="0">
            <a:spAutoFit/>
          </a:bodyPr>
          <a:lstStyle/>
          <a:p>
            <a:pPr algn="l">
              <a:spcAft>
                <a:spcPts val="500"/>
              </a:spcAft>
            </a:pPr>
            <a:r>
              <a:rPr sz="1250" b="0">
                <a:solidFill>
                  <a:srgbClr val="1C1C1C"/>
                </a:solidFill>
                <a:latin typeface="Montserrat"/>
              </a:rPr>
              <a:t>Comparer les marchés tests aux autres. Garder ce qui marche, corriger le reste, préparer l’extension.</a:t>
            </a:r>
          </a:p>
        </p:txBody>
      </p:sp>
      <p:sp>
        <p:nvSpPr>
          <p:cNvPr id="18" name="TextBox 17"/>
          <p:cNvSpPr txBox="1"/>
          <p:nvPr/>
        </p:nvSpPr>
        <p:spPr>
          <a:xfrm>
            <a:off x="548640" y="4069080"/>
            <a:ext cx="10058400" cy="365760"/>
          </a:xfrm>
          <a:prstGeom prst="rect">
            <a:avLst/>
          </a:prstGeom>
          <a:noFill/>
        </p:spPr>
        <p:txBody>
          <a:bodyPr wrap="square" anchor="t" lIns="0" rIns="0">
            <a:spAutoFit/>
          </a:bodyPr>
          <a:lstStyle/>
          <a:p>
            <a:pPr algn="l">
              <a:spcAft>
                <a:spcPts val="600"/>
              </a:spcAft>
            </a:pPr>
            <a:r>
              <a:rPr sz="1200" b="1">
                <a:solidFill>
                  <a:srgbClr val="1DC4FF"/>
                </a:solidFill>
                <a:latin typeface="Montserrat"/>
              </a:rPr>
              <a:t>CE QU’ON SUIT CHAQUE MOIS</a:t>
            </a:r>
          </a:p>
        </p:txBody>
      </p:sp>
      <p:sp>
        <p:nvSpPr>
          <p:cNvPr id="19" name="Rectangle 18"/>
          <p:cNvSpPr/>
          <p:nvPr/>
        </p:nvSpPr>
        <p:spPr>
          <a:xfrm>
            <a:off x="548640" y="4434840"/>
            <a:ext cx="23774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434840"/>
            <a:ext cx="73152" cy="960120"/>
          </a:xfrm>
          <a:prstGeom prst="rect">
            <a:avLst/>
          </a:prstGeom>
          <a:solidFill>
            <a:srgbClr val="F6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434840"/>
            <a:ext cx="2103120" cy="960120"/>
          </a:xfrm>
          <a:prstGeom prst="rect">
            <a:avLst/>
          </a:prstGeom>
          <a:noFill/>
        </p:spPr>
        <p:txBody>
          <a:bodyPr wrap="square" anchor="ctr" lIns="0" rIns="0">
            <a:spAutoFit/>
          </a:bodyPr>
          <a:lstStyle/>
          <a:p>
            <a:pPr algn="l">
              <a:spcAft>
                <a:spcPts val="0"/>
              </a:spcAft>
            </a:pPr>
            <a:r>
              <a:rPr sz="1300" b="1">
                <a:solidFill>
                  <a:srgbClr val="0E0D5D"/>
                </a:solidFill>
                <a:latin typeface="Montserrat"/>
              </a:rPr>
              <a:t>Vendeuses équipées</a:t>
            </a:r>
          </a:p>
        </p:txBody>
      </p:sp>
      <p:sp>
        <p:nvSpPr>
          <p:cNvPr id="22" name="Rectangle 21"/>
          <p:cNvSpPr/>
          <p:nvPr/>
        </p:nvSpPr>
        <p:spPr>
          <a:xfrm>
            <a:off x="3108960" y="4434840"/>
            <a:ext cx="23774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4434840"/>
            <a:ext cx="73152" cy="960120"/>
          </a:xfrm>
          <a:prstGeom prst="rect">
            <a:avLst/>
          </a:prstGeom>
          <a:solidFill>
            <a:srgbClr val="F6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4434840"/>
            <a:ext cx="2103120" cy="960120"/>
          </a:xfrm>
          <a:prstGeom prst="rect">
            <a:avLst/>
          </a:prstGeom>
          <a:noFill/>
        </p:spPr>
        <p:txBody>
          <a:bodyPr wrap="square" anchor="ctr" lIns="0" rIns="0">
            <a:spAutoFit/>
          </a:bodyPr>
          <a:lstStyle/>
          <a:p>
            <a:pPr algn="l">
              <a:spcAft>
                <a:spcPts val="0"/>
              </a:spcAft>
            </a:pPr>
            <a:r>
              <a:rPr sz="1300" b="1">
                <a:solidFill>
                  <a:srgbClr val="0E0D5D"/>
                </a:solidFill>
                <a:latin typeface="Montserrat"/>
              </a:rPr>
              <a:t>Vendeuses actives chaque semaine</a:t>
            </a:r>
          </a:p>
        </p:txBody>
      </p:sp>
      <p:sp>
        <p:nvSpPr>
          <p:cNvPr id="25" name="Rectangle 24"/>
          <p:cNvSpPr/>
          <p:nvPr/>
        </p:nvSpPr>
        <p:spPr>
          <a:xfrm>
            <a:off x="5669279" y="4434840"/>
            <a:ext cx="23774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79" y="4434840"/>
            <a:ext cx="73152" cy="960120"/>
          </a:xfrm>
          <a:prstGeom prst="rect">
            <a:avLst/>
          </a:prstGeom>
          <a:solidFill>
            <a:srgbClr val="F6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97879" y="4434840"/>
            <a:ext cx="2103120" cy="960120"/>
          </a:xfrm>
          <a:prstGeom prst="rect">
            <a:avLst/>
          </a:prstGeom>
          <a:noFill/>
        </p:spPr>
        <p:txBody>
          <a:bodyPr wrap="square" anchor="ctr" lIns="0" rIns="0">
            <a:spAutoFit/>
          </a:bodyPr>
          <a:lstStyle/>
          <a:p>
            <a:pPr algn="l">
              <a:spcAft>
                <a:spcPts val="0"/>
              </a:spcAft>
            </a:pPr>
            <a:r>
              <a:rPr sz="1300" b="1">
                <a:solidFill>
                  <a:srgbClr val="0E0D5D"/>
                </a:solidFill>
                <a:latin typeface="Montserrat"/>
              </a:rPr>
              <a:t>Paiements par étal</a:t>
            </a:r>
          </a:p>
        </p:txBody>
      </p:sp>
      <p:sp>
        <p:nvSpPr>
          <p:cNvPr id="28" name="Rectangle 27"/>
          <p:cNvSpPr/>
          <p:nvPr/>
        </p:nvSpPr>
        <p:spPr>
          <a:xfrm>
            <a:off x="8229599" y="4434840"/>
            <a:ext cx="23774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4434840"/>
            <a:ext cx="73152" cy="960120"/>
          </a:xfrm>
          <a:prstGeom prst="rect">
            <a:avLst/>
          </a:prstGeom>
          <a:solidFill>
            <a:srgbClr val="F6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58199" y="4434840"/>
            <a:ext cx="2103120" cy="960120"/>
          </a:xfrm>
          <a:prstGeom prst="rect">
            <a:avLst/>
          </a:prstGeom>
          <a:noFill/>
        </p:spPr>
        <p:txBody>
          <a:bodyPr wrap="square" anchor="ctr" lIns="0" rIns="0">
            <a:spAutoFit/>
          </a:bodyPr>
          <a:lstStyle/>
          <a:p>
            <a:pPr algn="l">
              <a:spcAft>
                <a:spcPts val="0"/>
              </a:spcAft>
            </a:pPr>
            <a:r>
              <a:rPr sz="1300" b="1">
                <a:solidFill>
                  <a:srgbClr val="0E0D5D"/>
                </a:solidFill>
                <a:latin typeface="Montserrat"/>
              </a:rPr>
              <a:t>Plaintes de frais réclamés en liquide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logo.png"/>
          <p:cNvPicPr>
            <a:picLocks noChangeAspect="1"/>
          </p:cNvPicPr>
          <p:nvPr/>
        </p:nvPicPr>
        <p:blipFill>
          <a:blip r:embed="rId2"/>
          <a:stretch>
            <a:fillRect/>
          </a:stretch>
        </p:blipFill>
        <p:spPr>
          <a:xfrm>
            <a:off x="10591800" y="256032"/>
            <a:ext cx="1234440" cy="542080"/>
          </a:xfrm>
          <a:prstGeom prst="rect">
            <a:avLst/>
          </a:prstGeom>
        </p:spPr>
      </p:pic>
      <p:sp>
        <p:nvSpPr>
          <p:cNvPr id="3" name="Rectangle 2"/>
          <p:cNvSpPr/>
          <p:nvPr/>
        </p:nvSpPr>
        <p:spPr>
          <a:xfrm>
            <a:off x="0" y="6766560"/>
            <a:ext cx="12192000" cy="91440"/>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6858000" cy="274320"/>
          </a:xfrm>
          <a:prstGeom prst="rect">
            <a:avLst/>
          </a:prstGeom>
          <a:noFill/>
        </p:spPr>
        <p:txBody>
          <a:bodyPr wrap="square" anchor="t" lIns="0" rIns="0">
            <a:spAutoFit/>
          </a:bodyPr>
          <a:lstStyle/>
          <a:p>
            <a:pPr algn="l">
              <a:spcAft>
                <a:spcPts val="600"/>
              </a:spcAft>
            </a:pPr>
            <a:r>
              <a:rPr sz="1000" b="0">
                <a:solidFill>
                  <a:srgbClr val="595978"/>
                </a:solidFill>
                <a:latin typeface="Montserrat"/>
              </a:rPr>
              <a:t>Wave Côte d’Ivoire · Les commerçants des marchés</a:t>
            </a:r>
          </a:p>
        </p:txBody>
      </p:sp>
      <p:sp>
        <p:nvSpPr>
          <p:cNvPr id="5" name="TextBox 4"/>
          <p:cNvSpPr txBox="1"/>
          <p:nvPr/>
        </p:nvSpPr>
        <p:spPr>
          <a:xfrm>
            <a:off x="10911840" y="6446520"/>
            <a:ext cx="822960" cy="274320"/>
          </a:xfrm>
          <a:prstGeom prst="rect">
            <a:avLst/>
          </a:prstGeom>
          <a:noFill/>
        </p:spPr>
        <p:txBody>
          <a:bodyPr wrap="square" anchor="t" lIns="0" rIns="0">
            <a:spAutoFit/>
          </a:bodyPr>
          <a:lstStyle/>
          <a:p>
            <a:pPr algn="r">
              <a:spcAft>
                <a:spcPts val="600"/>
              </a:spcAft>
            </a:pPr>
            <a:r>
              <a:rPr sz="1000" b="0">
                <a:solidFill>
                  <a:srgbClr val="595978"/>
                </a:solidFill>
                <a:latin typeface="Montserrat"/>
              </a:rPr>
              <a:t>13</a:t>
            </a:r>
          </a:p>
        </p:txBody>
      </p:sp>
      <p:sp>
        <p:nvSpPr>
          <p:cNvPr id="6" name="TextBox 5"/>
          <p:cNvSpPr txBox="1"/>
          <p:nvPr/>
        </p:nvSpPr>
        <p:spPr>
          <a:xfrm>
            <a:off x="548640" y="411480"/>
            <a:ext cx="9326880" cy="731520"/>
          </a:xfrm>
          <a:prstGeom prst="rect">
            <a:avLst/>
          </a:prstGeom>
          <a:noFill/>
        </p:spPr>
        <p:txBody>
          <a:bodyPr wrap="square" anchor="t" lIns="0" rIns="0">
            <a:spAutoFit/>
          </a:bodyPr>
          <a:lstStyle/>
          <a:p>
            <a:pPr algn="l">
              <a:spcAft>
                <a:spcPts val="600"/>
              </a:spcAft>
            </a:pPr>
            <a:r>
              <a:rPr sz="2700" b="1">
                <a:solidFill>
                  <a:srgbClr val="0E0D5D"/>
                </a:solidFill>
                <a:latin typeface="Montserrat"/>
              </a:rPr>
              <a:t>Ce qu’il faut vérifier avec les données de Wave</a:t>
            </a:r>
          </a:p>
        </p:txBody>
      </p:sp>
      <p:sp>
        <p:nvSpPr>
          <p:cNvPr id="7" name="Rectangle 6"/>
          <p:cNvSpPr/>
          <p:nvPr/>
        </p:nvSpPr>
        <p:spPr>
          <a:xfrm>
            <a:off x="548640" y="1170432"/>
            <a:ext cx="1005840" cy="73152"/>
          </a:xfrm>
          <a:prstGeom prst="rect">
            <a:avLst/>
          </a:prstGeom>
          <a:solidFill>
            <a:srgbClr val="1D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9875520" cy="3291840"/>
          </a:xfrm>
          <a:prstGeom prst="rect">
            <a:avLst/>
          </a:prstGeom>
          <a:noFill/>
        </p:spPr>
        <p:txBody>
          <a:bodyPr wrap="square" anchor="t" lIns="0" rIns="0">
            <a:spAutoFit/>
          </a:bodyPr>
          <a:lstStyle/>
          <a:p>
            <a:pPr algn="l">
              <a:spcAft>
                <a:spcPts val="1200"/>
              </a:spcAft>
            </a:pPr>
            <a:r>
              <a:rPr sz="1500" b="1">
                <a:solidFill>
                  <a:srgbClr val="1C1C1C"/>
                </a:solidFill>
                <a:latin typeface="Montserrat"/>
              </a:rPr>
              <a:t>La répartition réelle des commerçants</a:t>
            </a:r>
            <a:r>
              <a:rPr sz="1500" b="0">
                <a:solidFill>
                  <a:srgbClr val="1C1C1C"/>
                </a:solidFill>
                <a:latin typeface="Montserrat"/>
              </a:rPr>
              <a:t> qui acceptent Wave, par type d’activité et par marché.</a:t>
            </a:r>
          </a:p>
          <a:p>
            <a:pPr algn="l">
              <a:spcAft>
                <a:spcPts val="1200"/>
              </a:spcAft>
            </a:pPr>
            <a:r>
              <a:rPr sz="1500" b="1">
                <a:solidFill>
                  <a:srgbClr val="1C1C1C"/>
                </a:solidFill>
                <a:latin typeface="Montserrat"/>
              </a:rPr>
              <a:t>Le taux d’usage :</a:t>
            </a:r>
            <a:r>
              <a:rPr sz="1500" b="0">
                <a:solidFill>
                  <a:srgbClr val="1C1C1C"/>
                </a:solidFill>
                <a:latin typeface="Montserrat"/>
              </a:rPr>
              <a:t> combien de commerçants équipés reçoivent vraiment des paiements chaque semaine.</a:t>
            </a:r>
          </a:p>
          <a:p>
            <a:pPr algn="l">
              <a:spcAft>
                <a:spcPts val="1200"/>
              </a:spcAft>
            </a:pPr>
            <a:r>
              <a:rPr sz="1500" b="1">
                <a:solidFill>
                  <a:srgbClr val="1C1C1C"/>
                </a:solidFill>
                <a:latin typeface="Montserrat"/>
              </a:rPr>
              <a:t>Les frais côté commerçant</a:t>
            </a:r>
            <a:r>
              <a:rPr sz="1500" b="0">
                <a:solidFill>
                  <a:srgbClr val="1C1C1C"/>
                </a:solidFill>
                <a:latin typeface="Montserrat"/>
              </a:rPr>
              <a:t>, à confirmer avant tout message qui en parle.</a:t>
            </a:r>
          </a:p>
          <a:p>
            <a:pPr algn="l">
              <a:spcAft>
                <a:spcPts val="1200"/>
              </a:spcAft>
            </a:pPr>
            <a:r>
              <a:rPr sz="1500" b="1">
                <a:solidFill>
                  <a:srgbClr val="1C1C1C"/>
                </a:solidFill>
                <a:latin typeface="Montserrat"/>
              </a:rPr>
              <a:t>Les plaintes déjà reçues</a:t>
            </a:r>
            <a:r>
              <a:rPr sz="1500" b="0">
                <a:solidFill>
                  <a:srgbClr val="1C1C1C"/>
                </a:solidFill>
                <a:latin typeface="Montserrat"/>
              </a:rPr>
              <a:t> par le service client sur les marchés (frais réclamés, retraits, plafonds).</a:t>
            </a:r>
          </a:p>
          <a:p>
            <a:pPr algn="l">
              <a:spcAft>
                <a:spcPts val="1200"/>
              </a:spcAft>
            </a:pPr>
            <a:r>
              <a:rPr sz="1500" b="1">
                <a:solidFill>
                  <a:srgbClr val="1C1C1C"/>
                </a:solidFill>
                <a:latin typeface="Montserrat"/>
              </a:rPr>
              <a:t>Les marchés déjà couverts</a:t>
            </a:r>
            <a:r>
              <a:rPr sz="1500" b="0">
                <a:solidFill>
                  <a:srgbClr val="1C1C1C"/>
                </a:solidFill>
                <a:latin typeface="Montserrat"/>
              </a:rPr>
              <a:t> depuis la campagne d’Adjamé de janvier 2025.</a:t>
            </a:r>
          </a:p>
        </p:txBody>
      </p:sp>
      <p:sp>
        <p:nvSpPr>
          <p:cNvPr id="9" name="Rectangle 8"/>
          <p:cNvSpPr/>
          <p:nvPr/>
        </p:nvSpPr>
        <p:spPr>
          <a:xfrm>
            <a:off x="548640" y="4846320"/>
            <a:ext cx="10149840" cy="731520"/>
          </a:xfrm>
          <a:prstGeom prst="rect">
            <a:avLst/>
          </a:prstGeom>
          <a:solidFill>
            <a:srgbClr val="E8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846320"/>
            <a:ext cx="9692640" cy="731520"/>
          </a:xfrm>
          <a:prstGeom prst="rect">
            <a:avLst/>
          </a:prstGeom>
          <a:noFill/>
        </p:spPr>
        <p:txBody>
          <a:bodyPr wrap="square" anchor="ctr" lIns="0" rIns="0">
            <a:spAutoFit/>
          </a:bodyPr>
          <a:lstStyle/>
          <a:p>
            <a:pPr algn="l">
              <a:spcAft>
                <a:spcPts val="0"/>
              </a:spcAft>
            </a:pPr>
            <a:r>
              <a:rPr sz="1250" b="0">
                <a:solidFill>
                  <a:srgbClr val="0E0D5D"/>
                </a:solidFill>
                <a:latin typeface="Montserrat"/>
              </a:rPr>
              <a:t>Les notes et le choix de la cible s’appuient sur les sources publiques citées et sur notre appréciation : les données internes de Wave peuvent les confirmer ou les corriger.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