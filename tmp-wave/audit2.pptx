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3.jpg"/><Relationship Id="rId6" Type="http://schemas.openxmlformats.org/officeDocument/2006/relationships/image" Target="../media/image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r_c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av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48640"/>
            <a:ext cx="1645920" cy="7227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DC4FF"/>
                </a:solidFill>
                <a:latin typeface="Montserrat"/>
              </a:rPr>
              <a:t>AUDIT DES RÉSEAUX · MARKETING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029200" cy="18288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E0D5D"/>
                </a:solidFill>
                <a:latin typeface="Montserrat"/>
              </a:rPr>
              <a:t>Facebook et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0E0D5D"/>
                </a:solidFill>
                <a:latin typeface="Montserrat"/>
              </a:rPr>
              <a:t>LinkedIn : quoi</a:t>
            </a:r>
          </a:p>
          <a:p>
            <a:pPr algn="l">
              <a:spcAft>
                <a:spcPts val="0"/>
              </a:spcAft>
            </a:pPr>
            <a:r>
              <a:rPr sz="3600" b="1">
                <a:solidFill>
                  <a:srgbClr val="0E0D5D"/>
                </a:solidFill>
                <a:latin typeface="Montserrat"/>
              </a:rPr>
              <a:t>corriger en premier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484632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78"/>
                </a:solidFill>
                <a:latin typeface="Montserrat"/>
              </a:rPr>
              <a:t>Pages Wave Côte d’Ivoire, relevées le 23 octobre 2026.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95978"/>
                </a:solidFill>
                <a:latin typeface="Montserrat"/>
              </a:rPr>
              <a:t>Pour Aïcha,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Les trois corrections, dans l’ordre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10149840" cy="914400"/>
          </a:xfrm>
          <a:prstGeom prst="rect">
            <a:avLst/>
          </a:prstGeom>
          <a:solidFill>
            <a:srgbClr val="0E0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627632"/>
            <a:ext cx="950976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FFFFFF"/>
                </a:solidFill>
                <a:latin typeface="Montserrat"/>
              </a:rPr>
              <a:t>Les pages sont actives et suivies. Ce qui coûte le plus aujourd’hui : </a:t>
            </a:r>
            <a:r>
              <a:rPr sz="1450" b="1">
                <a:solidFill>
                  <a:srgbClr val="FFFFFF"/>
                </a:solidFill>
                <a:latin typeface="Montserrat"/>
              </a:rPr>
              <a:t>26 490 commentaires Facebook en dix semaines</a:t>
            </a:r>
            <a:r>
              <a:rPr sz="1450" b="0">
                <a:solidFill>
                  <a:srgbClr val="FFFFFF"/>
                </a:solidFill>
                <a:latin typeface="Montserrat"/>
              </a:rPr>
              <a:t>, et aucune réponse visible de Wave sous les commentaires les plus vus.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97480"/>
            <a:ext cx="3200400" cy="27432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0D5D"/>
                </a:solidFill>
                <a:latin typeface="Montserrat"/>
              </a:rPr>
              <a:t>1. Répondre sous les posts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611880"/>
            <a:ext cx="28346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Une réponse courte et un renvoi vers le 1315 sous chaque question ou plainte, en moins de 24 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4846320"/>
            <a:ext cx="2834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C4FF"/>
                </a:solidFill>
                <a:latin typeface="Montserrat"/>
              </a:rPr>
              <a:t>À suivre : part des commentaires avec réponse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77639" y="2697480"/>
            <a:ext cx="3200400" cy="27432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7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0D5D"/>
                </a:solidFill>
                <a:latin typeface="Montserrat"/>
              </a:rPr>
              <a:t>2. Présenter les services par une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7" y="3611880"/>
            <a:ext cx="28346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Le même service, Bank to Wallet : 8 682 réactions posé en question, 88 en mode d’emploi.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7" y="4846320"/>
            <a:ext cx="2834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C4FF"/>
                </a:solidFill>
                <a:latin typeface="Montserrat"/>
              </a:rPr>
              <a:t>À suivre : réactions des posts produit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2697480"/>
            <a:ext cx="3200400" cy="27432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7808" y="2834640"/>
            <a:ext cx="28346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0D5D"/>
                </a:solidFill>
                <a:latin typeface="Montserrat"/>
              </a:rPr>
              <a:t>3. Recentrer LinkedIn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8" y="3611880"/>
            <a:ext cx="2834640" cy="1188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Les partenariats et les équipes y marchent ; les promos grand public au « tu » y font les plus faibles scores.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4846320"/>
            <a:ext cx="28346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1DC4FF"/>
                </a:solidFill>
                <a:latin typeface="Montserrat"/>
              </a:rPr>
              <a:t>À suivre : réactions médianes (179 aujourd’hui)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1. Répondre sous les publications 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Le plus gros levier : la page parle beaucoup, mais ne répond pas.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C4FF"/>
                </a:solidFill>
                <a:latin typeface="Montserrat"/>
              </a:rPr>
              <a:t>26 490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78"/>
                </a:solidFill>
                <a:latin typeface="Montserrat"/>
              </a:rPr>
              <a:t>commentaires sur 60 publications
(10 août – 22 octobre)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C4FF"/>
                </a:solidFill>
                <a:latin typeface="Montserrat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78"/>
                </a:solidFill>
                <a:latin typeface="Montserrat"/>
              </a:rPr>
              <a:t>réponse visible de Wave parmi les
51 commentaires mis en avant relevés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874519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DC4FF"/>
                </a:solidFill>
                <a:latin typeface="Montserrat"/>
              </a:rPr>
              <a:t>1315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651760"/>
            <a:ext cx="32004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>
                <a:solidFill>
                  <a:srgbClr val="595978"/>
                </a:solidFill>
                <a:latin typeface="Montserrat"/>
              </a:rPr>
              <a:t>le numéro du service client déjà
affiché sur la page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611880"/>
            <a:ext cx="10149840" cy="18288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749039"/>
            <a:ext cx="96012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Ce qu’on lit dans ces commentaires :</a:t>
            </a:r>
            <a:r>
              <a:rPr sz="1300" b="0">
                <a:solidFill>
                  <a:srgbClr val="1C1C1C"/>
                </a:solidFill>
                <a:latin typeface="Montserrat"/>
              </a:rPr>
              <a:t> des bonus réclamés, des questions sur une transaction, des idées de fonctions, des remerciements.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Pourquoi c’est prioritaire :</a:t>
            </a:r>
            <a:r>
              <a:rPr sz="1300" b="0">
                <a:solidFill>
                  <a:srgbClr val="1C1C1C"/>
                </a:solidFill>
                <a:latin typeface="Montserrat"/>
              </a:rPr>
              <a:t> un client sans réponse en public le dit à d’autres, et les escrocs que vos alertes dénoncent se glissent justement dans ces fils.</a:t>
            </a:r>
          </a:p>
          <a:p>
            <a:pPr algn="l">
              <a:spcAft>
                <a:spcPts val="7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Ce qu’on change :</a:t>
            </a:r>
            <a:r>
              <a:rPr sz="1300" b="0">
                <a:solidFill>
                  <a:srgbClr val="1C1C1C"/>
                </a:solidFill>
                <a:latin typeface="Montserrat"/>
              </a:rPr>
              <a:t> trois réponses types (page 6), une réponse en moins de 24 h, et jamais de détail de compte en public.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2. Une question plutôt qu’un mode d’emploi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Même service, même page, deux manières de le présenter.</a:t>
            </a:r>
          </a:p>
        </p:txBody>
      </p:sp>
      <p:pic>
        <p:nvPicPr>
          <p:cNvPr id="9" name="Picture 8" descr="fbimg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487168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0" y="178308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Facebook · 31 août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103120"/>
            <a:ext cx="23774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1DC4FF"/>
                </a:solidFill>
                <a:latin typeface="Montserrat"/>
              </a:rPr>
              <a:t>8 682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78892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réactions, commentaires et partages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383280"/>
            <a:ext cx="237744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« Quelle banque aimerais-tu voir sur Wave ? » Question ouverte, 3 941 commentaires.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783080"/>
            <a:ext cx="2487168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011680"/>
            <a:ext cx="2103120" cy="2743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1. Accède à « Banque »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2. Sélectionne ta banque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3. Obtiens ta clé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0E0D5D"/>
                </a:solidFill>
                <a:latin typeface="Montserrat"/>
              </a:rPr>
              <a:t>4. Partage-la en agence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783080"/>
            <a:ext cx="23774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LinkedIn · 13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237744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67900"/>
                </a:solidFill>
                <a:latin typeface="Montserrat"/>
              </a:rPr>
              <a:t>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788920"/>
            <a:ext cx="2377440" cy="10972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réactions, commentaires et partages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383280"/>
            <a:ext cx="2377440" cy="1554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« Tu souhaites relier ton compte bancaire ? » Mode d’emploi en 4 étapes, 4 commentaires.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029200"/>
            <a:ext cx="10149840" cy="502920"/>
          </a:xfrm>
          <a:prstGeom prst="rect">
            <a:avLst/>
          </a:prstGeom>
          <a:solidFill>
            <a:srgbClr val="0E0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102352"/>
            <a:ext cx="9784080" cy="411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Montserrat"/>
              </a:rPr>
              <a:t>Même constat avec Glovo (77) et la carte Visa (105) : les deux plus faibles posts Facebook présentaient un service.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3. Recentrer LinkedIn sur l’entreprise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Sur LinkedIn on suit Wave comme employeur et partenaire, pas comme application.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937760" cy="361188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0D5D"/>
                </a:solidFill>
                <a:latin typeface="Montserrat"/>
              </a:rPr>
              <a:t>Ce qui marche (réactions)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4535424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695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partenaire premium du concert de Tiakola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538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partenariat stratégique avec Glovo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472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vidéo « grandir chez Wave », un salarié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364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offre d’emploi en marketing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304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rencontre avec les Premium Agents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4937760" cy="3611880"/>
          </a:xfrm>
          <a:prstGeom prst="rect">
            <a:avLst/>
          </a:prstGeom>
          <a:solidFill>
            <a:srgbClr val="FFF1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F67900"/>
                </a:solidFill>
                <a:latin typeface="Montserrat"/>
              </a:rPr>
              <a:t>Ce qui ne marche 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441448"/>
            <a:ext cx="4535424" cy="2834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43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sponsor du Salon de l’Épargne, en vidéo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78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terrain de basket à Koumassi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87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la rentrée avec Wave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88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Bank to Wallet, mode d’emploi</a:t>
            </a:r>
          </a:p>
          <a:p>
            <a:pPr algn="l">
              <a:spcAft>
                <a:spcPts val="500"/>
              </a:spcAft>
            </a:pPr>
            <a:r>
              <a:rPr sz="1300" b="1">
                <a:solidFill>
                  <a:srgbClr val="1C1C1C"/>
                </a:solidFill>
                <a:latin typeface="Montserrat"/>
              </a:rPr>
              <a:t>89</a:t>
            </a:r>
            <a:r>
              <a:rPr sz="1300" b="0">
                <a:solidFill>
                  <a:srgbClr val="1C1C1C"/>
                </a:solidFill>
                <a:latin typeface="Montserrat"/>
              </a:rPr>
              <a:t> · shopping chez les commerçants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10149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0D5D"/>
                </a:solidFill>
                <a:latin typeface="Montserrat"/>
              </a:rPr>
              <a:t>Garder : partenariats, équipes, agents et commerçants. Laisser à Facebook : promos et tutoriels grand public.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Premier lot · trois réponses types à valider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À adapter au prénom du client, publiées sous le commentaire.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200400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27980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Problème de transaction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« Bonjour [prénom], merci de nous l’avoir signalé. Pour votre sécurité, ne partagez jamais votre code ni votre numéro ici. Notre service client vous aide au 1315. 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77639" y="1783080"/>
            <a:ext cx="3200400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78807" y="1947672"/>
            <a:ext cx="27980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Bonus ou cadeau réclamé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7" y="2441448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« Bonjour [prénom], merci pour votre fidélité 🩵 Les offres de Wave sont annoncées uniquement sur nos pages officielles. Pour une question sur votre compte, appelez le 1315. 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783080"/>
            <a:ext cx="3200400" cy="310896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07808" y="1947672"/>
            <a:ext cx="279806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Lien ou message douteux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8" y="2441448"/>
            <a:ext cx="2798064" cy="23317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C1C1C"/>
                </a:solidFill>
                <a:latin typeface="Montserrat"/>
              </a:rPr>
              <a:t>« Merci [prénom] de votre vigilance 🙏🏾 Ce message ne vient pas de Wave. Ne cliquez pas, ne donnez jamais votre code. En cas de doute, appelez le 1315. 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101498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Chaque réponse renvoie vers le 1315 et ne promet rien : aucune offre, aucun délai de remboursement.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Premier lot · deux posts réécrits en question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Mêmes services que les deux posts les plus faibles, à publier un samedi vers 9 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937760" cy="329184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Glovo (77 réactions le 6 octobre)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41448"/>
            <a:ext cx="4535424" cy="2514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« Ta dernière commande Glovo, tu l’as payée comment ? 👀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Depuis peu, tu peux payer avec Wave directement dans l’application Glovo.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Dis-nous en commentaire ce que tu commandes le plus 👇🏾 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#WaveCI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783080"/>
            <a:ext cx="4937760" cy="329184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947672"/>
            <a:ext cx="4535424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Carte Visa virtuelle (105 réactions le 21 octobre)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2441448"/>
            <a:ext cx="4535424" cy="25146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« Netflix, Spotify, Canva… Combien d’abonnements passent sur ta carte Visa virtuelle Wave ? 💳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Réponds en commentaire, et regarde La Minute Wave : Jean-Israël t’explique comment éviter les prélèvements imprévus. 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C1C1C"/>
                </a:solidFill>
                <a:latin typeface="Montserrat"/>
              </a:rPr>
              <a:t>#WaveCI #CarteVirtuelleWave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57800"/>
            <a:ext cx="1014984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Les services sont tirés de vos posts. Les marques citées dans le second sont à valider avant publication.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Relevé · la page 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Page « Wave Côte d’Ivoire », relevée le 23 octobre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492 367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abonnés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96 %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recommandent (428 avis)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5,8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posts par semaine, jamais plus de 3 jours sans 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913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Par format (médiane)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Photo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922776"/>
            <a:ext cx="1872234" cy="219456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26714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1 170  (46 posts)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Album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63040" y="4334256"/>
            <a:ext cx="1113739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68219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696  (6 posts)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Vidéo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4745736"/>
            <a:ext cx="403250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57730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252  (8 posts)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Par jour (médiane)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0720" y="388620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Samedi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922776"/>
            <a:ext cx="2461164" cy="219456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9164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1 595  (12 posts)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0" y="429768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Vendredi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334256"/>
            <a:ext cx="1127969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85969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731  (9 posts)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60720" y="470916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Lundi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4745736"/>
            <a:ext cx="1121797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79797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727  (10 posts)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12064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Mercredi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5157216"/>
            <a:ext cx="469087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27087" y="512064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304  (11 posts)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532120"/>
            <a:ext cx="10149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595978"/>
                </a:solidFill>
                <a:latin typeface="Montserrat"/>
              </a:rPr>
              <a:t>Aucune publicité en cours sur la page à la date du relevé. Le nombre de vues des vidéos n’est pas visible publiquement.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Facebook · ce qui fait réagir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Les quatre meilleurs posts : une fête, deux alertes contre les arnaques, une question.</a:t>
            </a:r>
          </a:p>
        </p:txBody>
      </p:sp>
      <p:pic>
        <p:nvPicPr>
          <p:cNvPr id="9" name="Picture 8" descr="fbimg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2084832" cy="2606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18 563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Assomption · 15 août</a:t>
            </a:r>
          </a:p>
        </p:txBody>
      </p:sp>
      <p:pic>
        <p:nvPicPr>
          <p:cNvPr id="12" name="Picture 11" descr="fbimg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783080"/>
            <a:ext cx="2084832" cy="2606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15468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14 895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Alerte arnaque · 11 août
4 170 partages</a:t>
            </a:r>
          </a:p>
        </p:txBody>
      </p:sp>
      <p:pic>
        <p:nvPicPr>
          <p:cNvPr id="15" name="Picture 14" descr="fbimg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783080"/>
            <a:ext cx="2084832" cy="26060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6072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8 682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Question banques · 31 août</a:t>
            </a:r>
          </a:p>
        </p:txBody>
      </p:sp>
      <p:pic>
        <p:nvPicPr>
          <p:cNvPr id="18" name="Picture 17" descr="fbimg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1783080"/>
            <a:ext cx="2084832" cy="26060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366760" y="4462272"/>
            <a:ext cx="237744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DC4FF"/>
                </a:solidFill>
                <a:latin typeface="Montserrat"/>
              </a:rPr>
              <a:t>8 396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892040"/>
            <a:ext cx="2377440" cy="5486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1C1C1C"/>
                </a:solidFill>
                <a:latin typeface="Montserrat"/>
              </a:rPr>
              <a:t>Faux liens · 19 sept.
2 580 partages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0149840" cy="32004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0E0D5D"/>
                </a:solidFill>
                <a:latin typeface="Montserrat"/>
              </a:rPr>
              <a:t>Les alertes sont les posts les plus partagés : vos abonnés les relaient eux-mêmes. À garder, une fois par mois au moins.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Relevé · la page LinkedIn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9875520" cy="45720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95978"/>
                </a:solidFill>
                <a:latin typeface="Montserrat"/>
              </a:rPr>
              <a:t>Page « Wave Côte d’Ivoire », relevée le 23 octobre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89 149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abonnés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2,7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posts par semaine, jusqu’à 8 jours sans 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7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réactions, commentaires et partages par post (médiane)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9" y="1828800"/>
            <a:ext cx="2377440" cy="6400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C4FF"/>
                </a:solidFill>
                <a:latin typeface="Montserrat"/>
              </a:rPr>
              <a:t>3,5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9" y="2468880"/>
            <a:ext cx="228600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95978"/>
                </a:solidFill>
                <a:latin typeface="Montserrat"/>
              </a:rPr>
              <a:t>commentaires par post (médiane)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429000"/>
            <a:ext cx="4937760" cy="36576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0D5D"/>
                </a:solidFill>
                <a:latin typeface="Montserrat"/>
              </a:rPr>
              <a:t>Par format (médiane)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8620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Album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54480" y="3922776"/>
            <a:ext cx="2309774" cy="219456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5694" y="388620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421  (2 posts)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Document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4334256"/>
            <a:ext cx="1113739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59659" y="429768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203  (10 posts)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0916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Vidéo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745736"/>
            <a:ext cx="949147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95067" y="470916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173  (7 posts)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0058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1C1C1C"/>
                </a:solidFill>
                <a:latin typeface="Montserrat"/>
              </a:rPr>
              <a:t>Photo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54480" y="5157216"/>
            <a:ext cx="768096" cy="219456"/>
          </a:xfrm>
          <a:prstGeom prst="rect">
            <a:avLst/>
          </a:prstGeom>
          <a:solidFill>
            <a:srgbClr val="5959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14016" y="5120640"/>
            <a:ext cx="146304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595978"/>
                </a:solidFill>
                <a:latin typeface="Montserrat"/>
              </a:rPr>
              <a:t>140  (15 posts)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3429000"/>
            <a:ext cx="4937760" cy="1828800"/>
          </a:xfrm>
          <a:prstGeom prst="rect">
            <a:avLst/>
          </a:prstGeom>
          <a:solidFill>
            <a:srgbClr val="E8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89320" y="3566160"/>
            <a:ext cx="4572000" cy="16459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1C1C1C"/>
                </a:solidFill>
                <a:latin typeface="Montserrat"/>
              </a:rPr>
              <a:t>Peu de conversation :</a:t>
            </a:r>
            <a:r>
              <a:rPr sz="1250" b="0">
                <a:solidFill>
                  <a:srgbClr val="1C1C1C"/>
                </a:solidFill>
                <a:latin typeface="Montserrat"/>
              </a:rPr>
              <a:t> 3 à 4 commentaires par post en médiane.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C1C1C"/>
                </a:solidFill>
                <a:latin typeface="Montserrat"/>
              </a:rPr>
              <a:t>Les albums</a:t>
            </a:r>
            <a:r>
              <a:rPr sz="1250" b="0">
                <a:solidFill>
                  <a:srgbClr val="1C1C1C"/>
                </a:solidFill>
                <a:latin typeface="Montserrat"/>
              </a:rPr>
              <a:t> arrivent en tête, mais sur 2 posts seulement : à tester avant d’en faire une règle.</a:t>
            </a:r>
          </a:p>
          <a:p>
            <a:pPr algn="l">
              <a:spcAft>
                <a:spcPts val="600"/>
              </a:spcAft>
            </a:pPr>
            <a:r>
              <a:rPr sz="1250" b="1">
                <a:solidFill>
                  <a:srgbClr val="1C1C1C"/>
                </a:solidFill>
                <a:latin typeface="Montserrat"/>
              </a:rPr>
              <a:t>Meilleur créneau :</a:t>
            </a:r>
            <a:r>
              <a:rPr sz="1250" b="0">
                <a:solidFill>
                  <a:srgbClr val="1C1C1C"/>
                </a:solidFill>
                <a:latin typeface="Montserrat"/>
              </a:rPr>
              <a:t> 11 h en semaine.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av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1800" y="256032"/>
            <a:ext cx="1234440" cy="54208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Wave Côte d’Ivoire · Audit Facebook et LinkedIn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11840" y="6446520"/>
            <a:ext cx="822960" cy="2743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95978"/>
                </a:solidFill>
                <a:latin typeface="Montserrat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"/>
            <a:ext cx="9326880" cy="73152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0E0D5D"/>
                </a:solidFill>
                <a:latin typeface="Montserrat"/>
              </a:rPr>
              <a:t>Méthode et limites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005840" cy="73152"/>
          </a:xfrm>
          <a:prstGeom prst="rect">
            <a:avLst/>
          </a:prstGeom>
          <a:solidFill>
            <a:srgbClr val="1D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10149840" cy="3840480"/>
          </a:xfrm>
          <a:prstGeom prst="rect">
            <a:avLst/>
          </a:prstGeom>
          <a:noFill/>
        </p:spPr>
        <p:txBody>
          <a:bodyPr wrap="square" anchor="t" lIns="0" r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Ce qui a été relevé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les 60 derniers posts Facebook (10 août – 22 octobre 2026) et les 34 derniers posts LinkedIn (24 juillet – 22 octobre 2026), avec leurs réactions, commentaires et partages publics.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Engagement d’un post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réactions + commentaires + partages. On compare des médianes, moins sensibles qu’une moyenne à un post exceptionnel.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Ce qui n’est pas visible sans accès administrateur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portée, vues des vidéos, clics, messages privés, profil des abonnés. Ces chiffres préciseraient les priorités 2 et 3.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Les réponses de Wave</a:t>
            </a:r>
            <a:r>
              <a:rPr sz="1350" b="0">
                <a:solidFill>
                  <a:srgbClr val="1C1C1C"/>
                </a:solidFill>
                <a:latin typeface="Montserrat"/>
              </a:rPr>
              <a:t> sont relevées parmi les commentaires mis en avant sous chaque post, pas sur la totalité des 26 490.</a:t>
            </a:r>
          </a:p>
          <a:p>
            <a:pPr algn="l">
              <a:spcAft>
                <a:spcPts val="1000"/>
              </a:spcAft>
            </a:pPr>
            <a:r>
              <a:rPr sz="1350" b="1">
                <a:solidFill>
                  <a:srgbClr val="1C1C1C"/>
                </a:solidFill>
                <a:latin typeface="Montserrat"/>
              </a:rPr>
              <a:t>Hors de cet audit :</a:t>
            </a:r>
            <a:r>
              <a:rPr sz="1350" b="0">
                <a:solidFill>
                  <a:srgbClr val="1C1C1C"/>
                </a:solidFill>
                <a:latin typeface="Montserrat"/>
              </a:rPr>
              <a:t> Instagram, TikTok et 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