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4.jpg"/><Relationship Id="rId6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_shop.jpg"/>
          <p:cNvPicPr>
            <a:picLocks noChangeAspect="1"/>
          </p:cNvPicPr>
          <p:nvPr/>
        </p:nvPicPr>
        <p:blipFill>
          <a:blip r:embed="rId2"/>
          <a:srcRect l="18312" r="18312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0"/>
            <a:ext cx="822960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612648"/>
            <a:ext cx="128244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eko-logo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106299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C9F0"/>
                </a:solidFill>
                <a:latin typeface="Poppins"/>
              </a:rPr>
              <a:t>CONCEPT DE PODCAST ET DE SÉRIE VIDÉO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12064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1">
                <a:solidFill>
                  <a:srgbClr val="FFFFFF"/>
                </a:solidFill>
                <a:latin typeface="Poppins"/>
              </a:rPr>
              <a:t>À la caisse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48463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6E0FA"/>
                </a:solidFill>
                <a:latin typeface="Poppins"/>
              </a:rPr>
              <a:t>Chaque semaine, un commerçant d'Abidjan ouvre sa caisse et raconte comment il fait tourner son commerce.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74920"/>
            <a:ext cx="2377440" cy="50292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B1035"/>
                </a:solidFill>
                <a:latin typeface="Poppins"/>
              </a:rPr>
              <a:t>Proposition · octobre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C4F5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C9F0"/>
                </a:solidFill>
                <a:latin typeface="Poppins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Tout le monde tend le micro aux fondateurs.
Personne ne le tend aux commerçants.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EB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8C69F9"/>
                </a:solidFill>
                <a:latin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3A0CA3"/>
                </a:solidFill>
                <a:latin typeface="Poppins"/>
              </a:rPr>
              <a:t>Ce qui existe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29260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3A0CA3"/>
                </a:solidFill>
                <a:latin typeface="Poppins"/>
              </a:rPr>
              <a:t>Le garage, Equity Conversations, Destin d'entrepreneur, les émissions de CANAL+ et RFI : des fondateurs, des levées de fonds, des parcours de dirigeants.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19" y="269748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42900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Poppins"/>
              </a:rPr>
              <a:t>Ce qui manque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977639"/>
            <a:ext cx="29260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FFFFFF"/>
                </a:solidFill>
                <a:latin typeface="Poppins"/>
              </a:rPr>
              <a:t>Le gérant de maquis, la pharmacienne de Cocody, le boutiquier du Plateau. Ceux qui encaissent tous les jours et qui font l'économie réelle.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3774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269748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B1035"/>
                </a:solidFill>
                <a:latin typeface="Poppi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429000"/>
            <a:ext cx="29260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B1035"/>
                </a:solidFill>
                <a:latin typeface="Poppins"/>
              </a:rPr>
              <a:t>L'occasion pour Jèko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977639"/>
            <a:ext cx="292608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Occuper ce terrain libre, avec les gens pour qui Jèko existe : bancariser les commerçants et leur ouvrir l'accès au crédit.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_mic.jpg"/>
          <p:cNvPicPr>
            <a:picLocks noChangeAspect="1"/>
          </p:cNvPicPr>
          <p:nvPr/>
        </p:nvPicPr>
        <p:blipFill>
          <a:blip r:embed="rId2"/>
          <a:srcRect t="4675" b="1090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C9F0"/>
                </a:solidFill>
                <a:latin typeface="Poppins"/>
              </a:rPr>
              <a:t>LE CONCEPT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658368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Poppins"/>
              </a:rPr>
              <a:t>« Ici, pas de levée de fonds ni de pitch. Juste des commerçants qui encaissent, qui galèrent, qui grandissent.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CC9F0"/>
                </a:solidFill>
                <a:latin typeface="Poppins"/>
              </a:rPr>
              <a:t>20 à 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E0FA"/>
                </a:solidFill>
                <a:latin typeface="Poppins"/>
              </a:rPr>
              <a:t>par épisode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754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CC9F0"/>
                </a:solidFill>
                <a:latin typeface="Poppins"/>
              </a:rPr>
              <a:t>Dans la boutique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16636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E0FA"/>
                </a:solidFill>
                <a:latin typeface="Poppins"/>
              </a:rPr>
              <a:t>de l'invité, filmé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754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4CC9F0"/>
                </a:solidFill>
                <a:latin typeface="Poppins"/>
              </a:rPr>
              <a:t>3 extraits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166360"/>
            <a:ext cx="2103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E0FA"/>
                </a:solidFill>
                <a:latin typeface="Poppins"/>
              </a:rPr>
              <a:t>verticaux par épisode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14432" y="475488"/>
            <a:ext cx="1112367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jeko-logo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48640"/>
            <a:ext cx="892911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C4F5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C9F0"/>
                </a:solidFill>
                <a:latin typeface="Poppins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POURQUOI C'EST BON POUR JÈKO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Un média qui prouve, qui recrute et qui vend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pic>
        <p:nvPicPr>
          <p:cNvPr id="6" name="Picture 5" descr="j_pay.jpg"/>
          <p:cNvPicPr>
            <a:picLocks noChangeAspect="1"/>
          </p:cNvPicPr>
          <p:nvPr/>
        </p:nvPicPr>
        <p:blipFill>
          <a:blip r:embed="rId3"/>
          <a:srcRect t="5596" b="13056"/>
          <a:stretch>
            <a:fillRect/>
          </a:stretch>
        </p:blipFill>
        <p:spPr>
          <a:xfrm>
            <a:off x="8138160" y="1828800"/>
            <a:ext cx="3520440" cy="42976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874519"/>
            <a:ext cx="685800" cy="685800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799"/>
            <a:ext cx="6309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A0CA3"/>
                </a:solidFill>
                <a:latin typeface="Poppins"/>
              </a:rPr>
              <a:t>La preuve plutôt que la publicité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5999"/>
            <a:ext cx="63093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Chaque épisode montre ce que change un encaissement bien suivi : moins d'erreurs de caisse, des ventes visibles, un dossier pour obtenir un crédit.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37560"/>
            <a:ext cx="685800" cy="685800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91840"/>
            <a:ext cx="6309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A0CA3"/>
                </a:solidFill>
                <a:latin typeface="Poppins"/>
              </a:rPr>
              <a:t>Des invités qui deviennent ambassadeurs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63093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Un commerçant qui a parlé à l'antenne partage l'épisode à ses clients, ses fournisseurs et ses voisins de marché.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800600"/>
            <a:ext cx="685800" cy="685800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754880"/>
            <a:ext cx="63093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A0CA3"/>
                </a:solidFill>
                <a:latin typeface="Poppins"/>
              </a:rPr>
              <a:t>Un outil pour l'équipe commerciale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12080"/>
            <a:ext cx="63093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Les épisodes deviennent des supports de démarchage : on montre un pair qui parle, pas une brochure.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LE NOM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Trois pistes, une recommandée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B1035"/>
                </a:solidFill>
                <a:latin typeface="Poppins"/>
              </a:rPr>
              <a:t>RECOMMANDÉ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Poppins"/>
              </a:rPr>
              <a:t>À la caisse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Poppins"/>
              </a:rPr>
              <a:t>On parle d'argent, concrètement, là où il rentre.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FC4F5"/>
                </a:solidFill>
                <a:latin typeface="Poppins"/>
              </a:rPr>
              <a:t>Court, imagé, lié au métier de Jèko.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EB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19" y="22860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2286000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A0CA3"/>
                </a:solidFill>
                <a:latin typeface="Poppins"/>
              </a:rPr>
              <a:t>ALTERNATIVE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8803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3A0CA3"/>
                </a:solidFill>
                <a:latin typeface="Poppins"/>
              </a:rPr>
              <a:t>Caisse ouverte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361188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1035"/>
                </a:solidFill>
                <a:latin typeface="Poppins"/>
              </a:rPr>
              <a:t>Transparence : on ouvre les comptes.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434340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E5873"/>
                </a:solidFill>
                <a:latin typeface="Poppins"/>
              </a:rPr>
              <a:t>Bonne alternative si le premier nom est pris.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EB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59" y="2286000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2286000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3A0CA3"/>
                </a:solidFill>
                <a:latin typeface="Poppins"/>
              </a:rPr>
              <a:t>VARIANTE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880360"/>
            <a:ext cx="30175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3A0CA3"/>
                </a:solidFill>
                <a:latin typeface="Poppins"/>
              </a:rPr>
              <a:t>Boss du comptoir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61188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B1035"/>
                </a:solidFill>
                <a:latin typeface="Poppins"/>
              </a:rPr>
              <a:t>La fierté du commerçant.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343400"/>
            <a:ext cx="29260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E5873"/>
                </a:solidFill>
                <a:latin typeface="Poppins"/>
              </a:rPr>
              <a:t>Plus léger, idéal pour les extraits TikTok.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A0CA3"/>
                </a:solidFill>
                <a:latin typeface="Poppins"/>
              </a:rPr>
              <a:t>Le générique :  </a:t>
            </a:r>
            <a:r>
              <a:rPr sz="1400" b="0">
                <a:solidFill>
                  <a:srgbClr val="1B1035"/>
                </a:solidFill>
                <a:latin typeface="Poppins"/>
              </a:rPr>
              <a:t>« Ici, pas de levée de fonds ni de pitch. Juste des commerçants qui encaissent, qui galèrent, qui grandissent. Bienvenue À la caisse. 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UN ÉPISODE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22 minutes, six moments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EB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B1035"/>
                </a:solidFill>
                <a:latin typeface="Poppins"/>
              </a:rPr>
              <a:t>1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1035"/>
                </a:solidFill>
                <a:latin typeface="Poppins"/>
              </a:rPr>
              <a:t>Ouverture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L'invité se présente depuis son comptoir, bruit de la boutique en fond.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8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D9D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268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B1035"/>
                </a:solidFill>
                <a:latin typeface="Poppins"/>
              </a:rPr>
              <a:t>5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B1035"/>
                </a:solidFill>
                <a:latin typeface="Poppins"/>
              </a:rPr>
              <a:t>L'histoire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40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Comment il a ouvert, avec combien, et ce qui a failli le faire fermer.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672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8C6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672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7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oppins"/>
              </a:rPr>
              <a:t>La caisse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244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Espèces, mobile money, cartes ; les erreurs de caisse ; ce qu'il ne voit pas.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5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oppins"/>
              </a:rPr>
              <a:t>Le déclic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Ce qui a changé : un outil, une habitude, un financement, un employé.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480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2A0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480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2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oppins"/>
              </a:rPr>
              <a:t>Le conseil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052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Ce qu'il dirait à quelqu'un qui ouvre demain.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68840" y="2103120"/>
            <a:ext cx="1752600" cy="1005840"/>
          </a:xfrm>
          <a:prstGeom prst="roundRect">
            <a:avLst>
              <a:gd name="adj" fmla="val 8000"/>
            </a:avLst>
          </a:prstGeom>
          <a:solidFill>
            <a:srgbClr val="1B1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8840" y="2103120"/>
            <a:ext cx="17526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2 min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oppins"/>
              </a:rPr>
              <a:t>Question 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4560" y="3291840"/>
            <a:ext cx="166116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1B1035"/>
                </a:solidFill>
                <a:latin typeface="Poppins"/>
              </a:rPr>
              <a:t>La meilleure vente, le pire client, le prochain projet.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60704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A0CA3"/>
                </a:solidFill>
                <a:latin typeface="Poppins"/>
              </a:rPr>
              <a:t>La règle :  </a:t>
            </a:r>
            <a:r>
              <a:rPr sz="1400" b="0">
                <a:solidFill>
                  <a:srgbClr val="1B1035"/>
                </a:solidFill>
                <a:latin typeface="Poppins"/>
              </a:rPr>
              <a:t>Jèko n'est cité qu'à la fin, en une phrase, sauf si l'invité est client et en parle lui-même. La voix vient de l'équipe Jèko ou d'une personnalité connue d'Abidjan.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LA SAISON 1 · ÉPISODES 1 À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Huit commerces, huit histoires de caisse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pic>
        <p:nvPicPr>
          <p:cNvPr id="6" name="Picture 5" descr="j_resto.jpg"/>
          <p:cNvPicPr>
            <a:picLocks noChangeAspect="1"/>
          </p:cNvPicPr>
          <p:nvPr/>
        </p:nvPicPr>
        <p:blipFill>
          <a:blip r:embed="rId3"/>
          <a:srcRect t="15721" b="36682"/>
          <a:stretch>
            <a:fillRect/>
          </a:stretch>
        </p:blipFill>
        <p:spPr>
          <a:xfrm>
            <a:off x="548640" y="1874519"/>
            <a:ext cx="2624328" cy="18745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Gérant de maquis, Plateau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Encaisser au rush de midi sans perdre un franc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Terminal Jèko Box</a:t>
            </a:r>
          </a:p>
        </p:txBody>
      </p:sp>
      <p:pic>
        <p:nvPicPr>
          <p:cNvPr id="13" name="Picture 12" descr="j_pharma.jpg"/>
          <p:cNvPicPr>
            <a:picLocks noChangeAspect="1"/>
          </p:cNvPicPr>
          <p:nvPr/>
        </p:nvPicPr>
        <p:blipFill>
          <a:blip r:embed="rId4"/>
          <a:srcRect l="3355" r="3355"/>
          <a:stretch>
            <a:fillRect/>
          </a:stretch>
        </p:blipFill>
        <p:spPr>
          <a:xfrm>
            <a:off x="3355848" y="1874519"/>
            <a:ext cx="2624328" cy="1874519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493008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Pharmacienne, Cocody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Quand les clients paient tous autrement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Tous les paiements sur un outil</a:t>
            </a:r>
          </a:p>
        </p:txBody>
      </p:sp>
      <p:pic>
        <p:nvPicPr>
          <p:cNvPr id="20" name="Picture 19" descr="j_pay.jpg"/>
          <p:cNvPicPr>
            <a:picLocks noChangeAspect="1"/>
          </p:cNvPicPr>
          <p:nvPr/>
        </p:nvPicPr>
        <p:blipFill>
          <a:blip r:embed="rId5"/>
          <a:srcRect t="15721" b="36682"/>
          <a:stretch>
            <a:fillRect/>
          </a:stretch>
        </p:blipFill>
        <p:spPr>
          <a:xfrm>
            <a:off x="6163055" y="1874519"/>
            <a:ext cx="2624328" cy="1874519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6300215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5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5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7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Boutique de mode sur Instagram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Vendre en ligne sans avoir de 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7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Liens de paiement</a:t>
            </a:r>
          </a:p>
        </p:txBody>
      </p:sp>
      <p:pic>
        <p:nvPicPr>
          <p:cNvPr id="27" name="Picture 26" descr="j_market.jpg"/>
          <p:cNvPicPr>
            <a:picLocks noChangeAspect="1"/>
          </p:cNvPicPr>
          <p:nvPr/>
        </p:nvPicPr>
        <p:blipFill>
          <a:blip r:embed="rId6"/>
          <a:srcRect l="3355" r="3355"/>
          <a:stretch>
            <a:fillRect/>
          </a:stretch>
        </p:blipFill>
        <p:spPr>
          <a:xfrm>
            <a:off x="8970263" y="1874519"/>
            <a:ext cx="2624328" cy="187451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107423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3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0263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5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Demi-grossiste, Adjamé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5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Le crédit aux clients, ce poison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5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Suivi des ventes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LA SAISON 1 · ÉPISODES 5 À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Huit commerces, huit histoires de caisse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pic>
        <p:nvPicPr>
          <p:cNvPr id="6" name="Picture 5" descr="j_hair.jpg"/>
          <p:cNvPicPr>
            <a:picLocks noChangeAspect="1"/>
          </p:cNvPicPr>
          <p:nvPr/>
        </p:nvPicPr>
        <p:blipFill>
          <a:blip r:embed="rId3"/>
          <a:srcRect t="14864" b="34682"/>
          <a:stretch>
            <a:fillRect/>
          </a:stretch>
        </p:blipFill>
        <p:spPr>
          <a:xfrm>
            <a:off x="548640" y="1874519"/>
            <a:ext cx="2624328" cy="18745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85800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Salon de coiffure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Le jour où j'ai compris que je ne connaissais pas mes chiffres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Tableau de bord en temps réel</a:t>
            </a:r>
          </a:p>
        </p:txBody>
      </p:sp>
      <p:pic>
        <p:nvPicPr>
          <p:cNvPr id="13" name="Picture 12" descr="w_grocer.jpg"/>
          <p:cNvPicPr>
            <a:picLocks noChangeAspect="1"/>
          </p:cNvPicPr>
          <p:nvPr/>
        </p:nvPicPr>
        <p:blipFill>
          <a:blip r:embed="rId4"/>
          <a:srcRect t="15721" b="36682"/>
          <a:stretch>
            <a:fillRect/>
          </a:stretch>
        </p:blipFill>
        <p:spPr>
          <a:xfrm>
            <a:off x="3355848" y="1874519"/>
            <a:ext cx="2624328" cy="1874519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493008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Supérette de quartier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Obtenir son premier crédit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Accès au crédit</a:t>
            </a:r>
          </a:p>
        </p:txBody>
      </p:sp>
      <p:pic>
        <p:nvPicPr>
          <p:cNvPr id="20" name="Picture 19" descr="w_vendor.jpg"/>
          <p:cNvPicPr>
            <a:picLocks noChangeAspect="1"/>
          </p:cNvPicPr>
          <p:nvPr/>
        </p:nvPicPr>
        <p:blipFill>
          <a:blip r:embed="rId5"/>
          <a:srcRect t="15721" b="36682"/>
          <a:stretch>
            <a:fillRect/>
          </a:stretch>
        </p:blipFill>
        <p:spPr>
          <a:xfrm>
            <a:off x="6163055" y="1874519"/>
            <a:ext cx="2624328" cy="1874519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6300215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5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5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7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Commerçante qui a rouvert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Ce que l'échec m'a appris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7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Épisode sans produit</a:t>
            </a:r>
          </a:p>
        </p:txBody>
      </p:sp>
      <p:pic>
        <p:nvPicPr>
          <p:cNvPr id="27" name="Picture 26" descr="w_market.jpg"/>
          <p:cNvPicPr>
            <a:picLocks noChangeAspect="1"/>
          </p:cNvPicPr>
          <p:nvPr/>
        </p:nvPicPr>
        <p:blipFill>
          <a:blip r:embed="rId6"/>
          <a:srcRect l="3355" r="3355"/>
          <a:stretch>
            <a:fillRect/>
          </a:stretch>
        </p:blipFill>
        <p:spPr>
          <a:xfrm>
            <a:off x="8970263" y="1874519"/>
            <a:ext cx="2624328" cy="1874519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9107423" y="2011680"/>
            <a:ext cx="566928" cy="566928"/>
          </a:xfrm>
          <a:prstGeom prst="ellipse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423" y="2011680"/>
            <a:ext cx="566928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0263" y="3749039"/>
            <a:ext cx="2624328" cy="2377440"/>
          </a:xfrm>
          <a:prstGeom prst="rect">
            <a:avLst/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5" y="3886200"/>
            <a:ext cx="2350008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8C69F9"/>
                </a:solidFill>
                <a:latin typeface="Poppins"/>
              </a:rPr>
              <a:t>Table ronde, trois invités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4855" y="4343400"/>
            <a:ext cx="2350008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Le commerce à Abidjan dans cinq 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5" y="5596128"/>
            <a:ext cx="235000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5E5873"/>
                </a:solidFill>
                <a:latin typeface="Poppins"/>
              </a:rPr>
              <a:t>Jèko : </a:t>
            </a:r>
            <a:r>
              <a:rPr sz="1100" b="0">
                <a:solidFill>
                  <a:srgbClr val="5E5873"/>
                </a:solidFill>
                <a:latin typeface="Poppins"/>
              </a:rPr>
              <a:t>Appel aux candidatures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Un épisode, cinq usages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288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28016" cy="73152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5661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Spotify, Apple Podcasts, 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5303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L'épisode complet, audio et vidéo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993392"/>
            <a:ext cx="1463040" cy="402336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993392"/>
            <a:ext cx="146304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FFFFFF"/>
                </a:solidFill>
                <a:latin typeface="Poppins"/>
              </a:rPr>
              <a:t>1 /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70048"/>
            <a:ext cx="128016" cy="731520"/>
          </a:xfrm>
          <a:prstGeom prst="rect">
            <a:avLst/>
          </a:prstGeom>
          <a:solidFill>
            <a:srgbClr val="8C6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70048"/>
            <a:ext cx="35661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TikTok, Instagram, 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70048"/>
            <a:ext cx="5303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3 extraits verticaux de 30 à 60 s, sous-titrés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834640"/>
            <a:ext cx="1463040" cy="402336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834640"/>
            <a:ext cx="146304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FFFFFF"/>
                </a:solidFill>
                <a:latin typeface="Poppins"/>
              </a:rPr>
              <a:t>3 / semaine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11296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511296"/>
            <a:ext cx="128016" cy="7315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511296"/>
            <a:ext cx="35661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WhatsApp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11296"/>
            <a:ext cx="5303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L'extrait le plus fort, aux commerçants clients et prospects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3675888"/>
            <a:ext cx="1463040" cy="402336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675888"/>
            <a:ext cx="146304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FFFFFF"/>
                </a:solidFill>
                <a:latin typeface="Poppins"/>
              </a:rPr>
              <a:t>1 / semaine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52544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352544"/>
            <a:ext cx="128016" cy="73152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52544"/>
            <a:ext cx="35661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LinkedIn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352544"/>
            <a:ext cx="5303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Le chiffre ou la leçon de l'épisode, pour partenaires et investisseurs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4517136"/>
            <a:ext cx="1463040" cy="402336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4517136"/>
            <a:ext cx="146304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FFFFFF"/>
                </a:solidFill>
                <a:latin typeface="Poppins"/>
              </a:rPr>
              <a:t>1 / semaine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93792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93792"/>
            <a:ext cx="128016" cy="731520"/>
          </a:xfrm>
          <a:prstGeom prst="rect">
            <a:avLst/>
          </a:prstGeom>
          <a:solidFill>
            <a:srgbClr val="8C6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93792"/>
            <a:ext cx="35661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A0CA3"/>
                </a:solidFill>
                <a:latin typeface="Poppins"/>
              </a:rPr>
              <a:t>Équipe commerciale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193792"/>
            <a:ext cx="530352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B1035"/>
                </a:solidFill>
                <a:latin typeface="Poppins"/>
              </a:rPr>
              <a:t>Les épisodes comme supports de démarchage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5358384"/>
            <a:ext cx="1463040" cy="402336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5358384"/>
            <a:ext cx="146304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FFFFFF"/>
                </a:solidFill>
                <a:latin typeface="Poppins"/>
              </a:rPr>
              <a:t>En continu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3A0CA3"/>
                </a:solidFill>
                <a:latin typeface="Poppins"/>
              </a:rPr>
              <a:t>Plus tard : </a:t>
            </a:r>
            <a:r>
              <a:rPr sz="1200" b="0">
                <a:solidFill>
                  <a:srgbClr val="5E5873"/>
                </a:solidFill>
                <a:latin typeface="Poppins"/>
              </a:rPr>
              <a:t>un enregistrement en public, un mini-guide « Ce que les commerçants nous ont appris », des extraits en nouchi ou en dioula.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Une équipe de trois, le décor c'est la boutique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pic>
        <p:nvPicPr>
          <p:cNvPr id="6" name="Picture 5" descr="j_mic.jpg"/>
          <p:cNvPicPr>
            <a:picLocks noChangeAspect="1"/>
          </p:cNvPicPr>
          <p:nvPr/>
        </p:nvPicPr>
        <p:blipFill>
          <a:blip r:embed="rId3"/>
          <a:srcRect l="20226" r="20226"/>
          <a:stretch>
            <a:fillRect/>
          </a:stretch>
        </p:blipFill>
        <p:spPr>
          <a:xfrm>
            <a:off x="548640" y="1828800"/>
            <a:ext cx="384048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182880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A0CA3"/>
                </a:solidFill>
                <a:latin typeface="Poppins"/>
              </a:rPr>
              <a:t>Équipe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1035"/>
                </a:solidFill>
                <a:latin typeface="Poppins"/>
              </a:rPr>
              <a:t>Une voix pour l'animation, une personne pour le tournage et le montage, une pour les invités et la diffusion.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92608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A0CA3"/>
                </a:solidFill>
                <a:latin typeface="Poppins"/>
              </a:rPr>
              <a:t>Matériel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1035"/>
                </a:solidFill>
                <a:latin typeface="Poppins"/>
              </a:rPr>
              <a:t>Deux micros-cravates sans fil, un enregistreur ou un téléphone récent, un petit éclairage, un stabilisateur.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02336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A0CA3"/>
                </a:solidFill>
                <a:latin typeface="Poppins"/>
              </a:rPr>
              <a:t>Rythme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1035"/>
                </a:solidFill>
                <a:latin typeface="Poppins"/>
              </a:rPr>
              <a:t>4 épisodes enregistrés avant de publier le premier, pour ne jamais rater une semaine.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120640"/>
            <a:ext cx="1737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3A0CA3"/>
                </a:solidFill>
                <a:latin typeface="Poppins"/>
              </a:rPr>
              <a:t>Garde-fous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120640"/>
            <a:ext cx="512064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B1035"/>
                </a:solidFill>
                <a:latin typeface="Poppins"/>
              </a:rPr>
              <a:t>Aucune promesse de crédit à l'antenne. Les mentions sur les services de paiement sont relues avant chaque publication. Chaque invité signe une autorisation voix et image.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C69F9"/>
                </a:solidFill>
                <a:latin typeface="Poppins"/>
              </a:rPr>
              <a:t>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3A0CA3"/>
                </a:solidFill>
                <a:latin typeface="Poppins"/>
              </a:rPr>
              <a:t>Ce qu'on regarde à trois mois</a:t>
            </a:r>
          </a:p>
        </p:txBody>
      </p:sp>
      <p:pic>
        <p:nvPicPr>
          <p:cNvPr id="5" name="Picture 4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74519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19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3A0CA3"/>
                </a:solidFill>
                <a:latin typeface="Poppins"/>
              </a:rPr>
              <a:t>Être écouté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59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1035"/>
                </a:solidFill>
                <a:latin typeface="Poppins"/>
              </a:rPr>
              <a:t>Écoutes et vues des épisodes complets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39"/>
            <a:ext cx="48463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5873"/>
                </a:solidFill>
                <a:latin typeface="Poppins"/>
              </a:rPr>
              <a:t>Repère fixé après les 4 premiers épisodes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19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3A0CA3"/>
                </a:solidFill>
                <a:latin typeface="Poppins"/>
              </a:rPr>
              <a:t>Être partagé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59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1035"/>
                </a:solidFill>
                <a:latin typeface="Poppins"/>
              </a:rPr>
              <a:t>Vues et partages des extraits courts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39"/>
            <a:ext cx="48463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5873"/>
                </a:solidFill>
                <a:latin typeface="Poppins"/>
              </a:rPr>
              <a:t>Les extraits font au moins 10 fois l'audience des épisodes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FFFFF"/>
                </a:solidFill>
                <a:latin typeface="Poppins"/>
              </a:rPr>
              <a:t>Faire venir des commerçants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Poppins"/>
              </a:rPr>
              <a:t>Demandes de démo citant le podcast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12080"/>
            <a:ext cx="48463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FC4F5"/>
                </a:solidFill>
                <a:latin typeface="Poppins"/>
              </a:rPr>
              <a:t>Question « Comment nous avez-vous connus ? » ajoutée au formulaire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F6F3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51960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3A0CA3"/>
                </a:solidFill>
                <a:latin typeface="Poppins"/>
              </a:rPr>
              <a:t>Créer une communauté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B1035"/>
                </a:solidFill>
                <a:latin typeface="Poppins"/>
              </a:rPr>
              <a:t>Candidatures spontanées de commerçants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48463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5873"/>
                </a:solidFill>
                <a:latin typeface="Poppins"/>
              </a:rPr>
              <a:t>Assez pour remplir la saison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E5873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3A0CA3"/>
                </a:solidFill>
                <a:latin typeface="Poppin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0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CC9F0"/>
                </a:solidFill>
                <a:latin typeface="Poppins"/>
              </a:rPr>
              <a:t>LANCEMENT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6012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Poppins"/>
              </a:rPr>
              <a:t>Cinq étapes pour être à l'antenne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1592" y="384048"/>
            <a:ext cx="984808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eko-logo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765352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" y="2788920"/>
            <a:ext cx="10515600" cy="54864"/>
          </a:xfrm>
          <a:prstGeom prst="rect">
            <a:avLst/>
          </a:prstGeom>
          <a:solidFill>
            <a:srgbClr val="8C6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A0CA3"/>
                </a:solidFill>
                <a:latin typeface="Poppi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057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Valider le nom, la voix et le format</a:t>
            </a:r>
          </a:p>
        </p:txBody>
      </p:sp>
      <p:sp>
        <p:nvSpPr>
          <p:cNvPr id="11" name="Oval 10"/>
          <p:cNvSpPr/>
          <p:nvPr/>
        </p:nvSpPr>
        <p:spPr>
          <a:xfrm>
            <a:off x="3063240" y="24688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468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A0CA3"/>
                </a:solidFill>
                <a:latin typeface="Poppi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83280"/>
            <a:ext cx="2057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Recruter les 8 invités, d'abord parmi les clients Jèko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24688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468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A0CA3"/>
                </a:solidFill>
                <a:latin typeface="Poppi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2057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Enregistrer 4 épisodes et produire les extraits</a:t>
            </a:r>
          </a:p>
        </p:txBody>
      </p:sp>
      <p:sp>
        <p:nvSpPr>
          <p:cNvPr id="17" name="Oval 16"/>
          <p:cNvSpPr/>
          <p:nvPr/>
        </p:nvSpPr>
        <p:spPr>
          <a:xfrm>
            <a:off x="7543800" y="24688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468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A0CA3"/>
                </a:solidFill>
                <a:latin typeface="Poppi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80"/>
            <a:ext cx="2057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Lancer avec une bande-annonce de 60 secondes</a:t>
            </a:r>
          </a:p>
        </p:txBody>
      </p:sp>
      <p:sp>
        <p:nvSpPr>
          <p:cNvPr id="20" name="Oval 19"/>
          <p:cNvSpPr/>
          <p:nvPr/>
        </p:nvSpPr>
        <p:spPr>
          <a:xfrm>
            <a:off x="9784080" y="24688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468880"/>
            <a:ext cx="685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3A0CA3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383280"/>
            <a:ext cx="20574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Poppins"/>
              </a:rPr>
              <a:t>Publier chaque semaine, bilan après 4 épisodes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2A08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4CC9F0"/>
                </a:solidFill>
                <a:latin typeface="Poppins"/>
              </a:rPr>
              <a:t>La décision attendue</a:t>
            </a:r>
          </a:p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Poppins"/>
              </a:rPr>
              <a:t>Valider le nom « À la caisse » et le format filmé en boutique, pour lancer le recrutement des invités.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CFC4F5"/>
                </a:solidFill>
                <a:latin typeface="Poppins"/>
              </a:rPr>
              <a:t>À la caisse · Concept de podcast pour Jèko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C9F0"/>
                </a:solidFill>
                <a:latin typeface="Poppin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