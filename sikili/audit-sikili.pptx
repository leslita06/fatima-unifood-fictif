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0000" cy="6858000"/>
          </a:xfrm>
          <a:prstGeom prst="rect">
            <a:avLst/>
          </a:prstGeom>
          <a:solidFill>
            <a:srgbClr val="232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0000" y="0"/>
            <a:ext cx="90000" cy="6858000"/>
          </a:xfrm>
          <a:prstGeom prst="rect">
            <a:avLst/>
          </a:prstGeom>
          <a:solidFill>
            <a:srgbClr val="00A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" y="900000"/>
            <a:ext cx="1826087" cy="6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0000" y="2200000"/>
            <a:ext cx="100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232754"/>
                </a:solidFill>
                <a:latin typeface="Funnel Display"/>
              </a:rPr>
              <a:t>Audit des réseaux sociaux de Sikili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000" y="3400000"/>
            <a:ext cx="100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Facebook, Instagram (Côte d'Ivoire et Sénégal), TikTok, LinkedIn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8F8F9A"/>
                </a:solidFill>
                <a:latin typeface="Work Sans"/>
              </a:rPr>
              <a:t>Relevé du 20 octobre 2026 : 108 publications, du 23 juin au 19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6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40000"/>
            <a:ext cx="9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L'essentiel en une page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2000" y="300000"/>
            <a:ext cx="1156522" cy="38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28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Sikili  |  Audit des réseaux sociaux, octobre 2026  | 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1450000"/>
            <a:ext cx="5350000" cy="230000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0000" y="1450000"/>
            <a:ext cx="80000" cy="2300000"/>
          </a:xfrm>
          <a:prstGeom prst="rect">
            <a:avLst/>
          </a:prstGeom>
          <a:solidFill>
            <a:srgbClr val="00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000" y="1570000"/>
            <a:ext cx="5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0ADA4"/>
                </a:solidFill>
                <a:latin typeface="Funnel Display"/>
              </a:rPr>
              <a:t>Ce qui va bien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000" y="2010000"/>
            <a:ext cx="5000000" cy="1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Sikili publie avec régularité, environ deux fois par semaine sur chaque compte, et ses visuels sont soignés.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Les vidéos tournées à l'atelier font 4 à 6 fois plus de réactions que les visuels produit.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0000" y="1450000"/>
            <a:ext cx="5350000" cy="230000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0000" y="1450000"/>
            <a:ext cx="80000" cy="2300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0000" y="1570000"/>
            <a:ext cx="5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07ABB"/>
                </a:solidFill>
                <a:latin typeface="Funnel Display"/>
              </a:rPr>
              <a:t>Ce qui coince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0" y="2010000"/>
            <a:ext cx="5000000" cy="1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Les réseaux ne font pas encore vendre : le paiement en plusieurs fois n'apparaît que dans 1 publication sur 108.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La Côte d'Ivoire est presque invisible : 89 abonnés sur Instagram, pas de page Facebook reliée au site.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0000" y="3950000"/>
            <a:ext cx="11000000" cy="215000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0000" y="3950000"/>
            <a:ext cx="80000" cy="2150000"/>
          </a:xfrm>
          <a:prstGeom prst="rect">
            <a:avLst/>
          </a:prstGeom>
          <a:solidFill>
            <a:srgbClr val="232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4070000"/>
            <a:ext cx="1065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32754"/>
                </a:solidFill>
                <a:latin typeface="Funnel Display"/>
              </a:rPr>
              <a:t>Ce que nous proposons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000" y="4510000"/>
            <a:ext cx="1065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B2A35"/>
                </a:solidFill>
                <a:latin typeface="Work Sans"/>
              </a:rPr>
              <a:t>1. Deux vidéos d'atelier par semaine, et plus de diaporamas sur TikTok.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B2A35"/>
                </a:solidFill>
                <a:latin typeface="Work Sans"/>
              </a:rPr>
              <a:t>2. Mettre le paiement en plusieurs fois au centre du discours.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B2A35"/>
                </a:solidFill>
                <a:latin typeface="Work Sans"/>
              </a:rPr>
              <a:t>3. Donner à Abidjan ses propres comptes et ses propres contenus.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6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LES COMPTES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40000"/>
            <a:ext cx="9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Cinq comptes, une audience encore modeste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2000" y="300000"/>
            <a:ext cx="1156522" cy="38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28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Sikili  |  Audit des réseaux sociaux, octobre 2026  |  3</a:t>
            </a:r>
          </a:p>
        </p:txBody>
      </p:sp>
      <p:pic>
        <p:nvPicPr>
          <p:cNvPr id="7" name="Picture 6" descr="c_ab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00" y="1400000"/>
            <a:ext cx="5300000" cy="314687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00000" y="1450000"/>
          <a:ext cx="5600000" cy="22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000"/>
                <a:gridCol w="1300000"/>
                <a:gridCol w="2200000"/>
              </a:tblGrid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Compte</a:t>
                      </a:r>
                    </a:p>
                  </a:txBody>
                  <a:tcPr>
                    <a:solidFill>
                      <a:srgbClr val="232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Rythme</a:t>
                      </a:r>
                    </a:p>
                  </a:txBody>
                  <a:tcPr>
                    <a:solidFill>
                      <a:srgbClr val="232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Réactions par publication</a:t>
                      </a:r>
                    </a:p>
                  </a:txBody>
                  <a:tcPr>
                    <a:solidFill>
                      <a:srgbClr val="232754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Facebook Sénégal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1,7 / sem.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Instagram Sénégal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1,8 / sem.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14 j'aime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Instagram Côte d'Ivoire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1,7 / sem.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6 j'aime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TikTok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1,8 / sem.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248 vues, 10 j'aime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LinkedIn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non mesuré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non mesuré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00000" y="4000000"/>
            <a:ext cx="56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B2A35"/>
                </a:solidFill>
                <a:latin typeface="Work Sans"/>
              </a:rPr>
              <a:t>À retenir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Le compte Instagram Côte d'Ivoire a plus de publications (102) que d'abonnés (89).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La page Facebook a 1 412 abonnés mais ne reçoit pratiquement aucune réaction, aucun avis, et aucune publicité n'y tourne.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6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CE QUI MARCHE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40000"/>
            <a:ext cx="9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L'atelier en vidéo : le format qui marche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2000" y="300000"/>
            <a:ext cx="1156522" cy="38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28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Sikili  |  Audit des réseaux sociaux, octobre 2026  |  4</a:t>
            </a:r>
          </a:p>
        </p:txBody>
      </p:sp>
      <p:pic>
        <p:nvPicPr>
          <p:cNvPr id="7" name="Picture 6" descr="c_tikt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00" y="1400000"/>
            <a:ext cx="5600000" cy="3325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0000" y="1400000"/>
            <a:ext cx="5300000" cy="460000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0000" y="1400000"/>
            <a:ext cx="80000" cy="4600000"/>
          </a:xfrm>
          <a:prstGeom prst="rect">
            <a:avLst/>
          </a:prstGeom>
          <a:solidFill>
            <a:srgbClr val="00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0000" y="1520000"/>
            <a:ext cx="495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0ADA4"/>
                </a:solidFill>
                <a:latin typeface="Funnel Display"/>
              </a:rPr>
              <a:t>Les meilleures publications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0000" y="1960000"/>
            <a:ext cx="4950000" cy="3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Instagram Sénégal : les trois meilleures publications sont trois vidéos d'atelier d'octobre (90, 78 et 62 j'aime, contre 11 pour une image).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TikTok : la vidéo « Un appareil en panne ? Pas de panique » atteint 1 668 vues, près de 7 fois la normale. Elle est aussi la meilleure en Côte d'Ivoire.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Facebook : le micro-trottoir de la plage de Ngor a été la vidéo la plus vue. Un format à refaire à Abidjan.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6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CE QUI MANQUE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40000"/>
            <a:ext cx="9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Les arguments qui font acheter sont absents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2000" y="300000"/>
            <a:ext cx="1156522" cy="38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28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Sikili  |  Audit des réseaux sociaux, octobre 2026  |  5</a:t>
            </a:r>
          </a:p>
        </p:txBody>
      </p:sp>
      <p:pic>
        <p:nvPicPr>
          <p:cNvPr id="7" name="Picture 6" descr="c_the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00" y="1400000"/>
            <a:ext cx="5600000" cy="3325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0000" y="1400000"/>
            <a:ext cx="5300000" cy="220000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0000" y="1400000"/>
            <a:ext cx="80000" cy="2200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0000" y="1520000"/>
            <a:ext cx="495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07ABB"/>
                </a:solidFill>
                <a:latin typeface="Funnel Display"/>
              </a:rPr>
              <a:t>Des chiffres qui se contredisent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0000" y="1960000"/>
            <a:ext cx="4950000" cy="1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Contrôle qualité : 65 points sur le site, « plus de 50 » dans les publications, « 15 étapes » sur le blog.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Économie promise : 30 %, 40 % ou 70 % selon le support.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0000" y="3800000"/>
            <a:ext cx="5300000" cy="220000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0000" y="3800000"/>
            <a:ext cx="80000" cy="2200000"/>
          </a:xfrm>
          <a:prstGeom prst="rect">
            <a:avLst/>
          </a:prstGeom>
          <a:solidFill>
            <a:srgbClr val="232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0000" y="3920000"/>
            <a:ext cx="495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32754"/>
                </a:solidFill>
                <a:latin typeface="Funnel Display"/>
              </a:rPr>
              <a:t>Ce que le client ne voit pas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0000" y="4360000"/>
            <a:ext cx="4950000" cy="1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Combien coûte un téléphone, sans devoir écrire pour le demander.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Qu'on peut payer en plusieurs fois, et faire reprendre son ancien téléphone.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Ce qu'en disent les clients.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6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LES ÉCARTS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40000"/>
            <a:ext cx="9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Ce qu'il faut corriger, par ordre d'urgence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2000" y="300000"/>
            <a:ext cx="1156522" cy="38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28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Sikili  |  Audit des réseaux sociaux, octobre 2026  |  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0000" y="1450000"/>
          <a:ext cx="11000000" cy="42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000"/>
                <a:gridCol w="4600000"/>
                <a:gridCol w="5100000"/>
              </a:tblGrid>
              <a:tr h="47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Urgence</a:t>
                      </a:r>
                    </a:p>
                  </a:txBody>
                  <a:tcPr>
                    <a:solidFill>
                      <a:srgbClr val="232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Écart</a:t>
                      </a:r>
                    </a:p>
                  </a:txBody>
                  <a:tcPr>
                    <a:solidFill>
                      <a:srgbClr val="232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Pourquoi c'est important</a:t>
                      </a:r>
                    </a:p>
                  </a:txBody>
                  <a:tcPr>
                    <a:solidFill>
                      <a:srgbClr val="232754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Urgent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Le paiement en plusieurs fois absent des réseaux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C'est la première raison d'acheter pour un public qui n'a pas la somme d'un coup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Urgent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Des promesses chiffrées qui se contredisent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Une marque qui vend de la confiance ne peut pas se contredire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Urgent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Côte d'Ivoire : pas de page Facebook, 89 abonnés Instagram, pas de numéro +225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La moitié du marché ne trouve pas Sikili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Important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Trop peu de vidéos d'atelier, trop de diaporamas sur TikTok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Le format qui marche ne fait qu'une publication sur cinq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Important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Aucun avis ni témoignage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Seule la parole des clients lève la méfiance envers le reconditionné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Important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Le bouton Facebook mène à un catalogue en ligne, pas au site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On ne sait pas quel réseau amène les ventes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Ensuite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Mêmes textes partout, mots-clés trop généraux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Peu de nouveaux abonnés locaux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Ensuite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Nom TikTok « sikili80 », pas de TikTok ivoirien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Marque moins facile à trouver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6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40000"/>
            <a:ext cx="9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Notes par canal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2000" y="300000"/>
            <a:ext cx="1156522" cy="38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28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Sikili  |  Audit des réseaux sociaux, octobre 2026  | 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0000" y="1500000"/>
          <a:ext cx="11000000" cy="31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000"/>
                <a:gridCol w="1700000"/>
                <a:gridCol w="1600000"/>
                <a:gridCol w="1600000"/>
                <a:gridCol w="1400000"/>
                <a:gridCol w="1700000"/>
              </a:tblGrid>
              <a:tr h="52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Work Sans"/>
                        </a:rPr>
                        <a:t>Canal</a:t>
                      </a:r>
                    </a:p>
                  </a:txBody>
                  <a:tcPr>
                    <a:solidFill>
                      <a:srgbClr val="232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Work Sans"/>
                        </a:rPr>
                        <a:t>Image de marque</a:t>
                      </a:r>
                    </a:p>
                  </a:txBody>
                  <a:tcPr>
                    <a:solidFill>
                      <a:srgbClr val="232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Work Sans"/>
                        </a:rPr>
                        <a:t>Régularité</a:t>
                      </a:r>
                    </a:p>
                  </a:txBody>
                  <a:tcPr>
                    <a:solidFill>
                      <a:srgbClr val="232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Work Sans"/>
                        </a:rPr>
                        <a:t>Réactions</a:t>
                      </a:r>
                    </a:p>
                  </a:txBody>
                  <a:tcPr>
                    <a:solidFill>
                      <a:srgbClr val="232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Work Sans"/>
                        </a:rPr>
                        <a:t>Ventes</a:t>
                      </a:r>
                    </a:p>
                  </a:txBody>
                  <a:tcPr>
                    <a:solidFill>
                      <a:srgbClr val="232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Work Sans"/>
                        </a:rPr>
                        <a:t>Note</a:t>
                      </a:r>
                    </a:p>
                  </a:txBody>
                  <a:tcPr>
                    <a:solidFill>
                      <a:srgbClr val="232754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Instagram Sénégal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5,5 /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TikTok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7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4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3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4,8 / 10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Instagram Côte d'Ivoire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4,0 /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Facebook Sénégal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7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2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3,8 / 10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LinkedIn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non mesuré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non mesuré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non noté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0000" y="490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8F8F9A"/>
                </a:solidFill>
                <a:latin typeface="Work Sans"/>
              </a:rPr>
              <a:t>Ces notes servent à comparer les canaux entre eux, pas à juger l'équipe.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6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RECOMMANDATIONS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40000"/>
            <a:ext cx="9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Sept décisions pour les 30 prochains jours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2000" y="300000"/>
            <a:ext cx="1156522" cy="38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28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Sikili  |  Audit des réseaux sociaux, octobre 2026  |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1400000"/>
            <a:ext cx="110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B2A35"/>
                </a:solidFill>
                <a:latin typeface="Work Sans"/>
              </a:rPr>
              <a:t>1. Deux vidéos d'atelier par semaine.</a:t>
            </a:r>
            <a:r>
              <a:rPr sz="1300" b="0">
                <a:solidFill>
                  <a:srgbClr val="2B2A35"/>
                </a:solidFill>
                <a:latin typeface="Work Sans"/>
              </a:rPr>
              <a:t> Avant et après une réparation, « le chef Sikili », les contrôles en 30 secondes. Sur TikTok, plus de diaporamas. Objectif : plus de 500 vues par vidéo.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B2A35"/>
                </a:solidFill>
                <a:latin typeface="Work Sans"/>
              </a:rPr>
              <a:t>2. Le paiement en plusieurs fois au premier plan.</a:t>
            </a:r>
            <a:r>
              <a:rPr sz="1300" b="0">
                <a:solidFill>
                  <a:srgbClr val="2B2A35"/>
                </a:solidFill>
                <a:latin typeface="Work Sans"/>
              </a:rPr>
              <a:t> Une série « Combien par jour ? » : le prix d'un iPhone découpé en paiements Wave. Une publication sur trois en parle.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B2A35"/>
                </a:solidFill>
                <a:latin typeface="Work Sans"/>
              </a:rPr>
              <a:t>3. Un seul chiffre par promesse.</a:t>
            </a:r>
            <a:r>
              <a:rPr sz="1300" b="0">
                <a:solidFill>
                  <a:srgbClr val="2B2A35"/>
                </a:solidFill>
                <a:latin typeface="Work Sans"/>
              </a:rPr>
              <a:t> Choisir le nombre de contrôles et le pourcentage d'économie, puis corriger le site, les comptes et les modèles de visuels.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B2A35"/>
                </a:solidFill>
                <a:latin typeface="Work Sans"/>
              </a:rPr>
              <a:t>4. Abidjan a sa propre voix.</a:t>
            </a:r>
            <a:r>
              <a:rPr sz="1300" b="0">
                <a:solidFill>
                  <a:srgbClr val="2B2A35"/>
                </a:solidFill>
                <a:latin typeface="Work Sans"/>
              </a:rPr>
              <a:t> Une page Facebook Côte d'Ivoire, le +225 sur tous les comptes, un micro-trottoir à Abidjan, des textes écrits pour les Ivoiriens.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B2A35"/>
                </a:solidFill>
                <a:latin typeface="Work Sans"/>
              </a:rPr>
              <a:t>5. La parole des clients.</a:t>
            </a:r>
            <a:r>
              <a:rPr sz="1300" b="0">
                <a:solidFill>
                  <a:srgbClr val="2B2A35"/>
                </a:solidFill>
                <a:latin typeface="Work Sans"/>
              </a:rPr>
              <a:t> Demander un avis et une courte vidéo à chaque client content ; un témoignage par semaine ; parler de la reprise de l'ancien téléphone.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B2A35"/>
                </a:solidFill>
                <a:latin typeface="Work Sans"/>
              </a:rPr>
              <a:t>6. Savoir d'où viennent les ventes.</a:t>
            </a:r>
            <a:r>
              <a:rPr sz="1300" b="0">
                <a:solidFill>
                  <a:srgbClr val="2B2A35"/>
                </a:solidFill>
                <a:latin typeface="Work Sans"/>
              </a:rPr>
              <a:t> Tous les liens vers sikili.io, un lien différent par réseau, un bouton WhatsApp.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B2A35"/>
                </a:solidFill>
                <a:latin typeface="Work Sans"/>
              </a:rPr>
              <a:t>7. Un essai de publicité.</a:t>
            </a:r>
            <a:r>
              <a:rPr sz="1300" b="0">
                <a:solidFill>
                  <a:srgbClr val="2B2A35"/>
                </a:solidFill>
                <a:latin typeface="Work Sans"/>
              </a:rPr>
              <a:t> Pousser les deux meilleures vidéos à Abidjan et Dakar pendant deux semaines, petit budget, et compter les messages WhatsApp reçus.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6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PLAN À 30 JOURS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40000"/>
            <a:ext cx="9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Le plan semaine par semaine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2000" y="300000"/>
            <a:ext cx="1156522" cy="38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28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Sikili  |  Audit des réseaux sociaux, octobre 2026  | 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0000" y="1500000"/>
          <a:ext cx="11000000" cy="32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000"/>
                <a:gridCol w="6200000"/>
                <a:gridCol w="3500000"/>
              </a:tblGrid>
              <a:tr h="65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Work Sans"/>
                        </a:rPr>
                        <a:t>Semaine</a:t>
                      </a:r>
                    </a:p>
                  </a:txBody>
                  <a:tcPr>
                    <a:solidFill>
                      <a:srgbClr val="232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Work Sans"/>
                        </a:rPr>
                        <a:t>Ce qu'on fait</a:t>
                      </a:r>
                    </a:p>
                  </a:txBody>
                  <a:tcPr>
                    <a:solidFill>
                      <a:srgbClr val="2327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Work Sans"/>
                        </a:rPr>
                        <a:t>Comment on le mesure</a:t>
                      </a:r>
                    </a:p>
                  </a:txBody>
                  <a:tcPr>
                    <a:solidFill>
                      <a:srgbClr val="232754"/>
                    </a:solidFill>
                  </a:tcPr>
                </a:tc>
              </a:tr>
              <a:tr h="65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Choisir les chiffres ; corriger liens et présentations des comptes ; ouvrir la page Facebook Côte d'Ivoire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Les 5 comptes à jour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2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Tourner 4 vidéos d'atelier et un micro-trottoir à Abidjan ; lancer « Combien par jour ? »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8 publications dont 4 vidéos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65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Premiers témoignages clients ; lancer l'essai de publicité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Coût par message WhatsApp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4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Bilan : réactions par format, messages reçus par réseau ; décider de la suite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A35"/>
                          </a:solidFill>
                          <a:latin typeface="Work Sans"/>
                        </a:rPr>
                        <a:t>Comparaison avec ce relevé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07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6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007ABB"/>
                </a:solidFill>
                <a:latin typeface="Space Grotesk"/>
              </a:rPr>
              <a:t>MÉTHODE ET LIMITES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540000"/>
            <a:ext cx="9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Comment l'audit a été fait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2000" y="300000"/>
            <a:ext cx="1156522" cy="38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0000" y="6428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Sikili  |  Audit des réseaux sociaux, octobre 2026  |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1450000"/>
            <a:ext cx="110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B2A35"/>
                </a:solidFill>
                <a:latin typeface="Work Sans"/>
              </a:rPr>
              <a:t>Comptes étudiés</a:t>
            </a:r>
            <a:r>
              <a:rPr sz="1400" b="0">
                <a:solidFill>
                  <a:srgbClr val="2B2A35"/>
                </a:solidFill>
                <a:latin typeface="Work Sans"/>
              </a:rPr>
              <a:t> : ceux affichés sur sikili.io le 20 octobre 2026 (Facebook, Instagram Sénégal et Côte d'Ivoire, TikTok, LinkedIn).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B2A35"/>
                </a:solidFill>
                <a:latin typeface="Work Sans"/>
              </a:rPr>
              <a:t>Échantillon</a:t>
            </a:r>
            <a:r>
              <a:rPr sz="1400" b="0">
                <a:solidFill>
                  <a:srgbClr val="2B2A35"/>
                </a:solidFill>
                <a:latin typeface="Work Sans"/>
              </a:rPr>
              <a:t> : les 25 à 30 dernières publications de chaque compte, soit 108 publications entre le 23 juin et le 19 octobre 2026.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B2A35"/>
                </a:solidFill>
                <a:latin typeface="Work Sans"/>
              </a:rPr>
              <a:t>Calcul</a:t>
            </a:r>
            <a:r>
              <a:rPr sz="1400" b="0">
                <a:solidFill>
                  <a:srgbClr val="2B2A35"/>
                </a:solidFill>
                <a:latin typeface="Work Sans"/>
              </a:rPr>
              <a:t> : on retient la valeur du milieu (la médiane), pour qu'une publication exceptionnelle ne fausse pas le résultat.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B2A35"/>
                </a:solidFill>
                <a:latin typeface="Work Sans"/>
              </a:rPr>
              <a:t>Ce qu'on n'a pas pu voir</a:t>
            </a:r>
            <a:r>
              <a:rPr sz="1400" b="0">
                <a:solidFill>
                  <a:srgbClr val="2B2A35"/>
                </a:solidFill>
                <a:latin typeface="Work Sans"/>
              </a:rPr>
              <a:t> : LinkedIn ne laisse lire que le nombre d'abonnés ; la chaîne YouTube n'a pas été étudiée. Le nombre de personnes touchées, les clics, les messages et les ventes ne se voient qu'avec un accès aux comptes de Sikili.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B2A35"/>
                </a:solidFill>
                <a:latin typeface="Work Sans"/>
              </a:rPr>
              <a:t>À vérifier avec Sikili</a:t>
            </a:r>
            <a:r>
              <a:rPr sz="1400" b="0">
                <a:solidFill>
                  <a:srgbClr val="2B2A35"/>
                </a:solidFill>
                <a:latin typeface="Work Sans"/>
              </a:rPr>
              <a:t> : existe-t-il une page Facebook Côte d'Ivoire non reliée au site ? Les concurrents ne sont pas comparés dans cette version.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