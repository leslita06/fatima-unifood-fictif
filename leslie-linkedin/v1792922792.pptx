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l3NTceixhlbEbV07ftnX9iQdrXUV_sSD9b-ICTQaNPY/edit" TargetMode="External"/><Relationship Id="rId4" Type="http://schemas.openxmlformats.org/officeDocument/2006/relationships/hyperlink" Target="https://docs.google.com/presentation/d/1AZPxeSmPLUc718LcDG0yGt94W09K0fd4oGxbllExoqo/edit" TargetMode="External"/><Relationship Id="rId5" Type="http://schemas.openxmlformats.org/officeDocument/2006/relationships/hyperlink" Target="https://docs.google.com/presentation/d/15tZY4P06eXlo2wJlQKpGRW_rJQvt1yxQ4saMQ0rJsYU/edit" TargetMode="External"/><Relationship Id="rId6" Type="http://schemas.openxmlformats.org/officeDocument/2006/relationships/hyperlink" Target="https://docs.google.com/presentation/d/1OPGkac8s8rUCbCwCL37uV1uUCplddWzb_rJikISqAMg/edit" TargetMode="External"/><Relationship Id="rId7" Type="http://schemas.openxmlformats.org/officeDocument/2006/relationships/hyperlink" Target="https://docs.google.com/presentation/d/1b4JjndpWEmefEuOrgNqN3SP3cgZq4omJr8DPcyMyaRw/edit" TargetMode="External"/><Relationship Id="rId8" Type="http://schemas.openxmlformats.org/officeDocument/2006/relationships/hyperlink" Target="https://docs.google.com/spreadsheets/d/1ENJTUerhc0C1Tk8GtvzQVuXCOWsol0cJrKynSHtz3PY/edit" TargetMode="External"/><Relationship Id="rId9" Type="http://schemas.openxmlformats.org/officeDocument/2006/relationships/hyperlink" Target="https://docs.google.com/presentation/d/1lYorqVbOuY_04lepyA87ZGzCWA7g6h47lB3V75yA6lM/edit" TargetMode="External"/><Relationship Id="rId10" Type="http://schemas.openxmlformats.org/officeDocument/2006/relationships/hyperlink" Target="https://docs.google.com/presentation/d/1T43qdLDw9dfo1XH0DvMv7aMTktEC7WWdLpM0y0M4XHI/edi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xNdRcwsZnRgcB4_EdvAB6Nf3q7OL3tL5dTcpuxK9tpg/edit" TargetMode="External"/><Relationship Id="rId4" Type="http://schemas.openxmlformats.org/officeDocument/2006/relationships/hyperlink" Target="https://docs.google.com/presentation/d/1s9ty2t41-8sPVf5ANGOsD6vJ35Moe_UWbGxq9YUwNQ0/edit" TargetMode="External"/><Relationship Id="rId5" Type="http://schemas.openxmlformats.org/officeDocument/2006/relationships/hyperlink" Target="https://docs.google.com/document/d/1UwFq8Le73lbVKdAOrRz29I_OZzpz2vb4TffY-zRgtFY/edit" TargetMode="External"/><Relationship Id="rId6" Type="http://schemas.openxmlformats.org/officeDocument/2006/relationships/hyperlink" Target="https://docs.google.com/spreadsheets/d/1Vgjfmhv6Td5og5MCc2RbUckHikh34-VAPB8nrZm8Q2Y/edit" TargetMode="External"/><Relationship Id="rId7" Type="http://schemas.openxmlformats.org/officeDocument/2006/relationships/hyperlink" Target="https://docs.google.com/spreadsheets/d/1GqvLb-fn_ZVbDhboQjyd9YZRhC4bRjmQ8ZdhEcPpG6M/edit" TargetMode="External"/><Relationship Id="rId8" Type="http://schemas.openxmlformats.org/officeDocument/2006/relationships/hyperlink" Target="https://docs.google.com/document/d/1fb77twsNqtAV_lZJ38U9dXVeBcyHmNjuU-9KgS348Wk/edit" TargetMode="External"/><Relationship Id="rId9" Type="http://schemas.openxmlformats.org/officeDocument/2006/relationships/hyperlink" Target="https://docs.google.com/spreadsheets/d/1eDn2-7ZHzfW3d7wdFIN6KhH69IgUP7CO6uv5Hjl2gnQ/edit" TargetMode="External"/><Relationship Id="rId10" Type="http://schemas.openxmlformats.org/officeDocument/2006/relationships/hyperlink" Target="https://leslita06.github.io/tx-maquette-site-q7m4k2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TABLEAU DE BORD DU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Funnel Display"/>
              </a:rPr>
              <a:t>Marketing et contenu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Work Sans"/>
              </a:rPr>
              <a:t>Semaine du lundi 19 au dimanche 25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Work Sans"/>
              </a:rPr>
              <a:t>Pour Leslie Ossété, COO de Mstudio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Work Sans"/>
              </a:rPr>
              <a:t>Préparé par Fatima, Expert marketing et contenu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AED4"/>
                </a:solidFill>
                <a:latin typeface="Work Sans"/>
              </a:rPr>
              <a:t>Mis à jour le dimanche 25 octobre 2026, 10 h 05 (Abidjan)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502920"/>
            <a:ext cx="1828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658368"/>
            <a:ext cx="128016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pace Grotesk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Ce qui compte cette semaine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Les chiffres d'activité viennent du journal de Fatima, jour par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riefcas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01168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dossiers traités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clients, personnes et études, du 19 au 25 octobre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ser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0116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2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audits de personnes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Leslie (41 pages), Renée (41), Nabou (45), en Google Slides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01168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4224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publication sortie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rien ne part sans votre accord écrit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737360"/>
            <a:ext cx="263347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lert-triang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0116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80576" y="269748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E37744"/>
                </a:solidFill>
                <a:latin typeface="Funnel Display"/>
              </a:rPr>
              <a:t>8 sur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65760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ABB"/>
                </a:solidFill>
                <a:latin typeface="Work Sans"/>
              </a:rPr>
              <a:t>indicateurs à brancher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4297680"/>
            <a:ext cx="2286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statistiques des comptes non connectées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 /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Les huit indicateurs du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Aucun chiffre estimé : une carte sans source dit ce qui la débloquerait.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Portée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Statistiques LinkedIn et Meta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Statistiques LinkedIn et Meta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Taux d'engagement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Portée + interactions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69164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82880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Abonnés gagnés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97180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Accès administrateur de la 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Contacts obtenus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Google Analytics, formulaires, WhatsApp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Coût par 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Dépenses pub + contacts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Calendrier tenu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Calendrier Mstudio validé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4023360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Newsletter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7744"/>
                </a:solidFill>
                <a:latin typeface="Funnel Display"/>
              </a:rPr>
              <a:t>À brancher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530352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Outil d'envoi branché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3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Pourquoi ces chiffres manquent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Vérifié ce matin, dimanche 25 octobre à 10 h.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0020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691640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73352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 compte branché est celui de Leslie, sans droit d'administration de la page Mstudio : la lecture des statistiques est refusée.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24328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stagram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52928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715768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Instagram et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97480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Pas connectés. Il faut un compte professionnel relié à une page Facebook.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48456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lob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77056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3739896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Site mstudio.vc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21608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Aucune mesure d'audience branchée : impossible de compter les contacts venus du site.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72584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ssage-circ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01184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4764024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Newsletter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45736"/>
            <a:ext cx="7132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Aucun outil d'envoi branché, pas de liste d'abonnés connue.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64240" cy="502920"/>
          </a:xfrm>
          <a:prstGeom prst="round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Le plus rapide : donner à Fatima l'accès administrateur de la page LinkedIn Mstudio (5 minutes).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4 /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Livrables de la semaine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Chaque titre ouvre le document. Une sélection : la liste complète est dans le journal du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3"/>
              </a:rPr>
              <a:t>Audit Leslie Ossété · LinkedIn et Instagram, 41 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645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4"/>
              </a:rPr>
              <a:t>Audit Renée Mariame Konaté · 41 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25/10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5"/>
              </a:rPr>
              <a:t>Audit Nabou Fall · 45 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25/10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788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6"/>
              </a:rPr>
              <a:t>Awards Entreprises Africaines · étude, 34 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7"/>
              </a:rPr>
              <a:t>Awards · plan hors-média, 33 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79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79" y="3931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8"/>
              </a:rPr>
              <a:t>Ivoire Tech · calendrier de la cérémonie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21/10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9"/>
              </a:rPr>
              <a:t>UMO Intérim · audit Facebook et LinkedIn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79" y="5074920"/>
            <a:ext cx="109728" cy="10058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10"/>
              </a:rPr>
              <a:t>Wave · étude des commerçants des marchés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5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Livrables de la semaine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Chaque titre ouvre le document. Une sélection : la liste complète est dans le journal du jour.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3"/>
              </a:rPr>
              <a:t>MTN · campagne « Ton talent a du réseau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645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719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4"/>
              </a:rPr>
              <a:t>MTN · lancement de l'offre étudiants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719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5"/>
              </a:rPr>
              <a:t>COTIPLAST · 5 publications avec visuels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22/10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788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788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2862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6"/>
              </a:rPr>
              <a:t>Barry Callebaut · veille quotidienne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862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23/10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7"/>
              </a:rPr>
              <a:t>Origin7 · plan média janvier, 5 M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20/10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79" y="3931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79" y="3931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4005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8"/>
              </a:rPr>
              <a:t>Unifood · positionnement, voix des clients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005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20/10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9"/>
              </a:rPr>
              <a:t>Benchmark marques · CAC 40, Côte d'Ivoire, État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507492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79" y="5074920"/>
            <a:ext cx="109728" cy="1005840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799" y="5148072"/>
            <a:ext cx="402336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u="sng">
                <a:solidFill>
                  <a:srgbClr val="007ABB"/>
                </a:solidFill>
                <a:latin typeface="Work Sans"/>
                <a:hlinkClick r:id="rId10"/>
              </a:rPr>
              <a:t>Totem Experience · maquette du site, 11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5148072"/>
            <a:ext cx="96012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24/10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6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Ce qui attend votre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Rien de tout cela ne sort sans un accord écrit.</a:t>
            </a:r>
          </a:p>
        </p:txBody>
      </p:sp>
      <p:pic>
        <p:nvPicPr>
          <p:cNvPr id="6" name="Picture 5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endar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719072"/>
            <a:ext cx="4389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Ivoire Tech, jeudi 30 octobre à 17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19072"/>
            <a:ext cx="5394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Calendrier, annonce et kits des lauréats prêts. Le post de Leslie se complète après la cérémonie.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n-tool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089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907792"/>
            <a:ext cx="4389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Renée et Nabou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07792"/>
            <a:ext cx="5394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posts proposés doivent être validés par chacune. Trois faits sont à leur faire confirmer.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ideo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4096512"/>
            <a:ext cx="4389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Leslie et PodLab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096512"/>
            <a:ext cx="5394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La vidéo en collaboration attend l'accord du compte @podlab.so.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64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lag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48640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5285232"/>
            <a:ext cx="4389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Awards des Entreprises Africaines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285232"/>
            <a:ext cx="5394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La brochure donne quatre dates différentes. Il faut le lieu et l'heure du 26 mars, et le budget.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7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32754"/>
                </a:solidFill>
                <a:latin typeface="Funnel Display"/>
              </a:rPr>
              <a:t>Apprentissages et prochaines étapes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84048"/>
            <a:ext cx="1168842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37160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ghtbulb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69164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Ce qu'on a appris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30632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récits personnels battent les annonces : 832 interactions contre 266 chez Nabou Fall.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Les documents attendus sont des Slides paginés et visuels, jamais du texte brut (24/10).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371600"/>
            <a:ext cx="3566160" cy="109728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lert-triangle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6916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12079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Défis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68880"/>
            <a:ext cx="30632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38 dossiers en une semaine : la qualité se tient en relisant chaque page dans son rendu réel.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Sans statistiques privées, les audits mesurent les interactions, pas la portée.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37160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371600"/>
            <a:ext cx="3566160" cy="109728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out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69164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61119" y="16916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32754"/>
                </a:solidFill>
                <a:latin typeface="Work Sans"/>
              </a:rPr>
              <a:t>Prochaines étapes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30632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Accès administrateur LinkedIn Mstudio, puis Instagram et Facebook.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A35"/>
                </a:solidFill>
                <a:latin typeface="Work Sans"/>
              </a:rPr>
              <a:t>Un calendrier Mstudio validé, pour suivre l'indicateur « calendrier tenu 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64240" cy="1143000"/>
          </a:xfrm>
          <a:prstGeom prst="round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AED4"/>
                </a:solidFill>
                <a:latin typeface="Work Sans"/>
              </a:rPr>
              <a:t>Ce qu'il me faut pour chiffrer le prochain tableau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Work Sans"/>
              </a:rPr>
              <a:t>L'accès administrateur de la page LinkedIn Mstudio, la connexion Instagram et Facebook, et la mesure d'audience du site mstudio.vc.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Space Grotesk"/>
              </a:rPr>
              <a:t>8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Mstudio · Tableau de bord marketing et contenu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