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docs.google.com/presentation/d/1l3NTceixhlbEbV07ftnX9iQdrXUV_sSD9b-ICTQaNPY/edit" TargetMode="External"/><Relationship Id="rId4" Type="http://schemas.openxmlformats.org/officeDocument/2006/relationships/hyperlink" Target="https://docs.google.com/presentation/d/1AZPxeSmPLUc718LcDG0yGt94W09K0fd4oGxbllExoqo/edit" TargetMode="External"/><Relationship Id="rId5" Type="http://schemas.openxmlformats.org/officeDocument/2006/relationships/hyperlink" Target="https://docs.google.com/presentation/d/15tZY4P06eXlo2wJlQKpGRW_rJQvt1yxQ4saMQ0rJsYU/edit" TargetMode="External"/><Relationship Id="rId6" Type="http://schemas.openxmlformats.org/officeDocument/2006/relationships/hyperlink" Target="https://docs.google.com/presentation/d/1OPGkac8s8rUCbCwCL37uV1uUCplddWzb_rJikISqAMg/edit" TargetMode="External"/><Relationship Id="rId7" Type="http://schemas.openxmlformats.org/officeDocument/2006/relationships/hyperlink" Target="https://docs.google.com/presentation/d/1b4JjndpWEmefEuOrgNqN3SP3cgZq4omJr8DPcyMyaRw/edit" TargetMode="External"/><Relationship Id="rId8" Type="http://schemas.openxmlformats.org/officeDocument/2006/relationships/hyperlink" Target="https://docs.google.com/spreadsheets/d/1ENJTUerhc0C1Tk8GtvzQVuXCOWsol0cJrKynSHtz3PY/edit" TargetMode="External"/><Relationship Id="rId9" Type="http://schemas.openxmlformats.org/officeDocument/2006/relationships/hyperlink" Target="https://docs.google.com/presentation/d/1lYorqVbOuY_04lepyA87ZGzCWA7g6h47lB3V75yA6lM/edit" TargetMode="External"/><Relationship Id="rId10" Type="http://schemas.openxmlformats.org/officeDocument/2006/relationships/hyperlink" Target="https://docs.google.com/presentation/d/1T43qdLDw9dfo1XH0DvMv7aMTktEC7WWdLpM0y0M4XHI/edit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docs.google.com/presentation/d/1xNdRcwsZnRgcB4_EdvAB6Nf3q7OL3tL5dTcpuxK9tpg/edit" TargetMode="External"/><Relationship Id="rId4" Type="http://schemas.openxmlformats.org/officeDocument/2006/relationships/hyperlink" Target="https://docs.google.com/presentation/d/1s9ty2t41-8sPVf5ANGOsD6vJ35Moe_UWbGxq9YUwNQ0/edit" TargetMode="External"/><Relationship Id="rId5" Type="http://schemas.openxmlformats.org/officeDocument/2006/relationships/hyperlink" Target="https://docs.google.com/document/d/1UwFq8Le73lbVKdAOrRz29I_OZzpz2vb4TffY-zRgtFY/edit" TargetMode="External"/><Relationship Id="rId6" Type="http://schemas.openxmlformats.org/officeDocument/2006/relationships/hyperlink" Target="https://docs.google.com/spreadsheets/d/1Vgjfmhv6Td5og5MCc2RbUckHikh34-VAPB8nrZm8Q2Y/edit" TargetMode="External"/><Relationship Id="rId7" Type="http://schemas.openxmlformats.org/officeDocument/2006/relationships/hyperlink" Target="https://docs.google.com/spreadsheets/d/1GqvLb-fn_ZVbDhboQjyd9YZRhC4bRjmQ8ZdhEcPpG6M/edit" TargetMode="External"/><Relationship Id="rId8" Type="http://schemas.openxmlformats.org/officeDocument/2006/relationships/hyperlink" Target="https://docs.google.com/document/d/1fb77twsNqtAV_lZJ38U9dXVeBcyHmNjuU-9KgS348Wk/edit" TargetMode="External"/><Relationship Id="rId9" Type="http://schemas.openxmlformats.org/officeDocument/2006/relationships/hyperlink" Target="https://docs.google.com/spreadsheets/d/1eDn2-7ZHzfW3d7wdFIN6KhH69IgUP7CO6uv5Hjl2gnQ/edit" TargetMode="External"/><Relationship Id="rId10" Type="http://schemas.openxmlformats.org/officeDocument/2006/relationships/hyperlink" Target="https://leslita06.github.io/tx-maquette-site-q7m4k2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AED4"/>
                </a:solidFill>
                <a:latin typeface="Space Grotesk"/>
              </a:rPr>
              <a:t>TABLEAU DE BORD DU MÉTIER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Funnel Display"/>
              </a:rPr>
              <a:t>Marketing et contenu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Work Sans"/>
              </a:rPr>
              <a:t>Semaine du lundi 19 au dimanche 25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5156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Work Sans"/>
              </a:rPr>
              <a:t>Pour Leslie Ossété, COO de Mstudio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Work Sans"/>
              </a:rPr>
              <a:t>Préparé par Fatima, Expert marketing et contenu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0AED4"/>
                </a:solidFill>
                <a:latin typeface="Work Sans"/>
              </a:rPr>
              <a:t>Mis à jour le dimanche 25 octobre 2026, 10 h 05 (Abidjan)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502920"/>
            <a:ext cx="182880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658368"/>
            <a:ext cx="1280160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pace Grotesk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32754"/>
                </a:solidFill>
                <a:latin typeface="Funnel Display"/>
              </a:rPr>
              <a:t>Ce qui compte cette semaine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Les chiffres d'activité viennent du journal de Fatima, jour par jour.</a:t>
            </a:r>
          </a:p>
        </p:txBody>
      </p:sp>
      <p:pic>
        <p:nvPicPr>
          <p:cNvPr id="6" name="Picture 5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84048"/>
            <a:ext cx="116884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737360"/>
            <a:ext cx="2633472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riefcase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2011680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697480"/>
            <a:ext cx="22860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7ABB"/>
                </a:solidFill>
                <a:latin typeface="Work Sans"/>
              </a:rPr>
              <a:t>dossiers servis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228600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clients, marques et personnes, du 19 au 25 octobre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737360"/>
            <a:ext cx="2633472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ser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2011680"/>
            <a:ext cx="5029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47872" y="2697480"/>
            <a:ext cx="22860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65760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7ABB"/>
                </a:solidFill>
                <a:latin typeface="Work Sans"/>
              </a:rPr>
              <a:t>audits de personnes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4297680"/>
            <a:ext cx="228600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Leslie (41 pages), Renée (41), Nabou (45), en Google Slides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737360"/>
            <a:ext cx="2633472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hield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2011680"/>
            <a:ext cx="502920" cy="502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4224" y="2697480"/>
            <a:ext cx="22860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65760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7ABB"/>
                </a:solidFill>
                <a:latin typeface="Work Sans"/>
              </a:rPr>
              <a:t>publication sortie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4297680"/>
            <a:ext cx="228600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rien ne part sans votre accord écrit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7696" y="1737360"/>
            <a:ext cx="2633472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alert-triangle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2016" y="2011680"/>
            <a:ext cx="502920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80576" y="2697480"/>
            <a:ext cx="22860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E37744"/>
                </a:solidFill>
                <a:latin typeface="Funnel Display"/>
              </a:rPr>
              <a:t>8 sur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365760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7ABB"/>
                </a:solidFill>
                <a:latin typeface="Work Sans"/>
              </a:rPr>
              <a:t>indicateurs à brancher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4297680"/>
            <a:ext cx="228600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statistiques des comptes non connectées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 /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Mstudio · Tableau de bord marketing et contenu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32754"/>
                </a:solidFill>
                <a:latin typeface="Funnel Display"/>
              </a:rPr>
              <a:t>Les huit indicateurs du métier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Aucun chiffre estimé : une carte sans source dit ce qui la débloquerait.</a:t>
            </a:r>
          </a:p>
        </p:txBody>
      </p:sp>
      <p:pic>
        <p:nvPicPr>
          <p:cNvPr id="6" name="Picture 5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84048"/>
            <a:ext cx="116884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Portée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7744"/>
                </a:solidFill>
                <a:latin typeface="Funnel Display"/>
              </a:rPr>
              <a:t>À brancher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Statistiques LinkedIn et Meta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691640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82880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Interactions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33172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7744"/>
                </a:solidFill>
                <a:latin typeface="Funnel Display"/>
              </a:rPr>
              <a:t>À brancher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97180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Statistiques LinkedIn et Meta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91640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82880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Taux d'engagement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33172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7744"/>
                </a:solidFill>
                <a:latin typeface="Funnel Display"/>
              </a:rPr>
              <a:t>À brancher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97180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Portée + interactions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1691640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0576" y="182880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Abonnés gagnés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233172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7744"/>
                </a:solidFill>
                <a:latin typeface="Funnel Display"/>
              </a:rPr>
              <a:t>À brancher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297180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Accès administrateur de la page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23360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Contacts obtenus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6344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7744"/>
                </a:solidFill>
                <a:latin typeface="Funnel Display"/>
              </a:rPr>
              <a:t>À brancher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Google Analytics, formulaires, WhatsApp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64992" y="4023360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7872" y="416052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Coût par 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7872" y="466344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7744"/>
                </a:solidFill>
                <a:latin typeface="Funnel Display"/>
              </a:rPr>
              <a:t>À brancher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47872" y="530352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Dépenses pub + contacts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1344" y="4023360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6052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Calendrier tenu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466344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7744"/>
                </a:solidFill>
                <a:latin typeface="Funnel Display"/>
              </a:rPr>
              <a:t>À brancher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224" y="530352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Calendrier Mstudio validé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97696" y="4023360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0576" y="416052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Newsletter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0576" y="466344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7744"/>
                </a:solidFill>
                <a:latin typeface="Funnel Display"/>
              </a:rPr>
              <a:t>À brancher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0576" y="530352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Outil d'envoi branché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3 / 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Mstudio · Tableau de bord marketing et contenu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32754"/>
                </a:solidFill>
                <a:latin typeface="Funnel Display"/>
              </a:rPr>
              <a:t>Pourquoi ces chiffres manquent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Vérifié ce matin, dimanche 25 octobre à 10 h.</a:t>
            </a:r>
          </a:p>
        </p:txBody>
      </p:sp>
      <p:pic>
        <p:nvPicPr>
          <p:cNvPr id="6" name="Picture 5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84048"/>
            <a:ext cx="116884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45920"/>
            <a:ext cx="11064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74519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54480" y="1737360"/>
            <a:ext cx="27432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32754"/>
                </a:solidFill>
                <a:latin typeface="Work Sans"/>
              </a:rPr>
              <a:t>LinkedIn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719072"/>
            <a:ext cx="713232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Le compte branché est celui de Leslie, sans droit d'administration de la page Mstudio : la lecture des statistiques est refusée.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43200"/>
            <a:ext cx="11064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nstagram_br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971800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" y="2834640"/>
            <a:ext cx="27432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32754"/>
                </a:solidFill>
                <a:latin typeface="Work Sans"/>
              </a:rPr>
              <a:t>Instagram et Facebook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816352"/>
            <a:ext cx="713232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Pas connectés. Il faut un compte professionnel relié à une page Facebook.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11064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globe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069080"/>
            <a:ext cx="502920" cy="502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54480" y="3931920"/>
            <a:ext cx="27432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32754"/>
                </a:solidFill>
                <a:latin typeface="Work Sans"/>
              </a:rPr>
              <a:t>Site mstudio.vc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913632"/>
            <a:ext cx="713232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Aucune mesure d'audience branchée : impossible de compter les contacts venus du site.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59"/>
            <a:ext cx="11064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essage-circle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166359"/>
            <a:ext cx="502920" cy="502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54480" y="5029199"/>
            <a:ext cx="27432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32754"/>
                </a:solidFill>
                <a:latin typeface="Work Sans"/>
              </a:rPr>
              <a:t>Newsletter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5010912"/>
            <a:ext cx="713232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Aucun outil d'envoi branché, pas de liste d'abonnés connue.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6080760"/>
            <a:ext cx="11064240" cy="502920"/>
          </a:xfrm>
          <a:prstGeom prst="roundRect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099048"/>
            <a:ext cx="106984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Work Sans"/>
              </a:rPr>
              <a:t>Le plus rapide : donner à Fatima l'accès administrateur de la page LinkedIn Mstudio (5 minutes).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4 /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Mstudio · Tableau de bord marketing et contenu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32754"/>
                </a:solidFill>
                <a:latin typeface="Funnel Display"/>
              </a:rPr>
              <a:t>Livrables de la semaine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Chaque titre ouvre le document. Une sélection : la liste complète est dans le journal du jour.</a:t>
            </a:r>
          </a:p>
        </p:txBody>
      </p:sp>
      <p:pic>
        <p:nvPicPr>
          <p:cNvPr id="6" name="Picture 5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84048"/>
            <a:ext cx="116884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45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109728" cy="10058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19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3"/>
              </a:rPr>
              <a:t>Audit Leslie Ossété · LinkedIn et Instagram, 41 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719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24/10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645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79" y="1645920"/>
            <a:ext cx="109728" cy="10058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1719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4"/>
              </a:rPr>
              <a:t>Audit Renée Mariame Konaté · 41 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1719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25/10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88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788920"/>
            <a:ext cx="109728" cy="10058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862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5"/>
              </a:rPr>
              <a:t>Audit Nabou Fall · 45 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862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25/10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2788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79" y="2788920"/>
            <a:ext cx="109728" cy="10058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799" y="2862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6"/>
              </a:rPr>
              <a:t>Awards Entreprises Africaines · étude, 34 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862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23/10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31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931920"/>
            <a:ext cx="109728" cy="10058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005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7"/>
              </a:rPr>
              <a:t>Awards · plan hors-média, 33 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005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23/10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79" y="3931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79" y="3931920"/>
            <a:ext cx="109728" cy="10058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799" y="4005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8"/>
              </a:rPr>
              <a:t>Ivoire Tech · calendrier de la cérémonie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69880" y="4005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21/10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074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074920"/>
            <a:ext cx="109728" cy="10058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148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9"/>
              </a:rPr>
              <a:t>UMO Intérim · audit Facebook et LinkedIn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5148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23/10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79" y="5074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79" y="5074920"/>
            <a:ext cx="109728" cy="10058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799" y="5148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10"/>
              </a:rPr>
              <a:t>Wave · étude des commerçants des marchés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69880" y="5148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23/10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5 / 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Mstudio · Tableau de bord marketing et contenu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32754"/>
                </a:solidFill>
                <a:latin typeface="Funnel Display"/>
              </a:rPr>
              <a:t>Livrables de la semaine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Chaque titre ouvre le document. Une sélection : la liste complète est dans le journal du jour.</a:t>
            </a:r>
          </a:p>
        </p:txBody>
      </p:sp>
      <p:pic>
        <p:nvPicPr>
          <p:cNvPr id="6" name="Picture 5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84048"/>
            <a:ext cx="116884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45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109728" cy="1005840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19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3"/>
              </a:rPr>
              <a:t>MTN · campagne « Ton talent a du réseau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719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22/10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645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79" y="1645920"/>
            <a:ext cx="109728" cy="1005840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1719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4"/>
              </a:rPr>
              <a:t>MTN · lancement de l'offre étudiants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1719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22/10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88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788920"/>
            <a:ext cx="109728" cy="1005840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862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5"/>
              </a:rPr>
              <a:t>COTIPLAST · 5 publications avec visuels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862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22/10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2788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79" y="2788920"/>
            <a:ext cx="109728" cy="1005840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799" y="2862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6"/>
              </a:rPr>
              <a:t>Barry Callebaut · veille quotidienne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862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23/10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31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931920"/>
            <a:ext cx="109728" cy="1005840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005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7"/>
              </a:rPr>
              <a:t>Origin7 · plan média janvier, 5 M 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005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20/10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79" y="3931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79" y="3931920"/>
            <a:ext cx="109728" cy="1005840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799" y="4005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8"/>
              </a:rPr>
              <a:t>Unifood · positionnement, voix des clients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69880" y="4005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20/10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074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074920"/>
            <a:ext cx="109728" cy="1005840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148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9"/>
              </a:rPr>
              <a:t>Benchmark marques · CAC 40, Côte d'Ivoire, État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5148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24/10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79" y="5074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79" y="5074920"/>
            <a:ext cx="109728" cy="1005840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799" y="5148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10"/>
              </a:rPr>
              <a:t>Totem Experience · maquette du site, 11 pages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69880" y="5148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24/10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6 / 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Mstudio · Tableau de bord marketing et contenu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32754"/>
                </a:solidFill>
                <a:latin typeface="Funnel Display"/>
              </a:rPr>
              <a:t>Ce qui attend votre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Rien de tout cela ne sort sans un accord écrit.</a:t>
            </a:r>
          </a:p>
        </p:txBody>
      </p:sp>
      <p:pic>
        <p:nvPicPr>
          <p:cNvPr id="6" name="Picture 5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84048"/>
            <a:ext cx="116884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45920"/>
            <a:ext cx="11064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lendar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0240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54480" y="1719072"/>
            <a:ext cx="384048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Ivoire Tech, jeudi 30 octobre à 17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719072"/>
            <a:ext cx="603504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Calendrier, annonce et kits des lauréats prêts. Le post de Leslie se complète après la cérémonie.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11064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en-tool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08960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" y="2907792"/>
            <a:ext cx="384048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Renée et Nabou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907792"/>
            <a:ext cx="603504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Les posts proposés doivent être validés par chacune. Trois faits sont à leur faire confirmer.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11064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video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97680"/>
            <a:ext cx="502920" cy="502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54480" y="4096512"/>
            <a:ext cx="384048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Leslie et PodLab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4096512"/>
            <a:ext cx="603504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La vidéo en collaboration attend l'accord du compte @podlab.so.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12080"/>
            <a:ext cx="11064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lag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486400"/>
            <a:ext cx="502920" cy="502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54480" y="5285232"/>
            <a:ext cx="384048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Awards des Entreprises Africaines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5285232"/>
            <a:ext cx="603504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La brochure donne quatre dates différentes. Il faut le lieu et l'heure du 26 mars, et le budget.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7 /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Mstudio · Tableau de bord marketing et contenu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32754"/>
                </a:solidFill>
                <a:latin typeface="Funnel Display"/>
              </a:rPr>
              <a:t>Apprentissages et prochaines étapes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84048"/>
            <a:ext cx="1168842" cy="3840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371600"/>
            <a:ext cx="35661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566160" cy="109728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ghtbulb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169164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1691640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32754"/>
                </a:solidFill>
                <a:latin typeface="Work Sans"/>
              </a:rPr>
              <a:t>Ce qu'on a appris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68880"/>
            <a:ext cx="3063240" cy="3840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Les récits personnels battent les annonces : 832 interactions contre 266 chez Nabou Fall.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Les documents attendus sont des Slides paginés et visuels, jamais du texte brut (24/10).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371600"/>
            <a:ext cx="35661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371600"/>
            <a:ext cx="3566160" cy="109728"/>
          </a:xfrm>
          <a:prstGeom prst="rect">
            <a:avLst/>
          </a:prstGeom>
          <a:solidFill>
            <a:srgbClr val="E37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lert-triangle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1691640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12079" y="1691640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32754"/>
                </a:solidFill>
                <a:latin typeface="Work Sans"/>
              </a:rPr>
              <a:t>Défis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468880"/>
            <a:ext cx="3063240" cy="3840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38 dossiers en une semaine : la qualité se tient en relisant chaque page dans son rendu réel.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Sans statistiques privées, les audits mesurent les interactions, pas la portée.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371600"/>
            <a:ext cx="35661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371600"/>
            <a:ext cx="3566160" cy="109728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oute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1691640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61119" y="1691640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32754"/>
                </a:solidFill>
                <a:latin typeface="Work Sans"/>
              </a:rPr>
              <a:t>Prochaines étapes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468880"/>
            <a:ext cx="3063240" cy="3840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Accès administrateur LinkedIn Mstudio, puis Instagram et Facebook.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Un calendrier Mstudio validé, pour suivre l'indicateur « calendrier tenu ».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8 /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Mstudio · Tableau de bord marketing et contenu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