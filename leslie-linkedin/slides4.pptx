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_diaspo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1192" y="0"/>
            <a:ext cx="4937760" cy="6858000"/>
          </a:xfrm>
          <a:prstGeom prst="rect">
            <a:avLst/>
          </a:prstGeom>
        </p:spPr>
      </p:pic>
      <p:pic>
        <p:nvPicPr>
          <p:cNvPr id="4" name="Picture 3" descr="logo_mstudio_blanc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1572249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73736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0AED4"/>
                </a:solidFill>
                <a:latin typeface="Space Grotesk"/>
              </a:rPr>
              <a:t>ANALYSE ET VEILLE DES RÉSEAUX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640080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Funnel Display"/>
              </a:rPr>
              <a:t>Leslie Ossété sur LinkedIn et Instagram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62179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Work Sans"/>
              </a:rPr>
              <a:t>Ce qui marche, ce qui freine, comment elle se situe face à six dirigeantes de l'écosystème, et quoi faire en novembre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349240"/>
            <a:ext cx="1097280" cy="36576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486400"/>
            <a:ext cx="6400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B9C3D6"/>
                </a:solidFill>
                <a:latin typeface="Work Sans"/>
              </a:rPr>
              <a:t>Du 1er janvier au 24 octobre 2026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B9C3D6"/>
                </a:solidFill>
                <a:latin typeface="Work Sans"/>
              </a:rPr>
              <a:t>Relevé du 24 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PÉRIMÈTRE ET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Ce que nous avons regardé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2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26517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400" b="1">
                <a:solidFill>
                  <a:srgbClr val="232754"/>
                </a:solidFill>
                <a:latin typeface="Funnel Display"/>
              </a:rPr>
              <a:t>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06039"/>
            <a:ext cx="26517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2B2A35"/>
                </a:solidFill>
                <a:latin typeface="Work Sans"/>
              </a:rPr>
              <a:t>publications LinkedIn de Leslie, du 12 janvier au 7 octobre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737360"/>
            <a:ext cx="26517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400" b="1">
                <a:solidFill>
                  <a:srgbClr val="232754"/>
                </a:solidFill>
                <a:latin typeface="Funnel Display"/>
              </a:rPr>
              <a:t>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606039"/>
            <a:ext cx="26517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2B2A35"/>
                </a:solidFill>
                <a:latin typeface="Work Sans"/>
              </a:rPr>
              <a:t>publications Instagram où elle apparaît, dont 11 sur son propre compte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737360"/>
            <a:ext cx="26517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400" b="1">
                <a:solidFill>
                  <a:srgbClr val="232754"/>
                </a:solidFill>
                <a:latin typeface="Funnel Display"/>
              </a:rPr>
              <a:t>89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606039"/>
            <a:ext cx="26517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2B2A35"/>
                </a:solidFill>
                <a:latin typeface="Work Sans"/>
              </a:rPr>
              <a:t>publications de la page Mstudio, comme repère interne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1737360"/>
            <a:ext cx="28346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400" b="1">
                <a:solidFill>
                  <a:srgbClr val="232754"/>
                </a:solidFill>
                <a:latin typeface="Funnel Display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606039"/>
            <a:ext cx="28346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2B2A35"/>
                </a:solidFill>
                <a:latin typeface="Work Sans"/>
              </a:rPr>
              <a:t>dirigeantes de l'écosystème africain comparées, 114 publications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31920"/>
            <a:ext cx="11091672" cy="219456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069080"/>
            <a:ext cx="1060704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232754"/>
                </a:solidFill>
                <a:latin typeface="Work Sans"/>
              </a:rPr>
              <a:t>Comment lire les chiffres. </a:t>
            </a:r>
            <a:r>
              <a:rPr sz="1300" b="0">
                <a:solidFill>
                  <a:srgbClr val="2B2A35"/>
                </a:solidFill>
                <a:latin typeface="Work Sans"/>
              </a:rPr>
              <a:t>Une « interaction » est une réaction, un commentaire ou un partage. Nous retenons la médiane (la publication du milieu) plutôt que la moyenne, pour qu'un succès isolé ne fausse pas la lecture.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232754"/>
                </a:solidFill>
                <a:latin typeface="Work Sans"/>
              </a:rPr>
              <a:t>Ce qui n'est pas dedans. </a:t>
            </a:r>
            <a:r>
              <a:rPr sz="1300" b="0">
                <a:solidFill>
                  <a:srgbClr val="2B2A35"/>
                </a:solidFill>
                <a:latin typeface="Work Sans"/>
              </a:rPr>
              <a:t>La portée, les visites du profil et les abonnés gagnés ne se voient que depuis le compte de Leslie. Une capture de ses statistiques LinkedIn et Instagram suffirait à compléter.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232754"/>
                </a:solidFill>
                <a:latin typeface="Work Sans"/>
              </a:rPr>
              <a:t>Sources. </a:t>
            </a:r>
            <a:r>
              <a:rPr sz="1300" b="0">
                <a:solidFill>
                  <a:srgbClr val="2B2A35"/>
                </a:solidFill>
                <a:latin typeface="Work Sans"/>
              </a:rPr>
              <a:t>Profils publics linkedin.com/in/leslieossete et instagram.com/leslieossete, relevés le 24 octobre 2026. Les publications récentes peuvent encore progresser.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L'ESSENTIEL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Trois points à retenir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3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37360"/>
            <a:ext cx="3566160" cy="438912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37360"/>
            <a:ext cx="3566160" cy="73152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965960"/>
            <a:ext cx="31089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800" b="1">
                <a:solidFill>
                  <a:srgbClr val="232754"/>
                </a:solidFill>
                <a:latin typeface="Funnel Display"/>
              </a:rPr>
              <a:t>121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017520"/>
            <a:ext cx="310896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232754"/>
                </a:solidFill>
                <a:latin typeface="Work Sans"/>
              </a:rPr>
              <a:t>interactions par publication sur LinkedIn, contre 55 pour la page Mstudio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343400"/>
            <a:ext cx="310896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Leslie est la voix la plus écoutée de Mstudio. Cédric n'a publié que deux partages depuis janvier.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1737360"/>
            <a:ext cx="3566160" cy="438912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5968" y="1737360"/>
            <a:ext cx="3566160" cy="73152"/>
          </a:xfrm>
          <a:prstGeom prst="rect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1965960"/>
            <a:ext cx="31089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800" b="1">
                <a:solidFill>
                  <a:srgbClr val="232754"/>
                </a:solidFill>
                <a:latin typeface="Funnel Display"/>
              </a:rPr>
              <a:t>×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3017520"/>
            <a:ext cx="310896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232754"/>
                </a:solidFill>
                <a:latin typeface="Work Sans"/>
              </a:rPr>
              <a:t>pour un récit ou un retour d'expérience face à une annonce d'événement (187 contre 88)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4343400"/>
            <a:ext cx="310896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Or depuis août, 5 publications sur 9 sont des annonces, et la réponse baisse : 81 au lieu de 130.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737360"/>
            <a:ext cx="3566160" cy="438912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1737360"/>
            <a:ext cx="3566160" cy="73152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7616" y="1965960"/>
            <a:ext cx="31089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800" b="1">
                <a:solidFill>
                  <a:srgbClr val="232754"/>
                </a:solidFill>
                <a:latin typeface="Funnel Display"/>
              </a:rPr>
              <a:t>40 j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7616" y="3017520"/>
            <a:ext cx="310896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232754"/>
                </a:solidFill>
                <a:latin typeface="Work Sans"/>
              </a:rPr>
              <a:t>sans publication sur Instagram, du 8 août au 17 septembre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7616" y="4343400"/>
            <a:ext cx="310896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Instagram rapporte plus par abonné que LinkedIn (64 j'aime pour 1 172 abonnés), mais reste un compte d'appoint : 11 publications en dix mois.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RECOMMANDATIONS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Les recommandations, de la plus rentable à la moins rentable (1/2)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4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3566160" cy="4572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37360"/>
            <a:ext cx="64008" cy="429768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709928"/>
            <a:ext cx="6400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00AED4"/>
                </a:solidFill>
                <a:latin typeface="Funnel Display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783080"/>
            <a:ext cx="2606039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32754"/>
                </a:solidFill>
                <a:latin typeface="Funnel Display"/>
              </a:rPr>
              <a:t>Raconter l'événement après, plutôt que l'annoncer avant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06040"/>
            <a:ext cx="3154679" cy="3474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Constat  </a:t>
            </a:r>
            <a:r>
              <a:rPr sz="1200" b="0">
                <a:solidFill>
                  <a:srgbClr val="2B2A35"/>
                </a:solidFill>
                <a:latin typeface="Work Sans"/>
              </a:rPr>
              <a:t>13 annonces : 88 interactions médianes. 7 récits : 187. Le retour de Nairobi (279) a fait plus de cinq fois l'annonce de la séance Yamify (53).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On change  </a:t>
            </a:r>
            <a:r>
              <a:rPr sz="1200" b="0">
                <a:solidFill>
                  <a:srgbClr val="2B2A35"/>
                </a:solidFill>
                <a:latin typeface="Work Sans"/>
              </a:rPr>
              <a:t>Après chaque intervention, un récit : une scène, une phrase entendue, la leçon de Leslie. Les annonces passent sur la page Mstudio.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On mesure  </a:t>
            </a:r>
            <a:r>
              <a:rPr sz="1200" b="0">
                <a:solidFill>
                  <a:srgbClr val="2B2A35"/>
                </a:solidFill>
                <a:latin typeface="Work Sans"/>
              </a:rPr>
              <a:t>Médiane des 8 prochaines publications au-dessus de 120.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1600200"/>
            <a:ext cx="3566160" cy="4572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5968" y="1737360"/>
            <a:ext cx="64008" cy="429768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1709928"/>
            <a:ext cx="6400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00AED4"/>
                </a:solidFill>
                <a:latin typeface="Funnel Display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7" y="1783080"/>
            <a:ext cx="2606039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32754"/>
                </a:solidFill>
                <a:latin typeface="Funnel Display"/>
              </a:rPr>
              <a:t>Deux publications par semaine, lundi 8 h 30 et mardi 9 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2606040"/>
            <a:ext cx="3154679" cy="3474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Constat  </a:t>
            </a:r>
            <a:r>
              <a:rPr sz="1200" b="0">
                <a:solidFill>
                  <a:srgbClr val="2B2A35"/>
                </a:solidFill>
                <a:latin typeface="Work Sans"/>
              </a:rPr>
              <a:t>1,2 publication par semaine, six silences de 15 jours ou plus, dont celui en cours. Lundi : 139,5 de médiane (16 posts). Mercredi : 61 (8 posts).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On change  </a:t>
            </a:r>
            <a:r>
              <a:rPr sz="1200" b="0">
                <a:solidFill>
                  <a:srgbClr val="2B2A35"/>
                </a:solidFill>
                <a:latin typeface="Work Sans"/>
              </a:rPr>
              <a:t>Deux créneaux fixes, préparés le jeudi précédent.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On mesure  </a:t>
            </a:r>
            <a:r>
              <a:rPr sz="1200" b="0">
                <a:solidFill>
                  <a:srgbClr val="2B2A35"/>
                </a:solidFill>
                <a:latin typeface="Work Sans"/>
              </a:rPr>
              <a:t>Aucun silence de plus de 10 jours d'ici fin décembre.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600200"/>
            <a:ext cx="3566160" cy="4572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1737360"/>
            <a:ext cx="64008" cy="429768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11896" y="1709928"/>
            <a:ext cx="6400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00AED4"/>
                </a:solidFill>
                <a:latin typeface="Funnel Display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0536" y="1783080"/>
            <a:ext cx="2606039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32754"/>
                </a:solidFill>
                <a:latin typeface="Funnel Display"/>
              </a:rPr>
              <a:t>Une vidéo courte par prise de parole, sur LinkedIn et Instagram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6" y="2606040"/>
            <a:ext cx="3154679" cy="3474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Constat  </a:t>
            </a:r>
            <a:r>
              <a:rPr sz="1200" b="0">
                <a:solidFill>
                  <a:srgbClr val="2B2A35"/>
                </a:solidFill>
                <a:latin typeface="Work Sans"/>
              </a:rPr>
              <a:t>8 vidéos LinkedIn : 202 de médiane, contre 120 pour un texte avec image. Aucune n'a été publiée en vidéo sur son propre compte Instagram.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On change  </a:t>
            </a:r>
            <a:r>
              <a:rPr sz="1200" b="0">
                <a:solidFill>
                  <a:srgbClr val="2B2A35"/>
                </a:solidFill>
                <a:latin typeface="Work Sans"/>
              </a:rPr>
              <a:t>Demander l'extrait à chaque organisateur, le publier sur LinkedIn puis en vidéo courte sur Instagram.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On mesure  </a:t>
            </a:r>
            <a:r>
              <a:rPr sz="1200" b="0">
                <a:solidFill>
                  <a:srgbClr val="2B2A35"/>
                </a:solidFill>
                <a:latin typeface="Work Sans"/>
              </a:rPr>
              <a:t>Deux vidéos en novembre, médiane LinkedIn au-dessus de 150.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RECOMMANDATIONS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Les recommandations, de la plus rentable à la moins rentable (2/2)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5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5440680" cy="4572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37360"/>
            <a:ext cx="64008" cy="429768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709928"/>
            <a:ext cx="6400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00AED4"/>
                </a:solidFill>
                <a:latin typeface="Funnel Display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783080"/>
            <a:ext cx="448056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32754"/>
                </a:solidFill>
                <a:latin typeface="Funnel Display"/>
              </a:rPr>
              <a:t>Une rubrique mensuelle à son nom : un chiffre, une position, une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06040"/>
            <a:ext cx="5029200" cy="3474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Constat  </a:t>
            </a:r>
            <a:r>
              <a:rPr sz="1200" b="0">
                <a:solidFill>
                  <a:srgbClr val="2B2A35"/>
                </a:solidFill>
                <a:latin typeface="Work Sans"/>
              </a:rPr>
              <a:t>Médiane : 3 commentaires. Les publications à plus de 13 commentaires apportent toutes un chiffre ou une position : les 3 ans de Mstudio (56), PodLab (31), la mobilité électrique (18), les levées en UEMOA (14). Chez les pairs, les rubriques nommées tiennent la régularité : « #impactstories » de Mariéme Jamme, la « Chronique N°1 » de Diane Audrey Ngako (397, sa meilleure publication).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On change  </a:t>
            </a:r>
            <a:r>
              <a:rPr sz="1200" b="0">
                <a:solidFill>
                  <a:srgbClr val="2B2A35"/>
                </a:solidFill>
                <a:latin typeface="Work Sans"/>
              </a:rPr>
              <a:t>Une rubrique « Sans filtre », le nom déjà porté par sa bio Instagram, une fois par mois, terminée par une question précise.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On mesure  </a:t>
            </a:r>
            <a:r>
              <a:rPr sz="1200" b="0">
                <a:solidFill>
                  <a:srgbClr val="2B2A35"/>
                </a:solidFill>
                <a:latin typeface="Work Sans"/>
              </a:rPr>
              <a:t>10 commentaires ou plus sur chaque numéro.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600200"/>
            <a:ext cx="5440680" cy="4572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1737360"/>
            <a:ext cx="64008" cy="429768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1709928"/>
            <a:ext cx="6400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00AED4"/>
                </a:solidFill>
                <a:latin typeface="Funnel Display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6872" y="1783080"/>
            <a:ext cx="448056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32754"/>
                </a:solidFill>
                <a:latin typeface="Funnel Display"/>
              </a:rPr>
              <a:t>Faire d'Instagram le compte des coulisses, une fois par semaine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606040"/>
            <a:ext cx="5029200" cy="3474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Constat  </a:t>
            </a:r>
            <a:r>
              <a:rPr sz="1200" b="0">
                <a:solidFill>
                  <a:srgbClr val="2B2A35"/>
                </a:solidFill>
                <a:latin typeface="Work Sans"/>
              </a:rPr>
              <a:t>Sur Instagram, une publication de Leslie fait 64 j'aime pour 1 172 abonnés, soit près de huit fois plus par abonné que sur LinkedIn. Mais 11 publications en dix mois, un silence de 40 jours, et la bio « J'aide les entrepreneurs africains » ne cite ni Mstudio ni le studio. Sa publication la plus aimée est personnelle (la plage, 117).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On change  </a:t>
            </a:r>
            <a:r>
              <a:rPr sz="1200" b="0">
                <a:solidFill>
                  <a:srgbClr val="2B2A35"/>
                </a:solidFill>
                <a:latin typeface="Work Sans"/>
              </a:rPr>
              <a:t>Un carrousel par semaine tiré du récit LinkedIn, avec une photo où on la voit. Bio : ajouter « Cofondatrice de Mstudio ».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Space Grotesk"/>
              </a:rPr>
              <a:t>On mesure  </a:t>
            </a:r>
            <a:r>
              <a:rPr sz="1200" b="0">
                <a:solidFill>
                  <a:srgbClr val="2B2A35"/>
                </a:solidFill>
                <a:latin typeface="Work Sans"/>
              </a:rPr>
              <a:t>Une publication par semaine, abonnés au-dessus de 1 300 fin décembre.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PREMIER 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Le premier lot, prêt à valider : LinkedIn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6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54480"/>
            <a:ext cx="544068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54480"/>
            <a:ext cx="5440680" cy="502920"/>
          </a:xfrm>
          <a:prstGeom prst="rect">
            <a:avLst/>
          </a:prstGeom>
          <a:solidFill>
            <a:srgbClr val="23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27632"/>
            <a:ext cx="507492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Space Grotesk"/>
              </a:rPr>
              <a:t>LUNDI 26 OCTOBRE · 8 H 30 · LINKEDIN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194560"/>
            <a:ext cx="4983480" cy="3931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2B2A35"/>
                </a:solidFill>
                <a:latin typeface="Work Sans"/>
              </a:rPr>
              <a:t>Les candidatures de Diaspora Connect sont closes depuis le 18 octobre.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2B2A35"/>
                </a:solidFill>
                <a:latin typeface="Work Sans"/>
              </a:rPr>
              <a:t>Plus de 60 offres étaient ouvertes pour cette édition.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2B2A35"/>
                </a:solidFill>
                <a:latin typeface="Work Sans"/>
              </a:rPr>
              <a:t>Ce programme part d'une conviction simple : choisir l'Afrique est un pari économique, pas un sacrifice.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2B2A35"/>
                </a:solidFill>
                <a:latin typeface="Work Sans"/>
              </a:rPr>
              <a:t>Merci à toutes celles et ceux qui ont postulé, et aux entreprises qui ont ouvert leurs postes.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2B2A35"/>
                </a:solidFill>
                <a:latin typeface="Work Sans"/>
              </a:rPr>
              <a:t>À celles et ceux qui ont hésité à postuler cette fois : qu'est-ce qui vous a retenus ? Je lis tout en commentaire 👇🏾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2B2A35"/>
                </a:solidFill>
                <a:latin typeface="Work Sans"/>
              </a:rPr>
              <a:t>#DiasporaConnect #Abidjan #Talents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554480"/>
            <a:ext cx="544068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554480"/>
            <a:ext cx="5440680" cy="502920"/>
          </a:xfrm>
          <a:prstGeom prst="rect">
            <a:avLst/>
          </a:prstGeom>
          <a:solidFill>
            <a:srgbClr val="23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627632"/>
            <a:ext cx="507492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Space Grotesk"/>
              </a:rPr>
              <a:t>MARDI 27 OCTOBRE · 9 H · LINKEDIN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194560"/>
            <a:ext cx="4983480" cy="3931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Cette année, je suis revenue trois fois sur le même sujet sans l'avoir prévu.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En mai, le pire moment de mes trois ans au Mstudio : deux cofondateurs qui ne se parlaient plus.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En juillet, à Paris, un dîner Entourage sur le prix de l'isolement.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Samedi 17 octobre, au Tipping Point, une idée que je garde : c'est rarement le métier qui épuise, ce sont les gens.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Un fondateur peut être entouré d'investisseurs et d'équipes, et rester seul au moment des vraies décisions.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Fondateurs, à qui parlez-vous quand une décision vous empêche de dormir ? Un associé, un mentor, personne ?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#Entrepreneuriat #Cofondateurs #Afrique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PREMIER 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Le premier lot, prêt à valider : Instagram et la cérémonie Ivoire Tech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7 / 16</a:t>
            </a:r>
          </a:p>
        </p:txBody>
      </p:sp>
      <p:pic>
        <p:nvPicPr>
          <p:cNvPr id="10" name="Picture 9" descr="c_tipp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3291840" cy="238714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023360" y="1554480"/>
            <a:ext cx="361188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60" y="1554480"/>
            <a:ext cx="3611880" cy="502920"/>
          </a:xfrm>
          <a:prstGeom prst="rect">
            <a:avLst/>
          </a:prstGeom>
          <a:solidFill>
            <a:srgbClr val="23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627632"/>
            <a:ext cx="324612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Space Grotesk"/>
              </a:rPr>
              <a:t>JEUDI 29 OCTOBRE · 19 H · INSTAGRAM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194560"/>
            <a:ext cx="3154680" cy="3931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Carrousel « Sans filtre #1 » (5 images)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1. « Au bureau, tu es remplaçable. Pour toi-même, tu ne l'es pas. »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2. Écouter son intuition : elle sait souvent avant nous quand partir.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3. Bien s'entourer : c'est rarement le métier qui épuise, ce sont les gens.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4. Photo du panel Tipping Point.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5. « Et toi, c'était quoi ton premier pas ? »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Légende : reprise du post du 20 octobre, avec la question en tête.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554480"/>
            <a:ext cx="3822191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0" y="1554480"/>
            <a:ext cx="3822191" cy="502920"/>
          </a:xfrm>
          <a:prstGeom prst="rect">
            <a:avLst/>
          </a:prstGeom>
          <a:solidFill>
            <a:srgbClr val="23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1627632"/>
            <a:ext cx="3456432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Space Grotesk"/>
              </a:rPr>
              <a:t>LUNDI 2 NOVEMBRE · 8 H 30 · LINKEDIN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194560"/>
            <a:ext cx="3364991" cy="3931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Trame à remplir avec Leslie après la cérémonie Ivoire Tech du 30 octobre :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1. La scène : un moment précis de la soirée.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2. Le fait : combien de lauréats, Next 15 et Scale Up.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3. Ce que cela dit : deux programmes pour deux réalités (son post du 31 juillet, 166 interactions).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4. La suite pour les lauréats, en une phrase.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5. Une question aux fondateurs ivoiriens.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Format : photo où on la voit, ou extrait vidéo de 60 secondes.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069080"/>
            <a:ext cx="329184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F8F9A"/>
                </a:solidFill>
                <a:latin typeface="Work Sans"/>
              </a:rPr>
              <a:t>Visuel conseillé pour le carrousel : la photo du panel déjà publiée le 20 octobre.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F8F9A"/>
                </a:solidFill>
                <a:latin typeface="Work Sans"/>
              </a:rPr>
              <a:t>Rien ne part sans l'accord de Leslie.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RELEVÉ ·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LinkedIn : le rythme et la réponse baissent ensemble depuis août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8 / 16</a:t>
            </a:r>
          </a:p>
        </p:txBody>
      </p:sp>
      <p:pic>
        <p:nvPicPr>
          <p:cNvPr id="10" name="Picture 9" descr="01_mo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7589520" cy="37947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412480" y="1600200"/>
            <a:ext cx="3227832" cy="4572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783080"/>
            <a:ext cx="2834640" cy="4297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232754"/>
                </a:solidFill>
                <a:latin typeface="Work Sans"/>
              </a:rPr>
              <a:t>Mai</a:t>
            </a:r>
            <a:r>
              <a:rPr sz="1250" b="0">
                <a:solidFill>
                  <a:srgbClr val="2B2A35"/>
                </a:solidFill>
                <a:latin typeface="Work Sans"/>
              </a:rPr>
              <a:t> a été le mois le plus actif : 11 publications, Nairobi et le podcast PodLab.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232754"/>
                </a:solidFill>
                <a:latin typeface="Work Sans"/>
              </a:rPr>
              <a:t>Février</a:t>
            </a:r>
            <a:r>
              <a:rPr sz="1250" b="0">
                <a:solidFill>
                  <a:srgbClr val="2B2A35"/>
                </a:solidFill>
                <a:latin typeface="Work Sans"/>
              </a:rPr>
              <a:t> a eu les meilleurs scores, porté par les 3 ans de Mstudio (381 interactions, 56 commentaires).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232754"/>
                </a:solidFill>
                <a:latin typeface="Work Sans"/>
              </a:rPr>
              <a:t>D'août à octobre</a:t>
            </a:r>
            <a:r>
              <a:rPr sz="1250" b="0">
                <a:solidFill>
                  <a:srgbClr val="2B2A35"/>
                </a:solidFill>
                <a:latin typeface="Work Sans"/>
              </a:rPr>
              <a:t> : 9 publications, 81 interactions médianes, contre 130 de janvier à juillet.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RELEVÉ ·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LinkedIn : ce qui marche, par sujet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9 / 16</a:t>
            </a:r>
          </a:p>
        </p:txBody>
      </p:sp>
      <p:pic>
        <p:nvPicPr>
          <p:cNvPr id="10" name="Picture 9" descr="02_suj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7589520" cy="360502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412480" y="1600200"/>
            <a:ext cx="3227832" cy="4572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783080"/>
            <a:ext cx="2834640" cy="4297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232754"/>
                </a:solidFill>
                <a:latin typeface="Work Sans"/>
              </a:rPr>
              <a:t>Les récits</a:t>
            </a:r>
            <a:r>
              <a:rPr sz="1250" b="0">
                <a:solidFill>
                  <a:srgbClr val="2B2A35"/>
                </a:solidFill>
                <a:latin typeface="Work Sans"/>
              </a:rPr>
              <a:t> font deux fois mieux que les annonces.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232754"/>
                </a:solidFill>
                <a:latin typeface="Work Sans"/>
              </a:rPr>
              <a:t>Les annonces</a:t>
            </a:r>
            <a:r>
              <a:rPr sz="1250" b="0">
                <a:solidFill>
                  <a:srgbClr val="2B2A35"/>
                </a:solidFill>
                <a:latin typeface="Work Sans"/>
              </a:rPr>
              <a:t> sont le sujet le plus fréquent (13 sur 49) et le moins suivi.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232754"/>
                </a:solidFill>
                <a:latin typeface="Work Sans"/>
              </a:rPr>
              <a:t>Analyse et convictions</a:t>
            </a:r>
            <a:r>
              <a:rPr sz="1250" b="0">
                <a:solidFill>
                  <a:srgbClr val="2B2A35"/>
                </a:solidFill>
                <a:latin typeface="Work Sans"/>
              </a:rPr>
              <a:t> : le cœur du profil (14 publications), solide sans être le plus fort.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232754"/>
                </a:solidFill>
                <a:latin typeface="Work Sans"/>
              </a:rPr>
              <a:t>Moins de 5 publications</a:t>
            </a:r>
            <a:r>
              <a:rPr sz="1250" b="0">
                <a:solidFill>
                  <a:srgbClr val="2B2A35"/>
                </a:solidFill>
                <a:latin typeface="Work Sans"/>
              </a:rPr>
              <a:t> derrière une barre : un signal, pas une preuve.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RELEVÉ ·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LinkedIn : la vidéo et le lundi gagnent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10 / 16</a:t>
            </a:r>
          </a:p>
        </p:txBody>
      </p:sp>
      <p:pic>
        <p:nvPicPr>
          <p:cNvPr id="10" name="Picture 9" descr="03_formats_jou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7589520" cy="341528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412480" y="1600200"/>
            <a:ext cx="3227832" cy="4572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783080"/>
            <a:ext cx="2834640" cy="4297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232754"/>
                </a:solidFill>
                <a:latin typeface="Work Sans"/>
              </a:rPr>
              <a:t>Vidéo</a:t>
            </a:r>
            <a:r>
              <a:rPr sz="1250" b="0">
                <a:solidFill>
                  <a:srgbClr val="2B2A35"/>
                </a:solidFill>
                <a:latin typeface="Work Sans"/>
              </a:rPr>
              <a:t> : 202 de médiane, presque le double du texte avec image.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232754"/>
                </a:solidFill>
                <a:latin typeface="Work Sans"/>
              </a:rPr>
              <a:t>Lundi</a:t>
            </a:r>
            <a:r>
              <a:rPr sz="1250" b="0">
                <a:solidFill>
                  <a:srgbClr val="2B2A35"/>
                </a:solidFill>
                <a:latin typeface="Work Sans"/>
              </a:rPr>
              <a:t> : le meilleur jour, et le plus utilisé (16 publications).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232754"/>
                </a:solidFill>
                <a:latin typeface="Work Sans"/>
              </a:rPr>
              <a:t>Mercredi</a:t>
            </a:r>
            <a:r>
              <a:rPr sz="1250" b="0">
                <a:solidFill>
                  <a:srgbClr val="2B2A35"/>
                </a:solidFill>
                <a:latin typeface="Work Sans"/>
              </a:rPr>
              <a:t> : le plus faible (61), à éviter.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232754"/>
                </a:solidFill>
                <a:latin typeface="Work Sans"/>
              </a:rPr>
              <a:t>Heure</a:t>
            </a:r>
            <a:r>
              <a:rPr sz="1250" b="0">
                <a:solidFill>
                  <a:srgbClr val="2B2A35"/>
                </a:solidFill>
                <a:latin typeface="Work Sans"/>
              </a:rPr>
              <a:t> : 8 h et 9 h font mieux que 10 h (134 et 141 contre 88).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RELEVÉ ·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LinkedIn : les meilleures et les moins bonnes publications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11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ADA4"/>
                </a:solidFill>
                <a:latin typeface="Space Grotesk"/>
              </a:rPr>
              <a:t>LES CINQ MEILLEURES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874519"/>
          <a:ext cx="5440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657600"/>
                <a:gridCol w="11430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Work Sans"/>
                        </a:rPr>
                        <a:t>Date</a:t>
                      </a:r>
                    </a:p>
                  </a:txBody>
                  <a:tcPr>
                    <a:solidFill>
                      <a:srgbClr val="00A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Work Sans"/>
                        </a:rPr>
                        <a:t>Publication</a:t>
                      </a:r>
                    </a:p>
                  </a:txBody>
                  <a:tcPr>
                    <a:solidFill>
                      <a:srgbClr val="00ADA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Work Sans"/>
                        </a:rPr>
                        <a:t>Total</a:t>
                      </a:r>
                    </a:p>
                  </a:txBody>
                  <a:tcPr>
                    <a:solidFill>
                      <a:srgbClr val="00ADA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24/02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3 ans de Mstudio : les chiffres et la méthode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381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04/05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Podcast PodLab : dix ans de carrière sans filtre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353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06/05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Africa Forward Nairobi : annonce de la modération du panel IA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318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28/09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Diaspora Connect : plus de 60 offres, candidatures jusqu'au 18 octobre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295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14/05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Retour de Nairobi : une génération qui pilote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279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199632" y="150876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8F8F9A"/>
                </a:solidFill>
                <a:latin typeface="Space Grotesk"/>
              </a:rPr>
              <a:t>LES CINQ MOINS BONNES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199632" y="1874519"/>
          <a:ext cx="5440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657600"/>
                <a:gridCol w="11430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Work Sans"/>
                        </a:rPr>
                        <a:t>Date</a:t>
                      </a:r>
                    </a:p>
                  </a:txBody>
                  <a:tcPr>
                    <a:solidFill>
                      <a:srgbClr val="8F8F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Work Sans"/>
                        </a:rPr>
                        <a:t>Publication et raison probable</a:t>
                      </a:r>
                    </a:p>
                  </a:txBody>
                  <a:tcPr>
                    <a:solidFill>
                      <a:srgbClr val="8F8F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Work Sans"/>
                        </a:rPr>
                        <a:t>Total</a:t>
                      </a:r>
                    </a:p>
                  </a:txBody>
                  <a:tcPr>
                    <a:solidFill>
                      <a:srgbClr val="8F8F9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25/05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SAVR Bootcamp Smart Africa x Mstudio : appel à candidatures : appel à candidatures, sans histoire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33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14/04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Fondateurs locaux : 5,1 % des fonds levés (en anglais) : en anglais, lendemain d'un post voisin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15/05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10 leçons sur l'IA pour une Afrique souveraine (Africa Forward) : liste longue, lendemain du récit de Nairobi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35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02/09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C'est ce soir : séance IA avec Yamify (rappel) : simple rappel d'horaire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29/01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Ecosystem Mixer Flat6Labs x IFC au Mstudio : événement d'un partenaire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B2A35"/>
                          </a:solidFill>
                          <a:latin typeface="Work Sans"/>
                        </a:rPr>
                        <a:t>41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349240"/>
            <a:ext cx="1069848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232754"/>
                </a:solidFill>
                <a:latin typeface="Work Sans"/>
              </a:rPr>
              <a:t>Ce que les meilleures ont en commun : </a:t>
            </a:r>
            <a:r>
              <a:rPr sz="1200" b="0">
                <a:solidFill>
                  <a:srgbClr val="2B2A35"/>
                </a:solidFill>
                <a:latin typeface="Work Sans"/>
              </a:rPr>
              <a:t>un récit à la première personne ou un bilan chiffré, souvent une vidéo. Exception : l'annonce du panel IA à Nairobi (318), qui portait sur une grande scène internationale où Leslie avait un rôle.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RELEVÉ · 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Instagram : un petit compte qui répond bien, mais publie peu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12 / 16</a:t>
            </a:r>
          </a:p>
        </p:txBody>
      </p:sp>
      <p:pic>
        <p:nvPicPr>
          <p:cNvPr id="10" name="Picture 9" descr="06_inst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6583680" cy="357399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98079" y="1554480"/>
            <a:ext cx="2011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400" b="1">
                <a:solidFill>
                  <a:srgbClr val="232754"/>
                </a:solidFill>
                <a:latin typeface="Funnel Display"/>
              </a:rPr>
              <a:t>1 172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423160"/>
            <a:ext cx="20116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2B2A35"/>
                </a:solidFill>
                <a:latin typeface="Work Sans"/>
              </a:rPr>
              <a:t>abonnés, 3 051 abonnements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554480"/>
            <a:ext cx="21031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400" b="1">
                <a:solidFill>
                  <a:srgbClr val="232754"/>
                </a:solidFill>
                <a:latin typeface="Funnel Display"/>
              </a:rPr>
              <a:t>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423160"/>
            <a:ext cx="21031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2B2A35"/>
                </a:solidFill>
                <a:latin typeface="Work Sans"/>
              </a:rPr>
              <a:t>j'aime médians, 2 commentaires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3520440"/>
            <a:ext cx="4142232" cy="265176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3611880"/>
            <a:ext cx="3749039" cy="2560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232754"/>
                </a:solidFill>
                <a:latin typeface="Work Sans"/>
              </a:rPr>
              <a:t>Son compte : </a:t>
            </a:r>
            <a:r>
              <a:rPr sz="1150" b="0">
                <a:solidFill>
                  <a:srgbClr val="2B2A35"/>
                </a:solidFill>
                <a:latin typeface="Work Sans"/>
              </a:rPr>
              <a:t>11 publications depuis mars, aucune vidéo. Les carrousels de récit (Nairobi 77, Diaspora 86) font mieux que les annonces (27 à 30).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232754"/>
                </a:solidFill>
                <a:latin typeface="Work Sans"/>
              </a:rPr>
              <a:t>Chez les autres : </a:t>
            </a:r>
            <a:r>
              <a:rPr sz="1150" b="0">
                <a:solidFill>
                  <a:srgbClr val="2B2A35"/>
                </a:solidFill>
                <a:latin typeface="Work Sans"/>
              </a:rPr>
              <a:t>16 publications où elle est identifiée, dont 9 extraits vidéo du podcast PodLab. Ses meilleurs contenus vidéo vivent sur les comptes des autres.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232754"/>
                </a:solidFill>
                <a:latin typeface="Work Sans"/>
              </a:rPr>
              <a:t>Bio : </a:t>
            </a:r>
            <a:r>
              <a:rPr sz="1150" b="0">
                <a:solidFill>
                  <a:srgbClr val="2B2A35"/>
                </a:solidFill>
                <a:latin typeface="Work Sans"/>
              </a:rPr>
              <a:t>« Entreprendre Sans Filtre », sans mention de Mstudio.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VEILLE · COMPARAISON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Face à six dirigeantes de l'écosystème, Leslie est la plus régulière parmi les plus suivies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13 / 16</a:t>
            </a:r>
          </a:p>
        </p:txBody>
      </p:sp>
      <p:pic>
        <p:nvPicPr>
          <p:cNvPr id="10" name="Picture 9" descr="05_comparaison_pai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7589520" cy="289781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412480" y="1554480"/>
            <a:ext cx="3227832" cy="461772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691640"/>
            <a:ext cx="2834640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232754"/>
                </a:solidFill>
                <a:latin typeface="Work Sans"/>
              </a:rPr>
              <a:t>17 209 abonnés</a:t>
            </a:r>
            <a:r>
              <a:rPr sz="1150" b="0">
                <a:solidFill>
                  <a:srgbClr val="2B2A35"/>
                </a:solidFill>
                <a:latin typeface="Work Sans"/>
              </a:rPr>
              <a:t> : deuxième audience du panel, derrière Rebecca Enonchong (46 673).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232754"/>
                </a:solidFill>
                <a:latin typeface="Work Sans"/>
              </a:rPr>
              <a:t>Seule Diane Audrey Ngako publie plus</a:t>
            </a:r>
            <a:r>
              <a:rPr sz="1150" b="0">
                <a:solidFill>
                  <a:srgbClr val="2B2A35"/>
                </a:solidFill>
                <a:latin typeface="Work Sans"/>
              </a:rPr>
              <a:t> (87), mais avec 35 interactions par publication.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232754"/>
                </a:solidFill>
                <a:latin typeface="Work Sans"/>
              </a:rPr>
              <a:t>Fatoumata Ba et Rebecca Enonchong</a:t>
            </a:r>
            <a:r>
              <a:rPr sz="1150" b="0">
                <a:solidFill>
                  <a:srgbClr val="2B2A35"/>
                </a:solidFill>
                <a:latin typeface="Work Sans"/>
              </a:rPr>
              <a:t> font de gros scores avec 1 à 2 publications : ce sont des exceptions, pas un rythme.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232754"/>
                </a:solidFill>
                <a:latin typeface="Work Sans"/>
              </a:rPr>
              <a:t>Ce qui reste à gagner : </a:t>
            </a:r>
            <a:r>
              <a:rPr sz="1150" b="0">
                <a:solidFill>
                  <a:srgbClr val="2B2A35"/>
                </a:solidFill>
                <a:latin typeface="Work Sans"/>
              </a:rPr>
              <a:t>les commentaires. 3 par publication chez Leslie ; Fatoumata Ba en obtient 20 et plus sur ses récits personnels.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VEILLE · PRATIQUES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Ce que font les autres, et ce qu'on peut en reprendre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14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0876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0020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Funnel Display"/>
              </a:rPr>
              <a:t>Diane Audrey Ngako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38528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50" b="0">
                <a:solidFill>
                  <a:srgbClr val="8F8F9A"/>
                </a:solidFill>
                <a:latin typeface="Work Sans"/>
              </a:rPr>
              <a:t>Présidente du groupe AKÉDE · Douala · 11 205 abonnés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32004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2B2A35"/>
                </a:solidFill>
                <a:latin typeface="Work Sans"/>
              </a:rPr>
              <a:t>Une « Chronique » signée, une « Lettre ouverte à Son Excellence » : 397 interactions, sa meilleure. Les distinctions et les scènes internationales (Harvard) suivent.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91839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Work Sans"/>
              </a:rPr>
              <a:t>À reprendre : une rubrique numérotée à son nom.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150876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60020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Funnel Display"/>
              </a:rPr>
              <a:t>Fatoumata Ba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1938528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50" b="0">
                <a:solidFill>
                  <a:srgbClr val="8F8F9A"/>
                </a:solidFill>
                <a:latin typeface="Work Sans"/>
              </a:rPr>
              <a:t>Janngo Capital · 11 367 abonnés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286000"/>
            <a:ext cx="32004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2B2A35"/>
                </a:solidFill>
                <a:latin typeface="Work Sans"/>
              </a:rPr>
              <a:t>Deux publications seulement, un long récit personnel en anglais (« As long as I can remember… ») : 301 réactions et 32 commentaires.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3291839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Work Sans"/>
              </a:rPr>
              <a:t>À reprendre : la confidence personnelle, rare et forte.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50876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5" y="160020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Funnel Display"/>
              </a:rPr>
              <a:t>Rebecca Enonchong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5" y="1938528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50" b="0">
                <a:solidFill>
                  <a:srgbClr val="8F8F9A"/>
                </a:solidFill>
                <a:latin typeface="Work Sans"/>
              </a:rPr>
              <a:t>AppsTech, CCI internationale · 46 673 abonnés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5" y="2286000"/>
            <a:ext cx="32004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2B2A35"/>
                </a:solidFill>
                <a:latin typeface="Work Sans"/>
              </a:rPr>
              <a:t>Une seule publication, une annonce de nomination : 1 396 interactions, 174 commentaires.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5" y="3291839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Work Sans"/>
              </a:rPr>
              <a:t>À reprendre : annoncer ses propres nominations, sans fausse modestie.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93192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023359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Funnel Display"/>
              </a:rPr>
              <a:t>Mariéme Jamme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361688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50" b="0">
                <a:solidFill>
                  <a:srgbClr val="8F8F9A"/>
                </a:solidFill>
                <a:latin typeface="Work Sans"/>
              </a:rPr>
              <a:t>iamtheCODE · 7 526 abonnés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709159"/>
            <a:ext cx="32004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2B2A35"/>
                </a:solidFill>
                <a:latin typeface="Work Sans"/>
              </a:rPr>
              <a:t>Toutes ses publications sous #impactstories, en anglais, autour de l'IA et des femmes.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71500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Work Sans"/>
              </a:rPr>
              <a:t>À reprendre : un mot-dièse maison, toujours le même.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15968" y="393192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98848" y="4023359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Funnel Display"/>
              </a:rPr>
              <a:t>Audrey Ehouman-Mambo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8848" y="4361688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50" b="0">
                <a:solidFill>
                  <a:srgbClr val="8F8F9A"/>
                </a:solidFill>
                <a:latin typeface="Work Sans"/>
              </a:rPr>
              <a:t>AE Tech Consulting, Abidjan Women In Tech · 2 514 abonnés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8848" y="4709159"/>
            <a:ext cx="32004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2B2A35"/>
                </a:solidFill>
                <a:latin typeface="Work Sans"/>
              </a:rPr>
              <a:t>Ses meilleures : une leçon de leadership vécue (150) et une distinction reçue (138). Ses annonces d'événement font 6 à 20.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8848" y="571500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Work Sans"/>
              </a:rPr>
              <a:t>Même constat que pour Leslie : le récit bat l'annonce.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83296" y="393192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66175" y="4023359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Funnel Display"/>
              </a:rPr>
              <a:t>Madji Sock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6175" y="4361688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50" b="0">
                <a:solidFill>
                  <a:srgbClr val="8F8F9A"/>
                </a:solidFill>
                <a:latin typeface="Work Sans"/>
              </a:rPr>
              <a:t>Haskè Ventures (studio, Dakar) · 3 885 abonnés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6175" y="4709159"/>
            <a:ext cx="32004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2B2A35"/>
                </a:solidFill>
                <a:latin typeface="Work Sans"/>
              </a:rPr>
              <a:t>Le profil le plus proche de Mstudio, mais quasi silencieux : 3 publications, dont une offre de poste (70).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66175" y="571500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007ABB"/>
                </a:solidFill>
                <a:latin typeface="Work Sans"/>
              </a:rPr>
              <a:t>Le terrain des studios ouest-africains est libre sur LinkedIn.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VEILLE · PRÉSENCE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Au-delà de ses comptes : où Leslie existe en ligne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15 / 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554480"/>
            <a:ext cx="7205472" cy="1444752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691639"/>
            <a:ext cx="64008" cy="1170432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719072"/>
            <a:ext cx="679399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Funnel Display"/>
              </a:rPr>
              <a:t>Les scènes qui la portent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240280"/>
            <a:ext cx="6793992" cy="4846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2B2A35"/>
                </a:solidFill>
                <a:latin typeface="Work Sans"/>
              </a:rPr>
              <a:t>Rencontres Économiques d'Aix (page intervenante), France 24 « Aux Avant-Postes » (juillet), podcast PodLab (9 extraits vidéo sur Instagram), Fondation Sounga « Des Mots d'Elles », TechCabal « Ask an Investor » (septembre 2025).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127248"/>
            <a:ext cx="7205472" cy="1444752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3264408"/>
            <a:ext cx="64008" cy="1170432"/>
          </a:xfrm>
          <a:prstGeom prst="rect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3291840"/>
            <a:ext cx="679399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Funnel Display"/>
              </a:rPr>
              <a:t>Les anciennes pages à mettre à jour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813048"/>
            <a:ext cx="6793992" cy="4846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2B2A35"/>
                </a:solidFill>
                <a:latin typeface="Work Sans"/>
              </a:rPr>
              <a:t>about.me et Medium la présentent encore chez Bolt et BuuPass. Elles remontent dans les premières réponses d'une recherche sur son nom. À mettre à jour ou à fermer.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4700016"/>
            <a:ext cx="7205472" cy="1444752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40" y="4837176"/>
            <a:ext cx="64008" cy="1170432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4864607"/>
            <a:ext cx="679399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Funnel Display"/>
              </a:rPr>
              <a:t>La lettre « The African Operator 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385816"/>
            <a:ext cx="6793992" cy="4846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2B2A35"/>
                </a:solidFill>
                <a:latin typeface="Work Sans"/>
              </a:rPr>
              <a:t>Une page Substack existe à son nom. À confirmer : est-elle encore active ? Si oui, c'est le support naturel de la rubrique mensuelle.</a:t>
            </a:r>
          </a:p>
        </p:txBody>
      </p:sp>
      <p:pic>
        <p:nvPicPr>
          <p:cNvPr id="24" name="Picture 23" descr="c_nairobi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554480"/>
            <a:ext cx="3657600" cy="2651760"/>
          </a:xfrm>
          <a:prstGeom prst="rect">
            <a:avLst/>
          </a:prstGeom>
        </p:spPr>
      </p:pic>
      <p:pic>
        <p:nvPicPr>
          <p:cNvPr id="25" name="Picture 24" descr="c_france2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43400"/>
            <a:ext cx="2514600" cy="18211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154680" y="4389120"/>
            <a:ext cx="118872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Nairobi, Africa Forward (mai)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France 24, « Aux Avant-Postes » (juillet)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PROCHAINES ÉTAPES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2412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232754"/>
                </a:solidFill>
                <a:latin typeface="Funnel Display"/>
              </a:rPr>
              <a:t>La suite proposée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Leslie Ossété · Analyse et veille des réseaux ·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16 / 16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55064"/>
            <a:ext cx="5029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Funnel Display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600200"/>
            <a:ext cx="23774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232754"/>
                </a:solidFill>
                <a:latin typeface="Funnel Display"/>
              </a:rPr>
              <a:t>Cette semaine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600200"/>
            <a:ext cx="786384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2B2A35"/>
                </a:solidFill>
                <a:latin typeface="Work Sans"/>
              </a:rPr>
              <a:t>Leslie valide ou corrige les 4 publications du premier lot (26, 27, 29 octobre et 2 novembre).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798064"/>
            <a:ext cx="5029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Funnel Display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743200"/>
            <a:ext cx="23774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232754"/>
                </a:solidFill>
                <a:latin typeface="Funnel Display"/>
              </a:rPr>
              <a:t>Avant le 31 octobre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743200"/>
            <a:ext cx="786384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2B2A35"/>
                </a:solidFill>
                <a:latin typeface="Work Sans"/>
              </a:rPr>
              <a:t>Une capture de ses statistiques LinkedIn et Instagram, pour ajouter portée, visites du profil et abonnés gagnés.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941063"/>
            <a:ext cx="5029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Funnel Display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886200"/>
            <a:ext cx="23774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232754"/>
                </a:solidFill>
                <a:latin typeface="Funnel Display"/>
              </a:rPr>
              <a:t>Chaque lundi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886200"/>
            <a:ext cx="786384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2B2A35"/>
                </a:solidFill>
                <a:latin typeface="Work Sans"/>
              </a:rPr>
              <a:t>Un point court : publications de la semaine, interactions, écart avec les recommandations, et les meilleures publications des six dirigeantes suivies.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5029200"/>
            <a:ext cx="502920" cy="502920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084064"/>
            <a:ext cx="5029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Funnel Display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029200"/>
            <a:ext cx="23774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232754"/>
                </a:solidFill>
                <a:latin typeface="Funnel Display"/>
              </a:rPr>
              <a:t>Fin novembre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5029200"/>
            <a:ext cx="786384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2B2A35"/>
                </a:solidFill>
                <a:latin typeface="Work Sans"/>
              </a:rPr>
              <a:t>Premier bilan : la médiane est-elle remontée au-dessus de 120 ? Les silences ont-ils disparu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