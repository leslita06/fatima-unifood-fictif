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linkedin.com/in/leslieossete" TargetMode="External"/><Relationship Id="rId6" Type="http://schemas.openxmlformats.org/officeDocument/2006/relationships/image" Target="../media/image4.png"/><Relationship Id="rId7" Type="http://schemas.openxmlformats.org/officeDocument/2006/relationships/hyperlink" Target="https://www.instagram.com/leslieosset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hyperlink" Target="https://www.linkedin.com/in/leslieossete" TargetMode="External"/><Relationship Id="rId5" Type="http://schemas.openxmlformats.org/officeDocument/2006/relationships/image" Target="../media/image19.png"/><Relationship Id="rId6" Type="http://schemas.openxmlformats.org/officeDocument/2006/relationships/hyperlink" Target="https://www.linkedin.com/posts/leslieossete_womenintech-techivoire-repraezsentation-activity-7453414787948023808-tAMk" TargetMode="External"/><Relationship Id="rId7" Type="http://schemas.openxmlformats.org/officeDocument/2006/relationships/image" Target="../media/image20.png"/><Relationship Id="rId8" Type="http://schemas.openxmlformats.org/officeDocument/2006/relationships/hyperlink" Target="https://www.linkedin.com/posts/leslieossete_uemoa-vcinafrica-startupafrica-activity-7419010197664460800-c7UW" TargetMode="External"/><Relationship Id="rId9" Type="http://schemas.openxmlformats.org/officeDocument/2006/relationships/image" Target="../media/image15.png"/><Relationship Id="rId10" Type="http://schemas.openxmlformats.org/officeDocument/2006/relationships/hyperlink" Target="https://www.linkedin.com/posts/leslieossete_afrique-minerais-souverainetenumerique-activity-7480893715591446528-0lLe" TargetMode="External"/><Relationship Id="rId11" Type="http://schemas.openxmlformats.org/officeDocument/2006/relationships/image" Target="../media/image21.png"/><Relationship Id="rId12" Type="http://schemas.openxmlformats.org/officeDocument/2006/relationships/hyperlink" Target="https://www.linkedin.com/posts/leslieossete_r%C3%A9cap-mstudio-2025-activity-7432015146245427201-YbW-" TargetMode="External"/><Relationship Id="rId13" Type="http://schemas.openxmlformats.org/officeDocument/2006/relationships/hyperlink" Target="https://www.linkedin.com/posts/leslieossete_tippingpoint2026-lecercledespasseuls-entrepreneuriat-activity-7513538835612319744-ZoW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8.jpg"/><Relationship Id="rId5" Type="http://schemas.openxmlformats.org/officeDocument/2006/relationships/image" Target="../media/image29.png"/><Relationship Id="rId6" Type="http://schemas.openxmlformats.org/officeDocument/2006/relationships/hyperlink" Target="https://www.linkedin.com/in/leslieossete" TargetMode="External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8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Relationship Id="rId7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9.jpg"/><Relationship Id="rId5" Type="http://schemas.openxmlformats.org/officeDocument/2006/relationships/hyperlink" Target="https://www.linkedin.com/posts/leslieossete_r%C3%A9cap-mstudio-2025-activity-7432015146245427201-YbW-" TargetMode="External"/><Relationship Id="rId6" Type="http://schemas.openxmlformats.org/officeDocument/2006/relationships/image" Target="../media/image50.jpg"/><Relationship Id="rId7" Type="http://schemas.openxmlformats.org/officeDocument/2006/relationships/hyperlink" Target="https://www.linkedin.com/posts/leslieossete_entrepreneuriat-techafrique-startupafrica-activity-7457028805824667649-0vJd" TargetMode="External"/><Relationship Id="rId8" Type="http://schemas.openxmlformats.org/officeDocument/2006/relationships/image" Target="../media/image51.jpg"/><Relationship Id="rId9" Type="http://schemas.openxmlformats.org/officeDocument/2006/relationships/hyperlink" Target="https://www.linkedin.com/posts/leslieossete_africaforwardic-activity-7457715824347287552-axJ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52.jpg"/><Relationship Id="rId5" Type="http://schemas.openxmlformats.org/officeDocument/2006/relationships/hyperlink" Target="https://www.linkedin.com/posts/leslieossete_startupafrica-fundraising-cotedivoire-activity-7464642687477121024-NodN" TargetMode="External"/><Relationship Id="rId6" Type="http://schemas.openxmlformats.org/officeDocument/2006/relationships/image" Target="../media/image53.jpg"/><Relationship Id="rId7" Type="http://schemas.openxmlformats.org/officeDocument/2006/relationships/hyperlink" Target="https://www.linkedin.com/posts/leslieossete_tech-africa-vc-activity-7449769732985098240-Iy1O" TargetMode="External"/><Relationship Id="rId8" Type="http://schemas.openxmlformats.org/officeDocument/2006/relationships/image" Target="../media/image54.jpg"/><Relationship Id="rId9" Type="http://schemas.openxmlformats.org/officeDocument/2006/relationships/hyperlink" Target="https://www.linkedin.com/posts/leslieossete_africaforward2026-ai-africaai-activity-7461013684170174464-bv85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56.png"/><Relationship Id="rId5" Type="http://schemas.openxmlformats.org/officeDocument/2006/relationships/hyperlink" Target="https://www.instagram.com/leslieossete" TargetMode="External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57.jpg"/><Relationship Id="rId5" Type="http://schemas.openxmlformats.org/officeDocument/2006/relationships/hyperlink" Target="https://www.instagram.com/p/DetqyN7CKYY/" TargetMode="External"/><Relationship Id="rId6" Type="http://schemas.openxmlformats.org/officeDocument/2006/relationships/image" Target="../media/image58.jpg"/><Relationship Id="rId7" Type="http://schemas.openxmlformats.org/officeDocument/2006/relationships/hyperlink" Target="https://www.instagram.com/p/DdkKFrMDeKB/" TargetMode="External"/><Relationship Id="rId8" Type="http://schemas.openxmlformats.org/officeDocument/2006/relationships/image" Target="../media/image59.jpg"/><Relationship Id="rId9" Type="http://schemas.openxmlformats.org/officeDocument/2006/relationships/hyperlink" Target="https://www.instagram.com/p/DdYY30Ooq4e/" TargetMode="External"/><Relationship Id="rId10" Type="http://schemas.openxmlformats.org/officeDocument/2006/relationships/image" Target="../media/image60.jpg"/><Relationship Id="rId11" Type="http://schemas.openxmlformats.org/officeDocument/2006/relationships/hyperlink" Target="https://www.instagram.com/p/DbyvxNojdto/" TargetMode="External"/><Relationship Id="rId12" Type="http://schemas.openxmlformats.org/officeDocument/2006/relationships/image" Target="../media/image61.jpg"/><Relationship Id="rId13" Type="http://schemas.openxmlformats.org/officeDocument/2006/relationships/hyperlink" Target="https://www.instagram.com/p/DaizCCrNj6g/" TargetMode="External"/><Relationship Id="rId14" Type="http://schemas.openxmlformats.org/officeDocument/2006/relationships/image" Target="../media/image62.jpg"/><Relationship Id="rId15" Type="http://schemas.openxmlformats.org/officeDocument/2006/relationships/hyperlink" Target="https://www.instagram.com/p/DahqAGTNlSu/" TargetMode="External"/><Relationship Id="rId16" Type="http://schemas.openxmlformats.org/officeDocument/2006/relationships/image" Target="../media/image63.jpg"/><Relationship Id="rId17" Type="http://schemas.openxmlformats.org/officeDocument/2006/relationships/hyperlink" Target="https://www.instagram.com/p/DaUumiVCM2e/" TargetMode="External"/><Relationship Id="rId18" Type="http://schemas.openxmlformats.org/officeDocument/2006/relationships/image" Target="../media/image64.jpg"/><Relationship Id="rId19" Type="http://schemas.openxmlformats.org/officeDocument/2006/relationships/hyperlink" Target="https://www.instagram.com/p/DZAGJ6IjRgu/" TargetMode="External"/><Relationship Id="rId20" Type="http://schemas.openxmlformats.org/officeDocument/2006/relationships/image" Target="../media/image65.jpg"/><Relationship Id="rId21" Type="http://schemas.openxmlformats.org/officeDocument/2006/relationships/hyperlink" Target="https://www.instagram.com/p/DYUQLOnDQWR/" TargetMode="External"/><Relationship Id="rId22" Type="http://schemas.openxmlformats.org/officeDocument/2006/relationships/image" Target="../media/image66.jpg"/><Relationship Id="rId23" Type="http://schemas.openxmlformats.org/officeDocument/2006/relationships/hyperlink" Target="https://www.instagram.com/p/DWqecXsDfLV/" TargetMode="External"/><Relationship Id="rId24" Type="http://schemas.openxmlformats.org/officeDocument/2006/relationships/image" Target="../media/image35.png"/><Relationship Id="rId25" Type="http://schemas.openxmlformats.org/officeDocument/2006/relationships/image" Target="../media/image41.png"/><Relationship Id="rId26" Type="http://schemas.openxmlformats.org/officeDocument/2006/relationships/image" Target="../media/image6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68.jpg"/><Relationship Id="rId5" Type="http://schemas.openxmlformats.org/officeDocument/2006/relationships/hyperlink" Target="https://www.instagram.com/p/DbyvxNojdto/" TargetMode="External"/><Relationship Id="rId6" Type="http://schemas.openxmlformats.org/officeDocument/2006/relationships/image" Target="../media/image69.jpg"/><Relationship Id="rId7" Type="http://schemas.openxmlformats.org/officeDocument/2006/relationships/hyperlink" Target="https://www.instagram.com/p/DZAGJ6IjRgu/" TargetMode="External"/><Relationship Id="rId8" Type="http://schemas.openxmlformats.org/officeDocument/2006/relationships/image" Target="../media/image70.jpg"/><Relationship Id="rId9" Type="http://schemas.openxmlformats.org/officeDocument/2006/relationships/hyperlink" Target="https://www.instagram.com/p/DYUQLOnDQWR/" TargetMode="External"/><Relationship Id="rId10" Type="http://schemas.openxmlformats.org/officeDocument/2006/relationships/image" Target="../media/image71.jpg"/><Relationship Id="rId11" Type="http://schemas.openxmlformats.org/officeDocument/2006/relationships/hyperlink" Target="https://www.instagram.com/p/DaUumiVCM2e/" TargetMode="External"/><Relationship Id="rId12" Type="http://schemas.openxmlformats.org/officeDocument/2006/relationships/image" Target="../media/image72.jpg"/><Relationship Id="rId13" Type="http://schemas.openxmlformats.org/officeDocument/2006/relationships/hyperlink" Target="https://www.instagram.com/p/DetqyN7CKY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5" Type="http://schemas.openxmlformats.org/officeDocument/2006/relationships/image" Target="../media/image67.png"/><Relationship Id="rId6" Type="http://schemas.openxmlformats.org/officeDocument/2006/relationships/image" Target="../media/image73.png"/><Relationship Id="rId7" Type="http://schemas.openxmlformats.org/officeDocument/2006/relationships/hyperlink" Target="https://www.instagram.com/podlab.so/" TargetMode="External"/><Relationship Id="rId8" Type="http://schemas.openxmlformats.org/officeDocument/2006/relationships/hyperlink" Target="https://www.instagram.com/tatiana_drame/" TargetMode="External"/><Relationship Id="rId9" Type="http://schemas.openxmlformats.org/officeDocument/2006/relationships/hyperlink" Target="https://www.instagram.com/abidjanaises_in_tech/" TargetMode="External"/><Relationship Id="rId10" Type="http://schemas.openxmlformats.org/officeDocument/2006/relationships/hyperlink" Target="https://www.instagram.com/les_gos_creatives/" TargetMode="External"/><Relationship Id="rId11" Type="http://schemas.openxmlformats.org/officeDocument/2006/relationships/hyperlink" Target="https://www.instagram.com/entourage.africa/" TargetMode="External"/><Relationship Id="rId12" Type="http://schemas.openxmlformats.org/officeDocument/2006/relationships/hyperlink" Target="https://www.instagram.com/fondationsounga_officiel/" TargetMode="External"/><Relationship Id="rId1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hyperlink" Target="https://www.linkedin.com/in/rebeccaenonchong" TargetMode="External"/><Relationship Id="rId5" Type="http://schemas.openxmlformats.org/officeDocument/2006/relationships/hyperlink" Target="https://www.linkedin.com/in/leslieossete" TargetMode="External"/><Relationship Id="rId6" Type="http://schemas.openxmlformats.org/officeDocument/2006/relationships/hyperlink" Target="https://www.linkedin.com/in/fatoumataba" TargetMode="External"/><Relationship Id="rId7" Type="http://schemas.openxmlformats.org/officeDocument/2006/relationships/hyperlink" Target="https://www.linkedin.com/in/diane-audrey-ngako-96974175" TargetMode="External"/><Relationship Id="rId8" Type="http://schemas.openxmlformats.org/officeDocument/2006/relationships/hyperlink" Target="https://www.linkedin.com/in/mariemejamme" TargetMode="External"/><Relationship Id="rId9" Type="http://schemas.openxmlformats.org/officeDocument/2006/relationships/hyperlink" Target="https://www.linkedin.com/in/madji-sock-595521226" TargetMode="External"/><Relationship Id="rId10" Type="http://schemas.openxmlformats.org/officeDocument/2006/relationships/hyperlink" Target="https://www.linkedin.com/in/audreyehouman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hyperlink" Target="https://www.linkedin.com/in/diane-audrey-ngako-96974175" TargetMode="External"/><Relationship Id="rId6" Type="http://schemas.openxmlformats.org/officeDocument/2006/relationships/image" Target="../media/image77.png"/><Relationship Id="rId7" Type="http://schemas.openxmlformats.org/officeDocument/2006/relationships/hyperlink" Target="https://www.linkedin.com/in/mariemejamme" TargetMode="External"/><Relationship Id="rId8" Type="http://schemas.openxmlformats.org/officeDocument/2006/relationships/image" Target="../media/image78.png"/><Relationship Id="rId9" Type="http://schemas.openxmlformats.org/officeDocument/2006/relationships/hyperlink" Target="https://www.linkedin.com/in/fatoumataba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0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1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2.png"/><Relationship Id="rId5" Type="http://schemas.openxmlformats.org/officeDocument/2006/relationships/image" Target="../media/image34.png"/><Relationship Id="rId6" Type="http://schemas.openxmlformats.org/officeDocument/2006/relationships/image" Target="../media/image8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2.png"/><Relationship Id="rId5" Type="http://schemas.openxmlformats.org/officeDocument/2006/relationships/image" Target="../media/image34.png"/><Relationship Id="rId6" Type="http://schemas.openxmlformats.org/officeDocument/2006/relationships/image" Target="../media/image8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5.jpg"/><Relationship Id="rId5" Type="http://schemas.openxmlformats.org/officeDocument/2006/relationships/image" Target="../media/image8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8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8.png"/><Relationship Id="rId5" Type="http://schemas.openxmlformats.org/officeDocument/2006/relationships/image" Target="../media/image89.jpg"/><Relationship Id="rId6" Type="http://schemas.openxmlformats.org/officeDocument/2006/relationships/image" Target="../media/image3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8.png"/><Relationship Id="rId5" Type="http://schemas.openxmlformats.org/officeDocument/2006/relationships/image" Target="../media/image90.jpg"/><Relationship Id="rId6" Type="http://schemas.openxmlformats.org/officeDocument/2006/relationships/image" Target="../media/image3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88.png"/><Relationship Id="rId5" Type="http://schemas.openxmlformats.org/officeDocument/2006/relationships/image" Target="../media/image91.jpg"/><Relationship Id="rId6" Type="http://schemas.openxmlformats.org/officeDocument/2006/relationships/image" Target="../media/image3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92.png"/><Relationship Id="rId5" Type="http://schemas.openxmlformats.org/officeDocument/2006/relationships/image" Target="../media/image39.png"/><Relationship Id="rId6" Type="http://schemas.openxmlformats.org/officeDocument/2006/relationships/image" Target="../media/image93.jpg"/><Relationship Id="rId7" Type="http://schemas.openxmlformats.org/officeDocument/2006/relationships/image" Target="../media/image94.jpg"/><Relationship Id="rId8" Type="http://schemas.openxmlformats.org/officeDocument/2006/relationships/image" Target="../media/image95.jpg"/><Relationship Id="rId9" Type="http://schemas.openxmlformats.org/officeDocument/2006/relationships/image" Target="../media/image96.jpg"/><Relationship Id="rId10" Type="http://schemas.openxmlformats.org/officeDocument/2006/relationships/image" Target="../media/image9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92.png"/><Relationship Id="rId5" Type="http://schemas.openxmlformats.org/officeDocument/2006/relationships/image" Target="../media/image39.png"/><Relationship Id="rId6" Type="http://schemas.openxmlformats.org/officeDocument/2006/relationships/image" Target="../media/image98.png"/><Relationship Id="rId7" Type="http://schemas.openxmlformats.org/officeDocument/2006/relationships/hyperlink" Target="https://www.instagram.com/p/DX4QzkbIAD7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0.png"/><Relationship Id="rId4" Type="http://schemas.openxmlformats.org/officeDocument/2006/relationships/image" Target="../media/image99.png"/><Relationship Id="rId5" Type="http://schemas.openxmlformats.org/officeDocument/2006/relationships/image" Target="../media/image34.png"/><Relationship Id="rId6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linkedin.com/in/leslieossete" TargetMode="External"/><Relationship Id="rId6" Type="http://schemas.openxmlformats.org/officeDocument/2006/relationships/image" Target="../media/image4.png"/><Relationship Id="rId7" Type="http://schemas.openxmlformats.org/officeDocument/2006/relationships/hyperlink" Target="https://www.instagram.com/leslieosset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g_2026-05-31_0.75_0.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312" y="0"/>
            <a:ext cx="5120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68312" y="0"/>
            <a:ext cx="73152" cy="6858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146743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00200"/>
            <a:ext cx="60350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00AED4"/>
                </a:solidFill>
                <a:latin typeface="Space Grotesk"/>
              </a:rPr>
              <a:t>ANALYSE ET VEILLE ·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6217920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Funnel Display"/>
              </a:rPr>
              <a:t>Leslie Ossété en ligne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60350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Ce que racontent LinkedIn et Instagram, ce qu'en font les autres, et la stratégie pour les 90 prochains jours</a:t>
            </a:r>
          </a:p>
        </p:txBody>
      </p:sp>
      <p:pic>
        <p:nvPicPr>
          <p:cNvPr id="9" name="Picture 8" descr="linkedin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98348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25880" y="502920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pace Grotesk"/>
                <a:hlinkClick r:id="rId5"/>
              </a:rPr>
              <a:t>linkedin.com/in/leslieossete</a:t>
            </a:r>
          </a:p>
        </p:txBody>
      </p:sp>
      <p:pic>
        <p:nvPicPr>
          <p:cNvPr id="11" name="Picture 10" descr="instagram_br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57784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5623560"/>
            <a:ext cx="2743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pace Grotesk"/>
                <a:hlinkClick r:id="rId7"/>
              </a:rPr>
              <a:t>@leslieossete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5029200"/>
            <a:ext cx="292608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B8BCD0"/>
                </a:solidFill>
                <a:latin typeface="Space Grotesk"/>
              </a:rPr>
              <a:t>Période : 1er janvier au 24 octobre 2026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B8BCD0"/>
                </a:solidFill>
                <a:latin typeface="Space Grotesk"/>
              </a:rPr>
              <a:t>Relevé du 24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CE QUE CONTIENT CE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Sommaire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7452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3291840" y="1920240"/>
            <a:ext cx="594360" cy="59436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u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486" y="2062886"/>
            <a:ext cx="309067" cy="3090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260604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L'histoire, la marque, les valeurs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01752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Parcours, convictions, voix et émojis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9164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87452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02</a:t>
            </a:r>
          </a:p>
        </p:txBody>
      </p:sp>
      <p:pic>
        <p:nvPicPr>
          <p:cNvPr id="17" name="Picture 16" descr="linkedin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599" y="196596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1999" y="260604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01752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Profil, chiffres, sujets, formats, meilleurs et moins bons posts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69164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87452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03</a:t>
            </a:r>
          </a:p>
        </p:txBody>
      </p:sp>
      <p:pic>
        <p:nvPicPr>
          <p:cNvPr id="22" name="Picture 21" descr="instagram_br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39" y="1965960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21040" y="260604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Instagram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01752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Profil, publications, ce qui marche, ce qui manque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411480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04</a:t>
            </a:r>
          </a:p>
        </p:txBody>
      </p:sp>
      <p:sp>
        <p:nvSpPr>
          <p:cNvPr id="27" name="Oval 26"/>
          <p:cNvSpPr/>
          <p:nvPr/>
        </p:nvSpPr>
        <p:spPr>
          <a:xfrm>
            <a:off x="3291840" y="4160520"/>
            <a:ext cx="594360" cy="59436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ey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4486" y="4303166"/>
            <a:ext cx="309067" cy="30906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59" y="484632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Veille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525780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Six dirigeantes comparées, ce qu'on leur reprend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79" y="393192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1999" y="411480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05</a:t>
            </a:r>
          </a:p>
        </p:txBody>
      </p:sp>
      <p:sp>
        <p:nvSpPr>
          <p:cNvPr id="33" name="Oval 32"/>
          <p:cNvSpPr/>
          <p:nvPr/>
        </p:nvSpPr>
        <p:spPr>
          <a:xfrm>
            <a:off x="7040879" y="4160520"/>
            <a:ext cx="594360" cy="59436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ompas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3526" y="4303166"/>
            <a:ext cx="309067" cy="30906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1999" y="484632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Stratégie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1999" y="525780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Positionnement, piliers, rythme, objectifs à 90 jours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19" y="3931920"/>
            <a:ext cx="3566160" cy="20116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114800"/>
            <a:ext cx="13716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400" b="1" i="0">
                <a:solidFill>
                  <a:srgbClr val="00AED4"/>
                </a:solidFill>
                <a:latin typeface="Funnel Display"/>
              </a:rPr>
              <a:t>06</a:t>
            </a:r>
          </a:p>
        </p:txBody>
      </p:sp>
      <p:sp>
        <p:nvSpPr>
          <p:cNvPr id="39" name="Oval 38"/>
          <p:cNvSpPr/>
          <p:nvPr/>
        </p:nvSpPr>
        <p:spPr>
          <a:xfrm>
            <a:off x="10789919" y="4160520"/>
            <a:ext cx="594360" cy="59436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ro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2566" y="4303166"/>
            <a:ext cx="309067" cy="30906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21040" y="4846320"/>
            <a:ext cx="31089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Premier lot prêt à valider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5257800"/>
            <a:ext cx="3108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Profils réécrits, posts LinkedIn et Instagram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CE QU'IL FAUT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L'essentiel en trois points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1920240"/>
            <a:ext cx="685800" cy="68580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ing-u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1" y="2084832"/>
            <a:ext cx="356616" cy="356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59" y="278892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232754"/>
                </a:solidFill>
                <a:latin typeface="Funnel Display"/>
              </a:rPr>
              <a:t>La voix la plus écoutée de Mstudio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749039"/>
            <a:ext cx="3017520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2B2A35"/>
                </a:solidFill>
                <a:latin typeface="Work Sans"/>
              </a:rPr>
              <a:t>Sur LinkedIn, une publication de Leslie réunit en médiane </a:t>
            </a:r>
            <a:r>
              <a:rPr sz="1300" b="1" i="0">
                <a:solidFill>
                  <a:srgbClr val="2B2A35"/>
                </a:solidFill>
                <a:latin typeface="Work Sans"/>
              </a:rPr>
              <a:t>121 interactions</a:t>
            </a:r>
            <a:r>
              <a:rPr sz="1300" b="0" i="0">
                <a:solidFill>
                  <a:srgbClr val="2B2A35"/>
                </a:solidFill>
                <a:latin typeface="Work Sans"/>
              </a:rPr>
              <a:t>, contre 55 pour la page Mstudio. Elle a 17 209 abonnés : la deuxième audience parmi les six dirigeantes comparées.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69164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1999" y="1920240"/>
            <a:ext cx="685800" cy="68580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lert-triang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1" y="2084832"/>
            <a:ext cx="356616" cy="3566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1999" y="278892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232754"/>
                </a:solidFill>
                <a:latin typeface="Funnel Display"/>
              </a:rPr>
              <a:t>Trop d'affiches, plus assez de récits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3749039"/>
            <a:ext cx="3017520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2B2A35"/>
                </a:solidFill>
                <a:latin typeface="Work Sans"/>
              </a:rPr>
              <a:t>Les affiches d'événement font </a:t>
            </a:r>
            <a:r>
              <a:rPr sz="1300" b="1" i="0">
                <a:solidFill>
                  <a:srgbClr val="2B2A35"/>
                </a:solidFill>
                <a:latin typeface="Work Sans"/>
              </a:rPr>
              <a:t>37 % des posts</a:t>
            </a:r>
            <a:r>
              <a:rPr sz="1300" b="0" i="0">
                <a:solidFill>
                  <a:srgbClr val="2B2A35"/>
                </a:solidFill>
                <a:latin typeface="Work Sans"/>
              </a:rPr>
              <a:t> et le score le plus bas (90). La vidéo fait 202, les récits 187. Depuis août, la réponse baisse : 81 contre 130 avant.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691640"/>
            <a:ext cx="3566160" cy="42976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nstagram_br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965960"/>
            <a:ext cx="594360" cy="594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21040" y="2788920"/>
            <a:ext cx="301752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232754"/>
                </a:solidFill>
                <a:latin typeface="Funnel Display"/>
              </a:rPr>
              <a:t>Instagram, un compte qui dort à moitié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49039"/>
            <a:ext cx="3017520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2B2A35"/>
                </a:solidFill>
                <a:latin typeface="Work Sans"/>
              </a:rPr>
              <a:t>1 172 abonnés, </a:t>
            </a:r>
            <a:r>
              <a:rPr sz="1300" b="1" i="0">
                <a:solidFill>
                  <a:srgbClr val="2B2A35"/>
                </a:solidFill>
                <a:latin typeface="Work Sans"/>
              </a:rPr>
              <a:t>11 posts en sept mois</a:t>
            </a:r>
            <a:r>
              <a:rPr sz="1300" b="0" i="0">
                <a:solidFill>
                  <a:srgbClr val="2B2A35"/>
                </a:solidFill>
                <a:latin typeface="Work Sans"/>
              </a:rPr>
              <a:t>, aucune vidéo, 40 jours de silence cet été. Pourtant chaque post réunit 64 j'aime : huit fois plus par abonné que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7-09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L'histoire, la marque, les valeurs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Avant de juger les chiffres : qui parle, d'où, et pour dire quoi.</a:t>
            </a:r>
          </a:p>
        </p:txBody>
      </p:sp>
      <p:pic>
        <p:nvPicPr>
          <p:cNvPr id="6" name="Picture 5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 PARCOURS, D'APRÈS SON PROFIL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Dix ans de terrain, quatre pays, un fil rouge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9" name="Picture 8" descr="rond_li_pro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611880"/>
            <a:ext cx="21031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232754"/>
                </a:solidFill>
                <a:latin typeface="Funnel Display"/>
              </a:rPr>
              <a:t>Cofondatrice et directrice des opérations, Mstudio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210312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Bilingue français · anglais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Études : Earlham College (États-Unis), économie, 2016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788920"/>
            <a:ext cx="8503920" cy="4572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0439" y="2423160"/>
            <a:ext cx="749808" cy="74980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war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393" y="2603113"/>
            <a:ext cx="389900" cy="389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17520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BuuPass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Cofondatrice et directrice générale, Nairobi. Prix Hult : 1 M$, remis par Bill Clinton.</a:t>
            </a:r>
          </a:p>
        </p:txBody>
      </p:sp>
      <p:sp>
        <p:nvSpPr>
          <p:cNvPr id="18" name="Oval 17"/>
          <p:cNvSpPr/>
          <p:nvPr/>
        </p:nvSpPr>
        <p:spPr>
          <a:xfrm>
            <a:off x="5257799" y="2423160"/>
            <a:ext cx="749808" cy="74980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753" y="2603113"/>
            <a:ext cx="389900" cy="389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54879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599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Wasoko, Mondo 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599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Expansion et développement commercial, Kigali et Nairobi.</a:t>
            </a:r>
          </a:p>
        </p:txBody>
      </p:sp>
      <p:sp>
        <p:nvSpPr>
          <p:cNvPr id="23" name="Oval 22"/>
          <p:cNvSpPr/>
          <p:nvPr/>
        </p:nvSpPr>
        <p:spPr>
          <a:xfrm>
            <a:off x="6995159" y="2423160"/>
            <a:ext cx="749808" cy="74980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out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113" y="2603113"/>
            <a:ext cx="389900" cy="389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92240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59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Bolt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Opérations régionales en Afrique de l'Est, Nairobi.</a:t>
            </a:r>
          </a:p>
        </p:txBody>
      </p:sp>
      <p:sp>
        <p:nvSpPr>
          <p:cNvPr id="28" name="Oval 27"/>
          <p:cNvSpPr/>
          <p:nvPr/>
        </p:nvSpPr>
        <p:spPr>
          <a:xfrm>
            <a:off x="8732520" y="2423160"/>
            <a:ext cx="749808" cy="74980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ock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2473" y="2603113"/>
            <a:ext cx="389900" cy="3899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0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Wave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Lancement de pays dans cinq marchés, puis responsable croissance.</a:t>
            </a:r>
          </a:p>
        </p:txBody>
      </p:sp>
      <p:sp>
        <p:nvSpPr>
          <p:cNvPr id="33" name="Oval 32"/>
          <p:cNvSpPr/>
          <p:nvPr/>
        </p:nvSpPr>
        <p:spPr>
          <a:xfrm>
            <a:off x="10469880" y="2423160"/>
            <a:ext cx="749808" cy="749808"/>
          </a:xfrm>
          <a:prstGeom prst="ellipse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gem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9833" y="2603113"/>
            <a:ext cx="389900" cy="3899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966959" y="1737360"/>
            <a:ext cx="1737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 i="0">
                <a:solidFill>
                  <a:srgbClr val="00AED4"/>
                </a:solidFill>
                <a:latin typeface="Funnel Display"/>
              </a:rPr>
              <a:t>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3337560"/>
            <a:ext cx="16459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Mstudio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3886200"/>
            <a:ext cx="1645920" cy="1737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Cofondatrice et directrice des opérations, Abidjan.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5440680"/>
            <a:ext cx="8622792" cy="685800"/>
          </a:xfrm>
          <a:prstGeom prst="roundRect">
            <a:avLst>
              <a:gd name="adj" fmla="val 2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award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5550408"/>
            <a:ext cx="457200" cy="4572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794760" y="5559552"/>
            <a:ext cx="77724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Distinctions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Forbes 30 Under 30 Africa (2023) · African Women in Technology Prize (2017) · Transdev Mobility Grant (2018) · Prix Hult (2016)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LA MARQUE LESLIE : MISSION ET VALEURS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Ce qu'elle défend, avec ses propres mots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4846320" cy="2743200"/>
          </a:xfrm>
          <a:prstGeom prst="roundRect">
            <a:avLst>
              <a:gd name="adj" fmla="val 6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uot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874519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59" y="2377440"/>
            <a:ext cx="4297680" cy="1508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Funnel Display"/>
              </a:rPr>
              <a:t>« Je rêve d'un écosystème tech africain où le financement et les opportunités sont accessibles à tous, quel que soit le genre, le lieu ou l'origine.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931920"/>
            <a:ext cx="4297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B8D4F0"/>
                </a:solidFill>
                <a:latin typeface="Space Grotesk"/>
                <a:hlinkClick r:id="rId4"/>
              </a:rPr>
              <a:t>Résumé de son profil LinkedIn, traduit de l'anglais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484632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Sa mission, telle qu'elle la décrit : faire de l'économie informelle d'Afrique francophone un moteur d'emplois et de valeur, par la technologie et l'IA.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Elle intervient sur l'Afrique, la tech, l'IA et l'entrepreneuriat féminin, et conseille des startups 2 à 3 heures par mois (Entourage).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645920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2160" y="1755648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222" y="1891710"/>
            <a:ext cx="294802" cy="2948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1719072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Accès pour toutes et tous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29968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6"/>
              </a:rPr>
              <a:t>« Les femmes ne manquent pas de détermination. Elles manquent de miroirs. 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2542032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2651760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r-chart-3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8222" y="2787822"/>
            <a:ext cx="294802" cy="2948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0" y="2615184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La preuve avant le bruit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8"/>
              </a:rPr>
              <a:t>« La profondeur avant les headlines. » · « Un problème de preuve.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3438144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52160" y="3547872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glob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8222" y="3683934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0" y="3511296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Construire sur le continent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22191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10"/>
              </a:rPr>
              <a:t>« L'Afrique cesse d'être au menu, pour passer à la table. 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15000" y="4334256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52160" y="4443984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hield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8222" y="4580046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83680" y="4407408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L'équilibre, pas la course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718304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12"/>
              </a:rPr>
              <a:t>« Nous cherchons l'équilibre, pas la croissance à tout prix. 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5230368"/>
            <a:ext cx="5925312" cy="78638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52160" y="5340096"/>
            <a:ext cx="566928" cy="566928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us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222" y="5476158"/>
            <a:ext cx="294802" cy="2948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83680" y="5303520"/>
            <a:ext cx="4937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On ne réussit pas seul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614416"/>
            <a:ext cx="49377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007ABB"/>
                </a:solidFill>
                <a:latin typeface="Work Sans"/>
                <a:hlinkClick r:id="rId13"/>
              </a:rPr>
              <a:t>« Entreprendre seul.e, ça ne veut pas dire entreprendre sans personne.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 TON RELEVÉ SUR SES 49 POSTS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Sa voix : directe, engagée, et beaucoup d'émojis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parkle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47088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2212848"/>
            <a:ext cx="1828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182880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des posts contiennent des émojis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64592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parkle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847088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17520" y="2212848"/>
            <a:ext cx="1828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670048"/>
            <a:ext cx="182880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émojis par post en médiane (jusqu'à 19)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64592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en-tool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847088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03520" y="2212848"/>
            <a:ext cx="18288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670048"/>
            <a:ext cx="182880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mots par post en médiane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64592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ash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19" y="1847088"/>
            <a:ext cx="347472" cy="3474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589519" y="2212848"/>
            <a:ext cx="16916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3,8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670048"/>
            <a:ext cx="169164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mots-dièse par post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1645920"/>
            <a:ext cx="2084831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59" y="1847088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738359" y="2212848"/>
            <a:ext cx="1764791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59 %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59" y="2670048"/>
            <a:ext cx="1764791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des posts parlent à la 1re personne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SES ÉMOJIS LES PLUS UTILISÉS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639312"/>
            <a:ext cx="5486400" cy="1143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703320"/>
            <a:ext cx="5212080" cy="10058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 i="0">
                <a:solidFill>
                  <a:srgbClr val="2B2A35"/>
                </a:solidFill>
                <a:latin typeface="Noto Color Emoji"/>
              </a:rPr>
              <a:t>👉  🇨🇮  🚀  👇  🌍  📊  ✔  📍  🤝  💰  👉🏾  🔗  📅  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5486400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Trois familles : </a:t>
            </a:r>
            <a:r>
              <a:rPr sz="1150" b="0" i="0">
                <a:solidFill>
                  <a:srgbClr val="2B2A35"/>
                </a:solidFill>
                <a:latin typeface="Work Sans"/>
              </a:rPr>
              <a:t>des repères (👉 📍 📅 🔗) pour guider la lecture, des drapeaux (🇨🇮 🇫🇷 🇰🇪) pour situer, et des mains au teint foncé (👉🏾 🙏🏾 ✊🏾), présentes dans 22 cas : une signature identitaire assumée.</a:t>
            </a:r>
          </a:p>
        </p:txBody>
      </p:sp>
      <p:pic>
        <p:nvPicPr>
          <p:cNvPr id="33" name="Picture 32" descr="08_emoji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246120"/>
            <a:ext cx="5330952" cy="27987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09360" y="6035040"/>
            <a:ext cx="533095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1">
                <a:solidFill>
                  <a:srgbClr val="8F8F9A"/>
                </a:solidFill>
                <a:latin typeface="Work Sans"/>
              </a:rPr>
              <a:t>Ses émojis ne freinent pas : les posts qui en ont 10 ou plus font même mieux (141 contre 91). On garde son style.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_2026-07-04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02</a:t>
            </a:r>
          </a:p>
        </p:txBody>
      </p:sp>
      <p:pic>
        <p:nvPicPr>
          <p:cNvPr id="4" name="Picture 3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8862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Son réseau principal : 17 209 abonnés, 49 posts depuis janvier.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LA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 profil LinkedIn : solide, mais en anglais et daté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_banniere_3.99_0.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45920"/>
            <a:ext cx="6675120" cy="1673352"/>
          </a:xfrm>
          <a:prstGeom prst="rect">
            <a:avLst/>
          </a:prstGeom>
        </p:spPr>
      </p:pic>
      <p:pic>
        <p:nvPicPr>
          <p:cNvPr id="12" name="Picture 11" descr="rond_li_prof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697480"/>
            <a:ext cx="1325880" cy="1325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77440" y="3383280"/>
            <a:ext cx="47548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Leslie Ossete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630936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Co-founder &amp; COO @ Mstudio | Forbes 30 Under 30 Africa | Building &amp; governing tech ventures in Francophone Africa | Driving digital transformation &amp; AI with leading 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6309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8F8F9A"/>
                </a:solidFill>
                <a:latin typeface="Space Grotesk"/>
              </a:rPr>
              <a:t>Abidjan, Côte d'Ivoire · 17 209 abonnés · 7 674 relations · 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6309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  <a:hlinkClick r:id="rId6"/>
              </a:rPr>
              <a:t>Ouvrir le profil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600200"/>
            <a:ext cx="40965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1764792"/>
            <a:ext cx="54864" cy="1088136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-circle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78308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75320" y="1783080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Ce qui marche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13432"/>
            <a:ext cx="36850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Photo pro récente (mars 2026), titre riche (Forbes 30 Under 30), résumé qui raconte une mission, 5 articles et vidéos mis en avant.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3127248"/>
            <a:ext cx="40965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43800" y="3291840"/>
            <a:ext cx="54864" cy="1088136"/>
          </a:xfrm>
          <a:prstGeom prst="rect">
            <a:avLst/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lert-triangle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310128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75320" y="3310128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À corriger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3840480"/>
            <a:ext cx="36850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Bannière de novembre 2022, ancien slogan Mstudio sur fond blanc, ni photo ni message. Titre et résumé en anglais alors que 45 posts sur 49 sont en français.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43800" y="4654296"/>
            <a:ext cx="40965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3800" y="4818888"/>
            <a:ext cx="54864" cy="10881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ink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837176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75320" y="4837176"/>
            <a:ext cx="31821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Lien manquant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367528"/>
            <a:ext cx="36850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 seul site affiché est un blog Substack. Ni mstudio.vc, ni Instagram, ni prise de rendez-vous.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JANVIER À OCTOBRE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En chiffres : une audience large, un rythme irrégulier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01368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17 209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abonnés au 24 octobre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7208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088" y="1801368"/>
            <a:ext cx="347472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90088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publications, 1,2 par semaine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hear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656" y="1801368"/>
            <a:ext cx="347472" cy="347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48656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656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interactions par post (médiane)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24344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essage-circle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3" y="1801368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7223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3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commentaires par post (médiane)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2912" y="160020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lock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792" y="1801368"/>
            <a:ext cx="34747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65792" y="2167128"/>
            <a:ext cx="178307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624328"/>
            <a:ext cx="1783079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silences de plus de 15 jours</a:t>
            </a:r>
          </a:p>
        </p:txBody>
      </p:sp>
      <p:pic>
        <p:nvPicPr>
          <p:cNvPr id="30" name="Picture 29" descr="01_mo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200400"/>
            <a:ext cx="6035040" cy="301752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858000" y="3200400"/>
            <a:ext cx="4782312" cy="29260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3364992"/>
            <a:ext cx="54864" cy="259689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ightbulb_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3383280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589520" y="3383280"/>
            <a:ext cx="38679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Lecture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913632"/>
            <a:ext cx="4370832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Mai a été le meilleur mois : 11 posts, Nairobi, le podcast PodLab. Après juillet, le rythme et la réponse baissent ensemble.
Les commentaires restent faibles (3 par post) : on aime ses posts, mais on ne lui répond pas encore. C'est le levier à travailler.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CE DONT ELLE PARLE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Les sujets : ses récits portent, ses annonces s'essoufflent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10" name="Picture 9" descr="02_suje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6949440" cy="3300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72400" y="1600200"/>
            <a:ext cx="3867912" cy="21488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1764792"/>
            <a:ext cx="54864" cy="1819656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ending-up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783080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03920" y="1783080"/>
            <a:ext cx="29535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Ce qui porte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313432"/>
            <a:ext cx="3456432" cy="1325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Les récits vécus (187), Mstudio et ses startups (168), les femmes et la tech (148). Là où Leslie parle d'elle, de ce qu'elle a vu, de ce qu'elle a appris.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931920"/>
            <a:ext cx="3867912" cy="219456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4096511"/>
            <a:ext cx="54864" cy="1865376"/>
          </a:xfrm>
          <a:prstGeom prst="rect">
            <a:avLst/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rending-down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114800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03920" y="4114800"/>
            <a:ext cx="29535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Ce qui s'essouffle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645152"/>
            <a:ext cx="3456432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Les annonces d'événement : 13 posts, 88 en médiane, 2 commentaires. Les 4 posts en anglais font 115 contre 121 en français, pour une audience surtout francophone.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LE VISUEL QUI ACCOMPAGNE LE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Les formats : la vidéo et le texte qui raconte gagnent, l'affiche perd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10" name="Picture 9" descr="07_formats_visu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6309360" cy="33124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600200"/>
            <a:ext cx="4480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CE QU'ON VOIT DANS LE FIL</a:t>
            </a:r>
          </a:p>
        </p:txBody>
      </p:sp>
      <p:pic>
        <p:nvPicPr>
          <p:cNvPr id="12" name="Picture 11" descr="li_2026-03-19_1.34_0.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011680"/>
            <a:ext cx="2148840" cy="1600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05472" y="327355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8F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5472" y="3273552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Affiche</a:t>
            </a:r>
          </a:p>
        </p:txBody>
      </p:sp>
      <p:pic>
        <p:nvPicPr>
          <p:cNvPr id="15" name="Picture 14" descr="li_2026-09-09_1.34_0.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2011680"/>
            <a:ext cx="2148840" cy="1600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491472" y="327355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8F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91472" y="3273552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Affiche</a:t>
            </a:r>
          </a:p>
        </p:txBody>
      </p:sp>
      <p:pic>
        <p:nvPicPr>
          <p:cNvPr id="18" name="Picture 17" descr="li_2026-07-13_1.34_0.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4069080"/>
            <a:ext cx="2148840" cy="1600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205472" y="533095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5330952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Photo réelle</a:t>
            </a:r>
          </a:p>
        </p:txBody>
      </p:sp>
      <p:pic>
        <p:nvPicPr>
          <p:cNvPr id="21" name="Picture 20" descr="li_2026-05-14_1.34_0.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0" y="4069080"/>
            <a:ext cx="2148840" cy="1600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491472" y="533095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91472" y="5330952"/>
            <a:ext cx="11887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Space Grotesk"/>
              </a:rPr>
              <a:t>Photo réelle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63093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18 affiches sur 49 posts. </a:t>
            </a:r>
            <a:r>
              <a:rPr sz="1150" b="0" i="0">
                <a:solidFill>
                  <a:srgbClr val="2B2A35"/>
                </a:solidFill>
                <a:latin typeface="Work Sans"/>
              </a:rPr>
              <a:t>Elles portent chacune la charte de l'organisateur (Entourage, Impact IA, Aitek…) : le fil de Leslie change de couleurs à chaque post, et son visage n'y est souvent qu'un médaillon. La vidéo (8 posts) fait plus du double.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JOURS ET HEURES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Quand publier : le lundi matin, pas le mercredi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10" name="Picture 9" descr="03_formats_jou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7315200" cy="3291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38160" y="1600200"/>
            <a:ext cx="350215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801368"/>
            <a:ext cx="347472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1040" y="2167128"/>
            <a:ext cx="318211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Lundi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24328"/>
            <a:ext cx="3182112" cy="3657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139 interactions en médiane, sur 16 posts : son meilleur jour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08960"/>
            <a:ext cx="350215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lert-triang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310128"/>
            <a:ext cx="347472" cy="3474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21040" y="3675887"/>
            <a:ext cx="318211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Mercredi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133087"/>
            <a:ext cx="3182112" cy="3657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61 en médiane sur 8 posts : à éviter pour les posts importants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617720"/>
            <a:ext cx="3502152" cy="13716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818888"/>
            <a:ext cx="347472" cy="3474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21040" y="5184648"/>
            <a:ext cx="3182112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8 h – 10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641848"/>
            <a:ext cx="3182112" cy="3657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 créneau le plus fort (heure d'Abidjan)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CE QUI A LE MIEUX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Ses trois meilleurs posts, et ce qu'ils ont en commun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_2026-02-24_1.61_0.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3" y="1655064"/>
            <a:ext cx="3456432" cy="215615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381 interactions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24/02/2026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3 ans de Mstudio : les chiffres et la méthode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Texte seul, chiffres et conviction. 56 commentaires : son record.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5"/>
              </a:rPr>
              <a:t>Voir la publication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_2026-05-04_1.61_0.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543" y="1655064"/>
            <a:ext cx="3456432" cy="215615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462271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1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353 interactions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1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04/05/2026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1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Podcast PodLab : dix ans de carrière sans filtre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Vidéo du podcast PodLab : son parcours sans filtre.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1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7"/>
              </a:rPr>
              <a:t>Voir la publication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i_2026-05-06_1.61_0.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3" y="1655064"/>
            <a:ext cx="3456432" cy="215615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211311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1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318 interactions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1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06/05/2026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Africa Forward Nairobi : modération du panel 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Annonce de Nairobi avec photo portrait : la seule affiche du haut du classement.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9"/>
              </a:rPr>
              <a:t>Voir la publication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33872"/>
            <a:ext cx="11091672" cy="41148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Le point commun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Leslie parle en son nom, raconte un moment vécu et donne des chiffres. Deux fois sur trois, sans affiche.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LINKEDIN · CE QUI N'A PAS PRIS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Ses trois posts les moins lus, et pourquoi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_2026-05-25_1.61_0.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3" y="1655064"/>
            <a:ext cx="3456432" cy="215615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33 interactions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25/05/2026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Bootcamp SAVR : appel à candidatures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Affiche d'un partenaire, aucun récit, un lundi férié (Pentecôte).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5"/>
              </a:rPr>
              <a:t>Voir la publication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i_2026-04-14_1.61_0.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543" y="1655064"/>
            <a:ext cx="3456432" cy="215615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462271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1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35 interactions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1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14/04/2026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1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Fondateurs locaux : 5,1 % des fonds levés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1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En anglais, le lendemain d'un post sur le même sujet.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1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7"/>
              </a:rPr>
              <a:t>Voir la publication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600200"/>
            <a:ext cx="356616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i_2026-05-15_1.61_0.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3" y="1655064"/>
            <a:ext cx="3456432" cy="215615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211311" y="3427171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1" y="3427171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35 interactions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1" y="3902659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15/05/2026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4140403"/>
            <a:ext cx="323697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10 leçons sur l'IA (Africa Forward)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1" y="4725619"/>
            <a:ext cx="3236976" cy="7150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Liste longue et générique, au lendemain de son retour de Nairobi.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1" y="5431536"/>
            <a:ext cx="323697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9"/>
              </a:rPr>
              <a:t>Voir la publication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33872"/>
            <a:ext cx="11091672" cy="41148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Le point commun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la voix de Leslie disparaît derrière le message d'un autre, ou derrière une langue que son audience lit moins.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9-21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03</a:t>
            </a:r>
          </a:p>
        </p:txBody>
      </p:sp>
      <p:pic>
        <p:nvPicPr>
          <p:cNvPr id="4" name="Picture 3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38862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Un compte personnel de 1 172 abonnés : plus intime, plus réactif, trop rare.</a:t>
            </a:r>
          </a:p>
        </p:txBody>
      </p:sp>
      <p:pic>
        <p:nvPicPr>
          <p:cNvPr id="7" name="Picture 6" descr="logo_mstudio_blanc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INSTAGRAM · LA VITRINE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 profil Instagram : une promesse forte, un lien avec Mstudio absent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120640" cy="4526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828800"/>
            <a:ext cx="137160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77440" y="2103120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514600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publications*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03120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1 172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514600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abonnés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109728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3 051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10972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abonnements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4663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Leslie Ossété | Entreprendre Sans Filtre.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46634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🚀 J’aide les entrepreneurs africains à entreprendre pour de vrai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💡 Tu veux lancer un business solide ?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Abonne-toi 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taplink.cc/leslie_ossete · catégorie « Blog personnel » · 6 stories à la une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80"/>
            <a:ext cx="4663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  <a:hlinkClick r:id="rId5"/>
              </a:rPr>
              <a:t>Ouvrir le compte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466344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 i="1">
                <a:solidFill>
                  <a:srgbClr val="8F8F9A"/>
                </a:solidFill>
                <a:latin typeface="Work Sans"/>
              </a:rPr>
              <a:t>* publications depuis mars 2026 ; le compte en affiche 43 au total.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600200"/>
            <a:ext cx="56967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764792"/>
            <a:ext cx="54864" cy="1088136"/>
          </a:xfrm>
          <a:prstGeom prst="rect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-circl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7830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75120" y="1783080"/>
            <a:ext cx="47823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Ce qui marche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313432"/>
            <a:ext cx="52852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Une promesse claire, tournée vers les entrepreneurs, à la deuxième personne. Une photo portrait cohérente avec LinkedIn.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3127248"/>
            <a:ext cx="56967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3291840"/>
            <a:ext cx="54864" cy="1088136"/>
          </a:xfrm>
          <a:prstGeom prst="rect">
            <a:avLst/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lert-triangle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310128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0" y="3310128"/>
            <a:ext cx="47823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À corriger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840480"/>
            <a:ext cx="52852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Ni Mstudio, ni Forbes 30 Under 30, ni Abidjan dans la bio. Elle suit presque trois fois plus de comptes qu'elle n'a d'abonnés.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4654296"/>
            <a:ext cx="5696712" cy="14173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4818888"/>
            <a:ext cx="54864" cy="10881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ink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837176"/>
            <a:ext cx="384048" cy="3840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75120" y="4837176"/>
            <a:ext cx="478231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À vérifier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5367528"/>
            <a:ext cx="528523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 lien en bio mène à une page de liens (« Mon Linktree ») : contenu à revoir pour mettre en tête le podcast, Entourage et LinkedIn.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INSTAGRAM · LES 11 PUBLICATIONS DE MARS À OCTOBRE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Son fil, en un coup d'œil : de vraies photos, peu de rythme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10" name="Picture 9" descr="ig_2026-10-20_1.00_0.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00200"/>
            <a:ext cx="1417320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5"/>
              </a:rPr>
              <a:t>♥ 22  ·  20/10</a:t>
            </a:r>
          </a:p>
        </p:txBody>
      </p:sp>
      <p:pic>
        <p:nvPicPr>
          <p:cNvPr id="12" name="Picture 11" descr="ig_2026-09-21_1.00_0.2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831" y="1600200"/>
            <a:ext cx="1417320" cy="1417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84831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7"/>
              </a:rPr>
              <a:t>♥ 64  ·  21/09</a:t>
            </a:r>
          </a:p>
        </p:txBody>
      </p:sp>
      <p:pic>
        <p:nvPicPr>
          <p:cNvPr id="14" name="Picture 13" descr="ig_2026-09-17_1.00_0.2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1024" y="1600200"/>
            <a:ext cx="1417320" cy="1417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21024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9"/>
              </a:rPr>
              <a:t>♥ 27  ·  17/09</a:t>
            </a:r>
          </a:p>
        </p:txBody>
      </p:sp>
      <p:pic>
        <p:nvPicPr>
          <p:cNvPr id="16" name="Picture 15" descr="ig_2026-08-08_1.00_0.2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1600200"/>
            <a:ext cx="1417320" cy="1417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57216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1"/>
              </a:rPr>
              <a:t>♥ 117  ·  08/08</a:t>
            </a:r>
          </a:p>
        </p:txBody>
      </p:sp>
      <p:pic>
        <p:nvPicPr>
          <p:cNvPr id="18" name="Picture 17" descr="ig_2026-07-09_1.00_0.2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3407" y="1600200"/>
            <a:ext cx="1417320" cy="1417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93407" y="3063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3"/>
              </a:rPr>
              <a:t>♥ 64  ·  09/07</a:t>
            </a:r>
          </a:p>
        </p:txBody>
      </p:sp>
      <p:pic>
        <p:nvPicPr>
          <p:cNvPr id="20" name="Picture 19" descr="ig_2026-07-08_1.00_0.2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3886200"/>
            <a:ext cx="1417320" cy="1417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5"/>
              </a:rPr>
              <a:t>♥ 64  ·  08/07</a:t>
            </a:r>
          </a:p>
        </p:txBody>
      </p:sp>
      <p:pic>
        <p:nvPicPr>
          <p:cNvPr id="22" name="Picture 21" descr="ig_2026-07-03_1.00_0.2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84831" y="3886200"/>
            <a:ext cx="1417320" cy="1417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084831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7"/>
              </a:rPr>
              <a:t>♥ 20  ·  03/07</a:t>
            </a:r>
          </a:p>
        </p:txBody>
      </p:sp>
      <p:pic>
        <p:nvPicPr>
          <p:cNvPr id="24" name="Picture 23" descr="ig_2026-05-31_1.00_0.25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21024" y="3886200"/>
            <a:ext cx="1417320" cy="1417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621024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19"/>
              </a:rPr>
              <a:t>♥ 86  ·  31/05</a:t>
            </a:r>
          </a:p>
        </p:txBody>
      </p:sp>
      <p:pic>
        <p:nvPicPr>
          <p:cNvPr id="26" name="Picture 25" descr="ig_2026-05-14_1.00_0.25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57216" y="3886200"/>
            <a:ext cx="1417320" cy="1417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157216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21"/>
              </a:rPr>
              <a:t>♥ 77  ·  14/05</a:t>
            </a:r>
          </a:p>
        </p:txBody>
      </p:sp>
      <p:pic>
        <p:nvPicPr>
          <p:cNvPr id="28" name="Picture 27" descr="ig_2026-04-03_1.00_0.25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93407" y="3886200"/>
            <a:ext cx="1417320" cy="1417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93407" y="534924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232754"/>
                </a:solidFill>
                <a:latin typeface="Space Grotesk"/>
                <a:hlinkClick r:id="rId23"/>
              </a:rPr>
              <a:t>♥ 30  ·  03/04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1600200"/>
            <a:ext cx="3227832" cy="13258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heart_b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595359" y="1801368"/>
            <a:ext cx="347472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95359" y="2167128"/>
            <a:ext cx="2907791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59" y="2624328"/>
            <a:ext cx="2907791" cy="3200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j'aime par post (médiane), 2 commentaires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3063240"/>
            <a:ext cx="3227832" cy="13258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trending-up_b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95359" y="3264408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95359" y="3630168"/>
            <a:ext cx="2907791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5,5 %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4087368"/>
            <a:ext cx="2907791" cy="3200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des abonnés réagissent à chaque post, contre 0,7 % sur LinkedIn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4526280"/>
            <a:ext cx="3227832" cy="13258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video_b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95359" y="4727448"/>
            <a:ext cx="347472" cy="34747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595359" y="5093208"/>
            <a:ext cx="2907791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59" y="5550408"/>
            <a:ext cx="2907791" cy="3200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vidéo publiée sur son propre compte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897880"/>
            <a:ext cx="76809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1">
                <a:solidFill>
                  <a:srgbClr val="2B2A35"/>
                </a:solidFill>
                <a:latin typeface="Work Sans"/>
              </a:rPr>
              <a:t>Sept posts sur onze sont des photos réelles où elle apparaît : c'est la force du compte.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INSTAGRAM · MEILLEURS ET MOINS BONS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Ce qui marche sur Instagram : le personnel et le parcours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14884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g_2026-08-08_1.61_0.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3" y="1655064"/>
            <a:ext cx="2039112" cy="12774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" y="2548432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548432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023920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08/08/2026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61664"/>
            <a:ext cx="181965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Vacances à la plage, en anglais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846880"/>
            <a:ext cx="1819656" cy="19595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Une seule phrase. Le plus aimé : on veut aussi voir la personne.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797296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5"/>
              </a:rPr>
              <a:t>Voir la publication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1600200"/>
            <a:ext cx="214884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g_2026-05-31_1.61_0.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504" y="1655064"/>
            <a:ext cx="2039112" cy="127741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999232" y="2548432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2" y="2548432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3023920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31/05/2026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3261664"/>
            <a:ext cx="181965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« Rentrer en Afrique » : son parcours de la diaspora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3846880"/>
            <a:ext cx="1819656" cy="19595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Récit long, 20 émojis, son histoire du Congo à Abidjan.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9232" y="5797296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7"/>
              </a:rPr>
              <a:t>Voir la publication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1600200"/>
            <a:ext cx="214884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g_2026-05-14_1.61_0.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503" y="1655064"/>
            <a:ext cx="2039112" cy="127741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285231" y="2548432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1" y="2548432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1" y="3023920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14/05/2026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1" y="3261664"/>
            <a:ext cx="181965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Retour du sommet de Nairobi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1" y="3846880"/>
            <a:ext cx="1819656" cy="19595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Carrousel de photos de scène et d'équipe.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1" y="5797296"/>
            <a:ext cx="18196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9"/>
              </a:rPr>
              <a:t>Voir la publication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1600200"/>
            <a:ext cx="201168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g_2026-07-03_1.61_0.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2944" y="1655064"/>
            <a:ext cx="1901952" cy="1192377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7662671" y="2463393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1" y="2463393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1" y="2938881"/>
            <a:ext cx="16824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03/07/2026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1" y="3176625"/>
            <a:ext cx="168249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10 ans de la French Tech Abidjan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2671" y="3761841"/>
            <a:ext cx="1682496" cy="204459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Photo de scène lointaine, légende courte.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1" y="5797296"/>
            <a:ext cx="16824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11"/>
              </a:rPr>
              <a:t>Voir la publication 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1600200"/>
            <a:ext cx="201168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g_2026-10-20_1.61_0.3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6064" y="1655064"/>
            <a:ext cx="1901952" cy="1192377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765792" y="2463393"/>
            <a:ext cx="1417320" cy="329184"/>
          </a:xfrm>
          <a:prstGeom prst="roundRect">
            <a:avLst>
              <a:gd name="adj" fmla="val 30000"/>
            </a:avLst>
          </a:prstGeom>
          <a:solidFill>
            <a:srgbClr val="E37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65792" y="2463393"/>
            <a:ext cx="141732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pace Grotesk"/>
              </a:rPr>
              <a:t>♥ 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65792" y="2938881"/>
            <a:ext cx="16824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20/10/2026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65792" y="3176625"/>
            <a:ext cx="1682496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32754"/>
                </a:solidFill>
                <a:latin typeface="Funnel Display"/>
              </a:rPr>
              <a:t>Tipping Point 2026 : trois idées que je garde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5792" y="3761841"/>
            <a:ext cx="1682496" cy="204459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Publié trois jours après, photo de panel où elle est petite.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65792" y="5797296"/>
            <a:ext cx="16824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13"/>
              </a:rPr>
              <a:t>Voir la publication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1298448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ADA4"/>
                </a:solidFill>
                <a:latin typeface="Space Grotesk"/>
              </a:rPr>
              <a:t>LES PLUS AIMÉS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1298448"/>
            <a:ext cx="41148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E37744"/>
                </a:solidFill>
                <a:latin typeface="Space Grotesk"/>
              </a:rPr>
              <a:t>LES MOINS AIMÉS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INSTAGRAM · LES PUBLICATIONS OÙ ELLE EST IDENTIFIÉE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Ses meilleures vidéos sont publiées par d'autres comptes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01368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2167128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24328"/>
            <a:ext cx="233172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publications d'autres comptes l'identifient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ideo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55848"/>
            <a:ext cx="347472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3721608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78808"/>
            <a:ext cx="233172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extraits vidéo du podcast PodLab, en six jours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pea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910328"/>
            <a:ext cx="347472" cy="347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5276088"/>
            <a:ext cx="233172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600" b="1" i="0">
                <a:solidFill>
                  <a:srgbClr val="232754"/>
                </a:solidFill>
                <a:latin typeface="Funnel Display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33288"/>
            <a:ext cx="2331720" cy="4114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repris sur son propre compte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474720" y="1600200"/>
          <a:ext cx="4206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0058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Work Sans"/>
                        </a:rPr>
                        <a:t>Compte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Work Sans"/>
                        </a:rPr>
                        <a:t>Publications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Work Sans"/>
                        </a:rPr>
                        <a:t>Format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7"/>
                        </a:rPr>
                        <a:t>@podlab.so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Vidéo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8"/>
                        </a:rPr>
                        <a:t>@tatiana_drame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Photo, affiche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9"/>
                        </a:rPr>
                        <a:t>@abidjanaises_in_tech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Photo, affiche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10"/>
                        </a:rPr>
                        <a:t>@les_gos_creatives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Photo, affiche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11"/>
                        </a:rPr>
                        <a:t>@entourage.africa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Photo, affiche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007ABB"/>
                          </a:solidFill>
                          <a:latin typeface="Work Sans"/>
                          <a:hlinkClick r:id="rId12"/>
                        </a:rPr>
                        <a:t>@fondationsounga_officiel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B2A35"/>
                          </a:solidFill>
                          <a:latin typeface="Work Sans"/>
                        </a:rPr>
                        <a:t>Vidéo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955279" y="1600200"/>
            <a:ext cx="3685032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1764792"/>
            <a:ext cx="54864" cy="419709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ghtbulb_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3879" y="1783080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86800" y="1783080"/>
            <a:ext cx="27706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L'occasion manquée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2313432"/>
            <a:ext cx="3273552" cy="3703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PodLab a publié neuf extraits de son interview entre le 30 avril et le 5 mai : sa levée d'un million de dollars à 21 ans, son passage au salariat, Wave.
Sur LinkedIn, ce même podcast est son 2e meilleur post (353).
Ces vidéos peuvent être republiées sur son propre compte en collaboration : c'est le format qui manque à son fil, et le contenu existe déjà.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4-03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Veille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Six dirigeantes africaines de la tech et de l'investissement, comparées sur LinkedIn.</a:t>
            </a:r>
          </a:p>
        </p:txBody>
      </p:sp>
      <p:pic>
        <p:nvPicPr>
          <p:cNvPr id="6" name="Picture 5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VEILLE · LINKEDIN, 1ER JANVIER AU 24 OCTOBRE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Leslie parmi six dirigeantes comparables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0020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377440"/>
                <a:gridCol w="1371600"/>
                <a:gridCol w="1097280"/>
                <a:gridCol w="2011680"/>
                <a:gridCol w="176479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Profil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Structure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Abonnés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Posts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Interactions / post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Work Sans"/>
                        </a:rPr>
                        <a:t>Commentaires / post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4"/>
                        </a:rPr>
                        <a:t>Rebecca Enonchong 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AppsTech, États-Unis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46 673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1396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174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5"/>
                        </a:rPr>
                        <a:t>Leslie Ossété ↗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Mstudio, Abidjan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17 209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49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121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DD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6"/>
                        </a:rPr>
                        <a:t>Fatoumata Ba 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Janngo, Paris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11 367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241,5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20,5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7"/>
                        </a:rPr>
                        <a:t>Diane Audrey Ngako ↗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Akédé, Douala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11 205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87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8"/>
                        </a:rPr>
                        <a:t>Mariéme Jamme 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iamtheCODE, Londres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7 526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9"/>
                        </a:rPr>
                        <a:t>Madji Sock ↗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Haskè Ventures, Dakar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3 885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18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07ABB"/>
                          </a:solidFill>
                          <a:latin typeface="Work Sans"/>
                          <a:hlinkClick r:id="rId10"/>
                        </a:rPr>
                        <a:t>Audrey Ehouman-Mambo 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AE Tech, Abidjan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2 514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30,5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B2A35"/>
                          </a:solidFill>
                          <a:latin typeface="Work Sans"/>
                        </a:rPr>
                        <a:t>1,5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394960"/>
            <a:ext cx="11091672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À lire avec prudence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Rebecca Enonchong (1 post), Fatoumata Ba (2) et Madji Sock (3) publient très peu. Leurs scores sont des exceptions, pas un rythme. Les liens ouvrent chaque profil.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VEILLE · TROIS IDÉES TIRÉES DES AUTRES PROFILS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Ce qu'on peut leur reprendre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pic>
        <p:nvPicPr>
          <p:cNvPr id="9" name="Picture 8" descr="05_comparaison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760720" cy="21995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0" y="1554480"/>
            <a:ext cx="505663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48272" y="1737360"/>
            <a:ext cx="603504" cy="603504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112" y="1882200"/>
            <a:ext cx="313822" cy="313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98079" y="1682495"/>
            <a:ext cx="4023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Une rubrique à date fixe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029967"/>
            <a:ext cx="40233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Diane Audrey Ngako signe des « Chroniques » numérotées : sa lettre ouverte au président fait 397, dix fois sa moyenne. Une rubrique installe un rendez-vous.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706624"/>
            <a:ext cx="4023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7ABB"/>
                </a:solidFill>
                <a:latin typeface="Space Grotesk"/>
                <a:hlinkClick r:id="rId5"/>
              </a:rPr>
              <a:t>Voir le profil 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127248"/>
            <a:ext cx="505663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48272" y="3310128"/>
            <a:ext cx="603504" cy="603504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ash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112" y="3454968"/>
            <a:ext cx="313822" cy="3138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98079" y="3255264"/>
            <a:ext cx="4023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Un mot-dièse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602736"/>
            <a:ext cx="40233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Mariéme Jamme ouvre chaque post par #impactstories : on reconnaît sa voix avant de lire son nom.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279392"/>
            <a:ext cx="4023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7ABB"/>
                </a:solidFill>
                <a:latin typeface="Space Grotesk"/>
                <a:hlinkClick r:id="rId7"/>
              </a:rPr>
              <a:t>Voir le profil 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700016"/>
            <a:ext cx="5056632" cy="14447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48272" y="4882896"/>
            <a:ext cx="603504" cy="603504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ook-ope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3112" y="5027736"/>
            <a:ext cx="313822" cy="31382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98079" y="4828031"/>
            <a:ext cx="40233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232754"/>
                </a:solidFill>
                <a:latin typeface="Funnel Display"/>
              </a:rPr>
              <a:t>Le récit personnel long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175504"/>
            <a:ext cx="402336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Fatoumata Ba : un seul récit sur son rapport au travail, 301 interactions et 32 commentaires. Rare, mais intime.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852159"/>
            <a:ext cx="4023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7ABB"/>
                </a:solidFill>
                <a:latin typeface="Space Grotesk"/>
                <a:hlinkClick r:id="rId9"/>
              </a:rPr>
              <a:t>Voir le profil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57607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1">
                <a:solidFill>
                  <a:srgbClr val="8F8F9A"/>
                </a:solidFill>
                <a:latin typeface="Work Sans"/>
              </a:rPr>
              <a:t>La comparaison porte sur LinkedIn ; leurs comptes Instagram n'ont pas été relevés.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7-08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Stratégie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Une ligne claire pour les 90 prochains jours, réseau par réseau.</a:t>
            </a:r>
          </a:p>
        </p:txBody>
      </p:sp>
      <p:pic>
        <p:nvPicPr>
          <p:cNvPr id="6" name="Picture 5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UNE PHRASE, DEUX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 positionnement : l'opératrice qui construit sur le continent, sans filtre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11091672" cy="1325880"/>
          </a:xfrm>
          <a:prstGeom prst="roundRect">
            <a:avLst>
              <a:gd name="adj" fmla="val 8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1691640"/>
            <a:ext cx="9875520" cy="11430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Funnel Display"/>
              </a:rPr>
              <a:t>« Celle qui a fait grandir Wave et Bolt, et qui aide aujourd'hui l'Afrique francophone à construire ses propres champions, en disant les choses comme elles sont.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54680"/>
            <a:ext cx="5449824" cy="2971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inkedin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3383280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08760" y="3364992"/>
            <a:ext cx="4206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LinkedIn · </a:t>
            </a:r>
            <a:r>
              <a:rPr sz="1700" b="0" i="0">
                <a:solidFill>
                  <a:srgbClr val="232754"/>
                </a:solidFill>
                <a:latin typeface="Funnel Display"/>
              </a:rPr>
              <a:t>La voix de l'experte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06908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</a:rPr>
              <a:t>POUR QUI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343400"/>
            <a:ext cx="49377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• Investisseurs, institutions, partenaires de Mstudio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• Fondateurs et talents de la diaspora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07492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</a:rPr>
              <a:t>COMMENT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349240"/>
            <a:ext cx="49377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Convictions chiffrées, retours de terrain, récits de décision. Français d'abord.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154680"/>
            <a:ext cx="5449824" cy="297180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nstagram_br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7" y="3383280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50607" y="3364992"/>
            <a:ext cx="42062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>
                <a:solidFill>
                  <a:srgbClr val="232754"/>
                </a:solidFill>
                <a:latin typeface="Funnel Display"/>
              </a:rPr>
              <a:t>Instagram · </a:t>
            </a:r>
            <a:r>
              <a:rPr sz="1700" b="0" i="0">
                <a:solidFill>
                  <a:srgbClr val="232754"/>
                </a:solidFill>
                <a:latin typeface="Funnel Display"/>
              </a:rPr>
              <a:t>La personne derrière la COO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406908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</a:rPr>
              <a:t>POUR QUI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343400"/>
            <a:ext cx="49377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• Entrepreneurs qui se lancent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• Jeunes femmes de la tech, Abidjan et diaspora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5074920"/>
            <a:ext cx="49377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</a:rPr>
              <a:t>COMMENT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5349240"/>
            <a:ext cx="49377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Coulisses, parcours, conseils courts, vidéo. « Entreprendre sans filtre », tutoiement.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DE QUOI PARLER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Quatre piliers de contenu, tirés de ce qui marche déjà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1828800"/>
            <a:ext cx="731520" cy="731520"/>
          </a:xfrm>
          <a:prstGeom prst="ellipse">
            <a:avLst/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c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" y="2004364"/>
            <a:ext cx="380390" cy="3803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59" y="2743200"/>
            <a:ext cx="21945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Sans filtre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74720"/>
            <a:ext cx="21945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Récits vécus : décisions difficiles, échecs, parcours. Rubrique mensuelle à son nom.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" y="4846320"/>
            <a:ext cx="21031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84632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ADA4"/>
                </a:solidFill>
                <a:latin typeface="Space Grotesk"/>
              </a:rPr>
              <a:t>187 · récits vécus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468112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LinkedIn + Instagram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60020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9312" y="1828800"/>
            <a:ext cx="731520" cy="7315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876" y="2004364"/>
            <a:ext cx="380390" cy="38039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39312" y="2743200"/>
            <a:ext cx="21945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Construire en Afrique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474720"/>
            <a:ext cx="21945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Mstudio et ses startups, chiffres, méthode, IA appliquée.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39312" y="4846320"/>
            <a:ext cx="21031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484632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ADA4"/>
                </a:solidFill>
                <a:latin typeface="Space Grotesk"/>
              </a:rPr>
              <a:t>168 · startups Mstudio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5468112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LinkedIn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160020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5664" y="1828800"/>
            <a:ext cx="731520" cy="7315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ar-chart-3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228" y="2004364"/>
            <a:ext cx="380390" cy="38039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55664" y="2743200"/>
            <a:ext cx="21945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Lire l'écosystème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474720"/>
            <a:ext cx="21945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Levées, mobilité, IA : une donnée, une lecture, une conviction.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55664" y="4846320"/>
            <a:ext cx="21031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5664" y="484632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ADA4"/>
                </a:solidFill>
                <a:latin typeface="Space Grotesk"/>
              </a:rPr>
              <a:t>136 · posts chiffrés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468112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LinkedIn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1600200"/>
            <a:ext cx="2651760" cy="452628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72016" y="1828800"/>
            <a:ext cx="731520" cy="731520"/>
          </a:xfrm>
          <a:prstGeom prst="ellipse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user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7580" y="2004364"/>
            <a:ext cx="380390" cy="3803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272016" y="2743200"/>
            <a:ext cx="219456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32754"/>
                </a:solidFill>
                <a:latin typeface="Funnel Display"/>
              </a:rPr>
              <a:t>Elles construisent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2016" y="3474720"/>
            <a:ext cx="219456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Femmes dans la tech, diaspora, talents : miroirs et invitations.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72016" y="4846320"/>
            <a:ext cx="21031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72016" y="484632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50" b="1" i="0">
                <a:solidFill>
                  <a:srgbClr val="00ADA4"/>
                </a:solidFill>
                <a:latin typeface="Space Grotesk"/>
              </a:rPr>
              <a:t>148 · femmes et tech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72016" y="5468112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Instagram + LinkedIn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172200"/>
            <a:ext cx="109728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850" b="0" i="1">
                <a:solidFill>
                  <a:srgbClr val="8F8F9A"/>
                </a:solidFill>
                <a:latin typeface="Work Sans"/>
              </a:rPr>
              <a:t>Chiffre de chaque pilier : interactions médianes LinkedIn constatées depuis janvier.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RYTHME ET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LinkedIn : deux posts par semaine, le lundi d'abord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931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 RYTHME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0312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20574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Funnel Display"/>
              </a:rPr>
              <a:t>Lundi 8 h – 10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DCE3F2"/>
                </a:solidFill>
                <a:latin typeface="Work Sans"/>
              </a:rPr>
              <a:t>Post fort : récit « Sans filtre » ou conviction chiffrée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7472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34290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32754"/>
                </a:solidFill>
                <a:latin typeface="Funnel Display"/>
              </a:rPr>
              <a:t>Jeudi 9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Post écosystème ou Mstudio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4632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48006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32754"/>
                </a:solidFill>
                <a:latin typeface="Funnel Display"/>
              </a:rPr>
              <a:t>1 fois par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Rubrique « Sans filtre », numérotée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554480"/>
            <a:ext cx="6766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LES RÈGLES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92024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56048" y="209397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2230038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201168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Raconter après, annoncer peu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33172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Une annonce d'événement au plus par mois, toujours avec sa photo à elle ; le récit d'après devient le vrai post.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97180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56048" y="314553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3281598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69280" y="306324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Sa photo plutôt que l'affiche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38328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Remplacer l'affiche des organisateurs par une photo réelle d'elle sur scène ou un carré à la charte Mstudio.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402336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56048" y="419709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4333158"/>
            <a:ext cx="294802" cy="2948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69280" y="411480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Finir par une vraie question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43484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Une question précise, à laquelle on peut répondre en une ligne, pour faire passer les commentaires de 3 à 8.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507492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56048" y="524865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5384718"/>
            <a:ext cx="294802" cy="29480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669280" y="5166359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Garder ses émojis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48640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Repères 👉📍, drapeaux, mains au teint foncé : c'est sa signature, on ne la lisse pas.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RYTHME ET RÈGLES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Instagram : un rendez-vous par semaine, en vidéo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931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 RYTHME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0312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20574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Funnel Display"/>
              </a:rPr>
              <a:t>Mardi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146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DCE3F2"/>
                </a:solidFill>
                <a:latin typeface="Work Sans"/>
              </a:rPr>
              <a:t>Carrousel « Sans filtre » : trois idées tirées d'un événement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7472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34290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32754"/>
                </a:solidFill>
                <a:latin typeface="Funnel Display"/>
              </a:rPr>
              <a:t>Vendredi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Vidéo courte (reel) : extrait de podcast ou de 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6344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4632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4800600"/>
            <a:ext cx="310896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>
                <a:solidFill>
                  <a:srgbClr val="232754"/>
                </a:solidFill>
                <a:latin typeface="Funnel Display"/>
              </a:rPr>
              <a:t>Stories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57800"/>
            <a:ext cx="36118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2B2A35"/>
                </a:solidFill>
                <a:latin typeface="Work Sans"/>
              </a:rPr>
              <a:t>Coulisses d'une journée chez Mstudio, chaque semaine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554480"/>
            <a:ext cx="67665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LES RÈGLES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192024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56048" y="209397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2230038"/>
            <a:ext cx="294802" cy="2948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0" y="201168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Republier ses vidéos existantes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33172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Les neuf extraits PodLab, en collaboration avec @podlab.so : un mois de vidéos sans tournage.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97180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56048" y="314553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3281598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69280" y="306324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Montrer la personne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38328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Le post le plus aimé est une photo de vacances : un post sur quatre peut être personnel.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402336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56048" y="419709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4333158"/>
            <a:ext cx="294802" cy="2948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669280" y="4114800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Compléter la bio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43484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Ajouter « Cofondatrice @mstudio.vc », Forbes 30 Under 30 et Abidjan ; mettre LinkedIn et le podcast en tête du lien.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5074920"/>
            <a:ext cx="6839712" cy="94183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956048" y="5248656"/>
            <a:ext cx="566928" cy="566928"/>
          </a:xfrm>
          <a:prstGeom prst="ellipse">
            <a:avLst/>
          </a:prstGeom>
          <a:solidFill>
            <a:srgbClr val="00A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heck-circ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110" y="5384718"/>
            <a:ext cx="294802" cy="29480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669280" y="5166359"/>
            <a:ext cx="5852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232754"/>
                </a:solidFill>
                <a:latin typeface="Funnel Display"/>
              </a:rPr>
              <a:t>Publier le jour même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5486400"/>
            <a:ext cx="58521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Un récit d'événement publié le soir même, pas trois jours après.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STRATÉGIE · FIN JANVIER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Les objectifs à 90 jours, et comment on saura si ça marche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09167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03120"/>
                <a:gridCol w="2743200"/>
                <a:gridCol w="240487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Indicateur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Aujourd'hui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Objectif fin janvier 2027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Où on le lit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· posts par semaine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1,2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Son profil, onglet Activité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· interactions par post (médiane)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81 depuis août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130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Relevé mensuel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· commentaires par post (médiane)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Relevé mensuel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· silences de plus de 15 jours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6 depuis janvier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Relevé mensuel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 · posts par semaine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0,4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2, dont 1 vidéo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Son compte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 · abonnés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1 172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1 500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Son compte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 · j'aime par post (médiane)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64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80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Relevé mensuel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8F8F9A"/>
                </a:solidFill>
                <a:latin typeface="Work Sans"/>
              </a:rPr>
              <a:t>Les statistiques privées (portée, visites du profil, abonnés gagnés) ne se lisent que depuis son compte : une capture mensuelle suffit pour compléter ce tableau.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10-20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0" b="1" i="0">
                <a:solidFill>
                  <a:srgbClr val="00AED4"/>
                </a:solidFill>
                <a:latin typeface="Funnel Display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96012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Premier lot, prêt à valider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6868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0" i="0">
                <a:solidFill>
                  <a:srgbClr val="DCE3F2"/>
                </a:solidFill>
                <a:latin typeface="Work Sans"/>
              </a:rPr>
              <a:t>Profils réécrits, trois posts LinkedIn, deux posts Instagram. Rien ne part sans l'accord de Leslie.</a:t>
            </a:r>
          </a:p>
        </p:txBody>
      </p:sp>
      <p:pic>
        <p:nvPicPr>
          <p:cNvPr id="6" name="Picture 5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411480"/>
            <a:ext cx="1327677" cy="347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PROFIL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LinkedIn : la vitrine, avant et après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E37744"/>
                </a:solidFill>
                <a:latin typeface="Space Grotesk"/>
              </a:rPr>
              <a:t>AVANT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ADA4"/>
                </a:solidFill>
                <a:latin typeface="Space Grotesk"/>
              </a:rPr>
              <a:t>APRÈS (PROPOSITION)</a:t>
            </a:r>
          </a:p>
        </p:txBody>
      </p:sp>
      <p:pic>
        <p:nvPicPr>
          <p:cNvPr id="12" name="Picture 11" descr="li_banniere_3.99_0.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19"/>
            <a:ext cx="5394960" cy="1353312"/>
          </a:xfrm>
          <a:prstGeom prst="rect">
            <a:avLst/>
          </a:prstGeom>
        </p:spPr>
      </p:pic>
      <p:pic>
        <p:nvPicPr>
          <p:cNvPr id="13" name="Picture 12" descr="proposition_banniere_linked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874519"/>
            <a:ext cx="5394960" cy="13533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3383280"/>
            <a:ext cx="5394960" cy="26974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5029200" cy="2560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Titre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Co-founder &amp; COO @ Mstudio | Forbes 30 Under 30 Africa | Building &amp; governing tech ventures in Francophone Africa | Driving digital transformation &amp; AI with leading institutions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Résumé (début)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I dream of an African tech ecosystem where funding and opportunities are available to all…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383280"/>
            <a:ext cx="5394960" cy="2697480"/>
          </a:xfrm>
          <a:prstGeom prst="roundRect">
            <a:avLst>
              <a:gd name="adj" fmla="val 4000"/>
            </a:avLst>
          </a:prstGeom>
          <a:solidFill>
            <a:srgbClr val="E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474720"/>
            <a:ext cx="5029200" cy="2560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Titre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Cofondatrice &amp; COO @ Mstudio | Forbes 30 Under 30 Africa | Ex-Wave, Bolt | Je construis les champions tech de l'Afrique francophone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Résumé (début, en français)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Je rêve d'un écosystème tech africain où le financement et les opportunités sont accessibles à toutes et à tous. C'est pour ça que j'ai cofondé Mstudio… (version anglaise conservée en dessous)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 i="0">
                <a:solidFill>
                  <a:srgbClr val="2B2A35"/>
                </a:solidFill>
                <a:latin typeface="Work Sans"/>
              </a:rPr>
              <a:t>Liens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 i="0">
                <a:solidFill>
                  <a:srgbClr val="2B2A35"/>
                </a:solidFill>
                <a:latin typeface="Work Sans"/>
              </a:rPr>
              <a:t>mstudio.vc · Instagram · prise de rendez-vous Entourage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PROFIL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Instagram : la bio, avant et après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E37744"/>
                </a:solidFill>
                <a:latin typeface="Space Grotesk"/>
              </a:rPr>
              <a:t>AVANT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5394960" cy="310896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2103120"/>
            <a:ext cx="100584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11680" y="2103120"/>
            <a:ext cx="3749039" cy="2743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Leslie Ossété | Entreprendre Sans Filtre.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🚀 J'aide les entrepreneurs africains à entreprendre pour de vrai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💡 Tu veux lancer un business solide ?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Abonne-toi 🌱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🔗 Mon Linktree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554480"/>
            <a:ext cx="53949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ADA4"/>
                </a:solidFill>
                <a:latin typeface="Space Grotesk"/>
              </a:rPr>
              <a:t>APRÈS (PROPOSITION)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874519"/>
            <a:ext cx="5394960" cy="3108960"/>
          </a:xfrm>
          <a:prstGeom prst="roundRect">
            <a:avLst>
              <a:gd name="adj" fmla="val 4000"/>
            </a:avLst>
          </a:prstGeom>
          <a:solidFill>
            <a:srgbClr val="E6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103120"/>
            <a:ext cx="100584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08392" y="2103120"/>
            <a:ext cx="3749039" cy="2743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Leslie Ossété | Entreprendre Sans Filtre.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🚀 Cofondatrice @mstudio.vc · ex-Wave, Bolt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🏆 Forbes 30 Under 30 Africa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💡 J'aide les entrepreneurs africains à construire pour de vrai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B2A35"/>
                </a:solidFill>
                <a:latin typeface="Noto Color Emoji"/>
              </a:rPr>
              <a:t>📍 Abidjan 🇨🇮 · 🎙️ Podcast et LinkedIn 👇🏾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2B2A35"/>
                </a:solidFill>
                <a:latin typeface="Work Sans"/>
              </a:rPr>
              <a:t>Et aussi : </a:t>
            </a:r>
            <a:r>
              <a:rPr sz="1100" b="0" i="0">
                <a:solidFill>
                  <a:srgbClr val="2B2A35"/>
                </a:solidFill>
                <a:latin typeface="Work Sans"/>
              </a:rPr>
              <a:t>passer le compte en profil « Créateur » pour lire ses statistiques ; renommer le lien « Mon Linktree » en « Podcast · LinkedIn · Mstudio » ; créer trois stories à la une : Parcours, Mstudio, Sans filtre. Le pseudonyme @mstudio.vc est à vérifier avant publication.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LinkedIn n°1 · Tipping Point, raconté après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li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Lundi 26 octobre · 8 h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Samedi 17 octobre, j'étais panéliste au Tipping Point 2026 du Cercle des Pas Seuls 👣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On m'a demandé de raconter mon parcours d'entrepreneure. Sans filtre. Et c'est exactement ce qui s'est passé : des échanges vrais, où chacun a parlé franchement 💬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Trois idées que je garde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1️⃣ Se prioriser. Au bureau, tu es remplaçable. Pour toi-même, tu ne l'es pas.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2️⃣ Écouter son intuition. Elle sait souvent avant nous quand il est temps de partir.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3️⃣ Bien s'entourer. C'est rarement le métier qui épuise. Ce sont les gens.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Entreprendre seul.e, ça ne veut pas dire entreprendre sans personne 🤝🏾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Merci Tatiana Dramé pour l'invitation 🙏🏾, et bravo à mes co-panélistes pour leurs parcours.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Et toi, laquelle de ces trois idées te manque le plus en ce moment ?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#TippingPoint2026 #Entrepreneuriat #Abidjan #CôteDIvoire</a:t>
            </a:r>
          </a:p>
        </p:txBody>
      </p:sp>
      <p:pic>
        <p:nvPicPr>
          <p:cNvPr id="15" name="Picture 14" descr="ig_2026-10-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554480"/>
            <a:ext cx="4142232" cy="27597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>Visuel : sa photo du panel (déjà sur Instagram)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ightbulb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Récit d'événement, publié un lundi matin, avec sa vraie photo : les trois facteurs de ses meilleurs posts.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LinkedIn n°2 · « Sans filtre », la nouvelle rubrique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li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Jeudi 29 octobre · 9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Sans filtre · n°1 🎙️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Après BuuPass, j'ai fait un choix que beaucoup n'ont pas compris : j'ai quitté l'entrepreneuriat pour devenir salariée.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Pas par échec. Pour apprendre 💡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📍 Nairobi, chez Bolt : faire tourner des opérations à l'échelle d'une région.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📍 Puis Wave : lancer des pays, un marché après l'autre 🌍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Ce que le salariat m'a donné, aucune levée ne me l'aurait donné aussi vite 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voir comment on fait grandir une machine, pas seulement une idée 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apprendre des meilleurs, de près 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arriver chez Mstudio avec des réflexes, pas seulement de l'envie.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Aujourd'hui, quand un fondateur me dit « je ne peux pas faire une pause », je lui réponds que ce n'est pas une pause. C'est un détour qui raccourcit le chemin 🛤️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J'en parlais sans filtre avec PodLab au printemps. L'extrait est en commentaire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Et toi : as-tu déjà fait un détour qui t'a fait gagner du temps ?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#SansFiltre #Entrepreneuriat #Carrière #Afrique</a:t>
            </a:r>
          </a:p>
        </p:txBody>
      </p:sp>
      <p:pic>
        <p:nvPicPr>
          <p:cNvPr id="15" name="Picture 14" descr="t_sansfilt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554480"/>
            <a:ext cx="4142232" cy="25681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>Visuel : carré texte à la charte, extrait PodLab en commentaire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ightbulb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Ouvre une rubrique à date fixe, comme les « Chroniques » de Diane Audrey Ngako. Récit vécu, son meilleur pilier.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LINKEDIN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LinkedIn n°3 · Cérémonie Ivoire Tech (trame)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li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Lundi 2 novembre · 8 h 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🇨🇮 Vendredi soir, [nombre] startups ont reçu leur prix Ivoire Tech Next 15 et Ivoire Tech Scale Up, aux côtés du ministère de la Transition numérique.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[Une phrase sur le moment qui t'a marquée pendant la cérémonie.]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En juillet, j'écrivais que ces deux programmes répondent à deux réalités différentes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aider à démarrer ceux qui ont une idée et une première traction 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👉🏾 aider à passer à l'échelle ceux qui ont déjà prouvé leur marché.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Ce que je retiens de cette promotion 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📍 [fait marquant 1]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📍 [fait marquant 2]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La suite se joue maintenant : l'accompagnement, les premiers clients, les premiers financements 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Bravo aux lauréats 👏🏾, et merci aux équipes qui ont porté ces programmes 🙏🏾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Quelle startup de cette promotion voudrais-tu voir présentée ici ?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B2A35"/>
                </a:solidFill>
                <a:latin typeface="Noto Color Emoji"/>
              </a:rPr>
              <a:t>#IvoireTech #CôteDIvoire #Startups #Mstudio</a:t>
            </a:r>
          </a:p>
        </p:txBody>
      </p:sp>
      <p:pic>
        <p:nvPicPr>
          <p:cNvPr id="15" name="Picture 14" descr="li_2026-07-3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1554480"/>
            <a:ext cx="4142232" cy="27608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>Visuel : une photo de la cérémonie du 30 octobre, à prendre sur 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ightbulb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Trame à compléter après la cérémonie : les passages entre crochets ne s'inventent pas. Il prolonge son post de juillet (166).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INSTAGRAM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Instagram n°1 · Carrousel « Mon parcours en cinq lieux »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Mardi 27 octobre · 19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🌍 « Tu rentres au Congo ? » 🇨🇬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On me l'a demandé à chaque étape. Alors voici mon parcours, en cinq lieux 👉🏾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🇺🇸 Le Nouveau-Mexique, pour le bac.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🇺🇸 L'Indiana, pour le bachelor.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🇰🇪 Nairobi : BuuPass, puis Bolt.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🇨🇮 Abidjan : Wave, puis Mstudio.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J'ai mis du temps à comprendre que ce n'était pas la bonne question 💭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Pas de « comment ». Un « pourquoi ». Et si le pourquoi est solide, le chemin se dessine 🛤️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Et toi, c'est quoi ton pourquoi ?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#EntreprendreSansFiltre #Diaspora #RetourEnAfrique #Abidjan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ightbulb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Reprend en carrousel son récit « Rentrer en Afrique », 2e post le plus aimé (86). Tutoiement et question finale.</a:t>
            </a:r>
          </a:p>
        </p:txBody>
      </p:sp>
      <p:pic>
        <p:nvPicPr>
          <p:cNvPr id="21" name="Picture 20" descr="car_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1554480"/>
            <a:ext cx="1207008" cy="1508760"/>
          </a:xfrm>
          <a:prstGeom prst="rect">
            <a:avLst/>
          </a:prstGeom>
        </p:spPr>
      </p:pic>
      <p:pic>
        <p:nvPicPr>
          <p:cNvPr id="22" name="Picture 21" descr="car_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7111" y="1554480"/>
            <a:ext cx="1207008" cy="1508760"/>
          </a:xfrm>
          <a:prstGeom prst="rect">
            <a:avLst/>
          </a:prstGeom>
        </p:spPr>
      </p:pic>
      <p:pic>
        <p:nvPicPr>
          <p:cNvPr id="23" name="Picture 22" descr="car_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6144" y="1554480"/>
            <a:ext cx="1207008" cy="1508760"/>
          </a:xfrm>
          <a:prstGeom prst="rect">
            <a:avLst/>
          </a:prstGeom>
        </p:spPr>
      </p:pic>
      <p:pic>
        <p:nvPicPr>
          <p:cNvPr id="24" name="Picture 23" descr="car_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79" y="3127248"/>
            <a:ext cx="1207008" cy="1508760"/>
          </a:xfrm>
          <a:prstGeom prst="rect">
            <a:avLst/>
          </a:prstGeom>
        </p:spPr>
      </p:pic>
      <p:pic>
        <p:nvPicPr>
          <p:cNvPr id="25" name="Picture 24" descr="car_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7111" y="3127248"/>
            <a:ext cx="1207008" cy="1508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96144" y="3127248"/>
            <a:ext cx="1344168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>5 visuels prêts, au format Instagram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INSTAGRAM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Post Instagram n°2 · Vidéo PodLab, republiée en collaboration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pic>
        <p:nvPicPr>
          <p:cNvPr id="6" name="Picture 5" descr="instagram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01752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667512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ig_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25880" y="169164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Leslie Ossété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1938528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 i="0">
                <a:solidFill>
                  <a:srgbClr val="8F8F9A"/>
                </a:solidFill>
                <a:latin typeface="Space Grotesk"/>
              </a:rPr>
              <a:t>Vendredi 30 octobre · 18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86000"/>
            <a:ext cx="6355080" cy="3840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À 21 ans, j'ai levé 1 million de dollars pour lancer ma première startup 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Ce que je n'avais pas prévu, c'est ce que ça m'a coûté ensuite 💭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J'en ai parlé sans filtre avec @podlab.so 🎙️ L'épisode complet est dans le lien en bio 👆🏾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Et toi, quelle erreur t'a le plus appris ? 👇🏾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/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B2A35"/>
                </a:solidFill>
                <a:latin typeface="Noto Color Emoji"/>
              </a:rPr>
              <a:t>#EntreprendreSansFiltre #Entrepreneuriat #Podcast #Abidjan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645152"/>
            <a:ext cx="414223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900" b="0" i="1">
                <a:solidFill>
                  <a:srgbClr val="8F8F9A"/>
                </a:solidFill>
                <a:latin typeface="Work Sans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937760"/>
            <a:ext cx="4142232" cy="12344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79" y="5102352"/>
            <a:ext cx="54864" cy="90525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ightbulb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79" y="5120640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0" y="5120640"/>
            <a:ext cx="3227832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32754"/>
                </a:solidFill>
                <a:latin typeface="Funnel Display"/>
              </a:rPr>
              <a:t>Pourquoi ce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650992"/>
            <a:ext cx="373075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 i="0">
                <a:solidFill>
                  <a:srgbClr val="2B2A35"/>
                </a:solidFill>
                <a:latin typeface="Work Sans"/>
              </a:rPr>
              <a:t>Son fil n'a aucune vidéo, et neuf extraits existent déjà chez PodLab. À demander à @podlab.so : l'invitation à collaborer.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160020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23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17152" y="2377440"/>
            <a:ext cx="731520" cy="731520"/>
          </a:xfrm>
          <a:prstGeom prst="ellipse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video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2716" y="2553004"/>
            <a:ext cx="380390" cy="3803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03920" y="3291840"/>
            <a:ext cx="214884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Work Sans"/>
              </a:rPr>
              <a:t>Extrait vidéo PodLab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Work Sans"/>
              </a:rPr>
              <a:t>« Elle lève 1 million $ à 21 ans 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553712"/>
            <a:ext cx="4142232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000" b="1" i="0">
                <a:solidFill>
                  <a:srgbClr val="007ABB"/>
                </a:solidFill>
                <a:latin typeface="Space Grotesk"/>
                <a:hlinkClick r:id="rId7"/>
              </a:rPr>
              <a:t>Voir l'extrait chez PodLab →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PREMIER LOT · À VALIDER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Le calendrier des deux prochaines semaines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091672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4416552"/>
                <a:gridCol w="219456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Date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Réseau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Publication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Work Sans"/>
                        </a:rPr>
                        <a:t>Statut</a:t>
                      </a:r>
                    </a:p>
                  </a:txBody>
                  <a:tcPr marL="73152" marR="73152" marT="36576" marB="36576" anchor="ctr">
                    <a:solidFill>
                      <a:srgbClr val="23275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Lun. 26 oct. · 8 h 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Tipping Point : trois idées que je garde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Prêt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Mar. 27 oct. · 19 h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Carrousel « Mon parcours en cinq lieux »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Prêt, 5 visuels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Jeu. 29 oct. · 9 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Sans filtre n°1 : le détour par le salariat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Prêt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Ven. 30 oct. · 18 h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Vidéo PodLab en collaboration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Accord PodLab à demander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Ven. 30 oct. · soir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Instagram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Stories en direct de la cérémonie Ivoire Tech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À faire sur place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Lun. 2 nov. · 8 h 30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Cérémonie Ivoire Tech, raconté après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Trame, à compléter</a:t>
                      </a:r>
                    </a:p>
                  </a:txBody>
                  <a:tcPr marL="73152" marR="73152" marT="36576" marB="36576" anchor="ctr">
                    <a:solidFill>
                      <a:srgbClr val="F7F8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Mar. 3 nov.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LinkedIn + Instagram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Bannière, titre, résumé et bio mis à jour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B2A35"/>
                          </a:solidFill>
                          <a:latin typeface="Work Sans"/>
                        </a:rPr>
                        <a:t>Prêt, à appliquer par Leslie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1">
                <a:solidFill>
                  <a:srgbClr val="8F8F9A"/>
                </a:solidFill>
                <a:latin typeface="Work Sans"/>
              </a:rPr>
              <a:t>Aucune publication ne part sans l'accord écrit de Leslie. Chaque post est fourni avec son texte complet et son visuel.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CE QU'IL NOUS FAUT POUR ALLER PLUS LOIN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La suite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449824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64792"/>
            <a:ext cx="54864" cy="17739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-circle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384048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1783080"/>
            <a:ext cx="453542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Valider le premier 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13432"/>
            <a:ext cx="503834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A35"/>
                </a:solidFill>
                <a:latin typeface="Work Sans"/>
              </a:rPr>
              <a:t>Leslie relit les cinq posts, la bannière et les deux bios ; je corrige dans la journée.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00200"/>
            <a:ext cx="5449824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764792"/>
            <a:ext cx="54864" cy="17739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r-chart-3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783080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22007" y="1783080"/>
            <a:ext cx="453542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Les statistiques privées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313432"/>
            <a:ext cx="503834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A35"/>
                </a:solidFill>
                <a:latin typeface="Work Sans"/>
              </a:rPr>
              <a:t>Une capture mensuelle de LinkedIn et d'Instagram (portée, visites, abonnés gagnés) pour suivre les objectifs.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5449824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50791"/>
            <a:ext cx="54864" cy="17739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alendar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69080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80160" y="4069080"/>
            <a:ext cx="453542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Un point mensuel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9432"/>
            <a:ext cx="503834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A35"/>
                </a:solidFill>
                <a:latin typeface="Work Sans"/>
              </a:rPr>
              <a:t>Chaque premier lundi du mois : nouveaux posts, écarts aux objectifs, trois ajustements.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86200"/>
            <a:ext cx="5449824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4050791"/>
            <a:ext cx="54864" cy="1773936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s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069080"/>
            <a:ext cx="384048" cy="3840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22007" y="4069080"/>
            <a:ext cx="453542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32754"/>
                </a:solidFill>
                <a:latin typeface="Funnel Display"/>
              </a:rPr>
              <a:t>La liste des pairs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599432"/>
            <a:ext cx="5038344" cy="12801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2B2A35"/>
                </a:solidFill>
                <a:latin typeface="Work Sans"/>
              </a:rPr>
              <a:t>Confirmer ou changer les six dirigeantes suivies dans la veille.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77724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1" i="0">
                <a:solidFill>
                  <a:srgbClr val="007ABB"/>
                </a:solidFill>
                <a:latin typeface="Space Grotesk"/>
              </a:rPr>
              <a:t>COMMENT CE DOCUMENT A ÉTÉ FAIT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96926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232754"/>
                </a:solidFill>
                <a:latin typeface="Funnel Display"/>
              </a:rPr>
              <a:t>Méthode et sources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47472"/>
            <a:ext cx="1001864" cy="3291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309360"/>
            <a:ext cx="11091672" cy="10972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8F8F9A"/>
                </a:solidFill>
                <a:latin typeface="Space Grotesk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8F8F9A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1091672" cy="4480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Publications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LinkedIn : les 49 posts publics de Leslie du 12 janvier au 7 octobre 2026, avec réactions, commentaires et partages relevés le 24 octobre. Instagram : les 11 posts de @leslieossete de mars à octobre et les 16 posts d'autres comptes qui l'identifient. Les vues des vidéos ne sont pas publiques.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Profils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Titres, résumés, parcours, distinctions, nombre d'abonnés : profils publics relevés le 24 octobre 2026.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Veille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Profils LinkedIn de six dirigeantes choisies par Fatima, publications du 1er janvier au 24 octobre 2026. Repère : les 89 posts de la page Mstudio.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Indicateurs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« Interactions » : réactions + commentaires + partages. Chaque chiffre est une médiane (la valeur du milieu), plus juste qu'une moyenne tirée par un post exceptionnel.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1" i="0">
                <a:solidFill>
                  <a:srgbClr val="2B2A35"/>
                </a:solidFill>
                <a:latin typeface="Work Sans"/>
              </a:rPr>
              <a:t>Limites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50" b="0" i="0">
                <a:solidFill>
                  <a:srgbClr val="2B2A35"/>
                </a:solidFill>
                <a:latin typeface="Work Sans"/>
              </a:rPr>
              <a:t>Pas d'accès aux statistiques privées (portée, visites, abonnés gagnés). Les tendances de moins de 5 posts sont signalées comme fragiles.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g_2026-05-14_1.78_0.35_somb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mstudio_blanc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1572249" cy="41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560320"/>
            <a:ext cx="1005840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Funnel Display"/>
              </a:rPr>
              <a:t>Entrepreneurs pour entrepreneurs.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DCE3F2"/>
                </a:solidFill>
                <a:latin typeface="Work Sans"/>
              </a:rPr>
              <a:t>Analyse et veille préparée pour Leslie Ossété · Mstudio · 24 octobre 2026</a:t>
            </a:r>
          </a:p>
        </p:txBody>
      </p:sp>
      <p:pic>
        <p:nvPicPr>
          <p:cNvPr id="6" name="Picture 5" descr="linkedin_br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7200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4617720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pace Grotesk"/>
                <a:hlinkClick r:id="rId5"/>
              </a:rPr>
              <a:t>linkedin.com/in/leslieossete</a:t>
            </a:r>
          </a:p>
        </p:txBody>
      </p:sp>
      <p:pic>
        <p:nvPicPr>
          <p:cNvPr id="8" name="Picture 7" descr="instagram_br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572000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4617720"/>
            <a:ext cx="36576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Space Grotesk"/>
                <a:hlinkClick r:id="rId7"/>
              </a:rPr>
              <a:t>@leslieossete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28232"/>
            <a:ext cx="731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Space Grotesk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00" b="0" i="0">
                <a:solidFill>
                  <a:srgbClr val="B8BCD0"/>
                </a:solidFill>
                <a:latin typeface="Space Grotesk"/>
              </a:rPr>
              <a:t>Leslie Ossété · Présence LinkedIn et Instagram · relevé du 24 octobre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