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28.jpg"/><Relationship Id="rId5" Type="http://schemas.openxmlformats.org/officeDocument/2006/relationships/image" Target="../media/image29.png"/><Relationship Id="rId6" Type="http://schemas.openxmlformats.org/officeDocument/2006/relationships/hyperlink" Target="https://www.linkedin.com/in/naboufall" TargetMode="External"/><Relationship Id="rId7" Type="http://schemas.openxmlformats.org/officeDocument/2006/relationships/image" Target="../media/image19.png"/><Relationship Id="rId8" Type="http://schemas.openxmlformats.org/officeDocument/2006/relationships/image" Target="../media/image30.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5.png"/><Relationship Id="rId5" Type="http://schemas.openxmlformats.org/officeDocument/2006/relationships/image" Target="../media/image20.png"/><Relationship Id="rId6"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9.jpg"/><Relationship Id="rId5" Type="http://schemas.openxmlformats.org/officeDocument/2006/relationships/hyperlink" Target="https://www.linkedin.com/posts/naboufall_aujourdhui-jai-pleur%C3%A9-pas-de-tristesse-activity-7445963226518839296-U7FU" TargetMode="External"/><Relationship Id="rId6" Type="http://schemas.openxmlformats.org/officeDocument/2006/relationships/image" Target="../media/image40.jpg"/><Relationship Id="rId7" Type="http://schemas.openxmlformats.org/officeDocument/2006/relationships/hyperlink" Target="https://www.linkedin.com/posts/naboufall_saeznaezgalrek-activity-7447060230116491264-VSFB" TargetMode="External"/><Relationship Id="rId8" Type="http://schemas.openxmlformats.org/officeDocument/2006/relationships/image" Target="../media/image41.jpg"/><Relationship Id="rId9" Type="http://schemas.openxmlformats.org/officeDocument/2006/relationships/hyperlink" Target="https://www.linkedin.com/posts/naboufall_ramadan-car%C3%AAme-un-retour-%C3%A0-lessentiel-activity-7431313837754150912-DDhO" TargetMode="External"/><Relationship Id="rId10" Type="http://schemas.openxmlformats.org/officeDocument/2006/relationships/image" Target="../media/image42.jpg"/><Relationship Id="rId11" Type="http://schemas.openxmlformats.org/officeDocument/2006/relationships/hyperlink" Target="https://www.linkedin.com/posts/naboufall_dressedbygracewallace-autisme-neurodiversitaez-activity-7445556493942149120-oc8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43.jpg"/><Relationship Id="rId5" Type="http://schemas.openxmlformats.org/officeDocument/2006/relationships/hyperlink" Target="https://www.linkedin.com/posts/naboufall_leadership-feminin-la-conf%C3%A9rence-femme-activity-7440164199789379584-RohA" TargetMode="External"/><Relationship Id="rId6" Type="http://schemas.openxmlformats.org/officeDocument/2006/relationships/image" Target="../media/image44.jpg"/><Relationship Id="rId7" Type="http://schemas.openxmlformats.org/officeDocument/2006/relationships/hyperlink" Target="https://www.linkedin.com/posts/naboufall_womenleadersakademy-activity-7436509980792602624-Z4wl" TargetMode="External"/><Relationship Id="rId8" Type="http://schemas.openxmlformats.org/officeDocument/2006/relationships/image" Target="../media/image45.jpg"/><Relationship Id="rId9" Type="http://schemas.openxmlformats.org/officeDocument/2006/relationships/hyperlink" Target="https://www.linkedin.com/posts/naboufall_comprendre-le-pnd-simplement-pourquoi-le-activity-7480359916126384128-MuQS" TargetMode="External"/><Relationship Id="rId10" Type="http://schemas.openxmlformats.org/officeDocument/2006/relationships/image" Target="../media/image46.jpg"/><Relationship Id="rId11" Type="http://schemas.openxmlformats.org/officeDocument/2006/relationships/hyperlink" Target="https://www.linkedin.com/posts/naboufall_droits-justice-action-trois-mots-simples-activity-7437768439311777792-Qqf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5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hyperlink" Target="https://www.instagram.com/naboufallofficiel/" TargetMode="External"/><Relationship Id="rId6" Type="http://schemas.openxmlformats.org/officeDocument/2006/relationships/image" Target="../media/image19.png"/><Relationship Id="rId7" Type="http://schemas.openxmlformats.org/officeDocument/2006/relationships/image" Target="../media/image52.png"/><Relationship Id="rId8" Type="http://schemas.openxmlformats.org/officeDocument/2006/relationships/image" Target="../media/image37.png"/><Relationship Id="rId9" Type="http://schemas.openxmlformats.org/officeDocument/2006/relationships/image" Target="../media/image21.png"/><Relationship Id="rId10"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19.png"/><Relationship Id="rId6"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4.jpg"/><Relationship Id="rId5" Type="http://schemas.openxmlformats.org/officeDocument/2006/relationships/hyperlink" Target="https://www.instagram.com/p/DXhvP_LgkD6/" TargetMode="External"/><Relationship Id="rId6" Type="http://schemas.openxmlformats.org/officeDocument/2006/relationships/image" Target="../media/image55.jpg"/><Relationship Id="rId7" Type="http://schemas.openxmlformats.org/officeDocument/2006/relationships/hyperlink" Target="https://www.instagram.com/p/DZDTFYqOfW0/" TargetMode="External"/><Relationship Id="rId8" Type="http://schemas.openxmlformats.org/officeDocument/2006/relationships/image" Target="../media/image56.jpg"/><Relationship Id="rId9" Type="http://schemas.openxmlformats.org/officeDocument/2006/relationships/hyperlink" Target="https://www.instagram.com/p/DWhw2RVCBk5/" TargetMode="External"/><Relationship Id="rId10" Type="http://schemas.openxmlformats.org/officeDocument/2006/relationships/image" Target="../media/image57.jpg"/><Relationship Id="rId11" Type="http://schemas.openxmlformats.org/officeDocument/2006/relationships/hyperlink" Target="https://www.instagram.com/p/Dew7a_Nl0h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8.jpg"/><Relationship Id="rId5" Type="http://schemas.openxmlformats.org/officeDocument/2006/relationships/hyperlink" Target="https://www.instagram.com/p/DdCBzd0oxMx/" TargetMode="External"/><Relationship Id="rId6" Type="http://schemas.openxmlformats.org/officeDocument/2006/relationships/image" Target="../media/image59.jpg"/><Relationship Id="rId7" Type="http://schemas.openxmlformats.org/officeDocument/2006/relationships/hyperlink" Target="https://www.instagram.com/p/De1i3qKF8BE/" TargetMode="External"/><Relationship Id="rId8" Type="http://schemas.openxmlformats.org/officeDocument/2006/relationships/image" Target="../media/image60.jpg"/><Relationship Id="rId9" Type="http://schemas.openxmlformats.org/officeDocument/2006/relationships/hyperlink" Target="https://www.instagram.com/p/DeSj7MXN1ND/" TargetMode="External"/><Relationship Id="rId10" Type="http://schemas.openxmlformats.org/officeDocument/2006/relationships/image" Target="../media/image61.jpg"/><Relationship Id="rId11" Type="http://schemas.openxmlformats.org/officeDocument/2006/relationships/hyperlink" Target="https://www.instagram.com/p/DerxntTF9I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62.jpg"/><Relationship Id="rId5" Type="http://schemas.openxmlformats.org/officeDocument/2006/relationships/image" Target="../media/image63.jpg"/><Relationship Id="rId6" Type="http://schemas.openxmlformats.org/officeDocument/2006/relationships/image" Target="../media/image64.jpg"/><Relationship Id="rId7" Type="http://schemas.openxmlformats.org/officeDocument/2006/relationships/image" Target="../media/image65.jpg"/><Relationship Id="rId8" Type="http://schemas.openxmlformats.org/officeDocument/2006/relationships/image" Target="../media/image66.jpg"/><Relationship Id="rId9" Type="http://schemas.openxmlformats.org/officeDocument/2006/relationships/image" Target="../media/image67.jpg"/><Relationship Id="rId10" Type="http://schemas.openxmlformats.org/officeDocument/2006/relationships/image" Target="../media/image68.jpg"/><Relationship Id="rId11" Type="http://schemas.openxmlformats.org/officeDocument/2006/relationships/image" Target="../media/image69.jpg"/><Relationship Id="rId12" Type="http://schemas.openxmlformats.org/officeDocument/2006/relationships/image" Target="../media/image70.jpg"/><Relationship Id="rId13" Type="http://schemas.openxmlformats.org/officeDocument/2006/relationships/image" Target="../media/image71.jpg"/><Relationship Id="rId14" Type="http://schemas.openxmlformats.org/officeDocument/2006/relationships/image" Target="../media/image72.jpg"/><Relationship Id="rId15" Type="http://schemas.openxmlformats.org/officeDocument/2006/relationships/image" Target="../media/image7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74.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7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77.png"/><Relationship Id="rId5" Type="http://schemas.openxmlformats.org/officeDocument/2006/relationships/image" Target="../media/image7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79.png"/><Relationship Id="rId5" Type="http://schemas.openxmlformats.org/officeDocument/2006/relationships/image" Target="../media/image8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hyperlink" Target="https://www.instagram.com/paolaaudrey/" TargetMode="External"/><Relationship Id="rId5" Type="http://schemas.openxmlformats.org/officeDocument/2006/relationships/hyperlink" Target="https://www.instagram.com/dianeaudreyngako/" TargetMode="External"/><Relationship Id="rId6" Type="http://schemas.openxmlformats.org/officeDocument/2006/relationships/hyperlink" Target="https://www.instagram.com/edithbroubleu/" TargetMode="External"/><Relationship Id="rId7" Type="http://schemas.openxmlformats.org/officeDocument/2006/relationships/hyperlink" Target="https://www.instagram.com/naboufallofficie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1.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1.png"/><Relationship Id="rId6"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87.jpg"/><Relationship Id="rId6" Type="http://schemas.openxmlformats.org/officeDocument/2006/relationships/image" Target="../media/image8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89.jpg"/><Relationship Id="rId6" Type="http://schemas.openxmlformats.org/officeDocument/2006/relationships/image" Target="../media/image8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90.jpg"/><Relationship Id="rId6" Type="http://schemas.openxmlformats.org/officeDocument/2006/relationships/image" Target="../media/image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91.jpg"/><Relationship Id="rId5" Type="http://schemas.openxmlformats.org/officeDocument/2006/relationships/image" Target="../media/image92.jpg"/><Relationship Id="rId6" Type="http://schemas.openxmlformats.org/officeDocument/2006/relationships/image" Target="../media/image93.jpg"/><Relationship Id="rId7" Type="http://schemas.openxmlformats.org/officeDocument/2006/relationships/image" Target="../media/image94.jpg"/><Relationship Id="rId8" Type="http://schemas.openxmlformats.org/officeDocument/2006/relationships/image" Target="../media/image95.jpg"/><Relationship Id="rId9" Type="http://schemas.openxmlformats.org/officeDocument/2006/relationships/image" Target="../media/image21.png"/><Relationship Id="rId10" Type="http://schemas.openxmlformats.org/officeDocument/2006/relationships/image" Target="../media/image8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0.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i_2026-02-22_1212_0.75_0.2.jpg"/>
          <p:cNvPicPr>
            <a:picLocks noChangeAspect="1"/>
          </p:cNvPicPr>
          <p:nvPr/>
        </p:nvPicPr>
        <p:blipFill>
          <a:blip r:embed="rId2"/>
          <a:stretch>
            <a:fillRect/>
          </a:stretch>
        </p:blipFill>
        <p:spPr>
          <a:xfrm>
            <a:off x="7071055" y="0"/>
            <a:ext cx="5120640" cy="6858000"/>
          </a:xfrm>
          <a:prstGeom prst="rect">
            <a:avLst/>
          </a:prstGeom>
        </p:spPr>
      </p:pic>
      <p:sp>
        <p:nvSpPr>
          <p:cNvPr id="4" name="Rectangle 3"/>
          <p:cNvSpPr/>
          <p:nvPr/>
        </p:nvSpPr>
        <p:spPr>
          <a:xfrm>
            <a:off x="7071055" y="0"/>
            <a:ext cx="73152" cy="6858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mstudio_blanc_transparent.png"/>
          <p:cNvPicPr>
            <a:picLocks noChangeAspect="1"/>
          </p:cNvPicPr>
          <p:nvPr/>
        </p:nvPicPr>
        <p:blipFill>
          <a:blip r:embed="rId3"/>
          <a:stretch>
            <a:fillRect/>
          </a:stretch>
        </p:blipFill>
        <p:spPr>
          <a:xfrm>
            <a:off x="731520" y="548640"/>
            <a:ext cx="1467432" cy="384048"/>
          </a:xfrm>
          <a:prstGeom prst="rect">
            <a:avLst/>
          </a:prstGeom>
        </p:spPr>
      </p:pic>
      <p:sp>
        <p:nvSpPr>
          <p:cNvPr id="6" name="TextBox 5"/>
          <p:cNvSpPr txBox="1"/>
          <p:nvPr/>
        </p:nvSpPr>
        <p:spPr>
          <a:xfrm>
            <a:off x="731520" y="1600200"/>
            <a:ext cx="6035040" cy="36576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00AED4"/>
                </a:solidFill>
                <a:latin typeface="Space Grotesk"/>
              </a:rPr>
              <a:t>ANALYSE ET VEILLE · RÉSEAUX SOCIAUX</a:t>
            </a:r>
          </a:p>
        </p:txBody>
      </p:sp>
      <p:sp>
        <p:nvSpPr>
          <p:cNvPr id="7" name="TextBox 6"/>
          <p:cNvSpPr txBox="1"/>
          <p:nvPr/>
        </p:nvSpPr>
        <p:spPr>
          <a:xfrm>
            <a:off x="731520" y="2011680"/>
            <a:ext cx="6126480" cy="1737360"/>
          </a:xfrm>
          <a:prstGeom prst="rect">
            <a:avLst/>
          </a:prstGeom>
          <a:noFill/>
        </p:spPr>
        <p:txBody>
          <a:bodyPr wrap="square" anchor="t" lIns="18288" rIns="18288" tIns="18288" bIns="18288">
            <a:spAutoFit/>
          </a:bodyPr>
          <a:lstStyle/>
          <a:p>
            <a:pPr algn="l">
              <a:lnSpc>
                <a:spcPct val="95000"/>
              </a:lnSpc>
              <a:spcAft>
                <a:spcPts val="400"/>
              </a:spcAft>
            </a:pPr>
            <a:r>
              <a:rPr sz="4600" b="1" i="0">
                <a:solidFill>
                  <a:srgbClr val="FFFFFF"/>
                </a:solidFill>
                <a:latin typeface="Funnel Display"/>
              </a:rPr>
              <a:t>Nabou Fall en ligne</a:t>
            </a:r>
          </a:p>
        </p:txBody>
      </p:sp>
      <p:sp>
        <p:nvSpPr>
          <p:cNvPr id="8" name="TextBox 7"/>
          <p:cNvSpPr txBox="1"/>
          <p:nvPr/>
        </p:nvSpPr>
        <p:spPr>
          <a:xfrm>
            <a:off x="731520" y="3611880"/>
            <a:ext cx="5943600" cy="1097280"/>
          </a:xfrm>
          <a:prstGeom prst="rect">
            <a:avLst/>
          </a:prstGeom>
          <a:noFill/>
        </p:spPr>
        <p:txBody>
          <a:bodyPr wrap="square" anchor="t" lIns="18288" rIns="18288" tIns="18288" bIns="18288">
            <a:spAutoFit/>
          </a:bodyPr>
          <a:lstStyle/>
          <a:p>
            <a:pPr algn="l">
              <a:lnSpc>
                <a:spcPct val="112000"/>
              </a:lnSpc>
              <a:spcAft>
                <a:spcPts val="400"/>
              </a:spcAft>
            </a:pPr>
            <a:r>
              <a:rPr sz="1600" b="0" i="0">
                <a:solidFill>
                  <a:srgbClr val="DCE3F2"/>
                </a:solidFill>
                <a:latin typeface="Work Sans"/>
              </a:rPr>
              <a:t>Analyse de sa présence LinkedIn et Instagram depuis janvier 2026, veille de ses pairs et stratégie pour les trois prochains mois.</a:t>
            </a:r>
          </a:p>
        </p:txBody>
      </p:sp>
      <p:pic>
        <p:nvPicPr>
          <p:cNvPr id="9" name="Picture 8" descr="linkedin_w.png"/>
          <p:cNvPicPr>
            <a:picLocks noChangeAspect="1"/>
          </p:cNvPicPr>
          <p:nvPr/>
        </p:nvPicPr>
        <p:blipFill>
          <a:blip r:embed="rId4"/>
          <a:stretch>
            <a:fillRect/>
          </a:stretch>
        </p:blipFill>
        <p:spPr>
          <a:xfrm>
            <a:off x="731520" y="4892040"/>
            <a:ext cx="329184" cy="329184"/>
          </a:xfrm>
          <a:prstGeom prst="rect">
            <a:avLst/>
          </a:prstGeom>
        </p:spPr>
      </p:pic>
      <p:sp>
        <p:nvSpPr>
          <p:cNvPr id="10" name="TextBox 9"/>
          <p:cNvSpPr txBox="1"/>
          <p:nvPr/>
        </p:nvSpPr>
        <p:spPr>
          <a:xfrm>
            <a:off x="1188720" y="49194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linkedin.com/in/naboufall</a:t>
            </a:r>
          </a:p>
        </p:txBody>
      </p:sp>
      <p:pic>
        <p:nvPicPr>
          <p:cNvPr id="11" name="Picture 10" descr="instagram_w.png"/>
          <p:cNvPicPr>
            <a:picLocks noChangeAspect="1"/>
          </p:cNvPicPr>
          <p:nvPr/>
        </p:nvPicPr>
        <p:blipFill>
          <a:blip r:embed="rId5"/>
          <a:stretch>
            <a:fillRect/>
          </a:stretch>
        </p:blipFill>
        <p:spPr>
          <a:xfrm>
            <a:off x="731520" y="5349240"/>
            <a:ext cx="329184" cy="329184"/>
          </a:xfrm>
          <a:prstGeom prst="rect">
            <a:avLst/>
          </a:prstGeom>
        </p:spPr>
      </p:pic>
      <p:sp>
        <p:nvSpPr>
          <p:cNvPr id="12" name="TextBox 11"/>
          <p:cNvSpPr txBox="1"/>
          <p:nvPr/>
        </p:nvSpPr>
        <p:spPr>
          <a:xfrm>
            <a:off x="1188720" y="53766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instagram.com/naboufallofficiel</a:t>
            </a:r>
          </a:p>
        </p:txBody>
      </p:sp>
      <p:sp>
        <p:nvSpPr>
          <p:cNvPr id="13" name="TextBox 12"/>
          <p:cNvSpPr txBox="1"/>
          <p:nvPr/>
        </p:nvSpPr>
        <p:spPr>
          <a:xfrm>
            <a:off x="731520" y="5989320"/>
            <a:ext cx="6035040" cy="36576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B8BCD0"/>
                </a:solidFill>
                <a:latin typeface="Space Grotesk"/>
              </a:rPr>
              <a:t>Relevé du 24 octobre 2026 · publications du 1er janvier au 23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 CONTIENT CE DOCUMENT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Sommaire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9436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01</a:t>
            </a:r>
          </a:p>
        </p:txBody>
      </p:sp>
      <p:sp>
        <p:nvSpPr>
          <p:cNvPr id="11" name="Oval 10"/>
          <p:cNvSpPr/>
          <p:nvPr/>
        </p:nvSpPr>
        <p:spPr>
          <a:xfrm>
            <a:off x="143713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_w.png"/>
          <p:cNvPicPr>
            <a:picLocks noChangeAspect="1"/>
          </p:cNvPicPr>
          <p:nvPr/>
        </p:nvPicPr>
        <p:blipFill>
          <a:blip r:embed="rId3"/>
          <a:stretch>
            <a:fillRect/>
          </a:stretch>
        </p:blipFill>
        <p:spPr>
          <a:xfrm>
            <a:off x="1590751" y="2119579"/>
            <a:ext cx="332841" cy="332841"/>
          </a:xfrm>
          <a:prstGeom prst="rect">
            <a:avLst/>
          </a:prstGeom>
        </p:spPr>
      </p:pic>
      <p:sp>
        <p:nvSpPr>
          <p:cNvPr id="13" name="TextBox 12"/>
          <p:cNvSpPr txBox="1"/>
          <p:nvPr/>
        </p:nvSpPr>
        <p:spPr>
          <a:xfrm>
            <a:off x="77724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Son histoire et sa marque</a:t>
            </a:r>
          </a:p>
        </p:txBody>
      </p:sp>
      <p:sp>
        <p:nvSpPr>
          <p:cNvPr id="14" name="TextBox 13"/>
          <p:cNvSpPr txBox="1"/>
          <p:nvPr/>
        </p:nvSpPr>
        <p:spPr>
          <a:xfrm>
            <a:off x="77724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Trente ans de leadership, une signature : Osez Briller.</a:t>
            </a:r>
          </a:p>
        </p:txBody>
      </p:sp>
      <p:sp>
        <p:nvSpPr>
          <p:cNvPr id="15" name="Rounded Rectangle 14"/>
          <p:cNvSpPr/>
          <p:nvPr/>
        </p:nvSpPr>
        <p:spPr>
          <a:xfrm>
            <a:off x="2442972"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25852"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02</a:t>
            </a:r>
          </a:p>
        </p:txBody>
      </p:sp>
      <p:sp>
        <p:nvSpPr>
          <p:cNvPr id="17" name="Oval 16"/>
          <p:cNvSpPr/>
          <p:nvPr/>
        </p:nvSpPr>
        <p:spPr>
          <a:xfrm>
            <a:off x="3285744"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nkedin_w.png"/>
          <p:cNvPicPr>
            <a:picLocks noChangeAspect="1"/>
          </p:cNvPicPr>
          <p:nvPr/>
        </p:nvPicPr>
        <p:blipFill>
          <a:blip r:embed="rId4"/>
          <a:stretch>
            <a:fillRect/>
          </a:stretch>
        </p:blipFill>
        <p:spPr>
          <a:xfrm>
            <a:off x="3439363" y="2119579"/>
            <a:ext cx="332841" cy="332841"/>
          </a:xfrm>
          <a:prstGeom prst="rect">
            <a:avLst/>
          </a:prstGeom>
        </p:spPr>
      </p:pic>
      <p:sp>
        <p:nvSpPr>
          <p:cNvPr id="19" name="TextBox 18"/>
          <p:cNvSpPr txBox="1"/>
          <p:nvPr/>
        </p:nvSpPr>
        <p:spPr>
          <a:xfrm>
            <a:off x="2625852"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LinkedIn</a:t>
            </a:r>
          </a:p>
        </p:txBody>
      </p:sp>
      <p:sp>
        <p:nvSpPr>
          <p:cNvPr id="20" name="TextBox 19"/>
          <p:cNvSpPr txBox="1"/>
          <p:nvPr/>
        </p:nvSpPr>
        <p:spPr>
          <a:xfrm>
            <a:off x="2625852"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108 652 abonnés, un rythme fort jusqu'en avril, puis presque plus rien.</a:t>
            </a:r>
          </a:p>
        </p:txBody>
      </p:sp>
      <p:sp>
        <p:nvSpPr>
          <p:cNvPr id="21" name="Rounded Rectangle 20"/>
          <p:cNvSpPr/>
          <p:nvPr/>
        </p:nvSpPr>
        <p:spPr>
          <a:xfrm>
            <a:off x="4291584"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4464"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03</a:t>
            </a:r>
          </a:p>
        </p:txBody>
      </p:sp>
      <p:sp>
        <p:nvSpPr>
          <p:cNvPr id="23" name="Oval 22"/>
          <p:cNvSpPr/>
          <p:nvPr/>
        </p:nvSpPr>
        <p:spPr>
          <a:xfrm>
            <a:off x="5134356"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nstagram_w.png"/>
          <p:cNvPicPr>
            <a:picLocks noChangeAspect="1"/>
          </p:cNvPicPr>
          <p:nvPr/>
        </p:nvPicPr>
        <p:blipFill>
          <a:blip r:embed="rId5"/>
          <a:stretch>
            <a:fillRect/>
          </a:stretch>
        </p:blipFill>
        <p:spPr>
          <a:xfrm>
            <a:off x="5287975" y="2119579"/>
            <a:ext cx="332841" cy="332841"/>
          </a:xfrm>
          <a:prstGeom prst="rect">
            <a:avLst/>
          </a:prstGeom>
        </p:spPr>
      </p:pic>
      <p:sp>
        <p:nvSpPr>
          <p:cNvPr id="25" name="TextBox 24"/>
          <p:cNvSpPr txBox="1"/>
          <p:nvPr/>
        </p:nvSpPr>
        <p:spPr>
          <a:xfrm>
            <a:off x="4474464"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Instagram</a:t>
            </a:r>
          </a:p>
        </p:txBody>
      </p:sp>
      <p:sp>
        <p:nvSpPr>
          <p:cNvPr id="26" name="TextBox 25"/>
          <p:cNvSpPr txBox="1"/>
          <p:nvPr/>
        </p:nvSpPr>
        <p:spPr>
          <a:xfrm>
            <a:off x="4474464"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60 956 abonnés, mais 3 publications à elle depuis janvier.</a:t>
            </a:r>
          </a:p>
        </p:txBody>
      </p:sp>
      <p:sp>
        <p:nvSpPr>
          <p:cNvPr id="27" name="Rounded Rectangle 26"/>
          <p:cNvSpPr/>
          <p:nvPr/>
        </p:nvSpPr>
        <p:spPr>
          <a:xfrm>
            <a:off x="6140196"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3076"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04</a:t>
            </a:r>
          </a:p>
        </p:txBody>
      </p:sp>
      <p:sp>
        <p:nvSpPr>
          <p:cNvPr id="29" name="Oval 28"/>
          <p:cNvSpPr/>
          <p:nvPr/>
        </p:nvSpPr>
        <p:spPr>
          <a:xfrm>
            <a:off x="6982968"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ye_w.png"/>
          <p:cNvPicPr>
            <a:picLocks noChangeAspect="1"/>
          </p:cNvPicPr>
          <p:nvPr/>
        </p:nvPicPr>
        <p:blipFill>
          <a:blip r:embed="rId6"/>
          <a:stretch>
            <a:fillRect/>
          </a:stretch>
        </p:blipFill>
        <p:spPr>
          <a:xfrm>
            <a:off x="7136587" y="2119579"/>
            <a:ext cx="332841" cy="332841"/>
          </a:xfrm>
          <a:prstGeom prst="rect">
            <a:avLst/>
          </a:prstGeom>
        </p:spPr>
      </p:pic>
      <p:sp>
        <p:nvSpPr>
          <p:cNvPr id="31" name="TextBox 30"/>
          <p:cNvSpPr txBox="1"/>
          <p:nvPr/>
        </p:nvSpPr>
        <p:spPr>
          <a:xfrm>
            <a:off x="6323076"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Veille</a:t>
            </a:r>
          </a:p>
        </p:txBody>
      </p:sp>
      <p:sp>
        <p:nvSpPr>
          <p:cNvPr id="32" name="TextBox 31"/>
          <p:cNvSpPr txBox="1"/>
          <p:nvPr/>
        </p:nvSpPr>
        <p:spPr>
          <a:xfrm>
            <a:off x="6323076"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Cinq voix du leadership et de la prise de parole comparées.</a:t>
            </a:r>
          </a:p>
        </p:txBody>
      </p:sp>
      <p:sp>
        <p:nvSpPr>
          <p:cNvPr id="33" name="Rounded Rectangle 32"/>
          <p:cNvSpPr/>
          <p:nvPr/>
        </p:nvSpPr>
        <p:spPr>
          <a:xfrm>
            <a:off x="7988808"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1688"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05</a:t>
            </a:r>
          </a:p>
        </p:txBody>
      </p:sp>
      <p:sp>
        <p:nvSpPr>
          <p:cNvPr id="35" name="Oval 34"/>
          <p:cNvSpPr/>
          <p:nvPr/>
        </p:nvSpPr>
        <p:spPr>
          <a:xfrm>
            <a:off x="8831580"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ompass_w.png"/>
          <p:cNvPicPr>
            <a:picLocks noChangeAspect="1"/>
          </p:cNvPicPr>
          <p:nvPr/>
        </p:nvPicPr>
        <p:blipFill>
          <a:blip r:embed="rId7"/>
          <a:stretch>
            <a:fillRect/>
          </a:stretch>
        </p:blipFill>
        <p:spPr>
          <a:xfrm>
            <a:off x="8985199" y="2119579"/>
            <a:ext cx="332841" cy="332841"/>
          </a:xfrm>
          <a:prstGeom prst="rect">
            <a:avLst/>
          </a:prstGeom>
        </p:spPr>
      </p:pic>
      <p:sp>
        <p:nvSpPr>
          <p:cNvPr id="37" name="TextBox 36"/>
          <p:cNvSpPr txBox="1"/>
          <p:nvPr/>
        </p:nvSpPr>
        <p:spPr>
          <a:xfrm>
            <a:off x="8171688"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Stratégie</a:t>
            </a:r>
          </a:p>
        </p:txBody>
      </p:sp>
      <p:sp>
        <p:nvSpPr>
          <p:cNvPr id="38" name="TextBox 37"/>
          <p:cNvSpPr txBox="1"/>
          <p:nvPr/>
        </p:nvSpPr>
        <p:spPr>
          <a:xfrm>
            <a:off x="8171688"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Positionnement, thèmes, rythme, objectifs chiffrés.</a:t>
            </a:r>
          </a:p>
        </p:txBody>
      </p:sp>
      <p:sp>
        <p:nvSpPr>
          <p:cNvPr id="39" name="Rounded Rectangle 38"/>
          <p:cNvSpPr/>
          <p:nvPr/>
        </p:nvSpPr>
        <p:spPr>
          <a:xfrm>
            <a:off x="983742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030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06</a:t>
            </a:r>
          </a:p>
        </p:txBody>
      </p:sp>
      <p:sp>
        <p:nvSpPr>
          <p:cNvPr id="41" name="Oval 40"/>
          <p:cNvSpPr/>
          <p:nvPr/>
        </p:nvSpPr>
        <p:spPr>
          <a:xfrm>
            <a:off x="1068019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circle_w.png"/>
          <p:cNvPicPr>
            <a:picLocks noChangeAspect="1"/>
          </p:cNvPicPr>
          <p:nvPr/>
        </p:nvPicPr>
        <p:blipFill>
          <a:blip r:embed="rId8"/>
          <a:stretch>
            <a:fillRect/>
          </a:stretch>
        </p:blipFill>
        <p:spPr>
          <a:xfrm>
            <a:off x="10833811" y="2119579"/>
            <a:ext cx="332841" cy="332841"/>
          </a:xfrm>
          <a:prstGeom prst="rect">
            <a:avLst/>
          </a:prstGeom>
        </p:spPr>
      </p:pic>
      <p:sp>
        <p:nvSpPr>
          <p:cNvPr id="43" name="TextBox 42"/>
          <p:cNvSpPr txBox="1"/>
          <p:nvPr/>
        </p:nvSpPr>
        <p:spPr>
          <a:xfrm>
            <a:off x="1002030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Prêt à valider</a:t>
            </a:r>
          </a:p>
        </p:txBody>
      </p:sp>
      <p:sp>
        <p:nvSpPr>
          <p:cNvPr id="44" name="TextBox 43"/>
          <p:cNvSpPr txBox="1"/>
          <p:nvPr/>
        </p:nvSpPr>
        <p:spPr>
          <a:xfrm>
            <a:off x="1002030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Profil réécrit, publications et calendrier.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QU'IL FAUT RETENIR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L'essentiel en trois points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0020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47672"/>
            <a:ext cx="731520" cy="73152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nkedin_w.png"/>
          <p:cNvPicPr>
            <a:picLocks noChangeAspect="1"/>
          </p:cNvPicPr>
          <p:nvPr/>
        </p:nvPicPr>
        <p:blipFill>
          <a:blip r:embed="rId3"/>
          <a:stretch>
            <a:fillRect/>
          </a:stretch>
        </p:blipFill>
        <p:spPr>
          <a:xfrm>
            <a:off x="952804" y="2123236"/>
            <a:ext cx="380390" cy="380390"/>
          </a:xfrm>
          <a:prstGeom prst="rect">
            <a:avLst/>
          </a:prstGeom>
        </p:spPr>
      </p:pic>
      <p:sp>
        <p:nvSpPr>
          <p:cNvPr id="12" name="TextBox 11"/>
          <p:cNvSpPr txBox="1"/>
          <p:nvPr/>
        </p:nvSpPr>
        <p:spPr>
          <a:xfrm>
            <a:off x="1783080" y="176479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Sur LinkedIn, ce sont ses récits personnels qui portent : 832 interactions en médiane</a:t>
            </a:r>
          </a:p>
        </p:txBody>
      </p:sp>
      <p:sp>
        <p:nvSpPr>
          <p:cNvPr id="13" name="TextBox 12"/>
          <p:cNvSpPr txBox="1"/>
          <p:nvPr/>
        </p:nvSpPr>
        <p:spPr>
          <a:xfrm>
            <a:off x="1783080" y="216712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Contre 266 pour ses annonces de programmes. Son meilleur post de l'année (« Aujourd'hui, j'ai pleuré », 2 719 interactions) raconte un moment intime qui finit sur une conviction.</a:t>
            </a:r>
          </a:p>
        </p:txBody>
      </p:sp>
      <p:sp>
        <p:nvSpPr>
          <p:cNvPr id="14" name="Rounded Rectangle 13"/>
          <p:cNvSpPr/>
          <p:nvPr/>
        </p:nvSpPr>
        <p:spPr>
          <a:xfrm>
            <a:off x="548640" y="315468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502152"/>
            <a:ext cx="731520" cy="73152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w.png"/>
          <p:cNvPicPr>
            <a:picLocks noChangeAspect="1"/>
          </p:cNvPicPr>
          <p:nvPr/>
        </p:nvPicPr>
        <p:blipFill>
          <a:blip r:embed="rId4"/>
          <a:stretch>
            <a:fillRect/>
          </a:stretch>
        </p:blipFill>
        <p:spPr>
          <a:xfrm>
            <a:off x="952804" y="3677716"/>
            <a:ext cx="380390" cy="380390"/>
          </a:xfrm>
          <a:prstGeom prst="rect">
            <a:avLst/>
          </a:prstGeom>
        </p:spPr>
      </p:pic>
      <p:sp>
        <p:nvSpPr>
          <p:cNvPr id="17" name="TextBox 16"/>
          <p:cNvSpPr txBox="1"/>
          <p:nvPr/>
        </p:nvSpPr>
        <p:spPr>
          <a:xfrm>
            <a:off x="1783080" y="331927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Depuis mai, LinkedIn tourne au ralenti : 8 posts en six mois, contre 33 de janvier à avril</a:t>
            </a:r>
          </a:p>
        </p:txBody>
      </p:sp>
      <p:sp>
        <p:nvSpPr>
          <p:cNvPr id="18" name="TextBox 17"/>
          <p:cNvSpPr txBox="1"/>
          <p:nvPr/>
        </p:nvSpPr>
        <p:spPr>
          <a:xfrm>
            <a:off x="1783080" y="372160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Le public n'est pas parti : ces 8 posts font 402 interactions en médiane. C'est la fréquence qui manque, pas l'audience.</a:t>
            </a:r>
          </a:p>
        </p:txBody>
      </p:sp>
      <p:sp>
        <p:nvSpPr>
          <p:cNvPr id="19" name="Rounded Rectangle 18"/>
          <p:cNvSpPr/>
          <p:nvPr/>
        </p:nvSpPr>
        <p:spPr>
          <a:xfrm>
            <a:off x="548640" y="470916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5056632"/>
            <a:ext cx="731520" cy="73152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stagram_w.png"/>
          <p:cNvPicPr>
            <a:picLocks noChangeAspect="1"/>
          </p:cNvPicPr>
          <p:nvPr/>
        </p:nvPicPr>
        <p:blipFill>
          <a:blip r:embed="rId5"/>
          <a:stretch>
            <a:fillRect/>
          </a:stretch>
        </p:blipFill>
        <p:spPr>
          <a:xfrm>
            <a:off x="952804" y="5232196"/>
            <a:ext cx="380390" cy="380390"/>
          </a:xfrm>
          <a:prstGeom prst="rect">
            <a:avLst/>
          </a:prstGeom>
        </p:spPr>
      </p:pic>
      <p:sp>
        <p:nvSpPr>
          <p:cNvPr id="22" name="TextBox 21"/>
          <p:cNvSpPr txBox="1"/>
          <p:nvPr/>
        </p:nvSpPr>
        <p:spPr>
          <a:xfrm>
            <a:off x="1783080" y="487375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Son Instagram est tenu par d'autres : 43 publications sur 46 sont des collaborations</a:t>
            </a:r>
          </a:p>
        </p:txBody>
      </p:sp>
      <p:sp>
        <p:nvSpPr>
          <p:cNvPr id="23" name="TextBox 22"/>
          <p:cNvSpPr txBox="1"/>
          <p:nvPr/>
        </p:nvSpPr>
        <p:spPr>
          <a:xfrm>
            <a:off x="1783080" y="527608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Elle n'a publié seule que 3 fois depuis janvier, la dernière le 12 juillet. Ses meilleurs chiffres viennent d'extraits de masterclass publiés par d'autres comptes.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4-02_1146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01</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Son histoire et sa marque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Des télécoms à la transformation humaine : trente ans à observer, exercer et accompagner le leadership.</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SON PARCOURS, D'APRÈS SON PROFIL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Trente ans de leadership, des télécoms à la scène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ectangle 8"/>
          <p:cNvSpPr/>
          <p:nvPr/>
        </p:nvSpPr>
        <p:spPr>
          <a:xfrm>
            <a:off x="822960" y="3749039"/>
            <a:ext cx="10515600" cy="4572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4088"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1995 – 2002</a:t>
            </a:r>
          </a:p>
        </p:txBody>
      </p:sp>
      <p:sp>
        <p:nvSpPr>
          <p:cNvPr id="12" name="TextBox 11"/>
          <p:cNvSpPr txBox="1"/>
          <p:nvPr/>
        </p:nvSpPr>
        <p:spPr>
          <a:xfrm>
            <a:off x="4572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MTN Côte d'Ivoire, puis MTN Congo</a:t>
            </a:r>
          </a:p>
        </p:txBody>
      </p:sp>
      <p:sp>
        <p:nvSpPr>
          <p:cNvPr id="13" name="TextBox 12"/>
          <p:cNvSpPr txBox="1"/>
          <p:nvPr/>
        </p:nvSpPr>
        <p:spPr>
          <a:xfrm>
            <a:off x="4572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Marketing, direction commerciale</a:t>
            </a:r>
          </a:p>
        </p:txBody>
      </p:sp>
      <p:sp>
        <p:nvSpPr>
          <p:cNvPr id="14" name="Oval 13"/>
          <p:cNvSpPr/>
          <p:nvPr/>
        </p:nvSpPr>
        <p:spPr>
          <a:xfrm>
            <a:off x="280720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39"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2002 – 2007</a:t>
            </a:r>
          </a:p>
        </p:txBody>
      </p:sp>
      <p:sp>
        <p:nvSpPr>
          <p:cNvPr id="16" name="TextBox 15"/>
          <p:cNvSpPr txBox="1"/>
          <p:nvPr/>
        </p:nvSpPr>
        <p:spPr>
          <a:xfrm>
            <a:off x="2148839"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SOTELCO, puis 2XT COM / Vodacom</a:t>
            </a:r>
          </a:p>
        </p:txBody>
      </p:sp>
      <p:sp>
        <p:nvSpPr>
          <p:cNvPr id="17" name="TextBox 16"/>
          <p:cNvSpPr txBox="1"/>
          <p:nvPr/>
        </p:nvSpPr>
        <p:spPr>
          <a:xfrm>
            <a:off x="2148839"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Congo, RDC</a:t>
            </a:r>
          </a:p>
        </p:txBody>
      </p:sp>
      <p:sp>
        <p:nvSpPr>
          <p:cNvPr id="18" name="Oval 17"/>
          <p:cNvSpPr/>
          <p:nvPr/>
        </p:nvSpPr>
        <p:spPr>
          <a:xfrm>
            <a:off x="4910328" y="3648456"/>
            <a:ext cx="256032" cy="256032"/>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2007</a:t>
            </a:r>
          </a:p>
        </p:txBody>
      </p:sp>
      <p:sp>
        <p:nvSpPr>
          <p:cNvPr id="20" name="TextBox 19"/>
          <p:cNvSpPr txBox="1"/>
          <p:nvPr/>
        </p:nvSpPr>
        <p:spPr>
          <a:xfrm>
            <a:off x="425196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l'agence VIZEO</a:t>
            </a:r>
          </a:p>
        </p:txBody>
      </p:sp>
      <p:sp>
        <p:nvSpPr>
          <p:cNvPr id="21" name="TextBox 20"/>
          <p:cNvSpPr txBox="1"/>
          <p:nvPr/>
        </p:nvSpPr>
        <p:spPr>
          <a:xfrm>
            <a:off x="425196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Communication</a:t>
            </a:r>
          </a:p>
        </p:txBody>
      </p:sp>
      <p:sp>
        <p:nvSpPr>
          <p:cNvPr id="22" name="Oval 21"/>
          <p:cNvSpPr/>
          <p:nvPr/>
        </p:nvSpPr>
        <p:spPr>
          <a:xfrm>
            <a:off x="7013448" y="3648456"/>
            <a:ext cx="256032" cy="256032"/>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2017 – 2019</a:t>
            </a:r>
          </a:p>
        </p:txBody>
      </p:sp>
      <p:sp>
        <p:nvSpPr>
          <p:cNvPr id="24" name="TextBox 23"/>
          <p:cNvSpPr txBox="1"/>
          <p:nvPr/>
        </p:nvSpPr>
        <p:spPr>
          <a:xfrm>
            <a:off x="635508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Autrice, puis cofonde Impact Hub Abidjan</a:t>
            </a:r>
          </a:p>
        </p:txBody>
      </p:sp>
      <p:sp>
        <p:nvSpPr>
          <p:cNvPr id="25" name="TextBox 24"/>
          <p:cNvSpPr txBox="1"/>
          <p:nvPr/>
        </p:nvSpPr>
        <p:spPr>
          <a:xfrm>
            <a:off x="635508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Éditions Tabala</a:t>
            </a:r>
          </a:p>
        </p:txBody>
      </p:sp>
      <p:sp>
        <p:nvSpPr>
          <p:cNvPr id="26" name="Oval 25"/>
          <p:cNvSpPr/>
          <p:nvPr/>
        </p:nvSpPr>
        <p:spPr>
          <a:xfrm>
            <a:off x="9116567"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2021</a:t>
            </a:r>
          </a:p>
        </p:txBody>
      </p:sp>
      <p:sp>
        <p:nvSpPr>
          <p:cNvPr id="28" name="TextBox 27"/>
          <p:cNvSpPr txBox="1"/>
          <p:nvPr/>
        </p:nvSpPr>
        <p:spPr>
          <a:xfrm>
            <a:off x="845820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Nabou Fall Akademy (NFA)</a:t>
            </a:r>
          </a:p>
        </p:txBody>
      </p:sp>
      <p:sp>
        <p:nvSpPr>
          <p:cNvPr id="29" name="TextBox 28"/>
          <p:cNvSpPr txBox="1"/>
          <p:nvPr/>
        </p:nvSpPr>
        <p:spPr>
          <a:xfrm>
            <a:off x="845820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Formation des dirigeants</a:t>
            </a:r>
          </a:p>
        </p:txBody>
      </p:sp>
      <p:sp>
        <p:nvSpPr>
          <p:cNvPr id="30" name="Oval 29"/>
          <p:cNvSpPr/>
          <p:nvPr/>
        </p:nvSpPr>
        <p:spPr>
          <a:xfrm>
            <a:off x="1121968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6132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2024</a:t>
            </a:r>
          </a:p>
        </p:txBody>
      </p:sp>
      <p:sp>
        <p:nvSpPr>
          <p:cNvPr id="32" name="TextBox 31"/>
          <p:cNvSpPr txBox="1"/>
          <p:nvPr/>
        </p:nvSpPr>
        <p:spPr>
          <a:xfrm>
            <a:off x="1056132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Lance sa chaîne YouTube</a:t>
            </a:r>
          </a:p>
        </p:txBody>
      </p:sp>
      <p:sp>
        <p:nvSpPr>
          <p:cNvPr id="33" name="TextBox 32"/>
          <p:cNvSpPr txBox="1"/>
          <p:nvPr/>
        </p:nvSpPr>
        <p:spPr>
          <a:xfrm>
            <a:off x="1056132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100 000 abonnés en mars 2026</a:t>
            </a:r>
          </a:p>
        </p:txBody>
      </p:sp>
      <p:sp>
        <p:nvSpPr>
          <p:cNvPr id="34" name="TextBox 33"/>
          <p:cNvSpPr txBox="1"/>
          <p:nvPr/>
        </p:nvSpPr>
        <p:spPr>
          <a:xfrm>
            <a:off x="548640" y="5715000"/>
            <a:ext cx="11064240" cy="45720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Work Sans"/>
              </a:rPr>
              <a:t>Formée à l'ESGI (ingénieure), à l'ISG (master) et à la Harvard Business School (formation des dirigeants).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PORTE AUJOURD'HUI</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Une maison, plusieurs portes d'entrée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874519"/>
            <a:ext cx="658368" cy="658368"/>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ward_w.png"/>
          <p:cNvPicPr>
            <a:picLocks noChangeAspect="1"/>
          </p:cNvPicPr>
          <p:nvPr/>
        </p:nvPicPr>
        <p:blipFill>
          <a:blip r:embed="rId3"/>
          <a:stretch>
            <a:fillRect/>
          </a:stretch>
        </p:blipFill>
        <p:spPr>
          <a:xfrm>
            <a:off x="889528" y="2032528"/>
            <a:ext cx="342351" cy="342351"/>
          </a:xfrm>
          <a:prstGeom prst="rect">
            <a:avLst/>
          </a:prstGeom>
        </p:spPr>
      </p:pic>
      <p:sp>
        <p:nvSpPr>
          <p:cNvPr id="12" name="TextBox 11"/>
          <p:cNvSpPr txBox="1"/>
          <p:nvPr/>
        </p:nvSpPr>
        <p:spPr>
          <a:xfrm>
            <a:off x="73152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NFA</a:t>
            </a:r>
          </a:p>
        </p:txBody>
      </p:sp>
      <p:sp>
        <p:nvSpPr>
          <p:cNvPr id="13" name="TextBox 12"/>
          <p:cNvSpPr txBox="1"/>
          <p:nvPr/>
        </p:nvSpPr>
        <p:spPr>
          <a:xfrm>
            <a:off x="73152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Conférences, conseil, formation des dirigeants. De septembre 2025 à août 2026 : plus de 70 000 personnes touchées, 2 040 professionnels formés, 8 pays.</a:t>
            </a:r>
          </a:p>
        </p:txBody>
      </p:sp>
      <p:sp>
        <p:nvSpPr>
          <p:cNvPr id="14" name="Rounded Rectangle 13"/>
          <p:cNvSpPr/>
          <p:nvPr/>
        </p:nvSpPr>
        <p:spPr>
          <a:xfrm>
            <a:off x="278892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7180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parkles_w.png"/>
          <p:cNvPicPr>
            <a:picLocks noChangeAspect="1"/>
          </p:cNvPicPr>
          <p:nvPr/>
        </p:nvPicPr>
        <p:blipFill>
          <a:blip r:embed="rId4"/>
          <a:stretch>
            <a:fillRect/>
          </a:stretch>
        </p:blipFill>
        <p:spPr>
          <a:xfrm>
            <a:off x="3129808" y="2032528"/>
            <a:ext cx="342351" cy="342351"/>
          </a:xfrm>
          <a:prstGeom prst="rect">
            <a:avLst/>
          </a:prstGeom>
        </p:spPr>
      </p:pic>
      <p:sp>
        <p:nvSpPr>
          <p:cNvPr id="17" name="TextBox 16"/>
          <p:cNvSpPr txBox="1"/>
          <p:nvPr/>
        </p:nvSpPr>
        <p:spPr>
          <a:xfrm>
            <a:off x="297180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Osez Briller™</a:t>
            </a:r>
          </a:p>
        </p:txBody>
      </p:sp>
      <p:sp>
        <p:nvSpPr>
          <p:cNvPr id="18" name="TextBox 17"/>
          <p:cNvSpPr txBox="1"/>
          <p:nvPr/>
        </p:nvSpPr>
        <p:spPr>
          <a:xfrm>
            <a:off x="297180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Son programme de personal branding : 12 cohortes. C'est aussi sa formule de fin de post.</a:t>
            </a:r>
          </a:p>
        </p:txBody>
      </p:sp>
      <p:sp>
        <p:nvSpPr>
          <p:cNvPr id="19" name="Rounded Rectangle 18"/>
          <p:cNvSpPr/>
          <p:nvPr/>
        </p:nvSpPr>
        <p:spPr>
          <a:xfrm>
            <a:off x="502920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12080" y="1874519"/>
            <a:ext cx="658368" cy="658368"/>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users_w.png"/>
          <p:cNvPicPr>
            <a:picLocks noChangeAspect="1"/>
          </p:cNvPicPr>
          <p:nvPr/>
        </p:nvPicPr>
        <p:blipFill>
          <a:blip r:embed="rId5"/>
          <a:stretch>
            <a:fillRect/>
          </a:stretch>
        </p:blipFill>
        <p:spPr>
          <a:xfrm>
            <a:off x="5370088" y="2032528"/>
            <a:ext cx="342351" cy="342351"/>
          </a:xfrm>
          <a:prstGeom prst="rect">
            <a:avLst/>
          </a:prstGeom>
        </p:spPr>
      </p:pic>
      <p:sp>
        <p:nvSpPr>
          <p:cNvPr id="22" name="TextBox 21"/>
          <p:cNvSpPr txBox="1"/>
          <p:nvPr/>
        </p:nvSpPr>
        <p:spPr>
          <a:xfrm>
            <a:off x="521208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Femme Charismatique™</a:t>
            </a:r>
          </a:p>
        </p:txBody>
      </p:sp>
      <p:sp>
        <p:nvSpPr>
          <p:cNvPr id="23" name="TextBox 22"/>
          <p:cNvSpPr txBox="1"/>
          <p:nvPr/>
        </p:nvSpPr>
        <p:spPr>
          <a:xfrm>
            <a:off x="521208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La conférence de mars à Abidjan, complète (« SOLD OUT »), et sa communauté, « les Charismatiques ».</a:t>
            </a:r>
          </a:p>
        </p:txBody>
      </p:sp>
      <p:sp>
        <p:nvSpPr>
          <p:cNvPr id="24" name="Rounded Rectangle 23"/>
          <p:cNvSpPr/>
          <p:nvPr/>
        </p:nvSpPr>
        <p:spPr>
          <a:xfrm>
            <a:off x="726948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52360" y="1874519"/>
            <a:ext cx="658368" cy="658368"/>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ideo_w.png"/>
          <p:cNvPicPr>
            <a:picLocks noChangeAspect="1"/>
          </p:cNvPicPr>
          <p:nvPr/>
        </p:nvPicPr>
        <p:blipFill>
          <a:blip r:embed="rId6"/>
          <a:stretch>
            <a:fillRect/>
          </a:stretch>
        </p:blipFill>
        <p:spPr>
          <a:xfrm>
            <a:off x="7610368" y="2032528"/>
            <a:ext cx="342351" cy="342351"/>
          </a:xfrm>
          <a:prstGeom prst="rect">
            <a:avLst/>
          </a:prstGeom>
        </p:spPr>
      </p:pic>
      <p:sp>
        <p:nvSpPr>
          <p:cNvPr id="27" name="TextBox 26"/>
          <p:cNvSpPr txBox="1"/>
          <p:nvPr/>
        </p:nvSpPr>
        <p:spPr>
          <a:xfrm>
            <a:off x="745236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YouTube et Next Level</a:t>
            </a:r>
          </a:p>
        </p:txBody>
      </p:sp>
      <p:sp>
        <p:nvSpPr>
          <p:cNvPr id="28" name="TextBox 27"/>
          <p:cNvSpPr txBox="1"/>
          <p:nvPr/>
        </p:nvSpPr>
        <p:spPr>
          <a:xfrm>
            <a:off x="745236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Ses entretiens longs : 100 000 abonnés sur YouTube, relayés par le compte Instagram @nextlevelbynaboufall.</a:t>
            </a:r>
          </a:p>
        </p:txBody>
      </p:sp>
      <p:sp>
        <p:nvSpPr>
          <p:cNvPr id="29" name="Rounded Rectangle 28"/>
          <p:cNvSpPr/>
          <p:nvPr/>
        </p:nvSpPr>
        <p:spPr>
          <a:xfrm>
            <a:off x="950976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book-open_w.png"/>
          <p:cNvPicPr>
            <a:picLocks noChangeAspect="1"/>
          </p:cNvPicPr>
          <p:nvPr/>
        </p:nvPicPr>
        <p:blipFill>
          <a:blip r:embed="rId7"/>
          <a:stretch>
            <a:fillRect/>
          </a:stretch>
        </p:blipFill>
        <p:spPr>
          <a:xfrm>
            <a:off x="9850648" y="2032528"/>
            <a:ext cx="342351" cy="342351"/>
          </a:xfrm>
          <a:prstGeom prst="rect">
            <a:avLst/>
          </a:prstGeom>
        </p:spPr>
      </p:pic>
      <p:sp>
        <p:nvSpPr>
          <p:cNvPr id="32" name="TextBox 31"/>
          <p:cNvSpPr txBox="1"/>
          <p:nvPr/>
        </p:nvSpPr>
        <p:spPr>
          <a:xfrm>
            <a:off x="969264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Ses livres</a:t>
            </a:r>
          </a:p>
        </p:txBody>
      </p:sp>
      <p:sp>
        <p:nvSpPr>
          <p:cNvPr id="33" name="TextBox 32"/>
          <p:cNvSpPr txBox="1"/>
          <p:nvPr/>
        </p:nvSpPr>
        <p:spPr>
          <a:xfrm>
            <a:off x="969264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 Journal d'une vie facile », « De sœur à sœur », « Évasion virtuelle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DÉFEND, RELEVÉ DANS SON PROFIL ET SES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valeurs, dans ses propres mots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7</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ote_c.png"/>
          <p:cNvPicPr>
            <a:picLocks noChangeAspect="1"/>
          </p:cNvPicPr>
          <p:nvPr/>
        </p:nvPicPr>
        <p:blipFill>
          <a:blip r:embed="rId3"/>
          <a:stretch>
            <a:fillRect/>
          </a:stretch>
        </p:blipFill>
        <p:spPr>
          <a:xfrm>
            <a:off x="822959" y="1874519"/>
            <a:ext cx="384048" cy="384048"/>
          </a:xfrm>
          <a:prstGeom prst="rect">
            <a:avLst/>
          </a:prstGeom>
        </p:spPr>
      </p:pic>
      <p:sp>
        <p:nvSpPr>
          <p:cNvPr id="11" name="TextBox 10"/>
          <p:cNvSpPr txBox="1"/>
          <p:nvPr/>
        </p:nvSpPr>
        <p:spPr>
          <a:xfrm>
            <a:off x="822959"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Nous ne transformerons durablement nos organisations qu'en transformant notre manière de diriger.</a:t>
            </a:r>
          </a:p>
        </p:txBody>
      </p:sp>
      <p:sp>
        <p:nvSpPr>
          <p:cNvPr id="12" name="TextBox 11"/>
          <p:cNvSpPr txBox="1"/>
          <p:nvPr/>
        </p:nvSpPr>
        <p:spPr>
          <a:xfrm>
            <a:off x="822959"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LinkedIn · son résumé de profil</a:t>
            </a:r>
          </a:p>
        </p:txBody>
      </p:sp>
      <p:sp>
        <p:nvSpPr>
          <p:cNvPr id="13" name="Rounded Rectangle 12"/>
          <p:cNvSpPr/>
          <p:nvPr/>
        </p:nvSpPr>
        <p:spPr>
          <a:xfrm>
            <a:off x="6153912" y="1645920"/>
            <a:ext cx="5486400" cy="2148840"/>
          </a:xfrm>
          <a:prstGeom prst="roundRect">
            <a:avLst>
              <a:gd name="adj" fmla="val 6000"/>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quote_c.png"/>
          <p:cNvPicPr>
            <a:picLocks noChangeAspect="1"/>
          </p:cNvPicPr>
          <p:nvPr/>
        </p:nvPicPr>
        <p:blipFill>
          <a:blip r:embed="rId3"/>
          <a:stretch>
            <a:fillRect/>
          </a:stretch>
        </p:blipFill>
        <p:spPr>
          <a:xfrm>
            <a:off x="6428232" y="1874519"/>
            <a:ext cx="384048" cy="384048"/>
          </a:xfrm>
          <a:prstGeom prst="rect">
            <a:avLst/>
          </a:prstGeom>
        </p:spPr>
      </p:pic>
      <p:sp>
        <p:nvSpPr>
          <p:cNvPr id="15" name="TextBox 14"/>
          <p:cNvSpPr txBox="1"/>
          <p:nvPr/>
        </p:nvSpPr>
        <p:spPr>
          <a:xfrm>
            <a:off x="6428232"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On ne cherche pas à briller pour impressionner, mais à éclairer pour élever.</a:t>
            </a:r>
          </a:p>
        </p:txBody>
      </p:sp>
      <p:sp>
        <p:nvSpPr>
          <p:cNvPr id="16" name="TextBox 15"/>
          <p:cNvSpPr txBox="1"/>
          <p:nvPr/>
        </p:nvSpPr>
        <p:spPr>
          <a:xfrm>
            <a:off x="6428232"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LinkedIn · 29 mars 2026 · « 100 000 Charismatiques »</a:t>
            </a:r>
          </a:p>
        </p:txBody>
      </p:sp>
      <p:sp>
        <p:nvSpPr>
          <p:cNvPr id="17" name="Rounded Rectangle 16"/>
          <p:cNvSpPr/>
          <p:nvPr/>
        </p:nvSpPr>
        <p:spPr>
          <a:xfrm>
            <a:off x="548640"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arget_b.png"/>
          <p:cNvPicPr>
            <a:picLocks noChangeAspect="1"/>
          </p:cNvPicPr>
          <p:nvPr/>
        </p:nvPicPr>
        <p:blipFill>
          <a:blip r:embed="rId4"/>
          <a:stretch>
            <a:fillRect/>
          </a:stretch>
        </p:blipFill>
        <p:spPr>
          <a:xfrm>
            <a:off x="777240" y="4206240"/>
            <a:ext cx="384048" cy="384048"/>
          </a:xfrm>
          <a:prstGeom prst="rect">
            <a:avLst/>
          </a:prstGeom>
        </p:spPr>
      </p:pic>
      <p:sp>
        <p:nvSpPr>
          <p:cNvPr id="20" name="TextBox 19"/>
          <p:cNvSpPr txBox="1"/>
          <p:nvPr/>
        </p:nvSpPr>
        <p:spPr>
          <a:xfrm>
            <a:off x="128016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leadership conscient</a:t>
            </a:r>
          </a:p>
        </p:txBody>
      </p:sp>
      <p:sp>
        <p:nvSpPr>
          <p:cNvPr id="21" name="TextBox 20"/>
          <p:cNvSpPr txBox="1"/>
          <p:nvPr/>
        </p:nvSpPr>
        <p:spPr>
          <a:xfrm>
            <a:off x="777240"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Les soft skills ne sont pas secondaires : pour elle, ce sont « une infrastructure essentielle du pouvoir ».</a:t>
            </a:r>
          </a:p>
        </p:txBody>
      </p:sp>
      <p:sp>
        <p:nvSpPr>
          <p:cNvPr id="22" name="Rounded Rectangle 21"/>
          <p:cNvSpPr/>
          <p:nvPr/>
        </p:nvSpPr>
        <p:spPr>
          <a:xfrm>
            <a:off x="429767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7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users_b.png"/>
          <p:cNvPicPr>
            <a:picLocks noChangeAspect="1"/>
          </p:cNvPicPr>
          <p:nvPr/>
        </p:nvPicPr>
        <p:blipFill>
          <a:blip r:embed="rId5"/>
          <a:stretch>
            <a:fillRect/>
          </a:stretch>
        </p:blipFill>
        <p:spPr>
          <a:xfrm>
            <a:off x="4526279" y="4206240"/>
            <a:ext cx="384048" cy="384048"/>
          </a:xfrm>
          <a:prstGeom prst="rect">
            <a:avLst/>
          </a:prstGeom>
        </p:spPr>
      </p:pic>
      <p:sp>
        <p:nvSpPr>
          <p:cNvPr id="25" name="TextBox 24"/>
          <p:cNvSpPr txBox="1"/>
          <p:nvPr/>
        </p:nvSpPr>
        <p:spPr>
          <a:xfrm>
            <a:off x="5029199"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femmes aux commandes</a:t>
            </a:r>
          </a:p>
        </p:txBody>
      </p:sp>
      <p:sp>
        <p:nvSpPr>
          <p:cNvPr id="26" name="TextBox 25"/>
          <p:cNvSpPr txBox="1"/>
          <p:nvPr/>
        </p:nvSpPr>
        <p:spPr>
          <a:xfrm>
            <a:off x="452627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Leadership féminin, sororité, Women Leaders Akademy : le fil de son mois de mars.</a:t>
            </a:r>
          </a:p>
        </p:txBody>
      </p:sp>
      <p:sp>
        <p:nvSpPr>
          <p:cNvPr id="27" name="Rounded Rectangle 26"/>
          <p:cNvSpPr/>
          <p:nvPr/>
        </p:nvSpPr>
        <p:spPr>
          <a:xfrm>
            <a:off x="804671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1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heart_b.png"/>
          <p:cNvPicPr>
            <a:picLocks noChangeAspect="1"/>
          </p:cNvPicPr>
          <p:nvPr/>
        </p:nvPicPr>
        <p:blipFill>
          <a:blip r:embed="rId6"/>
          <a:stretch>
            <a:fillRect/>
          </a:stretch>
        </p:blipFill>
        <p:spPr>
          <a:xfrm>
            <a:off x="8275319" y="4206240"/>
            <a:ext cx="384048" cy="384048"/>
          </a:xfrm>
          <a:prstGeom prst="rect">
            <a:avLst/>
          </a:prstGeom>
        </p:spPr>
      </p:pic>
      <p:sp>
        <p:nvSpPr>
          <p:cNvPr id="30" name="TextBox 29"/>
          <p:cNvSpPr txBox="1"/>
          <p:nvPr/>
        </p:nvSpPr>
        <p:spPr>
          <a:xfrm>
            <a:off x="877824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La transmission</a:t>
            </a:r>
          </a:p>
        </p:txBody>
      </p:sp>
      <p:sp>
        <p:nvSpPr>
          <p:cNvPr id="31" name="TextBox 30"/>
          <p:cNvSpPr txBox="1"/>
          <p:nvPr/>
        </p:nvSpPr>
        <p:spPr>
          <a:xfrm>
            <a:off x="827531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 Je ne parle pas seulement à une audience : je parle à une génération » (3 avril).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LE TON RELEVÉ SUR SES 41 POSTS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Sa voix : une conférencière qui écrit comme elle parle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8</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en-tool_b.png"/>
          <p:cNvPicPr>
            <a:picLocks noChangeAspect="1"/>
          </p:cNvPicPr>
          <p:nvPr/>
        </p:nvPicPr>
        <p:blipFill>
          <a:blip r:embed="rId3"/>
          <a:stretch>
            <a:fillRect/>
          </a:stretch>
        </p:blipFill>
        <p:spPr>
          <a:xfrm>
            <a:off x="731520" y="1847088"/>
            <a:ext cx="347472" cy="347472"/>
          </a:xfrm>
          <a:prstGeom prst="rect">
            <a:avLst/>
          </a:prstGeom>
        </p:spPr>
      </p:pic>
      <p:sp>
        <p:nvSpPr>
          <p:cNvPr id="11" name="TextBox 10"/>
          <p:cNvSpPr txBox="1"/>
          <p:nvPr/>
        </p:nvSpPr>
        <p:spPr>
          <a:xfrm>
            <a:off x="73152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180 mots</a:t>
            </a:r>
          </a:p>
        </p:txBody>
      </p:sp>
      <p:sp>
        <p:nvSpPr>
          <p:cNvPr id="12" name="TextBox 11"/>
          <p:cNvSpPr txBox="1"/>
          <p:nvPr/>
        </p:nvSpPr>
        <p:spPr>
          <a:xfrm>
            <a:off x="73152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longueur médiane : ses posts sont longs, et les plus longs marchent mieux</a:t>
            </a:r>
          </a:p>
        </p:txBody>
      </p:sp>
      <p:sp>
        <p:nvSpPr>
          <p:cNvPr id="13" name="Rounded Rectangle 12"/>
          <p:cNvSpPr/>
          <p:nvPr/>
        </p:nvSpPr>
        <p:spPr>
          <a:xfrm>
            <a:off x="333756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parkles_b.png"/>
          <p:cNvPicPr>
            <a:picLocks noChangeAspect="1"/>
          </p:cNvPicPr>
          <p:nvPr/>
        </p:nvPicPr>
        <p:blipFill>
          <a:blip r:embed="rId4"/>
          <a:stretch>
            <a:fillRect/>
          </a:stretch>
        </p:blipFill>
        <p:spPr>
          <a:xfrm>
            <a:off x="3520440" y="1847088"/>
            <a:ext cx="347472" cy="347472"/>
          </a:xfrm>
          <a:prstGeom prst="rect">
            <a:avLst/>
          </a:prstGeom>
        </p:spPr>
      </p:pic>
      <p:sp>
        <p:nvSpPr>
          <p:cNvPr id="15" name="TextBox 14"/>
          <p:cNvSpPr txBox="1"/>
          <p:nvPr/>
        </p:nvSpPr>
        <p:spPr>
          <a:xfrm>
            <a:off x="352044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26 sur 41</a:t>
            </a:r>
          </a:p>
        </p:txBody>
      </p:sp>
      <p:sp>
        <p:nvSpPr>
          <p:cNvPr id="16" name="TextBox 15"/>
          <p:cNvSpPr txBox="1"/>
          <p:nvPr/>
        </p:nvSpPr>
        <p:spPr>
          <a:xfrm>
            <a:off x="352044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avec au moins un émoji, 2 en moyenne : sobre</a:t>
            </a:r>
          </a:p>
        </p:txBody>
      </p:sp>
      <p:sp>
        <p:nvSpPr>
          <p:cNvPr id="17" name="Rounded Rectangle 16"/>
          <p:cNvSpPr/>
          <p:nvPr/>
        </p:nvSpPr>
        <p:spPr>
          <a:xfrm>
            <a:off x="612648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rt_b.png"/>
          <p:cNvPicPr>
            <a:picLocks noChangeAspect="1"/>
          </p:cNvPicPr>
          <p:nvPr/>
        </p:nvPicPr>
        <p:blipFill>
          <a:blip r:embed="rId5"/>
          <a:stretch>
            <a:fillRect/>
          </a:stretch>
        </p:blipFill>
        <p:spPr>
          <a:xfrm>
            <a:off x="6309360" y="1847088"/>
            <a:ext cx="347472" cy="347472"/>
          </a:xfrm>
          <a:prstGeom prst="rect">
            <a:avLst/>
          </a:prstGeom>
        </p:spPr>
      </p:pic>
      <p:sp>
        <p:nvSpPr>
          <p:cNvPr id="19" name="TextBox 18"/>
          <p:cNvSpPr txBox="1"/>
          <p:nvPr/>
        </p:nvSpPr>
        <p:spPr>
          <a:xfrm>
            <a:off x="630936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 💙</a:t>
            </a:r>
          </a:p>
        </p:txBody>
      </p:sp>
      <p:sp>
        <p:nvSpPr>
          <p:cNvPr id="20" name="TextBox 19"/>
          <p:cNvSpPr txBox="1"/>
          <p:nvPr/>
        </p:nvSpPr>
        <p:spPr>
          <a:xfrm>
            <a:off x="630936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ses émojis les plus fréquents, avec 🔹 et 📍 pour les annonces</a:t>
            </a:r>
          </a:p>
        </p:txBody>
      </p:sp>
      <p:sp>
        <p:nvSpPr>
          <p:cNvPr id="21" name="Rounded Rectangle 20"/>
          <p:cNvSpPr/>
          <p:nvPr/>
        </p:nvSpPr>
        <p:spPr>
          <a:xfrm>
            <a:off x="8915400" y="1645920"/>
            <a:ext cx="272491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essage-circle_b.png"/>
          <p:cNvPicPr>
            <a:picLocks noChangeAspect="1"/>
          </p:cNvPicPr>
          <p:nvPr/>
        </p:nvPicPr>
        <p:blipFill>
          <a:blip r:embed="rId6"/>
          <a:stretch>
            <a:fillRect/>
          </a:stretch>
        </p:blipFill>
        <p:spPr>
          <a:xfrm>
            <a:off x="9098280" y="1847088"/>
            <a:ext cx="347472" cy="347472"/>
          </a:xfrm>
          <a:prstGeom prst="rect">
            <a:avLst/>
          </a:prstGeom>
        </p:spPr>
      </p:pic>
      <p:sp>
        <p:nvSpPr>
          <p:cNvPr id="23" name="TextBox 22"/>
          <p:cNvSpPr txBox="1"/>
          <p:nvPr/>
        </p:nvSpPr>
        <p:spPr>
          <a:xfrm>
            <a:off x="9098280" y="2212848"/>
            <a:ext cx="240487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Osez Briller »</a:t>
            </a:r>
          </a:p>
        </p:txBody>
      </p:sp>
      <p:sp>
        <p:nvSpPr>
          <p:cNvPr id="24" name="TextBox 23"/>
          <p:cNvSpPr txBox="1"/>
          <p:nvPr/>
        </p:nvSpPr>
        <p:spPr>
          <a:xfrm>
            <a:off x="9098280" y="2670048"/>
            <a:ext cx="240487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sa formule de fin, et « Chers Charismatiques » pour ouvrir</a:t>
            </a:r>
          </a:p>
        </p:txBody>
      </p:sp>
      <p:sp>
        <p:nvSpPr>
          <p:cNvPr id="25" name="Rounded Rectangle 24"/>
          <p:cNvSpPr/>
          <p:nvPr/>
        </p:nvSpPr>
        <p:spPr>
          <a:xfrm>
            <a:off x="548640"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56432"/>
            <a:ext cx="54864" cy="2505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heck-circle_b.png"/>
          <p:cNvPicPr>
            <a:picLocks noChangeAspect="1"/>
          </p:cNvPicPr>
          <p:nvPr/>
        </p:nvPicPr>
        <p:blipFill>
          <a:blip r:embed="rId7"/>
          <a:stretch>
            <a:fillRect/>
          </a:stretch>
        </p:blipFill>
        <p:spPr>
          <a:xfrm>
            <a:off x="777240" y="3474720"/>
            <a:ext cx="384048" cy="384048"/>
          </a:xfrm>
          <a:prstGeom prst="rect">
            <a:avLst/>
          </a:prstGeom>
        </p:spPr>
      </p:pic>
      <p:sp>
        <p:nvSpPr>
          <p:cNvPr id="28" name="TextBox 27"/>
          <p:cNvSpPr txBox="1"/>
          <p:nvPr/>
        </p:nvSpPr>
        <p:spPr>
          <a:xfrm>
            <a:off x="1280160"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fait sa force</a:t>
            </a:r>
          </a:p>
        </p:txBody>
      </p:sp>
      <p:sp>
        <p:nvSpPr>
          <p:cNvPr id="29" name="TextBox 28"/>
          <p:cNvSpPr txBox="1"/>
          <p:nvPr/>
        </p:nvSpPr>
        <p:spPr>
          <a:xfrm>
            <a:off x="777240"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Des premières lignes courtes et fortes (« Aujourd'hui, j'ai pleuré. ») : 367 interactions en médiane quand la première ligne fait 6 mots ou moins, 299 au-delà.</a:t>
            </a:r>
          </a:p>
          <a:p>
            <a:pPr algn="l">
              <a:lnSpc>
                <a:spcPct val="110000"/>
              </a:lnSpc>
              <a:spcAft>
                <a:spcPts val="400"/>
              </a:spcAft>
            </a:pPr>
            <a:r>
              <a:rPr sz="1100" b="0" i="0">
                <a:solidFill>
                  <a:srgbClr val="2B2A35"/>
                </a:solidFill>
                <a:latin typeface="Work Sans"/>
              </a:rPr>
              <a:t>Les posts de 200 mots et plus font 420 en médiane, contre 264 pour les plus courts.</a:t>
            </a:r>
          </a:p>
        </p:txBody>
      </p:sp>
      <p:sp>
        <p:nvSpPr>
          <p:cNvPr id="30" name="Rounded Rectangle 29"/>
          <p:cNvSpPr/>
          <p:nvPr/>
        </p:nvSpPr>
        <p:spPr>
          <a:xfrm>
            <a:off x="6153912"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53912" y="3456432"/>
            <a:ext cx="54864" cy="25054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lert-triangle_b.png"/>
          <p:cNvPicPr>
            <a:picLocks noChangeAspect="1"/>
          </p:cNvPicPr>
          <p:nvPr/>
        </p:nvPicPr>
        <p:blipFill>
          <a:blip r:embed="rId8"/>
          <a:stretch>
            <a:fillRect/>
          </a:stretch>
        </p:blipFill>
        <p:spPr>
          <a:xfrm>
            <a:off x="6382512" y="3474720"/>
            <a:ext cx="384048" cy="384048"/>
          </a:xfrm>
          <a:prstGeom prst="rect">
            <a:avLst/>
          </a:prstGeom>
        </p:spPr>
      </p:pic>
      <p:sp>
        <p:nvSpPr>
          <p:cNvPr id="33" name="TextBox 32"/>
          <p:cNvSpPr txBox="1"/>
          <p:nvPr/>
        </p:nvSpPr>
        <p:spPr>
          <a:xfrm>
            <a:off x="6885432"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la dessert</a:t>
            </a:r>
          </a:p>
        </p:txBody>
      </p:sp>
      <p:sp>
        <p:nvSpPr>
          <p:cNvPr id="34" name="TextBox 33"/>
          <p:cNvSpPr txBox="1"/>
          <p:nvPr/>
        </p:nvSpPr>
        <p:spPr>
          <a:xfrm>
            <a:off x="6382512"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Des coquilles visibles dans des posts phares : « 2040 rofessionnels », « nous avons atteints », « co-hote ».</a:t>
            </a:r>
          </a:p>
          <a:p>
            <a:pPr algn="l">
              <a:lnSpc>
                <a:spcPct val="110000"/>
              </a:lnSpc>
              <a:spcAft>
                <a:spcPts val="400"/>
              </a:spcAft>
            </a:pPr>
            <a:r>
              <a:rPr sz="1100" b="0" i="0">
                <a:solidFill>
                  <a:srgbClr val="2B2A35"/>
                </a:solidFill>
                <a:latin typeface="Work Sans"/>
              </a:rPr>
              <a:t>Le marqueur ™ dans 8 posts et les caractères spéciaux du 20 août (𝐆𝐔𝐈𝐂𝐇𝐄𝐓) : peu lisibles, mal lus par les lecteurs d'écran.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1-20_573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02</a:t>
            </a:r>
          </a:p>
        </p:txBody>
      </p:sp>
      <p:pic>
        <p:nvPicPr>
          <p:cNvPr id="4" name="Picture 3" descr="linkedin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LinkedIn</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108 652 abonnés, 41 posts depuis janvier, une médiane de 350 interactions.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profil d'autorité, une bannière qui dit tout</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li_banniere_4.00_0.5.jpg"/>
          <p:cNvPicPr>
            <a:picLocks noChangeAspect="1"/>
          </p:cNvPicPr>
          <p:nvPr/>
        </p:nvPicPr>
        <p:blipFill>
          <a:blip r:embed="rId4"/>
          <a:stretch>
            <a:fillRect/>
          </a:stretch>
        </p:blipFill>
        <p:spPr>
          <a:xfrm>
            <a:off x="548640" y="1600200"/>
            <a:ext cx="6766560" cy="1691640"/>
          </a:xfrm>
          <a:prstGeom prst="rect">
            <a:avLst/>
          </a:prstGeom>
        </p:spPr>
      </p:pic>
      <p:pic>
        <p:nvPicPr>
          <p:cNvPr id="11" name="Picture 10" descr="rond_li_profil.png"/>
          <p:cNvPicPr>
            <a:picLocks noChangeAspect="1"/>
          </p:cNvPicPr>
          <p:nvPr/>
        </p:nvPicPr>
        <p:blipFill>
          <a:blip r:embed="rId5"/>
          <a:stretch>
            <a:fillRect/>
          </a:stretch>
        </p:blipFill>
        <p:spPr>
          <a:xfrm>
            <a:off x="777240" y="2788920"/>
            <a:ext cx="1188720" cy="1188720"/>
          </a:xfrm>
          <a:prstGeom prst="rect">
            <a:avLst/>
          </a:prstGeom>
        </p:spPr>
      </p:pic>
      <p:sp>
        <p:nvSpPr>
          <p:cNvPr id="12" name="TextBox 11"/>
          <p:cNvSpPr txBox="1"/>
          <p:nvPr/>
        </p:nvSpPr>
        <p:spPr>
          <a:xfrm>
            <a:off x="2148840" y="3429000"/>
            <a:ext cx="5120640" cy="36576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Nabou Fall</a:t>
            </a:r>
          </a:p>
        </p:txBody>
      </p:sp>
      <p:sp>
        <p:nvSpPr>
          <p:cNvPr id="13" name="TextBox 12"/>
          <p:cNvSpPr txBox="1"/>
          <p:nvPr/>
        </p:nvSpPr>
        <p:spPr>
          <a:xfrm>
            <a:off x="2148840" y="3794760"/>
            <a:ext cx="5120640" cy="731520"/>
          </a:xfrm>
          <a:prstGeom prst="rect">
            <a:avLst/>
          </a:prstGeom>
          <a:noFill/>
        </p:spPr>
        <p:txBody>
          <a:bodyPr wrap="square" anchor="t" lIns="18288" rIns="18288" tIns="18288" bIns="18288">
            <a:spAutoFit/>
          </a:bodyPr>
          <a:lstStyle/>
          <a:p>
            <a:pPr algn="l">
              <a:lnSpc>
                <a:spcPct val="100000"/>
              </a:lnSpc>
              <a:spcAft>
                <a:spcPts val="400"/>
              </a:spcAft>
            </a:pPr>
            <a:r>
              <a:rPr sz="1000" b="0" i="0">
                <a:solidFill>
                  <a:srgbClr val="2B2A35"/>
                </a:solidFill>
                <a:latin typeface="Work Sans"/>
              </a:rPr>
              <a:t>CEO NFA | Architecte de transformation humaine | Leadership conscient &amp; Soft Skills stratégiques | Conférencière internationale | Executive Coach</a:t>
            </a:r>
          </a:p>
        </p:txBody>
      </p:sp>
      <p:sp>
        <p:nvSpPr>
          <p:cNvPr id="14" name="TextBox 13"/>
          <p:cNvSpPr txBox="1"/>
          <p:nvPr/>
        </p:nvSpPr>
        <p:spPr>
          <a:xfrm>
            <a:off x="548640" y="4617720"/>
            <a:ext cx="6766560" cy="3200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007ABB"/>
                </a:solidFill>
                <a:latin typeface="Space Grotesk"/>
                <a:hlinkClick r:id="rId6"/>
              </a:rPr>
              <a:t>linkedin.com/in/naboufall</a:t>
            </a:r>
          </a:p>
        </p:txBody>
      </p:sp>
      <p:sp>
        <p:nvSpPr>
          <p:cNvPr id="15" name="Rounded Rectangle 14"/>
          <p:cNvSpPr/>
          <p:nvPr/>
        </p:nvSpPr>
        <p:spPr>
          <a:xfrm>
            <a:off x="758952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_b.png"/>
          <p:cNvPicPr>
            <a:picLocks noChangeAspect="1"/>
          </p:cNvPicPr>
          <p:nvPr/>
        </p:nvPicPr>
        <p:blipFill>
          <a:blip r:embed="rId7"/>
          <a:stretch>
            <a:fillRect/>
          </a:stretch>
        </p:blipFill>
        <p:spPr>
          <a:xfrm>
            <a:off x="7772400" y="1801368"/>
            <a:ext cx="347472" cy="347472"/>
          </a:xfrm>
          <a:prstGeom prst="rect">
            <a:avLst/>
          </a:prstGeom>
        </p:spPr>
      </p:pic>
      <p:sp>
        <p:nvSpPr>
          <p:cNvPr id="17" name="TextBox 16"/>
          <p:cNvSpPr txBox="1"/>
          <p:nvPr/>
        </p:nvSpPr>
        <p:spPr>
          <a:xfrm>
            <a:off x="7772400"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108 652</a:t>
            </a:r>
          </a:p>
        </p:txBody>
      </p:sp>
      <p:sp>
        <p:nvSpPr>
          <p:cNvPr id="18" name="TextBox 17"/>
          <p:cNvSpPr txBox="1"/>
          <p:nvPr/>
        </p:nvSpPr>
        <p:spPr>
          <a:xfrm>
            <a:off x="7772400"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9" name="Rounded Rectangle 18"/>
          <p:cNvSpPr/>
          <p:nvPr/>
        </p:nvSpPr>
        <p:spPr>
          <a:xfrm>
            <a:off x="969264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ink_b.png"/>
          <p:cNvPicPr>
            <a:picLocks noChangeAspect="1"/>
          </p:cNvPicPr>
          <p:nvPr/>
        </p:nvPicPr>
        <p:blipFill>
          <a:blip r:embed="rId8"/>
          <a:stretch>
            <a:fillRect/>
          </a:stretch>
        </p:blipFill>
        <p:spPr>
          <a:xfrm>
            <a:off x="9875519" y="1801368"/>
            <a:ext cx="347472" cy="347472"/>
          </a:xfrm>
          <a:prstGeom prst="rect">
            <a:avLst/>
          </a:prstGeom>
        </p:spPr>
      </p:pic>
      <p:sp>
        <p:nvSpPr>
          <p:cNvPr id="21" name="TextBox 20"/>
          <p:cNvSpPr txBox="1"/>
          <p:nvPr/>
        </p:nvSpPr>
        <p:spPr>
          <a:xfrm>
            <a:off x="9875519"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29 989</a:t>
            </a:r>
          </a:p>
        </p:txBody>
      </p:sp>
      <p:sp>
        <p:nvSpPr>
          <p:cNvPr id="22" name="TextBox 21"/>
          <p:cNvSpPr txBox="1"/>
          <p:nvPr/>
        </p:nvSpPr>
        <p:spPr>
          <a:xfrm>
            <a:off x="9875519"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relations</a:t>
            </a:r>
          </a:p>
        </p:txBody>
      </p:sp>
      <p:sp>
        <p:nvSpPr>
          <p:cNvPr id="23" name="Rounded Rectangle 22"/>
          <p:cNvSpPr/>
          <p:nvPr/>
        </p:nvSpPr>
        <p:spPr>
          <a:xfrm>
            <a:off x="7589520" y="3200400"/>
            <a:ext cx="4050791" cy="29260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3364992"/>
            <a:ext cx="54864" cy="259689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ist-checks_b.png"/>
          <p:cNvPicPr>
            <a:picLocks noChangeAspect="1"/>
          </p:cNvPicPr>
          <p:nvPr/>
        </p:nvPicPr>
        <p:blipFill>
          <a:blip r:embed="rId9"/>
          <a:stretch>
            <a:fillRect/>
          </a:stretch>
        </p:blipFill>
        <p:spPr>
          <a:xfrm>
            <a:off x="7818120" y="3383280"/>
            <a:ext cx="384048" cy="384048"/>
          </a:xfrm>
          <a:prstGeom prst="rect">
            <a:avLst/>
          </a:prstGeom>
        </p:spPr>
      </p:pic>
      <p:sp>
        <p:nvSpPr>
          <p:cNvPr id="26" name="TextBox 25"/>
          <p:cNvSpPr txBox="1"/>
          <p:nvPr/>
        </p:nvSpPr>
        <p:spPr>
          <a:xfrm>
            <a:off x="8321040" y="33832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va, ce qui manque</a:t>
            </a:r>
          </a:p>
        </p:txBody>
      </p:sp>
      <p:sp>
        <p:nvSpPr>
          <p:cNvPr id="27" name="TextBox 26"/>
          <p:cNvSpPr txBox="1"/>
          <p:nvPr/>
        </p:nvSpPr>
        <p:spPr>
          <a:xfrm>
            <a:off x="7818120" y="3913632"/>
            <a:ext cx="3639311" cy="2103120"/>
          </a:xfrm>
          <a:prstGeom prst="rect">
            <a:avLst/>
          </a:prstGeom>
          <a:noFill/>
        </p:spPr>
        <p:txBody>
          <a:bodyPr wrap="square" anchor="t" lIns="18288" rIns="18288" tIns="18288" bIns="18288">
            <a:spAutoFit/>
          </a:bodyPr>
          <a:lstStyle/>
          <a:p>
            <a:pPr algn="l">
              <a:lnSpc>
                <a:spcPct val="110000"/>
              </a:lnSpc>
              <a:spcAft>
                <a:spcPts val="400"/>
              </a:spcAft>
            </a:pPr>
            <a:r>
              <a:rPr sz="1000" b="0" i="0">
                <a:solidFill>
                  <a:srgbClr val="2B2A35"/>
                </a:solidFill>
                <a:latin typeface="Work Sans"/>
              </a:rPr>
              <a:t>✔ Bannière forte : « Inspire. Impacte. Brille. », photo de scène.</a:t>
            </a:r>
          </a:p>
          <a:p>
            <a:pPr algn="l">
              <a:lnSpc>
                <a:spcPct val="110000"/>
              </a:lnSpc>
              <a:spcAft>
                <a:spcPts val="400"/>
              </a:spcAft>
            </a:pPr>
            <a:r>
              <a:rPr sz="1000" b="0" i="0">
                <a:solidFill>
                  <a:srgbClr val="2B2A35"/>
                </a:solidFill>
                <a:latin typeface="Work Sans"/>
              </a:rPr>
              <a:t>✔ Résumé riche, cinq domaines clairs, site naboufall.com.</a:t>
            </a:r>
          </a:p>
          <a:p>
            <a:pPr algn="l">
              <a:lnSpc>
                <a:spcPct val="110000"/>
              </a:lnSpc>
              <a:spcAft>
                <a:spcPts val="400"/>
              </a:spcAft>
            </a:pPr>
            <a:r>
              <a:rPr sz="1000" b="0" i="0">
                <a:solidFill>
                  <a:srgbClr val="2B2A35"/>
                </a:solidFill>
                <a:latin typeface="Work Sans"/>
              </a:rPr>
              <a:t>✘ Section « À la une » : 5 posts récents, dont un teasing, mais ni la chaîne YouTube ni Osez Briller.</a:t>
            </a:r>
          </a:p>
          <a:p>
            <a:pPr algn="l">
              <a:lnSpc>
                <a:spcPct val="110000"/>
              </a:lnSpc>
              <a:spcAft>
                <a:spcPts val="400"/>
              </a:spcAft>
            </a:pPr>
            <a:r>
              <a:rPr sz="1000" b="0" i="0">
                <a:solidFill>
                  <a:srgbClr val="2B2A35"/>
                </a:solidFill>
                <a:latin typeface="Work Sans"/>
              </a:rPr>
              <a:t>✘ Son résumé la dit « Directrice générale de 2XT COM », son parcours « Deputy managing director » : à harmoniser.</a:t>
            </a:r>
          </a:p>
        </p:txBody>
      </p:sp>
      <p:sp>
        <p:nvSpPr>
          <p:cNvPr id="28" name="TextBox 27"/>
          <p:cNvSpPr txBox="1"/>
          <p:nvPr/>
        </p:nvSpPr>
        <p:spPr>
          <a:xfrm>
            <a:off x="548640" y="5029200"/>
            <a:ext cx="6766560" cy="1097280"/>
          </a:xfrm>
          <a:prstGeom prst="rect">
            <a:avLst/>
          </a:prstGeom>
          <a:noFill/>
        </p:spPr>
        <p:txBody>
          <a:bodyPr wrap="square" anchor="t" lIns="18288" rIns="18288" tIns="18288" bIns="18288">
            <a:spAutoFit/>
          </a:bodyPr>
          <a:lstStyle/>
          <a:p>
            <a:pPr algn="l">
              <a:lnSpc>
                <a:spcPct val="108000"/>
              </a:lnSpc>
              <a:spcAft>
                <a:spcPts val="400"/>
              </a:spcAft>
            </a:pPr>
            <a:r>
              <a:rPr sz="1150" b="1" i="0">
                <a:solidFill>
                  <a:srgbClr val="232754"/>
                </a:solidFill>
                <a:latin typeface="Work Sans"/>
              </a:rPr>
              <a:t>Avec 108 652 abonnés, elle a la plus grosse audience LinkedIn de ses pairs après Edith Brou Bleu. L'enjeu n'est pas d'être vue, c'est de publier assez souvent pour en profiter.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POSTS ET INTERACTIONS (MÉDIANE) PAR MOIS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printemps très actif, puis un été presque muet</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1_linkedin_mois.png"/>
          <p:cNvPicPr>
            <a:picLocks noChangeAspect="1"/>
          </p:cNvPicPr>
          <p:nvPr/>
        </p:nvPicPr>
        <p:blipFill>
          <a:blip r:embed="rId4"/>
          <a:stretch>
            <a:fillRect/>
          </a:stretch>
        </p:blipFill>
        <p:spPr>
          <a:xfrm>
            <a:off x="548640" y="1554480"/>
            <a:ext cx="7315200" cy="3364992"/>
          </a:xfrm>
          <a:prstGeom prst="rect">
            <a:avLst/>
          </a:prstGeom>
        </p:spPr>
      </p:pic>
      <p:sp>
        <p:nvSpPr>
          <p:cNvPr id="11" name="Rounded Rectangle 10"/>
          <p:cNvSpPr/>
          <p:nvPr/>
        </p:nvSpPr>
        <p:spPr>
          <a:xfrm>
            <a:off x="8138160" y="160020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8321040" y="1801368"/>
            <a:ext cx="347472" cy="347472"/>
          </a:xfrm>
          <a:prstGeom prst="rect">
            <a:avLst/>
          </a:prstGeom>
        </p:spPr>
      </p:pic>
      <p:sp>
        <p:nvSpPr>
          <p:cNvPr id="13" name="TextBox 12"/>
          <p:cNvSpPr txBox="1"/>
          <p:nvPr/>
        </p:nvSpPr>
        <p:spPr>
          <a:xfrm>
            <a:off x="8321040" y="216712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33 → 8</a:t>
            </a:r>
          </a:p>
        </p:txBody>
      </p:sp>
      <p:sp>
        <p:nvSpPr>
          <p:cNvPr id="14" name="TextBox 13"/>
          <p:cNvSpPr txBox="1"/>
          <p:nvPr/>
        </p:nvSpPr>
        <p:spPr>
          <a:xfrm>
            <a:off x="8321040" y="262432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de janvier à avril, puis de mai à octobre. Aucun en mai.</a:t>
            </a:r>
          </a:p>
        </p:txBody>
      </p:sp>
      <p:sp>
        <p:nvSpPr>
          <p:cNvPr id="15" name="Rounded Rectangle 14"/>
          <p:cNvSpPr/>
          <p:nvPr/>
        </p:nvSpPr>
        <p:spPr>
          <a:xfrm>
            <a:off x="8138160" y="315468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8321040" y="3355848"/>
            <a:ext cx="347472" cy="347472"/>
          </a:xfrm>
          <a:prstGeom prst="rect">
            <a:avLst/>
          </a:prstGeom>
        </p:spPr>
      </p:pic>
      <p:sp>
        <p:nvSpPr>
          <p:cNvPr id="17" name="TextBox 16"/>
          <p:cNvSpPr txBox="1"/>
          <p:nvPr/>
        </p:nvSpPr>
        <p:spPr>
          <a:xfrm>
            <a:off x="8321040" y="372160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15 posts en mars</a:t>
            </a:r>
          </a:p>
        </p:txBody>
      </p:sp>
      <p:sp>
        <p:nvSpPr>
          <p:cNvPr id="18" name="TextBox 17"/>
          <p:cNvSpPr txBox="1"/>
          <p:nvPr/>
        </p:nvSpPr>
        <p:spPr>
          <a:xfrm>
            <a:off x="8321040" y="417880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le mois des droits des femmes et de la conférence Femme Charismatique, mais la médiane tombe à 176.</a:t>
            </a:r>
          </a:p>
        </p:txBody>
      </p:sp>
      <p:sp>
        <p:nvSpPr>
          <p:cNvPr id="19" name="TextBox 18"/>
          <p:cNvSpPr txBox="1"/>
          <p:nvPr/>
        </p:nvSpPr>
        <p:spPr>
          <a:xfrm>
            <a:off x="8138160" y="4754880"/>
            <a:ext cx="350215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Trop d'annonces d'un coup fatiguent le fil ; trop de silence le fait oublier. Il faut un rythme régulier entre les deux.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SUJET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qui touche : elle, ses proches, ses émotions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5_linkedin_suje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1764792"/>
            <a:ext cx="54864" cy="1865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eart_b.png"/>
          <p:cNvPicPr>
            <a:picLocks noChangeAspect="1"/>
          </p:cNvPicPr>
          <p:nvPr/>
        </p:nvPicPr>
        <p:blipFill>
          <a:blip r:embed="rId5"/>
          <a:stretch>
            <a:fillRect/>
          </a:stretch>
        </p:blipFill>
        <p:spPr>
          <a:xfrm>
            <a:off x="7818120" y="1783080"/>
            <a:ext cx="384048" cy="384048"/>
          </a:xfrm>
          <a:prstGeom prst="rect">
            <a:avLst/>
          </a:prstGeom>
        </p:spPr>
      </p:pic>
      <p:sp>
        <p:nvSpPr>
          <p:cNvPr id="14" name="TextBox 13"/>
          <p:cNvSpPr txBox="1"/>
          <p:nvPr/>
        </p:nvSpPr>
        <p:spPr>
          <a:xfrm>
            <a:off x="8321040" y="17830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porte</a:t>
            </a:r>
          </a:p>
        </p:txBody>
      </p:sp>
      <p:sp>
        <p:nvSpPr>
          <p:cNvPr id="15" name="TextBox 14"/>
          <p:cNvSpPr txBox="1"/>
          <p:nvPr/>
        </p:nvSpPr>
        <p:spPr>
          <a:xfrm>
            <a:off x="7818120" y="231343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posts intimes et les hommages (832 en médiane, 10 posts) : un souvenir, une émotion, une leçon.</a:t>
            </a:r>
          </a:p>
        </p:txBody>
      </p:sp>
      <p:sp>
        <p:nvSpPr>
          <p:cNvPr id="16" name="Rounded Rectangle 15"/>
          <p:cNvSpPr/>
          <p:nvPr/>
        </p:nvSpPr>
        <p:spPr>
          <a:xfrm>
            <a:off x="7589520" y="393192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4096511"/>
            <a:ext cx="54864" cy="1865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lert-triangle_b.png"/>
          <p:cNvPicPr>
            <a:picLocks noChangeAspect="1"/>
          </p:cNvPicPr>
          <p:nvPr/>
        </p:nvPicPr>
        <p:blipFill>
          <a:blip r:embed="rId6"/>
          <a:stretch>
            <a:fillRect/>
          </a:stretch>
        </p:blipFill>
        <p:spPr>
          <a:xfrm>
            <a:off x="7818120" y="4114800"/>
            <a:ext cx="384048" cy="384048"/>
          </a:xfrm>
          <a:prstGeom prst="rect">
            <a:avLst/>
          </a:prstGeom>
        </p:spPr>
      </p:pic>
      <p:sp>
        <p:nvSpPr>
          <p:cNvPr id="19" name="TextBox 18"/>
          <p:cNvSpPr txBox="1"/>
          <p:nvPr/>
        </p:nvSpPr>
        <p:spPr>
          <a:xfrm>
            <a:off x="8321040" y="411480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pèse</a:t>
            </a:r>
          </a:p>
        </p:txBody>
      </p:sp>
      <p:sp>
        <p:nvSpPr>
          <p:cNvPr id="20" name="TextBox 19"/>
          <p:cNvSpPr txBox="1"/>
          <p:nvPr/>
        </p:nvSpPr>
        <p:spPr>
          <a:xfrm>
            <a:off x="7818120" y="464515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annonces de programmes et d'événements (266, 13 posts) : le sujet le plus fréquent, et le moins suivi.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FORMAT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La vraie photo bat l'affiche, et de loin</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2_linkedin_forma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573 contre 286</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interactions en médiane : une photo réelle d'elle (9 posts) face à une affiche (13 posts).</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n-tool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103</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pour un texte seul (7 posts) : sans image, ses posts passent inaperçus.</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Les affiches de ses événements sont belles, mais le fil de LinkedIn récompense les visages. L'affiche peut passer en deuxième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JOUR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Quand publier : le lundi, jamais le mercredi</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3_linkedin_jours.png"/>
          <p:cNvPicPr>
            <a:picLocks noChangeAspect="1"/>
          </p:cNvPicPr>
          <p:nvPr/>
        </p:nvPicPr>
        <p:blipFill>
          <a:blip r:embed="rId4"/>
          <a:stretch>
            <a:fillRect/>
          </a:stretch>
        </p:blipFill>
        <p:spPr>
          <a:xfrm>
            <a:off x="548640" y="1554480"/>
            <a:ext cx="6766560" cy="4256385"/>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Lundi : 758</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sur 6 posts. Son « Bonne semaine &amp; Osez Briller » y trouve sa place.</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Mercredi : 126</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sur 5 posts. Le dimanche (8 posts) fait 222.</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8F8F9A"/>
                </a:solidFill>
                <a:latin typeface="Work Sans"/>
              </a:rPr>
              <a:t>À lire avec prudence : 2 à 8 posts par jour. Mais l'écart lundi / mercredi est trop grand pour être un hasard.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posts les plus forts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15</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_2026-04-03_2719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2 719 interactions</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03/04/2026 · photo</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Aujourd'hui, j'ai pleuré »</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Des enfants font un exposé sur elle. 130 commentaires.</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4-06_1945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1 945 interactions</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06/04/2026 · photo</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Hommage à Marie Khone Faye</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4 avril, elle célèbre une autre femme.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2-22_1212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1 212 interactions</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22/02/2026 · photo</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Ramadan &amp; Carême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retour à l'essentiel, sans rien vendre.</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i_2026-04-02_1146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1 146 interactions</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02/04/2026 · photo</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Maman d'un enfant autiste</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24 ans de maternité racontés pour la journée de l'autisme.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posts les plus faibles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uile_n18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48 interactions</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18/03/2026 · texte seul</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Revivre la conférence</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relance commerciale, sans image.</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3-08_70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70 interactions</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08/03/2026 · affiche</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8 mars · Women Leaders Akademy</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L'un des deux posts du jour sur le 8 mars.</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7-07_73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73 interactions</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07/07/2026 · affiche</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Comprendre le PND</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sujet institutionnel, loin de sa voix.</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tuile_n12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102 interactions</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12/03/2026 · texte seul</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Droits. Justice. Action.</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même slogan, quatre jours après le 8 mars.</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eart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est son meilleur sujet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Ses 5 meilleurs posts parlent d'elle, de sa fille, de sa foi, d'une amie. Aucun n'annonce un programme.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lock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silence coûte cher</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Aucun post en mai, un seul en juin, en septembre et en octobre. Le dernier, le 16 octobre, annonce un projet secret.</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peat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Trop de répétitions en mars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 Droits. Justice. Action. » publié deux fois en quatre jours, et 4 partages sans texte dans le même mois.</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en-tool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Une relecture manque</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Coquilles dans le bilan annuel et une phrase mal construite le 9 février : chez une coach en prise de parole, cela se remarque.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03_DVbOMxODKWu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03</a:t>
            </a:r>
          </a:p>
        </p:txBody>
      </p:sp>
      <p:pic>
        <p:nvPicPr>
          <p:cNvPr id="4" name="Picture 3" descr="instagram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Instagram</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60 956 abonnés, compte certifié, mais un fil qui ne lui appartient plus.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18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compte certifié, une bio faite de mots-clés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rond_ig_profil.png"/>
          <p:cNvPicPr>
            <a:picLocks noChangeAspect="1"/>
          </p:cNvPicPr>
          <p:nvPr/>
        </p:nvPicPr>
        <p:blipFill>
          <a:blip r:embed="rId4"/>
          <a:stretch>
            <a:fillRect/>
          </a:stretch>
        </p:blipFill>
        <p:spPr>
          <a:xfrm>
            <a:off x="640080" y="1691640"/>
            <a:ext cx="1371600" cy="1371600"/>
          </a:xfrm>
          <a:prstGeom prst="rect">
            <a:avLst/>
          </a:prstGeom>
        </p:spPr>
      </p:pic>
      <p:sp>
        <p:nvSpPr>
          <p:cNvPr id="11" name="TextBox 10"/>
          <p:cNvSpPr txBox="1"/>
          <p:nvPr/>
        </p:nvSpPr>
        <p:spPr>
          <a:xfrm>
            <a:off x="2240280" y="1783080"/>
            <a:ext cx="5029200" cy="365760"/>
          </a:xfrm>
          <a:prstGeom prst="rect">
            <a:avLst/>
          </a:prstGeom>
          <a:noFill/>
        </p:spPr>
        <p:txBody>
          <a:bodyPr wrap="square" anchor="t" lIns="18288" rIns="18288" tIns="18288" bIns="18288">
            <a:spAutoFit/>
          </a:bodyPr>
          <a:lstStyle/>
          <a:p>
            <a:pPr algn="l">
              <a:lnSpc>
                <a:spcPct val="112000"/>
              </a:lnSpc>
              <a:spcAft>
                <a:spcPts val="400"/>
              </a:spcAft>
            </a:pPr>
            <a:r>
              <a:rPr sz="1800" b="1" i="0">
                <a:solidFill>
                  <a:srgbClr val="232754"/>
                </a:solidFill>
                <a:latin typeface="Funnel Display"/>
                <a:hlinkClick r:id="rId5"/>
              </a:rPr>
              <a:t>@naboufallofficiel</a:t>
            </a:r>
          </a:p>
        </p:txBody>
      </p:sp>
      <p:sp>
        <p:nvSpPr>
          <p:cNvPr id="12" name="TextBox 11"/>
          <p:cNvSpPr txBox="1"/>
          <p:nvPr/>
        </p:nvSpPr>
        <p:spPr>
          <a:xfrm>
            <a:off x="2240280" y="2240280"/>
            <a:ext cx="2926080" cy="1097280"/>
          </a:xfrm>
          <a:prstGeom prst="rect">
            <a:avLst/>
          </a:prstGeom>
          <a:noFill/>
        </p:spPr>
        <p:txBody>
          <a:bodyPr wrap="square" anchor="t" lIns="18288" rIns="18288" tIns="18288" bIns="18288">
            <a:spAutoFit/>
          </a:bodyPr>
          <a:lstStyle/>
          <a:p>
            <a:pPr algn="l">
              <a:lnSpc>
                <a:spcPct val="100000"/>
              </a:lnSpc>
              <a:spcAft>
                <a:spcPts val="200"/>
              </a:spcAft>
            </a:pPr>
            <a:r>
              <a:rPr sz="1000" b="0" i="0">
                <a:solidFill>
                  <a:srgbClr val="2B2A35"/>
                </a:solidFill>
                <a:latin typeface="Work Sans"/>
              </a:rPr>
              <a:t>#empoweredwomenempowertheworld</a:t>
            </a:r>
          </a:p>
          <a:p>
            <a:pPr algn="l">
              <a:lnSpc>
                <a:spcPct val="100000"/>
              </a:lnSpc>
              <a:spcAft>
                <a:spcPts val="200"/>
              </a:spcAft>
            </a:pPr>
            <a:r>
              <a:rPr sz="1000" b="0" i="0">
                <a:solidFill>
                  <a:srgbClr val="2B2A35"/>
                </a:solidFill>
                <a:latin typeface="Work Sans"/>
              </a:rPr>
              <a:t>#Wimnet #Speaker #icfcoach</a:t>
            </a:r>
          </a:p>
          <a:p>
            <a:pPr algn="l">
              <a:lnSpc>
                <a:spcPct val="100000"/>
              </a:lnSpc>
              <a:spcAft>
                <a:spcPts val="200"/>
              </a:spcAft>
            </a:pPr>
            <a:r>
              <a:rPr sz="1000" b="0" i="0">
                <a:solidFill>
                  <a:srgbClr val="2B2A35"/>
                </a:solidFill>
                <a:latin typeface="Work Sans"/>
              </a:rPr>
              <a:t>#personalbrandingqueen #OsezBriller</a:t>
            </a:r>
          </a:p>
        </p:txBody>
      </p:sp>
      <p:sp>
        <p:nvSpPr>
          <p:cNvPr id="13" name="Rounded Rectangle 12"/>
          <p:cNvSpPr/>
          <p:nvPr/>
        </p:nvSpPr>
        <p:spPr>
          <a:xfrm>
            <a:off x="548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_b.png"/>
          <p:cNvPicPr>
            <a:picLocks noChangeAspect="1"/>
          </p:cNvPicPr>
          <p:nvPr/>
        </p:nvPicPr>
        <p:blipFill>
          <a:blip r:embed="rId6"/>
          <a:stretch>
            <a:fillRect/>
          </a:stretch>
        </p:blipFill>
        <p:spPr>
          <a:xfrm>
            <a:off x="731520" y="3630168"/>
            <a:ext cx="347472" cy="347472"/>
          </a:xfrm>
          <a:prstGeom prst="rect">
            <a:avLst/>
          </a:prstGeom>
        </p:spPr>
      </p:pic>
      <p:sp>
        <p:nvSpPr>
          <p:cNvPr id="15" name="TextBox 14"/>
          <p:cNvSpPr txBox="1"/>
          <p:nvPr/>
        </p:nvSpPr>
        <p:spPr>
          <a:xfrm>
            <a:off x="731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60 956</a:t>
            </a:r>
          </a:p>
        </p:txBody>
      </p:sp>
      <p:sp>
        <p:nvSpPr>
          <p:cNvPr id="16" name="TextBox 15"/>
          <p:cNvSpPr txBox="1"/>
          <p:nvPr/>
        </p:nvSpPr>
        <p:spPr>
          <a:xfrm>
            <a:off x="731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7" name="Rounded Rectangle 16"/>
          <p:cNvSpPr/>
          <p:nvPr/>
        </p:nvSpPr>
        <p:spPr>
          <a:xfrm>
            <a:off x="2834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user_b.png"/>
          <p:cNvPicPr>
            <a:picLocks noChangeAspect="1"/>
          </p:cNvPicPr>
          <p:nvPr/>
        </p:nvPicPr>
        <p:blipFill>
          <a:blip r:embed="rId7"/>
          <a:stretch>
            <a:fillRect/>
          </a:stretch>
        </p:blipFill>
        <p:spPr>
          <a:xfrm>
            <a:off x="3017520" y="3630168"/>
            <a:ext cx="347472" cy="347472"/>
          </a:xfrm>
          <a:prstGeom prst="rect">
            <a:avLst/>
          </a:prstGeom>
        </p:spPr>
      </p:pic>
      <p:sp>
        <p:nvSpPr>
          <p:cNvPr id="19" name="TextBox 18"/>
          <p:cNvSpPr txBox="1"/>
          <p:nvPr/>
        </p:nvSpPr>
        <p:spPr>
          <a:xfrm>
            <a:off x="3017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7 507</a:t>
            </a:r>
          </a:p>
        </p:txBody>
      </p:sp>
      <p:sp>
        <p:nvSpPr>
          <p:cNvPr id="20" name="TextBox 19"/>
          <p:cNvSpPr txBox="1"/>
          <p:nvPr/>
        </p:nvSpPr>
        <p:spPr>
          <a:xfrm>
            <a:off x="3017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abonnements</a:t>
            </a:r>
          </a:p>
        </p:txBody>
      </p:sp>
      <p:sp>
        <p:nvSpPr>
          <p:cNvPr id="21" name="Rounded Rectangle 20"/>
          <p:cNvSpPr/>
          <p:nvPr/>
        </p:nvSpPr>
        <p:spPr>
          <a:xfrm>
            <a:off x="548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_b.png"/>
          <p:cNvPicPr>
            <a:picLocks noChangeAspect="1"/>
          </p:cNvPicPr>
          <p:nvPr/>
        </p:nvPicPr>
        <p:blipFill>
          <a:blip r:embed="rId8"/>
          <a:stretch>
            <a:fillRect/>
          </a:stretch>
        </p:blipFill>
        <p:spPr>
          <a:xfrm>
            <a:off x="731520" y="5184648"/>
            <a:ext cx="347472" cy="347472"/>
          </a:xfrm>
          <a:prstGeom prst="rect">
            <a:avLst/>
          </a:prstGeom>
        </p:spPr>
      </p:pic>
      <p:sp>
        <p:nvSpPr>
          <p:cNvPr id="23" name="TextBox 22"/>
          <p:cNvSpPr txBox="1"/>
          <p:nvPr/>
        </p:nvSpPr>
        <p:spPr>
          <a:xfrm>
            <a:off x="731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46</a:t>
            </a:r>
          </a:p>
        </p:txBody>
      </p:sp>
      <p:sp>
        <p:nvSpPr>
          <p:cNvPr id="24" name="TextBox 23"/>
          <p:cNvSpPr txBox="1"/>
          <p:nvPr/>
        </p:nvSpPr>
        <p:spPr>
          <a:xfrm>
            <a:off x="731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depuis janvier</a:t>
            </a:r>
          </a:p>
        </p:txBody>
      </p:sp>
      <p:sp>
        <p:nvSpPr>
          <p:cNvPr id="25" name="Rounded Rectangle 24"/>
          <p:cNvSpPr/>
          <p:nvPr/>
        </p:nvSpPr>
        <p:spPr>
          <a:xfrm>
            <a:off x="2834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n-tool_b.png"/>
          <p:cNvPicPr>
            <a:picLocks noChangeAspect="1"/>
          </p:cNvPicPr>
          <p:nvPr/>
        </p:nvPicPr>
        <p:blipFill>
          <a:blip r:embed="rId9"/>
          <a:stretch>
            <a:fillRect/>
          </a:stretch>
        </p:blipFill>
        <p:spPr>
          <a:xfrm>
            <a:off x="3017520" y="5184648"/>
            <a:ext cx="347472" cy="347472"/>
          </a:xfrm>
          <a:prstGeom prst="rect">
            <a:avLst/>
          </a:prstGeom>
        </p:spPr>
      </p:pic>
      <p:sp>
        <p:nvSpPr>
          <p:cNvPr id="27" name="TextBox 26"/>
          <p:cNvSpPr txBox="1"/>
          <p:nvPr/>
        </p:nvSpPr>
        <p:spPr>
          <a:xfrm>
            <a:off x="3017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3</a:t>
            </a:r>
          </a:p>
        </p:txBody>
      </p:sp>
      <p:sp>
        <p:nvSpPr>
          <p:cNvPr id="28" name="TextBox 27"/>
          <p:cNvSpPr txBox="1"/>
          <p:nvPr/>
        </p:nvSpPr>
        <p:spPr>
          <a:xfrm>
            <a:off x="3017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publiées par elle seule</a:t>
            </a:r>
          </a:p>
        </p:txBody>
      </p:sp>
      <p:sp>
        <p:nvSpPr>
          <p:cNvPr id="29" name="Rounded Rectangle 28"/>
          <p:cNvSpPr/>
          <p:nvPr/>
        </p:nvSpPr>
        <p:spPr>
          <a:xfrm>
            <a:off x="5257800" y="1645920"/>
            <a:ext cx="638251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25780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ist-checks_b.png"/>
          <p:cNvPicPr>
            <a:picLocks noChangeAspect="1"/>
          </p:cNvPicPr>
          <p:nvPr/>
        </p:nvPicPr>
        <p:blipFill>
          <a:blip r:embed="rId10"/>
          <a:stretch>
            <a:fillRect/>
          </a:stretch>
        </p:blipFill>
        <p:spPr>
          <a:xfrm>
            <a:off x="5486400" y="1828800"/>
            <a:ext cx="384048" cy="384048"/>
          </a:xfrm>
          <a:prstGeom prst="rect">
            <a:avLst/>
          </a:prstGeom>
        </p:spPr>
      </p:pic>
      <p:sp>
        <p:nvSpPr>
          <p:cNvPr id="32" name="TextBox 31"/>
          <p:cNvSpPr txBox="1"/>
          <p:nvPr/>
        </p:nvSpPr>
        <p:spPr>
          <a:xfrm>
            <a:off x="5989320" y="1828800"/>
            <a:ext cx="54681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Lecture du profil</a:t>
            </a:r>
          </a:p>
        </p:txBody>
      </p:sp>
      <p:sp>
        <p:nvSpPr>
          <p:cNvPr id="33" name="TextBox 32"/>
          <p:cNvSpPr txBox="1"/>
          <p:nvPr/>
        </p:nvSpPr>
        <p:spPr>
          <a:xfrm>
            <a:off x="5486400" y="2359152"/>
            <a:ext cx="597103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 Compte certifié, catégorie « personnalité publique », lien unique vers ses autres pages.</a:t>
            </a:r>
          </a:p>
          <a:p>
            <a:pPr algn="l">
              <a:lnSpc>
                <a:spcPct val="110000"/>
              </a:lnSpc>
              <a:spcAft>
                <a:spcPts val="400"/>
              </a:spcAft>
            </a:pPr>
            <a:r>
              <a:rPr sz="1100" b="0" i="0">
                <a:solidFill>
                  <a:srgbClr val="2B2A35"/>
                </a:solidFill>
                <a:latin typeface="Work Sans"/>
              </a:rPr>
              <a:t>✘ La bio n'est qu'une suite de mots-dièse et de comptes : on ne sait pas en une ligne ce qu'elle fait ni pour qui.</a:t>
            </a:r>
          </a:p>
          <a:p>
            <a:pPr algn="l">
              <a:lnSpc>
                <a:spcPct val="110000"/>
              </a:lnSpc>
              <a:spcAft>
                <a:spcPts val="400"/>
              </a:spcAft>
            </a:pPr>
            <a:r>
              <a:rPr sz="1100" b="0" i="0">
                <a:solidFill>
                  <a:srgbClr val="2B2A35"/>
                </a:solidFill>
                <a:latin typeface="Work Sans"/>
              </a:rPr>
              <a:t>✘ Ni NFA, ni la chaîne YouTube, ni Osez Briller ne sont nommés en clair.</a:t>
            </a:r>
          </a:p>
          <a:p>
            <a:pPr algn="l">
              <a:lnSpc>
                <a:spcPct val="110000"/>
              </a:lnSpc>
              <a:spcAft>
                <a:spcPts val="400"/>
              </a:spcAft>
            </a:pPr>
            <a:r>
              <a:rPr sz="1100" b="0" i="0">
                <a:solidFill>
                  <a:srgbClr val="2B2A35"/>
                </a:solidFill>
                <a:latin typeface="Work Sans"/>
              </a:rPr>
              <a:t>✘ La bio renvoie vers @fallakademy, @AgenceVizeo et @impacthubabidjan, mais pas vers @nextlevelbynaboufall, qui publie le plus en son nom.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QUI PUBLIE SUR SON PROFIL DEPUIS JANVIER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est fait par les autres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4_instagram_collabs.png"/>
          <p:cNvPicPr>
            <a:picLocks noChangeAspect="1"/>
          </p:cNvPicPr>
          <p:nvPr/>
        </p:nvPicPr>
        <p:blipFill>
          <a:blip r:embed="rId4"/>
          <a:stretch>
            <a:fillRect/>
          </a:stretch>
        </p:blipFill>
        <p:spPr>
          <a:xfrm>
            <a:off x="548640" y="1554480"/>
            <a:ext cx="6766560" cy="4256385"/>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s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43 sur 46</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en collaboration : organisateurs, médias, partenaires. Elle n'en a publié que 3 seule.</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lock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12 juillet</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sa dernière publication à elle. Depuis, plus de trois mois de fil tenu par d'autres.</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Les collaborations donnent de la portée, mais elles disent ce que les autres veulent d'elle, pas ce qu'elle veut dire.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plus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4-24_DXhvP_LgkD6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5 373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24/04/2026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Devenir influent, visible, incontournable »</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Extrait de masterclass, 61 722 vues. Publié par @manuarthur01.</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06-01_DZDTFYqOfW0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701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01/06/2026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Tes mots ont une énergie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Extrait court, publié par @businessexpertiz.</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03-30_DWhw2RVCBk5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505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30/03/2026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Son anniversaire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Publié par elle. 100 commentaires.</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21_Dew7a_Nl0hF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463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21/10/2026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Next Level · Miss Côte d'Ivoire</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épisode qui raconte une histoire.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moins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9-18_DdCBzd0oxMx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18/09/2026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Cours de prise de parole</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affiche publiée avec @yas_togo.</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10-23_De1i3qKF8BE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23/10/2026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Quelques réactions…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Capture de commentaires d'un épisode.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10-09_DeSj7MXN1ND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11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09/10/2026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Lancement de Pronet Magazine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couverture, sans elle.</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19_DerxntTF9I9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12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19/10/2026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Quelques réactions… »</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Même formule, même résultat.</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UNE SÉLECTION DES PUBLICATIONS DE SON PROFIL EN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en un coup d'œil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ig_2026-01-01_DS82_htkSmC_0.78_0.25.jpg"/>
          <p:cNvPicPr>
            <a:picLocks noChangeAspect="1"/>
          </p:cNvPicPr>
          <p:nvPr/>
        </p:nvPicPr>
        <p:blipFill>
          <a:blip r:embed="rId4"/>
          <a:stretch>
            <a:fillRect/>
          </a:stretch>
        </p:blipFill>
        <p:spPr>
          <a:xfrm>
            <a:off x="548640" y="1554480"/>
            <a:ext cx="1757172" cy="2253996"/>
          </a:xfrm>
          <a:prstGeom prst="rect">
            <a:avLst/>
          </a:prstGeom>
        </p:spPr>
      </p:pic>
      <p:pic>
        <p:nvPicPr>
          <p:cNvPr id="11" name="Picture 10" descr="ig_2026-03-03_DVbOMxODKWu_0.78_0.25.jpg"/>
          <p:cNvPicPr>
            <a:picLocks noChangeAspect="1"/>
          </p:cNvPicPr>
          <p:nvPr/>
        </p:nvPicPr>
        <p:blipFill>
          <a:blip r:embed="rId5"/>
          <a:stretch>
            <a:fillRect/>
          </a:stretch>
        </p:blipFill>
        <p:spPr>
          <a:xfrm>
            <a:off x="2415540" y="1554480"/>
            <a:ext cx="1757172" cy="2253996"/>
          </a:xfrm>
          <a:prstGeom prst="rect">
            <a:avLst/>
          </a:prstGeom>
        </p:spPr>
      </p:pic>
      <p:pic>
        <p:nvPicPr>
          <p:cNvPr id="12" name="Picture 11" descr="ig_2026-03-10_DVtozr9ETQn_0.78_0.25.jpg"/>
          <p:cNvPicPr>
            <a:picLocks noChangeAspect="1"/>
          </p:cNvPicPr>
          <p:nvPr/>
        </p:nvPicPr>
        <p:blipFill>
          <a:blip r:embed="rId6"/>
          <a:stretch>
            <a:fillRect/>
          </a:stretch>
        </p:blipFill>
        <p:spPr>
          <a:xfrm>
            <a:off x="4282440" y="1554480"/>
            <a:ext cx="1757172" cy="2253996"/>
          </a:xfrm>
          <a:prstGeom prst="rect">
            <a:avLst/>
          </a:prstGeom>
        </p:spPr>
      </p:pic>
      <p:pic>
        <p:nvPicPr>
          <p:cNvPr id="13" name="Picture 12" descr="ig_2026-03-11_DVvtNYQE_XG_0.78_0.25.jpg"/>
          <p:cNvPicPr>
            <a:picLocks noChangeAspect="1"/>
          </p:cNvPicPr>
          <p:nvPr/>
        </p:nvPicPr>
        <p:blipFill>
          <a:blip r:embed="rId7"/>
          <a:stretch>
            <a:fillRect/>
          </a:stretch>
        </p:blipFill>
        <p:spPr>
          <a:xfrm>
            <a:off x="6149340" y="1554480"/>
            <a:ext cx="1757172" cy="2253996"/>
          </a:xfrm>
          <a:prstGeom prst="rect">
            <a:avLst/>
          </a:prstGeom>
        </p:spPr>
      </p:pic>
      <p:pic>
        <p:nvPicPr>
          <p:cNvPr id="14" name="Picture 13" descr="ig_2026-03-30_DWhw2RVCBk5_0.78_0.25.jpg"/>
          <p:cNvPicPr>
            <a:picLocks noChangeAspect="1"/>
          </p:cNvPicPr>
          <p:nvPr/>
        </p:nvPicPr>
        <p:blipFill>
          <a:blip r:embed="rId8"/>
          <a:stretch>
            <a:fillRect/>
          </a:stretch>
        </p:blipFill>
        <p:spPr>
          <a:xfrm>
            <a:off x="8016240" y="1554480"/>
            <a:ext cx="1757172" cy="2253996"/>
          </a:xfrm>
          <a:prstGeom prst="rect">
            <a:avLst/>
          </a:prstGeom>
        </p:spPr>
      </p:pic>
      <p:pic>
        <p:nvPicPr>
          <p:cNvPr id="15" name="Picture 14" descr="ig_2026-04-02_DWnrWEoDfQw_0.78_0.25.jpg"/>
          <p:cNvPicPr>
            <a:picLocks noChangeAspect="1"/>
          </p:cNvPicPr>
          <p:nvPr/>
        </p:nvPicPr>
        <p:blipFill>
          <a:blip r:embed="rId9"/>
          <a:stretch>
            <a:fillRect/>
          </a:stretch>
        </p:blipFill>
        <p:spPr>
          <a:xfrm>
            <a:off x="9883140" y="1554480"/>
            <a:ext cx="1757172" cy="2253996"/>
          </a:xfrm>
          <a:prstGeom prst="rect">
            <a:avLst/>
          </a:prstGeom>
        </p:spPr>
      </p:pic>
      <p:pic>
        <p:nvPicPr>
          <p:cNvPr id="16" name="Picture 15" descr="ig_2026-04-24_DXhvP_LgkD6_0.78_0.25.jpg"/>
          <p:cNvPicPr>
            <a:picLocks noChangeAspect="1"/>
          </p:cNvPicPr>
          <p:nvPr/>
        </p:nvPicPr>
        <p:blipFill>
          <a:blip r:embed="rId10"/>
          <a:stretch>
            <a:fillRect/>
          </a:stretch>
        </p:blipFill>
        <p:spPr>
          <a:xfrm>
            <a:off x="548640" y="3918204"/>
            <a:ext cx="1757172" cy="2253996"/>
          </a:xfrm>
          <a:prstGeom prst="rect">
            <a:avLst/>
          </a:prstGeom>
        </p:spPr>
      </p:pic>
      <p:pic>
        <p:nvPicPr>
          <p:cNvPr id="17" name="Picture 16" descr="ig_2026-06-29_DaK5JEMiEmI_0.78_0.25.jpg"/>
          <p:cNvPicPr>
            <a:picLocks noChangeAspect="1"/>
          </p:cNvPicPr>
          <p:nvPr/>
        </p:nvPicPr>
        <p:blipFill>
          <a:blip r:embed="rId11"/>
          <a:stretch>
            <a:fillRect/>
          </a:stretch>
        </p:blipFill>
        <p:spPr>
          <a:xfrm>
            <a:off x="2415540" y="3918204"/>
            <a:ext cx="1757172" cy="2253996"/>
          </a:xfrm>
          <a:prstGeom prst="rect">
            <a:avLst/>
          </a:prstGeom>
        </p:spPr>
      </p:pic>
      <p:pic>
        <p:nvPicPr>
          <p:cNvPr id="18" name="Picture 17" descr="ig_2026-07-12_Das4-tTEYGY_0.78_0.25.jpg"/>
          <p:cNvPicPr>
            <a:picLocks noChangeAspect="1"/>
          </p:cNvPicPr>
          <p:nvPr/>
        </p:nvPicPr>
        <p:blipFill>
          <a:blip r:embed="rId12"/>
          <a:stretch>
            <a:fillRect/>
          </a:stretch>
        </p:blipFill>
        <p:spPr>
          <a:xfrm>
            <a:off x="4282440" y="3918204"/>
            <a:ext cx="1757172" cy="2253996"/>
          </a:xfrm>
          <a:prstGeom prst="rect">
            <a:avLst/>
          </a:prstGeom>
        </p:spPr>
      </p:pic>
      <p:pic>
        <p:nvPicPr>
          <p:cNvPr id="19" name="Picture 18" descr="ig_2026-09-09_DdES7v6jJz8_0.78_0.25.jpg"/>
          <p:cNvPicPr>
            <a:picLocks noChangeAspect="1"/>
          </p:cNvPicPr>
          <p:nvPr/>
        </p:nvPicPr>
        <p:blipFill>
          <a:blip r:embed="rId13"/>
          <a:stretch>
            <a:fillRect/>
          </a:stretch>
        </p:blipFill>
        <p:spPr>
          <a:xfrm>
            <a:off x="6149340" y="3918204"/>
            <a:ext cx="1757172" cy="2253996"/>
          </a:xfrm>
          <a:prstGeom prst="rect">
            <a:avLst/>
          </a:prstGeom>
        </p:spPr>
      </p:pic>
      <p:pic>
        <p:nvPicPr>
          <p:cNvPr id="20" name="Picture 19" descr="ig_2026-09-29_Dd4LkARCCOJ_0.78_0.25.jpg"/>
          <p:cNvPicPr>
            <a:picLocks noChangeAspect="1"/>
          </p:cNvPicPr>
          <p:nvPr/>
        </p:nvPicPr>
        <p:blipFill>
          <a:blip r:embed="rId14"/>
          <a:stretch>
            <a:fillRect/>
          </a:stretch>
        </p:blipFill>
        <p:spPr>
          <a:xfrm>
            <a:off x="8016240" y="3918204"/>
            <a:ext cx="1757172" cy="2253996"/>
          </a:xfrm>
          <a:prstGeom prst="rect">
            <a:avLst/>
          </a:prstGeom>
        </p:spPr>
      </p:pic>
      <p:pic>
        <p:nvPicPr>
          <p:cNvPr id="21" name="Picture 20" descr="ig_2026-10-21_Dew7a_Nl0hF_0.78_0.25.jpg"/>
          <p:cNvPicPr>
            <a:picLocks noChangeAspect="1"/>
          </p:cNvPicPr>
          <p:nvPr/>
        </p:nvPicPr>
        <p:blipFill>
          <a:blip r:embed="rId15"/>
          <a:stretch>
            <a:fillRect/>
          </a:stretch>
        </p:blipFill>
        <p:spPr>
          <a:xfrm>
            <a:off x="9883140" y="3918204"/>
            <a:ext cx="1757172" cy="225399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ideo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Ses extraits de masterclass cartonnent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Publiés par d'autres comptes, ils font jusqu'à 50 fois plus que la médiane de son fil (103 j'aime). La matière existe : il faut la publier chez elle.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se fait rare chez elle</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3 publications personnelles en dix mois. Ses abonnés la suivent pour elle ; ils voient surtout des affiches de partenaires.</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peat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 Quelques réactions… » ne marche pas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Quatre publications de Next Level faites de captures de commentaires : 7 à 65 j'aime. À remplacer par un extrait vidéo.</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globe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écrit en anglais seule chez elle</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2 de ses 3 légendes personnelles sont en anglais, alors que son public (Abidjan, Dakar, Kinshasa) la lit en français.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7-12_Das4-tTEYGY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04</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Veille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Cinq voix africaines du leadership, de la prise de parole et de l'entrepreneuriat.</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25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INTERACTIONS EN MÉDIANE PAR POST DEPUIS JANVIER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la plus grosse médiane du groupe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6_comparaison.png"/>
          <p:cNvPicPr>
            <a:picLocks noChangeAspect="1"/>
          </p:cNvPicPr>
          <p:nvPr/>
        </p:nvPicPr>
        <p:blipFill>
          <a:blip r:embed="rId4"/>
          <a:stretch>
            <a:fillRect/>
          </a:stretch>
        </p:blipFill>
        <p:spPr>
          <a:xfrm>
            <a:off x="548640" y="1554480"/>
            <a:ext cx="6949440" cy="4035159"/>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ending-up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Avec 350 interactions en médiane, elle est devant Edith Brou Bleu (157), qui a pourtant trois fois plus d'abonnés, Leslie Ossété (121) et Marie-Karelle K. (116).</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8F8F9A"/>
                </a:solidFill>
                <a:latin typeface="Work Sans"/>
              </a:rPr>
              <a:t>Méthode : tous les posts publiés depuis janvier pour chacun (pour Edith Brou Bleu, plus de 970 posts dont une partie relevée). Gilles Acogny est aussi son partenaire de formation.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INTERACTIONS MÉDIANES POUR 1 000 ABONNÉS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Rapporté au nombre d'abonnés, elle a de la marge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7_taux_pairs.png"/>
          <p:cNvPicPr>
            <a:picLocks noChangeAspect="1"/>
          </p:cNvPicPr>
          <p:nvPr/>
        </p:nvPicPr>
        <p:blipFill>
          <a:blip r:embed="rId4"/>
          <a:stretch>
            <a:fillRect/>
          </a:stretch>
        </p:blipFill>
        <p:spPr>
          <a:xfrm>
            <a:off x="548640" y="1554480"/>
            <a:ext cx="6949440" cy="4035159"/>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ar-chart-3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3,2 interactions pour 1 000 abonnés, comme Gilles Acogny et Diane Audrey Ngako. Leslie Ossété (7,0) et Marie-Karelle K. (5,9) font deux fois mieux avec des audiences plus petites.</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50" b="1" i="0">
                <a:solidFill>
                  <a:srgbClr val="232754"/>
                </a:solidFill>
                <a:latin typeface="Work Sans"/>
              </a:rPr>
              <a:t>Une grosse audience fait baisser ce taux mécaniquement. Mais ses récits atteignent 25 pour 1 000 : c'est le niveau que vise la stratégie.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INSTAGRAM, DERNIÈRES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même audience, moins de présence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11091672" cy="2834640"/>
        </p:xfrm>
        <a:graphic>
          <a:graphicData uri="http://schemas.openxmlformats.org/drawingml/2006/table">
            <a:tbl>
              <a:tblPr firstRow="1" bandRow="1">
                <a:tableStyleId>{5C22544A-7EE6-4342-B048-85BDC9FD1C3A}</a:tableStyleId>
              </a:tblPr>
              <a:tblGrid>
                <a:gridCol w="2743200"/>
                <a:gridCol w="1737360"/>
                <a:gridCol w="1645920"/>
                <a:gridCol w="1920240"/>
                <a:gridCol w="3044952"/>
              </a:tblGrid>
              <a:tr h="566928">
                <a:tc>
                  <a:txBody>
                    <a:bodyPr wrap="square"/>
                    <a:lstStyle/>
                    <a:p>
                      <a:r>
                        <a:rPr sz="1100" b="1">
                          <a:solidFill>
                            <a:srgbClr val="FFFFFF"/>
                          </a:solidFill>
                          <a:latin typeface="Work Sans"/>
                        </a:rPr>
                        <a:t>Profil</a:t>
                      </a:r>
                    </a:p>
                  </a:txBody>
                  <a:tcPr marL="73152" marR="73152" marT="36576" marB="36576" anchor="ctr">
                    <a:solidFill>
                      <a:srgbClr val="232754"/>
                    </a:solidFill>
                  </a:tcPr>
                </a:tc>
                <a:tc>
                  <a:txBody>
                    <a:bodyPr wrap="square"/>
                    <a:lstStyle/>
                    <a:p>
                      <a:r>
                        <a:rPr sz="1100" b="1">
                          <a:solidFill>
                            <a:srgbClr val="FFFFFF"/>
                          </a:solidFill>
                          <a:latin typeface="Work Sans"/>
                        </a:rPr>
                        <a:t>Abonnés Instagram</a:t>
                      </a:r>
                    </a:p>
                  </a:txBody>
                  <a:tcPr marL="73152" marR="73152" marT="36576" marB="36576" anchor="ctr">
                    <a:solidFill>
                      <a:srgbClr val="232754"/>
                    </a:solidFill>
                  </a:tcPr>
                </a:tc>
                <a:tc>
                  <a:txBody>
                    <a:bodyPr wrap="square"/>
                    <a:lstStyle/>
                    <a:p>
                      <a:r>
                        <a:rPr sz="1100" b="1">
                          <a:solidFill>
                            <a:srgbClr val="FFFFFF"/>
                          </a:solidFill>
                          <a:latin typeface="Work Sans"/>
                        </a:rPr>
                        <a:t>J'aime (médiane)</a:t>
                      </a:r>
                    </a:p>
                  </a:txBody>
                  <a:tcPr marL="73152" marR="73152" marT="36576" marB="36576" anchor="ctr">
                    <a:solidFill>
                      <a:srgbClr val="232754"/>
                    </a:solidFill>
                  </a:tcPr>
                </a:tc>
                <a:tc>
                  <a:txBody>
                    <a:bodyPr wrap="square"/>
                    <a:lstStyle/>
                    <a:p>
                      <a:r>
                        <a:rPr sz="1100" b="1">
                          <a:solidFill>
                            <a:srgbClr val="FFFFFF"/>
                          </a:solidFill>
                          <a:latin typeface="Work Sans"/>
                        </a:rPr>
                        <a:t>Part d'abonnés qui aiment</a:t>
                      </a:r>
                    </a:p>
                  </a:txBody>
                  <a:tcPr marL="73152" marR="73152" marT="36576" marB="36576" anchor="ctr">
                    <a:solidFill>
                      <a:srgbClr val="232754"/>
                    </a:solidFill>
                  </a:tcPr>
                </a:tc>
                <a:tc>
                  <a:txBody>
                    <a:bodyPr wrap="square"/>
                    <a:lstStyle/>
                    <a:p>
                      <a:r>
                        <a:rPr sz="1100" b="1">
                          <a:solidFill>
                            <a:srgbClr val="FFFFFF"/>
                          </a:solidFill>
                          <a:latin typeface="Work Sans"/>
                        </a:rPr>
                        <a:t>Ce qu'on en retient</a:t>
                      </a:r>
                    </a:p>
                  </a:txBody>
                  <a:tcPr marL="73152" marR="73152" marT="36576" marB="36576" anchor="ctr">
                    <a:solidFill>
                      <a:srgbClr val="232754"/>
                    </a:solidFill>
                  </a:tcPr>
                </a:tc>
              </a:tr>
              <a:tr h="566928">
                <a:tc>
                  <a:txBody>
                    <a:bodyPr wrap="square"/>
                    <a:lstStyle/>
                    <a:p>
                      <a:r>
                        <a:rPr sz="1100" b="0">
                          <a:solidFill>
                            <a:srgbClr val="007ABB"/>
                          </a:solidFill>
                          <a:latin typeface="Work Sans"/>
                          <a:hlinkClick r:id="rId4"/>
                        </a:rPr>
                        <a:t>Paola Audrey Ndengue</a:t>
                      </a:r>
                    </a:p>
                  </a:txBody>
                  <a:tcPr marL="73152" marR="73152" marT="36576" marB="36576" anchor="ctr">
                    <a:solidFill>
                      <a:srgbClr val="FFFFFF"/>
                    </a:solidFill>
                  </a:tcPr>
                </a:tc>
                <a:tc>
                  <a:txBody>
                    <a:bodyPr wrap="square"/>
                    <a:lstStyle/>
                    <a:p>
                      <a:r>
                        <a:rPr sz="1100" b="0">
                          <a:solidFill>
                            <a:srgbClr val="2B2A35"/>
                          </a:solidFill>
                          <a:latin typeface="Work Sans"/>
                        </a:rPr>
                        <a:t>61 832</a:t>
                      </a:r>
                    </a:p>
                  </a:txBody>
                  <a:tcPr marL="73152" marR="73152" marT="36576" marB="36576" anchor="ctr">
                    <a:solidFill>
                      <a:srgbClr val="FFFFFF"/>
                    </a:solidFill>
                  </a:tcPr>
                </a:tc>
                <a:tc>
                  <a:txBody>
                    <a:bodyPr wrap="square"/>
                    <a:lstStyle/>
                    <a:p>
                      <a:r>
                        <a:rPr sz="1100" b="0">
                          <a:solidFill>
                            <a:srgbClr val="2B2A35"/>
                          </a:solidFill>
                          <a:latin typeface="Work Sans"/>
                        </a:rPr>
                        <a:t>876</a:t>
                      </a:r>
                    </a:p>
                  </a:txBody>
                  <a:tcPr marL="73152" marR="73152" marT="36576" marB="36576" anchor="ctr">
                    <a:solidFill>
                      <a:srgbClr val="FFFFFF"/>
                    </a:solidFill>
                  </a:tcPr>
                </a:tc>
                <a:tc>
                  <a:txBody>
                    <a:bodyPr wrap="square"/>
                    <a:lstStyle/>
                    <a:p>
                      <a:r>
                        <a:rPr sz="1100" b="0">
                          <a:solidFill>
                            <a:srgbClr val="2B2A35"/>
                          </a:solidFill>
                          <a:latin typeface="Work Sans"/>
                        </a:rPr>
                        <a:t>1,4 %</a:t>
                      </a:r>
                    </a:p>
                  </a:txBody>
                  <a:tcPr marL="73152" marR="73152" marT="36576" marB="36576" anchor="ctr">
                    <a:solidFill>
                      <a:srgbClr val="FFFFFF"/>
                    </a:solidFill>
                  </a:tcPr>
                </a:tc>
                <a:tc>
                  <a:txBody>
                    <a:bodyPr wrap="square"/>
                    <a:lstStyle/>
                    <a:p>
                      <a:r>
                        <a:rPr sz="1100" b="0">
                          <a:solidFill>
                            <a:srgbClr val="2B2A35"/>
                          </a:solidFill>
                          <a:latin typeface="Work Sans"/>
                        </a:rPr>
                        <a:t>Même taille : elle-même à l'image, carrousels et coulisses.</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5"/>
                        </a:rPr>
                        <a:t>Diane Audrey Ngako</a:t>
                      </a:r>
                    </a:p>
                  </a:txBody>
                  <a:tcPr marL="73152" marR="73152" marT="36576" marB="36576" anchor="ctr">
                    <a:solidFill>
                      <a:srgbClr val="F7F8FA"/>
                    </a:solidFill>
                  </a:tcPr>
                </a:tc>
                <a:tc>
                  <a:txBody>
                    <a:bodyPr wrap="square"/>
                    <a:lstStyle/>
                    <a:p>
                      <a:r>
                        <a:rPr sz="1100" b="0">
                          <a:solidFill>
                            <a:srgbClr val="2B2A35"/>
                          </a:solidFill>
                          <a:latin typeface="Work Sans"/>
                        </a:rPr>
                        <a:t>32 546</a:t>
                      </a:r>
                    </a:p>
                  </a:txBody>
                  <a:tcPr marL="73152" marR="73152" marT="36576" marB="36576" anchor="ctr">
                    <a:solidFill>
                      <a:srgbClr val="F7F8FA"/>
                    </a:solidFill>
                  </a:tcPr>
                </a:tc>
                <a:tc>
                  <a:txBody>
                    <a:bodyPr wrap="square"/>
                    <a:lstStyle/>
                    <a:p>
                      <a:r>
                        <a:rPr sz="1100" b="0">
                          <a:solidFill>
                            <a:srgbClr val="2B2A35"/>
                          </a:solidFill>
                          <a:latin typeface="Work Sans"/>
                        </a:rPr>
                        <a:t>242</a:t>
                      </a:r>
                    </a:p>
                  </a:txBody>
                  <a:tcPr marL="73152" marR="73152" marT="36576" marB="36576" anchor="ctr">
                    <a:solidFill>
                      <a:srgbClr val="F7F8FA"/>
                    </a:solidFill>
                  </a:tcPr>
                </a:tc>
                <a:tc>
                  <a:txBody>
                    <a:bodyPr wrap="square"/>
                    <a:lstStyle/>
                    <a:p>
                      <a:r>
                        <a:rPr sz="1100" b="0">
                          <a:solidFill>
                            <a:srgbClr val="2B2A35"/>
                          </a:solidFill>
                          <a:latin typeface="Work Sans"/>
                        </a:rPr>
                        <a:t>0,7 %</a:t>
                      </a:r>
                    </a:p>
                  </a:txBody>
                  <a:tcPr marL="73152" marR="73152" marT="36576" marB="36576" anchor="ctr">
                    <a:solidFill>
                      <a:srgbClr val="F7F8FA"/>
                    </a:solidFill>
                  </a:tcPr>
                </a:tc>
                <a:tc>
                  <a:txBody>
                    <a:bodyPr wrap="square"/>
                    <a:lstStyle/>
                    <a:p>
                      <a:r>
                        <a:rPr sz="1100" b="0">
                          <a:solidFill>
                            <a:srgbClr val="2B2A35"/>
                          </a:solidFill>
                          <a:latin typeface="Work Sans"/>
                        </a:rPr>
                        <a:t>Des carrousels qui racontent.</a:t>
                      </a:r>
                    </a:p>
                  </a:txBody>
                  <a:tcPr marL="73152" marR="73152" marT="36576" marB="36576" anchor="ctr">
                    <a:solidFill>
                      <a:srgbClr val="F7F8FA"/>
                    </a:solidFill>
                  </a:tcPr>
                </a:tc>
              </a:tr>
              <a:tr h="566928">
                <a:tc>
                  <a:txBody>
                    <a:bodyPr wrap="square"/>
                    <a:lstStyle/>
                    <a:p>
                      <a:r>
                        <a:rPr sz="1100" b="0">
                          <a:solidFill>
                            <a:srgbClr val="007ABB"/>
                          </a:solidFill>
                          <a:latin typeface="Work Sans"/>
                          <a:hlinkClick r:id="rId6"/>
                        </a:rPr>
                        <a:t>Edith Brou Bleu</a:t>
                      </a:r>
                    </a:p>
                  </a:txBody>
                  <a:tcPr marL="73152" marR="73152" marT="36576" marB="36576" anchor="ctr">
                    <a:solidFill>
                      <a:srgbClr val="FFFFFF"/>
                    </a:solidFill>
                  </a:tcPr>
                </a:tc>
                <a:tc>
                  <a:txBody>
                    <a:bodyPr wrap="square"/>
                    <a:lstStyle/>
                    <a:p>
                      <a:r>
                        <a:rPr sz="1100" b="0">
                          <a:solidFill>
                            <a:srgbClr val="2B2A35"/>
                          </a:solidFill>
                          <a:latin typeface="Work Sans"/>
                        </a:rPr>
                        <a:t>111 199</a:t>
                      </a:r>
                    </a:p>
                  </a:txBody>
                  <a:tcPr marL="73152" marR="73152" marT="36576" marB="36576" anchor="ctr">
                    <a:solidFill>
                      <a:srgbClr val="FFFFFF"/>
                    </a:solidFill>
                  </a:tcPr>
                </a:tc>
                <a:tc>
                  <a:txBody>
                    <a:bodyPr wrap="square"/>
                    <a:lstStyle/>
                    <a:p>
                      <a:r>
                        <a:rPr sz="1100" b="0">
                          <a:solidFill>
                            <a:srgbClr val="2B2A35"/>
                          </a:solidFill>
                          <a:latin typeface="Work Sans"/>
                        </a:rPr>
                        <a:t>33</a:t>
                      </a:r>
                    </a:p>
                  </a:txBody>
                  <a:tcPr marL="73152" marR="73152" marT="36576" marB="36576" anchor="ctr">
                    <a:solidFill>
                      <a:srgbClr val="FFFFFF"/>
                    </a:solidFill>
                  </a:tcPr>
                </a:tc>
                <a:tc>
                  <a:txBody>
                    <a:bodyPr wrap="square"/>
                    <a:lstStyle/>
                    <a:p>
                      <a:r>
                        <a:rPr sz="1100" b="0">
                          <a:solidFill>
                            <a:srgbClr val="2B2A35"/>
                          </a:solidFill>
                          <a:latin typeface="Work Sans"/>
                        </a:rPr>
                        <a:t>0,03 %</a:t>
                      </a:r>
                    </a:p>
                  </a:txBody>
                  <a:tcPr marL="73152" marR="73152" marT="36576" marB="36576" anchor="ctr">
                    <a:solidFill>
                      <a:srgbClr val="FFFFFF"/>
                    </a:solidFill>
                  </a:tcPr>
                </a:tc>
                <a:tc>
                  <a:txBody>
                    <a:bodyPr wrap="square"/>
                    <a:lstStyle/>
                    <a:p>
                      <a:r>
                        <a:rPr sz="1100" b="0">
                          <a:solidFill>
                            <a:srgbClr val="2B2A35"/>
                          </a:solidFill>
                          <a:latin typeface="Work Sans"/>
                        </a:rPr>
                        <a:t>Beaucoup de relais, peu d'engagement.</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7"/>
                        </a:rPr>
                        <a:t>Nabou Fall</a:t>
                      </a:r>
                    </a:p>
                  </a:txBody>
                  <a:tcPr marL="73152" marR="73152" marT="36576" marB="36576" anchor="ctr">
                    <a:solidFill>
                      <a:srgbClr val="F7F8FA"/>
                    </a:solidFill>
                  </a:tcPr>
                </a:tc>
                <a:tc>
                  <a:txBody>
                    <a:bodyPr wrap="square"/>
                    <a:lstStyle/>
                    <a:p>
                      <a:r>
                        <a:rPr sz="1100" b="0">
                          <a:solidFill>
                            <a:srgbClr val="2B2A35"/>
                          </a:solidFill>
                          <a:latin typeface="Work Sans"/>
                        </a:rPr>
                        <a:t>60 956</a:t>
                      </a:r>
                    </a:p>
                  </a:txBody>
                  <a:tcPr marL="73152" marR="73152" marT="36576" marB="36576" anchor="ctr">
                    <a:solidFill>
                      <a:srgbClr val="F7F8FA"/>
                    </a:solidFill>
                  </a:tcPr>
                </a:tc>
                <a:tc>
                  <a:txBody>
                    <a:bodyPr wrap="square"/>
                    <a:lstStyle/>
                    <a:p>
                      <a:r>
                        <a:rPr sz="1100" b="0">
                          <a:solidFill>
                            <a:srgbClr val="2B2A35"/>
                          </a:solidFill>
                          <a:latin typeface="Work Sans"/>
                        </a:rPr>
                        <a:t>103</a:t>
                      </a:r>
                    </a:p>
                  </a:txBody>
                  <a:tcPr marL="73152" marR="73152" marT="36576" marB="36576" anchor="ctr">
                    <a:solidFill>
                      <a:srgbClr val="F7F8FA"/>
                    </a:solidFill>
                  </a:tcPr>
                </a:tc>
                <a:tc>
                  <a:txBody>
                    <a:bodyPr wrap="square"/>
                    <a:lstStyle/>
                    <a:p>
                      <a:r>
                        <a:rPr sz="1100" b="0">
                          <a:solidFill>
                            <a:srgbClr val="2B2A35"/>
                          </a:solidFill>
                          <a:latin typeface="Work Sans"/>
                        </a:rPr>
                        <a:t>0,17 %</a:t>
                      </a:r>
                    </a:p>
                  </a:txBody>
                  <a:tcPr marL="73152" marR="73152" marT="36576" marB="36576" anchor="ctr">
                    <a:solidFill>
                      <a:srgbClr val="F7F8FA"/>
                    </a:solidFill>
                  </a:tcPr>
                </a:tc>
                <a:tc>
                  <a:txBody>
                    <a:bodyPr wrap="square"/>
                    <a:lstStyle/>
                    <a:p>
                      <a:r>
                        <a:rPr sz="1100" b="0">
                          <a:solidFill>
                            <a:srgbClr val="2B2A35"/>
                          </a:solidFill>
                          <a:latin typeface="Work Sans"/>
                        </a:rPr>
                        <a:t>Fil tenu par des collaborations.</a:t>
                      </a:r>
                    </a:p>
                  </a:txBody>
                  <a:tcPr marL="73152" marR="73152" marT="36576" marB="36576" anchor="ctr">
                    <a:solidFill>
                      <a:srgbClr val="F7F8FA"/>
                    </a:solidFill>
                  </a:tcPr>
                </a:tc>
              </a:tr>
            </a:tbl>
          </a:graphicData>
        </a:graphic>
      </p:graphicFrame>
      <p:sp>
        <p:nvSpPr>
          <p:cNvPr id="11" name="TextBox 10"/>
          <p:cNvSpPr txBox="1"/>
          <p:nvPr/>
        </p:nvSpPr>
        <p:spPr>
          <a:xfrm>
            <a:off x="548640" y="4663440"/>
            <a:ext cx="1109167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Paola Audrey Ndengue a la même audience et obtient huit fois plus de j'aime par publication. La différence : elle publie elle-même, avec son visage, et garde les partenariats en publications partagées. Médianes calculées sur leurs 12 dernières publications, sur toutes les publications 2026 pour Nabou.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PRATIQUES À IMPORTER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qu'on peut leur reprendre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29</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ic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PAOLA AUDREY NDENGUE</a:t>
            </a:r>
          </a:p>
        </p:txBody>
      </p:sp>
      <p:sp>
        <p:nvSpPr>
          <p:cNvPr id="13" name="TextBox 12"/>
          <p:cNvSpPr txBox="1"/>
          <p:nvPr/>
        </p:nvSpPr>
        <p:spPr>
          <a:xfrm>
            <a:off x="1600200"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Rester maîtresse de son fil</a:t>
            </a:r>
          </a:p>
        </p:txBody>
      </p:sp>
      <p:sp>
        <p:nvSpPr>
          <p:cNvPr id="14" name="TextBox 13"/>
          <p:cNvSpPr txBox="1"/>
          <p:nvPr/>
        </p:nvSpPr>
        <p:spPr>
          <a:xfrm>
            <a:off x="1600200"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Les partenaires passent chez elle, mais c'est elle qui raconte. Le modèle le plus direct pour Instagram.</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deo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EDITH BROU BLEU</a:t>
            </a:r>
          </a:p>
        </p:txBody>
      </p:sp>
      <p:sp>
        <p:nvSpPr>
          <p:cNvPr id="19" name="TextBox 18"/>
          <p:cNvSpPr txBox="1"/>
          <p:nvPr/>
        </p:nvSpPr>
        <p:spPr>
          <a:xfrm>
            <a:off x="7205471"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Recycler chaque prise de parole</a:t>
            </a:r>
          </a:p>
        </p:txBody>
      </p:sp>
      <p:sp>
        <p:nvSpPr>
          <p:cNvPr id="20" name="TextBox 19"/>
          <p:cNvSpPr txBox="1"/>
          <p:nvPr/>
        </p:nvSpPr>
        <p:spPr>
          <a:xfrm>
            <a:off x="7205471"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Chaque conférence devient plusieurs extraits courts. Nabou a cette matière : ses masterclass font déjà 61 722 vues chez d'autres.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ward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MARIE-KARELLE K.</a:t>
            </a:r>
          </a:p>
        </p:txBody>
      </p:sp>
      <p:sp>
        <p:nvSpPr>
          <p:cNvPr id="25" name="TextBox 24"/>
          <p:cNvSpPr txBox="1"/>
          <p:nvPr/>
        </p:nvSpPr>
        <p:spPr>
          <a:xfrm>
            <a:off x="1600200"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Peu, mais une idée à chaque fois</a:t>
            </a:r>
          </a:p>
        </p:txBody>
      </p:sp>
      <p:sp>
        <p:nvSpPr>
          <p:cNvPr id="26" name="TextBox 25"/>
          <p:cNvSpPr txBox="1"/>
          <p:nvPr/>
        </p:nvSpPr>
        <p:spPr>
          <a:xfrm>
            <a:off x="1600200"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20 posts en dix mois, 5,9 interactions pour 1 000 abonnés : la régularité compte plus que le volume.</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user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LESLIE OSSÉTÉ</a:t>
            </a:r>
          </a:p>
        </p:txBody>
      </p:sp>
      <p:sp>
        <p:nvSpPr>
          <p:cNvPr id="31" name="TextBox 30"/>
          <p:cNvSpPr txBox="1"/>
          <p:nvPr/>
        </p:nvSpPr>
        <p:spPr>
          <a:xfrm>
            <a:off x="7205471"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Le récit d'entrepreneure</a:t>
            </a:r>
          </a:p>
        </p:txBody>
      </p:sp>
      <p:sp>
        <p:nvSpPr>
          <p:cNvPr id="32" name="TextBox 31"/>
          <p:cNvSpPr txBox="1"/>
          <p:nvPr/>
        </p:nvSpPr>
        <p:spPr>
          <a:xfrm>
            <a:off x="7205471"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Des coulisses racontées à la première personne : 7 interactions pour 1 000 abonnés.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2-22_1212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05</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Stratégie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LinkedIn pour la conviction, Instagram pour la présence : une seule voix, la sienne.</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30</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QU'ELLE DOIT ÉVOQUER EN LIGNE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positionnement en une phrase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31</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11091672" cy="173736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10424160" cy="1371600"/>
          </a:xfrm>
          <a:prstGeom prst="rect">
            <a:avLst/>
          </a:prstGeom>
          <a:noFill/>
        </p:spPr>
        <p:txBody>
          <a:bodyPr wrap="square" anchor="ctr" lIns="18288" rIns="18288" tIns="18288" bIns="18288">
            <a:spAutoFit/>
          </a:bodyPr>
          <a:lstStyle/>
          <a:p>
            <a:pPr algn="l">
              <a:lnSpc>
                <a:spcPct val="105000"/>
              </a:lnSpc>
              <a:spcAft>
                <a:spcPts val="400"/>
              </a:spcAft>
            </a:pPr>
            <a:r>
              <a:rPr sz="2200" b="1" i="0">
                <a:solidFill>
                  <a:srgbClr val="FFFFFF"/>
                </a:solidFill>
                <a:latin typeface="Funnel Display"/>
              </a:rPr>
              <a:t>Nabou Fall aide les dirigeants africains à transformer leur manière de diriger, et elle le raconte avec la sincérité de celle qui l'a vécu.</a:t>
            </a:r>
          </a:p>
        </p:txBody>
      </p:sp>
      <p:sp>
        <p:nvSpPr>
          <p:cNvPr id="11" name="Rounded Rectangle 10"/>
          <p:cNvSpPr/>
          <p:nvPr/>
        </p:nvSpPr>
        <p:spPr>
          <a:xfrm>
            <a:off x="548640"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22191"/>
            <a:ext cx="54864" cy="2139696"/>
          </a:xfrm>
          <a:prstGeom prst="rect">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LinkedIn : la conviction</a:t>
            </a:r>
          </a:p>
        </p:txBody>
      </p:sp>
      <p:sp>
        <p:nvSpPr>
          <p:cNvPr id="14" name="TextBox 13"/>
          <p:cNvSpPr txBox="1"/>
          <p:nvPr/>
        </p:nvSpPr>
        <p:spPr>
          <a:xfrm>
            <a:off x="777240"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Un récit vrai, une leçon de leadership, une question. Les programmes viennent après, jamais en premier.</a:t>
            </a:r>
          </a:p>
        </p:txBody>
      </p:sp>
      <p:sp>
        <p:nvSpPr>
          <p:cNvPr id="15" name="Rounded Rectangle 14"/>
          <p:cNvSpPr/>
          <p:nvPr/>
        </p:nvSpPr>
        <p:spPr>
          <a:xfrm>
            <a:off x="429767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3822191"/>
            <a:ext cx="54864" cy="213969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199"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Instagram : la présence</a:t>
            </a:r>
          </a:p>
        </p:txBody>
      </p:sp>
      <p:sp>
        <p:nvSpPr>
          <p:cNvPr id="18" name="TextBox 17"/>
          <p:cNvSpPr txBox="1"/>
          <p:nvPr/>
        </p:nvSpPr>
        <p:spPr>
          <a:xfrm>
            <a:off x="452627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Elle à l'image, ses extraits de scène et de YouTube publiés chez elle, les partenaires en invités.</a:t>
            </a:r>
          </a:p>
        </p:txBody>
      </p:sp>
      <p:sp>
        <p:nvSpPr>
          <p:cNvPr id="19" name="Rounded Rectangle 18"/>
          <p:cNvSpPr/>
          <p:nvPr/>
        </p:nvSpPr>
        <p:spPr>
          <a:xfrm>
            <a:off x="804671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19" y="3822191"/>
            <a:ext cx="54864" cy="213969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video_b.png"/>
          <p:cNvPicPr>
            <a:picLocks noChangeAspect="1"/>
          </p:cNvPicPr>
          <p:nvPr/>
        </p:nvPicPr>
        <p:blipFill>
          <a:blip r:embed="rId3"/>
          <a:stretch>
            <a:fillRect/>
          </a:stretch>
        </p:blipFill>
        <p:spPr>
          <a:xfrm>
            <a:off x="8275319" y="3840480"/>
            <a:ext cx="384048" cy="384048"/>
          </a:xfrm>
          <a:prstGeom prst="rect">
            <a:avLst/>
          </a:prstGeom>
        </p:spPr>
      </p:pic>
      <p:sp>
        <p:nvSpPr>
          <p:cNvPr id="22" name="TextBox 21"/>
          <p:cNvSpPr txBox="1"/>
          <p:nvPr/>
        </p:nvSpPr>
        <p:spPr>
          <a:xfrm>
            <a:off x="877824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YouTube : le moteur</a:t>
            </a:r>
          </a:p>
        </p:txBody>
      </p:sp>
      <p:sp>
        <p:nvSpPr>
          <p:cNvPr id="23" name="TextBox 22"/>
          <p:cNvSpPr txBox="1"/>
          <p:nvPr/>
        </p:nvSpPr>
        <p:spPr>
          <a:xfrm>
            <a:off x="827531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Chaque épisode et chaque masterclass alimentent les deux réseaux pendant une semaine.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LES SUJETS DE PRISE DE PAROLE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Quatre thèmes, ancrés dans ce qui marche déjà</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eart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Ce que la vie m'a appris</a:t>
            </a:r>
          </a:p>
        </p:txBody>
      </p:sp>
      <p:sp>
        <p:nvSpPr>
          <p:cNvPr id="13" name="TextBox 12"/>
          <p:cNvSpPr txBox="1"/>
          <p:nvPr/>
        </p:nvSpPr>
        <p:spPr>
          <a:xfrm>
            <a:off x="1600200"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35 % · Instagram 30 %</a:t>
            </a:r>
          </a:p>
        </p:txBody>
      </p:sp>
      <p:sp>
        <p:nvSpPr>
          <p:cNvPr id="14" name="TextBox 13"/>
          <p:cNvSpPr txBox="1"/>
          <p:nvPr/>
        </p:nvSpPr>
        <p:spPr>
          <a:xfrm>
            <a:off x="1600200"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Récits personnels qui finissent sur une leçon. Son meilleur sujet (832 en médiane).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rget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Diriger autrement</a:t>
            </a:r>
          </a:p>
        </p:txBody>
      </p:sp>
      <p:sp>
        <p:nvSpPr>
          <p:cNvPr id="19" name="TextBox 18"/>
          <p:cNvSpPr txBox="1"/>
          <p:nvPr/>
        </p:nvSpPr>
        <p:spPr>
          <a:xfrm>
            <a:off x="7205471"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30 % · Instagram 20 %</a:t>
            </a:r>
          </a:p>
        </p:txBody>
      </p:sp>
      <p:sp>
        <p:nvSpPr>
          <p:cNvPr id="20" name="TextBox 19"/>
          <p:cNvSpPr txBox="1"/>
          <p:nvPr/>
        </p:nvSpPr>
        <p:spPr>
          <a:xfrm>
            <a:off x="7205471"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Leadership conscient, soft skills, prise de parole : une idée nette par post, tirée de ses missions.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mic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Sur scène et à l'écran</a:t>
            </a:r>
          </a:p>
        </p:txBody>
      </p:sp>
      <p:sp>
        <p:nvSpPr>
          <p:cNvPr id="25" name="TextBox 24"/>
          <p:cNvSpPr txBox="1"/>
          <p:nvPr/>
        </p:nvSpPr>
        <p:spPr>
          <a:xfrm>
            <a:off x="1600200"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20 % · Instagram 35 %</a:t>
            </a:r>
          </a:p>
        </p:txBody>
      </p:sp>
      <p:sp>
        <p:nvSpPr>
          <p:cNvPr id="26" name="TextBox 25"/>
          <p:cNvSpPr txBox="1"/>
          <p:nvPr/>
        </p:nvSpPr>
        <p:spPr>
          <a:xfrm>
            <a:off x="1600200"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Extraits de masterclass, de conférences et d'épisodes YouTube, avec elle à l'image.</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parkle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Osez Briller et NFA</a:t>
            </a:r>
          </a:p>
        </p:txBody>
      </p:sp>
      <p:sp>
        <p:nvSpPr>
          <p:cNvPr id="31" name="TextBox 30"/>
          <p:cNvSpPr txBox="1"/>
          <p:nvPr/>
        </p:nvSpPr>
        <p:spPr>
          <a:xfrm>
            <a:off x="7205471"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15 % · Instagram 15 %</a:t>
            </a:r>
          </a:p>
        </p:txBody>
      </p:sp>
      <p:sp>
        <p:nvSpPr>
          <p:cNvPr id="32" name="TextBox 31"/>
          <p:cNvSpPr txBox="1"/>
          <p:nvPr/>
        </p:nvSpPr>
        <p:spPr>
          <a:xfrm>
            <a:off x="7205471"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Les programmes, les cohortes, les résultats des participants. Une annonce pour trois publications au maximum.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deux posts par semaine, le lundi d'abord</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Quand</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Lundi, 8 h – 10 h</a:t>
                      </a:r>
                    </a:p>
                  </a:txBody>
                  <a:tcPr marL="73152" marR="73152" marT="36576" marB="36576" anchor="ctr">
                    <a:solidFill>
                      <a:srgbClr val="FFFFFF"/>
                    </a:solidFill>
                  </a:tcPr>
                </a:tc>
                <a:tc>
                  <a:txBody>
                    <a:bodyPr wrap="square"/>
                    <a:lstStyle/>
                    <a:p>
                      <a:r>
                        <a:rPr sz="1100" b="0">
                          <a:solidFill>
                            <a:srgbClr val="2B2A35"/>
                          </a:solidFill>
                          <a:latin typeface="Work Sans"/>
                        </a:rPr>
                        <a:t>Un récit personnel et sa leçon, avec une vraie photo</a:t>
                      </a:r>
                    </a:p>
                  </a:txBody>
                  <a:tcPr marL="73152" marR="73152" marT="36576" marB="36576" anchor="ctr">
                    <a:solidFill>
                      <a:srgbClr val="FFFFFF"/>
                    </a:solidFill>
                  </a:tcPr>
                </a:tc>
              </a:tr>
              <a:tr h="685800">
                <a:tc>
                  <a:txBody>
                    <a:bodyPr wrap="square"/>
                    <a:lstStyle/>
                    <a:p>
                      <a:r>
                        <a:rPr sz="1100" b="0">
                          <a:solidFill>
                            <a:srgbClr val="2B2A35"/>
                          </a:solidFill>
                          <a:latin typeface="Work Sans"/>
                        </a:rPr>
                        <a:t>Jeudi, 12 h – 14 h</a:t>
                      </a:r>
                    </a:p>
                  </a:txBody>
                  <a:tcPr marL="73152" marR="73152" marT="36576" marB="36576" anchor="ctr">
                    <a:solidFill>
                      <a:srgbClr val="F7F8FA"/>
                    </a:solidFill>
                  </a:tcPr>
                </a:tc>
                <a:tc>
                  <a:txBody>
                    <a:bodyPr wrap="square"/>
                    <a:lstStyle/>
                    <a:p>
                      <a:r>
                        <a:rPr sz="1100" b="0">
                          <a:solidFill>
                            <a:srgbClr val="2B2A35"/>
                          </a:solidFill>
                          <a:latin typeface="Work Sans"/>
                        </a:rPr>
                        <a:t>Une idée de leadership, ou un extrait vidéo de scène</a:t>
                      </a:r>
                    </a:p>
                  </a:txBody>
                  <a:tcPr marL="73152" marR="73152" marT="36576" marB="36576" anchor="ctr">
                    <a:solidFill>
                      <a:srgbClr val="F7F8FA"/>
                    </a:solidFill>
                  </a:tcPr>
                </a:tc>
              </a:tr>
              <a:tr h="685800">
                <a:tc>
                  <a:txBody>
                    <a:bodyPr wrap="square"/>
                    <a:lstStyle/>
                    <a:p>
                      <a:r>
                        <a:rPr sz="1100" b="0">
                          <a:solidFill>
                            <a:srgbClr val="2B2A35"/>
                          </a:solidFill>
                          <a:latin typeface="Work Sans"/>
                        </a:rPr>
                        <a:t>Une fois par mois</a:t>
                      </a:r>
                    </a:p>
                  </a:txBody>
                  <a:tcPr marL="73152" marR="73152" marT="36576" marB="36576" anchor="ctr">
                    <a:solidFill>
                      <a:srgbClr val="FFFFFF"/>
                    </a:solidFill>
                  </a:tcPr>
                </a:tc>
                <a:tc>
                  <a:txBody>
                    <a:bodyPr wrap="square"/>
                    <a:lstStyle/>
                    <a:p>
                      <a:r>
                        <a:rPr sz="1100" b="0">
                          <a:solidFill>
                            <a:srgbClr val="2B2A35"/>
                          </a:solidFill>
                          <a:latin typeface="Work Sans"/>
                        </a:rPr>
                        <a:t>Une annonce NFA ou Osez Briller, avec des résultats</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Une photo d'elle sur chaque post ; l'affiche passe en deuxième image.</a:t>
            </a:r>
          </a:p>
          <a:p>
            <a:pPr algn="l">
              <a:lnSpc>
                <a:spcPct val="110000"/>
              </a:lnSpc>
              <a:spcAft>
                <a:spcPts val="400"/>
              </a:spcAft>
            </a:pPr>
            <a:r>
              <a:rPr sz="1100" b="0" i="0">
                <a:solidFill>
                  <a:srgbClr val="2B2A35"/>
                </a:solidFill>
                <a:latin typeface="Work Sans"/>
              </a:rPr>
              <a:t>2. Une première ligne de six mots au plus.</a:t>
            </a:r>
          </a:p>
          <a:p>
            <a:pPr algn="l">
              <a:lnSpc>
                <a:spcPct val="110000"/>
              </a:lnSpc>
              <a:spcAft>
                <a:spcPts val="400"/>
              </a:spcAft>
            </a:pPr>
            <a:r>
              <a:rPr sz="1100" b="0" i="0">
                <a:solidFill>
                  <a:srgbClr val="2B2A35"/>
                </a:solidFill>
                <a:latin typeface="Work Sans"/>
              </a:rPr>
              <a:t>3. Jamais deux posts sur le même sujet la même semaine.</a:t>
            </a:r>
          </a:p>
          <a:p>
            <a:pPr algn="l">
              <a:lnSpc>
                <a:spcPct val="110000"/>
              </a:lnSpc>
              <a:spcAft>
                <a:spcPts val="400"/>
              </a:spcAft>
            </a:pPr>
            <a:r>
              <a:rPr sz="1100" b="0" i="0">
                <a:solidFill>
                  <a:srgbClr val="2B2A35"/>
                </a:solidFill>
                <a:latin typeface="Work Sans"/>
              </a:rPr>
              <a:t>4. Garder 🙏🏽 et « Osez Briller » ; abandonner ™ et les caractères spéciaux.</a:t>
            </a:r>
          </a:p>
          <a:p>
            <a:pPr algn="l">
              <a:lnSpc>
                <a:spcPct val="110000"/>
              </a:lnSpc>
              <a:spcAft>
                <a:spcPts val="400"/>
              </a:spcAft>
            </a:pPr>
            <a:r>
              <a:rPr sz="1100" b="0" i="0">
                <a:solidFill>
                  <a:srgbClr val="2B2A35"/>
                </a:solidFill>
                <a:latin typeface="Work Sans"/>
              </a:rPr>
              <a:t>5. Relecture de chaque post par une seconde personne avant publication.</a:t>
            </a:r>
          </a:p>
          <a:p>
            <a:pPr algn="l">
              <a:lnSpc>
                <a:spcPct val="110000"/>
              </a:lnSpc>
              <a:spcAft>
                <a:spcPts val="400"/>
              </a:spcAft>
            </a:pPr>
            <a:r>
              <a:rPr sz="1100" b="0" i="0">
                <a:solidFill>
                  <a:srgbClr val="2B2A35"/>
                </a:solidFill>
                <a:latin typeface="Work Sans"/>
              </a:rPr>
              <a:t>6. Pas de mercredi ; répondre aux commentaires dans la journée.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reprendre son fil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Par semaine</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1 extrait vidéo</a:t>
                      </a:r>
                    </a:p>
                  </a:txBody>
                  <a:tcPr marL="73152" marR="73152" marT="36576" marB="36576" anchor="ctr">
                    <a:solidFill>
                      <a:srgbClr val="FFFFFF"/>
                    </a:solidFill>
                  </a:tcPr>
                </a:tc>
                <a:tc>
                  <a:txBody>
                    <a:bodyPr wrap="square"/>
                    <a:lstStyle/>
                    <a:p>
                      <a:r>
                        <a:rPr sz="1100" b="0">
                          <a:solidFill>
                            <a:srgbClr val="2B2A35"/>
                          </a:solidFill>
                          <a:latin typeface="Work Sans"/>
                        </a:rPr>
                        <a:t>Une phrase forte de masterclass ou d'épisode, publié chez elle</a:t>
                      </a:r>
                    </a:p>
                  </a:txBody>
                  <a:tcPr marL="73152" marR="73152" marT="36576" marB="36576" anchor="ctr">
                    <a:solidFill>
                      <a:srgbClr val="FFFFFF"/>
                    </a:solidFill>
                  </a:tcPr>
                </a:tc>
              </a:tr>
              <a:tr h="685800">
                <a:tc>
                  <a:txBody>
                    <a:bodyPr wrap="square"/>
                    <a:lstStyle/>
                    <a:p>
                      <a:r>
                        <a:rPr sz="1100" b="0">
                          <a:solidFill>
                            <a:srgbClr val="2B2A35"/>
                          </a:solidFill>
                          <a:latin typeface="Work Sans"/>
                        </a:rPr>
                        <a:t>1 publication personnelle</a:t>
                      </a:r>
                    </a:p>
                  </a:txBody>
                  <a:tcPr marL="73152" marR="73152" marT="36576" marB="36576" anchor="ctr">
                    <a:solidFill>
                      <a:srgbClr val="F7F8FA"/>
                    </a:solidFill>
                  </a:tcPr>
                </a:tc>
                <a:tc>
                  <a:txBody>
                    <a:bodyPr wrap="square"/>
                    <a:lstStyle/>
                    <a:p>
                      <a:r>
                        <a:rPr sz="1100" b="0">
                          <a:solidFill>
                            <a:srgbClr val="2B2A35"/>
                          </a:solidFill>
                          <a:latin typeface="Work Sans"/>
                        </a:rPr>
                        <a:t>Elle à l'image : coulisses, voyages, moments</a:t>
                      </a:r>
                    </a:p>
                  </a:txBody>
                  <a:tcPr marL="73152" marR="73152" marT="36576" marB="36576" anchor="ctr">
                    <a:solidFill>
                      <a:srgbClr val="F7F8FA"/>
                    </a:solidFill>
                  </a:tcPr>
                </a:tc>
              </a:tr>
              <a:tr h="685800">
                <a:tc>
                  <a:txBody>
                    <a:bodyPr wrap="square"/>
                    <a:lstStyle/>
                    <a:p>
                      <a:r>
                        <a:rPr sz="1100" b="0">
                          <a:solidFill>
                            <a:srgbClr val="2B2A35"/>
                          </a:solidFill>
                          <a:latin typeface="Work Sans"/>
                        </a:rPr>
                        <a:t>Collaborations</a:t>
                      </a:r>
                    </a:p>
                  </a:txBody>
                  <a:tcPr marL="73152" marR="73152" marT="36576" marB="36576" anchor="ctr">
                    <a:solidFill>
                      <a:srgbClr val="FFFFFF"/>
                    </a:solidFill>
                  </a:tcPr>
                </a:tc>
                <a:tc>
                  <a:txBody>
                    <a:bodyPr wrap="square"/>
                    <a:lstStyle/>
                    <a:p>
                      <a:r>
                        <a:rPr sz="1100" b="0">
                          <a:solidFill>
                            <a:srgbClr val="2B2A35"/>
                          </a:solidFill>
                          <a:latin typeface="Work Sans"/>
                        </a:rPr>
                        <a:t>Les garder, mais seulement si elle est à l'image</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Deux publications à elle par semaine au minimum.</a:t>
            </a:r>
          </a:p>
          <a:p>
            <a:pPr algn="l">
              <a:lnSpc>
                <a:spcPct val="110000"/>
              </a:lnSpc>
              <a:spcAft>
                <a:spcPts val="400"/>
              </a:spcAft>
            </a:pPr>
            <a:r>
              <a:rPr sz="1100" b="0" i="0">
                <a:solidFill>
                  <a:srgbClr val="2B2A35"/>
                </a:solidFill>
                <a:latin typeface="Work Sans"/>
              </a:rPr>
              <a:t>2. Légendes en français d'abord ; l'anglais en seconde partie si besoin.</a:t>
            </a:r>
          </a:p>
          <a:p>
            <a:pPr algn="l">
              <a:lnSpc>
                <a:spcPct val="110000"/>
              </a:lnSpc>
              <a:spcAft>
                <a:spcPts val="400"/>
              </a:spcAft>
            </a:pPr>
            <a:r>
              <a:rPr sz="1100" b="0" i="0">
                <a:solidFill>
                  <a:srgbClr val="2B2A35"/>
                </a:solidFill>
                <a:latin typeface="Work Sans"/>
              </a:rPr>
              <a:t>3. Remplacer « Quelques réactions… » par un extrait de 30 secondes.</a:t>
            </a:r>
          </a:p>
          <a:p>
            <a:pPr algn="l">
              <a:lnSpc>
                <a:spcPct val="110000"/>
              </a:lnSpc>
              <a:spcAft>
                <a:spcPts val="400"/>
              </a:spcAft>
            </a:pPr>
            <a:r>
              <a:rPr sz="1100" b="0" i="0">
                <a:solidFill>
                  <a:srgbClr val="2B2A35"/>
                </a:solidFill>
                <a:latin typeface="Work Sans"/>
              </a:rPr>
              <a:t>4. Refuser les collaborations faites d'une simple affiche.</a:t>
            </a:r>
          </a:p>
          <a:p>
            <a:pPr algn="l">
              <a:lnSpc>
                <a:spcPct val="110000"/>
              </a:lnSpc>
              <a:spcAft>
                <a:spcPts val="400"/>
              </a:spcAft>
            </a:pPr>
            <a:r>
              <a:rPr sz="1100" b="0" i="0">
                <a:solidFill>
                  <a:srgbClr val="2B2A35"/>
                </a:solidFill>
                <a:latin typeface="Work Sans"/>
              </a:rPr>
              <a:t>5. Réécrire la bio en une phrase claire, et y ajouter @nextlevelbynaboufall et la chaîne YouTube.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QU'ON MESURE, ET COMMENT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 objectifs à fin janvier 2027</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9" name="Table 8"/>
          <p:cNvGraphicFramePr>
            <a:graphicFrameLocks noGrp="1"/>
          </p:cNvGraphicFramePr>
          <p:nvPr/>
        </p:nvGraphicFramePr>
        <p:xfrm>
          <a:off x="548640" y="1645920"/>
          <a:ext cx="11091672" cy="3840480"/>
        </p:xfrm>
        <a:graphic>
          <a:graphicData uri="http://schemas.openxmlformats.org/drawingml/2006/table">
            <a:tbl>
              <a:tblPr firstRow="1" bandRow="1">
                <a:tableStyleId>{5C22544A-7EE6-4342-B048-85BDC9FD1C3A}</a:tableStyleId>
              </a:tblPr>
              <a:tblGrid>
                <a:gridCol w="3291840"/>
                <a:gridCol w="2194560"/>
                <a:gridCol w="2926080"/>
                <a:gridCol w="2679192"/>
              </a:tblGrid>
              <a:tr h="548640">
                <a:tc>
                  <a:txBody>
                    <a:bodyPr wrap="square"/>
                    <a:lstStyle/>
                    <a:p>
                      <a:r>
                        <a:rPr sz="1150" b="1">
                          <a:solidFill>
                            <a:srgbClr val="FFFFFF"/>
                          </a:solidFill>
                          <a:latin typeface="Work Sans"/>
                        </a:rPr>
                        <a:t>Indicateur</a:t>
                      </a:r>
                    </a:p>
                  </a:txBody>
                  <a:tcPr marL="73152" marR="73152" marT="36576" marB="36576" anchor="ctr">
                    <a:solidFill>
                      <a:srgbClr val="232754"/>
                    </a:solidFill>
                  </a:tcPr>
                </a:tc>
                <a:tc>
                  <a:txBody>
                    <a:bodyPr wrap="square"/>
                    <a:lstStyle/>
                    <a:p>
                      <a:r>
                        <a:rPr sz="1150" b="1">
                          <a:solidFill>
                            <a:srgbClr val="FFFFFF"/>
                          </a:solidFill>
                          <a:latin typeface="Work Sans"/>
                        </a:rPr>
                        <a:t>Aujourd'hui</a:t>
                      </a:r>
                    </a:p>
                  </a:txBody>
                  <a:tcPr marL="73152" marR="73152" marT="36576" marB="36576" anchor="ctr">
                    <a:solidFill>
                      <a:srgbClr val="232754"/>
                    </a:solidFill>
                  </a:tcPr>
                </a:tc>
                <a:tc>
                  <a:txBody>
                    <a:bodyPr wrap="square"/>
                    <a:lstStyle/>
                    <a:p>
                      <a:r>
                        <a:rPr sz="1150" b="1">
                          <a:solidFill>
                            <a:srgbClr val="FFFFFF"/>
                          </a:solidFill>
                          <a:latin typeface="Work Sans"/>
                        </a:rPr>
                        <a:t>Objectif fin janvier 2027</a:t>
                      </a:r>
                    </a:p>
                  </a:txBody>
                  <a:tcPr marL="73152" marR="73152" marT="36576" marB="36576" anchor="ctr">
                    <a:solidFill>
                      <a:srgbClr val="232754"/>
                    </a:solidFill>
                  </a:tcPr>
                </a:tc>
                <a:tc>
                  <a:txBody>
                    <a:bodyPr wrap="square"/>
                    <a:lstStyle/>
                    <a:p>
                      <a:r>
                        <a:rPr sz="1150" b="1">
                          <a:solidFill>
                            <a:srgbClr val="FFFFFF"/>
                          </a:solidFill>
                          <a:latin typeface="Work Sans"/>
                        </a:rPr>
                        <a:t>Comment le mesurer</a:t>
                      </a:r>
                    </a:p>
                  </a:txBody>
                  <a:tcPr marL="73152" marR="73152" marT="36576" marB="36576" anchor="ctr">
                    <a:solidFill>
                      <a:srgbClr val="232754"/>
                    </a:solidFill>
                  </a:tcPr>
                </a:tc>
              </a:tr>
              <a:tr h="548640">
                <a:tc>
                  <a:txBody>
                    <a:bodyPr wrap="square"/>
                    <a:lstStyle/>
                    <a:p>
                      <a:r>
                        <a:rPr sz="1150" b="0">
                          <a:solidFill>
                            <a:srgbClr val="2B2A35"/>
                          </a:solidFill>
                          <a:latin typeface="Work Sans"/>
                        </a:rPr>
                        <a:t>Posts LinkedIn par mois</a:t>
                      </a:r>
                    </a:p>
                  </a:txBody>
                  <a:tcPr marL="73152" marR="73152" marT="36576" marB="36576" anchor="ctr">
                    <a:solidFill>
                      <a:srgbClr val="FFFFFF"/>
                    </a:solidFill>
                  </a:tcPr>
                </a:tc>
                <a:tc>
                  <a:txBody>
                    <a:bodyPr wrap="square"/>
                    <a:lstStyle/>
                    <a:p>
                      <a:r>
                        <a:rPr sz="1150" b="0">
                          <a:solidFill>
                            <a:srgbClr val="2B2A35"/>
                          </a:solidFill>
                          <a:latin typeface="Work Sans"/>
                        </a:rPr>
                        <a:t>1 à 3 depuis mai</a:t>
                      </a:r>
                    </a:p>
                  </a:txBody>
                  <a:tcPr marL="73152" marR="73152" marT="36576" marB="36576" anchor="ctr">
                    <a:solidFill>
                      <a:srgbClr val="FFFFFF"/>
                    </a:solidFill>
                  </a:tcPr>
                </a:tc>
                <a:tc>
                  <a:txBody>
                    <a:bodyPr wrap="square"/>
                    <a:lstStyle/>
                    <a:p>
                      <a:r>
                        <a:rPr sz="1150" b="0">
                          <a:solidFill>
                            <a:srgbClr val="2B2A35"/>
                          </a:solidFill>
                          <a:latin typeface="Work Sans"/>
                        </a:rPr>
                        <a:t>8 (deux par semaine)</a:t>
                      </a:r>
                    </a:p>
                  </a:txBody>
                  <a:tcPr marL="73152" marR="73152" marT="36576" marB="36576" anchor="ctr">
                    <a:solidFill>
                      <a:srgbClr val="FFFFFF"/>
                    </a:solidFill>
                  </a:tcPr>
                </a:tc>
                <a:tc>
                  <a:txBody>
                    <a:bodyPr wrap="square"/>
                    <a:lstStyle/>
                    <a:p>
                      <a:r>
                        <a:rPr sz="1150" b="0">
                          <a:solidFill>
                            <a:srgbClr val="2B2A35"/>
                          </a:solidFill>
                          <a:latin typeface="Work Sans"/>
                        </a:rPr>
                        <a:t>Calendrier tenu</a:t>
                      </a:r>
                    </a:p>
                  </a:txBody>
                  <a:tcPr marL="73152" marR="73152" marT="36576" marB="36576" anchor="ctr">
                    <a:solidFill>
                      <a:srgbClr val="FFFFFF"/>
                    </a:solidFill>
                  </a:tcPr>
                </a:tc>
              </a:tr>
              <a:tr h="548640">
                <a:tc>
                  <a:txBody>
                    <a:bodyPr wrap="square"/>
                    <a:lstStyle/>
                    <a:p>
                      <a:r>
                        <a:rPr sz="1150" b="0">
                          <a:solidFill>
                            <a:srgbClr val="2B2A35"/>
                          </a:solidFill>
                          <a:latin typeface="Work Sans"/>
                        </a:rPr>
                        <a:t>Interactions LinkedIn (médiane)</a:t>
                      </a:r>
                    </a:p>
                  </a:txBody>
                  <a:tcPr marL="73152" marR="73152" marT="36576" marB="36576" anchor="ctr">
                    <a:solidFill>
                      <a:srgbClr val="F7F8FA"/>
                    </a:solidFill>
                  </a:tcPr>
                </a:tc>
                <a:tc>
                  <a:txBody>
                    <a:bodyPr wrap="square"/>
                    <a:lstStyle/>
                    <a:p>
                      <a:r>
                        <a:rPr sz="1150" b="0">
                          <a:solidFill>
                            <a:srgbClr val="2B2A35"/>
                          </a:solidFill>
                          <a:latin typeface="Work Sans"/>
                        </a:rPr>
                        <a:t>350</a:t>
                      </a:r>
                    </a:p>
                  </a:txBody>
                  <a:tcPr marL="73152" marR="73152" marT="36576" marB="36576" anchor="ctr">
                    <a:solidFill>
                      <a:srgbClr val="F7F8FA"/>
                    </a:solidFill>
                  </a:tcPr>
                </a:tc>
                <a:tc>
                  <a:txBody>
                    <a:bodyPr wrap="square"/>
                    <a:lstStyle/>
                    <a:p>
                      <a:r>
                        <a:rPr sz="1150" b="0">
                          <a:solidFill>
                            <a:srgbClr val="2B2A35"/>
                          </a:solidFill>
                          <a:latin typeface="Work Sans"/>
                        </a:rPr>
                        <a:t>450</a:t>
                      </a:r>
                    </a:p>
                  </a:txBody>
                  <a:tcPr marL="73152" marR="73152" marT="36576" marB="36576" anchor="ctr">
                    <a:solidFill>
                      <a:srgbClr val="F7F8FA"/>
                    </a:solidFill>
                  </a:tcPr>
                </a:tc>
                <a:tc>
                  <a:txBody>
                    <a:bodyPr wrap="square"/>
                    <a:lstStyle/>
                    <a:p>
                      <a:r>
                        <a:rPr sz="1150" b="0">
                          <a:solidFill>
                            <a:srgbClr val="2B2A35"/>
                          </a:solidFill>
                          <a:latin typeface="Work Sans"/>
                        </a:rPr>
                        <a:t>Relevé mensuel des posts</a:t>
                      </a:r>
                    </a:p>
                  </a:txBody>
                  <a:tcPr marL="73152" marR="73152" marT="36576" marB="36576" anchor="ctr">
                    <a:solidFill>
                      <a:srgbClr val="F7F8FA"/>
                    </a:solidFill>
                  </a:tcPr>
                </a:tc>
              </a:tr>
              <a:tr h="548640">
                <a:tc>
                  <a:txBody>
                    <a:bodyPr wrap="square"/>
                    <a:lstStyle/>
                    <a:p>
                      <a:r>
                        <a:rPr sz="1150" b="0">
                          <a:solidFill>
                            <a:srgbClr val="2B2A35"/>
                          </a:solidFill>
                          <a:latin typeface="Work Sans"/>
                        </a:rPr>
                        <a:t>Abonnés LinkedIn</a:t>
                      </a:r>
                    </a:p>
                  </a:txBody>
                  <a:tcPr marL="73152" marR="73152" marT="36576" marB="36576" anchor="ctr">
                    <a:solidFill>
                      <a:srgbClr val="FFFFFF"/>
                    </a:solidFill>
                  </a:tcPr>
                </a:tc>
                <a:tc>
                  <a:txBody>
                    <a:bodyPr wrap="square"/>
                    <a:lstStyle/>
                    <a:p>
                      <a:r>
                        <a:rPr sz="1150" b="0">
                          <a:solidFill>
                            <a:srgbClr val="2B2A35"/>
                          </a:solidFill>
                          <a:latin typeface="Work Sans"/>
                        </a:rPr>
                        <a:t>108 652</a:t>
                      </a:r>
                    </a:p>
                  </a:txBody>
                  <a:tcPr marL="73152" marR="73152" marT="36576" marB="36576" anchor="ctr">
                    <a:solidFill>
                      <a:srgbClr val="FFFFFF"/>
                    </a:solidFill>
                  </a:tcPr>
                </a:tc>
                <a:tc>
                  <a:txBody>
                    <a:bodyPr wrap="square"/>
                    <a:lstStyle/>
                    <a:p>
                      <a:r>
                        <a:rPr sz="1150" b="0">
                          <a:solidFill>
                            <a:srgbClr val="2B2A35"/>
                          </a:solidFill>
                          <a:latin typeface="Work Sans"/>
                        </a:rPr>
                        <a:t>112 000</a:t>
                      </a:r>
                    </a:p>
                  </a:txBody>
                  <a:tcPr marL="73152" marR="73152" marT="36576" marB="36576" anchor="ctr">
                    <a:solidFill>
                      <a:srgbClr val="FFFFFF"/>
                    </a:solidFill>
                  </a:tcPr>
                </a:tc>
                <a:tc>
                  <a:txBody>
                    <a:bodyPr wrap="square"/>
                    <a:lstStyle/>
                    <a:p>
                      <a:r>
                        <a:rPr sz="1150" b="0">
                          <a:solidFill>
                            <a:srgbClr val="2B2A35"/>
                          </a:solidFill>
                          <a:latin typeface="Work Sans"/>
                        </a:rPr>
                        <a:t>Profil, chaque lundi</a:t>
                      </a:r>
                    </a:p>
                  </a:txBody>
                  <a:tcPr marL="73152" marR="73152" marT="36576" marB="36576" anchor="ctr">
                    <a:solidFill>
                      <a:srgbClr val="FFFFFF"/>
                    </a:solidFill>
                  </a:tcPr>
                </a:tc>
              </a:tr>
              <a:tr h="548640">
                <a:tc>
                  <a:txBody>
                    <a:bodyPr wrap="square"/>
                    <a:lstStyle/>
                    <a:p>
                      <a:r>
                        <a:rPr sz="1150" b="0">
                          <a:solidFill>
                            <a:srgbClr val="2B2A35"/>
                          </a:solidFill>
                          <a:latin typeface="Work Sans"/>
                        </a:rPr>
                        <a:t>Publications Instagram à elle</a:t>
                      </a:r>
                    </a:p>
                  </a:txBody>
                  <a:tcPr marL="73152" marR="73152" marT="36576" marB="36576" anchor="ctr">
                    <a:solidFill>
                      <a:srgbClr val="F7F8FA"/>
                    </a:solidFill>
                  </a:tcPr>
                </a:tc>
                <a:tc>
                  <a:txBody>
                    <a:bodyPr wrap="square"/>
                    <a:lstStyle/>
                    <a:p>
                      <a:r>
                        <a:rPr sz="1150" b="0">
                          <a:solidFill>
                            <a:srgbClr val="2B2A35"/>
                          </a:solidFill>
                          <a:latin typeface="Work Sans"/>
                        </a:rPr>
                        <a:t>3 en dix mois</a:t>
                      </a:r>
                    </a:p>
                  </a:txBody>
                  <a:tcPr marL="73152" marR="73152" marT="36576" marB="36576" anchor="ctr">
                    <a:solidFill>
                      <a:srgbClr val="F7F8FA"/>
                    </a:solidFill>
                  </a:tcPr>
                </a:tc>
                <a:tc>
                  <a:txBody>
                    <a:bodyPr wrap="square"/>
                    <a:lstStyle/>
                    <a:p>
                      <a:r>
                        <a:rPr sz="1150" b="0">
                          <a:solidFill>
                            <a:srgbClr val="2B2A35"/>
                          </a:solidFill>
                          <a:latin typeface="Work Sans"/>
                        </a:rPr>
                        <a:t>8 par mois</a:t>
                      </a:r>
                    </a:p>
                  </a:txBody>
                  <a:tcPr marL="73152" marR="73152" marT="36576" marB="36576" anchor="ctr">
                    <a:solidFill>
                      <a:srgbClr val="F7F8FA"/>
                    </a:solidFill>
                  </a:tcPr>
                </a:tc>
                <a:tc>
                  <a:txBody>
                    <a:bodyPr wrap="square"/>
                    <a:lstStyle/>
                    <a:p>
                      <a:r>
                        <a:rPr sz="1150" b="0">
                          <a:solidFill>
                            <a:srgbClr val="2B2A35"/>
                          </a:solidFill>
                          <a:latin typeface="Work Sans"/>
                        </a:rPr>
                        <a:t>Calendrier tenu</a:t>
                      </a:r>
                    </a:p>
                  </a:txBody>
                  <a:tcPr marL="73152" marR="73152" marT="36576" marB="36576" anchor="ctr">
                    <a:solidFill>
                      <a:srgbClr val="F7F8FA"/>
                    </a:solidFill>
                  </a:tcPr>
                </a:tc>
              </a:tr>
              <a:tr h="548640">
                <a:tc>
                  <a:txBody>
                    <a:bodyPr wrap="square"/>
                    <a:lstStyle/>
                    <a:p>
                      <a:r>
                        <a:rPr sz="1150" b="0">
                          <a:solidFill>
                            <a:srgbClr val="2B2A35"/>
                          </a:solidFill>
                          <a:latin typeface="Work Sans"/>
                        </a:rPr>
                        <a:t>J'aime Instagram (médiane)</a:t>
                      </a:r>
                    </a:p>
                  </a:txBody>
                  <a:tcPr marL="73152" marR="73152" marT="36576" marB="36576" anchor="ctr">
                    <a:solidFill>
                      <a:srgbClr val="FFFFFF"/>
                    </a:solidFill>
                  </a:tcPr>
                </a:tc>
                <a:tc>
                  <a:txBody>
                    <a:bodyPr wrap="square"/>
                    <a:lstStyle/>
                    <a:p>
                      <a:r>
                        <a:rPr sz="1150" b="0">
                          <a:solidFill>
                            <a:srgbClr val="2B2A35"/>
                          </a:solidFill>
                          <a:latin typeface="Work Sans"/>
                        </a:rPr>
                        <a:t>103</a:t>
                      </a:r>
                    </a:p>
                  </a:txBody>
                  <a:tcPr marL="73152" marR="73152" marT="36576" marB="36576" anchor="ctr">
                    <a:solidFill>
                      <a:srgbClr val="FFFFFF"/>
                    </a:solidFill>
                  </a:tcPr>
                </a:tc>
                <a:tc>
                  <a:txBody>
                    <a:bodyPr wrap="square"/>
                    <a:lstStyle/>
                    <a:p>
                      <a:r>
                        <a:rPr sz="1150" b="0">
                          <a:solidFill>
                            <a:srgbClr val="2B2A35"/>
                          </a:solidFill>
                          <a:latin typeface="Work Sans"/>
                        </a:rPr>
                        <a:t>300</a:t>
                      </a:r>
                    </a:p>
                  </a:txBody>
                  <a:tcPr marL="73152" marR="73152" marT="36576" marB="36576" anchor="ctr">
                    <a:solidFill>
                      <a:srgbClr val="FFFFFF"/>
                    </a:solidFill>
                  </a:tcPr>
                </a:tc>
                <a:tc>
                  <a:txBody>
                    <a:bodyPr wrap="square"/>
                    <a:lstStyle/>
                    <a:p>
                      <a:r>
                        <a:rPr sz="1150" b="0">
                          <a:solidFill>
                            <a:srgbClr val="2B2A35"/>
                          </a:solidFill>
                          <a:latin typeface="Work Sans"/>
                        </a:rPr>
                        <a:t>Relevé mensuel</a:t>
                      </a:r>
                    </a:p>
                  </a:txBody>
                  <a:tcPr marL="73152" marR="73152" marT="36576" marB="36576" anchor="ctr">
                    <a:solidFill>
                      <a:srgbClr val="FFFFFF"/>
                    </a:solidFill>
                  </a:tcPr>
                </a:tc>
              </a:tr>
              <a:tr h="548640">
                <a:tc>
                  <a:txBody>
                    <a:bodyPr wrap="square"/>
                    <a:lstStyle/>
                    <a:p>
                      <a:r>
                        <a:rPr sz="1150" b="0">
                          <a:solidFill>
                            <a:srgbClr val="2B2A35"/>
                          </a:solidFill>
                          <a:latin typeface="Work Sans"/>
                        </a:rPr>
                        <a:t>Vues des extraits vidéo (médiane)</a:t>
                      </a:r>
                    </a:p>
                  </a:txBody>
                  <a:tcPr marL="73152" marR="73152" marT="36576" marB="36576" anchor="ctr">
                    <a:solidFill>
                      <a:srgbClr val="F7F8FA"/>
                    </a:solidFill>
                  </a:tcPr>
                </a:tc>
                <a:tc>
                  <a:txBody>
                    <a:bodyPr wrap="square"/>
                    <a:lstStyle/>
                    <a:p>
                      <a:r>
                        <a:rPr sz="1150" b="0">
                          <a:solidFill>
                            <a:srgbClr val="2B2A35"/>
                          </a:solidFill>
                          <a:latin typeface="Work Sans"/>
                        </a:rPr>
                        <a:t>3 682</a:t>
                      </a:r>
                    </a:p>
                  </a:txBody>
                  <a:tcPr marL="73152" marR="73152" marT="36576" marB="36576" anchor="ctr">
                    <a:solidFill>
                      <a:srgbClr val="F7F8FA"/>
                    </a:solidFill>
                  </a:tcPr>
                </a:tc>
                <a:tc>
                  <a:txBody>
                    <a:bodyPr wrap="square"/>
                    <a:lstStyle/>
                    <a:p>
                      <a:r>
                        <a:rPr sz="1150" b="0">
                          <a:solidFill>
                            <a:srgbClr val="2B2A35"/>
                          </a:solidFill>
                          <a:latin typeface="Work Sans"/>
                        </a:rPr>
                        <a:t>10 000</a:t>
                      </a:r>
                    </a:p>
                  </a:txBody>
                  <a:tcPr marL="73152" marR="73152" marT="36576" marB="36576" anchor="ctr">
                    <a:solidFill>
                      <a:srgbClr val="F7F8FA"/>
                    </a:solidFill>
                  </a:tcPr>
                </a:tc>
                <a:tc>
                  <a:txBody>
                    <a:bodyPr wrap="square"/>
                    <a:lstStyle/>
                    <a:p>
                      <a:r>
                        <a:rPr sz="1150" b="0">
                          <a:solidFill>
                            <a:srgbClr val="2B2A35"/>
                          </a:solidFill>
                          <a:latin typeface="Work Sans"/>
                        </a:rPr>
                        <a:t>Statistiques du compte</a:t>
                      </a:r>
                    </a:p>
                  </a:txBody>
                  <a:tcPr marL="73152" marR="73152" marT="36576" marB="36576" anchor="ctr">
                    <a:solidFill>
                      <a:srgbClr val="F7F8FA"/>
                    </a:solidFill>
                  </a:tcPr>
                </a:tc>
              </a:tr>
            </a:tbl>
          </a:graphicData>
        </a:graphic>
      </p:graphicFrame>
      <p:sp>
        <p:nvSpPr>
          <p:cNvPr id="10" name="TextBox 9"/>
          <p:cNvSpPr txBox="1"/>
          <p:nvPr/>
        </p:nvSpPr>
        <p:spPr>
          <a:xfrm>
            <a:off x="548640" y="5623560"/>
            <a:ext cx="11091672" cy="5486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8F8F9A"/>
                </a:solidFill>
                <a:latin typeface="Work Sans"/>
              </a:rPr>
              <a:t>Il nous manque ses statistiques privées (portée, visites du profil, nouveaux abonnés) : à récupérer dans ses applications pour fixer la base exacte.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4-06_1945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06</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Prêt à valider</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Profil corrigé, trois posts LinkedIn, un carrousel Instagram et le calendrier.</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titre et cohérence du parcours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CEO NFA | Architecte de transformation humaine | Leadership conscient &amp; Soft Skills stratégiques | Conférencière internationale | Executive Coach</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 « Directrice générale de 2XT com »</a:t>
            </a:r>
          </a:p>
          <a:p>
            <a:pPr algn="l">
              <a:lnSpc>
                <a:spcPct val="108000"/>
              </a:lnSpc>
              <a:spcAft>
                <a:spcPts val="400"/>
              </a:spcAft>
            </a:pPr>
            <a:r>
              <a:rPr sz="1100" b="0" i="0">
                <a:solidFill>
                  <a:srgbClr val="2B2A35"/>
                </a:solidFill>
                <a:latin typeface="Work Sans"/>
              </a:rPr>
              <a:t>Parcours : « Deputy managing director, 2XT COM »</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À la une : 5 posts récents, dont un teasing</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J'aide les dirigeants africains à transformer leur manière de diriger · CEO NFA · Conférencière · Executive Coach · Osez Briller™</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et parcours : un seul intitulé pour 2XT COM (à confirmer par elle)</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À la une : la chaîne YouTube (100 000 abonnés), le bilan NFA 2025-2026, Osez Briller, la conférence Femme Charismatique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la bio</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#empoweredwomenempowertheworld</a:t>
            </a:r>
          </a:p>
          <a:p>
            <a:pPr algn="l">
              <a:lnSpc>
                <a:spcPct val="108000"/>
              </a:lnSpc>
              <a:spcAft>
                <a:spcPts val="400"/>
              </a:spcAft>
            </a:pPr>
            <a:r>
              <a:rPr sz="1200" b="0" i="0">
                <a:solidFill>
                  <a:srgbClr val="2B2A35"/>
                </a:solidFill>
                <a:latin typeface="Work Sans"/>
              </a:rPr>
              <a:t>#Wimnet #Speaker #icfcoach #personalbrandingqueen</a:t>
            </a:r>
          </a:p>
          <a:p>
            <a:pPr algn="l">
              <a:lnSpc>
                <a:spcPct val="108000"/>
              </a:lnSpc>
              <a:spcAft>
                <a:spcPts val="400"/>
              </a:spcAft>
            </a:pPr>
            <a:r>
              <a:rPr sz="1200" b="0" i="0">
                <a:solidFill>
                  <a:srgbClr val="2B2A35"/>
                </a:solidFill>
                <a:latin typeface="Work Sans"/>
              </a:rPr>
              <a:t>@AgenceVizeo @impacthubabidjan @fallakademy #OsezBriller</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Leadership conscient · prise de parole · personal branding ✨</a:t>
            </a:r>
          </a:p>
          <a:p>
            <a:pPr algn="l">
              <a:lnSpc>
                <a:spcPct val="108000"/>
              </a:lnSpc>
              <a:spcAft>
                <a:spcPts val="400"/>
              </a:spcAft>
            </a:pPr>
            <a:r>
              <a:rPr sz="1200" b="0" i="0">
                <a:solidFill>
                  <a:srgbClr val="2B2A35"/>
                </a:solidFill>
                <a:latin typeface="Work Sans"/>
              </a:rPr>
              <a:t>CEO @fallakademy · Conférencière · Autrice</a:t>
            </a:r>
          </a:p>
          <a:p>
            <a:pPr algn="l">
              <a:lnSpc>
                <a:spcPct val="108000"/>
              </a:lnSpc>
              <a:spcAft>
                <a:spcPts val="400"/>
              </a:spcAft>
            </a:pPr>
            <a:r>
              <a:rPr sz="1200" b="0" i="0">
                <a:solidFill>
                  <a:srgbClr val="2B2A35"/>
                </a:solidFill>
                <a:latin typeface="Work Sans"/>
              </a:rPr>
              <a:t>🎙️ Next Level : @nextlevelbynaboufall</a:t>
            </a:r>
          </a:p>
          <a:p>
            <a:pPr algn="l">
              <a:lnSpc>
                <a:spcPct val="108000"/>
              </a:lnSpc>
              <a:spcAft>
                <a:spcPts val="400"/>
              </a:spcAft>
            </a:pPr>
            <a:r>
              <a:rPr sz="1200" b="0" i="0">
                <a:solidFill>
                  <a:srgbClr val="2B2A35"/>
                </a:solidFill>
                <a:latin typeface="Work Sans"/>
              </a:rPr>
              <a:t>▶️ 100 000 sur YouTube · Osez Briller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LUNDI 26 OCTOBRE, 8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1 · le jour où mon corps a dit stop</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Lundi 26 octobre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suis rentrée à Abidjan en fauteuil roulant.</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Pendant un voyage professionnel, j'avais ignoré tous les signaux. La fatigue, les nuits courtes, le « encore une mission ». Mon corps, lui, n'a pas négocié : hospitalisation.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jour-là, j'ai compris une chose que j'enseigne pourtant aux dirigeants :</a:t>
            </a:r>
          </a:p>
          <a:p>
            <a:pPr algn="l">
              <a:lnSpc>
                <a:spcPct val="105000"/>
              </a:lnSpc>
              <a:spcAft>
                <a:spcPts val="200"/>
              </a:spcAft>
            </a:pPr>
            <a:r>
              <a:rPr sz="1000" b="0" i="0">
                <a:solidFill>
                  <a:srgbClr val="2B2A35"/>
                </a:solidFill>
                <a:latin typeface="Work Sans"/>
              </a:rPr>
              <a:t>✔️ la performance sans repos n'est pas du leadership ;</a:t>
            </a:r>
          </a:p>
          <a:p>
            <a:pPr algn="l">
              <a:lnSpc>
                <a:spcPct val="105000"/>
              </a:lnSpc>
              <a:spcAft>
                <a:spcPts val="200"/>
              </a:spcAft>
            </a:pPr>
            <a:r>
              <a:rPr sz="1000" b="0" i="0">
                <a:solidFill>
                  <a:srgbClr val="2B2A35"/>
                </a:solidFill>
                <a:latin typeface="Work Sans"/>
              </a:rPr>
              <a:t>✔️ reconnaître ses limites n'est pas une faiblesse ;</a:t>
            </a:r>
          </a:p>
          <a:p>
            <a:pPr algn="l">
              <a:lnSpc>
                <a:spcPct val="105000"/>
              </a:lnSpc>
              <a:spcAft>
                <a:spcPts val="200"/>
              </a:spcAft>
            </a:pPr>
            <a:r>
              <a:rPr sz="1000" b="0" i="0">
                <a:solidFill>
                  <a:srgbClr val="2B2A35"/>
                </a:solidFill>
                <a:latin typeface="Work Sans"/>
              </a:rPr>
              <a:t>✔️ un leader épuisé ne peut élever personne.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J'en parle avec le Dr Mariame Sako dans un épisode de Next Level.</a:t>
            </a:r>
          </a:p>
          <a:p>
            <a:pPr algn="l">
              <a:lnSpc>
                <a:spcPct val="105000"/>
              </a:lnSpc>
              <a:spcAft>
                <a:spcPts val="200"/>
              </a:spcAft>
            </a:pPr>
            <a:r>
              <a:rPr sz="1000" b="0" i="0">
                <a:solidFill>
                  <a:srgbClr val="2B2A35"/>
                </a:solidFill>
                <a:latin typeface="Work Sans"/>
              </a:rPr>
              <a:t>Et vous, quel signal avez-vous déjà ignoré ?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Osez Briller, mais pas à n'importe quel prix.</a:t>
            </a:r>
          </a:p>
        </p:txBody>
      </p:sp>
      <p:pic>
        <p:nvPicPr>
          <p:cNvPr id="15" name="Picture 14" descr="ig_2026-09-29_Dd4LkARCCOJ.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d'elle (portrait ou plateau Next Level) ; à défaut, la vignette de l'épisode.</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Son récit le plus fort de l'année est resté sur le compte Next Level (322 j'aime). Sur LinkedIn, c'est exactement le type de post qui fait 800 et plus. Faits repris de la légende du 29 septembre : à faire valider par elle.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JEUDI 29 OCTOBRE, 12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2 · Miss Côte d'Ivoire et la critique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Jeudi 29 octobre 2026 · 12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Être choisie, puis être attaquée.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Fatima Koné, Miss Côte d'Ivoire 2025, m'a raconté dans Next Level la vague de critiques qui a suivi sa victoire, alors qu'elle était montée sur scène presque sans tenue et sans préparation.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que j'en retiens pour tous ceux qui dirigent :</a:t>
            </a:r>
          </a:p>
          <a:p>
            <a:pPr algn="l">
              <a:lnSpc>
                <a:spcPct val="105000"/>
              </a:lnSpc>
              <a:spcAft>
                <a:spcPts val="200"/>
              </a:spcAft>
            </a:pPr>
            <a:r>
              <a:rPr sz="1000" b="0" i="0">
                <a:solidFill>
                  <a:srgbClr val="2B2A35"/>
                </a:solidFill>
                <a:latin typeface="Work Sans"/>
              </a:rPr>
              <a:t>🔹 la visibilité attire la lumière, et les pierres ;</a:t>
            </a:r>
          </a:p>
          <a:p>
            <a:pPr algn="l">
              <a:lnSpc>
                <a:spcPct val="105000"/>
              </a:lnSpc>
              <a:spcAft>
                <a:spcPts val="200"/>
              </a:spcAft>
            </a:pPr>
            <a:r>
              <a:rPr sz="1000" b="0" i="0">
                <a:solidFill>
                  <a:srgbClr val="2B2A35"/>
                </a:solidFill>
                <a:latin typeface="Work Sans"/>
              </a:rPr>
              <a:t>🔹 on ne répond pas à chaque critique, on choisit ses combats ;</a:t>
            </a:r>
          </a:p>
          <a:p>
            <a:pPr algn="l">
              <a:lnSpc>
                <a:spcPct val="105000"/>
              </a:lnSpc>
              <a:spcAft>
                <a:spcPts val="200"/>
              </a:spcAft>
            </a:pPr>
            <a:r>
              <a:rPr sz="1000" b="0" i="0">
                <a:solidFill>
                  <a:srgbClr val="2B2A35"/>
                </a:solidFill>
                <a:latin typeface="Work Sans"/>
              </a:rPr>
              <a:t>🔹 l'entourage fait la différence quand le rêve vacille.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Comment gérez-vous la critique publique quand elle vous vise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L'épisode complet est sur YouTube, lien en commentaire.</a:t>
            </a:r>
          </a:p>
        </p:txBody>
      </p:sp>
      <p:pic>
        <p:nvPicPr>
          <p:cNvPr id="15" name="Picture 14" descr="ig_2026-10-21_Dew7a_Nl0hF.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 l'enregistrement avec Fatima Koné.</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L'épisode a fait 463 j'aime sur Instagram, le meilleur de Next Level ce mois-ci. Le post relie l'histoire à une leçon de leadership. Faits repris de la légende du 21 octobre.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LUNDI 2 NOVEMBRE, 8 H 30 (TRAME)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3 · lancer le projet annoncé</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Lundi 2 novembre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vous l'avais promis, le voici.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[Nom du projet] porte une partie de mon histoire, de mes convictions et de tout ce que la vie m'a appris.</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Pourquoi maintenant : [une phrase, son déclencheur personnel].</a:t>
            </a:r>
          </a:p>
          <a:p>
            <a:pPr algn="l">
              <a:lnSpc>
                <a:spcPct val="105000"/>
              </a:lnSpc>
              <a:spcAft>
                <a:spcPts val="200"/>
              </a:spcAft>
            </a:pPr>
            <a:r>
              <a:rPr sz="1000" b="0" i="0">
                <a:solidFill>
                  <a:srgbClr val="2B2A35"/>
                </a:solidFill>
                <a:latin typeface="Work Sans"/>
              </a:rPr>
              <a:t>Pour qui : [le public visé].</a:t>
            </a:r>
          </a:p>
          <a:p>
            <a:pPr algn="l">
              <a:lnSpc>
                <a:spcPct val="105000"/>
              </a:lnSpc>
              <a:spcAft>
                <a:spcPts val="200"/>
              </a:spcAft>
            </a:pPr>
            <a:r>
              <a:rPr sz="1000" b="0" i="0">
                <a:solidFill>
                  <a:srgbClr val="2B2A35"/>
                </a:solidFill>
                <a:latin typeface="Work Sans"/>
              </a:rPr>
              <a:t>Ce que vous y trouverez : [trois points concrets].</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Comme promis, les Charismatiques ont accès à la prévente jusqu'au [date] : [lien].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Merci de votre fidélité. Osez Briller ! 🙏🏽</a:t>
            </a:r>
          </a:p>
        </p:txBody>
      </p:sp>
      <p:pic>
        <p:nvPicPr>
          <p:cNvPr id="15" name="Picture 14" descr="li_2026-04-02_372.jpg"/>
          <p:cNvPicPr>
            <a:picLocks noChangeAspect="1"/>
          </p:cNvPicPr>
          <p:nvPr/>
        </p:nvPicPr>
        <p:blipFill>
          <a:blip r:embed="rId5"/>
          <a:stretch>
            <a:fillRect/>
          </a:stretch>
        </p:blipFill>
        <p:spPr>
          <a:xfrm>
            <a:off x="8222634" y="1554480"/>
            <a:ext cx="2647402"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elle, tenant ou présentant le projet (photo à prévoir).</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teasing du 16 octobre a fait 135 interactions : l'attente existe, il faut la convertir. Trame à compléter avec elle ; rien n'est inventé sur le projet.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MERCREDI 28 OCTOBRE, 19 H</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Carrousel Instagram · trois leçons de leadership</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car_n0.jpg"/>
          <p:cNvPicPr>
            <a:picLocks noChangeAspect="1"/>
          </p:cNvPicPr>
          <p:nvPr/>
        </p:nvPicPr>
        <p:blipFill>
          <a:blip r:embed="rId4"/>
          <a:stretch>
            <a:fillRect/>
          </a:stretch>
        </p:blipFill>
        <p:spPr>
          <a:xfrm>
            <a:off x="548640" y="1600200"/>
            <a:ext cx="2103120" cy="2628900"/>
          </a:xfrm>
          <a:prstGeom prst="rect">
            <a:avLst/>
          </a:prstGeom>
        </p:spPr>
      </p:pic>
      <p:pic>
        <p:nvPicPr>
          <p:cNvPr id="11" name="Picture 10" descr="car_n1.jpg"/>
          <p:cNvPicPr>
            <a:picLocks noChangeAspect="1"/>
          </p:cNvPicPr>
          <p:nvPr/>
        </p:nvPicPr>
        <p:blipFill>
          <a:blip r:embed="rId5"/>
          <a:stretch>
            <a:fillRect/>
          </a:stretch>
        </p:blipFill>
        <p:spPr>
          <a:xfrm>
            <a:off x="2788920" y="1600200"/>
            <a:ext cx="2103120" cy="2628900"/>
          </a:xfrm>
          <a:prstGeom prst="rect">
            <a:avLst/>
          </a:prstGeom>
        </p:spPr>
      </p:pic>
      <p:pic>
        <p:nvPicPr>
          <p:cNvPr id="12" name="Picture 11" descr="car_n2.jpg"/>
          <p:cNvPicPr>
            <a:picLocks noChangeAspect="1"/>
          </p:cNvPicPr>
          <p:nvPr/>
        </p:nvPicPr>
        <p:blipFill>
          <a:blip r:embed="rId6"/>
          <a:stretch>
            <a:fillRect/>
          </a:stretch>
        </p:blipFill>
        <p:spPr>
          <a:xfrm>
            <a:off x="5029200" y="1600200"/>
            <a:ext cx="2103120" cy="2628900"/>
          </a:xfrm>
          <a:prstGeom prst="rect">
            <a:avLst/>
          </a:prstGeom>
        </p:spPr>
      </p:pic>
      <p:pic>
        <p:nvPicPr>
          <p:cNvPr id="13" name="Picture 12" descr="car_n3.jpg"/>
          <p:cNvPicPr>
            <a:picLocks noChangeAspect="1"/>
          </p:cNvPicPr>
          <p:nvPr/>
        </p:nvPicPr>
        <p:blipFill>
          <a:blip r:embed="rId7"/>
          <a:stretch>
            <a:fillRect/>
          </a:stretch>
        </p:blipFill>
        <p:spPr>
          <a:xfrm>
            <a:off x="7269480" y="1600200"/>
            <a:ext cx="2103120" cy="2628900"/>
          </a:xfrm>
          <a:prstGeom prst="rect">
            <a:avLst/>
          </a:prstGeom>
        </p:spPr>
      </p:pic>
      <p:pic>
        <p:nvPicPr>
          <p:cNvPr id="14" name="Picture 13" descr="car_n4.jpg"/>
          <p:cNvPicPr>
            <a:picLocks noChangeAspect="1"/>
          </p:cNvPicPr>
          <p:nvPr/>
        </p:nvPicPr>
        <p:blipFill>
          <a:blip r:embed="rId8"/>
          <a:stretch>
            <a:fillRect/>
          </a:stretch>
        </p:blipFill>
        <p:spPr>
          <a:xfrm>
            <a:off x="9509760" y="1600200"/>
            <a:ext cx="2103120" cy="2628900"/>
          </a:xfrm>
          <a:prstGeom prst="rect">
            <a:avLst/>
          </a:prstGeom>
        </p:spPr>
      </p:pic>
      <p:sp>
        <p:nvSpPr>
          <p:cNvPr id="15" name="Rounded Rectangle 14"/>
          <p:cNvSpPr/>
          <p:nvPr/>
        </p:nvSpPr>
        <p:spPr>
          <a:xfrm>
            <a:off x="548640" y="4434840"/>
            <a:ext cx="6675120"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599431"/>
            <a:ext cx="54864" cy="1362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n-tool_b.png"/>
          <p:cNvPicPr>
            <a:picLocks noChangeAspect="1"/>
          </p:cNvPicPr>
          <p:nvPr/>
        </p:nvPicPr>
        <p:blipFill>
          <a:blip r:embed="rId9"/>
          <a:stretch>
            <a:fillRect/>
          </a:stretch>
        </p:blipFill>
        <p:spPr>
          <a:xfrm>
            <a:off x="777240" y="4617720"/>
            <a:ext cx="384048" cy="384048"/>
          </a:xfrm>
          <a:prstGeom prst="rect">
            <a:avLst/>
          </a:prstGeom>
        </p:spPr>
      </p:pic>
      <p:sp>
        <p:nvSpPr>
          <p:cNvPr id="18" name="TextBox 17"/>
          <p:cNvSpPr txBox="1"/>
          <p:nvPr/>
        </p:nvSpPr>
        <p:spPr>
          <a:xfrm>
            <a:off x="1280160" y="4617720"/>
            <a:ext cx="576072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Légende proposée</a:t>
            </a:r>
          </a:p>
        </p:txBody>
      </p:sp>
      <p:sp>
        <p:nvSpPr>
          <p:cNvPr id="19" name="TextBox 18"/>
          <p:cNvSpPr txBox="1"/>
          <p:nvPr/>
        </p:nvSpPr>
        <p:spPr>
          <a:xfrm>
            <a:off x="777240" y="5148072"/>
            <a:ext cx="6263640"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Trente ans entre les télécoms, l'entreprise et la scène. Si je ne devais garder que trois leçons, ce seraient celles-ci 🙏🏽 Laquelle vous parle le plus ? Dites-le-moi en commentaire. #OsezBriller #leadership</a:t>
            </a:r>
          </a:p>
        </p:txBody>
      </p:sp>
      <p:sp>
        <p:nvSpPr>
          <p:cNvPr id="20" name="Rounded Rectangle 19"/>
          <p:cNvSpPr/>
          <p:nvPr/>
        </p:nvSpPr>
        <p:spPr>
          <a:xfrm>
            <a:off x="7360920" y="4434840"/>
            <a:ext cx="4279392"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4599431"/>
            <a:ext cx="54864" cy="13624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ightbulb_b.png"/>
          <p:cNvPicPr>
            <a:picLocks noChangeAspect="1"/>
          </p:cNvPicPr>
          <p:nvPr/>
        </p:nvPicPr>
        <p:blipFill>
          <a:blip r:embed="rId10"/>
          <a:stretch>
            <a:fillRect/>
          </a:stretch>
        </p:blipFill>
        <p:spPr>
          <a:xfrm>
            <a:off x="7589520" y="4617720"/>
            <a:ext cx="384048" cy="384048"/>
          </a:xfrm>
          <a:prstGeom prst="rect">
            <a:avLst/>
          </a:prstGeom>
        </p:spPr>
      </p:pic>
      <p:sp>
        <p:nvSpPr>
          <p:cNvPr id="23" name="TextBox 22"/>
          <p:cNvSpPr txBox="1"/>
          <p:nvPr/>
        </p:nvSpPr>
        <p:spPr>
          <a:xfrm>
            <a:off x="8092440" y="4617720"/>
            <a:ext cx="33649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Pourquoi</a:t>
            </a:r>
          </a:p>
        </p:txBody>
      </p:sp>
      <p:sp>
        <p:nvSpPr>
          <p:cNvPr id="24" name="TextBox 23"/>
          <p:cNvSpPr txBox="1"/>
          <p:nvPr/>
        </p:nvSpPr>
        <p:spPr>
          <a:xfrm>
            <a:off x="7589520" y="5148072"/>
            <a:ext cx="3867911"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trois leçons viennent de son post « Mes leçons de vie 2025 » (362 interactions). Elle est à l'image sur chaque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PREMIER LOT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 calendrier des deux prochaines semaines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9" name="Table 8"/>
          <p:cNvGraphicFramePr>
            <a:graphicFrameLocks noGrp="1"/>
          </p:cNvGraphicFramePr>
          <p:nvPr/>
        </p:nvGraphicFramePr>
        <p:xfrm>
          <a:off x="548640" y="1645920"/>
          <a:ext cx="11091672" cy="4096512"/>
        </p:xfrm>
        <a:graphic>
          <a:graphicData uri="http://schemas.openxmlformats.org/drawingml/2006/table">
            <a:tbl>
              <a:tblPr firstRow="1" bandRow="1">
                <a:tableStyleId>{5C22544A-7EE6-4342-B048-85BDC9FD1C3A}</a:tableStyleId>
              </a:tblPr>
              <a:tblGrid>
                <a:gridCol w="2194560"/>
                <a:gridCol w="1463040"/>
                <a:gridCol w="5513832"/>
                <a:gridCol w="1920240"/>
              </a:tblGrid>
              <a:tr h="512064">
                <a:tc>
                  <a:txBody>
                    <a:bodyPr wrap="square"/>
                    <a:lstStyle/>
                    <a:p>
                      <a:r>
                        <a:rPr sz="1100" b="1">
                          <a:solidFill>
                            <a:srgbClr val="FFFFFF"/>
                          </a:solidFill>
                          <a:latin typeface="Work Sans"/>
                        </a:rPr>
                        <a:t>Date</a:t>
                      </a:r>
                    </a:p>
                  </a:txBody>
                  <a:tcPr marL="73152" marR="73152" marT="36576" marB="36576" anchor="ctr">
                    <a:solidFill>
                      <a:srgbClr val="232754"/>
                    </a:solidFill>
                  </a:tcPr>
                </a:tc>
                <a:tc>
                  <a:txBody>
                    <a:bodyPr wrap="square"/>
                    <a:lstStyle/>
                    <a:p>
                      <a:r>
                        <a:rPr sz="1100" b="1">
                          <a:solidFill>
                            <a:srgbClr val="FFFFFF"/>
                          </a:solidFill>
                          <a:latin typeface="Work Sans"/>
                        </a:rPr>
                        <a:t>Réseau</a:t>
                      </a:r>
                    </a:p>
                  </a:txBody>
                  <a:tcPr marL="73152" marR="73152" marT="36576" marB="36576" anchor="ctr">
                    <a:solidFill>
                      <a:srgbClr val="232754"/>
                    </a:solidFill>
                  </a:tcPr>
                </a:tc>
                <a:tc>
                  <a:txBody>
                    <a:bodyPr wrap="square"/>
                    <a:lstStyle/>
                    <a:p>
                      <a:r>
                        <a:rPr sz="1100" b="1">
                          <a:solidFill>
                            <a:srgbClr val="FFFFFF"/>
                          </a:solidFill>
                          <a:latin typeface="Work Sans"/>
                        </a:rPr>
                        <a:t>Publication</a:t>
                      </a:r>
                    </a:p>
                  </a:txBody>
                  <a:tcPr marL="73152" marR="73152" marT="36576" marB="36576" anchor="ctr">
                    <a:solidFill>
                      <a:srgbClr val="232754"/>
                    </a:solidFill>
                  </a:tcPr>
                </a:tc>
                <a:tc>
                  <a:txBody>
                    <a:bodyPr wrap="square"/>
                    <a:lstStyle/>
                    <a:p>
                      <a:r>
                        <a:rPr sz="1100" b="1">
                          <a:solidFill>
                            <a:srgbClr val="FFFFFF"/>
                          </a:solidFill>
                          <a:latin typeface="Work Sans"/>
                        </a:rPr>
                        <a:t>Statut</a:t>
                      </a:r>
                    </a:p>
                  </a:txBody>
                  <a:tcPr marL="73152" marR="73152" marT="36576" marB="36576" anchor="ctr">
                    <a:solidFill>
                      <a:srgbClr val="232754"/>
                    </a:solidFill>
                  </a:tcPr>
                </a:tc>
              </a:tr>
              <a:tr h="512064">
                <a:tc>
                  <a:txBody>
                    <a:bodyPr wrap="square"/>
                    <a:lstStyle/>
                    <a:p>
                      <a:r>
                        <a:rPr sz="1100" b="0">
                          <a:solidFill>
                            <a:srgbClr val="2B2A35"/>
                          </a:solidFill>
                          <a:latin typeface="Work Sans"/>
                        </a:rPr>
                        <a:t>Lun. 26 oct. · 8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Post n° 1 · le jour où mon corps a dit stop</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Lun. 26 oct.</a:t>
                      </a:r>
                    </a:p>
                  </a:txBody>
                  <a:tcPr marL="73152" marR="73152" marT="36576" marB="36576" anchor="ctr">
                    <a:solidFill>
                      <a:srgbClr val="F7F8FA"/>
                    </a:solidFill>
                  </a:tcPr>
                </a:tc>
                <a:tc>
                  <a:txBody>
                    <a:bodyPr wrap="square"/>
                    <a:lstStyle/>
                    <a:p>
                      <a:r>
                        <a:rPr sz="1100" b="0">
                          <a:solidFill>
                            <a:srgbClr val="2B2A35"/>
                          </a:solidFill>
                          <a:latin typeface="Work Sans"/>
                        </a:rPr>
                        <a:t>Les deux</a:t>
                      </a:r>
                    </a:p>
                  </a:txBody>
                  <a:tcPr marL="73152" marR="73152" marT="36576" marB="36576" anchor="ctr">
                    <a:solidFill>
                      <a:srgbClr val="F7F8FA"/>
                    </a:solidFill>
                  </a:tcPr>
                </a:tc>
                <a:tc>
                  <a:txBody>
                    <a:bodyPr wrap="square"/>
                    <a:lstStyle/>
                    <a:p>
                      <a:r>
                        <a:rPr sz="1100" b="0">
                          <a:solidFill>
                            <a:srgbClr val="2B2A35"/>
                          </a:solidFill>
                          <a:latin typeface="Work Sans"/>
                        </a:rPr>
                        <a:t>Nouveau titre LinkedIn, section « À la une », nouvelle bio Instagram</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Mer. 28 oct. · 19 h</a:t>
                      </a:r>
                    </a:p>
                  </a:txBody>
                  <a:tcPr marL="73152" marR="73152" marT="36576" marB="36576" anchor="ctr">
                    <a:solidFill>
                      <a:srgbClr val="FFFFFF"/>
                    </a:solidFill>
                  </a:tcPr>
                </a:tc>
                <a:tc>
                  <a:txBody>
                    <a:bodyPr wrap="square"/>
                    <a:lstStyle/>
                    <a:p>
                      <a:r>
                        <a:rPr sz="1100" b="0">
                          <a:solidFill>
                            <a:srgbClr val="2B2A35"/>
                          </a:solidFill>
                          <a:latin typeface="Work Sans"/>
                        </a:rPr>
                        <a:t>Instagram</a:t>
                      </a:r>
                    </a:p>
                  </a:txBody>
                  <a:tcPr marL="73152" marR="73152" marT="36576" marB="36576" anchor="ctr">
                    <a:solidFill>
                      <a:srgbClr val="FFFFFF"/>
                    </a:solidFill>
                  </a:tcPr>
                </a:tc>
                <a:tc>
                  <a:txBody>
                    <a:bodyPr wrap="square"/>
                    <a:lstStyle/>
                    <a:p>
                      <a:r>
                        <a:rPr sz="1100" b="0">
                          <a:solidFill>
                            <a:srgbClr val="2B2A35"/>
                          </a:solidFill>
                          <a:latin typeface="Work Sans"/>
                        </a:rPr>
                        <a:t>Carrousel « Trois leçons de trente ans de leadership »</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Jeu. 29 oct. · 12 h 30</a:t>
                      </a:r>
                    </a:p>
                  </a:txBody>
                  <a:tcPr marL="73152" marR="73152" marT="36576" marB="36576" anchor="ctr">
                    <a:solidFill>
                      <a:srgbClr val="F7F8FA"/>
                    </a:solidFill>
                  </a:tcPr>
                </a:tc>
                <a:tc>
                  <a:txBody>
                    <a:bodyPr wrap="square"/>
                    <a:lstStyle/>
                    <a:p>
                      <a:r>
                        <a:rPr sz="1100" b="0">
                          <a:solidFill>
                            <a:srgbClr val="2B2A35"/>
                          </a:solidFill>
                          <a:latin typeface="Work Sans"/>
                        </a:rPr>
                        <a:t>LinkedIn</a:t>
                      </a:r>
                    </a:p>
                  </a:txBody>
                  <a:tcPr marL="73152" marR="73152" marT="36576" marB="36576" anchor="ctr">
                    <a:solidFill>
                      <a:srgbClr val="F7F8FA"/>
                    </a:solidFill>
                  </a:tcPr>
                </a:tc>
                <a:tc>
                  <a:txBody>
                    <a:bodyPr wrap="square"/>
                    <a:lstStyle/>
                    <a:p>
                      <a:r>
                        <a:rPr sz="1100" b="0">
                          <a:solidFill>
                            <a:srgbClr val="2B2A35"/>
                          </a:solidFill>
                          <a:latin typeface="Work Sans"/>
                        </a:rPr>
                        <a:t>Post n° 2 · Miss Côte d'Ivoire et la critique</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Ven. 30 oct. · 19 h</a:t>
                      </a:r>
                    </a:p>
                  </a:txBody>
                  <a:tcPr marL="73152" marR="73152" marT="36576" marB="36576" anchor="ctr">
                    <a:solidFill>
                      <a:srgbClr val="FFFFFF"/>
                    </a:solidFill>
                  </a:tcPr>
                </a:tc>
                <a:tc>
                  <a:txBody>
                    <a:bodyPr wrap="square"/>
                    <a:lstStyle/>
                    <a:p>
                      <a:r>
                        <a:rPr sz="1100" b="0">
                          <a:solidFill>
                            <a:srgbClr val="2B2A35"/>
                          </a:solidFill>
                          <a:latin typeface="Work Sans"/>
                        </a:rPr>
                        <a:t>Instagram</a:t>
                      </a:r>
                    </a:p>
                  </a:txBody>
                  <a:tcPr marL="73152" marR="73152" marT="36576" marB="36576" anchor="ctr">
                    <a:solidFill>
                      <a:srgbClr val="FFFFFF"/>
                    </a:solidFill>
                  </a:tcPr>
                </a:tc>
                <a:tc>
                  <a:txBody>
                    <a:bodyPr wrap="square"/>
                    <a:lstStyle/>
                    <a:p>
                      <a:r>
                        <a:rPr sz="1100" b="0">
                          <a:solidFill>
                            <a:srgbClr val="2B2A35"/>
                          </a:solidFill>
                          <a:latin typeface="Work Sans"/>
                        </a:rPr>
                        <a:t>Extrait vidéo de 30 secondes d'une masterclass, publié chez elle</a:t>
                      </a:r>
                    </a:p>
                  </a:txBody>
                  <a:tcPr marL="73152" marR="73152" marT="36576" marB="36576" anchor="ctr">
                    <a:solidFill>
                      <a:srgbClr val="FFFFFF"/>
                    </a:solidFill>
                  </a:tcPr>
                </a:tc>
                <a:tc>
                  <a:txBody>
                    <a:bodyPr wrap="square"/>
                    <a:lstStyle/>
                    <a:p>
                      <a:r>
                        <a:rPr sz="1100" b="0">
                          <a:solidFill>
                            <a:srgbClr val="2B2A35"/>
                          </a:solidFill>
                          <a:latin typeface="Work Sans"/>
                        </a:rPr>
                        <a:t>Extrait à choisir</a:t>
                      </a:r>
                    </a:p>
                  </a:txBody>
                  <a:tcPr marL="73152" marR="73152" marT="36576" marB="36576" anchor="ctr">
                    <a:solidFill>
                      <a:srgbClr val="FFFFFF"/>
                    </a:solidFill>
                  </a:tcPr>
                </a:tc>
              </a:tr>
              <a:tr h="512064">
                <a:tc>
                  <a:txBody>
                    <a:bodyPr wrap="square"/>
                    <a:lstStyle/>
                    <a:p>
                      <a:r>
                        <a:rPr sz="1100" b="0">
                          <a:solidFill>
                            <a:srgbClr val="2B2A35"/>
                          </a:solidFill>
                          <a:latin typeface="Work Sans"/>
                        </a:rPr>
                        <a:t>Lun. 2 nov. · 8 h 30</a:t>
                      </a:r>
                    </a:p>
                  </a:txBody>
                  <a:tcPr marL="73152" marR="73152" marT="36576" marB="36576" anchor="ctr">
                    <a:solidFill>
                      <a:srgbClr val="F7F8FA"/>
                    </a:solidFill>
                  </a:tcPr>
                </a:tc>
                <a:tc>
                  <a:txBody>
                    <a:bodyPr wrap="square"/>
                    <a:lstStyle/>
                    <a:p>
                      <a:r>
                        <a:rPr sz="1100" b="0">
                          <a:solidFill>
                            <a:srgbClr val="2B2A35"/>
                          </a:solidFill>
                          <a:latin typeface="Work Sans"/>
                        </a:rPr>
                        <a:t>Les deux</a:t>
                      </a:r>
                    </a:p>
                  </a:txBody>
                  <a:tcPr marL="73152" marR="73152" marT="36576" marB="36576" anchor="ctr">
                    <a:solidFill>
                      <a:srgbClr val="F7F8FA"/>
                    </a:solidFill>
                  </a:tcPr>
                </a:tc>
                <a:tc>
                  <a:txBody>
                    <a:bodyPr wrap="square"/>
                    <a:lstStyle/>
                    <a:p>
                      <a:r>
                        <a:rPr sz="1100" b="0">
                          <a:solidFill>
                            <a:srgbClr val="2B2A35"/>
                          </a:solidFill>
                          <a:latin typeface="Work Sans"/>
                        </a:rPr>
                        <a:t>Post n° 3 · lancement du projet annoncé le 16 octobre</a:t>
                      </a:r>
                    </a:p>
                  </a:txBody>
                  <a:tcPr marL="73152" marR="73152" marT="36576" marB="36576" anchor="ctr">
                    <a:solidFill>
                      <a:srgbClr val="F7F8FA"/>
                    </a:solidFill>
                  </a:tcPr>
                </a:tc>
                <a:tc>
                  <a:txBody>
                    <a:bodyPr wrap="square"/>
                    <a:lstStyle/>
                    <a:p>
                      <a:r>
                        <a:rPr sz="1100" b="0">
                          <a:solidFill>
                            <a:srgbClr val="2B2A35"/>
                          </a:solidFill>
                          <a:latin typeface="Work Sans"/>
                        </a:rPr>
                        <a:t>À compléter avec elle</a:t>
                      </a:r>
                    </a:p>
                  </a:txBody>
                  <a:tcPr marL="73152" marR="73152" marT="36576" marB="36576" anchor="ctr">
                    <a:solidFill>
                      <a:srgbClr val="F7F8FA"/>
                    </a:solidFill>
                  </a:tcPr>
                </a:tc>
              </a:tr>
              <a:tr h="512064">
                <a:tc>
                  <a:txBody>
                    <a:bodyPr wrap="square"/>
                    <a:lstStyle/>
                    <a:p>
                      <a:r>
                        <a:rPr sz="1100" b="0">
                          <a:solidFill>
                            <a:srgbClr val="2B2A35"/>
                          </a:solidFill>
                          <a:latin typeface="Work Sans"/>
                        </a:rPr>
                        <a:t>Jeu. 5 nov. · 12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Une idée de leadership tirée d'une mission NFA</a:t>
                      </a:r>
                    </a:p>
                  </a:txBody>
                  <a:tcPr marL="73152" marR="73152" marT="36576" marB="36576" anchor="ctr">
                    <a:solidFill>
                      <a:srgbClr val="FFFFFF"/>
                    </a:solidFill>
                  </a:tcPr>
                </a:tc>
                <a:tc>
                  <a:txBody>
                    <a:bodyPr wrap="square"/>
                    <a:lstStyle/>
                    <a:p>
                      <a:r>
                        <a:rPr sz="1100" b="0">
                          <a:solidFill>
                            <a:srgbClr val="2B2A35"/>
                          </a:solidFill>
                          <a:latin typeface="Work Sans"/>
                        </a:rPr>
                        <a:t>À écrire avec elle</a:t>
                      </a:r>
                    </a:p>
                  </a:txBody>
                  <a:tcPr marL="73152" marR="73152" marT="36576" marB="36576" anchor="ctr">
                    <a:solidFill>
                      <a:srgbClr val="FFFFFF"/>
                    </a:solidFill>
                  </a:tcPr>
                </a:tc>
              </a:tr>
            </a:tbl>
          </a:graphicData>
        </a:graphic>
      </p:graphicFrame>
      <p:sp>
        <p:nvSpPr>
          <p:cNvPr id="10" name="TextBox 9"/>
          <p:cNvSpPr txBox="1"/>
          <p:nvPr/>
        </p:nvSpPr>
        <p:spPr>
          <a:xfrm>
            <a:off x="548640" y="5852160"/>
            <a:ext cx="11091672" cy="36576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232754"/>
                </a:solidFill>
                <a:latin typeface="Work Sans"/>
              </a:rPr>
              <a:t>Rien n'est publié sans son accord écrit.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COMMENT CE DOCUMENT A ÉTÉ FAIT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Méthode et limites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r-chart-3_b.png"/>
          <p:cNvPicPr>
            <a:picLocks noChangeAspect="1"/>
          </p:cNvPicPr>
          <p:nvPr/>
        </p:nvPicPr>
        <p:blipFill>
          <a:blip r:embed="rId3"/>
          <a:stretch>
            <a:fillRect/>
          </a:stretch>
        </p:blipFill>
        <p:spPr>
          <a:xfrm>
            <a:off x="777240" y="1828800"/>
            <a:ext cx="384048" cy="384048"/>
          </a:xfrm>
          <a:prstGeom prst="rect">
            <a:avLst/>
          </a:prstGeom>
        </p:spPr>
      </p:pic>
      <p:sp>
        <p:nvSpPr>
          <p:cNvPr id="12" name="TextBox 11"/>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a été relevé</a:t>
            </a:r>
          </a:p>
        </p:txBody>
      </p:sp>
      <p:sp>
        <p:nvSpPr>
          <p:cNvPr id="13" name="TextBox 12"/>
          <p:cNvSpPr txBox="1"/>
          <p:nvPr/>
        </p:nvSpPr>
        <p:spPr>
          <a:xfrm>
            <a:off x="777240"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Profil et posts LinkedIn du 1er janvier au 23 octobre 2026 : 49 posts, dont 41 écrits par elle et 8 partages sans texte, écartés des médianes.</a:t>
            </a:r>
          </a:p>
          <a:p>
            <a:pPr algn="l">
              <a:lnSpc>
                <a:spcPct val="110000"/>
              </a:lnSpc>
              <a:spcAft>
                <a:spcPts val="400"/>
              </a:spcAft>
            </a:pPr>
            <a:r>
              <a:rPr sz="1050" b="0" i="0">
                <a:solidFill>
                  <a:srgbClr val="2B2A35"/>
                </a:solidFill>
                <a:latin typeface="Work Sans"/>
              </a:rPr>
              <a:t>Profil Instagram et 46 publications 2026 visibles sur son profil : 3 à elle, 43 en collaboration.</a:t>
            </a:r>
          </a:p>
          <a:p>
            <a:pPr algn="l">
              <a:lnSpc>
                <a:spcPct val="110000"/>
              </a:lnSpc>
              <a:spcAft>
                <a:spcPts val="400"/>
              </a:spcAft>
            </a:pPr>
            <a:r>
              <a:rPr sz="1050" b="0" i="0">
                <a:solidFill>
                  <a:srgbClr val="2B2A35"/>
                </a:solidFill>
                <a:latin typeface="Work Sans"/>
              </a:rPr>
              <a:t>Profils et publications de cinq pairs sur LinkedIn et Instagram.</a:t>
            </a:r>
          </a:p>
          <a:p>
            <a:pPr algn="l">
              <a:lnSpc>
                <a:spcPct val="110000"/>
              </a:lnSpc>
              <a:spcAft>
                <a:spcPts val="400"/>
              </a:spcAft>
            </a:pPr>
            <a:r>
              <a:rPr sz="1050" b="0" i="0">
                <a:solidFill>
                  <a:srgbClr val="2B2A35"/>
                </a:solidFill>
                <a:latin typeface="Work Sans"/>
              </a:rPr>
              <a:t>Les mesures : réactions, commentaires et partages sur LinkedIn ; j'aime, commentaires et vues sur Instagram. On compare des médianes.</a:t>
            </a:r>
          </a:p>
        </p:txBody>
      </p:sp>
      <p:sp>
        <p:nvSpPr>
          <p:cNvPr id="14" name="Rounded Rectangle 13"/>
          <p:cNvSpPr/>
          <p:nvPr/>
        </p:nvSpPr>
        <p:spPr>
          <a:xfrm>
            <a:off x="6153912"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810512"/>
            <a:ext cx="54864" cy="4151376"/>
          </a:xfrm>
          <a:prstGeom prst="rect">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lert-triangle_b.png"/>
          <p:cNvPicPr>
            <a:picLocks noChangeAspect="1"/>
          </p:cNvPicPr>
          <p:nvPr/>
        </p:nvPicPr>
        <p:blipFill>
          <a:blip r:embed="rId4"/>
          <a:stretch>
            <a:fillRect/>
          </a:stretch>
        </p:blipFill>
        <p:spPr>
          <a:xfrm>
            <a:off x="6382512" y="1828800"/>
            <a:ext cx="384048" cy="384048"/>
          </a:xfrm>
          <a:prstGeom prst="rect">
            <a:avLst/>
          </a:prstGeom>
        </p:spPr>
      </p:pic>
      <p:sp>
        <p:nvSpPr>
          <p:cNvPr id="17" name="TextBox 16"/>
          <p:cNvSpPr txBox="1"/>
          <p:nvPr/>
        </p:nvSpPr>
        <p:spPr>
          <a:xfrm>
            <a:off x="6885432"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manque</a:t>
            </a:r>
          </a:p>
        </p:txBody>
      </p:sp>
      <p:sp>
        <p:nvSpPr>
          <p:cNvPr id="18" name="TextBox 17"/>
          <p:cNvSpPr txBox="1"/>
          <p:nvPr/>
        </p:nvSpPr>
        <p:spPr>
          <a:xfrm>
            <a:off x="6382512"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statistiques privées : portée, visites, nouveaux abonnés, enregistrements.</a:t>
            </a:r>
          </a:p>
          <a:p>
            <a:pPr algn="l">
              <a:lnSpc>
                <a:spcPct val="110000"/>
              </a:lnSpc>
              <a:spcAft>
                <a:spcPts val="400"/>
              </a:spcAft>
            </a:pPr>
            <a:r>
              <a:rPr sz="1050" b="0" i="0">
                <a:solidFill>
                  <a:srgbClr val="2B2A35"/>
                </a:solidFill>
                <a:latin typeface="Work Sans"/>
              </a:rPr>
              <a:t>Sa chaîne YouTube n'a pas été analysée ; le chiffre de 100 000 abonnés vient de son post du 29 mars.</a:t>
            </a:r>
          </a:p>
          <a:p>
            <a:pPr algn="l">
              <a:lnSpc>
                <a:spcPct val="110000"/>
              </a:lnSpc>
              <a:spcAft>
                <a:spcPts val="400"/>
              </a:spcAft>
            </a:pPr>
            <a:r>
              <a:rPr sz="1050" b="0" i="0">
                <a:solidFill>
                  <a:srgbClr val="2B2A35"/>
                </a:solidFill>
                <a:latin typeface="Work Sans"/>
              </a:rPr>
              <a:t>Les sujets et les formats ont été classés par nos soins à la lecture de chaque post.</a:t>
            </a:r>
          </a:p>
          <a:p>
            <a:pPr algn="l">
              <a:lnSpc>
                <a:spcPct val="110000"/>
              </a:lnSpc>
              <a:spcAft>
                <a:spcPts val="400"/>
              </a:spcAft>
            </a:pPr>
            <a:r>
              <a:rPr sz="1050" b="0" i="0">
                <a:solidFill>
                  <a:srgbClr val="2B2A35"/>
                </a:solidFill>
                <a:latin typeface="Work Sans"/>
              </a:rPr>
              <a:t>Les pairs ont été choisis par nos soins ; la comparaison peut être refaite sur une liste qu'elle valide.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1-01_DS82_htkSmC_1.78_0.25_sombre.jpg"/>
          <p:cNvPicPr>
            <a:picLocks noChangeAspect="1"/>
          </p:cNvPicPr>
          <p:nvPr/>
        </p:nvPicPr>
        <p:blipFill>
          <a:blip r:embed="rId2"/>
          <a:stretch>
            <a:fillRect/>
          </a:stretch>
        </p:blipFill>
        <p:spPr>
          <a:xfrm>
            <a:off x="0" y="0"/>
            <a:ext cx="12191695" cy="6858000"/>
          </a:xfrm>
          <a:prstGeom prst="rect">
            <a:avLst/>
          </a:prstGeom>
        </p:spPr>
      </p:pic>
      <p:pic>
        <p:nvPicPr>
          <p:cNvPr id="3" name="Picture 2" descr="logo_mstudio_blanc_transparent.png"/>
          <p:cNvPicPr>
            <a:picLocks noChangeAspect="1"/>
          </p:cNvPicPr>
          <p:nvPr/>
        </p:nvPicPr>
        <p:blipFill>
          <a:blip r:embed="rId3"/>
          <a:stretch>
            <a:fillRect/>
          </a:stretch>
        </p:blipFill>
        <p:spPr>
          <a:xfrm>
            <a:off x="822960" y="640080"/>
            <a:ext cx="1572249" cy="411480"/>
          </a:xfrm>
          <a:prstGeom prst="rect">
            <a:avLst/>
          </a:prstGeom>
        </p:spPr>
      </p:pic>
      <p:sp>
        <p:nvSpPr>
          <p:cNvPr id="4" name="TextBox 3"/>
          <p:cNvSpPr txBox="1"/>
          <p:nvPr/>
        </p:nvSpPr>
        <p:spPr>
          <a:xfrm>
            <a:off x="822960" y="2103120"/>
            <a:ext cx="10607040" cy="1463040"/>
          </a:xfrm>
          <a:prstGeom prst="rect">
            <a:avLst/>
          </a:prstGeom>
          <a:noFill/>
        </p:spPr>
        <p:txBody>
          <a:bodyPr wrap="square" anchor="b" lIns="18288" rIns="18288" tIns="18288" bIns="18288">
            <a:spAutoFit/>
          </a:bodyPr>
          <a:lstStyle/>
          <a:p>
            <a:pPr algn="l">
              <a:lnSpc>
                <a:spcPct val="100000"/>
              </a:lnSpc>
              <a:spcAft>
                <a:spcPts val="400"/>
              </a:spcAft>
            </a:pPr>
            <a:r>
              <a:rPr sz="3800" b="1" i="0">
                <a:solidFill>
                  <a:srgbClr val="FFFFFF"/>
                </a:solidFill>
                <a:latin typeface="Funnel Display"/>
              </a:rPr>
              <a:t>Inspire. Impacte. Brille.</a:t>
            </a:r>
          </a:p>
        </p:txBody>
      </p:sp>
      <p:sp>
        <p:nvSpPr>
          <p:cNvPr id="5" name="TextBox 4"/>
          <p:cNvSpPr txBox="1"/>
          <p:nvPr/>
        </p:nvSpPr>
        <p:spPr>
          <a:xfrm>
            <a:off x="822960" y="3657600"/>
            <a:ext cx="10058400" cy="457200"/>
          </a:xfrm>
          <a:prstGeom prst="rect">
            <a:avLst/>
          </a:prstGeom>
          <a:noFill/>
        </p:spPr>
        <p:txBody>
          <a:bodyPr wrap="square" anchor="t" lIns="18288" rIns="18288" tIns="18288" bIns="18288">
            <a:spAutoFit/>
          </a:bodyPr>
          <a:lstStyle/>
          <a:p>
            <a:pPr algn="l">
              <a:lnSpc>
                <a:spcPct val="112000"/>
              </a:lnSpc>
              <a:spcAft>
                <a:spcPts val="400"/>
              </a:spcAft>
            </a:pPr>
            <a:r>
              <a:rPr sz="1500" b="0" i="0">
                <a:solidFill>
                  <a:srgbClr val="DCE3F2"/>
                </a:solidFill>
                <a:latin typeface="Work Sans"/>
              </a:rPr>
              <a:t>La suite : valider le premier lot, puis un relevé tous les mois.</a:t>
            </a:r>
          </a:p>
        </p:txBody>
      </p:sp>
      <p:pic>
        <p:nvPicPr>
          <p:cNvPr id="6" name="Picture 5" descr="linkedin_w.png"/>
          <p:cNvPicPr>
            <a:picLocks noChangeAspect="1"/>
          </p:cNvPicPr>
          <p:nvPr/>
        </p:nvPicPr>
        <p:blipFill>
          <a:blip r:embed="rId4"/>
          <a:stretch>
            <a:fillRect/>
          </a:stretch>
        </p:blipFill>
        <p:spPr>
          <a:xfrm>
            <a:off x="822960" y="4206240"/>
            <a:ext cx="329184" cy="329184"/>
          </a:xfrm>
          <a:prstGeom prst="rect">
            <a:avLst/>
          </a:prstGeom>
        </p:spPr>
      </p:pic>
      <p:sp>
        <p:nvSpPr>
          <p:cNvPr id="7" name="TextBox 6"/>
          <p:cNvSpPr txBox="1"/>
          <p:nvPr/>
        </p:nvSpPr>
        <p:spPr>
          <a:xfrm>
            <a:off x="1280160" y="42336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linkedin.com/in/naboufall</a:t>
            </a:r>
          </a:p>
        </p:txBody>
      </p:sp>
      <p:pic>
        <p:nvPicPr>
          <p:cNvPr id="8" name="Picture 7" descr="instagram_w.png"/>
          <p:cNvPicPr>
            <a:picLocks noChangeAspect="1"/>
          </p:cNvPicPr>
          <p:nvPr/>
        </p:nvPicPr>
        <p:blipFill>
          <a:blip r:embed="rId5"/>
          <a:stretch>
            <a:fillRect/>
          </a:stretch>
        </p:blipFill>
        <p:spPr>
          <a:xfrm>
            <a:off x="822960" y="4663440"/>
            <a:ext cx="329184" cy="329184"/>
          </a:xfrm>
          <a:prstGeom prst="rect">
            <a:avLst/>
          </a:prstGeom>
        </p:spPr>
      </p:pic>
      <p:sp>
        <p:nvSpPr>
          <p:cNvPr id="9" name="TextBox 8"/>
          <p:cNvSpPr txBox="1"/>
          <p:nvPr/>
        </p:nvSpPr>
        <p:spPr>
          <a:xfrm>
            <a:off x="1280160" y="46908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instagram.com/naboufallofficiel</a:t>
            </a:r>
          </a:p>
        </p:txBody>
      </p:sp>
      <p:sp>
        <p:nvSpPr>
          <p:cNvPr id="10" name="TextBox 9"/>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45</a:t>
            </a:r>
          </a:p>
        </p:txBody>
      </p:sp>
      <p:sp>
        <p:nvSpPr>
          <p:cNvPr id="11" name="TextBox 10"/>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