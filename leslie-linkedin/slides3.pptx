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_diaspo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0"/>
            <a:ext cx="4937760" cy="6858000"/>
          </a:xfrm>
          <a:prstGeom prst="rect">
            <a:avLst/>
          </a:prstGeom>
        </p:spPr>
      </p:pic>
      <p:pic>
        <p:nvPicPr>
          <p:cNvPr id="4" name="Picture 3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572249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ED4"/>
                </a:solidFill>
                <a:latin typeface="Space Grotesk"/>
              </a:rPr>
              <a:t>ANALYSE ET VEILLE DES 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64008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Funnel Display"/>
              </a:rPr>
              <a:t>Leslie Ossété sur LinkedIn et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6217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Work Sans"/>
              </a:rPr>
              <a:t>Ce qui marche, ce qui freine, comment elle se situe face à six dirigeantes de l'écosystème, et quoi faire en novembre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49240"/>
            <a:ext cx="1097280" cy="36576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B9C3D6"/>
                </a:solidFill>
                <a:latin typeface="Work Sans"/>
              </a:rPr>
              <a:t>Du 1er janvier au 24 octobre 2026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B9C3D6"/>
                </a:solidFill>
                <a:latin typeface="Work Sans"/>
              </a:rPr>
              <a:t>Relevé du 24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PÉRIMÈTRE ET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Ce que nous avons regardé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LinkedIn de Leslie, du 12 janvier au 7 octobre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Instagram où elle apparaît, dont 11 sur son propre compte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de la page Mstudio, comme repère interne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37360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06039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dirigeantes de l'écosystème africain comparées, 114 publications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1091672" cy="21945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Comment lire les chiffres.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Une « interaction » est une réaction, un commentaire ou un partage. Nous retenons la médiane (la publication du milieu) plutôt que la moyenne, pour qu'un succès isolé ne fausse pas la lecture.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Ce qui n'est pas dedans.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La portée, les visites du profil et les abonnés gagnés ne se voient que depuis le compte de Leslie. Une capture de ses statistiques LinkedIn et Instagram suffirait à compléter.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Sources.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Profils publics linkedin.com/in/leslieossete et instagram.com/leslieossete, relevés le 24 octobre 2026. Les publications récentes peuvent encore progresser.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Trois points à retenir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3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566160" cy="73152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interactions par publication sur LinkedIn, contre 55 pour la page Mstudio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Leslie est la voix la plus écoutée de Mstudio. Cédric n'a publié que deux partages depuis janvier.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737360"/>
            <a:ext cx="3566160" cy="73152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×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pour un récit ou un retour d'expérience face à une annonce d'événement (187 contre 88)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Or depuis août, 5 publications sur 9 sont des annonces, et la réponse baisse : 81 au lieu de 130.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37360"/>
            <a:ext cx="3566160" cy="73152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40 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sans publication sur Instagram, du 8 août au 17 septembre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Instagram rapporte plus par abonné que LinkedIn (64 j'aime pour 1 172 abonnés), mais reste un compte d'appoint : 11 publications en dix mois.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Les recommandations, de la plus rentable à la moins rentable (1/2)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Raconter l'événement après, plutôt que l'annoncer avant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13 annonces : 88 interactions médianes. 7 récits : 187. Le retour de Nairobi (279) a fait plus de cinq fois l'annonce de la séance Yamify (53).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Après chaque intervention, un récit : une scène, une phrase entendue, la leçon de Leslie. Les annonces passent sur la page Mstudio.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Médiane des 8 prochaines publications au-dessus de 120.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Deux publications par semaine, lundi 8 h 30 et mardi 9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1,2 publication par semaine, six silences de 15 jours ou plus, dont celui en cours. Lundi : 139,5 de médiane (16 posts). Mercredi : 61 (8 posts).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Deux créneaux fixes, préparés le jeudi précédent.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Aucun silence de plus de 10 jours d'ici fin décembre.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Une vidéo courte par prise de parole, sur LinkedIn et 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8 vidéos LinkedIn : 202 de médiane, contre 120 pour un texte avec image. Aucune n'a été publiée en vidéo sur son propre compte Instagram.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Demander l'extrait à chaque organisateur, le publier sur LinkedIn puis en vidéo courte sur Instagram.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Deux vidéos en novembre, médiane LinkedIn au-dessus de 150.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Les recommandations, de la plus rentable à la moins rentable (2/2)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83080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Une rubrique mensuelle à son nom : un chiffre, une position, une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50292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Médiane : 3 commentaires. Les publications à plus de 13 commentaires apportent toutes un chiffre ou une position : les 3 ans de Mstudio (56), PodLab (31), la mobilité électrique (18), les levées en UEMOA (14). Chez les pairs, les rubriques nommées tiennent la régularité : « #impactstories » de Mariéme Jamme, la « Chronique N°1 » de Diane Audrey Ngako (397, sa meilleure publication).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Une rubrique « Sans filtre », le nom déjà porté par sa bio Instagram, une fois par mois, terminée par une question précise.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10 commentaires ou plus sur chaque numéro.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0020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783080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Faire d'Instagram le compte des coulisses, une fois par semaine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606040"/>
            <a:ext cx="50292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Sur Instagram, une publication de Leslie fait 64 j'aime pour 1 172 abonnés, soit près de huit fois plus par abonné que sur LinkedIn. Mais 11 publications en dix mois, un silence de 40 jours, et la bio « J'aide les entrepreneurs africains » ne cite ni Mstudio ni le studio. Sa publication la plus aimée est personnelle (la plage, 117).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 carrousel par semaine tiré du récit LinkedIn, avec une photo où on la voit. Bio : ajouter « Cofondatrice de Mstudio ».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Une publication par semaine, abonnés au-dessus de 1 300 fin décembre.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PREMIER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 premier lot, prêt à valider : LinkedIn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6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54406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27632"/>
            <a:ext cx="50749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LUNDI 26 OCTOBRE · 8 H 30 ·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9834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Les candidatures de Diaspora Connect sont closes depuis le 18 octobre.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Plus de 60 offres étaient ouvertes pour cette édition.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Ce programme part d'une conviction simple : choisir l'Afrique est un pari économique, pas un sacrifice.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Merci à toutes celles et ceux qui ont postulé, et aux entreprises qui ont ouvert leurs postes.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À celles et ceux qui ont hésité à postuler cette fois : qu'est-ce qui vous a retenus ? Je lis tout en commentaire 👇🏾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#DiasporaConnect #Abidjan #Talents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5448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554480"/>
            <a:ext cx="54406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627632"/>
            <a:ext cx="50749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MARDI 27 OCTOBRE · 9 H · LINKEDIN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194560"/>
            <a:ext cx="49834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Cette année, je suis revenue trois fois sur le même sujet sans l'avoir prévu.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En mai, le pire moment de mes trois ans au Mstudio : deux cofondateurs qui ne se parlaient plus.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En juillet, à Paris, un dîner Entourage sur le prix de l'isolement.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Samedi 17 octobre, au Tipping Point, une idée que je garde : c'est rarement le métier qui épuise, ce sont les gens.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 fondateur peut être entouré d'investisseurs et d'équipes, et rester seul au moment des vraies décisions.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Fondateurs, à qui parlez-vous quand une décision vous empêche de dormir ? Un associé, un mentor, personne 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#Entrepreneuriat #Cofondateurs #Afrique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PREMIER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 premier lot, prêt à valider : Instagram et la cérémonie Ivoire Tech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7 / 16</a:t>
            </a:r>
          </a:p>
        </p:txBody>
      </p:sp>
      <p:pic>
        <p:nvPicPr>
          <p:cNvPr id="10" name="Picture 9" descr="c_tipp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291840" cy="2387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23360" y="1554480"/>
            <a:ext cx="36118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554480"/>
            <a:ext cx="36118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27632"/>
            <a:ext cx="32461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JEUDI 29 OCTOBRE · 19 H · 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19456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Carrousel « Sans filtre #1 » (5 images)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1. « Au bureau, tu es remplaçable. Pour toi-même, tu ne l'es pas. 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2. Écouter son intuition : elle sait souvent avant nous quand partir.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3. Bien s'entourer : c'est rarement le métier qui épuise, ce sont les gens.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4. Photo du panel Tipping Point.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5. « Et toi, c'était quoi ton premier pas ? 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Légende : reprise du post du 20 octobre, avec la question en tête.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554480"/>
            <a:ext cx="3822191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554480"/>
            <a:ext cx="3822191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627632"/>
            <a:ext cx="345643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LUNDI 2 NOVEMBRE · 8 H 30 · 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94560"/>
            <a:ext cx="3364991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Trame à remplir avec Leslie après la cérémonie Ivoire Tech du 30 octobre 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1. La scène : un moment précis de la soirée.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2. Le fait : combien de lauréats, Next 15 et Scale Up.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3. Ce que cela dit : deux programmes pour deux réalités (son post du 31 juillet, 166 interactions).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4. La suite pour les lauréats, en une phrase.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5. Une question aux fondateurs ivoiriens.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Format : photo où on la voit, ou extrait vidéo de 60 secondes.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329184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F8F9A"/>
                </a:solidFill>
                <a:latin typeface="Work Sans"/>
              </a:rPr>
              <a:t>Visuel conseillé pour le carrousel : la photo du panel déjà publiée le 20 octobre.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F8F9A"/>
                </a:solidFill>
                <a:latin typeface="Work Sans"/>
              </a:rPr>
              <a:t>Rien ne part sans l'accord de Leslie.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le rythme et la réponse baissent ensemble depuis août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8 / 16</a:t>
            </a:r>
          </a:p>
        </p:txBody>
      </p:sp>
      <p:pic>
        <p:nvPicPr>
          <p:cNvPr id="10" name="Picture 9" descr="01_m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Mai</a:t>
            </a:r>
            <a:r>
              <a:rPr sz="1250" b="0">
                <a:solidFill>
                  <a:srgbClr val="2B2A35"/>
                </a:solidFill>
                <a:latin typeface="Work Sans"/>
              </a:rPr>
              <a:t> a été le mois le plus actif : 11 publications, Nairobi et le podcast PodLab.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Février</a:t>
            </a:r>
            <a:r>
              <a:rPr sz="1250" b="0">
                <a:solidFill>
                  <a:srgbClr val="2B2A35"/>
                </a:solidFill>
                <a:latin typeface="Work Sans"/>
              </a:rPr>
              <a:t> a eu les meilleurs scores, porté par les 3 ans de Mstudio (381 interactions, 56 commentaires).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D'août à octobre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9 publications, 81 interactions médianes, contre 130 de janvier à juillet.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ce qui marche, par sujet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9 / 16</a:t>
            </a:r>
          </a:p>
        </p:txBody>
      </p:sp>
      <p:pic>
        <p:nvPicPr>
          <p:cNvPr id="10" name="Picture 9" descr="02_suj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6050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Les récits</a:t>
            </a:r>
            <a:r>
              <a:rPr sz="1250" b="0">
                <a:solidFill>
                  <a:srgbClr val="2B2A35"/>
                </a:solidFill>
                <a:latin typeface="Work Sans"/>
              </a:rPr>
              <a:t> font deux fois mieux que les annonces.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Les annonces</a:t>
            </a:r>
            <a:r>
              <a:rPr sz="1250" b="0">
                <a:solidFill>
                  <a:srgbClr val="2B2A35"/>
                </a:solidFill>
                <a:latin typeface="Work Sans"/>
              </a:rPr>
              <a:t> sont le sujet le plus fréquent (13 sur 49) et le moins suivi.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Analyse et convictions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cœur du profil (14 publications), solide sans être le plus fort.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Moins de 5 publications</a:t>
            </a:r>
            <a:r>
              <a:rPr sz="1250" b="0">
                <a:solidFill>
                  <a:srgbClr val="2B2A35"/>
                </a:solidFill>
                <a:latin typeface="Work Sans"/>
              </a:rPr>
              <a:t> derrière une barre : un signal, pas une preuve.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la vidéo et le lundi gagnent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10 / 16</a:t>
            </a:r>
          </a:p>
        </p:txBody>
      </p:sp>
      <p:pic>
        <p:nvPicPr>
          <p:cNvPr id="10" name="Picture 9" descr="03_formats_j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4152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Vidéo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202 de médiane, presque le double du texte avec image.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Lundi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meilleur jour, et le plus utilisé (16 publications).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Mercredi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plus faible (61), à éviter.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Heure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8 h et 9 h font mieux que 10 h (134 et 141 contre 88).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les meilleures et les moins bonnes publications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ADA4"/>
                </a:solidFill>
                <a:latin typeface="Space Grotesk"/>
              </a:rPr>
              <a:t>LES CINQ MEILLEURES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874519"/>
          <a:ext cx="5440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11430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Date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Publication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Total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24/02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 ans de Mstudio : les chiffres et la méthode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381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04/05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Podcast PodLab : dix ans de carrière sans filtre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06/05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Africa Forward Nairobi : annonce de la modération du panel IA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318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28/09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Diaspora Connect : plus de 60 offres, candidatures jusqu'au 18 octobre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14/05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Retour de Nairobi : une génération qui pilote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279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99632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F8F9A"/>
                </a:solidFill>
                <a:latin typeface="Space Grotesk"/>
              </a:rPr>
              <a:t>LES CINQ MOINS BONNES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99632" y="1874519"/>
          <a:ext cx="5440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11430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Date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Publication et raison probable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Total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25/05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SAVR Bootcamp Smart Africa x Mstudio : appel à candidatures : appel à candidatures, sans histoire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14/04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Fondateurs locaux : 5,1 % des fonds levés (en anglais) : en anglais, lendemain d'un post voisin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15/05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10 leçons sur l'IA pour une Afrique souveraine (Africa Forward) : liste longue, lendemain du récit de Nairobi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02/09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C'est ce soir : séance IA avec Yamify (rappel) : simple rappel d'horaire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29/01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Ecosystem Mixer Flat6Labs x IFC au Mstudio : événement d'un partenaire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41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32754"/>
                </a:solidFill>
                <a:latin typeface="Work Sans"/>
              </a:rPr>
              <a:t>Ce que les meilleures ont en commun :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 récit à la première personne ou un bilan chiffré, souvent une vidéo. Exception : l'annonce du panel IA à Nairobi (318), qui portait sur une grande scène internationale où Leslie avait un rôle.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Instagram : un petit compte qui répond bien, mais publie peu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12 / 16</a:t>
            </a:r>
          </a:p>
        </p:txBody>
      </p:sp>
      <p:pic>
        <p:nvPicPr>
          <p:cNvPr id="10" name="Picture 9" descr="06_inst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583680" cy="35739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55448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1 172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abonnés, 3 051 abonnements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5448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j'aime médians, 2 commentaires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520440"/>
            <a:ext cx="4142232" cy="26517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611880"/>
            <a:ext cx="3749039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Son compte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11 publications depuis mars, aucune vidéo. Les carrousels de récit (Nairobi 77, Diaspora 86) font mieux que les annonces (27 à 30).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Chez les autres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16 publications où elle est identifiée, dont 9 extraits vidéo du podcast PodLab. Ses meilleurs contenus vidéo vivent sur les comptes des autres.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Bio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« Entreprendre Sans Filtre », sans mention de Mstudio.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COMPARAISON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Face à six dirigeantes de l'écosystème, Leslie est la plus régulière parmi les plus suivies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13 / 16</a:t>
            </a:r>
          </a:p>
        </p:txBody>
      </p:sp>
      <p:pic>
        <p:nvPicPr>
          <p:cNvPr id="10" name="Picture 9" descr="05_comparaison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589520" cy="289781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554480"/>
            <a:ext cx="3227832" cy="46177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691640"/>
            <a:ext cx="28346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17 209 abonnés</a:t>
            </a:r>
            <a:r>
              <a:rPr sz="1150" b="0">
                <a:solidFill>
                  <a:srgbClr val="2B2A35"/>
                </a:solidFill>
                <a:latin typeface="Work Sans"/>
              </a:rPr>
              <a:t> : deuxième audience du panel, derrière Rebecca Enonchong (46 673).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Seule Diane Audrey Ngako publie plus</a:t>
            </a:r>
            <a:r>
              <a:rPr sz="1150" b="0">
                <a:solidFill>
                  <a:srgbClr val="2B2A35"/>
                </a:solidFill>
                <a:latin typeface="Work Sans"/>
              </a:rPr>
              <a:t> (87), mais avec 35 interactions par publication.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Fatoumata Ba et Rebecca Enonchong</a:t>
            </a:r>
            <a:r>
              <a:rPr sz="1150" b="0">
                <a:solidFill>
                  <a:srgbClr val="2B2A35"/>
                </a:solidFill>
                <a:latin typeface="Work Sans"/>
              </a:rPr>
              <a:t> font de gros scores avec 1 à 2 publications : ce sont des exceptions, pas un rythme.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Ce qui reste à gagner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les commentaires. 3 par publication chez Leslie ; Fatoumata Ba en obtient 20 et plus sur ses récits personnels.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Ce que font les autres, et ce qu'on peut en reprendre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Diane Audrey Ngako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Présidente du groupe AKÉDE · Douala · 11 205 abonnés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Une « Chronique » signée, une « Lettre ouverte à Son Excellence » : 397 interactions, sa meilleure. Les distinctions et les scènes internationales (Harvard) suivent.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une rubrique numérotée à son nom.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Fatoumata 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Janngo Capital · 11 367 abonnés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Deux publications seulement, un long récit personnel en anglais (« As long as I can remember… ») : 301 réactions et 32 commentaires.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la confidence personnelle, rare et forte.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Rebecca Enonchong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AppsTech, CCI internationale · 46 673 abonnés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Une seule publication, une annonce de nomination : 1 396 interactions, 174 commentaires.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annoncer ses propres nominations, sans fausse modestie.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Mariéme Jamme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iamtheCODE · 7 526 abonnés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Toutes ses publications sous #impactstories, en anglais, autour de l'IA et des femmes.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un mot-dièse maison, toujours le même.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Audrey Ehouman-Mambo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AE Tech Consulting, Abidjan Women In Tech · 2 514 abonnés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Ses meilleures : une leçon de leadership vécue (150) et une distinction reçue (138). Ses annonces d'événement font 6 à 20.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Même constat que pour Leslie : le récit bat l'annonce.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5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Madji Sock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5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Haskè Ventures (studio, Dakar) · 3 885 abonnés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Le profil le plus proche de Mstudio, mais quasi silencieux : 3 publications, dont une offre de poste (70).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Le terrain des studios ouest-africains est libre sur LinkedIn.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PRÉSENCE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Au-delà de ses comptes : où Leslie existe en ligne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15 / 16</a:t>
            </a:r>
          </a:p>
        </p:txBody>
      </p:sp>
      <p:pic>
        <p:nvPicPr>
          <p:cNvPr id="11" name="Picture 10" descr="c_soung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51960"/>
            <a:ext cx="2651760" cy="192252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34840" y="1554480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91639"/>
            <a:ext cx="64008" cy="1170432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19072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Les scènes qui la portent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40280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Rencontres Économiques d'Aix (page intervenante), France 24 « Aux Avant-Postes » (juillet), podcast PodLab (9 extraits vidéo sur Instagram), Fondation Sounga « Des Mots d'Elles », TechCabal « Ask an Investor » (septembre 2025).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27248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64408"/>
            <a:ext cx="64008" cy="1170432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291840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Les anciennes pages à mettre à jour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13048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about.me et Medium la présentent encore chez Bolt et BuuPass. Elles remontent dans les premières réponses d'une recherche sur son nom. À mettre à jour ou à fermer.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700016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4837176"/>
            <a:ext cx="64008" cy="1170432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864607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La lettre « The African Operator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85816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Une page Substack existe à son nom. À confirmer : est-elle encore active ? Si oui, c'est le support naturel de la rubrique mensuelle.</a:t>
            </a:r>
          </a:p>
        </p:txBody>
      </p:sp>
      <p:pic>
        <p:nvPicPr>
          <p:cNvPr id="24" name="Picture 23" descr="c_nairob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54480"/>
            <a:ext cx="36576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La suite proposée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16 / 16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00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Cette semaine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600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Leslie valide ou corrige les 4 publications du premier lot (26, 27, 29 octobre et 2 novembre).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98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Avant le 31 octobre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43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Une capture de ses statistiques LinkedIn et Instagram, pour ajouter portée, visites du profil et abonnés gagnés.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41063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86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Chaque lundi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886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Un point court : publications de la semaine, interactions, écart avec les recommandations, et les meilleures publications des six dirigeantes suivies.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84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29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Fin novembre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029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Premier bilan : la médiane est-elle remontée au-dessus de 120 ? Les silences ont-ils disparu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