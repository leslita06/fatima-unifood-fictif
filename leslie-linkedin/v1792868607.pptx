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22.png"/><Relationship Id="rId6" Type="http://schemas.openxmlformats.org/officeDocument/2006/relationships/image" Target="../media/image2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6.jpg"/><Relationship Id="rId5" Type="http://schemas.openxmlformats.org/officeDocument/2006/relationships/image" Target="../media/image27.png"/><Relationship Id="rId6" Type="http://schemas.openxmlformats.org/officeDocument/2006/relationships/hyperlink" Target="https://www.linkedin.com/in/ren%C3%A9e-mariame-konate-a55928b1" TargetMode="External"/><Relationship Id="rId7" Type="http://schemas.openxmlformats.org/officeDocument/2006/relationships/image" Target="../media/image18.png"/><Relationship Id="rId8" Type="http://schemas.openxmlformats.org/officeDocument/2006/relationships/image" Target="../media/image22.png"/><Relationship Id="rId9"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9.jpg"/><Relationship Id="rId5" Type="http://schemas.openxmlformats.org/officeDocument/2006/relationships/hyperlink" Target="https://www.linkedin.com/posts/ren%C3%A9e-mariame-konate-a55928b1_entrepreneuriat-communication-personalbranding-activity-7450499786216079360-X6HG" TargetMode="External"/><Relationship Id="rId6" Type="http://schemas.openxmlformats.org/officeDocument/2006/relationships/image" Target="../media/image30.jpg"/><Relationship Id="rId7" Type="http://schemas.openxmlformats.org/officeDocument/2006/relationships/hyperlink" Target="https://www.linkedin.com/posts/ren%C3%A9e-mariame-konate-a55928b1_entrepreneuriat-entrepreneuriatfaezminin-activity-7451947811425787904-aV7h" TargetMode="External"/><Relationship Id="rId8" Type="http://schemas.openxmlformats.org/officeDocument/2006/relationships/image" Target="../media/image31.jpg"/><Relationship Id="rId9" Type="http://schemas.openxmlformats.org/officeDocument/2006/relationships/hyperlink" Target="https://www.linkedin.com/posts/ren%C3%A9e-mariame-konate-a55928b1_boldconversations-veuvecliquotxwoman-veuveclicquot-activity-7506733007496740864-2jHZ"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32.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image" Target="../media/image3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hyperlink" Target="https://www.instagram.com/renee_mariame/" TargetMode="External"/><Relationship Id="rId6" Type="http://schemas.openxmlformats.org/officeDocument/2006/relationships/image" Target="../media/image18.pn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2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4.png"/><Relationship Id="rId5" Type="http://schemas.openxmlformats.org/officeDocument/2006/relationships/image" Target="../media/image20.png"/><Relationship Id="rId6"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49.jpg"/><Relationship Id="rId5" Type="http://schemas.openxmlformats.org/officeDocument/2006/relationships/hyperlink" Target="https://www.instagram.com/p/DULfiQFjJui/" TargetMode="External"/><Relationship Id="rId6" Type="http://schemas.openxmlformats.org/officeDocument/2006/relationships/image" Target="../media/image50.jpg"/><Relationship Id="rId7" Type="http://schemas.openxmlformats.org/officeDocument/2006/relationships/hyperlink" Target="https://www.instagram.com/p/DabjcplDGDz/" TargetMode="External"/><Relationship Id="rId8" Type="http://schemas.openxmlformats.org/officeDocument/2006/relationships/image" Target="../media/image51.jpg"/><Relationship Id="rId9" Type="http://schemas.openxmlformats.org/officeDocument/2006/relationships/hyperlink" Target="https://www.instagram.com/p/DTTMGO8jBs7/" TargetMode="External"/><Relationship Id="rId10" Type="http://schemas.openxmlformats.org/officeDocument/2006/relationships/image" Target="../media/image52.jpg"/><Relationship Id="rId11" Type="http://schemas.openxmlformats.org/officeDocument/2006/relationships/hyperlink" Target="https://www.instagram.com/p/DTdw6wXjAE9/"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53.jpg"/><Relationship Id="rId5" Type="http://schemas.openxmlformats.org/officeDocument/2006/relationships/hyperlink" Target="https://www.instagram.com/p/DdgKvbpshql/" TargetMode="External"/><Relationship Id="rId6" Type="http://schemas.openxmlformats.org/officeDocument/2006/relationships/image" Target="../media/image54.jpg"/><Relationship Id="rId7" Type="http://schemas.openxmlformats.org/officeDocument/2006/relationships/hyperlink" Target="https://www.instagram.com/p/Ddmg-6SMbzH/" TargetMode="External"/><Relationship Id="rId8" Type="http://schemas.openxmlformats.org/officeDocument/2006/relationships/image" Target="../media/image55.jpg"/><Relationship Id="rId9" Type="http://schemas.openxmlformats.org/officeDocument/2006/relationships/hyperlink" Target="https://www.instagram.com/p/DdcB8N9sf-g/" TargetMode="External"/><Relationship Id="rId10" Type="http://schemas.openxmlformats.org/officeDocument/2006/relationships/image" Target="../media/image56.jpg"/><Relationship Id="rId11" Type="http://schemas.openxmlformats.org/officeDocument/2006/relationships/hyperlink" Target="https://www.instagram.com/p/DeR43L0yg_K/"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57.jpg"/><Relationship Id="rId5" Type="http://schemas.openxmlformats.org/officeDocument/2006/relationships/image" Target="../media/image58.jpg"/><Relationship Id="rId6" Type="http://schemas.openxmlformats.org/officeDocument/2006/relationships/image" Target="../media/image59.jpg"/><Relationship Id="rId7" Type="http://schemas.openxmlformats.org/officeDocument/2006/relationships/image" Target="../media/image60.jpg"/><Relationship Id="rId8" Type="http://schemas.openxmlformats.org/officeDocument/2006/relationships/image" Target="../media/image61.jpg"/><Relationship Id="rId9" Type="http://schemas.openxmlformats.org/officeDocument/2006/relationships/image" Target="../media/image62.jpg"/><Relationship Id="rId10" Type="http://schemas.openxmlformats.org/officeDocument/2006/relationships/image" Target="../media/image63.jpg"/><Relationship Id="rId11" Type="http://schemas.openxmlformats.org/officeDocument/2006/relationships/image" Target="../media/image64.jpg"/><Relationship Id="rId12" Type="http://schemas.openxmlformats.org/officeDocument/2006/relationships/image" Target="../media/image65.jpg"/><Relationship Id="rId13" Type="http://schemas.openxmlformats.org/officeDocument/2006/relationships/image" Target="../media/image66.jpg"/><Relationship Id="rId14" Type="http://schemas.openxmlformats.org/officeDocument/2006/relationships/image" Target="../media/image67.jpg"/><Relationship Id="rId15" Type="http://schemas.openxmlformats.org/officeDocument/2006/relationships/image" Target="../media/image68.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20.png"/><Relationship Id="rId5" Type="http://schemas.openxmlformats.org/officeDocument/2006/relationships/image" Target="../media/image69.png"/><Relationship Id="rId6" Type="http://schemas.openxmlformats.org/officeDocument/2006/relationships/image" Target="../media/image70.png"/><Relationship Id="rId7"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72.png"/><Relationship Id="rId5" Type="http://schemas.openxmlformats.org/officeDocument/2006/relationships/image" Target="../media/image7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hyperlink" Target="https://www.linkedin.com/in/edithbrou" TargetMode="External"/><Relationship Id="rId5" Type="http://schemas.openxmlformats.org/officeDocument/2006/relationships/hyperlink" Target="https://www.linkedin.com/in/marie-karelle-k" TargetMode="External"/><Relationship Id="rId6" Type="http://schemas.openxmlformats.org/officeDocument/2006/relationships/hyperlink" Target="https://www.linkedin.com/in/leslieossete" TargetMode="External"/><Relationship Id="rId7" Type="http://schemas.openxmlformats.org/officeDocument/2006/relationships/hyperlink" Target="https://www.linkedin.com/in/paolaaudreyndengue" TargetMode="External"/><Relationship Id="rId8" Type="http://schemas.openxmlformats.org/officeDocument/2006/relationships/hyperlink" Target="https://www.linkedin.com/in/ren%C3%A9e-mariame-konate-a55928b1"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74.png"/><Relationship Id="rId6" Type="http://schemas.openxmlformats.org/officeDocument/2006/relationships/image" Target="../media/image7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jp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7.png"/><Relationship Id="rId4" Type="http://schemas.openxmlformats.org/officeDocument/2006/relationships/image" Target="../media/image14.png"/><Relationship Id="rId5" Type="http://schemas.openxmlformats.org/officeDocument/2006/relationships/image" Target="../media/image75.png"/><Relationship Id="rId6"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jpg"/><Relationship Id="rId3" Type="http://schemas.openxmlformats.org/officeDocument/2006/relationships/image" Target="../media/image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0.jpg"/><Relationship Id="rId6" Type="http://schemas.openxmlformats.org/officeDocument/2006/relationships/image" Target="../media/image8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2.jpg"/><Relationship Id="rId6" Type="http://schemas.openxmlformats.org/officeDocument/2006/relationships/image" Target="../media/image8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5.png"/><Relationship Id="rId4" Type="http://schemas.openxmlformats.org/officeDocument/2006/relationships/image" Target="../media/image79.png"/><Relationship Id="rId5" Type="http://schemas.openxmlformats.org/officeDocument/2006/relationships/image" Target="../media/image83.jpg"/><Relationship Id="rId6" Type="http://schemas.openxmlformats.org/officeDocument/2006/relationships/image" Target="../media/image8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36.pn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image" Target="../media/image88.jpg"/><Relationship Id="rId9" Type="http://schemas.openxmlformats.org/officeDocument/2006/relationships/image" Target="../media/image22.png"/><Relationship Id="rId10" Type="http://schemas.openxmlformats.org/officeDocument/2006/relationships/image" Target="../media/image8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89.png"/><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g_2026-07-06_DabjcplDGDz_0.75_0.2.jpg"/>
          <p:cNvPicPr>
            <a:picLocks noChangeAspect="1"/>
          </p:cNvPicPr>
          <p:nvPr/>
        </p:nvPicPr>
        <p:blipFill>
          <a:blip r:embed="rId2"/>
          <a:stretch>
            <a:fillRect/>
          </a:stretch>
        </p:blipFill>
        <p:spPr>
          <a:xfrm>
            <a:off x="7071055" y="0"/>
            <a:ext cx="5120640" cy="6858000"/>
          </a:xfrm>
          <a:prstGeom prst="rect">
            <a:avLst/>
          </a:prstGeom>
        </p:spPr>
      </p:pic>
      <p:sp>
        <p:nvSpPr>
          <p:cNvPr id="4" name="Rectangle 3"/>
          <p:cNvSpPr/>
          <p:nvPr/>
        </p:nvSpPr>
        <p:spPr>
          <a:xfrm>
            <a:off x="7071055" y="0"/>
            <a:ext cx="73152" cy="6858000"/>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mstudio_blanc_transparent.png"/>
          <p:cNvPicPr>
            <a:picLocks noChangeAspect="1"/>
          </p:cNvPicPr>
          <p:nvPr/>
        </p:nvPicPr>
        <p:blipFill>
          <a:blip r:embed="rId3"/>
          <a:stretch>
            <a:fillRect/>
          </a:stretch>
        </p:blipFill>
        <p:spPr>
          <a:xfrm>
            <a:off x="731520" y="548640"/>
            <a:ext cx="1467432" cy="384048"/>
          </a:xfrm>
          <a:prstGeom prst="rect">
            <a:avLst/>
          </a:prstGeom>
        </p:spPr>
      </p:pic>
      <p:sp>
        <p:nvSpPr>
          <p:cNvPr id="6" name="TextBox 5"/>
          <p:cNvSpPr txBox="1"/>
          <p:nvPr/>
        </p:nvSpPr>
        <p:spPr>
          <a:xfrm>
            <a:off x="731520" y="1600200"/>
            <a:ext cx="6035040" cy="36576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00AED4"/>
                </a:solidFill>
                <a:latin typeface="Space Grotesk"/>
              </a:rPr>
              <a:t>ANALYSE ET VEILLE · RÉSEAUX SOCIAUX</a:t>
            </a:r>
          </a:p>
        </p:txBody>
      </p:sp>
      <p:sp>
        <p:nvSpPr>
          <p:cNvPr id="7" name="TextBox 6"/>
          <p:cNvSpPr txBox="1"/>
          <p:nvPr/>
        </p:nvSpPr>
        <p:spPr>
          <a:xfrm>
            <a:off x="731520" y="2011680"/>
            <a:ext cx="6126480" cy="1737360"/>
          </a:xfrm>
          <a:prstGeom prst="rect">
            <a:avLst/>
          </a:prstGeom>
          <a:noFill/>
        </p:spPr>
        <p:txBody>
          <a:bodyPr wrap="square" anchor="t" lIns="18288" rIns="18288" tIns="18288" bIns="18288">
            <a:spAutoFit/>
          </a:bodyPr>
          <a:lstStyle/>
          <a:p>
            <a:pPr algn="l">
              <a:lnSpc>
                <a:spcPct val="95000"/>
              </a:lnSpc>
              <a:spcAft>
                <a:spcPts val="400"/>
              </a:spcAft>
            </a:pPr>
            <a:r>
              <a:rPr sz="4600" b="1" i="0">
                <a:solidFill>
                  <a:srgbClr val="FFFFFF"/>
                </a:solidFill>
                <a:latin typeface="Funnel Display"/>
              </a:rPr>
              <a:t>Renée Mariame Konaté en ligne</a:t>
            </a:r>
          </a:p>
        </p:txBody>
      </p:sp>
      <p:sp>
        <p:nvSpPr>
          <p:cNvPr id="8" name="TextBox 7"/>
          <p:cNvSpPr txBox="1"/>
          <p:nvPr/>
        </p:nvSpPr>
        <p:spPr>
          <a:xfrm>
            <a:off x="731520" y="3611880"/>
            <a:ext cx="5943600" cy="1097280"/>
          </a:xfrm>
          <a:prstGeom prst="rect">
            <a:avLst/>
          </a:prstGeom>
          <a:noFill/>
        </p:spPr>
        <p:txBody>
          <a:bodyPr wrap="square" anchor="t" lIns="18288" rIns="18288" tIns="18288" bIns="18288">
            <a:spAutoFit/>
          </a:bodyPr>
          <a:lstStyle/>
          <a:p>
            <a:pPr algn="l">
              <a:lnSpc>
                <a:spcPct val="112000"/>
              </a:lnSpc>
              <a:spcAft>
                <a:spcPts val="400"/>
              </a:spcAft>
            </a:pPr>
            <a:r>
              <a:rPr sz="1600" b="0" i="0">
                <a:solidFill>
                  <a:srgbClr val="DCE3F2"/>
                </a:solidFill>
                <a:latin typeface="Work Sans"/>
              </a:rPr>
              <a:t>Analyse de sa présence LinkedIn et Instagram depuis janvier 2026, veille de ses pairs et stratégie pour les trois prochains mois.</a:t>
            </a:r>
          </a:p>
        </p:txBody>
      </p:sp>
      <p:pic>
        <p:nvPicPr>
          <p:cNvPr id="9" name="Picture 8" descr="linkedin_w.png"/>
          <p:cNvPicPr>
            <a:picLocks noChangeAspect="1"/>
          </p:cNvPicPr>
          <p:nvPr/>
        </p:nvPicPr>
        <p:blipFill>
          <a:blip r:embed="rId4"/>
          <a:stretch>
            <a:fillRect/>
          </a:stretch>
        </p:blipFill>
        <p:spPr>
          <a:xfrm>
            <a:off x="731520" y="4892040"/>
            <a:ext cx="329184" cy="329184"/>
          </a:xfrm>
          <a:prstGeom prst="rect">
            <a:avLst/>
          </a:prstGeom>
        </p:spPr>
      </p:pic>
      <p:sp>
        <p:nvSpPr>
          <p:cNvPr id="10" name="TextBox 9"/>
          <p:cNvSpPr txBox="1"/>
          <p:nvPr/>
        </p:nvSpPr>
        <p:spPr>
          <a:xfrm>
            <a:off x="1188720" y="49194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linkedin.com/in/renée-mariame-konate</a:t>
            </a:r>
          </a:p>
        </p:txBody>
      </p:sp>
      <p:pic>
        <p:nvPicPr>
          <p:cNvPr id="11" name="Picture 10" descr="instagram_w.png"/>
          <p:cNvPicPr>
            <a:picLocks noChangeAspect="1"/>
          </p:cNvPicPr>
          <p:nvPr/>
        </p:nvPicPr>
        <p:blipFill>
          <a:blip r:embed="rId5"/>
          <a:stretch>
            <a:fillRect/>
          </a:stretch>
        </p:blipFill>
        <p:spPr>
          <a:xfrm>
            <a:off x="731520" y="5349240"/>
            <a:ext cx="329184" cy="329184"/>
          </a:xfrm>
          <a:prstGeom prst="rect">
            <a:avLst/>
          </a:prstGeom>
        </p:spPr>
      </p:pic>
      <p:sp>
        <p:nvSpPr>
          <p:cNvPr id="12" name="TextBox 11"/>
          <p:cNvSpPr txBox="1"/>
          <p:nvPr/>
        </p:nvSpPr>
        <p:spPr>
          <a:xfrm>
            <a:off x="1188720" y="5376672"/>
            <a:ext cx="5303520" cy="365760"/>
          </a:xfrm>
          <a:prstGeom prst="rect">
            <a:avLst/>
          </a:prstGeom>
          <a:noFill/>
        </p:spPr>
        <p:txBody>
          <a:bodyPr wrap="square" anchor="t" lIns="18288" rIns="18288" tIns="18288" bIns="18288">
            <a:spAutoFit/>
          </a:bodyPr>
          <a:lstStyle/>
          <a:p>
            <a:pPr algn="l">
              <a:lnSpc>
                <a:spcPct val="112000"/>
              </a:lnSpc>
              <a:spcAft>
                <a:spcPts val="400"/>
              </a:spcAft>
            </a:pPr>
            <a:r>
              <a:rPr sz="1200" b="0" i="0">
                <a:solidFill>
                  <a:srgbClr val="FFFFFF"/>
                </a:solidFill>
                <a:latin typeface="Space Grotesk"/>
              </a:rPr>
              <a:t>instagram.com/renee_mariame</a:t>
            </a:r>
          </a:p>
        </p:txBody>
      </p:sp>
      <p:sp>
        <p:nvSpPr>
          <p:cNvPr id="13" name="TextBox 12"/>
          <p:cNvSpPr txBox="1"/>
          <p:nvPr/>
        </p:nvSpPr>
        <p:spPr>
          <a:xfrm>
            <a:off x="731520" y="5989320"/>
            <a:ext cx="6035040" cy="36576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B8BCD0"/>
                </a:solidFill>
                <a:latin typeface="Space Grotesk"/>
              </a:rPr>
              <a:t>Relevé du 24 octobre 2026 · publications du 1er janvier au 23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 CONTIENT CE DOCUMENT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Sommaire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9436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01</a:t>
            </a:r>
          </a:p>
        </p:txBody>
      </p:sp>
      <p:sp>
        <p:nvSpPr>
          <p:cNvPr id="11" name="Oval 10"/>
          <p:cNvSpPr/>
          <p:nvPr/>
        </p:nvSpPr>
        <p:spPr>
          <a:xfrm>
            <a:off x="143713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user_w.png"/>
          <p:cNvPicPr>
            <a:picLocks noChangeAspect="1"/>
          </p:cNvPicPr>
          <p:nvPr/>
        </p:nvPicPr>
        <p:blipFill>
          <a:blip r:embed="rId3"/>
          <a:stretch>
            <a:fillRect/>
          </a:stretch>
        </p:blipFill>
        <p:spPr>
          <a:xfrm>
            <a:off x="1590751" y="2119579"/>
            <a:ext cx="332841" cy="332841"/>
          </a:xfrm>
          <a:prstGeom prst="rect">
            <a:avLst/>
          </a:prstGeom>
        </p:spPr>
      </p:pic>
      <p:sp>
        <p:nvSpPr>
          <p:cNvPr id="13" name="TextBox 12"/>
          <p:cNvSpPr txBox="1"/>
          <p:nvPr/>
        </p:nvSpPr>
        <p:spPr>
          <a:xfrm>
            <a:off x="77724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Son histoire et sa marque</a:t>
            </a:r>
          </a:p>
        </p:txBody>
      </p:sp>
      <p:sp>
        <p:nvSpPr>
          <p:cNvPr id="14" name="TextBox 13"/>
          <p:cNvSpPr txBox="1"/>
          <p:nvPr/>
        </p:nvSpPr>
        <p:spPr>
          <a:xfrm>
            <a:off x="77724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Parcours, casquettes, valeurs, voix et émojis.</a:t>
            </a:r>
          </a:p>
        </p:txBody>
      </p:sp>
      <p:sp>
        <p:nvSpPr>
          <p:cNvPr id="15" name="Rounded Rectangle 14"/>
          <p:cNvSpPr/>
          <p:nvPr/>
        </p:nvSpPr>
        <p:spPr>
          <a:xfrm>
            <a:off x="2442972"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625852"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02</a:t>
            </a:r>
          </a:p>
        </p:txBody>
      </p:sp>
      <p:sp>
        <p:nvSpPr>
          <p:cNvPr id="17" name="Oval 16"/>
          <p:cNvSpPr/>
          <p:nvPr/>
        </p:nvSpPr>
        <p:spPr>
          <a:xfrm>
            <a:off x="3285744"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nkedin_w.png"/>
          <p:cNvPicPr>
            <a:picLocks noChangeAspect="1"/>
          </p:cNvPicPr>
          <p:nvPr/>
        </p:nvPicPr>
        <p:blipFill>
          <a:blip r:embed="rId4"/>
          <a:stretch>
            <a:fillRect/>
          </a:stretch>
        </p:blipFill>
        <p:spPr>
          <a:xfrm>
            <a:off x="3439363" y="2119579"/>
            <a:ext cx="332841" cy="332841"/>
          </a:xfrm>
          <a:prstGeom prst="rect">
            <a:avLst/>
          </a:prstGeom>
        </p:spPr>
      </p:pic>
      <p:sp>
        <p:nvSpPr>
          <p:cNvPr id="19" name="TextBox 18"/>
          <p:cNvSpPr txBox="1"/>
          <p:nvPr/>
        </p:nvSpPr>
        <p:spPr>
          <a:xfrm>
            <a:off x="2625852"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LinkedIn</a:t>
            </a:r>
          </a:p>
        </p:txBody>
      </p:sp>
      <p:sp>
        <p:nvSpPr>
          <p:cNvPr id="20" name="TextBox 19"/>
          <p:cNvSpPr txBox="1"/>
          <p:nvPr/>
        </p:nvSpPr>
        <p:spPr>
          <a:xfrm>
            <a:off x="2625852"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Un profil soigné, trois posts en dix mois : le grand chantier.</a:t>
            </a:r>
          </a:p>
        </p:txBody>
      </p:sp>
      <p:sp>
        <p:nvSpPr>
          <p:cNvPr id="21" name="Rounded Rectangle 20"/>
          <p:cNvSpPr/>
          <p:nvPr/>
        </p:nvSpPr>
        <p:spPr>
          <a:xfrm>
            <a:off x="4291584"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74464"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03</a:t>
            </a:r>
          </a:p>
        </p:txBody>
      </p:sp>
      <p:sp>
        <p:nvSpPr>
          <p:cNvPr id="23" name="Oval 22"/>
          <p:cNvSpPr/>
          <p:nvPr/>
        </p:nvSpPr>
        <p:spPr>
          <a:xfrm>
            <a:off x="5134356"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instagram_w.png"/>
          <p:cNvPicPr>
            <a:picLocks noChangeAspect="1"/>
          </p:cNvPicPr>
          <p:nvPr/>
        </p:nvPicPr>
        <p:blipFill>
          <a:blip r:embed="rId5"/>
          <a:stretch>
            <a:fillRect/>
          </a:stretch>
        </p:blipFill>
        <p:spPr>
          <a:xfrm>
            <a:off x="5287975" y="2119579"/>
            <a:ext cx="332841" cy="332841"/>
          </a:xfrm>
          <a:prstGeom prst="rect">
            <a:avLst/>
          </a:prstGeom>
        </p:spPr>
      </p:pic>
      <p:sp>
        <p:nvSpPr>
          <p:cNvPr id="25" name="TextBox 24"/>
          <p:cNvSpPr txBox="1"/>
          <p:nvPr/>
        </p:nvSpPr>
        <p:spPr>
          <a:xfrm>
            <a:off x="4474464"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Instagram</a:t>
            </a:r>
          </a:p>
        </p:txBody>
      </p:sp>
      <p:sp>
        <p:nvSpPr>
          <p:cNvPr id="26" name="TextBox 25"/>
          <p:cNvSpPr txBox="1"/>
          <p:nvPr/>
        </p:nvSpPr>
        <p:spPr>
          <a:xfrm>
            <a:off x="4474464"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70 161 abonnés, 88 publications, et une baisse nette depuis septembre.</a:t>
            </a:r>
          </a:p>
        </p:txBody>
      </p:sp>
      <p:sp>
        <p:nvSpPr>
          <p:cNvPr id="27" name="Rounded Rectangle 26"/>
          <p:cNvSpPr/>
          <p:nvPr/>
        </p:nvSpPr>
        <p:spPr>
          <a:xfrm>
            <a:off x="6140196"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23076"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04</a:t>
            </a:r>
          </a:p>
        </p:txBody>
      </p:sp>
      <p:sp>
        <p:nvSpPr>
          <p:cNvPr id="29" name="Oval 28"/>
          <p:cNvSpPr/>
          <p:nvPr/>
        </p:nvSpPr>
        <p:spPr>
          <a:xfrm>
            <a:off x="6982968"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ye_w.png"/>
          <p:cNvPicPr>
            <a:picLocks noChangeAspect="1"/>
          </p:cNvPicPr>
          <p:nvPr/>
        </p:nvPicPr>
        <p:blipFill>
          <a:blip r:embed="rId6"/>
          <a:stretch>
            <a:fillRect/>
          </a:stretch>
        </p:blipFill>
        <p:spPr>
          <a:xfrm>
            <a:off x="7136587" y="2119579"/>
            <a:ext cx="332841" cy="332841"/>
          </a:xfrm>
          <a:prstGeom prst="rect">
            <a:avLst/>
          </a:prstGeom>
        </p:spPr>
      </p:pic>
      <p:sp>
        <p:nvSpPr>
          <p:cNvPr id="31" name="TextBox 30"/>
          <p:cNvSpPr txBox="1"/>
          <p:nvPr/>
        </p:nvSpPr>
        <p:spPr>
          <a:xfrm>
            <a:off x="6323076"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Veille</a:t>
            </a:r>
          </a:p>
        </p:txBody>
      </p:sp>
      <p:sp>
        <p:nvSpPr>
          <p:cNvPr id="32" name="TextBox 31"/>
          <p:cNvSpPr txBox="1"/>
          <p:nvPr/>
        </p:nvSpPr>
        <p:spPr>
          <a:xfrm>
            <a:off x="6323076"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Cinq femmes médias et entrepreneures comparées.</a:t>
            </a:r>
          </a:p>
        </p:txBody>
      </p:sp>
      <p:sp>
        <p:nvSpPr>
          <p:cNvPr id="33" name="Rounded Rectangle 32"/>
          <p:cNvSpPr/>
          <p:nvPr/>
        </p:nvSpPr>
        <p:spPr>
          <a:xfrm>
            <a:off x="7988808"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71688"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05</a:t>
            </a:r>
          </a:p>
        </p:txBody>
      </p:sp>
      <p:sp>
        <p:nvSpPr>
          <p:cNvPr id="35" name="Oval 34"/>
          <p:cNvSpPr/>
          <p:nvPr/>
        </p:nvSpPr>
        <p:spPr>
          <a:xfrm>
            <a:off x="8831580"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compass_w.png"/>
          <p:cNvPicPr>
            <a:picLocks noChangeAspect="1"/>
          </p:cNvPicPr>
          <p:nvPr/>
        </p:nvPicPr>
        <p:blipFill>
          <a:blip r:embed="rId7"/>
          <a:stretch>
            <a:fillRect/>
          </a:stretch>
        </p:blipFill>
        <p:spPr>
          <a:xfrm>
            <a:off x="8985199" y="2119579"/>
            <a:ext cx="332841" cy="332841"/>
          </a:xfrm>
          <a:prstGeom prst="rect">
            <a:avLst/>
          </a:prstGeom>
        </p:spPr>
      </p:pic>
      <p:sp>
        <p:nvSpPr>
          <p:cNvPr id="37" name="TextBox 36"/>
          <p:cNvSpPr txBox="1"/>
          <p:nvPr/>
        </p:nvSpPr>
        <p:spPr>
          <a:xfrm>
            <a:off x="8171688"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Stratégie</a:t>
            </a:r>
          </a:p>
        </p:txBody>
      </p:sp>
      <p:sp>
        <p:nvSpPr>
          <p:cNvPr id="38" name="TextBox 37"/>
          <p:cNvSpPr txBox="1"/>
          <p:nvPr/>
        </p:nvSpPr>
        <p:spPr>
          <a:xfrm>
            <a:off x="8171688"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Positionnement, thèmes, rythme, objectifs chiffrés.</a:t>
            </a:r>
          </a:p>
        </p:txBody>
      </p:sp>
      <p:sp>
        <p:nvSpPr>
          <p:cNvPr id="39" name="Rounded Rectangle 38"/>
          <p:cNvSpPr/>
          <p:nvPr/>
        </p:nvSpPr>
        <p:spPr>
          <a:xfrm>
            <a:off x="9837420" y="1737360"/>
            <a:ext cx="1711452" cy="42062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20300" y="1874519"/>
            <a:ext cx="1482852" cy="822960"/>
          </a:xfrm>
          <a:prstGeom prst="rect">
            <a:avLst/>
          </a:prstGeom>
          <a:noFill/>
        </p:spPr>
        <p:txBody>
          <a:bodyPr wrap="square" anchor="t" lIns="18288" rIns="18288" tIns="18288" bIns="18288">
            <a:spAutoFit/>
          </a:bodyPr>
          <a:lstStyle/>
          <a:p>
            <a:pPr algn="l">
              <a:lnSpc>
                <a:spcPct val="112000"/>
              </a:lnSpc>
              <a:spcAft>
                <a:spcPts val="400"/>
              </a:spcAft>
            </a:pPr>
            <a:r>
              <a:rPr sz="4000" b="1" i="0">
                <a:solidFill>
                  <a:srgbClr val="00AED4"/>
                </a:solidFill>
                <a:latin typeface="Funnel Display"/>
              </a:rPr>
              <a:t>06</a:t>
            </a:r>
          </a:p>
        </p:txBody>
      </p:sp>
      <p:sp>
        <p:nvSpPr>
          <p:cNvPr id="41" name="Oval 40"/>
          <p:cNvSpPr/>
          <p:nvPr/>
        </p:nvSpPr>
        <p:spPr>
          <a:xfrm>
            <a:off x="10680192" y="196596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heck-circle_w.png"/>
          <p:cNvPicPr>
            <a:picLocks noChangeAspect="1"/>
          </p:cNvPicPr>
          <p:nvPr/>
        </p:nvPicPr>
        <p:blipFill>
          <a:blip r:embed="rId8"/>
          <a:stretch>
            <a:fillRect/>
          </a:stretch>
        </p:blipFill>
        <p:spPr>
          <a:xfrm>
            <a:off x="10833811" y="2119579"/>
            <a:ext cx="332841" cy="332841"/>
          </a:xfrm>
          <a:prstGeom prst="rect">
            <a:avLst/>
          </a:prstGeom>
        </p:spPr>
      </p:pic>
      <p:sp>
        <p:nvSpPr>
          <p:cNvPr id="43" name="TextBox 42"/>
          <p:cNvSpPr txBox="1"/>
          <p:nvPr/>
        </p:nvSpPr>
        <p:spPr>
          <a:xfrm>
            <a:off x="10020300" y="2788920"/>
            <a:ext cx="1437132" cy="822960"/>
          </a:xfrm>
          <a:prstGeom prst="rect">
            <a:avLst/>
          </a:prstGeom>
          <a:noFill/>
        </p:spPr>
        <p:txBody>
          <a:bodyPr wrap="square" anchor="t" lIns="18288" rIns="18288" tIns="18288" bIns="18288">
            <a:spAutoFit/>
          </a:bodyPr>
          <a:lstStyle/>
          <a:p>
            <a:pPr algn="l">
              <a:lnSpc>
                <a:spcPct val="100000"/>
              </a:lnSpc>
              <a:spcAft>
                <a:spcPts val="400"/>
              </a:spcAft>
            </a:pPr>
            <a:r>
              <a:rPr sz="1600" b="1" i="0">
                <a:solidFill>
                  <a:srgbClr val="232754"/>
                </a:solidFill>
                <a:latin typeface="Funnel Display"/>
              </a:rPr>
              <a:t>Prêt à valider</a:t>
            </a:r>
          </a:p>
        </p:txBody>
      </p:sp>
      <p:sp>
        <p:nvSpPr>
          <p:cNvPr id="44" name="TextBox 43"/>
          <p:cNvSpPr txBox="1"/>
          <p:nvPr/>
        </p:nvSpPr>
        <p:spPr>
          <a:xfrm>
            <a:off x="10020300" y="3611880"/>
            <a:ext cx="1437132" cy="21945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Profil réécrit, cinq publications, calendrier.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QU'IL FAUT RETENIR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L'essentiel en trois points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0020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47672"/>
            <a:ext cx="731520" cy="73152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nstagram_w.png"/>
          <p:cNvPicPr>
            <a:picLocks noChangeAspect="1"/>
          </p:cNvPicPr>
          <p:nvPr/>
        </p:nvPicPr>
        <p:blipFill>
          <a:blip r:embed="rId3"/>
          <a:stretch>
            <a:fillRect/>
          </a:stretch>
        </p:blipFill>
        <p:spPr>
          <a:xfrm>
            <a:off x="952804" y="2123236"/>
            <a:ext cx="380390" cy="380390"/>
          </a:xfrm>
          <a:prstGeom prst="rect">
            <a:avLst/>
          </a:prstGeom>
        </p:spPr>
      </p:pic>
      <p:sp>
        <p:nvSpPr>
          <p:cNvPr id="12" name="TextBox 11"/>
          <p:cNvSpPr txBox="1"/>
          <p:nvPr/>
        </p:nvSpPr>
        <p:spPr>
          <a:xfrm>
            <a:off x="1783080" y="176479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Instagram est sa force : 70 161 abonnés, compte certifié, une médiane de 1 890 j'aime</a:t>
            </a:r>
          </a:p>
        </p:txBody>
      </p:sp>
      <p:sp>
        <p:nvSpPr>
          <p:cNvPr id="13" name="TextBox 12"/>
          <p:cNvSpPr txBox="1"/>
          <p:nvPr/>
        </p:nvSpPr>
        <p:spPr>
          <a:xfrm>
            <a:off x="1783080" y="216712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C'est 3,3 % de ses abonnés qui aiment chaque publication de janvier à août, plus que Paola Audrey Ndengue (1,4 %) ou Marie-Paule Adje (0,5 %). Ce qui marche le mieux : sa vie, ses proches, ses tenues, en carrousel.</a:t>
            </a:r>
          </a:p>
        </p:txBody>
      </p:sp>
      <p:sp>
        <p:nvSpPr>
          <p:cNvPr id="14" name="Rounded Rectangle 13"/>
          <p:cNvSpPr/>
          <p:nvPr/>
        </p:nvSpPr>
        <p:spPr>
          <a:xfrm>
            <a:off x="548640" y="315468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77240" y="3502152"/>
            <a:ext cx="731520" cy="73152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w.png"/>
          <p:cNvPicPr>
            <a:picLocks noChangeAspect="1"/>
          </p:cNvPicPr>
          <p:nvPr/>
        </p:nvPicPr>
        <p:blipFill>
          <a:blip r:embed="rId4"/>
          <a:stretch>
            <a:fillRect/>
          </a:stretch>
        </p:blipFill>
        <p:spPr>
          <a:xfrm>
            <a:off x="952804" y="3677716"/>
            <a:ext cx="380390" cy="380390"/>
          </a:xfrm>
          <a:prstGeom prst="rect">
            <a:avLst/>
          </a:prstGeom>
        </p:spPr>
      </p:pic>
      <p:sp>
        <p:nvSpPr>
          <p:cNvPr id="17" name="TextBox 16"/>
          <p:cNvSpPr txBox="1"/>
          <p:nvPr/>
        </p:nvSpPr>
        <p:spPr>
          <a:xfrm>
            <a:off x="1783080" y="331927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Depuis septembre, Instagram décroche : 729 puis 503 j'aime en médiane</a:t>
            </a:r>
          </a:p>
        </p:txBody>
      </p:sp>
      <p:sp>
        <p:nvSpPr>
          <p:cNvPr id="18" name="TextBox 17"/>
          <p:cNvSpPr txBox="1"/>
          <p:nvPr/>
        </p:nvSpPr>
        <p:spPr>
          <a:xfrm>
            <a:off x="1783080" y="372160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Les mois précédents tournaient entre 1 350 et 2 800. En septembre et octobre, 12 publications sur 17 sont des vidéos, souvent des produits Traditions ou des partenariats. Les vues des vidéos ont été divisées par deux (22 700 à 10 900).</a:t>
            </a:r>
          </a:p>
        </p:txBody>
      </p:sp>
      <p:sp>
        <p:nvSpPr>
          <p:cNvPr id="19" name="Rounded Rectangle 18"/>
          <p:cNvSpPr/>
          <p:nvPr/>
        </p:nvSpPr>
        <p:spPr>
          <a:xfrm>
            <a:off x="548640" y="4709160"/>
            <a:ext cx="11091672" cy="1417320"/>
          </a:xfrm>
          <a:prstGeom prst="roundRect">
            <a:avLst>
              <a:gd name="adj" fmla="val 7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77240" y="5056632"/>
            <a:ext cx="731520" cy="73152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linkedin_w.png"/>
          <p:cNvPicPr>
            <a:picLocks noChangeAspect="1"/>
          </p:cNvPicPr>
          <p:nvPr/>
        </p:nvPicPr>
        <p:blipFill>
          <a:blip r:embed="rId5"/>
          <a:stretch>
            <a:fillRect/>
          </a:stretch>
        </p:blipFill>
        <p:spPr>
          <a:xfrm>
            <a:off x="952804" y="5232196"/>
            <a:ext cx="380390" cy="380390"/>
          </a:xfrm>
          <a:prstGeom prst="rect">
            <a:avLst/>
          </a:prstGeom>
        </p:spPr>
      </p:pic>
      <p:sp>
        <p:nvSpPr>
          <p:cNvPr id="22" name="TextBox 21"/>
          <p:cNvSpPr txBox="1"/>
          <p:nvPr/>
        </p:nvSpPr>
        <p:spPr>
          <a:xfrm>
            <a:off x="1783080" y="4873752"/>
            <a:ext cx="9601200" cy="41148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LinkedIn est presque vide : 3 publications en dix mois, 956 abonnés</a:t>
            </a:r>
          </a:p>
        </p:txBody>
      </p:sp>
      <p:sp>
        <p:nvSpPr>
          <p:cNvPr id="23" name="TextBox 22"/>
          <p:cNvSpPr txBox="1"/>
          <p:nvPr/>
        </p:nvSpPr>
        <p:spPr>
          <a:xfrm>
            <a:off x="1783080" y="5276088"/>
            <a:ext cx="9646920" cy="822960"/>
          </a:xfrm>
          <a:prstGeom prst="rect">
            <a:avLst/>
          </a:prstGeom>
          <a:noFill/>
        </p:spPr>
        <p:txBody>
          <a:bodyPr wrap="square" anchor="t" lIns="18288" rIns="18288" tIns="18288" bIns="18288">
            <a:spAutoFit/>
          </a:bodyPr>
          <a:lstStyle/>
          <a:p>
            <a:pPr algn="l">
              <a:lnSpc>
                <a:spcPct val="108000"/>
              </a:lnSpc>
              <a:spcAft>
                <a:spcPts val="400"/>
              </a:spcAft>
            </a:pPr>
            <a:r>
              <a:rPr sz="1150" b="0" i="0">
                <a:solidFill>
                  <a:srgbClr val="2B2A35"/>
                </a:solidFill>
                <a:latin typeface="Work Sans"/>
              </a:rPr>
              <a:t>Le profil est bien écrit et la bannière juste, mais la voix d'entrepreneure, de consultante et de modératrice qu'elle montre sur scène n'y existe pas encore. C'est le chantier qui rapporte le plus pour le moins d'effort.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20_DWGxsI_jLU_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01</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Son histoire et sa marque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Mode, médias, restauration, conseil : une même personne derrière cinq casquettes.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SON PARCOURS, D'APRÈS SON PROFIL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De New York à Abidjan, une carrière bâtie dans la mode et le commerce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ectangle 8"/>
          <p:cNvSpPr/>
          <p:nvPr/>
        </p:nvSpPr>
        <p:spPr>
          <a:xfrm>
            <a:off x="822960" y="3749039"/>
            <a:ext cx="10515600" cy="45720"/>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04088"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Études</a:t>
            </a:r>
          </a:p>
        </p:txBody>
      </p:sp>
      <p:sp>
        <p:nvSpPr>
          <p:cNvPr id="12" name="TextBox 11"/>
          <p:cNvSpPr txBox="1"/>
          <p:nvPr/>
        </p:nvSpPr>
        <p:spPr>
          <a:xfrm>
            <a:off x="4572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LIM College (mode), puis ICD Paris</a:t>
            </a:r>
          </a:p>
        </p:txBody>
      </p:sp>
      <p:sp>
        <p:nvSpPr>
          <p:cNvPr id="13" name="TextBox 12"/>
          <p:cNvSpPr txBox="1"/>
          <p:nvPr/>
        </p:nvSpPr>
        <p:spPr>
          <a:xfrm>
            <a:off x="4572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New York · Paris</a:t>
            </a:r>
          </a:p>
        </p:txBody>
      </p:sp>
      <p:sp>
        <p:nvSpPr>
          <p:cNvPr id="14" name="Oval 13"/>
          <p:cNvSpPr/>
          <p:nvPr/>
        </p:nvSpPr>
        <p:spPr>
          <a:xfrm>
            <a:off x="280720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148839"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2013</a:t>
            </a:r>
          </a:p>
        </p:txBody>
      </p:sp>
      <p:sp>
        <p:nvSpPr>
          <p:cNvPr id="16" name="TextBox 15"/>
          <p:cNvSpPr txBox="1"/>
          <p:nvPr/>
        </p:nvSpPr>
        <p:spPr>
          <a:xfrm>
            <a:off x="2148839"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Cofonde We Have A Dream</a:t>
            </a:r>
          </a:p>
        </p:txBody>
      </p:sp>
      <p:sp>
        <p:nvSpPr>
          <p:cNvPr id="17" name="TextBox 16"/>
          <p:cNvSpPr txBox="1"/>
          <p:nvPr/>
        </p:nvSpPr>
        <p:spPr>
          <a:xfrm>
            <a:off x="2148839"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Culture africaine</a:t>
            </a:r>
          </a:p>
        </p:txBody>
      </p:sp>
      <p:sp>
        <p:nvSpPr>
          <p:cNvPr id="18" name="Oval 17"/>
          <p:cNvSpPr/>
          <p:nvPr/>
        </p:nvSpPr>
        <p:spPr>
          <a:xfrm>
            <a:off x="4910328" y="3648456"/>
            <a:ext cx="256032" cy="256032"/>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2017 – 2019</a:t>
            </a:r>
          </a:p>
        </p:txBody>
      </p:sp>
      <p:sp>
        <p:nvSpPr>
          <p:cNvPr id="20" name="TextBox 19"/>
          <p:cNvSpPr txBox="1"/>
          <p:nvPr/>
        </p:nvSpPr>
        <p:spPr>
          <a:xfrm>
            <a:off x="425196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Ambassadrice des ventes Gucci</a:t>
            </a:r>
          </a:p>
        </p:txBody>
      </p:sp>
      <p:sp>
        <p:nvSpPr>
          <p:cNvPr id="21" name="TextBox 20"/>
          <p:cNvSpPr txBox="1"/>
          <p:nvPr/>
        </p:nvSpPr>
        <p:spPr>
          <a:xfrm>
            <a:off x="425196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Paris</a:t>
            </a:r>
          </a:p>
        </p:txBody>
      </p:sp>
      <p:sp>
        <p:nvSpPr>
          <p:cNvPr id="22" name="Oval 21"/>
          <p:cNvSpPr/>
          <p:nvPr/>
        </p:nvSpPr>
        <p:spPr>
          <a:xfrm>
            <a:off x="7013448" y="3648456"/>
            <a:ext cx="256032" cy="256032"/>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2020 – 2022</a:t>
            </a:r>
          </a:p>
        </p:txBody>
      </p:sp>
      <p:sp>
        <p:nvSpPr>
          <p:cNvPr id="24" name="TextBox 23"/>
          <p:cNvSpPr txBox="1"/>
          <p:nvPr/>
        </p:nvSpPr>
        <p:spPr>
          <a:xfrm>
            <a:off x="635508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LADILI Consulting, puis MZK Group</a:t>
            </a:r>
          </a:p>
        </p:txBody>
      </p:sp>
      <p:sp>
        <p:nvSpPr>
          <p:cNvPr id="25" name="TextBox 24"/>
          <p:cNvSpPr txBox="1"/>
          <p:nvPr/>
        </p:nvSpPr>
        <p:spPr>
          <a:xfrm>
            <a:off x="635508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Projets, marketing</a:t>
            </a:r>
          </a:p>
        </p:txBody>
      </p:sp>
      <p:sp>
        <p:nvSpPr>
          <p:cNvPr id="26" name="Oval 25"/>
          <p:cNvSpPr/>
          <p:nvPr/>
        </p:nvSpPr>
        <p:spPr>
          <a:xfrm>
            <a:off x="9116567" y="3648456"/>
            <a:ext cx="256032" cy="256032"/>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58200" y="2331720"/>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2023</a:t>
            </a:r>
          </a:p>
        </p:txBody>
      </p:sp>
      <p:sp>
        <p:nvSpPr>
          <p:cNvPr id="28" name="TextBox 27"/>
          <p:cNvSpPr txBox="1"/>
          <p:nvPr/>
        </p:nvSpPr>
        <p:spPr>
          <a:xfrm>
            <a:off x="8458200" y="2633472"/>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Tabalé Consulting, Traditions, LIFE TV</a:t>
            </a:r>
          </a:p>
        </p:txBody>
      </p:sp>
      <p:sp>
        <p:nvSpPr>
          <p:cNvPr id="29" name="TextBox 28"/>
          <p:cNvSpPr txBox="1"/>
          <p:nvPr/>
        </p:nvSpPr>
        <p:spPr>
          <a:xfrm>
            <a:off x="8458200" y="3200400"/>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Abidjan</a:t>
            </a:r>
          </a:p>
        </p:txBody>
      </p:sp>
      <p:sp>
        <p:nvSpPr>
          <p:cNvPr id="30" name="Oval 29"/>
          <p:cNvSpPr/>
          <p:nvPr/>
        </p:nvSpPr>
        <p:spPr>
          <a:xfrm>
            <a:off x="11219688" y="3648456"/>
            <a:ext cx="256032" cy="256032"/>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61320" y="4069079"/>
            <a:ext cx="1554480" cy="320040"/>
          </a:xfrm>
          <a:prstGeom prst="rect">
            <a:avLst/>
          </a:prstGeom>
          <a:noFill/>
        </p:spPr>
        <p:txBody>
          <a:bodyPr wrap="square" anchor="t" lIns="18288" rIns="18288" tIns="18288" bIns="18288">
            <a:spAutoFit/>
          </a:bodyPr>
          <a:lstStyle/>
          <a:p>
            <a:pPr algn="ctr">
              <a:lnSpc>
                <a:spcPct val="112000"/>
              </a:lnSpc>
              <a:spcAft>
                <a:spcPts val="400"/>
              </a:spcAft>
            </a:pPr>
            <a:r>
              <a:rPr sz="1200" b="1" i="0">
                <a:solidFill>
                  <a:srgbClr val="007ABB"/>
                </a:solidFill>
                <a:latin typeface="Space Grotesk"/>
              </a:rPr>
              <a:t>Déc. 2025</a:t>
            </a:r>
          </a:p>
        </p:txBody>
      </p:sp>
      <p:sp>
        <p:nvSpPr>
          <p:cNvPr id="32" name="TextBox 31"/>
          <p:cNvSpPr txBox="1"/>
          <p:nvPr/>
        </p:nvSpPr>
        <p:spPr>
          <a:xfrm>
            <a:off x="10561320" y="4370831"/>
            <a:ext cx="1554480" cy="731520"/>
          </a:xfrm>
          <a:prstGeom prst="rect">
            <a:avLst/>
          </a:prstGeom>
          <a:noFill/>
        </p:spPr>
        <p:txBody>
          <a:bodyPr wrap="square" anchor="t" lIns="18288" rIns="18288" tIns="18288" bIns="18288">
            <a:spAutoFit/>
          </a:bodyPr>
          <a:lstStyle/>
          <a:p>
            <a:pPr algn="ctr">
              <a:lnSpc>
                <a:spcPct val="100000"/>
              </a:lnSpc>
              <a:spcAft>
                <a:spcPts val="400"/>
              </a:spcAft>
            </a:pPr>
            <a:r>
              <a:rPr sz="1050" b="1" i="0">
                <a:solidFill>
                  <a:srgbClr val="232754"/>
                </a:solidFill>
                <a:latin typeface="Funnel Display"/>
              </a:rPr>
              <a:t>Fonde The Grill Factory</a:t>
            </a:r>
          </a:p>
        </p:txBody>
      </p:sp>
      <p:sp>
        <p:nvSpPr>
          <p:cNvPr id="33" name="TextBox 32"/>
          <p:cNvSpPr txBox="1"/>
          <p:nvPr/>
        </p:nvSpPr>
        <p:spPr>
          <a:xfrm>
            <a:off x="10561320" y="4937759"/>
            <a:ext cx="1554480" cy="365760"/>
          </a:xfrm>
          <a:prstGeom prst="rect">
            <a:avLst/>
          </a:prstGeom>
          <a:noFill/>
        </p:spPr>
        <p:txBody>
          <a:bodyPr wrap="square" anchor="t" lIns="18288" rIns="18288" tIns="18288" bIns="18288">
            <a:spAutoFit/>
          </a:bodyPr>
          <a:lstStyle/>
          <a:p>
            <a:pPr algn="ctr">
              <a:lnSpc>
                <a:spcPct val="100000"/>
              </a:lnSpc>
              <a:spcAft>
                <a:spcPts val="400"/>
              </a:spcAft>
            </a:pPr>
            <a:r>
              <a:rPr sz="900" b="0" i="0">
                <a:solidFill>
                  <a:srgbClr val="8F8F9A"/>
                </a:solidFill>
                <a:latin typeface="Work Sans"/>
              </a:rPr>
              <a:t>Angré, Abidjan</a:t>
            </a:r>
          </a:p>
        </p:txBody>
      </p:sp>
      <p:sp>
        <p:nvSpPr>
          <p:cNvPr id="34" name="TextBox 33"/>
          <p:cNvSpPr txBox="1"/>
          <p:nvPr/>
        </p:nvSpPr>
        <p:spPr>
          <a:xfrm>
            <a:off x="548640" y="5715000"/>
            <a:ext cx="11064240" cy="45720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Work Sans"/>
              </a:rPr>
              <a:t>Un fil rouge : le commerce de marque (Foot Locker, American Vintage, Gucci), puis la construction de ses propres marques à Abidjan.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PORTE AUJOURD'HUI, D'APRÈS SA BIO INSTAGRAM ET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Cinq casquettes, une même signature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3152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ideo_w.png"/>
          <p:cNvPicPr>
            <a:picLocks noChangeAspect="1"/>
          </p:cNvPicPr>
          <p:nvPr/>
        </p:nvPicPr>
        <p:blipFill>
          <a:blip r:embed="rId3"/>
          <a:stretch>
            <a:fillRect/>
          </a:stretch>
        </p:blipFill>
        <p:spPr>
          <a:xfrm>
            <a:off x="889528" y="2032528"/>
            <a:ext cx="342351" cy="342351"/>
          </a:xfrm>
          <a:prstGeom prst="rect">
            <a:avLst/>
          </a:prstGeom>
        </p:spPr>
      </p:pic>
      <p:sp>
        <p:nvSpPr>
          <p:cNvPr id="12" name="TextBox 11"/>
          <p:cNvSpPr txBox="1"/>
          <p:nvPr/>
        </p:nvSpPr>
        <p:spPr>
          <a:xfrm>
            <a:off x="73152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Animatrice TV</a:t>
            </a:r>
          </a:p>
        </p:txBody>
      </p:sp>
      <p:sp>
        <p:nvSpPr>
          <p:cNvPr id="13" name="TextBox 12"/>
          <p:cNvSpPr txBox="1"/>
          <p:nvPr/>
        </p:nvSpPr>
        <p:spPr>
          <a:xfrm>
            <a:off x="73152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LIFE TV depuis 2023 ; maîtresse de cérémonie et modératrice (Bold Conversations by Veuve Clicquot, deux années de suite).</a:t>
            </a:r>
          </a:p>
        </p:txBody>
      </p:sp>
      <p:sp>
        <p:nvSpPr>
          <p:cNvPr id="14" name="Rounded Rectangle 13"/>
          <p:cNvSpPr/>
          <p:nvPr/>
        </p:nvSpPr>
        <p:spPr>
          <a:xfrm>
            <a:off x="278892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971800" y="1874519"/>
            <a:ext cx="658368" cy="658368"/>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mic_w.png"/>
          <p:cNvPicPr>
            <a:picLocks noChangeAspect="1"/>
          </p:cNvPicPr>
          <p:nvPr/>
        </p:nvPicPr>
        <p:blipFill>
          <a:blip r:embed="rId4"/>
          <a:stretch>
            <a:fillRect/>
          </a:stretch>
        </p:blipFill>
        <p:spPr>
          <a:xfrm>
            <a:off x="3129808" y="2032528"/>
            <a:ext cx="342351" cy="342351"/>
          </a:xfrm>
          <a:prstGeom prst="rect">
            <a:avLst/>
          </a:prstGeom>
        </p:spPr>
      </p:pic>
      <p:sp>
        <p:nvSpPr>
          <p:cNvPr id="17" name="TextBox 16"/>
          <p:cNvSpPr txBox="1"/>
          <p:nvPr/>
        </p:nvSpPr>
        <p:spPr>
          <a:xfrm>
            <a:off x="297180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Malea Podcast</a:t>
            </a:r>
          </a:p>
        </p:txBody>
      </p:sp>
      <p:sp>
        <p:nvSpPr>
          <p:cNvPr id="18" name="TextBox 17"/>
          <p:cNvSpPr txBox="1"/>
          <p:nvPr/>
        </p:nvSpPr>
        <p:spPr>
          <a:xfrm>
            <a:off x="297180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 Des conversations authentiques, inspirantes et libératrices ». 1 993 abonnés sur Instagram.</a:t>
            </a:r>
          </a:p>
        </p:txBody>
      </p:sp>
      <p:sp>
        <p:nvSpPr>
          <p:cNvPr id="19" name="Rounded Rectangle 18"/>
          <p:cNvSpPr/>
          <p:nvPr/>
        </p:nvSpPr>
        <p:spPr>
          <a:xfrm>
            <a:off x="502920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5212080" y="1874519"/>
            <a:ext cx="658368" cy="658368"/>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gem_w.png"/>
          <p:cNvPicPr>
            <a:picLocks noChangeAspect="1"/>
          </p:cNvPicPr>
          <p:nvPr/>
        </p:nvPicPr>
        <p:blipFill>
          <a:blip r:embed="rId5"/>
          <a:stretch>
            <a:fillRect/>
          </a:stretch>
        </p:blipFill>
        <p:spPr>
          <a:xfrm>
            <a:off x="5370088" y="2032528"/>
            <a:ext cx="342351" cy="342351"/>
          </a:xfrm>
          <a:prstGeom prst="rect">
            <a:avLst/>
          </a:prstGeom>
        </p:spPr>
      </p:pic>
      <p:sp>
        <p:nvSpPr>
          <p:cNvPr id="22" name="TextBox 21"/>
          <p:cNvSpPr txBox="1"/>
          <p:nvPr/>
        </p:nvSpPr>
        <p:spPr>
          <a:xfrm>
            <a:off x="521208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Traditions</a:t>
            </a:r>
          </a:p>
        </p:txBody>
      </p:sp>
      <p:sp>
        <p:nvSpPr>
          <p:cNvPr id="23" name="TextBox 22"/>
          <p:cNvSpPr txBox="1"/>
          <p:nvPr/>
        </p:nvSpPr>
        <p:spPr>
          <a:xfrm>
            <a:off x="521208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Directrice artistique d'une marque de mode héritée, qu'elle repositionne. 15 206 abonnés. Capsule Shades of Bogolan en septembre.</a:t>
            </a:r>
          </a:p>
        </p:txBody>
      </p:sp>
      <p:sp>
        <p:nvSpPr>
          <p:cNvPr id="24" name="Rounded Rectangle 23"/>
          <p:cNvSpPr/>
          <p:nvPr/>
        </p:nvSpPr>
        <p:spPr>
          <a:xfrm>
            <a:off x="726948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52360" y="1874519"/>
            <a:ext cx="658368" cy="658368"/>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iefcase_w.png"/>
          <p:cNvPicPr>
            <a:picLocks noChangeAspect="1"/>
          </p:cNvPicPr>
          <p:nvPr/>
        </p:nvPicPr>
        <p:blipFill>
          <a:blip r:embed="rId6"/>
          <a:stretch>
            <a:fillRect/>
          </a:stretch>
        </p:blipFill>
        <p:spPr>
          <a:xfrm>
            <a:off x="7610368" y="2032528"/>
            <a:ext cx="342351" cy="342351"/>
          </a:xfrm>
          <a:prstGeom prst="rect">
            <a:avLst/>
          </a:prstGeom>
        </p:spPr>
      </p:pic>
      <p:sp>
        <p:nvSpPr>
          <p:cNvPr id="27" name="TextBox 26"/>
          <p:cNvSpPr txBox="1"/>
          <p:nvPr/>
        </p:nvSpPr>
        <p:spPr>
          <a:xfrm>
            <a:off x="745236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Tabalé Consulting</a:t>
            </a:r>
          </a:p>
        </p:txBody>
      </p:sp>
      <p:sp>
        <p:nvSpPr>
          <p:cNvPr id="28" name="TextBox 27"/>
          <p:cNvSpPr txBox="1"/>
          <p:nvPr/>
        </p:nvSpPr>
        <p:spPr>
          <a:xfrm>
            <a:off x="745236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Conseil en stratégie de communication et image de marque pour marques et institutions.</a:t>
            </a:r>
          </a:p>
        </p:txBody>
      </p:sp>
      <p:sp>
        <p:nvSpPr>
          <p:cNvPr id="29" name="Rounded Rectangle 28"/>
          <p:cNvSpPr/>
          <p:nvPr/>
        </p:nvSpPr>
        <p:spPr>
          <a:xfrm>
            <a:off x="9509760" y="1691640"/>
            <a:ext cx="2103120" cy="434340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0" y="1874519"/>
            <a:ext cx="658368" cy="658368"/>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tar_w.png"/>
          <p:cNvPicPr>
            <a:picLocks noChangeAspect="1"/>
          </p:cNvPicPr>
          <p:nvPr/>
        </p:nvPicPr>
        <p:blipFill>
          <a:blip r:embed="rId7"/>
          <a:stretch>
            <a:fillRect/>
          </a:stretch>
        </p:blipFill>
        <p:spPr>
          <a:xfrm>
            <a:off x="9850648" y="2032528"/>
            <a:ext cx="342351" cy="342351"/>
          </a:xfrm>
          <a:prstGeom prst="rect">
            <a:avLst/>
          </a:prstGeom>
        </p:spPr>
      </p:pic>
      <p:sp>
        <p:nvSpPr>
          <p:cNvPr id="32" name="TextBox 31"/>
          <p:cNvSpPr txBox="1"/>
          <p:nvPr/>
        </p:nvSpPr>
        <p:spPr>
          <a:xfrm>
            <a:off x="9692640" y="2697480"/>
            <a:ext cx="1783080" cy="640080"/>
          </a:xfrm>
          <a:prstGeom prst="rect">
            <a:avLst/>
          </a:prstGeom>
          <a:noFill/>
        </p:spPr>
        <p:txBody>
          <a:bodyPr wrap="square" anchor="t" lIns="18288" rIns="18288" tIns="18288" bIns="18288">
            <a:spAutoFit/>
          </a:bodyPr>
          <a:lstStyle/>
          <a:p>
            <a:pPr algn="l">
              <a:lnSpc>
                <a:spcPct val="100000"/>
              </a:lnSpc>
              <a:spcAft>
                <a:spcPts val="400"/>
              </a:spcAft>
            </a:pPr>
            <a:r>
              <a:rPr sz="1500" b="1" i="0">
                <a:solidFill>
                  <a:srgbClr val="232754"/>
                </a:solidFill>
                <a:latin typeface="Funnel Display"/>
              </a:rPr>
              <a:t>The Grill Factory</a:t>
            </a:r>
          </a:p>
        </p:txBody>
      </p:sp>
      <p:sp>
        <p:nvSpPr>
          <p:cNvPr id="33" name="TextBox 32"/>
          <p:cNvSpPr txBox="1"/>
          <p:nvPr/>
        </p:nvSpPr>
        <p:spPr>
          <a:xfrm>
            <a:off x="9692640" y="3337560"/>
            <a:ext cx="1783080" cy="2651760"/>
          </a:xfrm>
          <a:prstGeom prst="rect">
            <a:avLst/>
          </a:prstGeom>
          <a:noFill/>
        </p:spPr>
        <p:txBody>
          <a:bodyPr wrap="square" anchor="t" lIns="18288" rIns="18288" tIns="18288" bIns="18288">
            <a:spAutoFit/>
          </a:bodyPr>
          <a:lstStyle/>
          <a:p>
            <a:pPr algn="l">
              <a:lnSpc>
                <a:spcPct val="108000"/>
              </a:lnSpc>
              <a:spcAft>
                <a:spcPts val="400"/>
              </a:spcAft>
            </a:pPr>
            <a:r>
              <a:rPr sz="1050" b="0" i="0">
                <a:solidFill>
                  <a:srgbClr val="2B2A35"/>
                </a:solidFill>
                <a:latin typeface="Work Sans"/>
              </a:rPr>
              <a:t>Restauration rapide à Angré, lancée en décembre 2025.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CE QU'ELLE DÉFEND, RELEVÉ DANS SES PUBLICATIONS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valeurs, dans ses propres mots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quote_c.png"/>
          <p:cNvPicPr>
            <a:picLocks noChangeAspect="1"/>
          </p:cNvPicPr>
          <p:nvPr/>
        </p:nvPicPr>
        <p:blipFill>
          <a:blip r:embed="rId3"/>
          <a:stretch>
            <a:fillRect/>
          </a:stretch>
        </p:blipFill>
        <p:spPr>
          <a:xfrm>
            <a:off x="822959" y="1874519"/>
            <a:ext cx="384048" cy="384048"/>
          </a:xfrm>
          <a:prstGeom prst="rect">
            <a:avLst/>
          </a:prstGeom>
        </p:spPr>
      </p:pic>
      <p:sp>
        <p:nvSpPr>
          <p:cNvPr id="11" name="TextBox 10"/>
          <p:cNvSpPr txBox="1"/>
          <p:nvPr/>
        </p:nvSpPr>
        <p:spPr>
          <a:xfrm>
            <a:off x="822959"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La question n'est plus de savoir si les femmes veulent entreprendre. Elles le font déjà.</a:t>
            </a:r>
          </a:p>
        </p:txBody>
      </p:sp>
      <p:sp>
        <p:nvSpPr>
          <p:cNvPr id="12" name="TextBox 11"/>
          <p:cNvSpPr txBox="1"/>
          <p:nvPr/>
        </p:nvSpPr>
        <p:spPr>
          <a:xfrm>
            <a:off x="822959"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LinkedIn · 20 avril 2026 · Grandir et Briller (SGPME)</a:t>
            </a:r>
          </a:p>
        </p:txBody>
      </p:sp>
      <p:sp>
        <p:nvSpPr>
          <p:cNvPr id="13" name="Rounded Rectangle 12"/>
          <p:cNvSpPr/>
          <p:nvPr/>
        </p:nvSpPr>
        <p:spPr>
          <a:xfrm>
            <a:off x="6153912" y="1645920"/>
            <a:ext cx="5486400" cy="2148840"/>
          </a:xfrm>
          <a:prstGeom prst="roundRect">
            <a:avLst>
              <a:gd name="adj" fmla="val 6000"/>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quote_c.png"/>
          <p:cNvPicPr>
            <a:picLocks noChangeAspect="1"/>
          </p:cNvPicPr>
          <p:nvPr/>
        </p:nvPicPr>
        <p:blipFill>
          <a:blip r:embed="rId3"/>
          <a:stretch>
            <a:fillRect/>
          </a:stretch>
        </p:blipFill>
        <p:spPr>
          <a:xfrm>
            <a:off x="6428232" y="1874519"/>
            <a:ext cx="384048" cy="384048"/>
          </a:xfrm>
          <a:prstGeom prst="rect">
            <a:avLst/>
          </a:prstGeom>
        </p:spPr>
      </p:pic>
      <p:sp>
        <p:nvSpPr>
          <p:cNvPr id="15" name="TextBox 14"/>
          <p:cNvSpPr txBox="1"/>
          <p:nvPr/>
        </p:nvSpPr>
        <p:spPr>
          <a:xfrm>
            <a:off x="6428232" y="2377440"/>
            <a:ext cx="4937760" cy="914400"/>
          </a:xfrm>
          <a:prstGeom prst="rect">
            <a:avLst/>
          </a:prstGeom>
          <a:noFill/>
        </p:spPr>
        <p:txBody>
          <a:bodyPr wrap="square" anchor="t" lIns="18288" rIns="18288" tIns="18288" bIns="18288">
            <a:spAutoFit/>
          </a:bodyPr>
          <a:lstStyle/>
          <a:p>
            <a:pPr algn="l">
              <a:lnSpc>
                <a:spcPct val="108000"/>
              </a:lnSpc>
              <a:spcAft>
                <a:spcPts val="400"/>
              </a:spcAft>
            </a:pPr>
            <a:r>
              <a:rPr sz="1600" b="1" i="0">
                <a:solidFill>
                  <a:srgbClr val="FFFFFF"/>
                </a:solidFill>
                <a:latin typeface="Funnel Display"/>
              </a:rPr>
              <a:t>Le bogolan change de matière, de mouvement, d'allure, sans perdre son identité.</a:t>
            </a:r>
          </a:p>
        </p:txBody>
      </p:sp>
      <p:sp>
        <p:nvSpPr>
          <p:cNvPr id="16" name="TextBox 15"/>
          <p:cNvSpPr txBox="1"/>
          <p:nvPr/>
        </p:nvSpPr>
        <p:spPr>
          <a:xfrm>
            <a:off x="6428232" y="33375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000" b="0" i="0">
                <a:solidFill>
                  <a:srgbClr val="B8D4F0"/>
                </a:solidFill>
                <a:latin typeface="Space Grotesk"/>
              </a:rPr>
              <a:t>Instagram · 18 septembre 2026 · Shades of Bogolan</a:t>
            </a:r>
          </a:p>
        </p:txBody>
      </p:sp>
      <p:sp>
        <p:nvSpPr>
          <p:cNvPr id="17" name="Rounded Rectangle 16"/>
          <p:cNvSpPr/>
          <p:nvPr/>
        </p:nvSpPr>
        <p:spPr>
          <a:xfrm>
            <a:off x="548640"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users_b.png"/>
          <p:cNvPicPr>
            <a:picLocks noChangeAspect="1"/>
          </p:cNvPicPr>
          <p:nvPr/>
        </p:nvPicPr>
        <p:blipFill>
          <a:blip r:embed="rId4"/>
          <a:stretch>
            <a:fillRect/>
          </a:stretch>
        </p:blipFill>
        <p:spPr>
          <a:xfrm>
            <a:off x="777240" y="4206240"/>
            <a:ext cx="384048" cy="384048"/>
          </a:xfrm>
          <a:prstGeom prst="rect">
            <a:avLst/>
          </a:prstGeom>
        </p:spPr>
      </p:pic>
      <p:sp>
        <p:nvSpPr>
          <p:cNvPr id="20" name="TextBox 19"/>
          <p:cNvSpPr txBox="1"/>
          <p:nvPr/>
        </p:nvSpPr>
        <p:spPr>
          <a:xfrm>
            <a:off x="128016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femmes qui construisent</a:t>
            </a:r>
          </a:p>
        </p:txBody>
      </p:sp>
      <p:sp>
        <p:nvSpPr>
          <p:cNvPr id="21" name="TextBox 20"/>
          <p:cNvSpPr txBox="1"/>
          <p:nvPr/>
        </p:nvSpPr>
        <p:spPr>
          <a:xfrm>
            <a:off x="777240"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Entrepreneuriat féminin, rôles modèles, passage à l'échelle : ses sujets de scène et de LinkedIn.</a:t>
            </a:r>
          </a:p>
        </p:txBody>
      </p:sp>
      <p:sp>
        <p:nvSpPr>
          <p:cNvPr id="22" name="Rounded Rectangle 21"/>
          <p:cNvSpPr/>
          <p:nvPr/>
        </p:nvSpPr>
        <p:spPr>
          <a:xfrm>
            <a:off x="429767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7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gem_b.png"/>
          <p:cNvPicPr>
            <a:picLocks noChangeAspect="1"/>
          </p:cNvPicPr>
          <p:nvPr/>
        </p:nvPicPr>
        <p:blipFill>
          <a:blip r:embed="rId5"/>
          <a:stretch>
            <a:fillRect/>
          </a:stretch>
        </p:blipFill>
        <p:spPr>
          <a:xfrm>
            <a:off x="4526279" y="4206240"/>
            <a:ext cx="384048" cy="384048"/>
          </a:xfrm>
          <a:prstGeom prst="rect">
            <a:avLst/>
          </a:prstGeom>
        </p:spPr>
      </p:pic>
      <p:sp>
        <p:nvSpPr>
          <p:cNvPr id="25" name="TextBox 24"/>
          <p:cNvSpPr txBox="1"/>
          <p:nvPr/>
        </p:nvSpPr>
        <p:spPr>
          <a:xfrm>
            <a:off x="5029199"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L'héritage modernisé</a:t>
            </a:r>
          </a:p>
        </p:txBody>
      </p:sp>
      <p:sp>
        <p:nvSpPr>
          <p:cNvPr id="26" name="TextBox 25"/>
          <p:cNvSpPr txBox="1"/>
          <p:nvPr/>
        </p:nvSpPr>
        <p:spPr>
          <a:xfrm>
            <a:off x="452627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Traditions, le bogolan, la culture africaine depuis We Have A Dream en 2013.</a:t>
            </a:r>
          </a:p>
        </p:txBody>
      </p:sp>
      <p:sp>
        <p:nvSpPr>
          <p:cNvPr id="27" name="Rounded Rectangle 26"/>
          <p:cNvSpPr/>
          <p:nvPr/>
        </p:nvSpPr>
        <p:spPr>
          <a:xfrm>
            <a:off x="8046719" y="4023360"/>
            <a:ext cx="3593592" cy="210312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4187952"/>
            <a:ext cx="54864" cy="177393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heart_b.png"/>
          <p:cNvPicPr>
            <a:picLocks noChangeAspect="1"/>
          </p:cNvPicPr>
          <p:nvPr/>
        </p:nvPicPr>
        <p:blipFill>
          <a:blip r:embed="rId6"/>
          <a:stretch>
            <a:fillRect/>
          </a:stretch>
        </p:blipFill>
        <p:spPr>
          <a:xfrm>
            <a:off x="8275319" y="4206240"/>
            <a:ext cx="384048" cy="384048"/>
          </a:xfrm>
          <a:prstGeom prst="rect">
            <a:avLst/>
          </a:prstGeom>
        </p:spPr>
      </p:pic>
      <p:sp>
        <p:nvSpPr>
          <p:cNvPr id="30" name="TextBox 29"/>
          <p:cNvSpPr txBox="1"/>
          <p:nvPr/>
        </p:nvSpPr>
        <p:spPr>
          <a:xfrm>
            <a:off x="8778240" y="420624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La famille et la foi</a:t>
            </a:r>
          </a:p>
        </p:txBody>
      </p:sp>
      <p:sp>
        <p:nvSpPr>
          <p:cNvPr id="31" name="TextBox 30"/>
          <p:cNvSpPr txBox="1"/>
          <p:nvPr/>
        </p:nvSpPr>
        <p:spPr>
          <a:xfrm>
            <a:off x="8275319" y="4736592"/>
            <a:ext cx="3182112" cy="128016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Sa mère, « ma première maison », est le sujet de sa publication la plus aimée de l'année.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LE TON RELEVÉ SUR SES 88 PUBLICATIONS INSTAGRAM ET SES 3 POSTS LINKEDIN</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Sa voix : chaleureuse, directe, très « Abidjan »</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parkles_b.png"/>
          <p:cNvPicPr>
            <a:picLocks noChangeAspect="1"/>
          </p:cNvPicPr>
          <p:nvPr/>
        </p:nvPicPr>
        <p:blipFill>
          <a:blip r:embed="rId3"/>
          <a:stretch>
            <a:fillRect/>
          </a:stretch>
        </p:blipFill>
        <p:spPr>
          <a:xfrm>
            <a:off x="731520" y="1847088"/>
            <a:ext cx="347472" cy="347472"/>
          </a:xfrm>
          <a:prstGeom prst="rect">
            <a:avLst/>
          </a:prstGeom>
        </p:spPr>
      </p:pic>
      <p:sp>
        <p:nvSpPr>
          <p:cNvPr id="11" name="TextBox 10"/>
          <p:cNvSpPr txBox="1"/>
          <p:nvPr/>
        </p:nvSpPr>
        <p:spPr>
          <a:xfrm>
            <a:off x="73152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93 %</a:t>
            </a:r>
          </a:p>
        </p:txBody>
      </p:sp>
      <p:sp>
        <p:nvSpPr>
          <p:cNvPr id="12" name="TextBox 11"/>
          <p:cNvSpPr txBox="1"/>
          <p:nvPr/>
        </p:nvSpPr>
        <p:spPr>
          <a:xfrm>
            <a:off x="73152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de ses légendes Instagram ont au moins un émoji (2 en médiane)</a:t>
            </a:r>
          </a:p>
        </p:txBody>
      </p:sp>
      <p:sp>
        <p:nvSpPr>
          <p:cNvPr id="13" name="Rounded Rectangle 12"/>
          <p:cNvSpPr/>
          <p:nvPr/>
        </p:nvSpPr>
        <p:spPr>
          <a:xfrm>
            <a:off x="333756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heart_b.png"/>
          <p:cNvPicPr>
            <a:picLocks noChangeAspect="1"/>
          </p:cNvPicPr>
          <p:nvPr/>
        </p:nvPicPr>
        <p:blipFill>
          <a:blip r:embed="rId4"/>
          <a:stretch>
            <a:fillRect/>
          </a:stretch>
        </p:blipFill>
        <p:spPr>
          <a:xfrm>
            <a:off x="3520440" y="1847088"/>
            <a:ext cx="347472" cy="347472"/>
          </a:xfrm>
          <a:prstGeom prst="rect">
            <a:avLst/>
          </a:prstGeom>
        </p:spPr>
      </p:pic>
      <p:sp>
        <p:nvSpPr>
          <p:cNvPr id="15" name="TextBox 14"/>
          <p:cNvSpPr txBox="1"/>
          <p:nvPr/>
        </p:nvSpPr>
        <p:spPr>
          <a:xfrm>
            <a:off x="352044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a:t>
            </a:r>
          </a:p>
        </p:txBody>
      </p:sp>
      <p:sp>
        <p:nvSpPr>
          <p:cNvPr id="16" name="TextBox 15"/>
          <p:cNvSpPr txBox="1"/>
          <p:nvPr/>
        </p:nvSpPr>
        <p:spPr>
          <a:xfrm>
            <a:off x="352044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ses deux signatures (22 et 20 fois), puis 😌, 🫶🏽 et 👗</a:t>
            </a:r>
          </a:p>
        </p:txBody>
      </p:sp>
      <p:sp>
        <p:nvSpPr>
          <p:cNvPr id="17" name="Rounded Rectangle 16"/>
          <p:cNvSpPr/>
          <p:nvPr/>
        </p:nvSpPr>
        <p:spPr>
          <a:xfrm>
            <a:off x="6126480" y="1645920"/>
            <a:ext cx="265176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en-tool_b.png"/>
          <p:cNvPicPr>
            <a:picLocks noChangeAspect="1"/>
          </p:cNvPicPr>
          <p:nvPr/>
        </p:nvPicPr>
        <p:blipFill>
          <a:blip r:embed="rId5"/>
          <a:stretch>
            <a:fillRect/>
          </a:stretch>
        </p:blipFill>
        <p:spPr>
          <a:xfrm>
            <a:off x="6309360" y="1847088"/>
            <a:ext cx="347472" cy="347472"/>
          </a:xfrm>
          <a:prstGeom prst="rect">
            <a:avLst/>
          </a:prstGeom>
        </p:spPr>
      </p:pic>
      <p:sp>
        <p:nvSpPr>
          <p:cNvPr id="19" name="TextBox 18"/>
          <p:cNvSpPr txBox="1"/>
          <p:nvPr/>
        </p:nvSpPr>
        <p:spPr>
          <a:xfrm>
            <a:off x="6309360" y="2212848"/>
            <a:ext cx="233172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42 mots</a:t>
            </a:r>
          </a:p>
        </p:txBody>
      </p:sp>
      <p:sp>
        <p:nvSpPr>
          <p:cNvPr id="20" name="TextBox 19"/>
          <p:cNvSpPr txBox="1"/>
          <p:nvPr/>
        </p:nvSpPr>
        <p:spPr>
          <a:xfrm>
            <a:off x="6309360" y="2670048"/>
            <a:ext cx="233172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longueur médiane d'une légende : court, oral, rythmé</a:t>
            </a:r>
          </a:p>
        </p:txBody>
      </p:sp>
      <p:sp>
        <p:nvSpPr>
          <p:cNvPr id="21" name="Rounded Rectangle 20"/>
          <p:cNvSpPr/>
          <p:nvPr/>
        </p:nvSpPr>
        <p:spPr>
          <a:xfrm>
            <a:off x="8915400" y="1645920"/>
            <a:ext cx="272491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essage-circle_b.png"/>
          <p:cNvPicPr>
            <a:picLocks noChangeAspect="1"/>
          </p:cNvPicPr>
          <p:nvPr/>
        </p:nvPicPr>
        <p:blipFill>
          <a:blip r:embed="rId6"/>
          <a:stretch>
            <a:fillRect/>
          </a:stretch>
        </p:blipFill>
        <p:spPr>
          <a:xfrm>
            <a:off x="9098280" y="1847088"/>
            <a:ext cx="347472" cy="347472"/>
          </a:xfrm>
          <a:prstGeom prst="rect">
            <a:avLst/>
          </a:prstGeom>
        </p:spPr>
      </p:pic>
      <p:sp>
        <p:nvSpPr>
          <p:cNvPr id="23" name="TextBox 22"/>
          <p:cNvSpPr txBox="1"/>
          <p:nvPr/>
        </p:nvSpPr>
        <p:spPr>
          <a:xfrm>
            <a:off x="9098280" y="2212848"/>
            <a:ext cx="240487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Les gars »</a:t>
            </a:r>
          </a:p>
        </p:txBody>
      </p:sp>
      <p:sp>
        <p:nvSpPr>
          <p:cNvPr id="24" name="TextBox 23"/>
          <p:cNvSpPr txBox="1"/>
          <p:nvPr/>
        </p:nvSpPr>
        <p:spPr>
          <a:xfrm>
            <a:off x="9098280" y="2670048"/>
            <a:ext cx="240487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son adresse au public, avec « votre go », dans 9 publications</a:t>
            </a:r>
          </a:p>
        </p:txBody>
      </p:sp>
      <p:sp>
        <p:nvSpPr>
          <p:cNvPr id="25" name="Rounded Rectangle 24"/>
          <p:cNvSpPr/>
          <p:nvPr/>
        </p:nvSpPr>
        <p:spPr>
          <a:xfrm>
            <a:off x="548640"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56432"/>
            <a:ext cx="54864" cy="2505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0160"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Sur Instagram : la complicité</a:t>
            </a:r>
          </a:p>
        </p:txBody>
      </p:sp>
      <p:sp>
        <p:nvSpPr>
          <p:cNvPr id="28" name="TextBox 27"/>
          <p:cNvSpPr txBox="1"/>
          <p:nvPr/>
        </p:nvSpPr>
        <p:spPr>
          <a:xfrm>
            <a:off x="777240"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Phrases courtes, humour (« Ma vie chauffe même ! »), un mélange de français et d'anglais (« This is Thirty », « Cheers to being BOLD »).</a:t>
            </a:r>
          </a:p>
          <a:p>
            <a:pPr algn="l">
              <a:lnSpc>
                <a:spcPct val="110000"/>
              </a:lnSpc>
              <a:spcAft>
                <a:spcPts val="400"/>
              </a:spcAft>
            </a:pPr>
            <a:r>
              <a:rPr sz="1100" b="0" i="0">
                <a:solidFill>
                  <a:srgbClr val="2B2A35"/>
                </a:solidFill>
                <a:latin typeface="Work Sans"/>
              </a:rPr>
              <a:t>Les émojis rythment sans surcharger : à garder tels quels, c'est sa signature.</a:t>
            </a:r>
          </a:p>
        </p:txBody>
      </p:sp>
      <p:sp>
        <p:nvSpPr>
          <p:cNvPr id="29" name="Rounded Rectangle 28"/>
          <p:cNvSpPr/>
          <p:nvPr/>
        </p:nvSpPr>
        <p:spPr>
          <a:xfrm>
            <a:off x="6153912" y="3291840"/>
            <a:ext cx="5486400" cy="2834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53912" y="3456432"/>
            <a:ext cx="54864" cy="2505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85432" y="347472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Sur LinkedIn : une autre voix, plus posée</a:t>
            </a:r>
          </a:p>
        </p:txBody>
      </p:sp>
      <p:sp>
        <p:nvSpPr>
          <p:cNvPr id="32" name="TextBox 31"/>
          <p:cNvSpPr txBox="1"/>
          <p:nvPr/>
        </p:nvSpPr>
        <p:spPr>
          <a:xfrm>
            <a:off x="6382512" y="4005072"/>
            <a:ext cx="5074920" cy="20116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Elle y écrit long et structuré, avec des flèches (→) et une question finale au lecteur. Presque pas d'émojis (2 au total).</a:t>
            </a:r>
          </a:p>
          <a:p>
            <a:pPr algn="l">
              <a:lnSpc>
                <a:spcPct val="110000"/>
              </a:lnSpc>
              <a:spcAft>
                <a:spcPts val="400"/>
              </a:spcAft>
            </a:pPr>
            <a:r>
              <a:rPr sz="1100" b="0" i="0">
                <a:solidFill>
                  <a:srgbClr val="2B2A35"/>
                </a:solidFill>
                <a:latin typeface="Work Sans"/>
              </a:rPr>
              <a:t>Bonne base : on peut y glisser ✨ et 🤍 avec mesure pour qu'on la reconnaisse d'un réseau à l'autre.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8_DVoOZ3tjORK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02</a:t>
            </a:r>
          </a:p>
        </p:txBody>
      </p:sp>
      <p:pic>
        <p:nvPicPr>
          <p:cNvPr id="4" name="Picture 3" descr="linkedin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LinkedIn</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Un profil soigné, 956 abonnés et trois publications en dix mois.</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profil bien posé, mais silencieux</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li_banniere_4.00_0.5.jpg"/>
          <p:cNvPicPr>
            <a:picLocks noChangeAspect="1"/>
          </p:cNvPicPr>
          <p:nvPr/>
        </p:nvPicPr>
        <p:blipFill>
          <a:blip r:embed="rId4"/>
          <a:stretch>
            <a:fillRect/>
          </a:stretch>
        </p:blipFill>
        <p:spPr>
          <a:xfrm>
            <a:off x="548640" y="1600200"/>
            <a:ext cx="6766560" cy="1691640"/>
          </a:xfrm>
          <a:prstGeom prst="rect">
            <a:avLst/>
          </a:prstGeom>
        </p:spPr>
      </p:pic>
      <p:pic>
        <p:nvPicPr>
          <p:cNvPr id="11" name="Picture 10" descr="rond_li_profil.png"/>
          <p:cNvPicPr>
            <a:picLocks noChangeAspect="1"/>
          </p:cNvPicPr>
          <p:nvPr/>
        </p:nvPicPr>
        <p:blipFill>
          <a:blip r:embed="rId5"/>
          <a:stretch>
            <a:fillRect/>
          </a:stretch>
        </p:blipFill>
        <p:spPr>
          <a:xfrm>
            <a:off x="777240" y="2788920"/>
            <a:ext cx="1188720" cy="1188720"/>
          </a:xfrm>
          <a:prstGeom prst="rect">
            <a:avLst/>
          </a:prstGeom>
        </p:spPr>
      </p:pic>
      <p:sp>
        <p:nvSpPr>
          <p:cNvPr id="12" name="TextBox 11"/>
          <p:cNvSpPr txBox="1"/>
          <p:nvPr/>
        </p:nvSpPr>
        <p:spPr>
          <a:xfrm>
            <a:off x="2148840" y="3429000"/>
            <a:ext cx="5120640" cy="365760"/>
          </a:xfrm>
          <a:prstGeom prst="rect">
            <a:avLst/>
          </a:prstGeom>
          <a:noFill/>
        </p:spPr>
        <p:txBody>
          <a:bodyPr wrap="square" anchor="t" lIns="18288" rIns="18288" tIns="18288" bIns="18288">
            <a:spAutoFit/>
          </a:bodyPr>
          <a:lstStyle/>
          <a:p>
            <a:pPr algn="l">
              <a:lnSpc>
                <a:spcPct val="112000"/>
              </a:lnSpc>
              <a:spcAft>
                <a:spcPts val="400"/>
              </a:spcAft>
            </a:pPr>
            <a:r>
              <a:rPr sz="1700" b="1" i="0">
                <a:solidFill>
                  <a:srgbClr val="232754"/>
                </a:solidFill>
                <a:latin typeface="Funnel Display"/>
              </a:rPr>
              <a:t>Renée Mariame KONATE</a:t>
            </a:r>
          </a:p>
        </p:txBody>
      </p:sp>
      <p:sp>
        <p:nvSpPr>
          <p:cNvPr id="13" name="TextBox 12"/>
          <p:cNvSpPr txBox="1"/>
          <p:nvPr/>
        </p:nvSpPr>
        <p:spPr>
          <a:xfrm>
            <a:off x="2148840" y="3794760"/>
            <a:ext cx="5120640" cy="640080"/>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Entrepreneure | Consultante en communication | Animatrice TV | Business, image &amp; impact féminin</a:t>
            </a:r>
          </a:p>
        </p:txBody>
      </p:sp>
      <p:sp>
        <p:nvSpPr>
          <p:cNvPr id="14" name="TextBox 13"/>
          <p:cNvSpPr txBox="1"/>
          <p:nvPr/>
        </p:nvSpPr>
        <p:spPr>
          <a:xfrm>
            <a:off x="548640" y="4526280"/>
            <a:ext cx="6766560" cy="3200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007ABB"/>
                </a:solidFill>
                <a:latin typeface="Space Grotesk"/>
                <a:hlinkClick r:id="rId6"/>
              </a:rPr>
              <a:t>linkedin.com/in/renée-mariame-konate</a:t>
            </a:r>
          </a:p>
        </p:txBody>
      </p:sp>
      <p:sp>
        <p:nvSpPr>
          <p:cNvPr id="15" name="Rounded Rectangle 14"/>
          <p:cNvSpPr/>
          <p:nvPr/>
        </p:nvSpPr>
        <p:spPr>
          <a:xfrm>
            <a:off x="758952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users_b.png"/>
          <p:cNvPicPr>
            <a:picLocks noChangeAspect="1"/>
          </p:cNvPicPr>
          <p:nvPr/>
        </p:nvPicPr>
        <p:blipFill>
          <a:blip r:embed="rId7"/>
          <a:stretch>
            <a:fillRect/>
          </a:stretch>
        </p:blipFill>
        <p:spPr>
          <a:xfrm>
            <a:off x="7772400" y="1801368"/>
            <a:ext cx="347472" cy="347472"/>
          </a:xfrm>
          <a:prstGeom prst="rect">
            <a:avLst/>
          </a:prstGeom>
        </p:spPr>
      </p:pic>
      <p:sp>
        <p:nvSpPr>
          <p:cNvPr id="17" name="TextBox 16"/>
          <p:cNvSpPr txBox="1"/>
          <p:nvPr/>
        </p:nvSpPr>
        <p:spPr>
          <a:xfrm>
            <a:off x="7772400"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956</a:t>
            </a:r>
          </a:p>
        </p:txBody>
      </p:sp>
      <p:sp>
        <p:nvSpPr>
          <p:cNvPr id="18" name="TextBox 17"/>
          <p:cNvSpPr txBox="1"/>
          <p:nvPr/>
        </p:nvSpPr>
        <p:spPr>
          <a:xfrm>
            <a:off x="7772400"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9" name="Rounded Rectangle 18"/>
          <p:cNvSpPr/>
          <p:nvPr/>
        </p:nvSpPr>
        <p:spPr>
          <a:xfrm>
            <a:off x="9692640" y="1600200"/>
            <a:ext cx="194767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pen-tool_b.png"/>
          <p:cNvPicPr>
            <a:picLocks noChangeAspect="1"/>
          </p:cNvPicPr>
          <p:nvPr/>
        </p:nvPicPr>
        <p:blipFill>
          <a:blip r:embed="rId8"/>
          <a:stretch>
            <a:fillRect/>
          </a:stretch>
        </p:blipFill>
        <p:spPr>
          <a:xfrm>
            <a:off x="9875519" y="1801368"/>
            <a:ext cx="347472" cy="347472"/>
          </a:xfrm>
          <a:prstGeom prst="rect">
            <a:avLst/>
          </a:prstGeom>
        </p:spPr>
      </p:pic>
      <p:sp>
        <p:nvSpPr>
          <p:cNvPr id="21" name="TextBox 20"/>
          <p:cNvSpPr txBox="1"/>
          <p:nvPr/>
        </p:nvSpPr>
        <p:spPr>
          <a:xfrm>
            <a:off x="9875519" y="2167128"/>
            <a:ext cx="1627631"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3</a:t>
            </a:r>
          </a:p>
        </p:txBody>
      </p:sp>
      <p:sp>
        <p:nvSpPr>
          <p:cNvPr id="22" name="TextBox 21"/>
          <p:cNvSpPr txBox="1"/>
          <p:nvPr/>
        </p:nvSpPr>
        <p:spPr>
          <a:xfrm>
            <a:off x="9875519" y="2624328"/>
            <a:ext cx="1627631"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posts depuis janvier</a:t>
            </a:r>
          </a:p>
        </p:txBody>
      </p:sp>
      <p:sp>
        <p:nvSpPr>
          <p:cNvPr id="23" name="Rounded Rectangle 22"/>
          <p:cNvSpPr/>
          <p:nvPr/>
        </p:nvSpPr>
        <p:spPr>
          <a:xfrm>
            <a:off x="7589520" y="3200400"/>
            <a:ext cx="4050791" cy="29260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589520" y="3364992"/>
            <a:ext cx="54864" cy="259689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list-checks_b.png"/>
          <p:cNvPicPr>
            <a:picLocks noChangeAspect="1"/>
          </p:cNvPicPr>
          <p:nvPr/>
        </p:nvPicPr>
        <p:blipFill>
          <a:blip r:embed="rId9"/>
          <a:stretch>
            <a:fillRect/>
          </a:stretch>
        </p:blipFill>
        <p:spPr>
          <a:xfrm>
            <a:off x="7818120" y="3383280"/>
            <a:ext cx="384048" cy="384048"/>
          </a:xfrm>
          <a:prstGeom prst="rect">
            <a:avLst/>
          </a:prstGeom>
        </p:spPr>
      </p:pic>
      <p:sp>
        <p:nvSpPr>
          <p:cNvPr id="26" name="TextBox 25"/>
          <p:cNvSpPr txBox="1"/>
          <p:nvPr/>
        </p:nvSpPr>
        <p:spPr>
          <a:xfrm>
            <a:off x="8321040" y="33832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va, ce qui manque</a:t>
            </a:r>
          </a:p>
        </p:txBody>
      </p:sp>
      <p:sp>
        <p:nvSpPr>
          <p:cNvPr id="27" name="TextBox 26"/>
          <p:cNvSpPr txBox="1"/>
          <p:nvPr/>
        </p:nvSpPr>
        <p:spPr>
          <a:xfrm>
            <a:off x="7818120" y="3913632"/>
            <a:ext cx="3639311" cy="210312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 Bannière nette : « Construire des marques. Porter des voix. Créer de l'impact. »</a:t>
            </a:r>
          </a:p>
          <a:p>
            <a:pPr algn="l">
              <a:lnSpc>
                <a:spcPct val="110000"/>
              </a:lnSpc>
              <a:spcAft>
                <a:spcPts val="400"/>
              </a:spcAft>
            </a:pPr>
            <a:r>
              <a:rPr sz="1050" b="0" i="0">
                <a:solidFill>
                  <a:srgbClr val="2B2A35"/>
                </a:solidFill>
                <a:latin typeface="Work Sans"/>
              </a:rPr>
              <a:t>✔ Titre et résumé clairs, à la troisième personne.</a:t>
            </a:r>
          </a:p>
          <a:p>
            <a:pPr algn="l">
              <a:lnSpc>
                <a:spcPct val="110000"/>
              </a:lnSpc>
              <a:spcAft>
                <a:spcPts val="400"/>
              </a:spcAft>
            </a:pPr>
            <a:r>
              <a:rPr sz="1050" b="0" i="0">
                <a:solidFill>
                  <a:srgbClr val="2B2A35"/>
                </a:solidFill>
                <a:latin typeface="Work Sans"/>
              </a:rPr>
              <a:t>✘ Aucune section « À la une » (podcast, Traditions, passages TV).</a:t>
            </a:r>
          </a:p>
          <a:p>
            <a:pPr algn="l">
              <a:lnSpc>
                <a:spcPct val="110000"/>
              </a:lnSpc>
              <a:spcAft>
                <a:spcPts val="400"/>
              </a:spcAft>
            </a:pPr>
            <a:r>
              <a:rPr sz="1050" b="0" i="0">
                <a:solidFill>
                  <a:srgbClr val="2B2A35"/>
                </a:solidFill>
                <a:latin typeface="Work Sans"/>
              </a:rPr>
              <a:t>✘ Le résumé ne cite ni Traditions, ni Malea, ni LIFE TV par leur nom.</a:t>
            </a:r>
          </a:p>
        </p:txBody>
      </p:sp>
      <p:sp>
        <p:nvSpPr>
          <p:cNvPr id="28" name="TextBox 27"/>
          <p:cNvSpPr txBox="1"/>
          <p:nvPr/>
        </p:nvSpPr>
        <p:spPr>
          <a:xfrm>
            <a:off x="548640" y="4937760"/>
            <a:ext cx="6766560" cy="1188720"/>
          </a:xfrm>
          <a:prstGeom prst="rect">
            <a:avLst/>
          </a:prstGeom>
          <a:noFill/>
        </p:spPr>
        <p:txBody>
          <a:bodyPr wrap="square" anchor="t" lIns="18288" rIns="18288" tIns="18288" bIns="18288">
            <a:spAutoFit/>
          </a:bodyPr>
          <a:lstStyle/>
          <a:p>
            <a:pPr algn="l">
              <a:lnSpc>
                <a:spcPct val="108000"/>
              </a:lnSpc>
              <a:spcAft>
                <a:spcPts val="400"/>
              </a:spcAft>
            </a:pPr>
            <a:r>
              <a:rPr sz="1150" b="1" i="0">
                <a:solidFill>
                  <a:srgbClr val="232754"/>
                </a:solidFill>
                <a:latin typeface="Work Sans"/>
              </a:rPr>
              <a:t>Contraste fort : 956 abonnés sur LinkedIn pour 70 161 sur Instagram. Sur LinkedIn se trouvent les directions de la communication, les institutions et les marques qui l'invitent à animer ou la consultent : son public d'affaires.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TOUTES SES PUBLICATIONS DEPUIS JANVIER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Trois publications, et la meilleure arrive quand elle cite d'autres femmes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tuile_r16_1.61_0.3.jpg"/>
          <p:cNvPicPr>
            <a:picLocks noChangeAspect="1"/>
          </p:cNvPicPr>
          <p:nvPr/>
        </p:nvPicPr>
        <p:blipFill>
          <a:blip r:embed="rId4"/>
          <a:stretch>
            <a:fillRect/>
          </a:stretch>
        </p:blipFill>
        <p:spPr>
          <a:xfrm>
            <a:off x="603503" y="1655064"/>
            <a:ext cx="3483864" cy="2173163"/>
          </a:xfrm>
          <a:prstGeom prst="rect">
            <a:avLst/>
          </a:prstGeom>
        </p:spPr>
      </p:pic>
      <p:sp>
        <p:nvSpPr>
          <p:cNvPr id="12" name="Rounded Rectangle 11"/>
          <p:cNvSpPr/>
          <p:nvPr/>
        </p:nvSpPr>
        <p:spPr>
          <a:xfrm>
            <a:off x="713232" y="3444179"/>
            <a:ext cx="1417320" cy="329184"/>
          </a:xfrm>
          <a:prstGeom prst="roundRect">
            <a:avLst>
              <a:gd name="adj" fmla="val 30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28 interactions</a:t>
            </a:r>
          </a:p>
        </p:txBody>
      </p:sp>
      <p:sp>
        <p:nvSpPr>
          <p:cNvPr id="14" name="TextBox 13"/>
          <p:cNvSpPr txBox="1"/>
          <p:nvPr/>
        </p:nvSpPr>
        <p:spPr>
          <a:xfrm>
            <a:off x="71323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16 avril 2026 · texte seul</a:t>
            </a:r>
          </a:p>
        </p:txBody>
      </p:sp>
      <p:sp>
        <p:nvSpPr>
          <p:cNvPr id="15" name="TextBox 14"/>
          <p:cNvSpPr txBox="1"/>
          <p:nvPr/>
        </p:nvSpPr>
        <p:spPr>
          <a:xfrm>
            <a:off x="71323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Je ne savais pas quoi faire de LinkedIn »</a:t>
            </a:r>
          </a:p>
        </p:txBody>
      </p:sp>
      <p:sp>
        <p:nvSpPr>
          <p:cNvPr id="16" name="TextBox 15"/>
          <p:cNvSpPr txBox="1"/>
          <p:nvPr/>
        </p:nvSpPr>
        <p:spPr>
          <a:xfrm>
            <a:off x="71323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Le retour assumé sur LinkedIn. Honnête, mais sans suite pendant cinq mois.</a:t>
            </a:r>
          </a:p>
        </p:txBody>
      </p:sp>
      <p:sp>
        <p:nvSpPr>
          <p:cNvPr id="17" name="TextBox 16"/>
          <p:cNvSpPr txBox="1"/>
          <p:nvPr/>
        </p:nvSpPr>
        <p:spPr>
          <a:xfrm>
            <a:off x="71323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429768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li_2026-04-20_30_1.61_0.3.jpg"/>
          <p:cNvPicPr>
            <a:picLocks noChangeAspect="1"/>
          </p:cNvPicPr>
          <p:nvPr/>
        </p:nvPicPr>
        <p:blipFill>
          <a:blip r:embed="rId6"/>
          <a:stretch>
            <a:fillRect/>
          </a:stretch>
        </p:blipFill>
        <p:spPr>
          <a:xfrm>
            <a:off x="4352544" y="1655064"/>
            <a:ext cx="3483864" cy="2173163"/>
          </a:xfrm>
          <a:prstGeom prst="rect">
            <a:avLst/>
          </a:prstGeom>
        </p:spPr>
      </p:pic>
      <p:sp>
        <p:nvSpPr>
          <p:cNvPr id="20" name="Rounded Rectangle 19"/>
          <p:cNvSpPr/>
          <p:nvPr/>
        </p:nvSpPr>
        <p:spPr>
          <a:xfrm>
            <a:off x="4462272" y="3444179"/>
            <a:ext cx="1417320" cy="329184"/>
          </a:xfrm>
          <a:prstGeom prst="roundRect">
            <a:avLst>
              <a:gd name="adj" fmla="val 30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6227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30 interactions</a:t>
            </a:r>
          </a:p>
        </p:txBody>
      </p:sp>
      <p:sp>
        <p:nvSpPr>
          <p:cNvPr id="22" name="TextBox 21"/>
          <p:cNvSpPr txBox="1"/>
          <p:nvPr/>
        </p:nvSpPr>
        <p:spPr>
          <a:xfrm>
            <a:off x="446227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20 avril 2026 · 8 photos</a:t>
            </a:r>
          </a:p>
        </p:txBody>
      </p:sp>
      <p:sp>
        <p:nvSpPr>
          <p:cNvPr id="23" name="TextBox 22"/>
          <p:cNvSpPr txBox="1"/>
          <p:nvPr/>
        </p:nvSpPr>
        <p:spPr>
          <a:xfrm>
            <a:off x="446227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Grandir et Briller (SGPME)</a:t>
            </a:r>
          </a:p>
        </p:txBody>
      </p:sp>
      <p:sp>
        <p:nvSpPr>
          <p:cNvPr id="24" name="TextBox 23"/>
          <p:cNvSpPr txBox="1"/>
          <p:nvPr/>
        </p:nvSpPr>
        <p:spPr>
          <a:xfrm>
            <a:off x="446227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vraie prise de position sur l'entrepreneuriat féminin, terminée par une question.</a:t>
            </a:r>
          </a:p>
        </p:txBody>
      </p:sp>
      <p:sp>
        <p:nvSpPr>
          <p:cNvPr id="25" name="TextBox 24"/>
          <p:cNvSpPr txBox="1"/>
          <p:nvPr/>
        </p:nvSpPr>
        <p:spPr>
          <a:xfrm>
            <a:off x="446227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8046720" y="1600200"/>
            <a:ext cx="3593592"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li_2026-09-18_54_1.61_0.3.jpg"/>
          <p:cNvPicPr>
            <a:picLocks noChangeAspect="1"/>
          </p:cNvPicPr>
          <p:nvPr/>
        </p:nvPicPr>
        <p:blipFill>
          <a:blip r:embed="rId8"/>
          <a:stretch>
            <a:fillRect/>
          </a:stretch>
        </p:blipFill>
        <p:spPr>
          <a:xfrm>
            <a:off x="8101584" y="1655064"/>
            <a:ext cx="3483864" cy="2173163"/>
          </a:xfrm>
          <a:prstGeom prst="rect">
            <a:avLst/>
          </a:prstGeom>
        </p:spPr>
      </p:pic>
      <p:sp>
        <p:nvSpPr>
          <p:cNvPr id="28" name="Rounded Rectangle 27"/>
          <p:cNvSpPr/>
          <p:nvPr/>
        </p:nvSpPr>
        <p:spPr>
          <a:xfrm>
            <a:off x="8211312" y="3444179"/>
            <a:ext cx="1417320" cy="329184"/>
          </a:xfrm>
          <a:prstGeom prst="roundRect">
            <a:avLst>
              <a:gd name="adj" fmla="val 30000"/>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44417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54 interactions</a:t>
            </a:r>
          </a:p>
        </p:txBody>
      </p:sp>
      <p:sp>
        <p:nvSpPr>
          <p:cNvPr id="30" name="TextBox 29"/>
          <p:cNvSpPr txBox="1"/>
          <p:nvPr/>
        </p:nvSpPr>
        <p:spPr>
          <a:xfrm>
            <a:off x="8211312" y="3919667"/>
            <a:ext cx="3264408"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 septembre 2026 · 10 photos</a:t>
            </a:r>
          </a:p>
        </p:txBody>
      </p:sp>
      <p:sp>
        <p:nvSpPr>
          <p:cNvPr id="31" name="TextBox 30"/>
          <p:cNvSpPr txBox="1"/>
          <p:nvPr/>
        </p:nvSpPr>
        <p:spPr>
          <a:xfrm>
            <a:off x="8211312" y="4157411"/>
            <a:ext cx="3264408"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Bold Conversations by Veuve Clicquot</a:t>
            </a:r>
          </a:p>
        </p:txBody>
      </p:sp>
      <p:sp>
        <p:nvSpPr>
          <p:cNvPr id="32" name="TextBox 31"/>
          <p:cNvSpPr txBox="1"/>
          <p:nvPr/>
        </p:nvSpPr>
        <p:spPr>
          <a:xfrm>
            <a:off x="8211312" y="4742627"/>
            <a:ext cx="3264408" cy="10638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Elle nomme les trois panélistes et la marque : la portée suit.</a:t>
            </a:r>
          </a:p>
        </p:txBody>
      </p:sp>
      <p:sp>
        <p:nvSpPr>
          <p:cNvPr id="33" name="TextBox 32"/>
          <p:cNvSpPr txBox="1"/>
          <p:nvPr/>
        </p:nvSpPr>
        <p:spPr>
          <a:xfrm>
            <a:off x="8211312" y="5797296"/>
            <a:ext cx="3264408"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LINKEDIN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que dit LinkedIn,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12</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lock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Cinq mois de silence</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Rien entre le 20 avril et le 18 septembre, puis plus rien depuis. Elle l'écrivait elle-même : « j'ai préféré disparaître ».</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users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noms font la portée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Le post Bold Conversations, qui nomme Edith Brou Bleu, Marie-Karelle K. N., Leslie Ossété et Veuve Clicquot, fait presque deux fois plus que les autres.</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mic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Sa matière existe déjà</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Animations, panels, podcast Malea, capsule Traditions, Yango Fellowship : tout est publié sur Instagram, rien n'est repris sur LinkedIn.</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target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 bon public y est</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Marques, agences, institutions, organisateurs d'événements : ce sont ses clients en conseil et en animation.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6-25_DaA546HjAcb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03</a:t>
            </a:r>
          </a:p>
        </p:txBody>
      </p:sp>
      <p:pic>
        <p:nvPicPr>
          <p:cNvPr id="4" name="Picture 3" descr="instagram_brand.png"/>
          <p:cNvPicPr>
            <a:picLocks noChangeAspect="1"/>
          </p:cNvPicPr>
          <p:nvPr/>
        </p:nvPicPr>
        <p:blipFill>
          <a:blip r:embed="rId3"/>
          <a:stretch>
            <a:fillRect/>
          </a:stretch>
        </p:blipFill>
        <p:spPr>
          <a:xfrm>
            <a:off x="868680" y="3154680"/>
            <a:ext cx="640080" cy="640080"/>
          </a:xfrm>
          <a:prstGeom prst="rect">
            <a:avLst/>
          </a:prstGeom>
        </p:spPr>
      </p:pic>
      <p:sp>
        <p:nvSpPr>
          <p:cNvPr id="5" name="TextBox 4"/>
          <p:cNvSpPr txBox="1"/>
          <p:nvPr/>
        </p:nvSpPr>
        <p:spPr>
          <a:xfrm>
            <a:off x="822960" y="38862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Instagram</a:t>
            </a:r>
          </a:p>
        </p:txBody>
      </p:sp>
      <p:sp>
        <p:nvSpPr>
          <p:cNvPr id="6" name="TextBox 5"/>
          <p:cNvSpPr txBox="1"/>
          <p:nvPr/>
        </p:nvSpPr>
        <p:spPr>
          <a:xfrm>
            <a:off x="822960" y="489204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70 161 abonnés, 88 publications depuis janvier, compte certifié.</a:t>
            </a:r>
          </a:p>
        </p:txBody>
      </p:sp>
      <p:pic>
        <p:nvPicPr>
          <p:cNvPr id="7" name="Picture 6" descr="logo_mstudio_blanc_transparent.png"/>
          <p:cNvPicPr>
            <a:picLocks noChangeAspect="1"/>
          </p:cNvPicPr>
          <p:nvPr/>
        </p:nvPicPr>
        <p:blipFill>
          <a:blip r:embed="rId4"/>
          <a:stretch>
            <a:fillRect/>
          </a:stretch>
        </p:blipFill>
        <p:spPr>
          <a:xfrm>
            <a:off x="10424160" y="411480"/>
            <a:ext cx="1327677" cy="347472"/>
          </a:xfrm>
          <a:prstGeom prst="rect">
            <a:avLst/>
          </a:prstGeom>
        </p:spPr>
      </p:pic>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13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compte certifié qui sert de vitrine à tout son univers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rond_ig_profil.png"/>
          <p:cNvPicPr>
            <a:picLocks noChangeAspect="1"/>
          </p:cNvPicPr>
          <p:nvPr/>
        </p:nvPicPr>
        <p:blipFill>
          <a:blip r:embed="rId4"/>
          <a:stretch>
            <a:fillRect/>
          </a:stretch>
        </p:blipFill>
        <p:spPr>
          <a:xfrm>
            <a:off x="640080" y="1691640"/>
            <a:ext cx="1371600" cy="1371600"/>
          </a:xfrm>
          <a:prstGeom prst="rect">
            <a:avLst/>
          </a:prstGeom>
        </p:spPr>
      </p:pic>
      <p:sp>
        <p:nvSpPr>
          <p:cNvPr id="11" name="TextBox 10"/>
          <p:cNvSpPr txBox="1"/>
          <p:nvPr/>
        </p:nvSpPr>
        <p:spPr>
          <a:xfrm>
            <a:off x="2240280" y="1783080"/>
            <a:ext cx="5029200" cy="365760"/>
          </a:xfrm>
          <a:prstGeom prst="rect">
            <a:avLst/>
          </a:prstGeom>
          <a:noFill/>
        </p:spPr>
        <p:txBody>
          <a:bodyPr wrap="square" anchor="t" lIns="18288" rIns="18288" tIns="18288" bIns="18288">
            <a:spAutoFit/>
          </a:bodyPr>
          <a:lstStyle/>
          <a:p>
            <a:pPr algn="l">
              <a:lnSpc>
                <a:spcPct val="112000"/>
              </a:lnSpc>
              <a:spcAft>
                <a:spcPts val="400"/>
              </a:spcAft>
            </a:pPr>
            <a:r>
              <a:rPr sz="1800" b="1" i="0">
                <a:solidFill>
                  <a:srgbClr val="232754"/>
                </a:solidFill>
                <a:latin typeface="Funnel Display"/>
                <a:hlinkClick r:id="rId5"/>
              </a:rPr>
              <a:t>@renee_mariame</a:t>
            </a:r>
          </a:p>
        </p:txBody>
      </p:sp>
      <p:sp>
        <p:nvSpPr>
          <p:cNvPr id="12" name="TextBox 11"/>
          <p:cNvSpPr txBox="1"/>
          <p:nvPr/>
        </p:nvSpPr>
        <p:spPr>
          <a:xfrm>
            <a:off x="2240280" y="2240280"/>
            <a:ext cx="2926080" cy="1097280"/>
          </a:xfrm>
          <a:prstGeom prst="rect">
            <a:avLst/>
          </a:prstGeom>
          <a:noFill/>
        </p:spPr>
        <p:txBody>
          <a:bodyPr wrap="square" anchor="t" lIns="18288" rIns="18288" tIns="18288" bIns="18288">
            <a:spAutoFit/>
          </a:bodyPr>
          <a:lstStyle/>
          <a:p>
            <a:pPr algn="l">
              <a:lnSpc>
                <a:spcPct val="100000"/>
              </a:lnSpc>
              <a:spcAft>
                <a:spcPts val="200"/>
              </a:spcAft>
            </a:pPr>
            <a:r>
              <a:rPr sz="1000" b="0" i="0">
                <a:solidFill>
                  <a:srgbClr val="2B2A35"/>
                </a:solidFill>
                <a:latin typeface="Work Sans"/>
              </a:rPr>
              <a:t>📺 @lifetvofficiel | @malea_podcast</a:t>
            </a:r>
          </a:p>
          <a:p>
            <a:pPr algn="l">
              <a:lnSpc>
                <a:spcPct val="100000"/>
              </a:lnSpc>
              <a:spcAft>
                <a:spcPts val="200"/>
              </a:spcAft>
            </a:pPr>
            <a:r>
              <a:rPr sz="1000" b="0" i="0">
                <a:solidFill>
                  <a:srgbClr val="2B2A35"/>
                </a:solidFill>
                <a:latin typeface="Work Sans"/>
              </a:rPr>
              <a:t>🌯 @the.grillfactory  ·  👩🏽‍💻 @tabaleconsulting</a:t>
            </a:r>
          </a:p>
          <a:p>
            <a:pPr algn="l">
              <a:lnSpc>
                <a:spcPct val="100000"/>
              </a:lnSpc>
              <a:spcAft>
                <a:spcPts val="200"/>
              </a:spcAft>
            </a:pPr>
            <a:r>
              <a:rPr sz="1000" b="0" i="0">
                <a:solidFill>
                  <a:srgbClr val="2B2A35"/>
                </a:solidFill>
                <a:latin typeface="Work Sans"/>
              </a:rPr>
              <a:t>👗 @__.traditions.__ @latelierbytraditions</a:t>
            </a:r>
          </a:p>
        </p:txBody>
      </p:sp>
      <p:sp>
        <p:nvSpPr>
          <p:cNvPr id="13" name="Rounded Rectangle 12"/>
          <p:cNvSpPr/>
          <p:nvPr/>
        </p:nvSpPr>
        <p:spPr>
          <a:xfrm>
            <a:off x="548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_b.png"/>
          <p:cNvPicPr>
            <a:picLocks noChangeAspect="1"/>
          </p:cNvPicPr>
          <p:nvPr/>
        </p:nvPicPr>
        <p:blipFill>
          <a:blip r:embed="rId6"/>
          <a:stretch>
            <a:fillRect/>
          </a:stretch>
        </p:blipFill>
        <p:spPr>
          <a:xfrm>
            <a:off x="731520" y="3630168"/>
            <a:ext cx="347472" cy="347472"/>
          </a:xfrm>
          <a:prstGeom prst="rect">
            <a:avLst/>
          </a:prstGeom>
        </p:spPr>
      </p:pic>
      <p:sp>
        <p:nvSpPr>
          <p:cNvPr id="15" name="TextBox 14"/>
          <p:cNvSpPr txBox="1"/>
          <p:nvPr/>
        </p:nvSpPr>
        <p:spPr>
          <a:xfrm>
            <a:off x="731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70 161</a:t>
            </a:r>
          </a:p>
        </p:txBody>
      </p:sp>
      <p:sp>
        <p:nvSpPr>
          <p:cNvPr id="16" name="TextBox 15"/>
          <p:cNvSpPr txBox="1"/>
          <p:nvPr/>
        </p:nvSpPr>
        <p:spPr>
          <a:xfrm>
            <a:off x="731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abonnés</a:t>
            </a:r>
          </a:p>
        </p:txBody>
      </p:sp>
      <p:sp>
        <p:nvSpPr>
          <p:cNvPr id="17" name="Rounded Rectangle 16"/>
          <p:cNvSpPr/>
          <p:nvPr/>
        </p:nvSpPr>
        <p:spPr>
          <a:xfrm>
            <a:off x="2834640" y="3429000"/>
            <a:ext cx="2148840"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image_b.png"/>
          <p:cNvPicPr>
            <a:picLocks noChangeAspect="1"/>
          </p:cNvPicPr>
          <p:nvPr/>
        </p:nvPicPr>
        <p:blipFill>
          <a:blip r:embed="rId7"/>
          <a:stretch>
            <a:fillRect/>
          </a:stretch>
        </p:blipFill>
        <p:spPr>
          <a:xfrm>
            <a:off x="3017520" y="3630168"/>
            <a:ext cx="347472" cy="347472"/>
          </a:xfrm>
          <a:prstGeom prst="rect">
            <a:avLst/>
          </a:prstGeom>
        </p:spPr>
      </p:pic>
      <p:sp>
        <p:nvSpPr>
          <p:cNvPr id="19" name="TextBox 18"/>
          <p:cNvSpPr txBox="1"/>
          <p:nvPr/>
        </p:nvSpPr>
        <p:spPr>
          <a:xfrm>
            <a:off x="3017520" y="399592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385</a:t>
            </a:r>
          </a:p>
        </p:txBody>
      </p:sp>
      <p:sp>
        <p:nvSpPr>
          <p:cNvPr id="20" name="TextBox 19"/>
          <p:cNvSpPr txBox="1"/>
          <p:nvPr/>
        </p:nvSpPr>
        <p:spPr>
          <a:xfrm>
            <a:off x="3017520" y="4453128"/>
            <a:ext cx="1828800"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publications au total</a:t>
            </a:r>
          </a:p>
        </p:txBody>
      </p:sp>
      <p:sp>
        <p:nvSpPr>
          <p:cNvPr id="21" name="Rounded Rectangle 20"/>
          <p:cNvSpPr/>
          <p:nvPr/>
        </p:nvSpPr>
        <p:spPr>
          <a:xfrm>
            <a:off x="548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ar_b.png"/>
          <p:cNvPicPr>
            <a:picLocks noChangeAspect="1"/>
          </p:cNvPicPr>
          <p:nvPr/>
        </p:nvPicPr>
        <p:blipFill>
          <a:blip r:embed="rId8"/>
          <a:stretch>
            <a:fillRect/>
          </a:stretch>
        </p:blipFill>
        <p:spPr>
          <a:xfrm>
            <a:off x="731520" y="5184648"/>
            <a:ext cx="347472" cy="347472"/>
          </a:xfrm>
          <a:prstGeom prst="rect">
            <a:avLst/>
          </a:prstGeom>
        </p:spPr>
      </p:pic>
      <p:sp>
        <p:nvSpPr>
          <p:cNvPr id="23" name="TextBox 22"/>
          <p:cNvSpPr txBox="1"/>
          <p:nvPr/>
        </p:nvSpPr>
        <p:spPr>
          <a:xfrm>
            <a:off x="731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29</a:t>
            </a:r>
          </a:p>
        </p:txBody>
      </p:sp>
      <p:sp>
        <p:nvSpPr>
          <p:cNvPr id="24" name="TextBox 23"/>
          <p:cNvSpPr txBox="1"/>
          <p:nvPr/>
        </p:nvSpPr>
        <p:spPr>
          <a:xfrm>
            <a:off x="731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stories à la une</a:t>
            </a:r>
          </a:p>
        </p:txBody>
      </p:sp>
      <p:sp>
        <p:nvSpPr>
          <p:cNvPr id="25" name="Rounded Rectangle 24"/>
          <p:cNvSpPr/>
          <p:nvPr/>
        </p:nvSpPr>
        <p:spPr>
          <a:xfrm>
            <a:off x="2834640" y="4983480"/>
            <a:ext cx="2148840" cy="114300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link_b.png"/>
          <p:cNvPicPr>
            <a:picLocks noChangeAspect="1"/>
          </p:cNvPicPr>
          <p:nvPr/>
        </p:nvPicPr>
        <p:blipFill>
          <a:blip r:embed="rId9"/>
          <a:stretch>
            <a:fillRect/>
          </a:stretch>
        </p:blipFill>
        <p:spPr>
          <a:xfrm>
            <a:off x="3017520" y="5184648"/>
            <a:ext cx="347472" cy="347472"/>
          </a:xfrm>
          <a:prstGeom prst="rect">
            <a:avLst/>
          </a:prstGeom>
        </p:spPr>
      </p:pic>
      <p:sp>
        <p:nvSpPr>
          <p:cNvPr id="27" name="TextBox 26"/>
          <p:cNvSpPr txBox="1"/>
          <p:nvPr/>
        </p:nvSpPr>
        <p:spPr>
          <a:xfrm>
            <a:off x="3017520" y="5550408"/>
            <a:ext cx="1828800"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5</a:t>
            </a:r>
          </a:p>
        </p:txBody>
      </p:sp>
      <p:sp>
        <p:nvSpPr>
          <p:cNvPr id="28" name="TextBox 27"/>
          <p:cNvSpPr txBox="1"/>
          <p:nvPr/>
        </p:nvSpPr>
        <p:spPr>
          <a:xfrm>
            <a:off x="3017520" y="6007608"/>
            <a:ext cx="1828800" cy="13715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liens en bio</a:t>
            </a:r>
          </a:p>
        </p:txBody>
      </p:sp>
      <p:sp>
        <p:nvSpPr>
          <p:cNvPr id="29" name="Rounded Rectangle 28"/>
          <p:cNvSpPr/>
          <p:nvPr/>
        </p:nvSpPr>
        <p:spPr>
          <a:xfrm>
            <a:off x="5257800" y="1645920"/>
            <a:ext cx="638251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25780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list-checks_b.png"/>
          <p:cNvPicPr>
            <a:picLocks noChangeAspect="1"/>
          </p:cNvPicPr>
          <p:nvPr/>
        </p:nvPicPr>
        <p:blipFill>
          <a:blip r:embed="rId10"/>
          <a:stretch>
            <a:fillRect/>
          </a:stretch>
        </p:blipFill>
        <p:spPr>
          <a:xfrm>
            <a:off x="5486400" y="1828800"/>
            <a:ext cx="384048" cy="384048"/>
          </a:xfrm>
          <a:prstGeom prst="rect">
            <a:avLst/>
          </a:prstGeom>
        </p:spPr>
      </p:pic>
      <p:sp>
        <p:nvSpPr>
          <p:cNvPr id="32" name="TextBox 31"/>
          <p:cNvSpPr txBox="1"/>
          <p:nvPr/>
        </p:nvSpPr>
        <p:spPr>
          <a:xfrm>
            <a:off x="5989320" y="1828800"/>
            <a:ext cx="54681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Lecture du profil</a:t>
            </a:r>
          </a:p>
        </p:txBody>
      </p:sp>
      <p:sp>
        <p:nvSpPr>
          <p:cNvPr id="33" name="TextBox 32"/>
          <p:cNvSpPr txBox="1"/>
          <p:nvPr/>
        </p:nvSpPr>
        <p:spPr>
          <a:xfrm>
            <a:off x="5486400" y="2359152"/>
            <a:ext cx="597103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 Bio lisible en un coup d'œil : une ligne, une casquette, un émoji.</a:t>
            </a:r>
          </a:p>
          <a:p>
            <a:pPr algn="l">
              <a:lnSpc>
                <a:spcPct val="110000"/>
              </a:lnSpc>
              <a:spcAft>
                <a:spcPts val="400"/>
              </a:spcAft>
            </a:pPr>
            <a:r>
              <a:rPr sz="1100" b="0" i="0">
                <a:solidFill>
                  <a:srgbClr val="2B2A35"/>
                </a:solidFill>
                <a:latin typeface="Work Sans"/>
              </a:rPr>
              <a:t>✔ Liens utiles : site Traditions, « Mon Carnet d'entrepreneure » et sa chaîne YouTube, Malea sur YouTube et Apple Podcasts.</a:t>
            </a:r>
          </a:p>
          <a:p>
            <a:pPr algn="l">
              <a:lnSpc>
                <a:spcPct val="110000"/>
              </a:lnSpc>
              <a:spcAft>
                <a:spcPts val="400"/>
              </a:spcAft>
            </a:pPr>
            <a:r>
              <a:rPr sz="1100" b="0" i="0">
                <a:solidFill>
                  <a:srgbClr val="2B2A35"/>
                </a:solidFill>
                <a:latin typeface="Work Sans"/>
              </a:rPr>
              <a:t>✘ Aucune phrase ne dit qui elle est ni ce qu'elle défend : on voit les marques, pas la femme.</a:t>
            </a:r>
          </a:p>
          <a:p>
            <a:pPr algn="l">
              <a:lnSpc>
                <a:spcPct val="110000"/>
              </a:lnSpc>
              <a:spcAft>
                <a:spcPts val="400"/>
              </a:spcAft>
            </a:pPr>
            <a:r>
              <a:rPr sz="1100" b="0" i="0">
                <a:solidFill>
                  <a:srgbClr val="2B2A35"/>
                </a:solidFill>
                <a:latin typeface="Work Sans"/>
              </a:rPr>
              <a:t>✘ Pas de lien vers LinkedIn ni vers une prise de contact (animation, conseil).</a:t>
            </a:r>
          </a:p>
          <a:p>
            <a:pPr algn="l">
              <a:lnSpc>
                <a:spcPct val="110000"/>
              </a:lnSpc>
              <a:spcAft>
                <a:spcPts val="400"/>
              </a:spcAft>
            </a:pPr>
            <a:r>
              <a:rPr sz="1100" b="0" i="0">
                <a:solidFill>
                  <a:srgbClr val="2B2A35"/>
                </a:solidFill>
                <a:latin typeface="Work Sans"/>
              </a:rPr>
              <a:t>✘ Le lien Malea pointe vers un épisode précis (n° 13) plutôt que vers la page du podcast.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PUBLICATIONS ET J'AIME (MÉDIANE) PAR MOIS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rythme régulier, une audience qui décroche en septembre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1_instagram_mois.png"/>
          <p:cNvPicPr>
            <a:picLocks noChangeAspect="1"/>
          </p:cNvPicPr>
          <p:nvPr/>
        </p:nvPicPr>
        <p:blipFill>
          <a:blip r:embed="rId4"/>
          <a:stretch>
            <a:fillRect/>
          </a:stretch>
        </p:blipFill>
        <p:spPr>
          <a:xfrm>
            <a:off x="548640" y="1554480"/>
            <a:ext cx="7315200" cy="3364992"/>
          </a:xfrm>
          <a:prstGeom prst="rect">
            <a:avLst/>
          </a:prstGeom>
        </p:spPr>
      </p:pic>
      <p:sp>
        <p:nvSpPr>
          <p:cNvPr id="11" name="Rounded Rectangle 10"/>
          <p:cNvSpPr/>
          <p:nvPr/>
        </p:nvSpPr>
        <p:spPr>
          <a:xfrm>
            <a:off x="8138160" y="160020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calendar_b.png"/>
          <p:cNvPicPr>
            <a:picLocks noChangeAspect="1"/>
          </p:cNvPicPr>
          <p:nvPr/>
        </p:nvPicPr>
        <p:blipFill>
          <a:blip r:embed="rId5"/>
          <a:stretch>
            <a:fillRect/>
          </a:stretch>
        </p:blipFill>
        <p:spPr>
          <a:xfrm>
            <a:off x="8321040" y="1801368"/>
            <a:ext cx="347472" cy="347472"/>
          </a:xfrm>
          <a:prstGeom prst="rect">
            <a:avLst/>
          </a:prstGeom>
        </p:spPr>
      </p:pic>
      <p:sp>
        <p:nvSpPr>
          <p:cNvPr id="13" name="TextBox 12"/>
          <p:cNvSpPr txBox="1"/>
          <p:nvPr/>
        </p:nvSpPr>
        <p:spPr>
          <a:xfrm>
            <a:off x="8321040" y="216712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 9 / mois</a:t>
            </a:r>
          </a:p>
        </p:txBody>
      </p:sp>
      <p:sp>
        <p:nvSpPr>
          <p:cNvPr id="14" name="TextBox 13"/>
          <p:cNvSpPr txBox="1"/>
          <p:nvPr/>
        </p:nvSpPr>
        <p:spPr>
          <a:xfrm>
            <a:off x="8321040" y="262432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Elle publie avec constance, de 6 à 13 publications chaque mois, sans trou.</a:t>
            </a:r>
          </a:p>
        </p:txBody>
      </p:sp>
      <p:sp>
        <p:nvSpPr>
          <p:cNvPr id="15" name="Rounded Rectangle 14"/>
          <p:cNvSpPr/>
          <p:nvPr/>
        </p:nvSpPr>
        <p:spPr>
          <a:xfrm>
            <a:off x="8138160" y="3154680"/>
            <a:ext cx="3502152"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trending-down_b.png"/>
          <p:cNvPicPr>
            <a:picLocks noChangeAspect="1"/>
          </p:cNvPicPr>
          <p:nvPr/>
        </p:nvPicPr>
        <p:blipFill>
          <a:blip r:embed="rId6"/>
          <a:stretch>
            <a:fillRect/>
          </a:stretch>
        </p:blipFill>
        <p:spPr>
          <a:xfrm>
            <a:off x="8321040" y="3355848"/>
            <a:ext cx="347472" cy="347472"/>
          </a:xfrm>
          <a:prstGeom prst="rect">
            <a:avLst/>
          </a:prstGeom>
        </p:spPr>
      </p:pic>
      <p:sp>
        <p:nvSpPr>
          <p:cNvPr id="17" name="TextBox 16"/>
          <p:cNvSpPr txBox="1"/>
          <p:nvPr/>
        </p:nvSpPr>
        <p:spPr>
          <a:xfrm>
            <a:off x="8321040" y="3721608"/>
            <a:ext cx="318211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E4405F"/>
                </a:solidFill>
                <a:latin typeface="Funnel Display"/>
              </a:rPr>
              <a:t>2 308 → 503</a:t>
            </a:r>
          </a:p>
        </p:txBody>
      </p:sp>
      <p:sp>
        <p:nvSpPr>
          <p:cNvPr id="18" name="TextBox 17"/>
          <p:cNvSpPr txBox="1"/>
          <p:nvPr/>
        </p:nvSpPr>
        <p:spPr>
          <a:xfrm>
            <a:off x="8321040" y="4178808"/>
            <a:ext cx="318211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j'aime en médiane : sur janvier-août, puis en octobre (1 350 à 2 800 selon les mois avant septembre).</a:t>
            </a:r>
          </a:p>
        </p:txBody>
      </p:sp>
      <p:sp>
        <p:nvSpPr>
          <p:cNvPr id="19" name="TextBox 18"/>
          <p:cNvSpPr txBox="1"/>
          <p:nvPr/>
        </p:nvSpPr>
        <p:spPr>
          <a:xfrm>
            <a:off x="8138160" y="4754880"/>
            <a:ext cx="3502152"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Ce n'est pas la fréquence qui baisse, c'est l'intérêt pour ce qui est publié : voir les deux pages suivantes.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J'AIME EN MÉDIANE PAR SUJET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aime chez elle : elle, ses proches, ses tenues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3_instagram_sujets.png"/>
          <p:cNvPicPr>
            <a:picLocks noChangeAspect="1"/>
          </p:cNvPicPr>
          <p:nvPr/>
        </p:nvPicPr>
        <p:blipFill>
          <a:blip r:embed="rId4"/>
          <a:stretch>
            <a:fillRect/>
          </a:stretch>
        </p:blipFill>
        <p:spPr>
          <a:xfrm>
            <a:off x="548640" y="1554480"/>
            <a:ext cx="6766560" cy="3998422"/>
          </a:xfrm>
          <a:prstGeom prst="rect">
            <a:avLst/>
          </a:prstGeom>
        </p:spPr>
      </p:pic>
      <p:sp>
        <p:nvSpPr>
          <p:cNvPr id="11" name="Rounded Rectangle 10"/>
          <p:cNvSpPr/>
          <p:nvPr/>
        </p:nvSpPr>
        <p:spPr>
          <a:xfrm>
            <a:off x="7589520" y="160020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589520" y="1764792"/>
            <a:ext cx="54864" cy="1865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heart_b.png"/>
          <p:cNvPicPr>
            <a:picLocks noChangeAspect="1"/>
          </p:cNvPicPr>
          <p:nvPr/>
        </p:nvPicPr>
        <p:blipFill>
          <a:blip r:embed="rId5"/>
          <a:stretch>
            <a:fillRect/>
          </a:stretch>
        </p:blipFill>
        <p:spPr>
          <a:xfrm>
            <a:off x="7818120" y="1783080"/>
            <a:ext cx="384048" cy="384048"/>
          </a:xfrm>
          <a:prstGeom prst="rect">
            <a:avLst/>
          </a:prstGeom>
        </p:spPr>
      </p:pic>
      <p:sp>
        <p:nvSpPr>
          <p:cNvPr id="14" name="TextBox 13"/>
          <p:cNvSpPr txBox="1"/>
          <p:nvPr/>
        </p:nvSpPr>
        <p:spPr>
          <a:xfrm>
            <a:off x="8321040" y="178308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porte</a:t>
            </a:r>
          </a:p>
        </p:txBody>
      </p:sp>
      <p:sp>
        <p:nvSpPr>
          <p:cNvPr id="15" name="TextBox 14"/>
          <p:cNvSpPr txBox="1"/>
          <p:nvPr/>
        </p:nvSpPr>
        <p:spPr>
          <a:xfrm>
            <a:off x="7818120" y="231343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Les célébrations et la vie privée (2 724 j'aime) et le style, les voyages (2 560). C'est elle qu'on suit.</a:t>
            </a:r>
          </a:p>
        </p:txBody>
      </p:sp>
      <p:sp>
        <p:nvSpPr>
          <p:cNvPr id="16" name="Rounded Rectangle 15"/>
          <p:cNvSpPr/>
          <p:nvPr/>
        </p:nvSpPr>
        <p:spPr>
          <a:xfrm>
            <a:off x="7589520" y="3931920"/>
            <a:ext cx="4050791" cy="2194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89520" y="4096511"/>
            <a:ext cx="54864" cy="1865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_b.png"/>
          <p:cNvPicPr>
            <a:picLocks noChangeAspect="1"/>
          </p:cNvPicPr>
          <p:nvPr/>
        </p:nvPicPr>
        <p:blipFill>
          <a:blip r:embed="rId6"/>
          <a:stretch>
            <a:fillRect/>
          </a:stretch>
        </p:blipFill>
        <p:spPr>
          <a:xfrm>
            <a:off x="7818120" y="4114800"/>
            <a:ext cx="384048" cy="384048"/>
          </a:xfrm>
          <a:prstGeom prst="rect">
            <a:avLst/>
          </a:prstGeom>
        </p:spPr>
      </p:pic>
      <p:sp>
        <p:nvSpPr>
          <p:cNvPr id="19" name="TextBox 18"/>
          <p:cNvSpPr txBox="1"/>
          <p:nvPr/>
        </p:nvSpPr>
        <p:spPr>
          <a:xfrm>
            <a:off x="8321040" y="4114800"/>
            <a:ext cx="31363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pèse</a:t>
            </a:r>
          </a:p>
        </p:txBody>
      </p:sp>
      <p:sp>
        <p:nvSpPr>
          <p:cNvPr id="20" name="TextBox 19"/>
          <p:cNvSpPr txBox="1"/>
          <p:nvPr/>
        </p:nvSpPr>
        <p:spPr>
          <a:xfrm>
            <a:off x="7818120" y="4645152"/>
            <a:ext cx="3639311" cy="1371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Ses prises de parole (778) et les produits Traditions (1 145) sur son compte personnel. Les partenariats tiennent à 1 304.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J'AIME EN MÉDIANE PAR FORMAT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carrousel reste son meilleur format ; la vidéo plafonne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2_instagram_formats.png"/>
          <p:cNvPicPr>
            <a:picLocks noChangeAspect="1"/>
          </p:cNvPicPr>
          <p:nvPr/>
        </p:nvPicPr>
        <p:blipFill>
          <a:blip r:embed="rId4"/>
          <a:stretch>
            <a:fillRect/>
          </a:stretch>
        </p:blipFill>
        <p:spPr>
          <a:xfrm>
            <a:off x="548640" y="1554480"/>
            <a:ext cx="6766560" cy="3928970"/>
          </a:xfrm>
          <a:prstGeom prst="rect">
            <a:avLst/>
          </a:prstGeom>
        </p:spPr>
      </p:pic>
      <p:sp>
        <p:nvSpPr>
          <p:cNvPr id="11" name="Rounded Rectangle 10"/>
          <p:cNvSpPr/>
          <p:nvPr/>
        </p:nvSpPr>
        <p:spPr>
          <a:xfrm>
            <a:off x="7589520" y="160020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layers_b.png"/>
          <p:cNvPicPr>
            <a:picLocks noChangeAspect="1"/>
          </p:cNvPicPr>
          <p:nvPr/>
        </p:nvPicPr>
        <p:blipFill>
          <a:blip r:embed="rId5"/>
          <a:stretch>
            <a:fillRect/>
          </a:stretch>
        </p:blipFill>
        <p:spPr>
          <a:xfrm>
            <a:off x="7772400" y="1801368"/>
            <a:ext cx="347472" cy="347472"/>
          </a:xfrm>
          <a:prstGeom prst="rect">
            <a:avLst/>
          </a:prstGeom>
        </p:spPr>
      </p:pic>
      <p:sp>
        <p:nvSpPr>
          <p:cNvPr id="13" name="TextBox 12"/>
          <p:cNvSpPr txBox="1"/>
          <p:nvPr/>
        </p:nvSpPr>
        <p:spPr>
          <a:xfrm>
            <a:off x="7772400" y="216712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2 393 j'aime</a:t>
            </a:r>
          </a:p>
        </p:txBody>
      </p:sp>
      <p:sp>
        <p:nvSpPr>
          <p:cNvPr id="14" name="TextBox 13"/>
          <p:cNvSpPr txBox="1"/>
          <p:nvPr/>
        </p:nvSpPr>
        <p:spPr>
          <a:xfrm>
            <a:off x="7772400" y="262432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pour ses 51 carrousels, contre 1 086 pour ses 34 vidéos.</a:t>
            </a:r>
          </a:p>
        </p:txBody>
      </p:sp>
      <p:sp>
        <p:nvSpPr>
          <p:cNvPr id="15" name="Rounded Rectangle 14"/>
          <p:cNvSpPr/>
          <p:nvPr/>
        </p:nvSpPr>
        <p:spPr>
          <a:xfrm>
            <a:off x="7589520" y="3154680"/>
            <a:ext cx="4050791" cy="1417320"/>
          </a:xfrm>
          <a:prstGeom prst="roundRect">
            <a:avLst>
              <a:gd name="adj" fmla="val 8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eye_b.png"/>
          <p:cNvPicPr>
            <a:picLocks noChangeAspect="1"/>
          </p:cNvPicPr>
          <p:nvPr/>
        </p:nvPicPr>
        <p:blipFill>
          <a:blip r:embed="rId6"/>
          <a:stretch>
            <a:fillRect/>
          </a:stretch>
        </p:blipFill>
        <p:spPr>
          <a:xfrm>
            <a:off x="7772400" y="3355848"/>
            <a:ext cx="347472" cy="347472"/>
          </a:xfrm>
          <a:prstGeom prst="rect">
            <a:avLst/>
          </a:prstGeom>
        </p:spPr>
      </p:pic>
      <p:sp>
        <p:nvSpPr>
          <p:cNvPr id="17" name="TextBox 16"/>
          <p:cNvSpPr txBox="1"/>
          <p:nvPr/>
        </p:nvSpPr>
        <p:spPr>
          <a:xfrm>
            <a:off x="7772400" y="3721608"/>
            <a:ext cx="3730752" cy="548640"/>
          </a:xfrm>
          <a:prstGeom prst="rect">
            <a:avLst/>
          </a:prstGeom>
          <a:noFill/>
        </p:spPr>
        <p:txBody>
          <a:bodyPr wrap="square" anchor="t" lIns="18288" rIns="18288" tIns="18288" bIns="18288">
            <a:spAutoFit/>
          </a:bodyPr>
          <a:lstStyle/>
          <a:p>
            <a:pPr algn="l">
              <a:lnSpc>
                <a:spcPct val="112000"/>
              </a:lnSpc>
              <a:spcAft>
                <a:spcPts val="400"/>
              </a:spcAft>
            </a:pPr>
            <a:r>
              <a:rPr sz="2600" b="1" i="0">
                <a:solidFill>
                  <a:srgbClr val="232754"/>
                </a:solidFill>
                <a:latin typeface="Funnel Display"/>
              </a:rPr>
              <a:t>19 800 vues</a:t>
            </a:r>
          </a:p>
        </p:txBody>
      </p:sp>
      <p:sp>
        <p:nvSpPr>
          <p:cNvPr id="18" name="TextBox 17"/>
          <p:cNvSpPr txBox="1"/>
          <p:nvPr/>
        </p:nvSpPr>
        <p:spPr>
          <a:xfrm>
            <a:off x="7772400" y="4178808"/>
            <a:ext cx="3730752" cy="411479"/>
          </a:xfrm>
          <a:prstGeom prst="rect">
            <a:avLst/>
          </a:prstGeom>
          <a:noFill/>
        </p:spPr>
        <p:txBody>
          <a:bodyPr wrap="square" anchor="t" lIns="18288" rIns="18288" tIns="18288" bIns="18288">
            <a:spAutoFit/>
          </a:bodyPr>
          <a:lstStyle/>
          <a:p>
            <a:pPr algn="l">
              <a:lnSpc>
                <a:spcPct val="100000"/>
              </a:lnSpc>
              <a:spcAft>
                <a:spcPts val="400"/>
              </a:spcAft>
            </a:pPr>
            <a:r>
              <a:rPr sz="1050" b="0" i="0">
                <a:solidFill>
                  <a:srgbClr val="2B2A35"/>
                </a:solidFill>
                <a:latin typeface="Work Sans"/>
              </a:rPr>
              <a:t>en médiane par vidéo. Deux vidéos Traditions dépassent 85 000 vues : la vidéo attire, mais fait peu aimer.</a:t>
            </a:r>
          </a:p>
        </p:txBody>
      </p:sp>
      <p:sp>
        <p:nvSpPr>
          <p:cNvPr id="19" name="TextBox 18"/>
          <p:cNvSpPr txBox="1"/>
          <p:nvPr/>
        </p:nvSpPr>
        <p:spPr>
          <a:xfrm>
            <a:off x="7589520" y="4754880"/>
            <a:ext cx="4050791" cy="1371600"/>
          </a:xfrm>
          <a:prstGeom prst="rect">
            <a:avLst/>
          </a:prstGeom>
          <a:noFill/>
        </p:spPr>
        <p:txBody>
          <a:bodyPr wrap="square" anchor="t" lIns="18288" rIns="18288" tIns="18288" bIns="18288">
            <a:spAutoFit/>
          </a:bodyPr>
          <a:lstStyle/>
          <a:p>
            <a:pPr algn="l">
              <a:lnSpc>
                <a:spcPct val="105000"/>
              </a:lnSpc>
              <a:spcAft>
                <a:spcPts val="400"/>
              </a:spcAft>
            </a:pPr>
            <a:r>
              <a:rPr sz="1100" b="1" i="0">
                <a:solidFill>
                  <a:srgbClr val="232754"/>
                </a:solidFill>
                <a:latin typeface="Work Sans"/>
              </a:rPr>
              <a:t>En septembre et octobre, la part de vidéos passe à 12 publications sur 17, contre 22 sur 71 avant : c'est la cause principale de la baisse.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plus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1-31_DULfiQFjJui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6 067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31/01/2026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Les 65 ans de sa maman</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 Ma première maison. » 90 commentaires.</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7-06_DabjcplDGDz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5 469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06/07/2026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This is Thirty »</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Ses 30 ans. Record de commentaires : 170.</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1-09_DTTMGO8jBs7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4 608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09/01/2026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Bravo les aigles »</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Soutien au Mali pendant la CAN.</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01-13_DTdw6wXjAE9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4 346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13/01/2026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 La vie est une lutte »</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Une tenue, une phrase forte.</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JANVIER À OCTOBRE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Ses quatre publications les moins aimées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19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g_2026-09-20_DdgKvbpshql_1.61_0.3.jpg"/>
          <p:cNvPicPr>
            <a:picLocks noChangeAspect="1"/>
          </p:cNvPicPr>
          <p:nvPr/>
        </p:nvPicPr>
        <p:blipFill>
          <a:blip r:embed="rId4"/>
          <a:stretch>
            <a:fillRect/>
          </a:stretch>
        </p:blipFill>
        <p:spPr>
          <a:xfrm>
            <a:off x="603503" y="1655064"/>
            <a:ext cx="2587752" cy="1617573"/>
          </a:xfrm>
          <a:prstGeom prst="rect">
            <a:avLst/>
          </a:prstGeom>
        </p:spPr>
      </p:pic>
      <p:sp>
        <p:nvSpPr>
          <p:cNvPr id="12" name="Rounded Rectangle 11"/>
          <p:cNvSpPr/>
          <p:nvPr/>
        </p:nvSpPr>
        <p:spPr>
          <a:xfrm>
            <a:off x="713232"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230 j'aime</a:t>
            </a:r>
          </a:p>
        </p:txBody>
      </p:sp>
      <p:sp>
        <p:nvSpPr>
          <p:cNvPr id="14" name="TextBox 13"/>
          <p:cNvSpPr txBox="1"/>
          <p:nvPr/>
        </p:nvSpPr>
        <p:spPr>
          <a:xfrm>
            <a:off x="713232"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20/09/2026</a:t>
            </a:r>
          </a:p>
        </p:txBody>
      </p:sp>
      <p:sp>
        <p:nvSpPr>
          <p:cNvPr id="15" name="TextBox 14"/>
          <p:cNvSpPr txBox="1"/>
          <p:nvPr/>
        </p:nvSpPr>
        <p:spPr>
          <a:xfrm>
            <a:off x="713232"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MIRAGE (Traditions)</a:t>
            </a:r>
          </a:p>
        </p:txBody>
      </p:sp>
      <p:sp>
        <p:nvSpPr>
          <p:cNvPr id="16" name="TextBox 15"/>
          <p:cNvSpPr txBox="1"/>
          <p:nvPr/>
        </p:nvSpPr>
        <p:spPr>
          <a:xfrm>
            <a:off x="713232"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Vidéo produit, un commentaire.</a:t>
            </a:r>
          </a:p>
        </p:txBody>
      </p:sp>
      <p:sp>
        <p:nvSpPr>
          <p:cNvPr id="17" name="TextBox 16"/>
          <p:cNvSpPr txBox="1"/>
          <p:nvPr/>
        </p:nvSpPr>
        <p:spPr>
          <a:xfrm>
            <a:off x="713232"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5"/>
              </a:rPr>
              <a:t>Voir la publication →</a:t>
            </a:r>
          </a:p>
        </p:txBody>
      </p:sp>
      <p:sp>
        <p:nvSpPr>
          <p:cNvPr id="18" name="Rounded Rectangle 17"/>
          <p:cNvSpPr/>
          <p:nvPr/>
        </p:nvSpPr>
        <p:spPr>
          <a:xfrm>
            <a:off x="3355848"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g_2026-09-22_Ddmg-6SMbzH_1.61_0.3.jpg"/>
          <p:cNvPicPr>
            <a:picLocks noChangeAspect="1"/>
          </p:cNvPicPr>
          <p:nvPr/>
        </p:nvPicPr>
        <p:blipFill>
          <a:blip r:embed="rId6"/>
          <a:stretch>
            <a:fillRect/>
          </a:stretch>
        </p:blipFill>
        <p:spPr>
          <a:xfrm>
            <a:off x="3410712" y="1655064"/>
            <a:ext cx="2587752" cy="1617573"/>
          </a:xfrm>
          <a:prstGeom prst="rect">
            <a:avLst/>
          </a:prstGeom>
        </p:spPr>
      </p:pic>
      <p:sp>
        <p:nvSpPr>
          <p:cNvPr id="20" name="Rounded Rectangle 19"/>
          <p:cNvSpPr/>
          <p:nvPr/>
        </p:nvSpPr>
        <p:spPr>
          <a:xfrm>
            <a:off x="3520440"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20440"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284 j'aime</a:t>
            </a:r>
          </a:p>
        </p:txBody>
      </p:sp>
      <p:sp>
        <p:nvSpPr>
          <p:cNvPr id="22" name="TextBox 21"/>
          <p:cNvSpPr txBox="1"/>
          <p:nvPr/>
        </p:nvSpPr>
        <p:spPr>
          <a:xfrm>
            <a:off x="3520440"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22/09/2026</a:t>
            </a:r>
          </a:p>
        </p:txBody>
      </p:sp>
      <p:sp>
        <p:nvSpPr>
          <p:cNvPr id="23" name="TextBox 22"/>
          <p:cNvSpPr txBox="1"/>
          <p:nvPr/>
        </p:nvSpPr>
        <p:spPr>
          <a:xfrm>
            <a:off x="3520440"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Yango Fellowship</a:t>
            </a:r>
          </a:p>
        </p:txBody>
      </p:sp>
      <p:sp>
        <p:nvSpPr>
          <p:cNvPr id="24" name="TextBox 23"/>
          <p:cNvSpPr txBox="1"/>
          <p:nvPr/>
        </p:nvSpPr>
        <p:spPr>
          <a:xfrm>
            <a:off x="3520440"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Un vrai sujet, en vidéo et sans elle à l'image.</a:t>
            </a:r>
          </a:p>
        </p:txBody>
      </p:sp>
      <p:sp>
        <p:nvSpPr>
          <p:cNvPr id="25" name="TextBox 24"/>
          <p:cNvSpPr txBox="1"/>
          <p:nvPr/>
        </p:nvSpPr>
        <p:spPr>
          <a:xfrm>
            <a:off x="3520440"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7"/>
              </a:rPr>
              <a:t>Voir la publication →</a:t>
            </a:r>
          </a:p>
        </p:txBody>
      </p:sp>
      <p:sp>
        <p:nvSpPr>
          <p:cNvPr id="26" name="Rounded Rectangle 25"/>
          <p:cNvSpPr/>
          <p:nvPr/>
        </p:nvSpPr>
        <p:spPr>
          <a:xfrm>
            <a:off x="6163055"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ig_2026-09-18_DdcB8N9sf-g_1.61_0.3.jpg"/>
          <p:cNvPicPr>
            <a:picLocks noChangeAspect="1"/>
          </p:cNvPicPr>
          <p:nvPr/>
        </p:nvPicPr>
        <p:blipFill>
          <a:blip r:embed="rId8"/>
          <a:stretch>
            <a:fillRect/>
          </a:stretch>
        </p:blipFill>
        <p:spPr>
          <a:xfrm>
            <a:off x="6217919" y="1655064"/>
            <a:ext cx="2587752" cy="1617573"/>
          </a:xfrm>
          <a:prstGeom prst="rect">
            <a:avLst/>
          </a:prstGeom>
        </p:spPr>
      </p:pic>
      <p:sp>
        <p:nvSpPr>
          <p:cNvPr id="28" name="Rounded Rectangle 27"/>
          <p:cNvSpPr/>
          <p:nvPr/>
        </p:nvSpPr>
        <p:spPr>
          <a:xfrm>
            <a:off x="6327647"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27647"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358 j'aime</a:t>
            </a:r>
          </a:p>
        </p:txBody>
      </p:sp>
      <p:sp>
        <p:nvSpPr>
          <p:cNvPr id="30" name="TextBox 29"/>
          <p:cNvSpPr txBox="1"/>
          <p:nvPr/>
        </p:nvSpPr>
        <p:spPr>
          <a:xfrm>
            <a:off x="6327647"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18/09/2026</a:t>
            </a:r>
          </a:p>
        </p:txBody>
      </p:sp>
      <p:sp>
        <p:nvSpPr>
          <p:cNvPr id="31" name="TextBox 30"/>
          <p:cNvSpPr txBox="1"/>
          <p:nvPr/>
        </p:nvSpPr>
        <p:spPr>
          <a:xfrm>
            <a:off x="6327647"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SHADOW (Traditions)</a:t>
            </a:r>
          </a:p>
        </p:txBody>
      </p:sp>
      <p:sp>
        <p:nvSpPr>
          <p:cNvPr id="32" name="TextBox 31"/>
          <p:cNvSpPr txBox="1"/>
          <p:nvPr/>
        </p:nvSpPr>
        <p:spPr>
          <a:xfrm>
            <a:off x="6327647"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Fiche produit en vidéo.</a:t>
            </a:r>
          </a:p>
        </p:txBody>
      </p:sp>
      <p:sp>
        <p:nvSpPr>
          <p:cNvPr id="33" name="TextBox 32"/>
          <p:cNvSpPr txBox="1"/>
          <p:nvPr/>
        </p:nvSpPr>
        <p:spPr>
          <a:xfrm>
            <a:off x="6327647"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9"/>
              </a:rPr>
              <a:t>Voir la publication →</a:t>
            </a:r>
          </a:p>
        </p:txBody>
      </p:sp>
      <p:sp>
        <p:nvSpPr>
          <p:cNvPr id="34" name="Rounded Rectangle 33"/>
          <p:cNvSpPr/>
          <p:nvPr/>
        </p:nvSpPr>
        <p:spPr>
          <a:xfrm>
            <a:off x="8970263" y="1600200"/>
            <a:ext cx="2697480" cy="4526280"/>
          </a:xfrm>
          <a:prstGeom prst="roundRect">
            <a:avLst>
              <a:gd name="adj" fmla="val 4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g_2026-10-09_DeR43L0yg_K_1.61_0.3.jpg"/>
          <p:cNvPicPr>
            <a:picLocks noChangeAspect="1"/>
          </p:cNvPicPr>
          <p:nvPr/>
        </p:nvPicPr>
        <p:blipFill>
          <a:blip r:embed="rId10"/>
          <a:stretch>
            <a:fillRect/>
          </a:stretch>
        </p:blipFill>
        <p:spPr>
          <a:xfrm>
            <a:off x="9025128" y="1655064"/>
            <a:ext cx="2587752" cy="1617573"/>
          </a:xfrm>
          <a:prstGeom prst="rect">
            <a:avLst/>
          </a:prstGeom>
        </p:spPr>
      </p:pic>
      <p:sp>
        <p:nvSpPr>
          <p:cNvPr id="36" name="Rounded Rectangle 35"/>
          <p:cNvSpPr/>
          <p:nvPr/>
        </p:nvSpPr>
        <p:spPr>
          <a:xfrm>
            <a:off x="9134855" y="2888589"/>
            <a:ext cx="1417320" cy="329184"/>
          </a:xfrm>
          <a:prstGeom prst="roundRect">
            <a:avLst>
              <a:gd name="adj" fmla="val 30000"/>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34855" y="2888589"/>
            <a:ext cx="1417320" cy="329184"/>
          </a:xfrm>
          <a:prstGeom prst="rect">
            <a:avLst/>
          </a:prstGeom>
          <a:noFill/>
        </p:spPr>
        <p:txBody>
          <a:bodyPr wrap="square" anchor="ctr" lIns="18288" rIns="18288" tIns="18288" bIns="18288">
            <a:spAutoFit/>
          </a:bodyPr>
          <a:lstStyle/>
          <a:p>
            <a:pPr algn="ctr">
              <a:lnSpc>
                <a:spcPct val="112000"/>
              </a:lnSpc>
              <a:spcAft>
                <a:spcPts val="400"/>
              </a:spcAft>
            </a:pPr>
            <a:r>
              <a:rPr sz="1100" b="1" i="0">
                <a:solidFill>
                  <a:srgbClr val="FFFFFF"/>
                </a:solidFill>
                <a:latin typeface="Space Grotesk"/>
              </a:rPr>
              <a:t>437 j'aime</a:t>
            </a:r>
          </a:p>
        </p:txBody>
      </p:sp>
      <p:sp>
        <p:nvSpPr>
          <p:cNvPr id="38" name="TextBox 37"/>
          <p:cNvSpPr txBox="1"/>
          <p:nvPr/>
        </p:nvSpPr>
        <p:spPr>
          <a:xfrm>
            <a:off x="9134855" y="3364077"/>
            <a:ext cx="2368296"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09/10/2026</a:t>
            </a:r>
          </a:p>
        </p:txBody>
      </p:sp>
      <p:sp>
        <p:nvSpPr>
          <p:cNvPr id="39" name="TextBox 38"/>
          <p:cNvSpPr txBox="1"/>
          <p:nvPr/>
        </p:nvSpPr>
        <p:spPr>
          <a:xfrm>
            <a:off x="9134855" y="3601821"/>
            <a:ext cx="2368296" cy="685800"/>
          </a:xfrm>
          <a:prstGeom prst="rect">
            <a:avLst/>
          </a:prstGeom>
          <a:noFill/>
        </p:spPr>
        <p:txBody>
          <a:bodyPr wrap="square" anchor="t" lIns="18288" rIns="18288" tIns="18288" bIns="18288">
            <a:spAutoFit/>
          </a:bodyPr>
          <a:lstStyle/>
          <a:p>
            <a:pPr algn="l">
              <a:lnSpc>
                <a:spcPct val="100000"/>
              </a:lnSpc>
              <a:spcAft>
                <a:spcPts val="400"/>
              </a:spcAft>
            </a:pPr>
            <a:r>
              <a:rPr sz="1150" b="1" i="0">
                <a:solidFill>
                  <a:srgbClr val="232754"/>
                </a:solidFill>
                <a:latin typeface="Funnel Display"/>
              </a:rPr>
              <a:t>Partenariat soin des femmes</a:t>
            </a:r>
          </a:p>
        </p:txBody>
      </p:sp>
      <p:sp>
        <p:nvSpPr>
          <p:cNvPr id="40" name="TextBox 39"/>
          <p:cNvSpPr txBox="1"/>
          <p:nvPr/>
        </p:nvSpPr>
        <p:spPr>
          <a:xfrm>
            <a:off x="9134855" y="4187037"/>
            <a:ext cx="2368296" cy="161940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Message de marque en vidéo.</a:t>
            </a:r>
          </a:p>
        </p:txBody>
      </p:sp>
      <p:sp>
        <p:nvSpPr>
          <p:cNvPr id="41" name="TextBox 40"/>
          <p:cNvSpPr txBox="1"/>
          <p:nvPr/>
        </p:nvSpPr>
        <p:spPr>
          <a:xfrm>
            <a:off x="9134855" y="5797296"/>
            <a:ext cx="2368296" cy="27432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hlinkClick r:id="rId11"/>
              </a:rPr>
              <a:t>Voir la publication →</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UNE SÉLECTION DE SES PUBLICATIONS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Son fil, en un coup d'œil</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ig_2026-07-06_DabjcplDGDz_0.78_0.25.jpg"/>
          <p:cNvPicPr>
            <a:picLocks noChangeAspect="1"/>
          </p:cNvPicPr>
          <p:nvPr/>
        </p:nvPicPr>
        <p:blipFill>
          <a:blip r:embed="rId4"/>
          <a:stretch>
            <a:fillRect/>
          </a:stretch>
        </p:blipFill>
        <p:spPr>
          <a:xfrm>
            <a:off x="548640" y="1554480"/>
            <a:ext cx="1757172" cy="2253996"/>
          </a:xfrm>
          <a:prstGeom prst="rect">
            <a:avLst/>
          </a:prstGeom>
        </p:spPr>
      </p:pic>
      <p:pic>
        <p:nvPicPr>
          <p:cNvPr id="11" name="Picture 10" descr="ig_2026-03-20_DWGxsI_jLU__0.78_0.25.jpg"/>
          <p:cNvPicPr>
            <a:picLocks noChangeAspect="1"/>
          </p:cNvPicPr>
          <p:nvPr/>
        </p:nvPicPr>
        <p:blipFill>
          <a:blip r:embed="rId5"/>
          <a:stretch>
            <a:fillRect/>
          </a:stretch>
        </p:blipFill>
        <p:spPr>
          <a:xfrm>
            <a:off x="2415540" y="1554480"/>
            <a:ext cx="1757172" cy="2253996"/>
          </a:xfrm>
          <a:prstGeom prst="rect">
            <a:avLst/>
          </a:prstGeom>
        </p:spPr>
      </p:pic>
      <p:pic>
        <p:nvPicPr>
          <p:cNvPr id="12" name="Picture 11" descr="ig_2026-06-25_DaA546HjAcb_0.78_0.25.jpg"/>
          <p:cNvPicPr>
            <a:picLocks noChangeAspect="1"/>
          </p:cNvPicPr>
          <p:nvPr/>
        </p:nvPicPr>
        <p:blipFill>
          <a:blip r:embed="rId6"/>
          <a:stretch>
            <a:fillRect/>
          </a:stretch>
        </p:blipFill>
        <p:spPr>
          <a:xfrm>
            <a:off x="4282440" y="1554480"/>
            <a:ext cx="1757172" cy="2253996"/>
          </a:xfrm>
          <a:prstGeom prst="rect">
            <a:avLst/>
          </a:prstGeom>
        </p:spPr>
      </p:pic>
      <p:pic>
        <p:nvPicPr>
          <p:cNvPr id="13" name="Picture 12" descr="ig_2026-01-09_DTTMGO8jBs7_0.78_0.25.jpg"/>
          <p:cNvPicPr>
            <a:picLocks noChangeAspect="1"/>
          </p:cNvPicPr>
          <p:nvPr/>
        </p:nvPicPr>
        <p:blipFill>
          <a:blip r:embed="rId7"/>
          <a:stretch>
            <a:fillRect/>
          </a:stretch>
        </p:blipFill>
        <p:spPr>
          <a:xfrm>
            <a:off x="6149340" y="1554480"/>
            <a:ext cx="1757172" cy="2253996"/>
          </a:xfrm>
          <a:prstGeom prst="rect">
            <a:avLst/>
          </a:prstGeom>
        </p:spPr>
      </p:pic>
      <p:pic>
        <p:nvPicPr>
          <p:cNvPr id="14" name="Picture 13" descr="ig_2026-05-31_DZARSA5jKu8_0.78_0.25.jpg"/>
          <p:cNvPicPr>
            <a:picLocks noChangeAspect="1"/>
          </p:cNvPicPr>
          <p:nvPr/>
        </p:nvPicPr>
        <p:blipFill>
          <a:blip r:embed="rId8"/>
          <a:stretch>
            <a:fillRect/>
          </a:stretch>
        </p:blipFill>
        <p:spPr>
          <a:xfrm>
            <a:off x="8016240" y="1554480"/>
            <a:ext cx="1757172" cy="2253996"/>
          </a:xfrm>
          <a:prstGeom prst="rect">
            <a:avLst/>
          </a:prstGeom>
        </p:spPr>
      </p:pic>
      <p:pic>
        <p:nvPicPr>
          <p:cNvPr id="15" name="Picture 14" descr="ig_2026-07-13_DavsCGlDHRn_0.78_0.25.jpg"/>
          <p:cNvPicPr>
            <a:picLocks noChangeAspect="1"/>
          </p:cNvPicPr>
          <p:nvPr/>
        </p:nvPicPr>
        <p:blipFill>
          <a:blip r:embed="rId9"/>
          <a:stretch>
            <a:fillRect/>
          </a:stretch>
        </p:blipFill>
        <p:spPr>
          <a:xfrm>
            <a:off x="9883140" y="1554480"/>
            <a:ext cx="1757172" cy="2253996"/>
          </a:xfrm>
          <a:prstGeom prst="rect">
            <a:avLst/>
          </a:prstGeom>
        </p:spPr>
      </p:pic>
      <p:pic>
        <p:nvPicPr>
          <p:cNvPr id="16" name="Picture 15" descr="ig_2026-03-03_DVbbwuFjFcS_0.78_0.25.jpg"/>
          <p:cNvPicPr>
            <a:picLocks noChangeAspect="1"/>
          </p:cNvPicPr>
          <p:nvPr/>
        </p:nvPicPr>
        <p:blipFill>
          <a:blip r:embed="rId10"/>
          <a:stretch>
            <a:fillRect/>
          </a:stretch>
        </p:blipFill>
        <p:spPr>
          <a:xfrm>
            <a:off x="548640" y="3918204"/>
            <a:ext cx="1757172" cy="2253996"/>
          </a:xfrm>
          <a:prstGeom prst="rect">
            <a:avLst/>
          </a:prstGeom>
        </p:spPr>
      </p:pic>
      <p:pic>
        <p:nvPicPr>
          <p:cNvPr id="17" name="Picture 16" descr="ig_2026-08-15_DcD8RJVjAZ2_0.78_0.25.jpg"/>
          <p:cNvPicPr>
            <a:picLocks noChangeAspect="1"/>
          </p:cNvPicPr>
          <p:nvPr/>
        </p:nvPicPr>
        <p:blipFill>
          <a:blip r:embed="rId11"/>
          <a:stretch>
            <a:fillRect/>
          </a:stretch>
        </p:blipFill>
        <p:spPr>
          <a:xfrm>
            <a:off x="2415540" y="3918204"/>
            <a:ext cx="1757172" cy="2253996"/>
          </a:xfrm>
          <a:prstGeom prst="rect">
            <a:avLst/>
          </a:prstGeom>
        </p:spPr>
      </p:pic>
      <p:pic>
        <p:nvPicPr>
          <p:cNvPr id="18" name="Picture 17" descr="ig_2026-03-08_DVoOZ3tjORK_0.78_0.25.jpg"/>
          <p:cNvPicPr>
            <a:picLocks noChangeAspect="1"/>
          </p:cNvPicPr>
          <p:nvPr/>
        </p:nvPicPr>
        <p:blipFill>
          <a:blip r:embed="rId12"/>
          <a:stretch>
            <a:fillRect/>
          </a:stretch>
        </p:blipFill>
        <p:spPr>
          <a:xfrm>
            <a:off x="4282440" y="3918204"/>
            <a:ext cx="1757172" cy="2253996"/>
          </a:xfrm>
          <a:prstGeom prst="rect">
            <a:avLst/>
          </a:prstGeom>
        </p:spPr>
      </p:pic>
      <p:pic>
        <p:nvPicPr>
          <p:cNvPr id="19" name="Picture 18" descr="ig_2026-07-02_DaTlr1aDH0G_0.78_0.25.jpg"/>
          <p:cNvPicPr>
            <a:picLocks noChangeAspect="1"/>
          </p:cNvPicPr>
          <p:nvPr/>
        </p:nvPicPr>
        <p:blipFill>
          <a:blip r:embed="rId13"/>
          <a:stretch>
            <a:fillRect/>
          </a:stretch>
        </p:blipFill>
        <p:spPr>
          <a:xfrm>
            <a:off x="6149340" y="3918204"/>
            <a:ext cx="1757172" cy="2253996"/>
          </a:xfrm>
          <a:prstGeom prst="rect">
            <a:avLst/>
          </a:prstGeom>
        </p:spPr>
      </p:pic>
      <p:pic>
        <p:nvPicPr>
          <p:cNvPr id="20" name="Picture 19" descr="ig_2026-01-13_DTdw6wXjAE9_0.78_0.25.jpg"/>
          <p:cNvPicPr>
            <a:picLocks noChangeAspect="1"/>
          </p:cNvPicPr>
          <p:nvPr/>
        </p:nvPicPr>
        <p:blipFill>
          <a:blip r:embed="rId14"/>
          <a:stretch>
            <a:fillRect/>
          </a:stretch>
        </p:blipFill>
        <p:spPr>
          <a:xfrm>
            <a:off x="8016240" y="3918204"/>
            <a:ext cx="1757172" cy="2253996"/>
          </a:xfrm>
          <a:prstGeom prst="rect">
            <a:avLst/>
          </a:prstGeom>
        </p:spPr>
      </p:pic>
      <p:pic>
        <p:nvPicPr>
          <p:cNvPr id="21" name="Picture 20" descr="ig_2026-06-01_DZDadTxjKyV_0.78_0.25.jpg"/>
          <p:cNvPicPr>
            <a:picLocks noChangeAspect="1"/>
          </p:cNvPicPr>
          <p:nvPr/>
        </p:nvPicPr>
        <p:blipFill>
          <a:blip r:embed="rId15"/>
          <a:stretch>
            <a:fillRect/>
          </a:stretch>
        </p:blipFill>
        <p:spPr>
          <a:xfrm>
            <a:off x="9883140" y="3918204"/>
            <a:ext cx="1757172" cy="2253996"/>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INSTAGRAM · LECTURE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en quatre constats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21</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810512"/>
            <a:ext cx="54864" cy="181965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heart_b.png"/>
          <p:cNvPicPr>
            <a:picLocks noChangeAspect="1"/>
          </p:cNvPicPr>
          <p:nvPr/>
        </p:nvPicPr>
        <p:blipFill>
          <a:blip r:embed="rId4"/>
          <a:stretch>
            <a:fillRect/>
          </a:stretch>
        </p:blipFill>
        <p:spPr>
          <a:xfrm>
            <a:off x="777240" y="1828800"/>
            <a:ext cx="384048" cy="384048"/>
          </a:xfrm>
          <a:prstGeom prst="rect">
            <a:avLst/>
          </a:prstGeom>
        </p:spPr>
      </p:pic>
      <p:sp>
        <p:nvSpPr>
          <p:cNvPr id="13" name="TextBox 12"/>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Elle est le sujet</a:t>
            </a:r>
          </a:p>
        </p:txBody>
      </p:sp>
      <p:sp>
        <p:nvSpPr>
          <p:cNvPr id="14" name="TextBox 13"/>
          <p:cNvSpPr txBox="1"/>
          <p:nvPr/>
        </p:nvSpPr>
        <p:spPr>
          <a:xfrm>
            <a:off x="777240"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Ses publications personnelles font 2 à 3 fois mieux que les produits. Le public suit Renée avant de suivre ses marques.</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3912" y="1810512"/>
            <a:ext cx="54864" cy="18196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b.png"/>
          <p:cNvPicPr>
            <a:picLocks noChangeAspect="1"/>
          </p:cNvPicPr>
          <p:nvPr/>
        </p:nvPicPr>
        <p:blipFill>
          <a:blip r:embed="rId5"/>
          <a:stretch>
            <a:fillRect/>
          </a:stretch>
        </p:blipFill>
        <p:spPr>
          <a:xfrm>
            <a:off x="6382512" y="1828800"/>
            <a:ext cx="384048" cy="384048"/>
          </a:xfrm>
          <a:prstGeom prst="rect">
            <a:avLst/>
          </a:prstGeom>
        </p:spPr>
      </p:pic>
      <p:sp>
        <p:nvSpPr>
          <p:cNvPr id="18" name="TextBox 17"/>
          <p:cNvSpPr txBox="1"/>
          <p:nvPr/>
        </p:nvSpPr>
        <p:spPr>
          <a:xfrm>
            <a:off x="6885431"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Trop de vidéos produit depuis septembre</a:t>
            </a:r>
          </a:p>
        </p:txBody>
      </p:sp>
      <p:sp>
        <p:nvSpPr>
          <p:cNvPr id="19" name="TextBox 18"/>
          <p:cNvSpPr txBox="1"/>
          <p:nvPr/>
        </p:nvSpPr>
        <p:spPr>
          <a:xfrm>
            <a:off x="6382512" y="2359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La capsule Shades of Bogolan et les partenariats ont pris le fil. Les vidéos produits font 230 à 470 j'aime.</a:t>
            </a:r>
          </a:p>
        </p:txBody>
      </p:sp>
      <p:sp>
        <p:nvSpPr>
          <p:cNvPr id="20" name="Rounded Rectangle 19"/>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096511"/>
            <a:ext cx="54864" cy="1819656"/>
          </a:xfrm>
          <a:prstGeom prst="rect">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hield_b.png"/>
          <p:cNvPicPr>
            <a:picLocks noChangeAspect="1"/>
          </p:cNvPicPr>
          <p:nvPr/>
        </p:nvPicPr>
        <p:blipFill>
          <a:blip r:embed="rId6"/>
          <a:stretch>
            <a:fillRect/>
          </a:stretch>
        </p:blipFill>
        <p:spPr>
          <a:xfrm>
            <a:off x="777240" y="4114800"/>
            <a:ext cx="384048" cy="384048"/>
          </a:xfrm>
          <a:prstGeom prst="rect">
            <a:avLst/>
          </a:prstGeom>
        </p:spPr>
      </p:pic>
      <p:sp>
        <p:nvSpPr>
          <p:cNvPr id="23" name="TextBox 22"/>
          <p:cNvSpPr txBox="1"/>
          <p:nvPr/>
        </p:nvSpPr>
        <p:spPr>
          <a:xfrm>
            <a:off x="1280160"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13 publications aux j'aime masqués</a:t>
            </a:r>
          </a:p>
        </p:txBody>
      </p:sp>
      <p:sp>
        <p:nvSpPr>
          <p:cNvPr id="24" name="TextBox 23"/>
          <p:cNvSpPr txBox="1"/>
          <p:nvPr/>
        </p:nvSpPr>
        <p:spPr>
          <a:xfrm>
            <a:off x="777240"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Coulisses, anniversaires, partenariats : impossible de les mesurer, et un signal moins clair pour les marques qui la sollicitent.</a:t>
            </a:r>
          </a:p>
        </p:txBody>
      </p:sp>
      <p:sp>
        <p:nvSpPr>
          <p:cNvPr id="25" name="Rounded Rectangle 24"/>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4096511"/>
            <a:ext cx="54864" cy="1819656"/>
          </a:xfrm>
          <a:prstGeom prst="rect">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mic_b.png"/>
          <p:cNvPicPr>
            <a:picLocks noChangeAspect="1"/>
          </p:cNvPicPr>
          <p:nvPr/>
        </p:nvPicPr>
        <p:blipFill>
          <a:blip r:embed="rId7"/>
          <a:stretch>
            <a:fillRect/>
          </a:stretch>
        </p:blipFill>
        <p:spPr>
          <a:xfrm>
            <a:off x="6382512" y="4114800"/>
            <a:ext cx="384048" cy="384048"/>
          </a:xfrm>
          <a:prstGeom prst="rect">
            <a:avLst/>
          </a:prstGeom>
        </p:spPr>
      </p:pic>
      <p:sp>
        <p:nvSpPr>
          <p:cNvPr id="28" name="TextBox 27"/>
          <p:cNvSpPr txBox="1"/>
          <p:nvPr/>
        </p:nvSpPr>
        <p:spPr>
          <a:xfrm>
            <a:off x="6885431" y="4114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Ses prises de parole passent inaperçues</a:t>
            </a:r>
          </a:p>
        </p:txBody>
      </p:sp>
      <p:sp>
        <p:nvSpPr>
          <p:cNvPr id="29" name="TextBox 28"/>
          <p:cNvSpPr txBox="1"/>
          <p:nvPr/>
        </p:nvSpPr>
        <p:spPr>
          <a:xfrm>
            <a:off x="6382512" y="4645152"/>
            <a:ext cx="5074920" cy="1325880"/>
          </a:xfrm>
          <a:prstGeom prst="rect">
            <a:avLst/>
          </a:prstGeom>
          <a:noFill/>
        </p:spPr>
        <p:txBody>
          <a:bodyPr wrap="square" anchor="t" lIns="18288" rIns="18288" tIns="18288" bIns="18288">
            <a:spAutoFit/>
          </a:bodyPr>
          <a:lstStyle/>
          <a:p>
            <a:pPr algn="l">
              <a:lnSpc>
                <a:spcPct val="110000"/>
              </a:lnSpc>
              <a:spcAft>
                <a:spcPts val="400"/>
              </a:spcAft>
            </a:pPr>
            <a:r>
              <a:rPr sz="1150" b="0" i="0">
                <a:solidFill>
                  <a:srgbClr val="2B2A35"/>
                </a:solidFill>
                <a:latin typeface="Work Sans"/>
              </a:rPr>
              <a:t>Animer, modérer, se tenir sur scène : 778 j'aime en médiane. Sur Instagram ce sujet porte peu ; sur LinkedIn, c'est le cœur.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13_DavsCGlDHRn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04</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Veille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Cinq femmes médias et entrepreneures, comparées sur Instagram et LinkedIn.</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PART DES ABONNÉS QUI AIMENT UNE PUBLICATION (J'AIME MÉDIANS ÷ ABONNÉS)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avant septembre, elle faisait mieux que ses pairs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04_comparaison_ig.png"/>
          <p:cNvPicPr>
            <a:picLocks noChangeAspect="1"/>
          </p:cNvPicPr>
          <p:nvPr/>
        </p:nvPicPr>
        <p:blipFill>
          <a:blip r:embed="rId4"/>
          <a:stretch>
            <a:fillRect/>
          </a:stretch>
        </p:blipFill>
        <p:spPr>
          <a:xfrm>
            <a:off x="548640" y="1554480"/>
            <a:ext cx="6949440" cy="3909060"/>
          </a:xfrm>
          <a:prstGeom prst="rect">
            <a:avLst/>
          </a:prstGeom>
        </p:spPr>
      </p:pic>
      <p:sp>
        <p:nvSpPr>
          <p:cNvPr id="11" name="Rounded Rectangle 10"/>
          <p:cNvSpPr/>
          <p:nvPr/>
        </p:nvSpPr>
        <p:spPr>
          <a:xfrm>
            <a:off x="7772400" y="1600200"/>
            <a:ext cx="3867912" cy="23774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0" y="1764792"/>
            <a:ext cx="54864" cy="20482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rending-up_b.png"/>
          <p:cNvPicPr>
            <a:picLocks noChangeAspect="1"/>
          </p:cNvPicPr>
          <p:nvPr/>
        </p:nvPicPr>
        <p:blipFill>
          <a:blip r:embed="rId5"/>
          <a:stretch>
            <a:fillRect/>
          </a:stretch>
        </p:blipFill>
        <p:spPr>
          <a:xfrm>
            <a:off x="8001000" y="1783080"/>
            <a:ext cx="384048" cy="384048"/>
          </a:xfrm>
          <a:prstGeom prst="rect">
            <a:avLst/>
          </a:prstGeom>
        </p:spPr>
      </p:pic>
      <p:sp>
        <p:nvSpPr>
          <p:cNvPr id="14" name="TextBox 13"/>
          <p:cNvSpPr txBox="1"/>
          <p:nvPr/>
        </p:nvSpPr>
        <p:spPr>
          <a:xfrm>
            <a:off x="8503920" y="1783080"/>
            <a:ext cx="295351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À retenir</a:t>
            </a:r>
          </a:p>
        </p:txBody>
      </p:sp>
      <p:sp>
        <p:nvSpPr>
          <p:cNvPr id="15" name="TextBox 14"/>
          <p:cNvSpPr txBox="1"/>
          <p:nvPr/>
        </p:nvSpPr>
        <p:spPr>
          <a:xfrm>
            <a:off x="8001000" y="2313432"/>
            <a:ext cx="3456432" cy="155448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Avec 3,3 % de janvier à août, elle était devant Paola Audrey Ndengue (1,4 %), Diane Audrey Ngako (0,7 %) et Marie-Paule Adje (0,5 %). En septembre-octobre, elle retombe à 1 %.</a:t>
            </a:r>
          </a:p>
        </p:txBody>
      </p:sp>
      <p:sp>
        <p:nvSpPr>
          <p:cNvPr id="16" name="TextBox 15"/>
          <p:cNvSpPr txBox="1"/>
          <p:nvPr/>
        </p:nvSpPr>
        <p:spPr>
          <a:xfrm>
            <a:off x="7772400" y="4160520"/>
            <a:ext cx="3867912" cy="1920240"/>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8F8F9A"/>
                </a:solidFill>
                <a:latin typeface="Work Sans"/>
              </a:rPr>
              <a:t>Méthode : pour Renée, toutes ses publications ; pour les autres, leurs 12 dernières publications. À lire comme une tendance, pas comme un classement.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LINKEDIN DEPUIS JANVIER 2026</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ses pairs y sont, elle pas encore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11091671" cy="3401568"/>
        </p:xfrm>
        <a:graphic>
          <a:graphicData uri="http://schemas.openxmlformats.org/drawingml/2006/table">
            <a:tbl>
              <a:tblPr firstRow="1" bandRow="1">
                <a:tableStyleId>{5C22544A-7EE6-4342-B048-85BDC9FD1C3A}</a:tableStyleId>
              </a:tblPr>
              <a:tblGrid>
                <a:gridCol w="2743200"/>
                <a:gridCol w="1691640"/>
                <a:gridCol w="2011680"/>
                <a:gridCol w="1874519"/>
                <a:gridCol w="2770632"/>
              </a:tblGrid>
              <a:tr h="566928">
                <a:tc>
                  <a:txBody>
                    <a:bodyPr wrap="square"/>
                    <a:lstStyle/>
                    <a:p>
                      <a:r>
                        <a:rPr sz="1100" b="1">
                          <a:solidFill>
                            <a:srgbClr val="FFFFFF"/>
                          </a:solidFill>
                          <a:latin typeface="Work Sans"/>
                        </a:rPr>
                        <a:t>Profil</a:t>
                      </a:r>
                    </a:p>
                  </a:txBody>
                  <a:tcPr marL="73152" marR="73152" marT="36576" marB="36576" anchor="ctr">
                    <a:solidFill>
                      <a:srgbClr val="232754"/>
                    </a:solidFill>
                  </a:tcPr>
                </a:tc>
                <a:tc>
                  <a:txBody>
                    <a:bodyPr wrap="square"/>
                    <a:lstStyle/>
                    <a:p>
                      <a:r>
                        <a:rPr sz="1100" b="1">
                          <a:solidFill>
                            <a:srgbClr val="FFFFFF"/>
                          </a:solidFill>
                          <a:latin typeface="Work Sans"/>
                        </a:rPr>
                        <a:t>Abonnés LinkedIn</a:t>
                      </a:r>
                    </a:p>
                  </a:txBody>
                  <a:tcPr marL="73152" marR="73152" marT="36576" marB="36576" anchor="ctr">
                    <a:solidFill>
                      <a:srgbClr val="232754"/>
                    </a:solidFill>
                  </a:tcPr>
                </a:tc>
                <a:tc>
                  <a:txBody>
                    <a:bodyPr wrap="square"/>
                    <a:lstStyle/>
                    <a:p>
                      <a:r>
                        <a:rPr sz="1100" b="1">
                          <a:solidFill>
                            <a:srgbClr val="FFFFFF"/>
                          </a:solidFill>
                          <a:latin typeface="Work Sans"/>
                        </a:rPr>
                        <a:t>Publications depuis janv.</a:t>
                      </a:r>
                    </a:p>
                  </a:txBody>
                  <a:tcPr marL="73152" marR="73152" marT="36576" marB="36576" anchor="ctr">
                    <a:solidFill>
                      <a:srgbClr val="232754"/>
                    </a:solidFill>
                  </a:tcPr>
                </a:tc>
                <a:tc>
                  <a:txBody>
                    <a:bodyPr wrap="square"/>
                    <a:lstStyle/>
                    <a:p>
                      <a:r>
                        <a:rPr sz="1100" b="1">
                          <a:solidFill>
                            <a:srgbClr val="FFFFFF"/>
                          </a:solidFill>
                          <a:latin typeface="Work Sans"/>
                        </a:rPr>
                        <a:t>Interactions (médiane)</a:t>
                      </a:r>
                    </a:p>
                  </a:txBody>
                  <a:tcPr marL="73152" marR="73152" marT="36576" marB="36576" anchor="ctr">
                    <a:solidFill>
                      <a:srgbClr val="232754"/>
                    </a:solidFill>
                  </a:tcPr>
                </a:tc>
                <a:tc>
                  <a:txBody>
                    <a:bodyPr wrap="square"/>
                    <a:lstStyle/>
                    <a:p>
                      <a:r>
                        <a:rPr sz="1100" b="1">
                          <a:solidFill>
                            <a:srgbClr val="FFFFFF"/>
                          </a:solidFill>
                          <a:latin typeface="Work Sans"/>
                        </a:rPr>
                        <a:t>Ce qu'on en retient</a:t>
                      </a:r>
                    </a:p>
                  </a:txBody>
                  <a:tcPr marL="73152" marR="73152" marT="36576" marB="36576" anchor="ctr">
                    <a:solidFill>
                      <a:srgbClr val="232754"/>
                    </a:solidFill>
                  </a:tcPr>
                </a:tc>
              </a:tr>
              <a:tr h="566928">
                <a:tc>
                  <a:txBody>
                    <a:bodyPr wrap="square"/>
                    <a:lstStyle/>
                    <a:p>
                      <a:r>
                        <a:rPr sz="1100" b="0">
                          <a:solidFill>
                            <a:srgbClr val="007ABB"/>
                          </a:solidFill>
                          <a:latin typeface="Work Sans"/>
                          <a:hlinkClick r:id="rId4"/>
                        </a:rPr>
                        <a:t>Edith Brou Bleu</a:t>
                      </a:r>
                    </a:p>
                  </a:txBody>
                  <a:tcPr marL="73152" marR="73152" marT="36576" marB="36576" anchor="ctr">
                    <a:solidFill>
                      <a:srgbClr val="FFFFFF"/>
                    </a:solidFill>
                  </a:tcPr>
                </a:tc>
                <a:tc>
                  <a:txBody>
                    <a:bodyPr wrap="square"/>
                    <a:lstStyle/>
                    <a:p>
                      <a:r>
                        <a:rPr sz="1100" b="0">
                          <a:solidFill>
                            <a:srgbClr val="2B2A35"/>
                          </a:solidFill>
                          <a:latin typeface="Work Sans"/>
                        </a:rPr>
                        <a:t>312 758</a:t>
                      </a:r>
                    </a:p>
                  </a:txBody>
                  <a:tcPr marL="73152" marR="73152" marT="36576" marB="36576" anchor="ctr">
                    <a:solidFill>
                      <a:srgbClr val="FFFFFF"/>
                    </a:solidFill>
                  </a:tcPr>
                </a:tc>
                <a:tc>
                  <a:txBody>
                    <a:bodyPr wrap="square"/>
                    <a:lstStyle/>
                    <a:p>
                      <a:r>
                        <a:rPr sz="1100" b="0">
                          <a:solidFill>
                            <a:srgbClr val="2B2A35"/>
                          </a:solidFill>
                          <a:latin typeface="Work Sans"/>
                        </a:rPr>
                        <a:t>plus de 900</a:t>
                      </a:r>
                    </a:p>
                  </a:txBody>
                  <a:tcPr marL="73152" marR="73152" marT="36576" marB="36576" anchor="ctr">
                    <a:solidFill>
                      <a:srgbClr val="FFFFFF"/>
                    </a:solidFill>
                  </a:tcPr>
                </a:tc>
                <a:tc>
                  <a:txBody>
                    <a:bodyPr wrap="square"/>
                    <a:lstStyle/>
                    <a:p>
                      <a:r>
                        <a:rPr sz="1100" b="0">
                          <a:solidFill>
                            <a:srgbClr val="2B2A35"/>
                          </a:solidFill>
                          <a:latin typeface="Work Sans"/>
                        </a:rPr>
                        <a:t>157</a:t>
                      </a:r>
                    </a:p>
                  </a:txBody>
                  <a:tcPr marL="73152" marR="73152" marT="36576" marB="36576" anchor="ctr">
                    <a:solidFill>
                      <a:srgbClr val="FFFFFF"/>
                    </a:solidFill>
                  </a:tcPr>
                </a:tc>
                <a:tc>
                  <a:txBody>
                    <a:bodyPr wrap="square"/>
                    <a:lstStyle/>
                    <a:p>
                      <a:r>
                        <a:rPr sz="1100" b="0">
                          <a:solidFill>
                            <a:srgbClr val="2B2A35"/>
                          </a:solidFill>
                          <a:latin typeface="Work Sans"/>
                        </a:rPr>
                        <a:t>Publie plusieurs fois par jour, extraits courts.</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5"/>
                        </a:rPr>
                        <a:t>Marie-Karelle K. N.</a:t>
                      </a:r>
                    </a:p>
                  </a:txBody>
                  <a:tcPr marL="73152" marR="73152" marT="36576" marB="36576" anchor="ctr">
                    <a:solidFill>
                      <a:srgbClr val="F7F8FA"/>
                    </a:solidFill>
                  </a:tcPr>
                </a:tc>
                <a:tc>
                  <a:txBody>
                    <a:bodyPr wrap="square"/>
                    <a:lstStyle/>
                    <a:p>
                      <a:r>
                        <a:rPr sz="1100" b="0">
                          <a:solidFill>
                            <a:srgbClr val="2B2A35"/>
                          </a:solidFill>
                          <a:latin typeface="Work Sans"/>
                        </a:rPr>
                        <a:t>19 620</a:t>
                      </a:r>
                    </a:p>
                  </a:txBody>
                  <a:tcPr marL="73152" marR="73152" marT="36576" marB="36576" anchor="ctr">
                    <a:solidFill>
                      <a:srgbClr val="F7F8FA"/>
                    </a:solidFill>
                  </a:tcPr>
                </a:tc>
                <a:tc>
                  <a:txBody>
                    <a:bodyPr wrap="square"/>
                    <a:lstStyle/>
                    <a:p>
                      <a:r>
                        <a:rPr sz="1100" b="0">
                          <a:solidFill>
                            <a:srgbClr val="2B2A35"/>
                          </a:solidFill>
                          <a:latin typeface="Work Sans"/>
                        </a:rPr>
                        <a:t>20</a:t>
                      </a:r>
                    </a:p>
                  </a:txBody>
                  <a:tcPr marL="73152" marR="73152" marT="36576" marB="36576" anchor="ctr">
                    <a:solidFill>
                      <a:srgbClr val="F7F8FA"/>
                    </a:solidFill>
                  </a:tcPr>
                </a:tc>
                <a:tc>
                  <a:txBody>
                    <a:bodyPr wrap="square"/>
                    <a:lstStyle/>
                    <a:p>
                      <a:r>
                        <a:rPr sz="1100" b="0">
                          <a:solidFill>
                            <a:srgbClr val="2B2A35"/>
                          </a:solidFill>
                          <a:latin typeface="Work Sans"/>
                        </a:rPr>
                        <a:t>116</a:t>
                      </a:r>
                    </a:p>
                  </a:txBody>
                  <a:tcPr marL="73152" marR="73152" marT="36576" marB="36576" anchor="ctr">
                    <a:solidFill>
                      <a:srgbClr val="F7F8FA"/>
                    </a:solidFill>
                  </a:tcPr>
                </a:tc>
                <a:tc>
                  <a:txBody>
                    <a:bodyPr wrap="square"/>
                    <a:lstStyle/>
                    <a:p>
                      <a:r>
                        <a:rPr sz="1100" b="0">
                          <a:solidFill>
                            <a:srgbClr val="2B2A35"/>
                          </a:solidFill>
                          <a:latin typeface="Work Sans"/>
                        </a:rPr>
                        <a:t>Forbes 30 Under 30, peu de posts mais réguliers.</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6"/>
                        </a:rPr>
                        <a:t>Leslie Ossété</a:t>
                      </a:r>
                    </a:p>
                  </a:txBody>
                  <a:tcPr marL="73152" marR="73152" marT="36576" marB="36576" anchor="ctr">
                    <a:solidFill>
                      <a:srgbClr val="FFFFFF"/>
                    </a:solidFill>
                  </a:tcPr>
                </a:tc>
                <a:tc>
                  <a:txBody>
                    <a:bodyPr wrap="square"/>
                    <a:lstStyle/>
                    <a:p>
                      <a:r>
                        <a:rPr sz="1100" b="0">
                          <a:solidFill>
                            <a:srgbClr val="2B2A35"/>
                          </a:solidFill>
                          <a:latin typeface="Work Sans"/>
                        </a:rPr>
                        <a:t>17 209</a:t>
                      </a:r>
                    </a:p>
                  </a:txBody>
                  <a:tcPr marL="73152" marR="73152" marT="36576" marB="36576" anchor="ctr">
                    <a:solidFill>
                      <a:srgbClr val="FFFFFF"/>
                    </a:solidFill>
                  </a:tcPr>
                </a:tc>
                <a:tc>
                  <a:txBody>
                    <a:bodyPr wrap="square"/>
                    <a:lstStyle/>
                    <a:p>
                      <a:r>
                        <a:rPr sz="1100" b="0">
                          <a:solidFill>
                            <a:srgbClr val="2B2A35"/>
                          </a:solidFill>
                          <a:latin typeface="Work Sans"/>
                        </a:rPr>
                        <a:t>49</a:t>
                      </a:r>
                    </a:p>
                  </a:txBody>
                  <a:tcPr marL="73152" marR="73152" marT="36576" marB="36576" anchor="ctr">
                    <a:solidFill>
                      <a:srgbClr val="FFFFFF"/>
                    </a:solidFill>
                  </a:tcPr>
                </a:tc>
                <a:tc>
                  <a:txBody>
                    <a:bodyPr wrap="square"/>
                    <a:lstStyle/>
                    <a:p>
                      <a:r>
                        <a:rPr sz="1100" b="0">
                          <a:solidFill>
                            <a:srgbClr val="2B2A35"/>
                          </a:solidFill>
                          <a:latin typeface="Work Sans"/>
                        </a:rPr>
                        <a:t>121</a:t>
                      </a:r>
                    </a:p>
                  </a:txBody>
                  <a:tcPr marL="73152" marR="73152" marT="36576" marB="36576" anchor="ctr">
                    <a:solidFill>
                      <a:srgbClr val="FFFFFF"/>
                    </a:solidFill>
                  </a:tcPr>
                </a:tc>
                <a:tc>
                  <a:txBody>
                    <a:bodyPr wrap="square"/>
                    <a:lstStyle/>
                    <a:p>
                      <a:r>
                        <a:rPr sz="1100" b="0">
                          <a:solidFill>
                            <a:srgbClr val="2B2A35"/>
                          </a:solidFill>
                          <a:latin typeface="Work Sans"/>
                        </a:rPr>
                        <a:t>Récits personnels et coulisses d'entrepreneure.</a:t>
                      </a:r>
                    </a:p>
                  </a:txBody>
                  <a:tcPr marL="73152" marR="73152" marT="36576" marB="36576" anchor="ctr">
                    <a:solidFill>
                      <a:srgbClr val="FFFFFF"/>
                    </a:solidFill>
                  </a:tcPr>
                </a:tc>
              </a:tr>
              <a:tr h="566928">
                <a:tc>
                  <a:txBody>
                    <a:bodyPr wrap="square"/>
                    <a:lstStyle/>
                    <a:p>
                      <a:r>
                        <a:rPr sz="1100" b="0">
                          <a:solidFill>
                            <a:srgbClr val="007ABB"/>
                          </a:solidFill>
                          <a:latin typeface="Work Sans"/>
                          <a:hlinkClick r:id="rId7"/>
                        </a:rPr>
                        <a:t>Paola Audrey Ndengue</a:t>
                      </a:r>
                    </a:p>
                  </a:txBody>
                  <a:tcPr marL="73152" marR="73152" marT="36576" marB="36576" anchor="ctr">
                    <a:solidFill>
                      <a:srgbClr val="F7F8FA"/>
                    </a:solidFill>
                  </a:tcPr>
                </a:tc>
                <a:tc>
                  <a:txBody>
                    <a:bodyPr wrap="square"/>
                    <a:lstStyle/>
                    <a:p>
                      <a:r>
                        <a:rPr sz="1100" b="0">
                          <a:solidFill>
                            <a:srgbClr val="2B2A35"/>
                          </a:solidFill>
                          <a:latin typeface="Work Sans"/>
                        </a:rPr>
                        <a:t>15 013</a:t>
                      </a:r>
                    </a:p>
                  </a:txBody>
                  <a:tcPr marL="73152" marR="73152" marT="36576" marB="36576" anchor="ctr">
                    <a:solidFill>
                      <a:srgbClr val="F7F8FA"/>
                    </a:solidFill>
                  </a:tcPr>
                </a:tc>
                <a:tc>
                  <a:txBody>
                    <a:bodyPr wrap="square"/>
                    <a:lstStyle/>
                    <a:p>
                      <a:r>
                        <a:rPr sz="1100" b="0">
                          <a:solidFill>
                            <a:srgbClr val="2B2A35"/>
                          </a:solidFill>
                          <a:latin typeface="Work Sans"/>
                        </a:rPr>
                        <a:t>33</a:t>
                      </a:r>
                    </a:p>
                  </a:txBody>
                  <a:tcPr marL="73152" marR="73152" marT="36576" marB="36576" anchor="ctr">
                    <a:solidFill>
                      <a:srgbClr val="F7F8FA"/>
                    </a:solidFill>
                  </a:tcPr>
                </a:tc>
                <a:tc>
                  <a:txBody>
                    <a:bodyPr wrap="square"/>
                    <a:lstStyle/>
                    <a:p>
                      <a:r>
                        <a:rPr sz="1100" b="0">
                          <a:solidFill>
                            <a:srgbClr val="2B2A35"/>
                          </a:solidFill>
                          <a:latin typeface="Work Sans"/>
                        </a:rPr>
                        <a:t>148</a:t>
                      </a:r>
                    </a:p>
                  </a:txBody>
                  <a:tcPr marL="73152" marR="73152" marT="36576" marB="36576" anchor="ctr">
                    <a:solidFill>
                      <a:srgbClr val="F7F8FA"/>
                    </a:solidFill>
                  </a:tcPr>
                </a:tc>
                <a:tc>
                  <a:txBody>
                    <a:bodyPr wrap="square"/>
                    <a:lstStyle/>
                    <a:p>
                      <a:r>
                        <a:rPr sz="1100" b="0">
                          <a:solidFill>
                            <a:srgbClr val="2B2A35"/>
                          </a:solidFill>
                          <a:latin typeface="Work Sans"/>
                        </a:rPr>
                        <a:t>Le profil le plus proche : média, marketing, télé.</a:t>
                      </a:r>
                    </a:p>
                  </a:txBody>
                  <a:tcPr marL="73152" marR="73152" marT="36576" marB="36576" anchor="ctr">
                    <a:solidFill>
                      <a:srgbClr val="F7F8FA"/>
                    </a:solidFill>
                  </a:tcPr>
                </a:tc>
              </a:tr>
              <a:tr h="566928">
                <a:tc>
                  <a:txBody>
                    <a:bodyPr wrap="square"/>
                    <a:lstStyle/>
                    <a:p>
                      <a:r>
                        <a:rPr sz="1100" b="0">
                          <a:solidFill>
                            <a:srgbClr val="007ABB"/>
                          </a:solidFill>
                          <a:latin typeface="Work Sans"/>
                          <a:hlinkClick r:id="rId8"/>
                        </a:rPr>
                        <a:t>Renée Mariame Konaté</a:t>
                      </a:r>
                    </a:p>
                  </a:txBody>
                  <a:tcPr marL="73152" marR="73152" marT="36576" marB="36576" anchor="ctr">
                    <a:solidFill>
                      <a:srgbClr val="FFFFFF"/>
                    </a:solidFill>
                  </a:tcPr>
                </a:tc>
                <a:tc>
                  <a:txBody>
                    <a:bodyPr wrap="square"/>
                    <a:lstStyle/>
                    <a:p>
                      <a:r>
                        <a:rPr sz="1100" b="0">
                          <a:solidFill>
                            <a:srgbClr val="2B2A35"/>
                          </a:solidFill>
                          <a:latin typeface="Work Sans"/>
                        </a:rPr>
                        <a:t>956</a:t>
                      </a:r>
                    </a:p>
                  </a:txBody>
                  <a:tcPr marL="73152" marR="73152" marT="36576" marB="36576" anchor="ctr">
                    <a:solidFill>
                      <a:srgbClr val="FFFFFF"/>
                    </a:solidFill>
                  </a:tcPr>
                </a:tc>
                <a:tc>
                  <a:txBody>
                    <a:bodyPr wrap="square"/>
                    <a:lstStyle/>
                    <a:p>
                      <a:r>
                        <a:rPr sz="1100" b="0">
                          <a:solidFill>
                            <a:srgbClr val="2B2A35"/>
                          </a:solidFill>
                          <a:latin typeface="Work Sans"/>
                        </a:rPr>
                        <a:t>3</a:t>
                      </a:r>
                    </a:p>
                  </a:txBody>
                  <a:tcPr marL="73152" marR="73152" marT="36576" marB="36576" anchor="ctr">
                    <a:solidFill>
                      <a:srgbClr val="FFFFFF"/>
                    </a:solidFill>
                  </a:tcPr>
                </a:tc>
                <a:tc>
                  <a:txBody>
                    <a:bodyPr wrap="square"/>
                    <a:lstStyle/>
                    <a:p>
                      <a:r>
                        <a:rPr sz="1100" b="0">
                          <a:solidFill>
                            <a:srgbClr val="2B2A35"/>
                          </a:solidFill>
                          <a:latin typeface="Work Sans"/>
                        </a:rPr>
                        <a:t>30</a:t>
                      </a:r>
                    </a:p>
                  </a:txBody>
                  <a:tcPr marL="73152" marR="73152" marT="36576" marB="36576" anchor="ctr">
                    <a:solidFill>
                      <a:srgbClr val="FFFFFF"/>
                    </a:solidFill>
                  </a:tcPr>
                </a:tc>
                <a:tc>
                  <a:txBody>
                    <a:bodyPr wrap="square"/>
                    <a:lstStyle/>
                    <a:p>
                      <a:r>
                        <a:rPr sz="1100" b="0">
                          <a:solidFill>
                            <a:srgbClr val="2B2A35"/>
                          </a:solidFill>
                          <a:latin typeface="Work Sans"/>
                        </a:rPr>
                        <a:t>Le potentiel est intact.</a:t>
                      </a:r>
                    </a:p>
                  </a:txBody>
                  <a:tcPr marL="73152" marR="73152" marT="36576" marB="36576" anchor="ctr">
                    <a:solidFill>
                      <a:srgbClr val="FFFFFF"/>
                    </a:solidFill>
                  </a:tcPr>
                </a:tc>
              </a:tr>
            </a:tbl>
          </a:graphicData>
        </a:graphic>
      </p:graphicFrame>
      <p:sp>
        <p:nvSpPr>
          <p:cNvPr id="11" name="TextBox 10"/>
          <p:cNvSpPr txBox="1"/>
          <p:nvPr/>
        </p:nvSpPr>
        <p:spPr>
          <a:xfrm>
            <a:off x="548640" y="5349240"/>
            <a:ext cx="11091672" cy="731520"/>
          </a:xfrm>
          <a:prstGeom prst="rect">
            <a:avLst/>
          </a:prstGeom>
          <a:noFill/>
        </p:spPr>
        <p:txBody>
          <a:bodyPr wrap="square" anchor="t" lIns="18288" rIns="18288" tIns="18288" bIns="18288">
            <a:spAutoFit/>
          </a:bodyPr>
          <a:lstStyle/>
          <a:p>
            <a:pPr algn="l">
              <a:lnSpc>
                <a:spcPct val="105000"/>
              </a:lnSpc>
              <a:spcAft>
                <a:spcPts val="400"/>
              </a:spcAft>
            </a:pPr>
            <a:r>
              <a:rPr sz="1200" b="1" i="0">
                <a:solidFill>
                  <a:srgbClr val="232754"/>
                </a:solidFill>
                <a:latin typeface="Work Sans"/>
              </a:rPr>
              <a:t>Paola Audrey Ndengue, animatrice télé et fondatrice comme elle, a 15 000 abonnés sur LinkedIn pour 61 832 sur Instagram. À Renée, il manque un rythme, pas une audience.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VEILLE · PRATIQUES À IMPORTER</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Ce qu'on peut leur reprendre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25</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mic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PAOLA AUDREY NDENGUE</a:t>
            </a:r>
          </a:p>
        </p:txBody>
      </p:sp>
      <p:sp>
        <p:nvSpPr>
          <p:cNvPr id="13" name="TextBox 12"/>
          <p:cNvSpPr txBox="1"/>
          <p:nvPr/>
        </p:nvSpPr>
        <p:spPr>
          <a:xfrm>
            <a:off x="1600200"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Un pied dans chaque réseau</a:t>
            </a:r>
          </a:p>
        </p:txBody>
      </p:sp>
      <p:sp>
        <p:nvSpPr>
          <p:cNvPr id="14" name="TextBox 13"/>
          <p:cNvSpPr txBox="1"/>
          <p:nvPr/>
        </p:nvSpPr>
        <p:spPr>
          <a:xfrm>
            <a:off x="1600200"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Même voix sur Instagram et sur LinkedIn, avec un angle « métier » pour LinkedIn. C'est le modèle le plus direct pour Renée.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video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EDITH BROU BLEU</a:t>
            </a:r>
          </a:p>
        </p:txBody>
      </p:sp>
      <p:sp>
        <p:nvSpPr>
          <p:cNvPr id="19" name="TextBox 18"/>
          <p:cNvSpPr txBox="1"/>
          <p:nvPr/>
        </p:nvSpPr>
        <p:spPr>
          <a:xfrm>
            <a:off x="7205471" y="2148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Recycler chaque prise de parole</a:t>
            </a:r>
          </a:p>
        </p:txBody>
      </p:sp>
      <p:sp>
        <p:nvSpPr>
          <p:cNvPr id="20" name="TextBox 19"/>
          <p:cNvSpPr txBox="1"/>
          <p:nvPr/>
        </p:nvSpPr>
        <p:spPr>
          <a:xfrm>
            <a:off x="7205471" y="2606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Chaque table ronde devient un court extrait avec une phrase forte en tête. Renée anime : elle a cette matière chaque mois.</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award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MARIE-KARELLE K. N.</a:t>
            </a:r>
          </a:p>
        </p:txBody>
      </p:sp>
      <p:sp>
        <p:nvSpPr>
          <p:cNvPr id="25" name="TextBox 24"/>
          <p:cNvSpPr txBox="1"/>
          <p:nvPr/>
        </p:nvSpPr>
        <p:spPr>
          <a:xfrm>
            <a:off x="1600200"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Peu, mais à chaque fois une idée</a:t>
            </a:r>
          </a:p>
        </p:txBody>
      </p:sp>
      <p:sp>
        <p:nvSpPr>
          <p:cNvPr id="26" name="TextBox 25"/>
          <p:cNvSpPr txBox="1"/>
          <p:nvPr/>
        </p:nvSpPr>
        <p:spPr>
          <a:xfrm>
            <a:off x="1600200"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20 publications en dix mois, toujours une conviction claire. La preuve qu'on n'a pas besoin de publier tous les jours.</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E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users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DIANE AUDREY NGAKO</a:t>
            </a:r>
          </a:p>
        </p:txBody>
      </p:sp>
      <p:sp>
        <p:nvSpPr>
          <p:cNvPr id="31" name="TextBox 30"/>
          <p:cNvSpPr txBox="1"/>
          <p:nvPr/>
        </p:nvSpPr>
        <p:spPr>
          <a:xfrm>
            <a:off x="7205471" y="443484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 carrousel qui raconte</a:t>
            </a:r>
          </a:p>
        </p:txBody>
      </p:sp>
      <p:sp>
        <p:nvSpPr>
          <p:cNvPr id="32" name="TextBox 31"/>
          <p:cNvSpPr txBox="1"/>
          <p:nvPr/>
        </p:nvSpPr>
        <p:spPr>
          <a:xfrm>
            <a:off x="7205471" y="4892040"/>
            <a:ext cx="4297680" cy="114300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11 de ses 12 dernières publications Instagram sont des carrousels : récit en images, très peu de vidéos produit.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3-03_DVbbwuFjFcS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05</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Stratégie</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Instagram pour la femme, LinkedIn pour l'entrepreneure : une seule voix, deux usages.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26</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QU'ELLE DOIT ÉVOQUER EN LIGNE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Un positionnement en une phrase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27</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11091672" cy="1737360"/>
          </a:xfrm>
          <a:prstGeom prst="roundRect">
            <a:avLst>
              <a:gd name="adj" fmla="val 6000"/>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28800"/>
            <a:ext cx="10424160" cy="1371600"/>
          </a:xfrm>
          <a:prstGeom prst="rect">
            <a:avLst/>
          </a:prstGeom>
          <a:noFill/>
        </p:spPr>
        <p:txBody>
          <a:bodyPr wrap="square" anchor="ctr" lIns="18288" rIns="18288" tIns="18288" bIns="18288">
            <a:spAutoFit/>
          </a:bodyPr>
          <a:lstStyle/>
          <a:p>
            <a:pPr algn="l">
              <a:lnSpc>
                <a:spcPct val="105000"/>
              </a:lnSpc>
              <a:spcAft>
                <a:spcPts val="400"/>
              </a:spcAft>
            </a:pPr>
            <a:r>
              <a:rPr sz="2200" b="1" i="0">
                <a:solidFill>
                  <a:srgbClr val="FFFFFF"/>
                </a:solidFill>
                <a:latin typeface="Funnel Display"/>
              </a:rPr>
              <a:t>Renée Mariame Konaté construit des marques africaines qui modernisent l'héritage, et donne la parole aux femmes qui entreprennent.</a:t>
            </a:r>
          </a:p>
        </p:txBody>
      </p:sp>
      <p:sp>
        <p:nvSpPr>
          <p:cNvPr id="11" name="Rounded Rectangle 10"/>
          <p:cNvSpPr/>
          <p:nvPr/>
        </p:nvSpPr>
        <p:spPr>
          <a:xfrm>
            <a:off x="548640"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22191"/>
            <a:ext cx="54864" cy="213969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8016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Instagram : la femme</a:t>
            </a:r>
          </a:p>
        </p:txBody>
      </p:sp>
      <p:sp>
        <p:nvSpPr>
          <p:cNvPr id="14" name="TextBox 13"/>
          <p:cNvSpPr txBox="1"/>
          <p:nvPr/>
        </p:nvSpPr>
        <p:spPr>
          <a:xfrm>
            <a:off x="777240"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Sa vie, son style, ses proches, ses coulisses. Les marques y passent en invitées, pas en vitrine.</a:t>
            </a:r>
          </a:p>
        </p:txBody>
      </p:sp>
      <p:sp>
        <p:nvSpPr>
          <p:cNvPr id="15" name="Rounded Rectangle 14"/>
          <p:cNvSpPr/>
          <p:nvPr/>
        </p:nvSpPr>
        <p:spPr>
          <a:xfrm>
            <a:off x="429767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79" y="3822191"/>
            <a:ext cx="54864" cy="2139696"/>
          </a:xfrm>
          <a:prstGeom prst="rect">
            <a:avLst/>
          </a:prstGeom>
          <a:solidFill>
            <a:srgbClr val="0A66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199"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LinkedIn : l'entrepreneure</a:t>
            </a:r>
          </a:p>
        </p:txBody>
      </p:sp>
      <p:sp>
        <p:nvSpPr>
          <p:cNvPr id="18" name="TextBox 17"/>
          <p:cNvSpPr txBox="1"/>
          <p:nvPr/>
        </p:nvSpPr>
        <p:spPr>
          <a:xfrm>
            <a:off x="452627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Ce qu'elle apprend en construisant Traditions, The Grill Factory et Tabalé, et ce qu'elle entend sur scène.</a:t>
            </a:r>
          </a:p>
        </p:txBody>
      </p:sp>
      <p:sp>
        <p:nvSpPr>
          <p:cNvPr id="19" name="Rounded Rectangle 18"/>
          <p:cNvSpPr/>
          <p:nvPr/>
        </p:nvSpPr>
        <p:spPr>
          <a:xfrm>
            <a:off x="8046719" y="3657600"/>
            <a:ext cx="3593592" cy="246888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46719" y="3822191"/>
            <a:ext cx="54864" cy="213969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mic_b.png"/>
          <p:cNvPicPr>
            <a:picLocks noChangeAspect="1"/>
          </p:cNvPicPr>
          <p:nvPr/>
        </p:nvPicPr>
        <p:blipFill>
          <a:blip r:embed="rId3"/>
          <a:stretch>
            <a:fillRect/>
          </a:stretch>
        </p:blipFill>
        <p:spPr>
          <a:xfrm>
            <a:off x="8275319" y="3840480"/>
            <a:ext cx="384048" cy="384048"/>
          </a:xfrm>
          <a:prstGeom prst="rect">
            <a:avLst/>
          </a:prstGeom>
        </p:spPr>
      </p:pic>
      <p:sp>
        <p:nvSpPr>
          <p:cNvPr id="22" name="TextBox 21"/>
          <p:cNvSpPr txBox="1"/>
          <p:nvPr/>
        </p:nvSpPr>
        <p:spPr>
          <a:xfrm>
            <a:off x="8778240" y="3840480"/>
            <a:ext cx="26791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Malea : le pont</a:t>
            </a:r>
          </a:p>
        </p:txBody>
      </p:sp>
      <p:sp>
        <p:nvSpPr>
          <p:cNvPr id="23" name="TextBox 22"/>
          <p:cNvSpPr txBox="1"/>
          <p:nvPr/>
        </p:nvSpPr>
        <p:spPr>
          <a:xfrm>
            <a:off x="8275319" y="4370832"/>
            <a:ext cx="3182112" cy="164592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Chaque épisode alimente les deux réseaux : un extrait pour Instagram, une idée pour LinkedIn.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LES SUJETS DE PRISE DE PAROLE</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Quatre thèmes, ancrés dans ce qui marche déjà</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28</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77240" y="1920240"/>
            <a:ext cx="640080" cy="640080"/>
          </a:xfrm>
          <a:prstGeom prst="ellipse">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heart_w.png"/>
          <p:cNvPicPr>
            <a:picLocks noChangeAspect="1"/>
          </p:cNvPicPr>
          <p:nvPr/>
        </p:nvPicPr>
        <p:blipFill>
          <a:blip r:embed="rId3"/>
          <a:stretch>
            <a:fillRect/>
          </a:stretch>
        </p:blipFill>
        <p:spPr>
          <a:xfrm>
            <a:off x="930859" y="2073859"/>
            <a:ext cx="332841" cy="332841"/>
          </a:xfrm>
          <a:prstGeom prst="rect">
            <a:avLst/>
          </a:prstGeom>
        </p:spPr>
      </p:pic>
      <p:sp>
        <p:nvSpPr>
          <p:cNvPr id="12" name="TextBox 11"/>
          <p:cNvSpPr txBox="1"/>
          <p:nvPr/>
        </p:nvSpPr>
        <p:spPr>
          <a:xfrm>
            <a:off x="1600200"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Ma vie d'entrepreneure</a:t>
            </a:r>
          </a:p>
        </p:txBody>
      </p:sp>
      <p:sp>
        <p:nvSpPr>
          <p:cNvPr id="13" name="TextBox 12"/>
          <p:cNvSpPr txBox="1"/>
          <p:nvPr/>
        </p:nvSpPr>
        <p:spPr>
          <a:xfrm>
            <a:off x="1600200"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40 % · LinkedIn 25 %</a:t>
            </a:r>
          </a:p>
        </p:txBody>
      </p:sp>
      <p:sp>
        <p:nvSpPr>
          <p:cNvPr id="14" name="TextBox 13"/>
          <p:cNvSpPr txBox="1"/>
          <p:nvPr/>
        </p:nvSpPr>
        <p:spPr>
          <a:xfrm>
            <a:off x="1600200"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Coulisses, journées à rallonge, famille. Son meilleur sujet (2 724 j'aime en médiane).</a:t>
            </a:r>
          </a:p>
        </p:txBody>
      </p:sp>
      <p:sp>
        <p:nvSpPr>
          <p:cNvPr id="15" name="Rounded Rectangle 14"/>
          <p:cNvSpPr/>
          <p:nvPr/>
        </p:nvSpPr>
        <p:spPr>
          <a:xfrm>
            <a:off x="6153912" y="1645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1920240"/>
            <a:ext cx="640080" cy="640080"/>
          </a:xfrm>
          <a:prstGeom prst="ellipse">
            <a:avLst/>
          </a:prstGeom>
          <a:solidFill>
            <a:srgbClr val="232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gem_w.png"/>
          <p:cNvPicPr>
            <a:picLocks noChangeAspect="1"/>
          </p:cNvPicPr>
          <p:nvPr/>
        </p:nvPicPr>
        <p:blipFill>
          <a:blip r:embed="rId4"/>
          <a:stretch>
            <a:fillRect/>
          </a:stretch>
        </p:blipFill>
        <p:spPr>
          <a:xfrm>
            <a:off x="6536131" y="2073859"/>
            <a:ext cx="332841" cy="332841"/>
          </a:xfrm>
          <a:prstGeom prst="rect">
            <a:avLst/>
          </a:prstGeom>
        </p:spPr>
      </p:pic>
      <p:sp>
        <p:nvSpPr>
          <p:cNvPr id="18" name="TextBox 17"/>
          <p:cNvSpPr txBox="1"/>
          <p:nvPr/>
        </p:nvSpPr>
        <p:spPr>
          <a:xfrm>
            <a:off x="7205471" y="1874519"/>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L'héritage modernisé</a:t>
            </a:r>
          </a:p>
        </p:txBody>
      </p:sp>
      <p:sp>
        <p:nvSpPr>
          <p:cNvPr id="19" name="TextBox 18"/>
          <p:cNvSpPr txBox="1"/>
          <p:nvPr/>
        </p:nvSpPr>
        <p:spPr>
          <a:xfrm>
            <a:off x="7205471" y="2304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25 % · LinkedIn 25 %</a:t>
            </a:r>
          </a:p>
        </p:txBody>
      </p:sp>
      <p:sp>
        <p:nvSpPr>
          <p:cNvPr id="20" name="TextBox 19"/>
          <p:cNvSpPr txBox="1"/>
          <p:nvPr/>
        </p:nvSpPr>
        <p:spPr>
          <a:xfrm>
            <a:off x="7205471" y="2651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Traditions et le bogolan racontés par la créatrice, avec son visage, et non en fiche produit.</a:t>
            </a:r>
          </a:p>
        </p:txBody>
      </p:sp>
      <p:sp>
        <p:nvSpPr>
          <p:cNvPr id="21" name="Rounded Rectangle 20"/>
          <p:cNvSpPr/>
          <p:nvPr/>
        </p:nvSpPr>
        <p:spPr>
          <a:xfrm>
            <a:off x="548640"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77240" y="4206240"/>
            <a:ext cx="640080" cy="640080"/>
          </a:xfrm>
          <a:prstGeom prst="ellipse">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users_w.png"/>
          <p:cNvPicPr>
            <a:picLocks noChangeAspect="1"/>
          </p:cNvPicPr>
          <p:nvPr/>
        </p:nvPicPr>
        <p:blipFill>
          <a:blip r:embed="rId5"/>
          <a:stretch>
            <a:fillRect/>
          </a:stretch>
        </p:blipFill>
        <p:spPr>
          <a:xfrm>
            <a:off x="930859" y="4359859"/>
            <a:ext cx="332841" cy="332841"/>
          </a:xfrm>
          <a:prstGeom prst="rect">
            <a:avLst/>
          </a:prstGeom>
        </p:spPr>
      </p:pic>
      <p:sp>
        <p:nvSpPr>
          <p:cNvPr id="24" name="TextBox 23"/>
          <p:cNvSpPr txBox="1"/>
          <p:nvPr/>
        </p:nvSpPr>
        <p:spPr>
          <a:xfrm>
            <a:off x="1600200"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Les femmes qui construisent</a:t>
            </a:r>
          </a:p>
        </p:txBody>
      </p:sp>
      <p:sp>
        <p:nvSpPr>
          <p:cNvPr id="25" name="TextBox 24"/>
          <p:cNvSpPr txBox="1"/>
          <p:nvPr/>
        </p:nvSpPr>
        <p:spPr>
          <a:xfrm>
            <a:off x="1600200"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15 % · LinkedIn 35 %</a:t>
            </a:r>
          </a:p>
        </p:txBody>
      </p:sp>
      <p:sp>
        <p:nvSpPr>
          <p:cNvPr id="26" name="TextBox 25"/>
          <p:cNvSpPr txBox="1"/>
          <p:nvPr/>
        </p:nvSpPr>
        <p:spPr>
          <a:xfrm>
            <a:off x="1600200"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Ses animations, panels et invitées Malea : une idée, des noms cités, une question.</a:t>
            </a:r>
          </a:p>
        </p:txBody>
      </p:sp>
      <p:sp>
        <p:nvSpPr>
          <p:cNvPr id="27" name="Rounded Rectangle 26"/>
          <p:cNvSpPr/>
          <p:nvPr/>
        </p:nvSpPr>
        <p:spPr>
          <a:xfrm>
            <a:off x="6153912" y="3931920"/>
            <a:ext cx="5486400" cy="21488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382512" y="4206240"/>
            <a:ext cx="640080" cy="640080"/>
          </a:xfrm>
          <a:prstGeom prst="ellipse">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briefcase_w.png"/>
          <p:cNvPicPr>
            <a:picLocks noChangeAspect="1"/>
          </p:cNvPicPr>
          <p:nvPr/>
        </p:nvPicPr>
        <p:blipFill>
          <a:blip r:embed="rId6"/>
          <a:stretch>
            <a:fillRect/>
          </a:stretch>
        </p:blipFill>
        <p:spPr>
          <a:xfrm>
            <a:off x="6536131" y="4359859"/>
            <a:ext cx="332841" cy="332841"/>
          </a:xfrm>
          <a:prstGeom prst="rect">
            <a:avLst/>
          </a:prstGeom>
        </p:spPr>
      </p:pic>
      <p:sp>
        <p:nvSpPr>
          <p:cNvPr id="30" name="TextBox 29"/>
          <p:cNvSpPr txBox="1"/>
          <p:nvPr/>
        </p:nvSpPr>
        <p:spPr>
          <a:xfrm>
            <a:off x="7205471" y="4160520"/>
            <a:ext cx="4297680" cy="457200"/>
          </a:xfrm>
          <a:prstGeom prst="rect">
            <a:avLst/>
          </a:prstGeom>
          <a:noFill/>
        </p:spPr>
        <p:txBody>
          <a:bodyPr wrap="square" anchor="t" lIns="18288" rIns="18288" tIns="18288" bIns="18288">
            <a:spAutoFit/>
          </a:bodyPr>
          <a:lstStyle/>
          <a:p>
            <a:pPr algn="l">
              <a:lnSpc>
                <a:spcPct val="112000"/>
              </a:lnSpc>
              <a:spcAft>
                <a:spcPts val="400"/>
              </a:spcAft>
            </a:pPr>
            <a:r>
              <a:rPr sz="1500" b="1" i="0">
                <a:solidFill>
                  <a:srgbClr val="232754"/>
                </a:solidFill>
                <a:latin typeface="Funnel Display"/>
              </a:rPr>
              <a:t>Image et communication</a:t>
            </a:r>
          </a:p>
        </p:txBody>
      </p:sp>
      <p:sp>
        <p:nvSpPr>
          <p:cNvPr id="31" name="TextBox 30"/>
          <p:cNvSpPr txBox="1"/>
          <p:nvPr/>
        </p:nvSpPr>
        <p:spPr>
          <a:xfrm>
            <a:off x="7205471" y="4590288"/>
            <a:ext cx="4297680" cy="320040"/>
          </a:xfrm>
          <a:prstGeom prst="rect">
            <a:avLst/>
          </a:prstGeom>
          <a:noFill/>
        </p:spPr>
        <p:txBody>
          <a:bodyPr wrap="square" anchor="t" lIns="18288" rIns="18288" tIns="18288" bIns="18288">
            <a:spAutoFit/>
          </a:bodyPr>
          <a:lstStyle/>
          <a:p>
            <a:pPr algn="l">
              <a:lnSpc>
                <a:spcPct val="112000"/>
              </a:lnSpc>
              <a:spcAft>
                <a:spcPts val="400"/>
              </a:spcAft>
            </a:pPr>
            <a:r>
              <a:rPr sz="1000" b="1" i="0">
                <a:solidFill>
                  <a:srgbClr val="007ABB"/>
                </a:solidFill>
                <a:latin typeface="Space Grotesk"/>
              </a:rPr>
              <a:t>Instagram 20 % · LinkedIn 15 %</a:t>
            </a:r>
          </a:p>
        </p:txBody>
      </p:sp>
      <p:sp>
        <p:nvSpPr>
          <p:cNvPr id="32" name="TextBox 31"/>
          <p:cNvSpPr txBox="1"/>
          <p:nvPr/>
        </p:nvSpPr>
        <p:spPr>
          <a:xfrm>
            <a:off x="7205471" y="4937760"/>
            <a:ext cx="4297680" cy="1097280"/>
          </a:xfrm>
          <a:prstGeom prst="rect">
            <a:avLst/>
          </a:prstGeom>
          <a:noFill/>
        </p:spPr>
        <p:txBody>
          <a:bodyPr wrap="square" anchor="t" lIns="18288" rIns="18288" tIns="18288" bIns="18288">
            <a:spAutoFit/>
          </a:bodyPr>
          <a:lstStyle/>
          <a:p>
            <a:pPr algn="l">
              <a:lnSpc>
                <a:spcPct val="105000"/>
              </a:lnSpc>
              <a:spcAft>
                <a:spcPts val="400"/>
              </a:spcAft>
            </a:pPr>
            <a:r>
              <a:rPr sz="1050" b="0" i="0">
                <a:solidFill>
                  <a:srgbClr val="2B2A35"/>
                </a:solidFill>
                <a:latin typeface="Work Sans"/>
              </a:rPr>
              <a:t>Son métier chez Tabalé : ce qu'elle voit des marques, un conseil concret par publication.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deux publications par semaine, sans exception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29</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Quand</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Mardi, 8 h – 10 h</a:t>
                      </a:r>
                    </a:p>
                  </a:txBody>
                  <a:tcPr marL="73152" marR="73152" marT="36576" marB="36576" anchor="ctr">
                    <a:solidFill>
                      <a:srgbClr val="FFFFFF"/>
                    </a:solidFill>
                  </a:tcPr>
                </a:tc>
                <a:tc>
                  <a:txBody>
                    <a:bodyPr wrap="square"/>
                    <a:lstStyle/>
                    <a:p>
                      <a:r>
                        <a:rPr sz="1100" b="0">
                          <a:solidFill>
                            <a:srgbClr val="2B2A35"/>
                          </a:solidFill>
                          <a:latin typeface="Work Sans"/>
                        </a:rPr>
                        <a:t>Une idée : entrepreneuriat féminin, héritage, image de marque</a:t>
                      </a:r>
                    </a:p>
                  </a:txBody>
                  <a:tcPr marL="73152" marR="73152" marT="36576" marB="36576" anchor="ctr">
                    <a:solidFill>
                      <a:srgbClr val="FFFFFF"/>
                    </a:solidFill>
                  </a:tcPr>
                </a:tc>
              </a:tr>
              <a:tr h="685800">
                <a:tc>
                  <a:txBody>
                    <a:bodyPr wrap="square"/>
                    <a:lstStyle/>
                    <a:p>
                      <a:r>
                        <a:rPr sz="1100" b="0">
                          <a:solidFill>
                            <a:srgbClr val="2B2A35"/>
                          </a:solidFill>
                          <a:latin typeface="Work Sans"/>
                        </a:rPr>
                        <a:t>Jeudi, 12 h – 14 h</a:t>
                      </a:r>
                    </a:p>
                  </a:txBody>
                  <a:tcPr marL="73152" marR="73152" marT="36576" marB="36576" anchor="ctr">
                    <a:solidFill>
                      <a:srgbClr val="F7F8FA"/>
                    </a:solidFill>
                  </a:tcPr>
                </a:tc>
                <a:tc>
                  <a:txBody>
                    <a:bodyPr wrap="square"/>
                    <a:lstStyle/>
                    <a:p>
                      <a:r>
                        <a:rPr sz="1100" b="0">
                          <a:solidFill>
                            <a:srgbClr val="2B2A35"/>
                          </a:solidFill>
                          <a:latin typeface="Work Sans"/>
                        </a:rPr>
                        <a:t>Un récit : une animation, un épisode Malea, une coulisse Traditions</a:t>
                      </a:r>
                    </a:p>
                  </a:txBody>
                  <a:tcPr marL="73152" marR="73152" marT="36576" marB="36576" anchor="ctr">
                    <a:solidFill>
                      <a:srgbClr val="F7F8FA"/>
                    </a:solidFill>
                  </a:tcPr>
                </a:tc>
              </a:tr>
              <a:tr h="685800">
                <a:tc>
                  <a:txBody>
                    <a:bodyPr wrap="square"/>
                    <a:lstStyle/>
                    <a:p>
                      <a:r>
                        <a:rPr sz="1100" b="0">
                          <a:solidFill>
                            <a:srgbClr val="2B2A35"/>
                          </a:solidFill>
                          <a:latin typeface="Work Sans"/>
                        </a:rPr>
                        <a:t>Une fois par mois</a:t>
                      </a:r>
                    </a:p>
                  </a:txBody>
                  <a:tcPr marL="73152" marR="73152" marT="36576" marB="36576" anchor="ctr">
                    <a:solidFill>
                      <a:srgbClr val="FFFFFF"/>
                    </a:solidFill>
                  </a:tcPr>
                </a:tc>
                <a:tc>
                  <a:txBody>
                    <a:bodyPr wrap="square"/>
                    <a:lstStyle/>
                    <a:p>
                      <a:r>
                        <a:rPr sz="1100" b="0">
                          <a:solidFill>
                            <a:srgbClr val="2B2A35"/>
                          </a:solidFill>
                          <a:latin typeface="Work Sans"/>
                        </a:rPr>
                        <a:t>Un carrousel PDF (5 à 7 pages) tiré d'un post qui a marché</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Toujours une photo d'elle (scène, atelier, boutique). Pas de visuel sans visage.</a:t>
            </a:r>
          </a:p>
          <a:p>
            <a:pPr algn="l">
              <a:lnSpc>
                <a:spcPct val="110000"/>
              </a:lnSpc>
              <a:spcAft>
                <a:spcPts val="400"/>
              </a:spcAft>
            </a:pPr>
            <a:r>
              <a:rPr sz="1100" b="0" i="0">
                <a:solidFill>
                  <a:srgbClr val="2B2A35"/>
                </a:solidFill>
                <a:latin typeface="Work Sans"/>
              </a:rPr>
              <a:t>2. Nommer les personnes et les marques, comme dans le post Bold Conversations.</a:t>
            </a:r>
          </a:p>
          <a:p>
            <a:pPr algn="l">
              <a:lnSpc>
                <a:spcPct val="110000"/>
              </a:lnSpc>
              <a:spcAft>
                <a:spcPts val="400"/>
              </a:spcAft>
            </a:pPr>
            <a:r>
              <a:rPr sz="1100" b="0" i="0">
                <a:solidFill>
                  <a:srgbClr val="2B2A35"/>
                </a:solidFill>
                <a:latin typeface="Work Sans"/>
              </a:rPr>
              <a:t>3. Finir par une question, comme le 20 avril.</a:t>
            </a:r>
          </a:p>
          <a:p>
            <a:pPr algn="l">
              <a:lnSpc>
                <a:spcPct val="110000"/>
              </a:lnSpc>
              <a:spcAft>
                <a:spcPts val="400"/>
              </a:spcAft>
            </a:pPr>
            <a:r>
              <a:rPr sz="1100" b="0" i="0">
                <a:solidFill>
                  <a:srgbClr val="2B2A35"/>
                </a:solidFill>
                <a:latin typeface="Work Sans"/>
              </a:rPr>
              <a:t>4. Garder ✨ et 🤍, deux émojis maximum par post.</a:t>
            </a:r>
          </a:p>
          <a:p>
            <a:pPr algn="l">
              <a:lnSpc>
                <a:spcPct val="110000"/>
              </a:lnSpc>
              <a:spcAft>
                <a:spcPts val="400"/>
              </a:spcAft>
            </a:pPr>
            <a:r>
              <a:rPr sz="1100" b="0" i="0">
                <a:solidFill>
                  <a:srgbClr val="2B2A35"/>
                </a:solidFill>
                <a:latin typeface="Work Sans"/>
              </a:rPr>
              <a:t>5. Répondre aux commentaires dans l'heure qui suit.</a:t>
            </a:r>
          </a:p>
          <a:p>
            <a:pPr algn="l">
              <a:lnSpc>
                <a:spcPct val="110000"/>
              </a:lnSpc>
              <a:spcAft>
                <a:spcPts val="400"/>
              </a:spcAft>
            </a:pPr>
            <a:r>
              <a:rPr sz="1100" b="0" i="0">
                <a:solidFill>
                  <a:srgbClr val="2B2A35"/>
                </a:solidFill>
                <a:latin typeface="Work Sans"/>
              </a:rPr>
              <a:t>6. Commenter 3 posts de pairs par semaine (Paola Audrey Ndengue, Edith Brou Bleu, Marie-Karelle K. 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RYTHME ET RÈGLES</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rendre le fil à Renée</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30</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10" name="Table 9"/>
          <p:cNvGraphicFramePr>
            <a:graphicFrameLocks noGrp="1"/>
          </p:cNvGraphicFramePr>
          <p:nvPr/>
        </p:nvGraphicFramePr>
        <p:xfrm>
          <a:off x="548640" y="1645920"/>
          <a:ext cx="6035040" cy="2743200"/>
        </p:xfrm>
        <a:graphic>
          <a:graphicData uri="http://schemas.openxmlformats.org/drawingml/2006/table">
            <a:tbl>
              <a:tblPr firstRow="1" bandRow="1">
                <a:tableStyleId>{5C22544A-7EE6-4342-B048-85BDC9FD1C3A}</a:tableStyleId>
              </a:tblPr>
              <a:tblGrid>
                <a:gridCol w="1737360"/>
                <a:gridCol w="4297680"/>
              </a:tblGrid>
              <a:tr h="685800">
                <a:tc>
                  <a:txBody>
                    <a:bodyPr wrap="square"/>
                    <a:lstStyle/>
                    <a:p>
                      <a:r>
                        <a:rPr sz="1100" b="1">
                          <a:solidFill>
                            <a:srgbClr val="FFFFFF"/>
                          </a:solidFill>
                          <a:latin typeface="Work Sans"/>
                        </a:rPr>
                        <a:t>Par semaine</a:t>
                      </a:r>
                    </a:p>
                  </a:txBody>
                  <a:tcPr marL="73152" marR="73152" marT="36576" marB="36576" anchor="ctr">
                    <a:solidFill>
                      <a:srgbClr val="232754"/>
                    </a:solidFill>
                  </a:tcPr>
                </a:tc>
                <a:tc>
                  <a:txBody>
                    <a:bodyPr wrap="square"/>
                    <a:lstStyle/>
                    <a:p>
                      <a:r>
                        <a:rPr sz="1100" b="1">
                          <a:solidFill>
                            <a:srgbClr val="FFFFFF"/>
                          </a:solidFill>
                          <a:latin typeface="Work Sans"/>
                        </a:rPr>
                        <a:t>Quoi</a:t>
                      </a:r>
                    </a:p>
                  </a:txBody>
                  <a:tcPr marL="73152" marR="73152" marT="36576" marB="36576" anchor="ctr">
                    <a:solidFill>
                      <a:srgbClr val="232754"/>
                    </a:solidFill>
                  </a:tcPr>
                </a:tc>
              </a:tr>
              <a:tr h="685800">
                <a:tc>
                  <a:txBody>
                    <a:bodyPr wrap="square"/>
                    <a:lstStyle/>
                    <a:p>
                      <a:r>
                        <a:rPr sz="1100" b="0">
                          <a:solidFill>
                            <a:srgbClr val="2B2A35"/>
                          </a:solidFill>
                          <a:latin typeface="Work Sans"/>
                        </a:rPr>
                        <a:t>2 carrousels</a:t>
                      </a:r>
                    </a:p>
                  </a:txBody>
                  <a:tcPr marL="73152" marR="73152" marT="36576" marB="36576" anchor="ctr">
                    <a:solidFill>
                      <a:srgbClr val="FFFFFF"/>
                    </a:solidFill>
                  </a:tcPr>
                </a:tc>
                <a:tc>
                  <a:txBody>
                    <a:bodyPr wrap="square"/>
                    <a:lstStyle/>
                    <a:p>
                      <a:r>
                        <a:rPr sz="1100" b="0">
                          <a:solidFill>
                            <a:srgbClr val="2B2A35"/>
                          </a:solidFill>
                          <a:latin typeface="Work Sans"/>
                        </a:rPr>
                        <a:t>Elle, ses tenues, ses moments : son format fort (2 393 j'aime)</a:t>
                      </a:r>
                    </a:p>
                  </a:txBody>
                  <a:tcPr marL="73152" marR="73152" marT="36576" marB="36576" anchor="ctr">
                    <a:solidFill>
                      <a:srgbClr val="FFFFFF"/>
                    </a:solidFill>
                  </a:tcPr>
                </a:tc>
              </a:tr>
              <a:tr h="685800">
                <a:tc>
                  <a:txBody>
                    <a:bodyPr wrap="square"/>
                    <a:lstStyle/>
                    <a:p>
                      <a:r>
                        <a:rPr sz="1100" b="0">
                          <a:solidFill>
                            <a:srgbClr val="2B2A35"/>
                          </a:solidFill>
                          <a:latin typeface="Work Sans"/>
                        </a:rPr>
                        <a:t>1 vidéo</a:t>
                      </a:r>
                    </a:p>
                  </a:txBody>
                  <a:tcPr marL="73152" marR="73152" marT="36576" marB="36576" anchor="ctr">
                    <a:solidFill>
                      <a:srgbClr val="F7F8FA"/>
                    </a:solidFill>
                  </a:tcPr>
                </a:tc>
                <a:tc>
                  <a:txBody>
                    <a:bodyPr wrap="square"/>
                    <a:lstStyle/>
                    <a:p>
                      <a:r>
                        <a:rPr sz="1100" b="0">
                          <a:solidFill>
                            <a:srgbClr val="2B2A35"/>
                          </a:solidFill>
                          <a:latin typeface="Work Sans"/>
                        </a:rPr>
                        <a:t>Une coulisse avec elle à l'image, pas un produit seul</a:t>
                      </a:r>
                    </a:p>
                  </a:txBody>
                  <a:tcPr marL="73152" marR="73152" marT="36576" marB="36576" anchor="ctr">
                    <a:solidFill>
                      <a:srgbClr val="F7F8FA"/>
                    </a:solidFill>
                  </a:tcPr>
                </a:tc>
              </a:tr>
              <a:tr h="685800">
                <a:tc>
                  <a:txBody>
                    <a:bodyPr wrap="square"/>
                    <a:lstStyle/>
                    <a:p>
                      <a:r>
                        <a:rPr sz="1100" b="0">
                          <a:solidFill>
                            <a:srgbClr val="2B2A35"/>
                          </a:solidFill>
                          <a:latin typeface="Work Sans"/>
                        </a:rPr>
                        <a:t>Stories chaque jour</a:t>
                      </a:r>
                    </a:p>
                  </a:txBody>
                  <a:tcPr marL="73152" marR="73152" marT="36576" marB="36576" anchor="ctr">
                    <a:solidFill>
                      <a:srgbClr val="FFFFFF"/>
                    </a:solidFill>
                  </a:tcPr>
                </a:tc>
                <a:tc>
                  <a:txBody>
                    <a:bodyPr wrap="square"/>
                    <a:lstStyle/>
                    <a:p>
                      <a:r>
                        <a:rPr sz="1100" b="0">
                          <a:solidFill>
                            <a:srgbClr val="2B2A35"/>
                          </a:solidFill>
                          <a:latin typeface="Work Sans"/>
                        </a:rPr>
                        <a:t>Produits Traditions, Grill Factory, partenariats</a:t>
                      </a:r>
                    </a:p>
                  </a:txBody>
                  <a:tcPr marL="73152" marR="73152" marT="36576" marB="36576" anchor="ctr">
                    <a:solidFill>
                      <a:srgbClr val="FFFFFF"/>
                    </a:solidFill>
                  </a:tcPr>
                </a:tc>
              </a:tr>
            </a:tbl>
          </a:graphicData>
        </a:graphic>
      </p:graphicFrame>
      <p:sp>
        <p:nvSpPr>
          <p:cNvPr id="11" name="Rounded Rectangle 10"/>
          <p:cNvSpPr/>
          <p:nvPr/>
        </p:nvSpPr>
        <p:spPr>
          <a:xfrm>
            <a:off x="6812280" y="1645920"/>
            <a:ext cx="4828032"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12280" y="1810512"/>
            <a:ext cx="54864" cy="4151376"/>
          </a:xfrm>
          <a:prstGeom prst="rect">
            <a:avLst/>
          </a:prstGeom>
          <a:solidFill>
            <a:srgbClr val="E440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list-checks_b.png"/>
          <p:cNvPicPr>
            <a:picLocks noChangeAspect="1"/>
          </p:cNvPicPr>
          <p:nvPr/>
        </p:nvPicPr>
        <p:blipFill>
          <a:blip r:embed="rId4"/>
          <a:stretch>
            <a:fillRect/>
          </a:stretch>
        </p:blipFill>
        <p:spPr>
          <a:xfrm>
            <a:off x="7040880" y="1828800"/>
            <a:ext cx="384048" cy="384048"/>
          </a:xfrm>
          <a:prstGeom prst="rect">
            <a:avLst/>
          </a:prstGeom>
        </p:spPr>
      </p:pic>
      <p:sp>
        <p:nvSpPr>
          <p:cNvPr id="14" name="TextBox 13"/>
          <p:cNvSpPr txBox="1"/>
          <p:nvPr/>
        </p:nvSpPr>
        <p:spPr>
          <a:xfrm>
            <a:off x="7543800" y="1828800"/>
            <a:ext cx="3913632"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Les règles</a:t>
            </a:r>
          </a:p>
        </p:txBody>
      </p:sp>
      <p:sp>
        <p:nvSpPr>
          <p:cNvPr id="15" name="TextBox 14"/>
          <p:cNvSpPr txBox="1"/>
          <p:nvPr/>
        </p:nvSpPr>
        <p:spPr>
          <a:xfrm>
            <a:off x="7040880" y="2359152"/>
            <a:ext cx="4416552" cy="3657600"/>
          </a:xfrm>
          <a:prstGeom prst="rect">
            <a:avLst/>
          </a:prstGeom>
          <a:noFill/>
        </p:spPr>
        <p:txBody>
          <a:bodyPr wrap="square" anchor="t" lIns="18288" rIns="18288" tIns="18288" bIns="18288">
            <a:spAutoFit/>
          </a:bodyPr>
          <a:lstStyle/>
          <a:p>
            <a:pPr algn="l">
              <a:lnSpc>
                <a:spcPct val="110000"/>
              </a:lnSpc>
              <a:spcAft>
                <a:spcPts val="400"/>
              </a:spcAft>
            </a:pPr>
            <a:r>
              <a:rPr sz="1100" b="0" i="0">
                <a:solidFill>
                  <a:srgbClr val="2B2A35"/>
                </a:solidFill>
                <a:latin typeface="Work Sans"/>
              </a:rPr>
              <a:t>1. Pas plus d'une vidéo produit sur trois publications.</a:t>
            </a:r>
          </a:p>
          <a:p>
            <a:pPr algn="l">
              <a:lnSpc>
                <a:spcPct val="110000"/>
              </a:lnSpc>
              <a:spcAft>
                <a:spcPts val="400"/>
              </a:spcAft>
            </a:pPr>
            <a:r>
              <a:rPr sz="1100" b="0" i="0">
                <a:solidFill>
                  <a:srgbClr val="2B2A35"/>
                </a:solidFill>
                <a:latin typeface="Work Sans"/>
              </a:rPr>
              <a:t>2. Les capsules Traditions passent en publication partagée avec @__.traditions.__, avec elle portant la pièce.</a:t>
            </a:r>
          </a:p>
          <a:p>
            <a:pPr algn="l">
              <a:lnSpc>
                <a:spcPct val="110000"/>
              </a:lnSpc>
              <a:spcAft>
                <a:spcPts val="400"/>
              </a:spcAft>
            </a:pPr>
            <a:r>
              <a:rPr sz="1100" b="0" i="0">
                <a:solidFill>
                  <a:srgbClr val="2B2A35"/>
                </a:solidFill>
                <a:latin typeface="Work Sans"/>
              </a:rPr>
              <a:t>3. Publier entre 18 h et 20 h, son créneau habituel.</a:t>
            </a:r>
          </a:p>
          <a:p>
            <a:pPr algn="l">
              <a:lnSpc>
                <a:spcPct val="110000"/>
              </a:lnSpc>
              <a:spcAft>
                <a:spcPts val="400"/>
              </a:spcAft>
            </a:pPr>
            <a:r>
              <a:rPr sz="1100" b="0" i="0">
                <a:solidFill>
                  <a:srgbClr val="2B2A35"/>
                </a:solidFill>
                <a:latin typeface="Work Sans"/>
              </a:rPr>
              <a:t>4. Afficher les j'aime, surtout sur les partenariats : c'est sa preuve d'influence auprès des marques.</a:t>
            </a:r>
          </a:p>
          <a:p>
            <a:pPr algn="l">
              <a:lnSpc>
                <a:spcPct val="110000"/>
              </a:lnSpc>
              <a:spcAft>
                <a:spcPts val="400"/>
              </a:spcAft>
            </a:pPr>
            <a:r>
              <a:rPr sz="1100" b="0" i="0">
                <a:solidFill>
                  <a:srgbClr val="2B2A35"/>
                </a:solidFill>
                <a:latin typeface="Work Sans"/>
              </a:rPr>
              <a:t>5. Ajouter à la bio une ligne qui dit qui elle est et un lien vers LinkedIn.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STRATÉGIE · CE QU'ON MESURE, ET COMMENT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Les objectifs à fin janvier 2027</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31</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9" name="Table 8"/>
          <p:cNvGraphicFramePr>
            <a:graphicFrameLocks noGrp="1"/>
          </p:cNvGraphicFramePr>
          <p:nvPr/>
        </p:nvGraphicFramePr>
        <p:xfrm>
          <a:off x="548640" y="1645920"/>
          <a:ext cx="11091672" cy="3840480"/>
        </p:xfrm>
        <a:graphic>
          <a:graphicData uri="http://schemas.openxmlformats.org/drawingml/2006/table">
            <a:tbl>
              <a:tblPr firstRow="1" bandRow="1">
                <a:tableStyleId>{5C22544A-7EE6-4342-B048-85BDC9FD1C3A}</a:tableStyleId>
              </a:tblPr>
              <a:tblGrid>
                <a:gridCol w="3291840"/>
                <a:gridCol w="2194560"/>
                <a:gridCol w="2926080"/>
                <a:gridCol w="2679192"/>
              </a:tblGrid>
              <a:tr h="548640">
                <a:tc>
                  <a:txBody>
                    <a:bodyPr wrap="square"/>
                    <a:lstStyle/>
                    <a:p>
                      <a:r>
                        <a:rPr sz="1150" b="1">
                          <a:solidFill>
                            <a:srgbClr val="FFFFFF"/>
                          </a:solidFill>
                          <a:latin typeface="Work Sans"/>
                        </a:rPr>
                        <a:t>Indicateur</a:t>
                      </a:r>
                    </a:p>
                  </a:txBody>
                  <a:tcPr marL="73152" marR="73152" marT="36576" marB="36576" anchor="ctr">
                    <a:solidFill>
                      <a:srgbClr val="232754"/>
                    </a:solidFill>
                  </a:tcPr>
                </a:tc>
                <a:tc>
                  <a:txBody>
                    <a:bodyPr wrap="square"/>
                    <a:lstStyle/>
                    <a:p>
                      <a:r>
                        <a:rPr sz="1150" b="1">
                          <a:solidFill>
                            <a:srgbClr val="FFFFFF"/>
                          </a:solidFill>
                          <a:latin typeface="Work Sans"/>
                        </a:rPr>
                        <a:t>Aujourd'hui</a:t>
                      </a:r>
                    </a:p>
                  </a:txBody>
                  <a:tcPr marL="73152" marR="73152" marT="36576" marB="36576" anchor="ctr">
                    <a:solidFill>
                      <a:srgbClr val="232754"/>
                    </a:solidFill>
                  </a:tcPr>
                </a:tc>
                <a:tc>
                  <a:txBody>
                    <a:bodyPr wrap="square"/>
                    <a:lstStyle/>
                    <a:p>
                      <a:r>
                        <a:rPr sz="1150" b="1">
                          <a:solidFill>
                            <a:srgbClr val="FFFFFF"/>
                          </a:solidFill>
                          <a:latin typeface="Work Sans"/>
                        </a:rPr>
                        <a:t>Objectif fin janvier 2027</a:t>
                      </a:r>
                    </a:p>
                  </a:txBody>
                  <a:tcPr marL="73152" marR="73152" marT="36576" marB="36576" anchor="ctr">
                    <a:solidFill>
                      <a:srgbClr val="232754"/>
                    </a:solidFill>
                  </a:tcPr>
                </a:tc>
                <a:tc>
                  <a:txBody>
                    <a:bodyPr wrap="square"/>
                    <a:lstStyle/>
                    <a:p>
                      <a:r>
                        <a:rPr sz="1150" b="1">
                          <a:solidFill>
                            <a:srgbClr val="FFFFFF"/>
                          </a:solidFill>
                          <a:latin typeface="Work Sans"/>
                        </a:rPr>
                        <a:t>Comment le mesurer</a:t>
                      </a:r>
                    </a:p>
                  </a:txBody>
                  <a:tcPr marL="73152" marR="73152" marT="36576" marB="36576" anchor="ctr">
                    <a:solidFill>
                      <a:srgbClr val="232754"/>
                    </a:solidFill>
                  </a:tcPr>
                </a:tc>
              </a:tr>
              <a:tr h="548640">
                <a:tc>
                  <a:txBody>
                    <a:bodyPr wrap="square"/>
                    <a:lstStyle/>
                    <a:p>
                      <a:r>
                        <a:rPr sz="1150" b="0">
                          <a:solidFill>
                            <a:srgbClr val="2B2A35"/>
                          </a:solidFill>
                          <a:latin typeface="Work Sans"/>
                        </a:rPr>
                        <a:t>Abonnés LinkedIn</a:t>
                      </a:r>
                    </a:p>
                  </a:txBody>
                  <a:tcPr marL="73152" marR="73152" marT="36576" marB="36576" anchor="ctr">
                    <a:solidFill>
                      <a:srgbClr val="FFFFFF"/>
                    </a:solidFill>
                  </a:tcPr>
                </a:tc>
                <a:tc>
                  <a:txBody>
                    <a:bodyPr wrap="square"/>
                    <a:lstStyle/>
                    <a:p>
                      <a:r>
                        <a:rPr sz="1150" b="0">
                          <a:solidFill>
                            <a:srgbClr val="2B2A35"/>
                          </a:solidFill>
                          <a:latin typeface="Work Sans"/>
                        </a:rPr>
                        <a:t>956</a:t>
                      </a:r>
                    </a:p>
                  </a:txBody>
                  <a:tcPr marL="73152" marR="73152" marT="36576" marB="36576" anchor="ctr">
                    <a:solidFill>
                      <a:srgbClr val="FFFFFF"/>
                    </a:solidFill>
                  </a:tcPr>
                </a:tc>
                <a:tc>
                  <a:txBody>
                    <a:bodyPr wrap="square"/>
                    <a:lstStyle/>
                    <a:p>
                      <a:r>
                        <a:rPr sz="1150" b="0">
                          <a:solidFill>
                            <a:srgbClr val="2B2A35"/>
                          </a:solidFill>
                          <a:latin typeface="Work Sans"/>
                        </a:rPr>
                        <a:t>1 500</a:t>
                      </a:r>
                    </a:p>
                  </a:txBody>
                  <a:tcPr marL="73152" marR="73152" marT="36576" marB="36576" anchor="ctr">
                    <a:solidFill>
                      <a:srgbClr val="FFFFFF"/>
                    </a:solidFill>
                  </a:tcPr>
                </a:tc>
                <a:tc>
                  <a:txBody>
                    <a:bodyPr wrap="square"/>
                    <a:lstStyle/>
                    <a:p>
                      <a:r>
                        <a:rPr sz="1150" b="0">
                          <a:solidFill>
                            <a:srgbClr val="2B2A35"/>
                          </a:solidFill>
                          <a:latin typeface="Work Sans"/>
                        </a:rPr>
                        <a:t>Profil, chaque lundi</a:t>
                      </a:r>
                    </a:p>
                  </a:txBody>
                  <a:tcPr marL="73152" marR="73152" marT="36576" marB="36576" anchor="ctr">
                    <a:solidFill>
                      <a:srgbClr val="FFFFFF"/>
                    </a:solidFill>
                  </a:tcPr>
                </a:tc>
              </a:tr>
              <a:tr h="548640">
                <a:tc>
                  <a:txBody>
                    <a:bodyPr wrap="square"/>
                    <a:lstStyle/>
                    <a:p>
                      <a:r>
                        <a:rPr sz="1150" b="0">
                          <a:solidFill>
                            <a:srgbClr val="2B2A35"/>
                          </a:solidFill>
                          <a:latin typeface="Work Sans"/>
                        </a:rPr>
                        <a:t>Publications LinkedIn</a:t>
                      </a:r>
                    </a:p>
                  </a:txBody>
                  <a:tcPr marL="73152" marR="73152" marT="36576" marB="36576" anchor="ctr">
                    <a:solidFill>
                      <a:srgbClr val="F7F8FA"/>
                    </a:solidFill>
                  </a:tcPr>
                </a:tc>
                <a:tc>
                  <a:txBody>
                    <a:bodyPr wrap="square"/>
                    <a:lstStyle/>
                    <a:p>
                      <a:r>
                        <a:rPr sz="1150" b="0">
                          <a:solidFill>
                            <a:srgbClr val="2B2A35"/>
                          </a:solidFill>
                          <a:latin typeface="Work Sans"/>
                        </a:rPr>
                        <a:t>3 en dix mois</a:t>
                      </a:r>
                    </a:p>
                  </a:txBody>
                  <a:tcPr marL="73152" marR="73152" marT="36576" marB="36576" anchor="ctr">
                    <a:solidFill>
                      <a:srgbClr val="F7F8FA"/>
                    </a:solidFill>
                  </a:tcPr>
                </a:tc>
                <a:tc>
                  <a:txBody>
                    <a:bodyPr wrap="square"/>
                    <a:lstStyle/>
                    <a:p>
                      <a:r>
                        <a:rPr sz="1150" b="0">
                          <a:solidFill>
                            <a:srgbClr val="2B2A35"/>
                          </a:solidFill>
                          <a:latin typeface="Work Sans"/>
                        </a:rPr>
                        <a:t>2 par semaine (≈ 26)</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r h="548640">
                <a:tc>
                  <a:txBody>
                    <a:bodyPr wrap="square"/>
                    <a:lstStyle/>
                    <a:p>
                      <a:r>
                        <a:rPr sz="1150" b="0">
                          <a:solidFill>
                            <a:srgbClr val="2B2A35"/>
                          </a:solidFill>
                          <a:latin typeface="Work Sans"/>
                        </a:rPr>
                        <a:t>Interactions LinkedIn (médiane)</a:t>
                      </a:r>
                    </a:p>
                  </a:txBody>
                  <a:tcPr marL="73152" marR="73152" marT="36576" marB="36576" anchor="ctr">
                    <a:solidFill>
                      <a:srgbClr val="FFFFFF"/>
                    </a:solidFill>
                  </a:tcPr>
                </a:tc>
                <a:tc>
                  <a:txBody>
                    <a:bodyPr wrap="square"/>
                    <a:lstStyle/>
                    <a:p>
                      <a:r>
                        <a:rPr sz="1150" b="0">
                          <a:solidFill>
                            <a:srgbClr val="2B2A35"/>
                          </a:solidFill>
                          <a:latin typeface="Work Sans"/>
                        </a:rPr>
                        <a:t>30</a:t>
                      </a:r>
                    </a:p>
                  </a:txBody>
                  <a:tcPr marL="73152" marR="73152" marT="36576" marB="36576" anchor="ctr">
                    <a:solidFill>
                      <a:srgbClr val="FFFFFF"/>
                    </a:solidFill>
                  </a:tcPr>
                </a:tc>
                <a:tc>
                  <a:txBody>
                    <a:bodyPr wrap="square"/>
                    <a:lstStyle/>
                    <a:p>
                      <a:r>
                        <a:rPr sz="1150" b="0">
                          <a:solidFill>
                            <a:srgbClr val="2B2A35"/>
                          </a:solidFill>
                          <a:latin typeface="Work Sans"/>
                        </a:rPr>
                        <a:t>80</a:t>
                      </a:r>
                    </a:p>
                  </a:txBody>
                  <a:tcPr marL="73152" marR="73152" marT="36576" marB="36576" anchor="ctr">
                    <a:solidFill>
                      <a:srgbClr val="FFFFFF"/>
                    </a:solidFill>
                  </a:tcPr>
                </a:tc>
                <a:tc>
                  <a:txBody>
                    <a:bodyPr wrap="square"/>
                    <a:lstStyle/>
                    <a:p>
                      <a:r>
                        <a:rPr sz="1150" b="0">
                          <a:solidFill>
                            <a:srgbClr val="2B2A35"/>
                          </a:solidFill>
                          <a:latin typeface="Work Sans"/>
                        </a:rPr>
                        <a:t>Relevé mensuel des posts</a:t>
                      </a:r>
                    </a:p>
                  </a:txBody>
                  <a:tcPr marL="73152" marR="73152" marT="36576" marB="36576" anchor="ctr">
                    <a:solidFill>
                      <a:srgbClr val="FFFFFF"/>
                    </a:solidFill>
                  </a:tcPr>
                </a:tc>
              </a:tr>
              <a:tr h="548640">
                <a:tc>
                  <a:txBody>
                    <a:bodyPr wrap="square"/>
                    <a:lstStyle/>
                    <a:p>
                      <a:r>
                        <a:rPr sz="1150" b="0">
                          <a:solidFill>
                            <a:srgbClr val="2B2A35"/>
                          </a:solidFill>
                          <a:latin typeface="Work Sans"/>
                        </a:rPr>
                        <a:t>J'aime Instagram (médiane mensuelle)</a:t>
                      </a:r>
                    </a:p>
                  </a:txBody>
                  <a:tcPr marL="73152" marR="73152" marT="36576" marB="36576" anchor="ctr">
                    <a:solidFill>
                      <a:srgbClr val="F7F8FA"/>
                    </a:solidFill>
                  </a:tcPr>
                </a:tc>
                <a:tc>
                  <a:txBody>
                    <a:bodyPr wrap="square"/>
                    <a:lstStyle/>
                    <a:p>
                      <a:r>
                        <a:rPr sz="1150" b="0">
                          <a:solidFill>
                            <a:srgbClr val="2B2A35"/>
                          </a:solidFill>
                          <a:latin typeface="Work Sans"/>
                        </a:rPr>
                        <a:t>503 en octobre</a:t>
                      </a:r>
                    </a:p>
                  </a:txBody>
                  <a:tcPr marL="73152" marR="73152" marT="36576" marB="36576" anchor="ctr">
                    <a:solidFill>
                      <a:srgbClr val="F7F8FA"/>
                    </a:solidFill>
                  </a:tcPr>
                </a:tc>
                <a:tc>
                  <a:txBody>
                    <a:bodyPr wrap="square"/>
                    <a:lstStyle/>
                    <a:p>
                      <a:r>
                        <a:rPr sz="1150" b="0">
                          <a:solidFill>
                            <a:srgbClr val="2B2A35"/>
                          </a:solidFill>
                          <a:latin typeface="Work Sans"/>
                        </a:rPr>
                        <a:t>1 800 (niveau janvier-août)</a:t>
                      </a:r>
                    </a:p>
                  </a:txBody>
                  <a:tcPr marL="73152" marR="73152" marT="36576" marB="36576" anchor="ctr">
                    <a:solidFill>
                      <a:srgbClr val="F7F8FA"/>
                    </a:solidFill>
                  </a:tcPr>
                </a:tc>
                <a:tc>
                  <a:txBody>
                    <a:bodyPr wrap="square"/>
                    <a:lstStyle/>
                    <a:p>
                      <a:r>
                        <a:rPr sz="1150" b="0">
                          <a:solidFill>
                            <a:srgbClr val="2B2A35"/>
                          </a:solidFill>
                          <a:latin typeface="Work Sans"/>
                        </a:rPr>
                        <a:t>Relevé mensuel</a:t>
                      </a:r>
                    </a:p>
                  </a:txBody>
                  <a:tcPr marL="73152" marR="73152" marT="36576" marB="36576" anchor="ctr">
                    <a:solidFill>
                      <a:srgbClr val="F7F8FA"/>
                    </a:solidFill>
                  </a:tcPr>
                </a:tc>
              </a:tr>
              <a:tr h="548640">
                <a:tc>
                  <a:txBody>
                    <a:bodyPr wrap="square"/>
                    <a:lstStyle/>
                    <a:p>
                      <a:r>
                        <a:rPr sz="1150" b="0">
                          <a:solidFill>
                            <a:srgbClr val="2B2A35"/>
                          </a:solidFill>
                          <a:latin typeface="Work Sans"/>
                        </a:rPr>
                        <a:t>Vues des vidéos Instagram (médiane)</a:t>
                      </a:r>
                    </a:p>
                  </a:txBody>
                  <a:tcPr marL="73152" marR="73152" marT="36576" marB="36576" anchor="ctr">
                    <a:solidFill>
                      <a:srgbClr val="FFFFFF"/>
                    </a:solidFill>
                  </a:tcPr>
                </a:tc>
                <a:tc>
                  <a:txBody>
                    <a:bodyPr wrap="square"/>
                    <a:lstStyle/>
                    <a:p>
                      <a:r>
                        <a:rPr sz="1150" b="0">
                          <a:solidFill>
                            <a:srgbClr val="2B2A35"/>
                          </a:solidFill>
                          <a:latin typeface="Work Sans"/>
                        </a:rPr>
                        <a:t>10 900</a:t>
                      </a:r>
                    </a:p>
                  </a:txBody>
                  <a:tcPr marL="73152" marR="73152" marT="36576" marB="36576" anchor="ctr">
                    <a:solidFill>
                      <a:srgbClr val="FFFFFF"/>
                    </a:solidFill>
                  </a:tcPr>
                </a:tc>
                <a:tc>
                  <a:txBody>
                    <a:bodyPr wrap="square"/>
                    <a:lstStyle/>
                    <a:p>
                      <a:r>
                        <a:rPr sz="1150" b="0">
                          <a:solidFill>
                            <a:srgbClr val="2B2A35"/>
                          </a:solidFill>
                          <a:latin typeface="Work Sans"/>
                        </a:rPr>
                        <a:t>20 000</a:t>
                      </a:r>
                    </a:p>
                  </a:txBody>
                  <a:tcPr marL="73152" marR="73152" marT="36576" marB="36576" anchor="ctr">
                    <a:solidFill>
                      <a:srgbClr val="FFFFFF"/>
                    </a:solidFill>
                  </a:tcPr>
                </a:tc>
                <a:tc>
                  <a:txBody>
                    <a:bodyPr wrap="square"/>
                    <a:lstStyle/>
                    <a:p>
                      <a:r>
                        <a:rPr sz="1150" b="0">
                          <a:solidFill>
                            <a:srgbClr val="2B2A35"/>
                          </a:solidFill>
                          <a:latin typeface="Work Sans"/>
                        </a:rPr>
                        <a:t>Statistiques du compte</a:t>
                      </a:r>
                    </a:p>
                  </a:txBody>
                  <a:tcPr marL="73152" marR="73152" marT="36576" marB="36576" anchor="ctr">
                    <a:solidFill>
                      <a:srgbClr val="FFFFFF"/>
                    </a:solidFill>
                  </a:tcPr>
                </a:tc>
              </a:tr>
              <a:tr h="548640">
                <a:tc>
                  <a:txBody>
                    <a:bodyPr wrap="square"/>
                    <a:lstStyle/>
                    <a:p>
                      <a:r>
                        <a:rPr sz="1150" b="0">
                          <a:solidFill>
                            <a:srgbClr val="2B2A35"/>
                          </a:solidFill>
                          <a:latin typeface="Work Sans"/>
                        </a:rPr>
                        <a:t>Part de vidéos produit dans le fil</a:t>
                      </a:r>
                    </a:p>
                  </a:txBody>
                  <a:tcPr marL="73152" marR="73152" marT="36576" marB="36576" anchor="ctr">
                    <a:solidFill>
                      <a:srgbClr val="F7F8FA"/>
                    </a:solidFill>
                  </a:tcPr>
                </a:tc>
                <a:tc>
                  <a:txBody>
                    <a:bodyPr wrap="square"/>
                    <a:lstStyle/>
                    <a:p>
                      <a:r>
                        <a:rPr sz="1150" b="0">
                          <a:solidFill>
                            <a:srgbClr val="2B2A35"/>
                          </a:solidFill>
                          <a:latin typeface="Work Sans"/>
                        </a:rPr>
                        <a:t>12 publications sur 17</a:t>
                      </a:r>
                    </a:p>
                  </a:txBody>
                  <a:tcPr marL="73152" marR="73152" marT="36576" marB="36576" anchor="ctr">
                    <a:solidFill>
                      <a:srgbClr val="F7F8FA"/>
                    </a:solidFill>
                  </a:tcPr>
                </a:tc>
                <a:tc>
                  <a:txBody>
                    <a:bodyPr wrap="square"/>
                    <a:lstStyle/>
                    <a:p>
                      <a:r>
                        <a:rPr sz="1150" b="0">
                          <a:solidFill>
                            <a:srgbClr val="2B2A35"/>
                          </a:solidFill>
                          <a:latin typeface="Work Sans"/>
                        </a:rPr>
                        <a:t>1 sur 3 au maximum</a:t>
                      </a:r>
                    </a:p>
                  </a:txBody>
                  <a:tcPr marL="73152" marR="73152" marT="36576" marB="36576" anchor="ctr">
                    <a:solidFill>
                      <a:srgbClr val="F7F8FA"/>
                    </a:solidFill>
                  </a:tcPr>
                </a:tc>
                <a:tc>
                  <a:txBody>
                    <a:bodyPr wrap="square"/>
                    <a:lstStyle/>
                    <a:p>
                      <a:r>
                        <a:rPr sz="1150" b="0">
                          <a:solidFill>
                            <a:srgbClr val="2B2A35"/>
                          </a:solidFill>
                          <a:latin typeface="Work Sans"/>
                        </a:rPr>
                        <a:t>Calendrier tenu</a:t>
                      </a:r>
                    </a:p>
                  </a:txBody>
                  <a:tcPr marL="73152" marR="73152" marT="36576" marB="36576" anchor="ctr">
                    <a:solidFill>
                      <a:srgbClr val="F7F8FA"/>
                    </a:solidFill>
                  </a:tcPr>
                </a:tc>
              </a:tr>
            </a:tbl>
          </a:graphicData>
        </a:graphic>
      </p:graphicFrame>
      <p:sp>
        <p:nvSpPr>
          <p:cNvPr id="10" name="TextBox 9"/>
          <p:cNvSpPr txBox="1"/>
          <p:nvPr/>
        </p:nvSpPr>
        <p:spPr>
          <a:xfrm>
            <a:off x="548640" y="5623560"/>
            <a:ext cx="11091672" cy="548640"/>
          </a:xfrm>
          <a:prstGeom prst="rect">
            <a:avLst/>
          </a:prstGeom>
          <a:noFill/>
        </p:spPr>
        <p:txBody>
          <a:bodyPr wrap="square" anchor="t" lIns="18288" rIns="18288" tIns="18288" bIns="18288">
            <a:spAutoFit/>
          </a:bodyPr>
          <a:lstStyle/>
          <a:p>
            <a:pPr algn="l">
              <a:lnSpc>
                <a:spcPct val="112000"/>
              </a:lnSpc>
              <a:spcAft>
                <a:spcPts val="400"/>
              </a:spcAft>
            </a:pPr>
            <a:r>
              <a:rPr sz="1050" b="0" i="0">
                <a:solidFill>
                  <a:srgbClr val="8F8F9A"/>
                </a:solidFill>
                <a:latin typeface="Work Sans"/>
              </a:rPr>
              <a:t>Il nous manque ses statistiques privées (portée, visites du profil, nouveaux abonnés) : à récupérer dans son application pour fixer la base exacte.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8-15_DcD8RJVjAZ2_1.78_0.35_sombr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63040"/>
            <a:ext cx="2743200" cy="1463040"/>
          </a:xfrm>
          <a:prstGeom prst="rect">
            <a:avLst/>
          </a:prstGeom>
          <a:noFill/>
        </p:spPr>
        <p:txBody>
          <a:bodyPr wrap="square" anchor="t" lIns="18288" rIns="18288" tIns="18288" bIns="18288">
            <a:spAutoFit/>
          </a:bodyPr>
          <a:lstStyle/>
          <a:p>
            <a:pPr algn="l">
              <a:lnSpc>
                <a:spcPct val="112000"/>
              </a:lnSpc>
              <a:spcAft>
                <a:spcPts val="400"/>
              </a:spcAft>
            </a:pPr>
            <a:r>
              <a:rPr sz="11000" b="1" i="0">
                <a:solidFill>
                  <a:srgbClr val="00AED4"/>
                </a:solidFill>
                <a:latin typeface="Funnel Display"/>
              </a:rPr>
              <a:t>06</a:t>
            </a:r>
          </a:p>
        </p:txBody>
      </p:sp>
      <p:sp>
        <p:nvSpPr>
          <p:cNvPr id="4" name="TextBox 3"/>
          <p:cNvSpPr txBox="1"/>
          <p:nvPr/>
        </p:nvSpPr>
        <p:spPr>
          <a:xfrm>
            <a:off x="822960" y="3200400"/>
            <a:ext cx="10515600" cy="1097280"/>
          </a:xfrm>
          <a:prstGeom prst="rect">
            <a:avLst/>
          </a:prstGeom>
          <a:noFill/>
        </p:spPr>
        <p:txBody>
          <a:bodyPr wrap="square" anchor="t" lIns="18288" rIns="18288" tIns="18288" bIns="18288">
            <a:spAutoFit/>
          </a:bodyPr>
          <a:lstStyle/>
          <a:p>
            <a:pPr algn="l">
              <a:lnSpc>
                <a:spcPct val="100000"/>
              </a:lnSpc>
              <a:spcAft>
                <a:spcPts val="400"/>
              </a:spcAft>
            </a:pPr>
            <a:r>
              <a:rPr sz="4400" b="1" i="0">
                <a:solidFill>
                  <a:srgbClr val="FFFFFF"/>
                </a:solidFill>
                <a:latin typeface="Funnel Display"/>
              </a:rPr>
              <a:t>Prêt à valider</a:t>
            </a:r>
          </a:p>
        </p:txBody>
      </p:sp>
      <p:sp>
        <p:nvSpPr>
          <p:cNvPr id="5" name="TextBox 4"/>
          <p:cNvSpPr txBox="1"/>
          <p:nvPr/>
        </p:nvSpPr>
        <p:spPr>
          <a:xfrm>
            <a:off x="822960" y="4343400"/>
            <a:ext cx="8686800" cy="914400"/>
          </a:xfrm>
          <a:prstGeom prst="rect">
            <a:avLst/>
          </a:prstGeom>
          <a:noFill/>
        </p:spPr>
        <p:txBody>
          <a:bodyPr wrap="square" anchor="t" lIns="18288" rIns="18288" tIns="18288" bIns="18288">
            <a:spAutoFit/>
          </a:bodyPr>
          <a:lstStyle/>
          <a:p>
            <a:pPr algn="l">
              <a:lnSpc>
                <a:spcPct val="112000"/>
              </a:lnSpc>
              <a:spcAft>
                <a:spcPts val="400"/>
              </a:spcAft>
            </a:pPr>
            <a:r>
              <a:rPr sz="1700" b="0" i="0">
                <a:solidFill>
                  <a:srgbClr val="DCE3F2"/>
                </a:solidFill>
                <a:latin typeface="Work Sans"/>
              </a:rPr>
              <a:t>Profil réécrit, cinq publications et le calendrier des deux prochaines semaines.</a:t>
            </a:r>
          </a:p>
        </p:txBody>
      </p:sp>
      <p:pic>
        <p:nvPicPr>
          <p:cNvPr id="6" name="Picture 5" descr="logo_mstudio_blanc_transparent.png"/>
          <p:cNvPicPr>
            <a:picLocks noChangeAspect="1"/>
          </p:cNvPicPr>
          <p:nvPr/>
        </p:nvPicPr>
        <p:blipFill>
          <a:blip r:embed="rId3"/>
          <a:stretch>
            <a:fillRect/>
          </a:stretch>
        </p:blipFill>
        <p:spPr>
          <a:xfrm>
            <a:off x="10424160" y="411480"/>
            <a:ext cx="1327677" cy="347472"/>
          </a:xfrm>
          <a:prstGeom prst="rect">
            <a:avLst/>
          </a:prstGeom>
        </p:spPr>
      </p:pic>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32</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LinkedIn : le titre et le résumé</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33</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Entrepreneure | Consultante en communication | Animatrice TV | Business, image &amp; impact féminin</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(début) :</a:t>
            </a:r>
          </a:p>
          <a:p>
            <a:pPr algn="l">
              <a:lnSpc>
                <a:spcPct val="108000"/>
              </a:lnSpc>
              <a:spcAft>
                <a:spcPts val="400"/>
              </a:spcAft>
            </a:pPr>
            <a:r>
              <a:rPr sz="1100" b="0" i="0">
                <a:solidFill>
                  <a:srgbClr val="2B2A35"/>
                </a:solidFill>
                <a:latin typeface="Work Sans"/>
              </a:rPr>
              <a:t>Renée Mariame Konaté est entrepreneure, consultante en communication et animatrice télé basée en Côte d'Ivoire. Elle accompagne des marques, institutions et projets dans la structuration de leur image…</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100" b="0" i="0">
                <a:solidFill>
                  <a:srgbClr val="2B2A35"/>
                </a:solidFill>
                <a:latin typeface="Work Sans"/>
              </a:rPr>
              <a:t>Titre :</a:t>
            </a:r>
          </a:p>
          <a:p>
            <a:pPr algn="l">
              <a:lnSpc>
                <a:spcPct val="108000"/>
              </a:lnSpc>
              <a:spcAft>
                <a:spcPts val="400"/>
              </a:spcAft>
            </a:pPr>
            <a:r>
              <a:rPr sz="1100" b="0" i="0">
                <a:solidFill>
                  <a:srgbClr val="2B2A35"/>
                </a:solidFill>
                <a:latin typeface="Work Sans"/>
              </a:rPr>
              <a:t>Fondatrice Tabalé Consulting · Directrice artistique Traditions · Animatrice LIFE TV et voix du podcast Malea · Image de marque et entrepreneuriat féminin</a:t>
            </a:r>
          </a:p>
          <a:p>
            <a:pPr algn="l">
              <a:lnSpc>
                <a:spcPct val="108000"/>
              </a:lnSpc>
              <a:spcAft>
                <a:spcPts val="400"/>
              </a:spcAft>
            </a:pPr>
            <a:r>
              <a:rPr sz="1100" b="0" i="0">
                <a:solidFill>
                  <a:srgbClr val="2B2A35"/>
                </a:solidFill>
                <a:latin typeface="Work Sans"/>
              </a:rPr>
              <a:t/>
            </a:r>
          </a:p>
          <a:p>
            <a:pPr algn="l">
              <a:lnSpc>
                <a:spcPct val="108000"/>
              </a:lnSpc>
              <a:spcAft>
                <a:spcPts val="400"/>
              </a:spcAft>
            </a:pPr>
            <a:r>
              <a:rPr sz="1100" b="0" i="0">
                <a:solidFill>
                  <a:srgbClr val="2B2A35"/>
                </a:solidFill>
                <a:latin typeface="Work Sans"/>
              </a:rPr>
              <a:t>Résumé (début, à la première personne) :</a:t>
            </a:r>
          </a:p>
          <a:p>
            <a:pPr algn="l">
              <a:lnSpc>
                <a:spcPct val="108000"/>
              </a:lnSpc>
              <a:spcAft>
                <a:spcPts val="400"/>
              </a:spcAft>
            </a:pPr>
            <a:r>
              <a:rPr sz="1100" b="0" i="0">
                <a:solidFill>
                  <a:srgbClr val="2B2A35"/>
                </a:solidFill>
                <a:latin typeface="Work Sans"/>
              </a:rPr>
              <a:t>Je construis des marques à Abidjan : Traditions, maison de mode qui fait vivre le bogolan autrement, The Grill Factory, et Tabalé Consulting, qui aide les marques et les institutions à soigner leur image. À l'antenne de LIFE TV et dans Malea, je donne la parole aux femmes qui entreprennent.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PROFIL</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la bio</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34</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600200"/>
            <a:ext cx="5349240" cy="4526280"/>
          </a:xfrm>
          <a:prstGeom prst="roundRect">
            <a:avLst>
              <a:gd name="adj" fmla="val 4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737360"/>
            <a:ext cx="493776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8F8F9A"/>
                </a:solidFill>
                <a:latin typeface="Space Grotesk"/>
              </a:rPr>
              <a:t>AVANT</a:t>
            </a:r>
          </a:p>
        </p:txBody>
      </p:sp>
      <p:sp>
        <p:nvSpPr>
          <p:cNvPr id="12" name="TextBox 11"/>
          <p:cNvSpPr txBox="1"/>
          <p:nvPr/>
        </p:nvSpPr>
        <p:spPr>
          <a:xfrm>
            <a:off x="777240" y="2103120"/>
            <a:ext cx="493776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📺@lifetvofficiel | @malea_podcast</a:t>
            </a:r>
          </a:p>
          <a:p>
            <a:pPr algn="l">
              <a:lnSpc>
                <a:spcPct val="108000"/>
              </a:lnSpc>
              <a:spcAft>
                <a:spcPts val="400"/>
              </a:spcAft>
            </a:pPr>
            <a:r>
              <a:rPr sz="1200" b="0" i="0">
                <a:solidFill>
                  <a:srgbClr val="2B2A35"/>
                </a:solidFill>
                <a:latin typeface="Work Sans"/>
              </a:rPr>
              <a:t>🌯 @the.grillfactory</a:t>
            </a:r>
          </a:p>
          <a:p>
            <a:pPr algn="l">
              <a:lnSpc>
                <a:spcPct val="108000"/>
              </a:lnSpc>
              <a:spcAft>
                <a:spcPts val="400"/>
              </a:spcAft>
            </a:pPr>
            <a:r>
              <a:rPr sz="1200" b="0" i="0">
                <a:solidFill>
                  <a:srgbClr val="2B2A35"/>
                </a:solidFill>
                <a:latin typeface="Work Sans"/>
              </a:rPr>
              <a:t>👩🏽‍💻@tabaleconsulting</a:t>
            </a:r>
          </a:p>
          <a:p>
            <a:pPr algn="l">
              <a:lnSpc>
                <a:spcPct val="108000"/>
              </a:lnSpc>
              <a:spcAft>
                <a:spcPts val="400"/>
              </a:spcAft>
            </a:pPr>
            <a:r>
              <a:rPr sz="1200" b="0" i="0">
                <a:solidFill>
                  <a:srgbClr val="2B2A35"/>
                </a:solidFill>
                <a:latin typeface="Work Sans"/>
              </a:rPr>
              <a:t>👗@__.traditions.__ @latelierbytraditions</a:t>
            </a:r>
          </a:p>
          <a:p>
            <a:pPr algn="l">
              <a:lnSpc>
                <a:spcPct val="108000"/>
              </a:lnSpc>
              <a:spcAft>
                <a:spcPts val="400"/>
              </a:spcAft>
            </a:pPr>
            <a:r>
              <a:rPr sz="1200" b="0" i="0">
                <a:solidFill>
                  <a:srgbClr val="2B2A35"/>
                </a:solidFill>
                <a:latin typeface="Work Sans"/>
              </a:rPr>
              <a:t/>
            </a:r>
          </a:p>
          <a:p>
            <a:pPr algn="l">
              <a:lnSpc>
                <a:spcPct val="108000"/>
              </a:lnSpc>
              <a:spcAft>
                <a:spcPts val="400"/>
              </a:spcAft>
            </a:pPr>
            <a:r>
              <a:rPr sz="1200" b="0" i="0">
                <a:solidFill>
                  <a:srgbClr val="2B2A35"/>
                </a:solidFill>
                <a:latin typeface="Work Sans"/>
              </a:rPr>
              <a:t>Liens : site Traditions, Mon Carnet d'entrepreneure, YouTube, Malea épisode 13, Apple Podcasts</a:t>
            </a:r>
          </a:p>
        </p:txBody>
      </p:sp>
      <p:sp>
        <p:nvSpPr>
          <p:cNvPr id="13" name="Rounded Rectangle 12"/>
          <p:cNvSpPr/>
          <p:nvPr/>
        </p:nvSpPr>
        <p:spPr>
          <a:xfrm>
            <a:off x="6172200" y="1600200"/>
            <a:ext cx="5468112" cy="4526280"/>
          </a:xfrm>
          <a:prstGeom prst="roundRect">
            <a:avLst>
              <a:gd name="adj" fmla="val 4000"/>
            </a:avLst>
          </a:prstGeom>
          <a:solidFill>
            <a:srgbClr val="FFFFFF"/>
          </a:solidFill>
          <a:ln w="12700">
            <a:solidFill>
              <a:srgbClr val="007AB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737360"/>
            <a:ext cx="50292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APRÈS (PROPOSITION)</a:t>
            </a:r>
          </a:p>
        </p:txBody>
      </p:sp>
      <p:sp>
        <p:nvSpPr>
          <p:cNvPr id="15" name="TextBox 14"/>
          <p:cNvSpPr txBox="1"/>
          <p:nvPr/>
        </p:nvSpPr>
        <p:spPr>
          <a:xfrm>
            <a:off x="6400800" y="2103120"/>
            <a:ext cx="5074920" cy="3931920"/>
          </a:xfrm>
          <a:prstGeom prst="rect">
            <a:avLst/>
          </a:prstGeom>
          <a:noFill/>
        </p:spPr>
        <p:txBody>
          <a:bodyPr wrap="square" anchor="t" lIns="18288" rIns="18288" tIns="18288" bIns="18288">
            <a:spAutoFit/>
          </a:bodyPr>
          <a:lstStyle/>
          <a:p>
            <a:pPr algn="l">
              <a:lnSpc>
                <a:spcPct val="108000"/>
              </a:lnSpc>
              <a:spcAft>
                <a:spcPts val="400"/>
              </a:spcAft>
            </a:pPr>
            <a:r>
              <a:rPr sz="1200" b="0" i="0">
                <a:solidFill>
                  <a:srgbClr val="2B2A35"/>
                </a:solidFill>
                <a:latin typeface="Work Sans"/>
              </a:rPr>
              <a:t>Entrepreneure à Abidjan · je fais vivre l'héritage autrement ✨</a:t>
            </a:r>
          </a:p>
          <a:p>
            <a:pPr algn="l">
              <a:lnSpc>
                <a:spcPct val="108000"/>
              </a:lnSpc>
              <a:spcAft>
                <a:spcPts val="400"/>
              </a:spcAft>
            </a:pPr>
            <a:r>
              <a:rPr sz="1200" b="0" i="0">
                <a:solidFill>
                  <a:srgbClr val="2B2A35"/>
                </a:solidFill>
                <a:latin typeface="Work Sans"/>
              </a:rPr>
              <a:t>📺 @lifetvofficiel · 🎙️ @malea_podcast</a:t>
            </a:r>
          </a:p>
          <a:p>
            <a:pPr algn="l">
              <a:lnSpc>
                <a:spcPct val="108000"/>
              </a:lnSpc>
              <a:spcAft>
                <a:spcPts val="400"/>
              </a:spcAft>
            </a:pPr>
            <a:r>
              <a:rPr sz="1200" b="0" i="0">
                <a:solidFill>
                  <a:srgbClr val="2B2A35"/>
                </a:solidFill>
                <a:latin typeface="Work Sans"/>
              </a:rPr>
              <a:t>👗 @__.traditions.__ · 🌯 @the.grillfactory</a:t>
            </a:r>
          </a:p>
          <a:p>
            <a:pPr algn="l">
              <a:lnSpc>
                <a:spcPct val="108000"/>
              </a:lnSpc>
              <a:spcAft>
                <a:spcPts val="400"/>
              </a:spcAft>
            </a:pPr>
            <a:r>
              <a:rPr sz="1200" b="0" i="0">
                <a:solidFill>
                  <a:srgbClr val="2B2A35"/>
                </a:solidFill>
                <a:latin typeface="Work Sans"/>
              </a:rPr>
              <a:t>👩🏽‍💻 @tabaleconsulting</a:t>
            </a:r>
          </a:p>
          <a:p>
            <a:pPr algn="l">
              <a:lnSpc>
                <a:spcPct val="108000"/>
              </a:lnSpc>
              <a:spcAft>
                <a:spcPts val="400"/>
              </a:spcAft>
            </a:pPr>
            <a:r>
              <a:rPr sz="1200" b="0" i="0">
                <a:solidFill>
                  <a:srgbClr val="2B2A35"/>
                </a:solidFill>
                <a:latin typeface="Work Sans"/>
              </a:rPr>
              <a:t/>
            </a:r>
          </a:p>
          <a:p>
            <a:pPr algn="l">
              <a:lnSpc>
                <a:spcPct val="108000"/>
              </a:lnSpc>
              <a:spcAft>
                <a:spcPts val="400"/>
              </a:spcAft>
            </a:pPr>
            <a:r>
              <a:rPr sz="1200" b="0" i="0">
                <a:solidFill>
                  <a:srgbClr val="2B2A35"/>
                </a:solidFill>
                <a:latin typeface="Work Sans"/>
              </a:rPr>
              <a:t>Liens : Traditions, Malea (page du podcast), Mon Carnet d'entrepreneure, LinkedIn, contact pour animation et conseil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MARDI 27 OCTOBRE,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1 · le Yango Fellowship, repris pour LinkedIn</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35</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Mardi 27 octobre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24 talents. 6 pays africains. Plus de 600 candidatures.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J'ai assisté au Yango Fellowship Pitch Day à Abidjan. Après 12 semaines d'accompagnement, 24 jeunes ont défendu des solutions concrètes, souvent grâce à la technologie et à l'IA.</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 que j'en retiens, en tant qu'entrepreneure :</a:t>
            </a:r>
          </a:p>
          <a:p>
            <a:pPr algn="l">
              <a:lnSpc>
                <a:spcPct val="105000"/>
              </a:lnSpc>
              <a:spcAft>
                <a:spcPts val="200"/>
              </a:spcAft>
            </a:pPr>
            <a:r>
              <a:rPr sz="1000" b="0" i="0">
                <a:solidFill>
                  <a:srgbClr val="2B2A35"/>
                </a:solidFill>
                <a:latin typeface="Work Sans"/>
              </a:rPr>
              <a:t>→ le talent est là, les idées aussi ;</a:t>
            </a:r>
          </a:p>
          <a:p>
            <a:pPr algn="l">
              <a:lnSpc>
                <a:spcPct val="105000"/>
              </a:lnSpc>
              <a:spcAft>
                <a:spcPts val="200"/>
              </a:spcAft>
            </a:pPr>
            <a:r>
              <a:rPr sz="1000" b="0" i="0">
                <a:solidFill>
                  <a:srgbClr val="2B2A35"/>
                </a:solidFill>
                <a:latin typeface="Work Sans"/>
              </a:rPr>
              <a:t>→ ce qui fait la différence, c'est l'accompagnement et l'accès aux bonnes personnes ;</a:t>
            </a:r>
          </a:p>
          <a:p>
            <a:pPr algn="l">
              <a:lnSpc>
                <a:spcPct val="105000"/>
              </a:lnSpc>
              <a:spcAft>
                <a:spcPts val="200"/>
              </a:spcAft>
            </a:pPr>
            <a:r>
              <a:rPr sz="1000" b="0" i="0">
                <a:solidFill>
                  <a:srgbClr val="2B2A35"/>
                </a:solidFill>
                <a:latin typeface="Work Sans"/>
              </a:rPr>
              <a:t>→ un jury qui fait des retours francs vaut parfois plus qu'un prix.</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Bravo aux 24 Fellows. 🤍</a:t>
            </a:r>
          </a:p>
          <a:p>
            <a:pPr algn="l">
              <a:lnSpc>
                <a:spcPct val="105000"/>
              </a:lnSpc>
              <a:spcAft>
                <a:spcPts val="200"/>
              </a:spcAft>
            </a:pPr>
            <a:r>
              <a:rPr sz="1000" b="0" i="0">
                <a:solidFill>
                  <a:srgbClr val="2B2A35"/>
                </a:solidFill>
                <a:latin typeface="Work Sans"/>
              </a:rPr>
              <a:t>Selon vous, qu'est-ce qui manque le plus à un jeune entrepreneur ici : l'argent, le réseau ou le temps ?</a:t>
            </a:r>
          </a:p>
        </p:txBody>
      </p:sp>
      <p:pic>
        <p:nvPicPr>
          <p:cNvPr id="15" name="Picture 14" descr="ig_2026-09-22_Ddmg-6SMbzH.jpg"/>
          <p:cNvPicPr>
            <a:picLocks noChangeAspect="1"/>
          </p:cNvPicPr>
          <p:nvPr/>
        </p:nvPicPr>
        <p:blipFill>
          <a:blip r:embed="rId5"/>
          <a:stretch>
            <a:fillRect/>
          </a:stretch>
        </p:blipFill>
        <p:spPr>
          <a:xfrm>
            <a:off x="8697658" y="1554480"/>
            <a:ext cx="1697355"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au Pitch Day (à choisir dans sa publication Instagram du 22 septembre).</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Sur Instagram, ce sujet a fait 284 j'aime : il n'était pas au bon endroit. Sur LinkedIn, il touche exactement son public d'affaires. Chiffres repris de sa propre légende.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JEUDI 29 OCTOBRE, 12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2 · ce que le bogolan m'apprend du branding</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36</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Jeudi 29 octobre 2026 · 12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On me demande souvent comment moderniser une marque héritée sans la trahir.</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Avec Shades of Bogolan, la dernière capsule de Traditions, nous avons pris le bogolan et nous l'avons posé sur de la mousseline, de l'organza, du mesh.</a:t>
            </a:r>
          </a:p>
          <a:p>
            <a:pPr algn="l">
              <a:lnSpc>
                <a:spcPct val="105000"/>
              </a:lnSpc>
              <a:spcAft>
                <a:spcPts val="200"/>
              </a:spcAft>
            </a:pPr>
            <a:r>
              <a:rPr sz="1000" b="0" i="0">
                <a:solidFill>
                  <a:srgbClr val="2B2A35"/>
                </a:solidFill>
                <a:latin typeface="Work Sans"/>
              </a:rPr>
              <a:t>Le motif change de matière. Il ne change pas d'identité.</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C'est exactement ce que je dis aux marques que j'accompagne chez Tabalé :</a:t>
            </a:r>
          </a:p>
          <a:p>
            <a:pPr algn="l">
              <a:lnSpc>
                <a:spcPct val="105000"/>
              </a:lnSpc>
              <a:spcAft>
                <a:spcPts val="200"/>
              </a:spcAft>
            </a:pPr>
            <a:r>
              <a:rPr sz="1000" b="0" i="0">
                <a:solidFill>
                  <a:srgbClr val="2B2A35"/>
                </a:solidFill>
                <a:latin typeface="Work Sans"/>
              </a:rPr>
              <a:t>→ gardez ce qui vous rend reconnaissable ;</a:t>
            </a:r>
          </a:p>
          <a:p>
            <a:pPr algn="l">
              <a:lnSpc>
                <a:spcPct val="105000"/>
              </a:lnSpc>
              <a:spcAft>
                <a:spcPts val="200"/>
              </a:spcAft>
            </a:pPr>
            <a:r>
              <a:rPr sz="1000" b="0" i="0">
                <a:solidFill>
                  <a:srgbClr val="2B2A35"/>
                </a:solidFill>
                <a:latin typeface="Work Sans"/>
              </a:rPr>
              <a:t>→ changez tout le reste, avec méthode ;</a:t>
            </a:r>
          </a:p>
          <a:p>
            <a:pPr algn="l">
              <a:lnSpc>
                <a:spcPct val="105000"/>
              </a:lnSpc>
              <a:spcAft>
                <a:spcPts val="200"/>
              </a:spcAft>
            </a:pPr>
            <a:r>
              <a:rPr sz="1000" b="0" i="0">
                <a:solidFill>
                  <a:srgbClr val="2B2A35"/>
                </a:solidFill>
                <a:latin typeface="Work Sans"/>
              </a:rPr>
              <a:t>→ et montrez qui est derrière.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Trois silhouettes : SHADOW, MIRAGE, AURA. ✨</a:t>
            </a:r>
          </a:p>
          <a:p>
            <a:pPr algn="l">
              <a:lnSpc>
                <a:spcPct val="105000"/>
              </a:lnSpc>
              <a:spcAft>
                <a:spcPts val="200"/>
              </a:spcAft>
            </a:pPr>
            <a:r>
              <a:rPr sz="1000" b="0" i="0">
                <a:solidFill>
                  <a:srgbClr val="2B2A35"/>
                </a:solidFill>
                <a:latin typeface="Work Sans"/>
              </a:rPr>
              <a:t>Quelle marque africaine a, selon vous, le mieux réussi ce passage ?</a:t>
            </a:r>
          </a:p>
        </p:txBody>
      </p:sp>
      <p:pic>
        <p:nvPicPr>
          <p:cNvPr id="15" name="Picture 14" descr="ig_2026-09-18_Ddb07ZXMzrI.jpg"/>
          <p:cNvPicPr>
            <a:picLocks noChangeAspect="1"/>
          </p:cNvPicPr>
          <p:nvPr/>
        </p:nvPicPr>
        <p:blipFill>
          <a:blip r:embed="rId5"/>
          <a:stretch>
            <a:fillRect/>
          </a:stretch>
        </p:blipFill>
        <p:spPr>
          <a:xfrm>
            <a:off x="8037576" y="1554480"/>
            <a:ext cx="301752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Renée portant une pièce de la capsule (photo à fournir) ; à défaut, le visuel de lancement.</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Il relie ses deux métiers (créatrice et conseil) et parle de la marque sans en faire une publicité. Faits repris de sa légende du 18 septembre.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MARDI 3 NOVEMBRE, 8 H 30</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Post LinkedIn n° 3 · présenter Malea à son public d'affaires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linkedin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37</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10" name="Rounded Rectangle 9"/>
          <p:cNvSpPr/>
          <p:nvPr/>
        </p:nvSpPr>
        <p:spPr>
          <a:xfrm>
            <a:off x="548640" y="1554480"/>
            <a:ext cx="6675120" cy="4617720"/>
          </a:xfrm>
          <a:prstGeom prst="roundRect">
            <a:avLst>
              <a:gd name="adj" fmla="val 3000"/>
            </a:avLst>
          </a:prstGeom>
          <a:solidFill>
            <a:srgbClr val="FFFFFF"/>
          </a:solidFill>
          <a:ln w="12700">
            <a:solidFill>
              <a:srgbClr val="E4E8E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rond_li_profil.png"/>
          <p:cNvPicPr>
            <a:picLocks noChangeAspect="1"/>
          </p:cNvPicPr>
          <p:nvPr/>
        </p:nvPicPr>
        <p:blipFill>
          <a:blip r:embed="rId4"/>
          <a:stretch>
            <a:fillRect/>
          </a:stretch>
        </p:blipFill>
        <p:spPr>
          <a:xfrm>
            <a:off x="731520" y="1691640"/>
            <a:ext cx="502920" cy="502920"/>
          </a:xfrm>
          <a:prstGeom prst="rect">
            <a:avLst/>
          </a:prstGeom>
        </p:spPr>
      </p:pic>
      <p:sp>
        <p:nvSpPr>
          <p:cNvPr id="12" name="TextBox 11"/>
          <p:cNvSpPr txBox="1"/>
          <p:nvPr/>
        </p:nvSpPr>
        <p:spPr>
          <a:xfrm>
            <a:off x="1325880" y="1691640"/>
            <a:ext cx="4114800" cy="27432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Renée Mariame Konaté</a:t>
            </a:r>
          </a:p>
        </p:txBody>
      </p:sp>
      <p:sp>
        <p:nvSpPr>
          <p:cNvPr id="13" name="TextBox 12"/>
          <p:cNvSpPr txBox="1"/>
          <p:nvPr/>
        </p:nvSpPr>
        <p:spPr>
          <a:xfrm>
            <a:off x="1325880" y="1938528"/>
            <a:ext cx="4572000" cy="274320"/>
          </a:xfrm>
          <a:prstGeom prst="rect">
            <a:avLst/>
          </a:prstGeom>
          <a:noFill/>
        </p:spPr>
        <p:txBody>
          <a:bodyPr wrap="square" anchor="t" lIns="18288" rIns="18288" tIns="18288" bIns="18288">
            <a:spAutoFit/>
          </a:bodyPr>
          <a:lstStyle/>
          <a:p>
            <a:pPr algn="l">
              <a:lnSpc>
                <a:spcPct val="112000"/>
              </a:lnSpc>
              <a:spcAft>
                <a:spcPts val="400"/>
              </a:spcAft>
            </a:pPr>
            <a:r>
              <a:rPr sz="950" b="0" i="0">
                <a:solidFill>
                  <a:srgbClr val="8F8F9A"/>
                </a:solidFill>
                <a:latin typeface="Space Grotesk"/>
              </a:rPr>
              <a:t>Mardi 3 novembre 2026 · 8 h 30</a:t>
            </a:r>
          </a:p>
        </p:txBody>
      </p:sp>
      <p:sp>
        <p:nvSpPr>
          <p:cNvPr id="14" name="TextBox 13"/>
          <p:cNvSpPr txBox="1"/>
          <p:nvPr/>
        </p:nvSpPr>
        <p:spPr>
          <a:xfrm>
            <a:off x="731520" y="2331720"/>
            <a:ext cx="6309360" cy="3749039"/>
          </a:xfrm>
          <a:prstGeom prst="rect">
            <a:avLst/>
          </a:prstGeom>
          <a:noFill/>
        </p:spPr>
        <p:txBody>
          <a:bodyPr wrap="square" anchor="t" lIns="18288" rIns="18288" tIns="18288" bIns="18288">
            <a:spAutoFit/>
          </a:bodyPr>
          <a:lstStyle/>
          <a:p>
            <a:pPr algn="l">
              <a:lnSpc>
                <a:spcPct val="105000"/>
              </a:lnSpc>
              <a:spcAft>
                <a:spcPts val="200"/>
              </a:spcAft>
            </a:pPr>
            <a:r>
              <a:rPr sz="1000" b="0" i="0">
                <a:solidFill>
                  <a:srgbClr val="2B2A35"/>
                </a:solidFill>
                <a:latin typeface="Work Sans"/>
              </a:rPr>
              <a:t>Je n'en ai presque jamais parlé ici : j'anime un podcast. 🎙️</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Malea, ce sont des conversations authentiques, inspirantes et libératrices, avec des femmes et des hommes qui construisent.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Pourquoi un podcast quand on dirige déjà plusieurs marques ?</a:t>
            </a:r>
          </a:p>
          <a:p>
            <a:pPr algn="l">
              <a:lnSpc>
                <a:spcPct val="105000"/>
              </a:lnSpc>
              <a:spcAft>
                <a:spcPts val="200"/>
              </a:spcAft>
            </a:pPr>
            <a:r>
              <a:rPr sz="1000" b="0" i="0">
                <a:solidFill>
                  <a:srgbClr val="2B2A35"/>
                </a:solidFill>
                <a:latin typeface="Work Sans"/>
              </a:rPr>
              <a:t>Parce que j'apprends plus en une heure d'écoute qu'en une semaine de réunions.</a:t>
            </a:r>
          </a:p>
          <a:p>
            <a:pPr algn="l">
              <a:lnSpc>
                <a:spcPct val="105000"/>
              </a:lnSpc>
              <a:spcAft>
                <a:spcPts val="200"/>
              </a:spcAft>
            </a:pPr>
            <a:r>
              <a:rPr sz="1000" b="0" i="0">
                <a:solidFill>
                  <a:srgbClr val="2B2A35"/>
                </a:solidFill>
                <a:latin typeface="Work Sans"/>
              </a:rPr>
              <a:t>Et parce qu'on manque encore de miroirs pour celles qui se lancent.</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L'épisode 13, « Ma vie au service des autres », est sur YouTube et Apple Podcasts. Le lien est en commentaire.</a:t>
            </a:r>
          </a:p>
          <a:p>
            <a:pPr algn="l">
              <a:lnSpc>
                <a:spcPct val="105000"/>
              </a:lnSpc>
              <a:spcAft>
                <a:spcPts val="200"/>
              </a:spcAft>
            </a:pPr>
            <a:r>
              <a:rPr sz="1000" b="0" i="0">
                <a:solidFill>
                  <a:srgbClr val="2B2A35"/>
                </a:solidFill>
                <a:latin typeface="Work Sans"/>
              </a:rPr>
              <a:t/>
            </a:r>
          </a:p>
          <a:p>
            <a:pPr algn="l">
              <a:lnSpc>
                <a:spcPct val="105000"/>
              </a:lnSpc>
              <a:spcAft>
                <a:spcPts val="200"/>
              </a:spcAft>
            </a:pPr>
            <a:r>
              <a:rPr sz="1000" b="0" i="0">
                <a:solidFill>
                  <a:srgbClr val="2B2A35"/>
                </a:solidFill>
                <a:latin typeface="Work Sans"/>
              </a:rPr>
              <a:t>Qui aimeriez-vous entendre dans un prochain épisode ?</a:t>
            </a:r>
          </a:p>
        </p:txBody>
      </p:sp>
      <p:pic>
        <p:nvPicPr>
          <p:cNvPr id="15" name="Picture 14" descr="li_2026-09-18_54.jpg"/>
          <p:cNvPicPr>
            <a:picLocks noChangeAspect="1"/>
          </p:cNvPicPr>
          <p:nvPr/>
        </p:nvPicPr>
        <p:blipFill>
          <a:blip r:embed="rId5"/>
          <a:stretch>
            <a:fillRect/>
          </a:stretch>
        </p:blipFill>
        <p:spPr>
          <a:xfrm>
            <a:off x="7536620" y="1554480"/>
            <a:ext cx="4019430" cy="3017520"/>
          </a:xfrm>
          <a:prstGeom prst="rect">
            <a:avLst/>
          </a:prstGeom>
        </p:spPr>
      </p:pic>
      <p:sp>
        <p:nvSpPr>
          <p:cNvPr id="16" name="TextBox 15"/>
          <p:cNvSpPr txBox="1"/>
          <p:nvPr/>
        </p:nvSpPr>
        <p:spPr>
          <a:xfrm>
            <a:off x="7452360" y="4681728"/>
            <a:ext cx="4187952" cy="365760"/>
          </a:xfrm>
          <a:prstGeom prst="rect">
            <a:avLst/>
          </a:prstGeom>
          <a:noFill/>
        </p:spPr>
        <p:txBody>
          <a:bodyPr wrap="square" anchor="t" lIns="18288" rIns="18288" tIns="18288" bIns="18288">
            <a:spAutoFit/>
          </a:bodyPr>
          <a:lstStyle/>
          <a:p>
            <a:pPr algn="l">
              <a:lnSpc>
                <a:spcPct val="100000"/>
              </a:lnSpc>
              <a:spcAft>
                <a:spcPts val="400"/>
              </a:spcAft>
            </a:pPr>
            <a:r>
              <a:rPr sz="900" b="0" i="0">
                <a:solidFill>
                  <a:srgbClr val="8F8F9A"/>
                </a:solidFill>
                <a:latin typeface="Space Grotesk"/>
              </a:rPr>
              <a:t>Visuel : une photo d'elle au micro (à fournir), ou une photo de modération.</a:t>
            </a:r>
          </a:p>
        </p:txBody>
      </p:sp>
      <p:sp>
        <p:nvSpPr>
          <p:cNvPr id="17" name="Rounded Rectangle 16"/>
          <p:cNvSpPr/>
          <p:nvPr/>
        </p:nvSpPr>
        <p:spPr>
          <a:xfrm>
            <a:off x="7452360" y="5138928"/>
            <a:ext cx="4187952" cy="1033271"/>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lightbulb_b.png"/>
          <p:cNvPicPr>
            <a:picLocks noChangeAspect="1"/>
          </p:cNvPicPr>
          <p:nvPr/>
        </p:nvPicPr>
        <p:blipFill>
          <a:blip r:embed="rId6"/>
          <a:stretch>
            <a:fillRect/>
          </a:stretch>
        </p:blipFill>
        <p:spPr>
          <a:xfrm>
            <a:off x="7607808" y="5276088"/>
            <a:ext cx="310896" cy="310896"/>
          </a:xfrm>
          <a:prstGeom prst="rect">
            <a:avLst/>
          </a:prstGeom>
        </p:spPr>
      </p:pic>
      <p:sp>
        <p:nvSpPr>
          <p:cNvPr id="19" name="TextBox 18"/>
          <p:cNvSpPr txBox="1"/>
          <p:nvPr/>
        </p:nvSpPr>
        <p:spPr>
          <a:xfrm>
            <a:off x="8001000" y="5257800"/>
            <a:ext cx="3520440" cy="320040"/>
          </a:xfrm>
          <a:prstGeom prst="rect">
            <a:avLst/>
          </a:prstGeom>
          <a:noFill/>
        </p:spPr>
        <p:txBody>
          <a:bodyPr wrap="square" anchor="t" lIns="18288" rIns="18288" tIns="18288" bIns="18288">
            <a:spAutoFit/>
          </a:bodyPr>
          <a:lstStyle/>
          <a:p>
            <a:pPr algn="l">
              <a:lnSpc>
                <a:spcPct val="112000"/>
              </a:lnSpc>
              <a:spcAft>
                <a:spcPts val="400"/>
              </a:spcAft>
            </a:pPr>
            <a:r>
              <a:rPr sz="1200" b="1" i="0">
                <a:solidFill>
                  <a:srgbClr val="232754"/>
                </a:solidFill>
                <a:latin typeface="Funnel Display"/>
              </a:rPr>
              <a:t>Pourquoi ce post</a:t>
            </a:r>
          </a:p>
        </p:txBody>
      </p:sp>
      <p:sp>
        <p:nvSpPr>
          <p:cNvPr id="20" name="TextBox 19"/>
          <p:cNvSpPr txBox="1"/>
          <p:nvPr/>
        </p:nvSpPr>
        <p:spPr>
          <a:xfrm>
            <a:off x="7607808" y="5641848"/>
            <a:ext cx="3886200" cy="438912"/>
          </a:xfrm>
          <a:prstGeom prst="rect">
            <a:avLst/>
          </a:prstGeom>
          <a:noFill/>
        </p:spPr>
        <p:txBody>
          <a:bodyPr wrap="square" anchor="t" lIns="18288" rIns="18288" tIns="18288" bIns="18288">
            <a:spAutoFit/>
          </a:bodyPr>
          <a:lstStyle/>
          <a:p>
            <a:pPr algn="l">
              <a:lnSpc>
                <a:spcPct val="105000"/>
              </a:lnSpc>
              <a:spcAft>
                <a:spcPts val="400"/>
              </a:spcAft>
            </a:pPr>
            <a:r>
              <a:rPr sz="1000" b="0" i="0">
                <a:solidFill>
                  <a:srgbClr val="2B2A35"/>
                </a:solidFill>
                <a:latin typeface="Work Sans"/>
              </a:rPr>
              <a:t>Malea n'a que 1 993 abonnés sur Instagram : LinkedIn est le canal pour lui trouver un public professionnel. Phrases sur ses motivations à faire valider par elle.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VENDREDI 30 OCTOBRE, 19 H</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Instagram · carrousel « Mes cinq casquettes »</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pic>
        <p:nvPicPr>
          <p:cNvPr id="6" name="Picture 5" descr="instagram_brand.png"/>
          <p:cNvPicPr>
            <a:picLocks noChangeAspect="1"/>
          </p:cNvPicPr>
          <p:nvPr/>
        </p:nvPicPr>
        <p:blipFill>
          <a:blip r:embed="rId3"/>
          <a:stretch>
            <a:fillRect/>
          </a:stretch>
        </p:blipFill>
        <p:spPr>
          <a:xfrm>
            <a:off x="10058400" y="301752"/>
            <a:ext cx="384048" cy="384048"/>
          </a:xfrm>
          <a:prstGeom prst="rect">
            <a:avLst/>
          </a:prstGeom>
        </p:spPr>
      </p:pic>
      <p:sp>
        <p:nvSpPr>
          <p:cNvPr id="7" name="Rectangle 6"/>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38</a:t>
            </a:r>
          </a:p>
        </p:txBody>
      </p:sp>
      <p:sp>
        <p:nvSpPr>
          <p:cNvPr id="9" name="TextBox 8"/>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pic>
        <p:nvPicPr>
          <p:cNvPr id="10" name="Picture 9" descr="car_r0.jpg"/>
          <p:cNvPicPr>
            <a:picLocks noChangeAspect="1"/>
          </p:cNvPicPr>
          <p:nvPr/>
        </p:nvPicPr>
        <p:blipFill>
          <a:blip r:embed="rId4"/>
          <a:stretch>
            <a:fillRect/>
          </a:stretch>
        </p:blipFill>
        <p:spPr>
          <a:xfrm>
            <a:off x="548640" y="1600200"/>
            <a:ext cx="2103120" cy="2628900"/>
          </a:xfrm>
          <a:prstGeom prst="rect">
            <a:avLst/>
          </a:prstGeom>
        </p:spPr>
      </p:pic>
      <p:pic>
        <p:nvPicPr>
          <p:cNvPr id="11" name="Picture 10" descr="car_r1.jpg"/>
          <p:cNvPicPr>
            <a:picLocks noChangeAspect="1"/>
          </p:cNvPicPr>
          <p:nvPr/>
        </p:nvPicPr>
        <p:blipFill>
          <a:blip r:embed="rId5"/>
          <a:stretch>
            <a:fillRect/>
          </a:stretch>
        </p:blipFill>
        <p:spPr>
          <a:xfrm>
            <a:off x="2788920" y="1600200"/>
            <a:ext cx="2103120" cy="2628900"/>
          </a:xfrm>
          <a:prstGeom prst="rect">
            <a:avLst/>
          </a:prstGeom>
        </p:spPr>
      </p:pic>
      <p:pic>
        <p:nvPicPr>
          <p:cNvPr id="12" name="Picture 11" descr="car_r2.jpg"/>
          <p:cNvPicPr>
            <a:picLocks noChangeAspect="1"/>
          </p:cNvPicPr>
          <p:nvPr/>
        </p:nvPicPr>
        <p:blipFill>
          <a:blip r:embed="rId6"/>
          <a:stretch>
            <a:fillRect/>
          </a:stretch>
        </p:blipFill>
        <p:spPr>
          <a:xfrm>
            <a:off x="5029200" y="1600200"/>
            <a:ext cx="2103120" cy="2628900"/>
          </a:xfrm>
          <a:prstGeom prst="rect">
            <a:avLst/>
          </a:prstGeom>
        </p:spPr>
      </p:pic>
      <p:pic>
        <p:nvPicPr>
          <p:cNvPr id="13" name="Picture 12" descr="car_r3.jpg"/>
          <p:cNvPicPr>
            <a:picLocks noChangeAspect="1"/>
          </p:cNvPicPr>
          <p:nvPr/>
        </p:nvPicPr>
        <p:blipFill>
          <a:blip r:embed="rId7"/>
          <a:stretch>
            <a:fillRect/>
          </a:stretch>
        </p:blipFill>
        <p:spPr>
          <a:xfrm>
            <a:off x="7269480" y="1600200"/>
            <a:ext cx="2103120" cy="2628900"/>
          </a:xfrm>
          <a:prstGeom prst="rect">
            <a:avLst/>
          </a:prstGeom>
        </p:spPr>
      </p:pic>
      <p:pic>
        <p:nvPicPr>
          <p:cNvPr id="14" name="Picture 13" descr="car_r4.jpg"/>
          <p:cNvPicPr>
            <a:picLocks noChangeAspect="1"/>
          </p:cNvPicPr>
          <p:nvPr/>
        </p:nvPicPr>
        <p:blipFill>
          <a:blip r:embed="rId8"/>
          <a:stretch>
            <a:fillRect/>
          </a:stretch>
        </p:blipFill>
        <p:spPr>
          <a:xfrm>
            <a:off x="9509760" y="1600200"/>
            <a:ext cx="2103120" cy="2628900"/>
          </a:xfrm>
          <a:prstGeom prst="rect">
            <a:avLst/>
          </a:prstGeom>
        </p:spPr>
      </p:pic>
      <p:sp>
        <p:nvSpPr>
          <p:cNvPr id="15" name="Rounded Rectangle 14"/>
          <p:cNvSpPr/>
          <p:nvPr/>
        </p:nvSpPr>
        <p:spPr>
          <a:xfrm>
            <a:off x="548640" y="4434840"/>
            <a:ext cx="6675120"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599431"/>
            <a:ext cx="54864" cy="136245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en-tool_b.png"/>
          <p:cNvPicPr>
            <a:picLocks noChangeAspect="1"/>
          </p:cNvPicPr>
          <p:nvPr/>
        </p:nvPicPr>
        <p:blipFill>
          <a:blip r:embed="rId9"/>
          <a:stretch>
            <a:fillRect/>
          </a:stretch>
        </p:blipFill>
        <p:spPr>
          <a:xfrm>
            <a:off x="777240" y="4617720"/>
            <a:ext cx="384048" cy="384048"/>
          </a:xfrm>
          <a:prstGeom prst="rect">
            <a:avLst/>
          </a:prstGeom>
        </p:spPr>
      </p:pic>
      <p:sp>
        <p:nvSpPr>
          <p:cNvPr id="18" name="TextBox 17"/>
          <p:cNvSpPr txBox="1"/>
          <p:nvPr/>
        </p:nvSpPr>
        <p:spPr>
          <a:xfrm>
            <a:off x="1280160" y="4617720"/>
            <a:ext cx="576072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Légende proposée</a:t>
            </a:r>
          </a:p>
        </p:txBody>
      </p:sp>
      <p:sp>
        <p:nvSpPr>
          <p:cNvPr id="19" name="TextBox 18"/>
          <p:cNvSpPr txBox="1"/>
          <p:nvPr/>
        </p:nvSpPr>
        <p:spPr>
          <a:xfrm>
            <a:off x="777240" y="5148072"/>
            <a:ext cx="6263640"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Les gars, on me demande souvent comment je fais tout ça 😌 Voici mes cinq casquettes, et ce que chacune m'apprend. Swipe jusqu'au bout, la cinquième est la plus personnelle 🤍 #reneemariame #entrepreneure #abidjan</a:t>
            </a:r>
          </a:p>
        </p:txBody>
      </p:sp>
      <p:sp>
        <p:nvSpPr>
          <p:cNvPr id="20" name="Rounded Rectangle 19"/>
          <p:cNvSpPr/>
          <p:nvPr/>
        </p:nvSpPr>
        <p:spPr>
          <a:xfrm>
            <a:off x="7360920" y="4434840"/>
            <a:ext cx="4279392" cy="169164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60920" y="4599431"/>
            <a:ext cx="54864" cy="1362456"/>
          </a:xfrm>
          <a:prstGeom prst="rect">
            <a:avLst/>
          </a:prstGeom>
          <a:solidFill>
            <a:srgbClr val="00ADA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ightbulb_b.png"/>
          <p:cNvPicPr>
            <a:picLocks noChangeAspect="1"/>
          </p:cNvPicPr>
          <p:nvPr/>
        </p:nvPicPr>
        <p:blipFill>
          <a:blip r:embed="rId10"/>
          <a:stretch>
            <a:fillRect/>
          </a:stretch>
        </p:blipFill>
        <p:spPr>
          <a:xfrm>
            <a:off x="7589520" y="4617720"/>
            <a:ext cx="384048" cy="384048"/>
          </a:xfrm>
          <a:prstGeom prst="rect">
            <a:avLst/>
          </a:prstGeom>
        </p:spPr>
      </p:pic>
      <p:sp>
        <p:nvSpPr>
          <p:cNvPr id="23" name="TextBox 22"/>
          <p:cNvSpPr txBox="1"/>
          <p:nvPr/>
        </p:nvSpPr>
        <p:spPr>
          <a:xfrm>
            <a:off x="8092440" y="4617720"/>
            <a:ext cx="3364991"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Pourquoi</a:t>
            </a:r>
          </a:p>
        </p:txBody>
      </p:sp>
      <p:sp>
        <p:nvSpPr>
          <p:cNvPr id="24" name="TextBox 23"/>
          <p:cNvSpPr txBox="1"/>
          <p:nvPr/>
        </p:nvSpPr>
        <p:spPr>
          <a:xfrm>
            <a:off x="7589520" y="5148072"/>
            <a:ext cx="3867911" cy="86868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Le carrousel est son format fort, elle est à l'image sur chaque page, et ses marques sont présentes sans être vendues.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PRÊT À VALIDER · PREMIER LOT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Le calendrier des deux prochaines semaines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39</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graphicFrame>
        <p:nvGraphicFramePr>
          <p:cNvPr id="9" name="Table 8"/>
          <p:cNvGraphicFramePr>
            <a:graphicFrameLocks noGrp="1"/>
          </p:cNvGraphicFramePr>
          <p:nvPr/>
        </p:nvGraphicFramePr>
        <p:xfrm>
          <a:off x="548640" y="1645920"/>
          <a:ext cx="11091672" cy="4096512"/>
        </p:xfrm>
        <a:graphic>
          <a:graphicData uri="http://schemas.openxmlformats.org/drawingml/2006/table">
            <a:tbl>
              <a:tblPr firstRow="1" bandRow="1">
                <a:tableStyleId>{5C22544A-7EE6-4342-B048-85BDC9FD1C3A}</a:tableStyleId>
              </a:tblPr>
              <a:tblGrid>
                <a:gridCol w="2194560"/>
                <a:gridCol w="1463040"/>
                <a:gridCol w="5513832"/>
                <a:gridCol w="1920240"/>
              </a:tblGrid>
              <a:tr h="512064">
                <a:tc>
                  <a:txBody>
                    <a:bodyPr wrap="square"/>
                    <a:lstStyle/>
                    <a:p>
                      <a:r>
                        <a:rPr sz="1100" b="1">
                          <a:solidFill>
                            <a:srgbClr val="FFFFFF"/>
                          </a:solidFill>
                          <a:latin typeface="Work Sans"/>
                        </a:rPr>
                        <a:t>Date</a:t>
                      </a:r>
                    </a:p>
                  </a:txBody>
                  <a:tcPr marL="73152" marR="73152" marT="36576" marB="36576" anchor="ctr">
                    <a:solidFill>
                      <a:srgbClr val="232754"/>
                    </a:solidFill>
                  </a:tcPr>
                </a:tc>
                <a:tc>
                  <a:txBody>
                    <a:bodyPr wrap="square"/>
                    <a:lstStyle/>
                    <a:p>
                      <a:r>
                        <a:rPr sz="1100" b="1">
                          <a:solidFill>
                            <a:srgbClr val="FFFFFF"/>
                          </a:solidFill>
                          <a:latin typeface="Work Sans"/>
                        </a:rPr>
                        <a:t>Réseau</a:t>
                      </a:r>
                    </a:p>
                  </a:txBody>
                  <a:tcPr marL="73152" marR="73152" marT="36576" marB="36576" anchor="ctr">
                    <a:solidFill>
                      <a:srgbClr val="232754"/>
                    </a:solidFill>
                  </a:tcPr>
                </a:tc>
                <a:tc>
                  <a:txBody>
                    <a:bodyPr wrap="square"/>
                    <a:lstStyle/>
                    <a:p>
                      <a:r>
                        <a:rPr sz="1100" b="1">
                          <a:solidFill>
                            <a:srgbClr val="FFFFFF"/>
                          </a:solidFill>
                          <a:latin typeface="Work Sans"/>
                        </a:rPr>
                        <a:t>Publication</a:t>
                      </a:r>
                    </a:p>
                  </a:txBody>
                  <a:tcPr marL="73152" marR="73152" marT="36576" marB="36576" anchor="ctr">
                    <a:solidFill>
                      <a:srgbClr val="232754"/>
                    </a:solidFill>
                  </a:tcPr>
                </a:tc>
                <a:tc>
                  <a:txBody>
                    <a:bodyPr wrap="square"/>
                    <a:lstStyle/>
                    <a:p>
                      <a:r>
                        <a:rPr sz="1100" b="1">
                          <a:solidFill>
                            <a:srgbClr val="FFFFFF"/>
                          </a:solidFill>
                          <a:latin typeface="Work Sans"/>
                        </a:rPr>
                        <a:t>Statut</a:t>
                      </a:r>
                    </a:p>
                  </a:txBody>
                  <a:tcPr marL="73152" marR="73152" marT="36576" marB="36576" anchor="ctr">
                    <a:solidFill>
                      <a:srgbClr val="232754"/>
                    </a:solidFill>
                  </a:tcPr>
                </a:tc>
              </a:tr>
              <a:tr h="512064">
                <a:tc>
                  <a:txBody>
                    <a:bodyPr wrap="square"/>
                    <a:lstStyle/>
                    <a:p>
                      <a:r>
                        <a:rPr sz="1100" b="0">
                          <a:solidFill>
                            <a:srgbClr val="2B2A35"/>
                          </a:solidFill>
                          <a:latin typeface="Work Sans"/>
                        </a:rPr>
                        <a:t>Lun. 26 oct.</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Mise à jour du titre, du résumé et de la section « À la une »</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Mar. 27 oct. · 8 h 30</a:t>
                      </a:r>
                    </a:p>
                  </a:txBody>
                  <a:tcPr marL="73152" marR="73152" marT="36576" marB="36576" anchor="ctr">
                    <a:solidFill>
                      <a:srgbClr val="F7F8FA"/>
                    </a:solidFill>
                  </a:tcPr>
                </a:tc>
                <a:tc>
                  <a:txBody>
                    <a:bodyPr wrap="square"/>
                    <a:lstStyle/>
                    <a:p>
                      <a:r>
                        <a:rPr sz="1100" b="0">
                          <a:solidFill>
                            <a:srgbClr val="2B2A35"/>
                          </a:solidFill>
                          <a:latin typeface="Work Sans"/>
                        </a:rPr>
                        <a:t>LinkedIn</a:t>
                      </a:r>
                    </a:p>
                  </a:txBody>
                  <a:tcPr marL="73152" marR="73152" marT="36576" marB="36576" anchor="ctr">
                    <a:solidFill>
                      <a:srgbClr val="F7F8FA"/>
                    </a:solidFill>
                  </a:tcPr>
                </a:tc>
                <a:tc>
                  <a:txBody>
                    <a:bodyPr wrap="square"/>
                    <a:lstStyle/>
                    <a:p>
                      <a:r>
                        <a:rPr sz="1100" b="0">
                          <a:solidFill>
                            <a:srgbClr val="2B2A35"/>
                          </a:solidFill>
                          <a:latin typeface="Work Sans"/>
                        </a:rPr>
                        <a:t>Post n° 1 · Yango Fellowship</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Jeu. 29 oct.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2 · le bogolan et le branding</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Ven. 30 oct. · 19 h</a:t>
                      </a:r>
                    </a:p>
                  </a:txBody>
                  <a:tcPr marL="73152" marR="73152" marT="36576" marB="36576" anchor="ctr">
                    <a:solidFill>
                      <a:srgbClr val="F7F8FA"/>
                    </a:solidFill>
                  </a:tcPr>
                </a:tc>
                <a:tc>
                  <a:txBody>
                    <a:bodyPr wrap="square"/>
                    <a:lstStyle/>
                    <a:p>
                      <a:r>
                        <a:rPr sz="1100" b="0">
                          <a:solidFill>
                            <a:srgbClr val="2B2A35"/>
                          </a:solidFill>
                          <a:latin typeface="Work Sans"/>
                        </a:rPr>
                        <a:t>Instagram</a:t>
                      </a:r>
                    </a:p>
                  </a:txBody>
                  <a:tcPr marL="73152" marR="73152" marT="36576" marB="36576" anchor="ctr">
                    <a:solidFill>
                      <a:srgbClr val="F7F8FA"/>
                    </a:solidFill>
                  </a:tcPr>
                </a:tc>
                <a:tc>
                  <a:txBody>
                    <a:bodyPr wrap="square"/>
                    <a:lstStyle/>
                    <a:p>
                      <a:r>
                        <a:rPr sz="1100" b="0">
                          <a:solidFill>
                            <a:srgbClr val="2B2A35"/>
                          </a:solidFill>
                          <a:latin typeface="Work Sans"/>
                        </a:rPr>
                        <a:t>Carrousel « Mes cinq casquettes » + nouvelle bio</a:t>
                      </a:r>
                    </a:p>
                  </a:txBody>
                  <a:tcPr marL="73152" marR="73152" marT="36576" marB="36576" anchor="ctr">
                    <a:solidFill>
                      <a:srgbClr val="F7F8FA"/>
                    </a:solidFill>
                  </a:tcPr>
                </a:tc>
                <a:tc>
                  <a:txBody>
                    <a:bodyPr wrap="square"/>
                    <a:lstStyle/>
                    <a:p>
                      <a:r>
                        <a:rPr sz="1100" b="0">
                          <a:solidFill>
                            <a:srgbClr val="2B2A35"/>
                          </a:solidFill>
                          <a:latin typeface="Work Sans"/>
                        </a:rPr>
                        <a:t>À valider</a:t>
                      </a:r>
                    </a:p>
                  </a:txBody>
                  <a:tcPr marL="73152" marR="73152" marT="36576" marB="36576" anchor="ctr">
                    <a:solidFill>
                      <a:srgbClr val="F7F8FA"/>
                    </a:solidFill>
                  </a:tcPr>
                </a:tc>
              </a:tr>
              <a:tr h="512064">
                <a:tc>
                  <a:txBody>
                    <a:bodyPr wrap="square"/>
                    <a:lstStyle/>
                    <a:p>
                      <a:r>
                        <a:rPr sz="1100" b="0">
                          <a:solidFill>
                            <a:srgbClr val="2B2A35"/>
                          </a:solidFill>
                          <a:latin typeface="Work Sans"/>
                        </a:rPr>
                        <a:t>Mar. 3 nov. · 8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Post n° 3 · Malea</a:t>
                      </a:r>
                    </a:p>
                  </a:txBody>
                  <a:tcPr marL="73152" marR="73152" marT="36576" marB="36576" anchor="ctr">
                    <a:solidFill>
                      <a:srgbClr val="FFFFFF"/>
                    </a:solidFill>
                  </a:tcPr>
                </a:tc>
                <a:tc>
                  <a:txBody>
                    <a:bodyPr wrap="square"/>
                    <a:lstStyle/>
                    <a:p>
                      <a:r>
                        <a:rPr sz="1100" b="0">
                          <a:solidFill>
                            <a:srgbClr val="2B2A35"/>
                          </a:solidFill>
                          <a:latin typeface="Work Sans"/>
                        </a:rPr>
                        <a:t>À valider</a:t>
                      </a:r>
                    </a:p>
                  </a:txBody>
                  <a:tcPr marL="73152" marR="73152" marT="36576" marB="36576" anchor="ctr">
                    <a:solidFill>
                      <a:srgbClr val="FFFFFF"/>
                    </a:solidFill>
                  </a:tcPr>
                </a:tc>
              </a:tr>
              <a:tr h="512064">
                <a:tc>
                  <a:txBody>
                    <a:bodyPr wrap="square"/>
                    <a:lstStyle/>
                    <a:p>
                      <a:r>
                        <a:rPr sz="1100" b="0">
                          <a:solidFill>
                            <a:srgbClr val="2B2A35"/>
                          </a:solidFill>
                          <a:latin typeface="Work Sans"/>
                        </a:rPr>
                        <a:t>Mer. 4 nov. · 19 h</a:t>
                      </a:r>
                    </a:p>
                  </a:txBody>
                  <a:tcPr marL="73152" marR="73152" marT="36576" marB="36576" anchor="ctr">
                    <a:solidFill>
                      <a:srgbClr val="F7F8FA"/>
                    </a:solidFill>
                  </a:tcPr>
                </a:tc>
                <a:tc>
                  <a:txBody>
                    <a:bodyPr wrap="square"/>
                    <a:lstStyle/>
                    <a:p>
                      <a:r>
                        <a:rPr sz="1100" b="0">
                          <a:solidFill>
                            <a:srgbClr val="2B2A35"/>
                          </a:solidFill>
                          <a:latin typeface="Work Sans"/>
                        </a:rPr>
                        <a:t>Instagram</a:t>
                      </a:r>
                    </a:p>
                  </a:txBody>
                  <a:tcPr marL="73152" marR="73152" marT="36576" marB="36576" anchor="ctr">
                    <a:solidFill>
                      <a:srgbClr val="F7F8FA"/>
                    </a:solidFill>
                  </a:tcPr>
                </a:tc>
                <a:tc>
                  <a:txBody>
                    <a:bodyPr wrap="square"/>
                    <a:lstStyle/>
                    <a:p>
                      <a:r>
                        <a:rPr sz="1100" b="0">
                          <a:solidFill>
                            <a:srgbClr val="2B2A35"/>
                          </a:solidFill>
                          <a:latin typeface="Work Sans"/>
                        </a:rPr>
                        <a:t>Coulisse en vidéo, elle à l'image (tournage LIFE TV ou atelier)</a:t>
                      </a:r>
                    </a:p>
                  </a:txBody>
                  <a:tcPr marL="73152" marR="73152" marT="36576" marB="36576" anchor="ctr">
                    <a:solidFill>
                      <a:srgbClr val="F7F8FA"/>
                    </a:solidFill>
                  </a:tcPr>
                </a:tc>
                <a:tc>
                  <a:txBody>
                    <a:bodyPr wrap="square"/>
                    <a:lstStyle/>
                    <a:p>
                      <a:r>
                        <a:rPr sz="1100" b="0">
                          <a:solidFill>
                            <a:srgbClr val="2B2A35"/>
                          </a:solidFill>
                          <a:latin typeface="Work Sans"/>
                        </a:rPr>
                        <a:t>Tournage à prévoir</a:t>
                      </a:r>
                    </a:p>
                  </a:txBody>
                  <a:tcPr marL="73152" marR="73152" marT="36576" marB="36576" anchor="ctr">
                    <a:solidFill>
                      <a:srgbClr val="F7F8FA"/>
                    </a:solidFill>
                  </a:tcPr>
                </a:tc>
              </a:tr>
              <a:tr h="512064">
                <a:tc>
                  <a:txBody>
                    <a:bodyPr wrap="square"/>
                    <a:lstStyle/>
                    <a:p>
                      <a:r>
                        <a:rPr sz="1100" b="0">
                          <a:solidFill>
                            <a:srgbClr val="2B2A35"/>
                          </a:solidFill>
                          <a:latin typeface="Work Sans"/>
                        </a:rPr>
                        <a:t>Jeu. 5 nov. · 12 h 30</a:t>
                      </a:r>
                    </a:p>
                  </a:txBody>
                  <a:tcPr marL="73152" marR="73152" marT="36576" marB="36576" anchor="ctr">
                    <a:solidFill>
                      <a:srgbClr val="FFFFFF"/>
                    </a:solidFill>
                  </a:tcPr>
                </a:tc>
                <a:tc>
                  <a:txBody>
                    <a:bodyPr wrap="square"/>
                    <a:lstStyle/>
                    <a:p>
                      <a:r>
                        <a:rPr sz="1100" b="0">
                          <a:solidFill>
                            <a:srgbClr val="2B2A35"/>
                          </a:solidFill>
                          <a:latin typeface="Work Sans"/>
                        </a:rPr>
                        <a:t>LinkedIn</a:t>
                      </a:r>
                    </a:p>
                  </a:txBody>
                  <a:tcPr marL="73152" marR="73152" marT="36576" marB="36576" anchor="ctr">
                    <a:solidFill>
                      <a:srgbClr val="FFFFFF"/>
                    </a:solidFill>
                  </a:tcPr>
                </a:tc>
                <a:tc>
                  <a:txBody>
                    <a:bodyPr wrap="square"/>
                    <a:lstStyle/>
                    <a:p>
                      <a:r>
                        <a:rPr sz="1100" b="0">
                          <a:solidFill>
                            <a:srgbClr val="2B2A35"/>
                          </a:solidFill>
                          <a:latin typeface="Work Sans"/>
                        </a:rPr>
                        <a:t>Un conseil d'image de marque tiré de son travail chez Tabalé</a:t>
                      </a:r>
                    </a:p>
                  </a:txBody>
                  <a:tcPr marL="73152" marR="73152" marT="36576" marB="36576" anchor="ctr">
                    <a:solidFill>
                      <a:srgbClr val="FFFFFF"/>
                    </a:solidFill>
                  </a:tcPr>
                </a:tc>
                <a:tc>
                  <a:txBody>
                    <a:bodyPr wrap="square"/>
                    <a:lstStyle/>
                    <a:p>
                      <a:r>
                        <a:rPr sz="1100" b="0">
                          <a:solidFill>
                            <a:srgbClr val="2B2A35"/>
                          </a:solidFill>
                          <a:latin typeface="Work Sans"/>
                        </a:rPr>
                        <a:t>À écrire avec elle</a:t>
                      </a:r>
                    </a:p>
                  </a:txBody>
                  <a:tcPr marL="73152" marR="73152" marT="36576" marB="36576" anchor="ctr">
                    <a:solidFill>
                      <a:srgbClr val="FFFFFF"/>
                    </a:solidFill>
                  </a:tcPr>
                </a:tc>
              </a:tr>
            </a:tbl>
          </a:graphicData>
        </a:graphic>
      </p:graphicFrame>
      <p:sp>
        <p:nvSpPr>
          <p:cNvPr id="10" name="TextBox 9"/>
          <p:cNvSpPr txBox="1"/>
          <p:nvPr/>
        </p:nvSpPr>
        <p:spPr>
          <a:xfrm>
            <a:off x="548640" y="5852160"/>
            <a:ext cx="11091672" cy="36576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232754"/>
                </a:solidFill>
                <a:latin typeface="Work Sans"/>
              </a:rPr>
              <a:t>Rien n'est publié sans son accord écrit.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09728" cy="6858000"/>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7772400" cy="320040"/>
          </a:xfrm>
          <a:prstGeom prst="rect">
            <a:avLst/>
          </a:prstGeom>
          <a:noFill/>
        </p:spPr>
        <p:txBody>
          <a:bodyPr wrap="square" anchor="t" lIns="18288" rIns="18288" tIns="18288" bIns="18288">
            <a:spAutoFit/>
          </a:bodyPr>
          <a:lstStyle/>
          <a:p>
            <a:pPr algn="l">
              <a:lnSpc>
                <a:spcPct val="112000"/>
              </a:lnSpc>
              <a:spcAft>
                <a:spcPts val="400"/>
              </a:spcAft>
            </a:pPr>
            <a:r>
              <a:rPr sz="1100" b="1" i="0">
                <a:solidFill>
                  <a:srgbClr val="007ABB"/>
                </a:solidFill>
                <a:latin typeface="Space Grotesk"/>
              </a:rPr>
              <a:t>COMMENT CE DOCUMENT A ÉTÉ FAIT</a:t>
            </a:r>
          </a:p>
        </p:txBody>
      </p:sp>
      <p:sp>
        <p:nvSpPr>
          <p:cNvPr id="4" name="TextBox 3"/>
          <p:cNvSpPr txBox="1"/>
          <p:nvPr/>
        </p:nvSpPr>
        <p:spPr>
          <a:xfrm>
            <a:off x="548640" y="621792"/>
            <a:ext cx="9692640" cy="914400"/>
          </a:xfrm>
          <a:prstGeom prst="rect">
            <a:avLst/>
          </a:prstGeom>
          <a:noFill/>
        </p:spPr>
        <p:txBody>
          <a:bodyPr wrap="square" anchor="t" lIns="18288" rIns="18288" tIns="18288" bIns="18288">
            <a:spAutoFit/>
          </a:bodyPr>
          <a:lstStyle/>
          <a:p>
            <a:pPr algn="l">
              <a:lnSpc>
                <a:spcPct val="100000"/>
              </a:lnSpc>
              <a:spcAft>
                <a:spcPts val="400"/>
              </a:spcAft>
            </a:pPr>
            <a:r>
              <a:rPr sz="2500" b="1" i="0">
                <a:solidFill>
                  <a:srgbClr val="232754"/>
                </a:solidFill>
                <a:latin typeface="Funnel Display"/>
              </a:rPr>
              <a:t>Méthode et limites</a:t>
            </a:r>
          </a:p>
        </p:txBody>
      </p:sp>
      <p:pic>
        <p:nvPicPr>
          <p:cNvPr id="5" name="Picture 4" descr="logo_mstudio_couleur_fond_clair.png"/>
          <p:cNvPicPr>
            <a:picLocks noChangeAspect="1"/>
          </p:cNvPicPr>
          <p:nvPr/>
        </p:nvPicPr>
        <p:blipFill>
          <a:blip r:embed="rId2"/>
          <a:stretch>
            <a:fillRect/>
          </a:stretch>
        </p:blipFill>
        <p:spPr>
          <a:xfrm>
            <a:off x="10561320" y="347472"/>
            <a:ext cx="1001864" cy="329184"/>
          </a:xfrm>
          <a:prstGeom prst="rect">
            <a:avLst/>
          </a:prstGeom>
        </p:spPr>
      </p:pic>
      <p:sp>
        <p:nvSpPr>
          <p:cNvPr id="6" name="Rectangle 5"/>
          <p:cNvSpPr/>
          <p:nvPr/>
        </p:nvSpPr>
        <p:spPr>
          <a:xfrm>
            <a:off x="548640" y="6309360"/>
            <a:ext cx="11091672" cy="10972"/>
          </a:xfrm>
          <a:prstGeom prst="rect">
            <a:avLst/>
          </a:prstGeom>
          <a:solidFill>
            <a:srgbClr val="E4E8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8F8F9A"/>
                </a:solidFill>
                <a:latin typeface="Space Grotesk"/>
              </a:rPr>
              <a:t>40</a:t>
            </a:r>
          </a:p>
        </p:txBody>
      </p:sp>
      <p:sp>
        <p:nvSpPr>
          <p:cNvPr id="8" name="TextBox 7"/>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8F8F9A"/>
                </a:solidFill>
                <a:latin typeface="Space Grotesk"/>
              </a:rPr>
              <a:t>Renée Mariame Konaté · LinkedIn et Instagram · analyse, veille et stratégie · octobre 2026</a:t>
            </a:r>
          </a:p>
        </p:txBody>
      </p:sp>
      <p:sp>
        <p:nvSpPr>
          <p:cNvPr id="9" name="Rounded Rectangle 8"/>
          <p:cNvSpPr/>
          <p:nvPr/>
        </p:nvSpPr>
        <p:spPr>
          <a:xfrm>
            <a:off x="548640"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810512"/>
            <a:ext cx="54864" cy="4151376"/>
          </a:xfrm>
          <a:prstGeom prst="rect">
            <a:avLst/>
          </a:prstGeom>
          <a:solidFill>
            <a:srgbClr val="007A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ar-chart-3_b.png"/>
          <p:cNvPicPr>
            <a:picLocks noChangeAspect="1"/>
          </p:cNvPicPr>
          <p:nvPr/>
        </p:nvPicPr>
        <p:blipFill>
          <a:blip r:embed="rId3"/>
          <a:stretch>
            <a:fillRect/>
          </a:stretch>
        </p:blipFill>
        <p:spPr>
          <a:xfrm>
            <a:off x="777240" y="1828800"/>
            <a:ext cx="384048" cy="384048"/>
          </a:xfrm>
          <a:prstGeom prst="rect">
            <a:avLst/>
          </a:prstGeom>
        </p:spPr>
      </p:pic>
      <p:sp>
        <p:nvSpPr>
          <p:cNvPr id="12" name="TextBox 11"/>
          <p:cNvSpPr txBox="1"/>
          <p:nvPr/>
        </p:nvSpPr>
        <p:spPr>
          <a:xfrm>
            <a:off x="1280160"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a été relevé</a:t>
            </a:r>
          </a:p>
        </p:txBody>
      </p:sp>
      <p:sp>
        <p:nvSpPr>
          <p:cNvPr id="13" name="TextBox 12"/>
          <p:cNvSpPr txBox="1"/>
          <p:nvPr/>
        </p:nvSpPr>
        <p:spPr>
          <a:xfrm>
            <a:off x="777240"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Profil et publications LinkedIn du 1er janvier au 23 octobre 2026 (3 publications, 2 partages).</a:t>
            </a:r>
          </a:p>
          <a:p>
            <a:pPr algn="l">
              <a:lnSpc>
                <a:spcPct val="110000"/>
              </a:lnSpc>
              <a:spcAft>
                <a:spcPts val="400"/>
              </a:spcAft>
            </a:pPr>
            <a:r>
              <a:rPr sz="1050" b="0" i="0">
                <a:solidFill>
                  <a:srgbClr val="2B2A35"/>
                </a:solidFill>
                <a:latin typeface="Work Sans"/>
              </a:rPr>
              <a:t>Profil Instagram et 101 publications 2026, dont 88 de son compte et 13 partagées avec d'autres comptes.</a:t>
            </a:r>
          </a:p>
          <a:p>
            <a:pPr algn="l">
              <a:lnSpc>
                <a:spcPct val="110000"/>
              </a:lnSpc>
              <a:spcAft>
                <a:spcPts val="400"/>
              </a:spcAft>
            </a:pPr>
            <a:r>
              <a:rPr sz="1050" b="0" i="0">
                <a:solidFill>
                  <a:srgbClr val="2B2A35"/>
                </a:solidFill>
                <a:latin typeface="Work Sans"/>
              </a:rPr>
              <a:t>Profils et dernières publications de cinq pairs sur Instagram et LinkedIn.</a:t>
            </a:r>
          </a:p>
          <a:p>
            <a:pPr algn="l">
              <a:lnSpc>
                <a:spcPct val="110000"/>
              </a:lnSpc>
              <a:spcAft>
                <a:spcPts val="400"/>
              </a:spcAft>
            </a:pPr>
            <a:r>
              <a:rPr sz="1050" b="0" i="0">
                <a:solidFill>
                  <a:srgbClr val="2B2A35"/>
                </a:solidFill>
                <a:latin typeface="Work Sans"/>
              </a:rPr>
              <a:t>Les mesures : réactions, commentaires et partages sur LinkedIn ; j'aime, commentaires et vues sur Instagram. On compare des médianes pour ne pas se laisser tromper par une publication exceptionnelle.</a:t>
            </a:r>
          </a:p>
        </p:txBody>
      </p:sp>
      <p:sp>
        <p:nvSpPr>
          <p:cNvPr id="14" name="Rounded Rectangle 13"/>
          <p:cNvSpPr/>
          <p:nvPr/>
        </p:nvSpPr>
        <p:spPr>
          <a:xfrm>
            <a:off x="6153912" y="1645920"/>
            <a:ext cx="5486400" cy="4480560"/>
          </a:xfrm>
          <a:prstGeom prst="roundRect">
            <a:avLst>
              <a:gd name="adj" fmla="val 5000"/>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53912" y="1810512"/>
            <a:ext cx="54864" cy="4151376"/>
          </a:xfrm>
          <a:prstGeom prst="rect">
            <a:avLst/>
          </a:prstGeom>
          <a:solidFill>
            <a:srgbClr val="8F8F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alert-triangle_b.png"/>
          <p:cNvPicPr>
            <a:picLocks noChangeAspect="1"/>
          </p:cNvPicPr>
          <p:nvPr/>
        </p:nvPicPr>
        <p:blipFill>
          <a:blip r:embed="rId4"/>
          <a:stretch>
            <a:fillRect/>
          </a:stretch>
        </p:blipFill>
        <p:spPr>
          <a:xfrm>
            <a:off x="6382512" y="1828800"/>
            <a:ext cx="384048" cy="384048"/>
          </a:xfrm>
          <a:prstGeom prst="rect">
            <a:avLst/>
          </a:prstGeom>
        </p:spPr>
      </p:pic>
      <p:sp>
        <p:nvSpPr>
          <p:cNvPr id="17" name="TextBox 16"/>
          <p:cNvSpPr txBox="1"/>
          <p:nvPr/>
        </p:nvSpPr>
        <p:spPr>
          <a:xfrm>
            <a:off x="6885432" y="1828800"/>
            <a:ext cx="4572000" cy="502920"/>
          </a:xfrm>
          <a:prstGeom prst="rect">
            <a:avLst/>
          </a:prstGeom>
          <a:noFill/>
        </p:spPr>
        <p:txBody>
          <a:bodyPr wrap="square" anchor="t" lIns="18288" rIns="18288" tIns="18288" bIns="18288">
            <a:spAutoFit/>
          </a:bodyPr>
          <a:lstStyle/>
          <a:p>
            <a:pPr algn="l">
              <a:lnSpc>
                <a:spcPct val="100000"/>
              </a:lnSpc>
              <a:spcAft>
                <a:spcPts val="400"/>
              </a:spcAft>
            </a:pPr>
            <a:r>
              <a:rPr sz="1400" b="1" i="0">
                <a:solidFill>
                  <a:srgbClr val="232754"/>
                </a:solidFill>
                <a:latin typeface="Funnel Display"/>
              </a:rPr>
              <a:t>Ce qui manque</a:t>
            </a:r>
          </a:p>
        </p:txBody>
      </p:sp>
      <p:sp>
        <p:nvSpPr>
          <p:cNvPr id="18" name="TextBox 17"/>
          <p:cNvSpPr txBox="1"/>
          <p:nvPr/>
        </p:nvSpPr>
        <p:spPr>
          <a:xfrm>
            <a:off x="6382512" y="2359152"/>
            <a:ext cx="5074920" cy="3657600"/>
          </a:xfrm>
          <a:prstGeom prst="rect">
            <a:avLst/>
          </a:prstGeom>
          <a:noFill/>
        </p:spPr>
        <p:txBody>
          <a:bodyPr wrap="square" anchor="t" lIns="18288" rIns="18288" tIns="18288" bIns="18288">
            <a:spAutoFit/>
          </a:bodyPr>
          <a:lstStyle/>
          <a:p>
            <a:pPr algn="l">
              <a:lnSpc>
                <a:spcPct val="110000"/>
              </a:lnSpc>
              <a:spcAft>
                <a:spcPts val="400"/>
              </a:spcAft>
            </a:pPr>
            <a:r>
              <a:rPr sz="1050" b="0" i="0">
                <a:solidFill>
                  <a:srgbClr val="2B2A35"/>
                </a:solidFill>
                <a:latin typeface="Work Sans"/>
              </a:rPr>
              <a:t>Ses statistiques privées : portée, visites, nouveaux abonnés, enregistrements et partages Instagram.</a:t>
            </a:r>
          </a:p>
          <a:p>
            <a:pPr algn="l">
              <a:lnSpc>
                <a:spcPct val="110000"/>
              </a:lnSpc>
              <a:spcAft>
                <a:spcPts val="400"/>
              </a:spcAft>
            </a:pPr>
            <a:r>
              <a:rPr sz="1050" b="0" i="0">
                <a:solidFill>
                  <a:srgbClr val="2B2A35"/>
                </a:solidFill>
                <a:latin typeface="Work Sans"/>
              </a:rPr>
              <a:t>Les 13 publications aux j'aime masqués ne sont pas comptées dans les médianes.</a:t>
            </a:r>
          </a:p>
          <a:p>
            <a:pPr algn="l">
              <a:lnSpc>
                <a:spcPct val="110000"/>
              </a:lnSpc>
              <a:spcAft>
                <a:spcPts val="400"/>
              </a:spcAft>
            </a:pPr>
            <a:r>
              <a:rPr sz="1050" b="0" i="0">
                <a:solidFill>
                  <a:srgbClr val="2B2A35"/>
                </a:solidFill>
                <a:latin typeface="Work Sans"/>
              </a:rPr>
              <a:t>Les sujets ont été classés par nos soins à la lecture de chaque légende.</a:t>
            </a:r>
          </a:p>
          <a:p>
            <a:pPr algn="l">
              <a:lnSpc>
                <a:spcPct val="110000"/>
              </a:lnSpc>
              <a:spcAft>
                <a:spcPts val="400"/>
              </a:spcAft>
            </a:pPr>
            <a:r>
              <a:rPr sz="1050" b="0" i="0">
                <a:solidFill>
                  <a:srgbClr val="2B2A35"/>
                </a:solidFill>
                <a:latin typeface="Work Sans"/>
              </a:rPr>
              <a:t>Les pairs ont été choisis par nos soins ; la comparaison peut être refaite sur une liste qu'elle valide.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g_2026-07-02_DaTlr1aDH0G_1.78_0.25_sombre.jpg"/>
          <p:cNvPicPr>
            <a:picLocks noChangeAspect="1"/>
          </p:cNvPicPr>
          <p:nvPr/>
        </p:nvPicPr>
        <p:blipFill>
          <a:blip r:embed="rId2"/>
          <a:stretch>
            <a:fillRect/>
          </a:stretch>
        </p:blipFill>
        <p:spPr>
          <a:xfrm>
            <a:off x="0" y="0"/>
            <a:ext cx="12191695" cy="6858000"/>
          </a:xfrm>
          <a:prstGeom prst="rect">
            <a:avLst/>
          </a:prstGeom>
        </p:spPr>
      </p:pic>
      <p:pic>
        <p:nvPicPr>
          <p:cNvPr id="3" name="Picture 2" descr="logo_mstudio_blanc_transparent.png"/>
          <p:cNvPicPr>
            <a:picLocks noChangeAspect="1"/>
          </p:cNvPicPr>
          <p:nvPr/>
        </p:nvPicPr>
        <p:blipFill>
          <a:blip r:embed="rId3"/>
          <a:stretch>
            <a:fillRect/>
          </a:stretch>
        </p:blipFill>
        <p:spPr>
          <a:xfrm>
            <a:off x="822960" y="640080"/>
            <a:ext cx="1572249" cy="411480"/>
          </a:xfrm>
          <a:prstGeom prst="rect">
            <a:avLst/>
          </a:prstGeom>
        </p:spPr>
      </p:pic>
      <p:sp>
        <p:nvSpPr>
          <p:cNvPr id="4" name="TextBox 3"/>
          <p:cNvSpPr txBox="1"/>
          <p:nvPr/>
        </p:nvSpPr>
        <p:spPr>
          <a:xfrm>
            <a:off x="822960" y="2103120"/>
            <a:ext cx="10607040" cy="1463040"/>
          </a:xfrm>
          <a:prstGeom prst="rect">
            <a:avLst/>
          </a:prstGeom>
          <a:noFill/>
        </p:spPr>
        <p:txBody>
          <a:bodyPr wrap="square" anchor="b" lIns="18288" rIns="18288" tIns="18288" bIns="18288">
            <a:spAutoFit/>
          </a:bodyPr>
          <a:lstStyle/>
          <a:p>
            <a:pPr algn="l">
              <a:lnSpc>
                <a:spcPct val="100000"/>
              </a:lnSpc>
              <a:spcAft>
                <a:spcPts val="400"/>
              </a:spcAft>
            </a:pPr>
            <a:r>
              <a:rPr sz="3800" b="1" i="0">
                <a:solidFill>
                  <a:srgbClr val="FFFFFF"/>
                </a:solidFill>
                <a:latin typeface="Funnel Display"/>
              </a:rPr>
              <a:t>Construire des marques. Porter des voix.</a:t>
            </a:r>
          </a:p>
        </p:txBody>
      </p:sp>
      <p:sp>
        <p:nvSpPr>
          <p:cNvPr id="5" name="TextBox 4"/>
          <p:cNvSpPr txBox="1"/>
          <p:nvPr/>
        </p:nvSpPr>
        <p:spPr>
          <a:xfrm>
            <a:off x="822960" y="3657600"/>
            <a:ext cx="10058400" cy="457200"/>
          </a:xfrm>
          <a:prstGeom prst="rect">
            <a:avLst/>
          </a:prstGeom>
          <a:noFill/>
        </p:spPr>
        <p:txBody>
          <a:bodyPr wrap="square" anchor="t" lIns="18288" rIns="18288" tIns="18288" bIns="18288">
            <a:spAutoFit/>
          </a:bodyPr>
          <a:lstStyle/>
          <a:p>
            <a:pPr algn="l">
              <a:lnSpc>
                <a:spcPct val="112000"/>
              </a:lnSpc>
              <a:spcAft>
                <a:spcPts val="400"/>
              </a:spcAft>
            </a:pPr>
            <a:r>
              <a:rPr sz="1500" b="0" i="0">
                <a:solidFill>
                  <a:srgbClr val="DCE3F2"/>
                </a:solidFill>
                <a:latin typeface="Work Sans"/>
              </a:rPr>
              <a:t>La suite : valider le premier lot, puis un relevé tous les mois.</a:t>
            </a:r>
          </a:p>
        </p:txBody>
      </p:sp>
      <p:pic>
        <p:nvPicPr>
          <p:cNvPr id="6" name="Picture 5" descr="linkedin_w.png"/>
          <p:cNvPicPr>
            <a:picLocks noChangeAspect="1"/>
          </p:cNvPicPr>
          <p:nvPr/>
        </p:nvPicPr>
        <p:blipFill>
          <a:blip r:embed="rId4"/>
          <a:stretch>
            <a:fillRect/>
          </a:stretch>
        </p:blipFill>
        <p:spPr>
          <a:xfrm>
            <a:off x="822960" y="4206240"/>
            <a:ext cx="329184" cy="329184"/>
          </a:xfrm>
          <a:prstGeom prst="rect">
            <a:avLst/>
          </a:prstGeom>
        </p:spPr>
      </p:pic>
      <p:sp>
        <p:nvSpPr>
          <p:cNvPr id="7" name="TextBox 6"/>
          <p:cNvSpPr txBox="1"/>
          <p:nvPr/>
        </p:nvSpPr>
        <p:spPr>
          <a:xfrm>
            <a:off x="1280160" y="42336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linkedin.com/in/renée-mariame-konate</a:t>
            </a:r>
          </a:p>
        </p:txBody>
      </p:sp>
      <p:pic>
        <p:nvPicPr>
          <p:cNvPr id="8" name="Picture 7" descr="instagram_w.png"/>
          <p:cNvPicPr>
            <a:picLocks noChangeAspect="1"/>
          </p:cNvPicPr>
          <p:nvPr/>
        </p:nvPicPr>
        <p:blipFill>
          <a:blip r:embed="rId5"/>
          <a:stretch>
            <a:fillRect/>
          </a:stretch>
        </p:blipFill>
        <p:spPr>
          <a:xfrm>
            <a:off x="822960" y="4663440"/>
            <a:ext cx="329184" cy="329184"/>
          </a:xfrm>
          <a:prstGeom prst="rect">
            <a:avLst/>
          </a:prstGeom>
        </p:spPr>
      </p:pic>
      <p:sp>
        <p:nvSpPr>
          <p:cNvPr id="9" name="TextBox 8"/>
          <p:cNvSpPr txBox="1"/>
          <p:nvPr/>
        </p:nvSpPr>
        <p:spPr>
          <a:xfrm>
            <a:off x="1280160" y="4690872"/>
            <a:ext cx="6400800" cy="365760"/>
          </a:xfrm>
          <a:prstGeom prst="rect">
            <a:avLst/>
          </a:prstGeom>
          <a:noFill/>
        </p:spPr>
        <p:txBody>
          <a:bodyPr wrap="square" anchor="t" lIns="18288" rIns="18288" tIns="18288" bIns="18288">
            <a:spAutoFit/>
          </a:bodyPr>
          <a:lstStyle/>
          <a:p>
            <a:pPr algn="l">
              <a:lnSpc>
                <a:spcPct val="112000"/>
              </a:lnSpc>
              <a:spcAft>
                <a:spcPts val="400"/>
              </a:spcAft>
            </a:pPr>
            <a:r>
              <a:rPr sz="1300" b="0" i="0">
                <a:solidFill>
                  <a:srgbClr val="FFFFFF"/>
                </a:solidFill>
                <a:latin typeface="Space Grotesk"/>
              </a:rPr>
              <a:t>instagram.com/renee_mariame</a:t>
            </a:r>
          </a:p>
        </p:txBody>
      </p:sp>
      <p:sp>
        <p:nvSpPr>
          <p:cNvPr id="10" name="TextBox 9"/>
          <p:cNvSpPr txBox="1"/>
          <p:nvPr/>
        </p:nvSpPr>
        <p:spPr>
          <a:xfrm>
            <a:off x="11155680" y="6428232"/>
            <a:ext cx="731520" cy="274320"/>
          </a:xfrm>
          <a:prstGeom prst="rect">
            <a:avLst/>
          </a:prstGeom>
          <a:noFill/>
        </p:spPr>
        <p:txBody>
          <a:bodyPr wrap="square" anchor="t" lIns="18288" rIns="18288" tIns="18288" bIns="18288">
            <a:spAutoFit/>
          </a:bodyPr>
          <a:lstStyle/>
          <a:p>
            <a:pPr algn="r">
              <a:lnSpc>
                <a:spcPct val="112000"/>
              </a:lnSpc>
              <a:spcAft>
                <a:spcPts val="400"/>
              </a:spcAft>
            </a:pPr>
            <a:r>
              <a:rPr sz="1000" b="0" i="0">
                <a:solidFill>
                  <a:srgbClr val="FFFFFF"/>
                </a:solidFill>
                <a:latin typeface="Space Grotesk"/>
              </a:rPr>
              <a:t>41</a:t>
            </a:r>
          </a:p>
        </p:txBody>
      </p:sp>
      <p:sp>
        <p:nvSpPr>
          <p:cNvPr id="11" name="TextBox 10"/>
          <p:cNvSpPr txBox="1"/>
          <p:nvPr/>
        </p:nvSpPr>
        <p:spPr>
          <a:xfrm>
            <a:off x="548640" y="6428232"/>
            <a:ext cx="8229600" cy="274320"/>
          </a:xfrm>
          <a:prstGeom prst="rect">
            <a:avLst/>
          </a:prstGeom>
          <a:noFill/>
        </p:spPr>
        <p:txBody>
          <a:bodyPr wrap="square" anchor="t" lIns="18288" rIns="18288" tIns="18288" bIns="18288">
            <a:spAutoFit/>
          </a:bodyPr>
          <a:lstStyle/>
          <a:p>
            <a:pPr algn="l">
              <a:lnSpc>
                <a:spcPct val="112000"/>
              </a:lnSpc>
              <a:spcAft>
                <a:spcPts val="400"/>
              </a:spcAft>
            </a:pPr>
            <a:r>
              <a:rPr sz="900" b="0" i="0">
                <a:solidFill>
                  <a:srgbClr val="B8BCD0"/>
                </a:solidFill>
                <a:latin typeface="Space Grotesk"/>
              </a:rPr>
              <a:t>Renée Mariame Konaté · LinkedIn et Instagram · analyse, veille et stratégie · octobre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